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HTML</c:v>
                </c:pt>
                <c:pt idx="4">
                  <c:v>Prompt template</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1384</c:v>
                </c:pt>
                <c:pt idx="1">
                  <c:v>883</c:v>
                </c:pt>
                <c:pt idx="2">
                  <c:v>1229</c:v>
                </c:pt>
                <c:pt idx="3">
                  <c:v>1385</c:v>
                </c:pt>
                <c:pt idx="4">
                  <c:v>1387</c:v>
                </c:pt>
                <c:pt idx="5">
                  <c:v>2320</c:v>
                </c:pt>
                <c:pt idx="6">
                  <c:v>2357</c:v>
                </c:pt>
                <c:pt idx="7">
                  <c:v>6392</c:v>
                </c:pt>
                <c:pt idx="8">
                  <c:v>10338</c:v>
                </c:pt>
                <c:pt idx="9">
                  <c:v>13455</c:v>
                </c:pt>
                <c:pt idx="10">
                  <c:v>25767</c:v>
                </c:pt>
                <c:pt idx="11">
                  <c:v>35203</c:v>
                </c:pt>
                <c:pt idx="12">
                  <c:v>102470</c:v>
                </c:pt>
                <c:pt idx="13">
                  <c:v>231639</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55 JavaScript modules, 19 stylesheets and 5 page templates, 212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4 source changes: .flw opens agents; .fpmt opens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1.77.0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Version and Release Status. Version v1.77.0, the current release, published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9 and published as the current release, so self-update delivers it.</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which passed again in this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v1.77.0 was created on 2026-10-09 and resolves to commit 052bfe0f, and the remote advertises it.</a:t>
            </a:r>
          </a:p>
          <a:p/>
          <a:p>
            <a:r>
              <a:t>Since the tag, 6 more commit(s) went into main (2807332a, a0338cb8, 860e1674, 1692af4b, 323b694d, 757a8233). A build of main still reports version 1.77.0, because the version always carries the tag's number and nothing more.</a:t>
            </a:r>
          </a:p>
          <a:p/>
          <a:p>
            <a:r>
              <a:t>The newest release published on GitHub is v1.77.0, published 2026-10-09.</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436,209 effective lines across 1,430 text files; 561,583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1,670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 Id="rId4" Type="http://schemas.openxmlformats.org/officeDocument/2006/relationships/chart" Target="../charts/char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 Id="rId4" Type="http://schemas.openxmlformats.org/officeDocument/2006/relationships/chart" Target="../charts/char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9.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v1.77.0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9,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Version v1.77.0, the current release, published on GitHub.</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212</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1,670</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436,209</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4 source changes: .flw opens agents; .fpmt opens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150" b="0" i="0">
                <a:solidFill>
                  <a:srgbClr val="F7F2E8"/>
                </a:solidFill>
                <a:latin typeface="Palatino Linotype"/>
              </a:rPr>
              <a:t>Version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Version v1.77.0, the current release, published on GitHub.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9 and published as the current release, so self-update delivers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v1.77.0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v1.77.0 resolves to </a:t>
            </a:r>
            <a:r>
              <a:rPr sz="1300" b="0" i="0">
                <a:solidFill>
                  <a:srgbClr val="E2B462"/>
                </a:solidFill>
                <a:latin typeface="Consolas"/>
              </a:rPr>
              <a:t>052bfe0f</a:t>
            </a:r>
            <a:r>
              <a:rPr sz="1400" b="0" i="0">
                <a:solidFill>
                  <a:srgbClr val="A7B2B0"/>
                </a:solidFill>
                <a:latin typeface="Segoe UI"/>
              </a:rPr>
              <a:t>, created 2026-10-09.</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Since the tag</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6 newer commit(s); a build of main still reports 1.77.0.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v1.77.0.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1.77.0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v1.77.0 → 052bfe0f (2026-10-09)</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Newest commit on main</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2807332a (6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v1.77.0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2807332a · 2026-10-09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1.77.0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1,670</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1,430</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561,583</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436,209</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212</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55 · 19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436,209 effective lines across 1,430 text files; 561,583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817</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327,601</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231,639</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53.1%</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219</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46,455</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35,203</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78</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32,476</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25,767</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16,791</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13,455</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11,683</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10,338</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2,357</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97</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6,278</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2,320</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1,530</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1,387</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1,442</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1,385</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883</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1,430</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561,583</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436,209</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1,299</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325,162</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1,430</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436,209</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5,965</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5,212</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3,902</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3,373</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3,170</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2,502</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2,444</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2,021</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1,974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Tlamatini/agent/doc_generation/dossier_content.py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1,959</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1,815</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114800"/>
          </a:xfrm>
          <a:prstGeom prst="roundRect">
            <a:avLst>
              <a:gd name="adj" fmla="val 1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2807332a</a:t>
            </a:r>
          </a:p>
        </p:txBody>
      </p:sp>
      <p:sp>
        <p:nvSpPr>
          <p:cNvPr id="14" name="TextBox 13"/>
          <p:cNvSpPr txBox="1"/>
          <p:nvPr/>
        </p:nvSpPr>
        <p:spPr>
          <a:xfrm>
            <a:off x="1967020" y="2505456"/>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15" name="TextBox 14"/>
          <p:cNvSpPr txBox="1"/>
          <p:nvPr/>
        </p:nvSpPr>
        <p:spPr>
          <a:xfrm>
            <a:off x="3515118" y="2505456"/>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PDF and PPTX dossier state v1.77.0 as the current release, with a TLAMATINI_RELEASE_TAG setting for dossiers made before the release is published, by Claude</a:t>
            </a:r>
          </a:p>
        </p:txBody>
      </p:sp>
      <p:sp>
        <p:nvSpPr>
          <p:cNvPr id="16" name="Rectangle 15"/>
          <p:cNvSpPr/>
          <p:nvPr/>
        </p:nvSpPr>
        <p:spPr>
          <a:xfrm>
            <a:off x="585216" y="2935224"/>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971800"/>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a0338cb8</a:t>
            </a:r>
          </a:p>
        </p:txBody>
      </p:sp>
      <p:sp>
        <p:nvSpPr>
          <p:cNvPr id="18" name="TextBox 17"/>
          <p:cNvSpPr txBox="1"/>
          <p:nvPr/>
        </p:nvSpPr>
        <p:spPr>
          <a:xfrm>
            <a:off x="1967020" y="2971800"/>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19" name="TextBox 18"/>
          <p:cNvSpPr txBox="1"/>
          <p:nvPr/>
        </p:nvSpPr>
        <p:spPr>
          <a:xfrm>
            <a:off x="3515118" y="2971800"/>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Pointing the project's Tlamatini MCP server at this repository instead of the old C:\Development\Tlamatini copy, so the mcp__tlamatini__* tools run the definitive code, by Claude</a:t>
            </a:r>
          </a:p>
        </p:txBody>
      </p:sp>
      <p:sp>
        <p:nvSpPr>
          <p:cNvPr id="20" name="TextBox 19"/>
          <p:cNvSpPr txBox="1"/>
          <p:nvPr/>
        </p:nvSpPr>
        <p:spPr>
          <a:xfrm>
            <a:off x="640080" y="3438144"/>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860e1674</a:t>
            </a:r>
          </a:p>
        </p:txBody>
      </p:sp>
      <p:sp>
        <p:nvSpPr>
          <p:cNvPr id="21" name="TextBox 20"/>
          <p:cNvSpPr txBox="1"/>
          <p:nvPr/>
        </p:nvSpPr>
        <p:spPr>
          <a:xfrm>
            <a:off x="1967020" y="3438144"/>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2" name="TextBox 21"/>
          <p:cNvSpPr txBox="1"/>
          <p:nvPr/>
        </p:nvSpPr>
        <p:spPr>
          <a:xfrm>
            <a:off x="3515118" y="3438144"/>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Executer report its forked window truthfully: Windows Terminal's hidden helper is no longer mistaken for the console, and the false "another window station" message is gone, by Claude</a:t>
            </a:r>
          </a:p>
        </p:txBody>
      </p:sp>
      <p:sp>
        <p:nvSpPr>
          <p:cNvPr id="23" name="Rectangle 22"/>
          <p:cNvSpPr/>
          <p:nvPr/>
        </p:nvSpPr>
        <p:spPr>
          <a:xfrm>
            <a:off x="585216" y="3867911"/>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904487"/>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1692af4b</a:t>
            </a:r>
          </a:p>
        </p:txBody>
      </p:sp>
      <p:sp>
        <p:nvSpPr>
          <p:cNvPr id="25" name="TextBox 24"/>
          <p:cNvSpPr txBox="1"/>
          <p:nvPr/>
        </p:nvSpPr>
        <p:spPr>
          <a:xfrm>
            <a:off x="1967020" y="3904487"/>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6" name="TextBox 25"/>
          <p:cNvSpPr txBox="1"/>
          <p:nvPr/>
        </p:nvSpPr>
        <p:spPr>
          <a:xfrm>
            <a:off x="3515118" y="3904487"/>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Marking v1.77.0 as published on GitHub on 2026-10-09 (marked Latest, delivered by self-update) everywhere in the markdown documentation, with v1.76.0 as the release it replaces, by Claude</a:t>
            </a:r>
          </a:p>
        </p:txBody>
      </p:sp>
      <p:sp>
        <p:nvSpPr>
          <p:cNvPr id="27" name="TextBox 26"/>
          <p:cNvSpPr txBox="1"/>
          <p:nvPr/>
        </p:nvSpPr>
        <p:spPr>
          <a:xfrm>
            <a:off x="640080" y="4370831"/>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323b694d</a:t>
            </a:r>
          </a:p>
        </p:txBody>
      </p:sp>
      <p:sp>
        <p:nvSpPr>
          <p:cNvPr id="28" name="TextBox 27"/>
          <p:cNvSpPr txBox="1"/>
          <p:nvPr/>
        </p:nvSpPr>
        <p:spPr>
          <a:xfrm>
            <a:off x="1967020" y="4370831"/>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9" name="TextBox 28"/>
          <p:cNvSpPr txBox="1"/>
          <p:nvPr/>
        </p:nvSpPr>
        <p:spPr>
          <a:xfrm>
            <a:off x="3515118" y="4370831"/>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Sweeping the source and docs for v1.77.0: regenerating FlowCreator's catalog so it knows File-Creator append, marking the October 4 work as shipped in v1.76.0, and adding the v1.77.0 page to the PDF and PPTX dossier, by Claude</a:t>
            </a:r>
          </a:p>
        </p:txBody>
      </p:sp>
      <p:sp>
        <p:nvSpPr>
          <p:cNvPr id="30" name="Rectangle 29"/>
          <p:cNvSpPr/>
          <p:nvPr/>
        </p:nvSpPr>
        <p:spPr>
          <a:xfrm>
            <a:off x="585216" y="4800599"/>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837175"/>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757a8233</a:t>
            </a:r>
          </a:p>
        </p:txBody>
      </p:sp>
      <p:sp>
        <p:nvSpPr>
          <p:cNvPr id="32" name="TextBox 31"/>
          <p:cNvSpPr txBox="1"/>
          <p:nvPr/>
        </p:nvSpPr>
        <p:spPr>
          <a:xfrm>
            <a:off x="1967020" y="4837175"/>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33" name="TextBox 32"/>
          <p:cNvSpPr txBox="1"/>
          <p:nvPr/>
        </p:nvSpPr>
        <p:spPr>
          <a:xfrm>
            <a:off x="3515118" y="4837175"/>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the markdown documentation to version 1.77.0 (tagged 2026-10-09: first-person chat lines and the uninstaller that keeps Templates/), with v1.76.0 kept as the latest published release until v1.77.0 is published, by Claude</a:t>
            </a:r>
          </a:p>
        </p:txBody>
      </p:sp>
      <p:sp>
        <p:nvSpPr>
          <p:cNvPr id="34" name="TextBox 33"/>
          <p:cNvSpPr txBox="1"/>
          <p:nvPr/>
        </p:nvSpPr>
        <p:spPr>
          <a:xfrm>
            <a:off x="640080" y="5303519"/>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052bfe0f</a:t>
            </a:r>
          </a:p>
        </p:txBody>
      </p:sp>
      <p:sp>
        <p:nvSpPr>
          <p:cNvPr id="35" name="TextBox 34"/>
          <p:cNvSpPr txBox="1"/>
          <p:nvPr/>
        </p:nvSpPr>
        <p:spPr>
          <a:xfrm>
            <a:off x="1967020" y="5303519"/>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36" name="TextBox 35"/>
          <p:cNvSpPr txBox="1"/>
          <p:nvPr/>
        </p:nvSpPr>
        <p:spPr>
          <a:xfrm>
            <a:off x="3515118" y="5303519"/>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Tlamatini speak every fixed chat line in the first person and to the user by name, with the word matchers, the avatar and the Telegram bridge updated to recognise both the new and the old wording</a:t>
            </a:r>
          </a:p>
        </p:txBody>
      </p:sp>
      <p:sp>
        <p:nvSpPr>
          <p:cNvPr id="37" name="Rectangle 36"/>
          <p:cNvSpPr/>
          <p:nvPr/>
        </p:nvSpPr>
        <p:spPr>
          <a:xfrm>
            <a:off x="585216" y="5733287"/>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769863"/>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a821dc34</a:t>
            </a:r>
          </a:p>
        </p:txBody>
      </p:sp>
      <p:sp>
        <p:nvSpPr>
          <p:cNvPr id="39" name="TextBox 38"/>
          <p:cNvSpPr txBox="1"/>
          <p:nvPr/>
        </p:nvSpPr>
        <p:spPr>
          <a:xfrm>
            <a:off x="1967020" y="5769863"/>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40" name="TextBox 39"/>
          <p:cNvSpPr txBox="1"/>
          <p:nvPr/>
        </p:nvSpPr>
        <p:spPr>
          <a:xfrm>
            <a:off x="3515118" y="5769863"/>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Updating the docs for the published v1.76.0, first-person chat lines and the uninstaller Templates fix, and teaching the self-update sweep that an in-app update keeps the old Uninstaller.exe, by Claude</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0520dc97</a:t>
            </a:r>
          </a:p>
        </p:txBody>
      </p:sp>
      <p:sp>
        <p:nvSpPr>
          <p:cNvPr id="14" name="TextBox 13"/>
          <p:cNvSpPr txBox="1"/>
          <p:nvPr/>
        </p:nvSpPr>
        <p:spPr>
          <a:xfrm>
            <a:off x="196702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15" name="TextBox 14"/>
          <p:cNvSpPr txBox="1"/>
          <p:nvPr/>
        </p:nvSpPr>
        <p:spPr>
          <a:xfrm>
            <a:off x="3515118" y="2505456"/>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the uninstaller keep Templates/ and doc_generated/ whenever they hold files, and always erase Temp/, after uninstalling C:\Tlamatini deleted Angela's code in Templates, by Claude</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6e6ec39c</a:t>
            </a:r>
          </a:p>
        </p:txBody>
      </p:sp>
      <p:sp>
        <p:nvSpPr>
          <p:cNvPr id="18" name="TextBox 17"/>
          <p:cNvSpPr txBox="1"/>
          <p:nvPr/>
        </p:nvSpPr>
        <p:spPr>
          <a:xfrm>
            <a:off x="196702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19" name="TextBox 18"/>
          <p:cNvSpPr txBox="1"/>
          <p:nvPr/>
        </p:nvSpPr>
        <p:spPr>
          <a:xfrm>
            <a:off x="3515118" y="3337560"/>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Refreshing the PDF and PPTX dossier for v1.76.0: the Model Brain, the coloured console, truthful LaTeXer and Mover delivery and the smaller October fixes, with every stale "uncommitted" claim corrected, by Claude</a:t>
            </a:r>
          </a:p>
        </p:txBody>
      </p:sp>
      <p:sp>
        <p:nvSpPr>
          <p:cNvPr id="20" name="TextBox 19"/>
          <p:cNvSpPr txBox="1"/>
          <p:nvPr/>
        </p:nvSpPr>
        <p:spPr>
          <a:xfrm>
            <a:off x="640080" y="4169663"/>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ec875a47</a:t>
            </a:r>
          </a:p>
        </p:txBody>
      </p:sp>
      <p:sp>
        <p:nvSpPr>
          <p:cNvPr id="21" name="TextBox 20"/>
          <p:cNvSpPr txBox="1"/>
          <p:nvPr/>
        </p:nvSpPr>
        <p:spPr>
          <a:xfrm>
            <a:off x="1967020" y="4169663"/>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22" name="TextBox 21"/>
          <p:cNvSpPr txBox="1"/>
          <p:nvPr/>
        </p:nvSpPr>
        <p:spPr>
          <a:xfrm>
            <a:off x="3515118" y="4169663"/>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to version 1.76.0, by angelahack1</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72799950</a:t>
            </a:r>
          </a:p>
        </p:txBody>
      </p:sp>
      <p:sp>
        <p:nvSpPr>
          <p:cNvPr id="25" name="TextBox 24"/>
          <p:cNvSpPr txBox="1"/>
          <p:nvPr/>
        </p:nvSpPr>
        <p:spPr>
          <a:xfrm>
            <a:off x="196702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26" name="TextBox 25"/>
          <p:cNvSpPr txBox="1"/>
          <p:nvPr/>
        </p:nvSpPr>
        <p:spPr>
          <a:xfrm>
            <a:off x="3515118" y="4544568"/>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Implementing the Model Brain tunning system (comes into action everytime user config any model, by angelahack1</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1,670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2807332a;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9, 2026  ·  commit 2807332a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1.77.0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