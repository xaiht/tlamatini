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8A82F63-DFB2-472E-B84F-682F7F530DD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9577657-D3F7-46AC-8089-57759C34002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19F28C1-0982-412F-B45B-52F20F34B1B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E8F6AF6-1F22-4465-A660-256D8614D5A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6F7FB8A-582F-4E6D-8599-A5C865C59D4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1E8FAB0-60E4-43A8-9BA2-776892D5887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FFBB791-6911-4F67-B5C6-0E63E3D523F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F3A4F88-7DCE-4868-A37A-3479AFE35DE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B8FD113-F06B-4A1F-86FE-DB9B7803F63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E83DF95-8945-405D-8B1D-E12FD225603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3A8D645-A8EF-42DD-95F7-0255707004A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E21354C-6974-4EFE-B2A8-B028B49616F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A1DE7F0-1795-4453-939B-223DF55AA2D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8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ounded Rectangle 1"/>
          <p:cNvSpPr/>
          <p:nvPr/>
        </p:nvSpPr>
        <p:spPr>
          <a:xfrm>
            <a:off x="438840" y="411480"/>
            <a:ext cx="1919880" cy="347040"/>
          </a:xfrm>
          <a:prstGeom prst="roundRect">
            <a:avLst>
              <a:gd name="adj" fmla="val 16667"/>
            </a:avLst>
          </a:prstGeom>
          <a:solidFill>
            <a:srgbClr val="0e2b4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" name="TextBox 2"/>
          <p:cNvSpPr/>
          <p:nvPr/>
        </p:nvSpPr>
        <p:spPr>
          <a:xfrm>
            <a:off x="567000" y="484560"/>
            <a:ext cx="164556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30" spc="-1" strike="noStrike">
                <a:solidFill>
                  <a:srgbClr val="5be7ff"/>
                </a:solidFill>
                <a:latin typeface="Aptos"/>
              </a:rPr>
              <a:t>XAIHT | tecnologia mexicana</a:t>
            </a:r>
            <a:endParaRPr b="0" lang="en-US" sz="1230" spc="-1" strike="noStrike">
              <a:latin typeface="Arial"/>
            </a:endParaRPr>
          </a:p>
        </p:txBody>
      </p:sp>
      <p:sp>
        <p:nvSpPr>
          <p:cNvPr id="43" name="TextBox 3"/>
          <p:cNvSpPr/>
          <p:nvPr/>
        </p:nvSpPr>
        <p:spPr>
          <a:xfrm>
            <a:off x="567000" y="1115640"/>
            <a:ext cx="6217560" cy="5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100" spc="-1" strike="noStrike">
                <a:solidFill>
                  <a:srgbClr val="ffffff"/>
                </a:solidFill>
                <a:latin typeface="Aptos Display"/>
              </a:rPr>
              <a:t>TLAMATINI</a:t>
            </a:r>
            <a:endParaRPr b="0" lang="en-US" sz="3100" spc="-1" strike="noStrike">
              <a:latin typeface="Arial"/>
            </a:endParaRPr>
          </a:p>
        </p:txBody>
      </p:sp>
      <p:sp>
        <p:nvSpPr>
          <p:cNvPr id="44" name="TextBox 4"/>
          <p:cNvSpPr/>
          <p:nvPr/>
        </p:nvSpPr>
        <p:spPr>
          <a:xfrm>
            <a:off x="567000" y="1810440"/>
            <a:ext cx="6217560" cy="10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050" spc="-1" strike="noStrike">
                <a:solidFill>
                  <a:srgbClr val="ddefff"/>
                </a:solidFill>
                <a:latin typeface="Aptos"/>
              </a:rPr>
              <a:t>Plataforma local-first de asistencia de desarrollo con RAG consciente del codigo, herramientas y automatizacion visual</a:t>
            </a:r>
            <a:endParaRPr b="0" lang="en-US" sz="2050" spc="-1" strike="noStrike">
              <a:latin typeface="Arial"/>
            </a:endParaRPr>
          </a:p>
        </p:txBody>
      </p:sp>
      <p:sp>
        <p:nvSpPr>
          <p:cNvPr id="45" name="TextBox 5"/>
          <p:cNvSpPr/>
          <p:nvPr/>
        </p:nvSpPr>
        <p:spPr>
          <a:xfrm>
            <a:off x="567000" y="2743200"/>
            <a:ext cx="612612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20" spc="-1" strike="noStrike">
                <a:solidFill>
                  <a:srgbClr val="5be7ff"/>
                </a:solidFill>
                <a:latin typeface="Aptos"/>
              </a:rPr>
              <a:t>Actualizacion completa del deck con funcionalidad verificada</a:t>
            </a:r>
            <a:endParaRPr b="0" lang="en-US" sz="1420" spc="-1" strike="noStrike">
              <a:latin typeface="Arial"/>
            </a:endParaRPr>
          </a:p>
        </p:txBody>
      </p:sp>
      <p:sp>
        <p:nvSpPr>
          <p:cNvPr id="46" name="Rounded Rectangle 6"/>
          <p:cNvSpPr/>
          <p:nvPr/>
        </p:nvSpPr>
        <p:spPr>
          <a:xfrm>
            <a:off x="567000" y="3456360"/>
            <a:ext cx="4205880" cy="456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" name="TextBox 7"/>
          <p:cNvSpPr/>
          <p:nvPr/>
        </p:nvSpPr>
        <p:spPr>
          <a:xfrm>
            <a:off x="749880" y="3584520"/>
            <a:ext cx="384012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80" spc="-1" strike="noStrike">
                <a:solidFill>
                  <a:srgbClr val="0b1f33"/>
                </a:solidFill>
                <a:latin typeface="Aptos"/>
              </a:rPr>
              <a:t>HEAD 0b8c42d5f531 | 28 mar 2026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48" name="Rounded Rectangle 8"/>
          <p:cNvSpPr/>
          <p:nvPr/>
        </p:nvSpPr>
        <p:spPr>
          <a:xfrm>
            <a:off x="567000" y="5303520"/>
            <a:ext cx="1663920" cy="420120"/>
          </a:xfrm>
          <a:prstGeom prst="roundRect">
            <a:avLst>
              <a:gd name="adj" fmla="val 16667"/>
            </a:avLst>
          </a:prstGeom>
          <a:solidFill>
            <a:srgbClr val="0e2b4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" name="TextBox 9"/>
          <p:cNvSpPr/>
          <p:nvPr/>
        </p:nvSpPr>
        <p:spPr>
          <a:xfrm>
            <a:off x="713160" y="5413320"/>
            <a:ext cx="137124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30" spc="-1" strike="noStrike">
                <a:solidFill>
                  <a:srgbClr val="ffffff"/>
                </a:solidFill>
                <a:latin typeface="Aptos"/>
              </a:rPr>
              <a:t>RAG code-aware</a:t>
            </a:r>
            <a:endParaRPr b="0" lang="en-US" sz="1230" spc="-1" strike="noStrike">
              <a:latin typeface="Arial"/>
            </a:endParaRPr>
          </a:p>
        </p:txBody>
      </p:sp>
      <p:sp>
        <p:nvSpPr>
          <p:cNvPr id="50" name="Rounded Rectangle 10"/>
          <p:cNvSpPr/>
          <p:nvPr/>
        </p:nvSpPr>
        <p:spPr>
          <a:xfrm>
            <a:off x="2487240" y="5303520"/>
            <a:ext cx="1663920" cy="420120"/>
          </a:xfrm>
          <a:prstGeom prst="roundRect">
            <a:avLst>
              <a:gd name="adj" fmla="val 16667"/>
            </a:avLst>
          </a:prstGeom>
          <a:solidFill>
            <a:srgbClr val="0e2b4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" name="TextBox 11"/>
          <p:cNvSpPr/>
          <p:nvPr/>
        </p:nvSpPr>
        <p:spPr>
          <a:xfrm>
            <a:off x="2633400" y="5413320"/>
            <a:ext cx="137124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30" spc="-1" strike="noStrike">
                <a:solidFill>
                  <a:srgbClr val="ffffff"/>
                </a:solidFill>
                <a:latin typeface="Aptos"/>
              </a:rPr>
              <a:t>53 agentes visuales</a:t>
            </a:r>
            <a:endParaRPr b="0" lang="en-US" sz="1230" spc="-1" strike="noStrike">
              <a:latin typeface="Arial"/>
            </a:endParaRPr>
          </a:p>
        </p:txBody>
      </p:sp>
      <p:sp>
        <p:nvSpPr>
          <p:cNvPr id="52" name="Rounded Rectangle 12"/>
          <p:cNvSpPr/>
          <p:nvPr/>
        </p:nvSpPr>
        <p:spPr>
          <a:xfrm>
            <a:off x="4407480" y="5303520"/>
            <a:ext cx="1663920" cy="420120"/>
          </a:xfrm>
          <a:prstGeom prst="roundRect">
            <a:avLst>
              <a:gd name="adj" fmla="val 16667"/>
            </a:avLst>
          </a:prstGeom>
          <a:solidFill>
            <a:srgbClr val="0e2b4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" name="TextBox 13"/>
          <p:cNvSpPr/>
          <p:nvPr/>
        </p:nvSpPr>
        <p:spPr>
          <a:xfrm>
            <a:off x="4553640" y="5413320"/>
            <a:ext cx="137124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30" spc="-1" strike="noStrike">
                <a:solidFill>
                  <a:srgbClr val="ffffff"/>
                </a:solidFill>
                <a:latin typeface="Aptos"/>
              </a:rPr>
              <a:t>Control humano total</a:t>
            </a:r>
            <a:endParaRPr b="0" lang="en-US" sz="1230" spc="-1" strike="noStrike">
              <a:latin typeface="Arial"/>
            </a:endParaRPr>
          </a:p>
        </p:txBody>
      </p:sp>
      <p:pic>
        <p:nvPicPr>
          <p:cNvPr id="54" name="Picture 14" descr="Tlamatini.jpg"/>
          <p:cNvPicPr/>
          <p:nvPr/>
        </p:nvPicPr>
        <p:blipFill>
          <a:blip r:embed="rId1"/>
          <a:stretch/>
        </p:blipFill>
        <p:spPr>
          <a:xfrm>
            <a:off x="8366760" y="1097280"/>
            <a:ext cx="2697120" cy="2697120"/>
          </a:xfrm>
          <a:prstGeom prst="rect">
            <a:avLst/>
          </a:prstGeom>
          <a:ln w="0">
            <a:noFill/>
          </a:ln>
        </p:spPr>
      </p:pic>
      <p:sp>
        <p:nvSpPr>
          <p:cNvPr id="55" name="TextBox 15"/>
          <p:cNvSpPr/>
          <p:nvPr/>
        </p:nvSpPr>
        <p:spPr>
          <a:xfrm>
            <a:off x="7498080" y="4187880"/>
            <a:ext cx="4023000" cy="93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850" spc="-1" strike="noStrike">
                <a:solidFill>
                  <a:srgbClr val="ffb14a"/>
                </a:solidFill>
                <a:latin typeface="Aptos Display"/>
              </a:rPr>
              <a:t>Extended Artificial Intelligence Humanly Tempered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56" name="TextBox 16"/>
          <p:cNvSpPr/>
          <p:nvPr/>
        </p:nvSpPr>
        <p:spPr>
          <a:xfrm>
            <a:off x="7543800" y="5257800"/>
            <a:ext cx="41144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260" spc="-1" strike="noStrike">
                <a:solidFill>
                  <a:srgbClr val="ffffff"/>
                </a:solidFill>
                <a:latin typeface="Aptos"/>
              </a:rPr>
              <a:t>Inteligencia Artificial Extendida Humanamente Templada</a:t>
            </a:r>
            <a:endParaRPr b="0" lang="en-US" sz="1260" spc="-1" strike="noStrike">
              <a:latin typeface="Arial"/>
            </a:endParaRPr>
          </a:p>
        </p:txBody>
      </p:sp>
      <p:sp>
        <p:nvSpPr>
          <p:cNvPr id="57" name="TextBox 17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ffffff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ffffff"/>
                </a:solidFill>
                <a:latin typeface="Aptos"/>
              </a:rPr>
              <a:t>1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1"/>
          <p:cNvSpPr/>
          <p:nvPr/>
        </p:nvSpPr>
        <p:spPr>
          <a:xfrm>
            <a:off x="0" y="0"/>
            <a:ext cx="12191760" cy="127800"/>
          </a:xfrm>
          <a:prstGeom prst="rect">
            <a:avLst/>
          </a:prstGeom>
          <a:solidFill>
            <a:srgbClr val="0818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" name="Rounded Rectangle 2"/>
          <p:cNvSpPr/>
          <p:nvPr/>
        </p:nvSpPr>
        <p:spPr>
          <a:xfrm>
            <a:off x="347400" y="255960"/>
            <a:ext cx="1051200" cy="301320"/>
          </a:xfrm>
          <a:prstGeom prst="roundRect">
            <a:avLst>
              <a:gd name="adj" fmla="val 16667"/>
            </a:avLst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" name="TextBox 3"/>
          <p:cNvSpPr/>
          <p:nvPr/>
        </p:nvSpPr>
        <p:spPr>
          <a:xfrm>
            <a:off x="438840" y="301680"/>
            <a:ext cx="86832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020" spc="-1" strike="noStrike">
                <a:solidFill>
                  <a:srgbClr val="081824"/>
                </a:solidFill>
                <a:latin typeface="Aptos"/>
              </a:rPr>
              <a:t>MAPA</a:t>
            </a:r>
            <a:endParaRPr b="0" lang="en-US" sz="1020" spc="-1" strike="noStrike">
              <a:latin typeface="Arial"/>
            </a:endParaRPr>
          </a:p>
        </p:txBody>
      </p:sp>
      <p:sp>
        <p:nvSpPr>
          <p:cNvPr id="62" name="TextBox 4"/>
          <p:cNvSpPr/>
          <p:nvPr/>
        </p:nvSpPr>
        <p:spPr>
          <a:xfrm>
            <a:off x="384120" y="658440"/>
            <a:ext cx="82292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50" spc="-1" strike="noStrike">
                <a:solidFill>
                  <a:srgbClr val="0b1f33"/>
                </a:solidFill>
                <a:latin typeface="Aptos Display"/>
              </a:rPr>
              <a:t>Agenda ejecutiva</a:t>
            </a:r>
            <a:endParaRPr b="0" lang="en-US" sz="2650" spc="-1" strike="noStrike">
              <a:latin typeface="Arial"/>
            </a:endParaRPr>
          </a:p>
        </p:txBody>
      </p:sp>
      <p:sp>
        <p:nvSpPr>
          <p:cNvPr id="63" name="TextBox 5"/>
          <p:cNvSpPr/>
          <p:nvPr/>
        </p:nvSpPr>
        <p:spPr>
          <a:xfrm>
            <a:off x="384120" y="1024200"/>
            <a:ext cx="106981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20" spc="-1" strike="noStrike">
                <a:solidFill>
                  <a:srgbClr val="5b7285"/>
                </a:solidFill>
                <a:latin typeface="Aptos"/>
              </a:rPr>
              <a:t>El nuevo deck sustituye por completo la narrativa y las metricas obsoletas.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64" name="Rectangle 6"/>
          <p:cNvSpPr/>
          <p:nvPr/>
        </p:nvSpPr>
        <p:spPr>
          <a:xfrm>
            <a:off x="384120" y="1325880"/>
            <a:ext cx="11063880" cy="2700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" name="Rounded Rectangle 7"/>
          <p:cNvSpPr/>
          <p:nvPr/>
        </p:nvSpPr>
        <p:spPr>
          <a:xfrm>
            <a:off x="411480" y="1737360"/>
            <a:ext cx="324576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6" name="Rectangle 8"/>
          <p:cNvSpPr/>
          <p:nvPr/>
        </p:nvSpPr>
        <p:spPr>
          <a:xfrm>
            <a:off x="411480" y="1737360"/>
            <a:ext cx="324576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7" name="TextBox 9"/>
          <p:cNvSpPr/>
          <p:nvPr/>
        </p:nvSpPr>
        <p:spPr>
          <a:xfrm>
            <a:off x="557640" y="1828800"/>
            <a:ext cx="29714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01 Producto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557640" y="2121480"/>
            <a:ext cx="2971440" cy="82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50" spc="-1" strike="noStrike">
                <a:solidFill>
                  <a:srgbClr val="0b1f33"/>
                </a:solidFill>
                <a:latin typeface="Aptos"/>
              </a:rPr>
              <a:t>Definicion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50" spc="-1" strike="noStrike">
                <a:solidFill>
                  <a:srgbClr val="0b1f33"/>
                </a:solidFill>
                <a:latin typeface="Aptos"/>
              </a:rPr>
              <a:t>Experiencia web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50" spc="-1" strike="noStrike">
                <a:solidFill>
                  <a:srgbClr val="0b1f33"/>
                </a:solidFill>
                <a:latin typeface="Aptos"/>
              </a:rPr>
              <a:t>Capacidades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69" name="Rounded Rectangle 11"/>
          <p:cNvSpPr/>
          <p:nvPr/>
        </p:nvSpPr>
        <p:spPr>
          <a:xfrm>
            <a:off x="4160520" y="1737360"/>
            <a:ext cx="324576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0" name="Rectangle 12"/>
          <p:cNvSpPr/>
          <p:nvPr/>
        </p:nvSpPr>
        <p:spPr>
          <a:xfrm>
            <a:off x="4160520" y="1737360"/>
            <a:ext cx="324576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1" name="TextBox 13"/>
          <p:cNvSpPr/>
          <p:nvPr/>
        </p:nvSpPr>
        <p:spPr>
          <a:xfrm>
            <a:off x="4306680" y="1828800"/>
            <a:ext cx="29714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02 Arquitectura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72" name="TextBox 14"/>
          <p:cNvSpPr/>
          <p:nvPr/>
        </p:nvSpPr>
        <p:spPr>
          <a:xfrm>
            <a:off x="4306680" y="2121480"/>
            <a:ext cx="2971440" cy="82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50" spc="-1" strike="noStrike">
                <a:solidFill>
                  <a:srgbClr val="0b1f33"/>
                </a:solidFill>
                <a:latin typeface="Aptos"/>
              </a:rPr>
              <a:t>Capas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50" spc="-1" strike="noStrike">
                <a:solidFill>
                  <a:srgbClr val="0b1f33"/>
                </a:solidFill>
                <a:latin typeface="Aptos"/>
              </a:rPr>
              <a:t>Flujo de solicitud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50" spc="-1" strike="noStrike">
                <a:solidFill>
                  <a:srgbClr val="0b1f33"/>
                </a:solidFill>
                <a:latin typeface="Aptos"/>
              </a:rPr>
              <a:t>RAG y tools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73" name="Rounded Rectangle 15"/>
          <p:cNvSpPr/>
          <p:nvPr/>
        </p:nvSpPr>
        <p:spPr>
          <a:xfrm>
            <a:off x="7909560" y="1737360"/>
            <a:ext cx="324576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4" name="Rectangle 16"/>
          <p:cNvSpPr/>
          <p:nvPr/>
        </p:nvSpPr>
        <p:spPr>
          <a:xfrm>
            <a:off x="7909560" y="1737360"/>
            <a:ext cx="324576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5" name="TextBox 17"/>
          <p:cNvSpPr/>
          <p:nvPr/>
        </p:nvSpPr>
        <p:spPr>
          <a:xfrm>
            <a:off x="8055720" y="1828800"/>
            <a:ext cx="29714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03 Automatizacion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76" name="TextBox 18"/>
          <p:cNvSpPr/>
          <p:nvPr/>
        </p:nvSpPr>
        <p:spPr>
          <a:xfrm>
            <a:off x="8055720" y="2121480"/>
            <a:ext cx="2971440" cy="82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50" spc="-1" strike="noStrike">
                <a:solidFill>
                  <a:srgbClr val="0b1f33"/>
                </a:solidFill>
                <a:latin typeface="Aptos"/>
              </a:rPr>
              <a:t>ACP visual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50" spc="-1" strike="noStrike">
                <a:solidFill>
                  <a:srgbClr val="0b1f33"/>
                </a:solidFill>
                <a:latin typeface="Aptos"/>
              </a:rPr>
              <a:t>53 agentes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50" spc="-1" strike="noStrike">
                <a:solidFill>
                  <a:srgbClr val="0b1f33"/>
                </a:solidFill>
                <a:latin typeface="Aptos"/>
              </a:rPr>
              <a:t>Reanimacion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77" name="Rounded Rectangle 19"/>
          <p:cNvSpPr/>
          <p:nvPr/>
        </p:nvSpPr>
        <p:spPr>
          <a:xfrm>
            <a:off x="2286000" y="3794760"/>
            <a:ext cx="324576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8" name="Rectangle 20"/>
          <p:cNvSpPr/>
          <p:nvPr/>
        </p:nvSpPr>
        <p:spPr>
          <a:xfrm>
            <a:off x="2286000" y="3794760"/>
            <a:ext cx="324576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9" name="TextBox 21"/>
          <p:cNvSpPr/>
          <p:nvPr/>
        </p:nvSpPr>
        <p:spPr>
          <a:xfrm>
            <a:off x="2432160" y="3886200"/>
            <a:ext cx="29714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04 Operacion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80" name="TextBox 22"/>
          <p:cNvSpPr/>
          <p:nvPr/>
        </p:nvSpPr>
        <p:spPr>
          <a:xfrm>
            <a:off x="2432160" y="4178880"/>
            <a:ext cx="2971440" cy="82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50" spc="-1" strike="noStrike">
                <a:solidFill>
                  <a:srgbClr val="0b1f33"/>
                </a:solidFill>
                <a:latin typeface="Aptos"/>
              </a:rPr>
              <a:t>Seguridad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50" spc="-1" strike="noStrike">
                <a:solidFill>
                  <a:srgbClr val="0b1f33"/>
                </a:solidFill>
                <a:latin typeface="Aptos"/>
              </a:rPr>
              <a:t>Pruebas y caveats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50" spc="-1" strike="noStrike">
                <a:solidFill>
                  <a:srgbClr val="0b1f33"/>
                </a:solidFill>
                <a:latin typeface="Aptos"/>
              </a:rPr>
              <a:t>Release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81" name="Rounded Rectangle 23"/>
          <p:cNvSpPr/>
          <p:nvPr/>
        </p:nvSpPr>
        <p:spPr>
          <a:xfrm>
            <a:off x="6035040" y="3794760"/>
            <a:ext cx="324576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2" name="Rectangle 24"/>
          <p:cNvSpPr/>
          <p:nvPr/>
        </p:nvSpPr>
        <p:spPr>
          <a:xfrm>
            <a:off x="6035040" y="3794760"/>
            <a:ext cx="324576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3" name="TextBox 25"/>
          <p:cNvSpPr/>
          <p:nvPr/>
        </p:nvSpPr>
        <p:spPr>
          <a:xfrm>
            <a:off x="6181200" y="3886200"/>
            <a:ext cx="29714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05 Cierre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84" name="TextBox 26"/>
          <p:cNvSpPr/>
          <p:nvPr/>
        </p:nvSpPr>
        <p:spPr>
          <a:xfrm>
            <a:off x="6181200" y="4178880"/>
            <a:ext cx="2971440" cy="82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50" spc="-1" strike="noStrike">
                <a:solidFill>
                  <a:srgbClr val="0b1f33"/>
                </a:solidFill>
                <a:latin typeface="Aptos"/>
              </a:rPr>
              <a:t>Stack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50" spc="-1" strike="noStrike">
                <a:solidFill>
                  <a:srgbClr val="0b1f33"/>
                </a:solidFill>
                <a:latin typeface="Aptos"/>
              </a:rPr>
              <a:t>XAIHT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50" spc="-1" strike="noStrike">
                <a:solidFill>
                  <a:srgbClr val="0b1f33"/>
                </a:solidFill>
                <a:latin typeface="Aptos"/>
              </a:rPr>
              <a:t>Mensaje final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85" name="TextBox 27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86" name="TextBox 28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2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1"/>
          <p:cNvSpPr/>
          <p:nvPr/>
        </p:nvSpPr>
        <p:spPr>
          <a:xfrm>
            <a:off x="0" y="0"/>
            <a:ext cx="12191760" cy="127800"/>
          </a:xfrm>
          <a:prstGeom prst="rect">
            <a:avLst/>
          </a:prstGeom>
          <a:solidFill>
            <a:srgbClr val="0818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8" name="Rounded Rectangle 2"/>
          <p:cNvSpPr/>
          <p:nvPr/>
        </p:nvSpPr>
        <p:spPr>
          <a:xfrm>
            <a:off x="347400" y="255960"/>
            <a:ext cx="1051200" cy="301320"/>
          </a:xfrm>
          <a:prstGeom prst="roundRect">
            <a:avLst>
              <a:gd name="adj" fmla="val 16667"/>
            </a:avLst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9" name="TextBox 3"/>
          <p:cNvSpPr/>
          <p:nvPr/>
        </p:nvSpPr>
        <p:spPr>
          <a:xfrm>
            <a:off x="438840" y="301680"/>
            <a:ext cx="86832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020" spc="-1" strike="noStrike">
                <a:solidFill>
                  <a:srgbClr val="081824"/>
                </a:solidFill>
                <a:latin typeface="Aptos"/>
              </a:rPr>
              <a:t>DATOS</a:t>
            </a:r>
            <a:endParaRPr b="0" lang="en-US" sz="1020" spc="-1" strike="noStrike">
              <a:latin typeface="Arial"/>
            </a:endParaRPr>
          </a:p>
        </p:txBody>
      </p:sp>
      <p:sp>
        <p:nvSpPr>
          <p:cNvPr id="90" name="TextBox 4"/>
          <p:cNvSpPr/>
          <p:nvPr/>
        </p:nvSpPr>
        <p:spPr>
          <a:xfrm>
            <a:off x="384120" y="658440"/>
            <a:ext cx="82292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50" spc="-1" strike="noStrike">
                <a:solidFill>
                  <a:srgbClr val="0b1f33"/>
                </a:solidFill>
                <a:latin typeface="Aptos Display"/>
              </a:rPr>
              <a:t>Snapshot verificado del sistema</a:t>
            </a:r>
            <a:endParaRPr b="0" lang="en-US" sz="2650" spc="-1" strike="noStrike">
              <a:latin typeface="Arial"/>
            </a:endParaRPr>
          </a:p>
        </p:txBody>
      </p:sp>
      <p:sp>
        <p:nvSpPr>
          <p:cNvPr id="91" name="TextBox 5"/>
          <p:cNvSpPr/>
          <p:nvPr/>
        </p:nvSpPr>
        <p:spPr>
          <a:xfrm>
            <a:off x="384120" y="1024200"/>
            <a:ext cx="106981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20" spc="-1" strike="noStrike">
                <a:solidFill>
                  <a:srgbClr val="5b7285"/>
                </a:solidFill>
                <a:latin typeface="Aptos"/>
              </a:rPr>
              <a:t>El archivo previo hablaba de 38+ agentes y 72 rutas; ese estado ya no existe.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92" name="Rectangle 6"/>
          <p:cNvSpPr/>
          <p:nvPr/>
        </p:nvSpPr>
        <p:spPr>
          <a:xfrm>
            <a:off x="384120" y="1325880"/>
            <a:ext cx="11063880" cy="2700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3" name="Rounded Rectangle 7"/>
          <p:cNvSpPr/>
          <p:nvPr/>
        </p:nvSpPr>
        <p:spPr>
          <a:xfrm>
            <a:off x="411480" y="1783080"/>
            <a:ext cx="257832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4" name="TextBox 8"/>
          <p:cNvSpPr/>
          <p:nvPr/>
        </p:nvSpPr>
        <p:spPr>
          <a:xfrm>
            <a:off x="502920" y="1856160"/>
            <a:ext cx="2395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f6e8c"/>
                </a:solidFill>
                <a:latin typeface="Aptos Display"/>
              </a:rPr>
              <a:t>0b8c42d5f531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5" name="TextBox 9"/>
          <p:cNvSpPr/>
          <p:nvPr/>
        </p:nvSpPr>
        <p:spPr>
          <a:xfrm>
            <a:off x="502920" y="2221920"/>
            <a:ext cx="23954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20" spc="-1" strike="noStrike">
                <a:solidFill>
                  <a:srgbClr val="0b1f33"/>
                </a:solidFill>
                <a:latin typeface="Aptos"/>
              </a:rPr>
              <a:t>HEAD actual</a:t>
            </a:r>
            <a:endParaRPr b="0" lang="en-US" sz="1220" spc="-1" strike="noStrike">
              <a:latin typeface="Arial"/>
            </a:endParaRPr>
          </a:p>
        </p:txBody>
      </p:sp>
      <p:sp>
        <p:nvSpPr>
          <p:cNvPr id="96" name="TextBox 10"/>
          <p:cNvSpPr/>
          <p:nvPr/>
        </p:nvSpPr>
        <p:spPr>
          <a:xfrm>
            <a:off x="502920" y="2477880"/>
            <a:ext cx="2395440" cy="2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40" spc="-1" strike="noStrike">
                <a:solidFill>
                  <a:srgbClr val="5b7285"/>
                </a:solidFill>
                <a:latin typeface="Aptos"/>
              </a:rPr>
              <a:t>main</a:t>
            </a:r>
            <a:endParaRPr b="0" lang="en-US" sz="1040" spc="-1" strike="noStrike">
              <a:latin typeface="Arial"/>
            </a:endParaRPr>
          </a:p>
        </p:txBody>
      </p:sp>
      <p:sp>
        <p:nvSpPr>
          <p:cNvPr id="97" name="Rounded Rectangle 11"/>
          <p:cNvSpPr/>
          <p:nvPr/>
        </p:nvSpPr>
        <p:spPr>
          <a:xfrm>
            <a:off x="3227760" y="1783080"/>
            <a:ext cx="257832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8" name="TextBox 12"/>
          <p:cNvSpPr/>
          <p:nvPr/>
        </p:nvSpPr>
        <p:spPr>
          <a:xfrm>
            <a:off x="3319200" y="1856160"/>
            <a:ext cx="2395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f6e8c"/>
                </a:solidFill>
                <a:latin typeface="Aptos Display"/>
              </a:rPr>
              <a:t>308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9" name="TextBox 13"/>
          <p:cNvSpPr/>
          <p:nvPr/>
        </p:nvSpPr>
        <p:spPr>
          <a:xfrm>
            <a:off x="3319200" y="2221920"/>
            <a:ext cx="23954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20" spc="-1" strike="noStrike">
                <a:solidFill>
                  <a:srgbClr val="0b1f33"/>
                </a:solidFill>
                <a:latin typeface="Aptos"/>
              </a:rPr>
              <a:t>archivos rastreados</a:t>
            </a:r>
            <a:endParaRPr b="0" lang="en-US" sz="1220" spc="-1" strike="noStrike">
              <a:latin typeface="Arial"/>
            </a:endParaRPr>
          </a:p>
        </p:txBody>
      </p:sp>
      <p:sp>
        <p:nvSpPr>
          <p:cNvPr id="100" name="TextBox 14"/>
          <p:cNvSpPr/>
          <p:nvPr/>
        </p:nvSpPr>
        <p:spPr>
          <a:xfrm>
            <a:off x="3319200" y="2477880"/>
            <a:ext cx="2395440" cy="2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40" spc="-1" strike="noStrike">
                <a:solidFill>
                  <a:srgbClr val="5b7285"/>
                </a:solidFill>
                <a:latin typeface="Aptos"/>
              </a:rPr>
              <a:t>repo actual</a:t>
            </a:r>
            <a:endParaRPr b="0" lang="en-US" sz="1040" spc="-1" strike="noStrike">
              <a:latin typeface="Arial"/>
            </a:endParaRPr>
          </a:p>
        </p:txBody>
      </p:sp>
      <p:sp>
        <p:nvSpPr>
          <p:cNvPr id="101" name="Rounded Rectangle 15"/>
          <p:cNvSpPr/>
          <p:nvPr/>
        </p:nvSpPr>
        <p:spPr>
          <a:xfrm>
            <a:off x="6044040" y="1783080"/>
            <a:ext cx="257832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2" name="TextBox 16"/>
          <p:cNvSpPr/>
          <p:nvPr/>
        </p:nvSpPr>
        <p:spPr>
          <a:xfrm>
            <a:off x="6135480" y="1856160"/>
            <a:ext cx="2395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f6e8c"/>
                </a:solidFill>
                <a:latin typeface="Aptos Display"/>
              </a:rPr>
              <a:t>181 / 52,451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03" name="TextBox 17"/>
          <p:cNvSpPr/>
          <p:nvPr/>
        </p:nvSpPr>
        <p:spPr>
          <a:xfrm>
            <a:off x="6135480" y="2221920"/>
            <a:ext cx="23954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20" spc="-1" strike="noStrike">
                <a:solidFill>
                  <a:srgbClr val="0b1f33"/>
                </a:solidFill>
                <a:latin typeface="Aptos"/>
              </a:rPr>
              <a:t>Python / lineas</a:t>
            </a:r>
            <a:endParaRPr b="0" lang="en-US" sz="1220" spc="-1" strike="noStrike">
              <a:latin typeface="Arial"/>
            </a:endParaRPr>
          </a:p>
        </p:txBody>
      </p:sp>
      <p:sp>
        <p:nvSpPr>
          <p:cNvPr id="104" name="TextBox 18"/>
          <p:cNvSpPr/>
          <p:nvPr/>
        </p:nvSpPr>
        <p:spPr>
          <a:xfrm>
            <a:off x="6135480" y="2477880"/>
            <a:ext cx="2395440" cy="2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40" spc="-1" strike="noStrike">
                <a:solidFill>
                  <a:srgbClr val="5b7285"/>
                </a:solidFill>
                <a:latin typeface="Aptos"/>
              </a:rPr>
              <a:t>backend y agentes</a:t>
            </a:r>
            <a:endParaRPr b="0" lang="en-US" sz="1040" spc="-1" strike="noStrike">
              <a:latin typeface="Arial"/>
            </a:endParaRPr>
          </a:p>
        </p:txBody>
      </p:sp>
      <p:sp>
        <p:nvSpPr>
          <p:cNvPr id="105" name="Rounded Rectangle 19"/>
          <p:cNvSpPr/>
          <p:nvPr/>
        </p:nvSpPr>
        <p:spPr>
          <a:xfrm>
            <a:off x="8860680" y="1783080"/>
            <a:ext cx="257832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6" name="TextBox 20"/>
          <p:cNvSpPr/>
          <p:nvPr/>
        </p:nvSpPr>
        <p:spPr>
          <a:xfrm>
            <a:off x="8952120" y="1856160"/>
            <a:ext cx="2395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f6e8c"/>
                </a:solidFill>
                <a:latin typeface="Aptos Display"/>
              </a:rPr>
              <a:t>24 / 11,596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07" name="TextBox 21"/>
          <p:cNvSpPr/>
          <p:nvPr/>
        </p:nvSpPr>
        <p:spPr>
          <a:xfrm>
            <a:off x="8952120" y="2221920"/>
            <a:ext cx="23954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20" spc="-1" strike="noStrike">
                <a:solidFill>
                  <a:srgbClr val="0b1f33"/>
                </a:solidFill>
                <a:latin typeface="Aptos"/>
              </a:rPr>
              <a:t>JS / lineas</a:t>
            </a:r>
            <a:endParaRPr b="0" lang="en-US" sz="1220" spc="-1" strike="noStrike">
              <a:latin typeface="Arial"/>
            </a:endParaRPr>
          </a:p>
        </p:txBody>
      </p:sp>
      <p:sp>
        <p:nvSpPr>
          <p:cNvPr id="108" name="TextBox 22"/>
          <p:cNvSpPr/>
          <p:nvPr/>
        </p:nvSpPr>
        <p:spPr>
          <a:xfrm>
            <a:off x="8952120" y="2477880"/>
            <a:ext cx="2395440" cy="2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40" spc="-1" strike="noStrike">
                <a:solidFill>
                  <a:srgbClr val="5b7285"/>
                </a:solidFill>
                <a:latin typeface="Aptos"/>
              </a:rPr>
              <a:t>chat + ACP</a:t>
            </a:r>
            <a:endParaRPr b="0" lang="en-US" sz="1040" spc="-1" strike="noStrike">
              <a:latin typeface="Arial"/>
            </a:endParaRPr>
          </a:p>
        </p:txBody>
      </p:sp>
      <p:sp>
        <p:nvSpPr>
          <p:cNvPr id="109" name="Rounded Rectangle 23"/>
          <p:cNvSpPr/>
          <p:nvPr/>
        </p:nvSpPr>
        <p:spPr>
          <a:xfrm>
            <a:off x="411480" y="3291840"/>
            <a:ext cx="257832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0" name="TextBox 24"/>
          <p:cNvSpPr/>
          <p:nvPr/>
        </p:nvSpPr>
        <p:spPr>
          <a:xfrm>
            <a:off x="502920" y="3364920"/>
            <a:ext cx="2395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f6e8c"/>
                </a:solidFill>
                <a:latin typeface="Aptos Display"/>
              </a:rPr>
              <a:t>53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11" name="TextBox 25"/>
          <p:cNvSpPr/>
          <p:nvPr/>
        </p:nvSpPr>
        <p:spPr>
          <a:xfrm>
            <a:off x="502920" y="3730680"/>
            <a:ext cx="23954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20" spc="-1" strike="noStrike">
                <a:solidFill>
                  <a:srgbClr val="0b1f33"/>
                </a:solidFill>
                <a:latin typeface="Aptos"/>
              </a:rPr>
              <a:t>plantillas de agente</a:t>
            </a:r>
            <a:endParaRPr b="0" lang="en-US" sz="1220" spc="-1" strike="noStrike">
              <a:latin typeface="Arial"/>
            </a:endParaRPr>
          </a:p>
        </p:txBody>
      </p:sp>
      <p:sp>
        <p:nvSpPr>
          <p:cNvPr id="112" name="TextBox 26"/>
          <p:cNvSpPr/>
          <p:nvPr/>
        </p:nvSpPr>
        <p:spPr>
          <a:xfrm>
            <a:off x="502920" y="3986640"/>
            <a:ext cx="2395440" cy="2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40" spc="-1" strike="noStrike">
                <a:solidFill>
                  <a:srgbClr val="5b7285"/>
                </a:solidFill>
                <a:latin typeface="Aptos"/>
              </a:rPr>
              <a:t>sin pools</a:t>
            </a:r>
            <a:endParaRPr b="0" lang="en-US" sz="1040" spc="-1" strike="noStrike">
              <a:latin typeface="Arial"/>
            </a:endParaRPr>
          </a:p>
        </p:txBody>
      </p:sp>
      <p:sp>
        <p:nvSpPr>
          <p:cNvPr id="113" name="Rounded Rectangle 27"/>
          <p:cNvSpPr/>
          <p:nvPr/>
        </p:nvSpPr>
        <p:spPr>
          <a:xfrm>
            <a:off x="3227760" y="3291840"/>
            <a:ext cx="257832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4" name="TextBox 28"/>
          <p:cNvSpPr/>
          <p:nvPr/>
        </p:nvSpPr>
        <p:spPr>
          <a:xfrm>
            <a:off x="3319200" y="3364920"/>
            <a:ext cx="2395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f6e8c"/>
                </a:solidFill>
                <a:latin typeface="Aptos Display"/>
              </a:rPr>
              <a:t>100 + 3 + 1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15" name="TextBox 29"/>
          <p:cNvSpPr/>
          <p:nvPr/>
        </p:nvSpPr>
        <p:spPr>
          <a:xfrm>
            <a:off x="3319200" y="3730680"/>
            <a:ext cx="23954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20" spc="-1" strike="noStrike">
                <a:solidFill>
                  <a:srgbClr val="0b1f33"/>
                </a:solidFill>
                <a:latin typeface="Aptos"/>
              </a:rPr>
              <a:t>rutas app/proy/ws</a:t>
            </a:r>
            <a:endParaRPr b="0" lang="en-US" sz="1220" spc="-1" strike="noStrike">
              <a:latin typeface="Arial"/>
            </a:endParaRPr>
          </a:p>
        </p:txBody>
      </p:sp>
      <p:sp>
        <p:nvSpPr>
          <p:cNvPr id="116" name="TextBox 30"/>
          <p:cNvSpPr/>
          <p:nvPr/>
        </p:nvSpPr>
        <p:spPr>
          <a:xfrm>
            <a:off x="3319200" y="3986640"/>
            <a:ext cx="2395440" cy="2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40" spc="-1" strike="noStrike">
                <a:solidFill>
                  <a:srgbClr val="5b7285"/>
                </a:solidFill>
                <a:latin typeface="Aptos"/>
              </a:rPr>
              <a:t>surface backend</a:t>
            </a:r>
            <a:endParaRPr b="0" lang="en-US" sz="1040" spc="-1" strike="noStrike">
              <a:latin typeface="Arial"/>
            </a:endParaRPr>
          </a:p>
        </p:txBody>
      </p:sp>
      <p:sp>
        <p:nvSpPr>
          <p:cNvPr id="117" name="Rounded Rectangle 31"/>
          <p:cNvSpPr/>
          <p:nvPr/>
        </p:nvSpPr>
        <p:spPr>
          <a:xfrm>
            <a:off x="6044040" y="3291840"/>
            <a:ext cx="257832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8" name="TextBox 32"/>
          <p:cNvSpPr/>
          <p:nvPr/>
        </p:nvSpPr>
        <p:spPr>
          <a:xfrm>
            <a:off x="6135480" y="3364920"/>
            <a:ext cx="2395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f6e8c"/>
                </a:solidFill>
                <a:latin typeface="Aptos Display"/>
              </a:rPr>
              <a:t>12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19" name="TextBox 33"/>
          <p:cNvSpPr/>
          <p:nvPr/>
        </p:nvSpPr>
        <p:spPr>
          <a:xfrm>
            <a:off x="6135480" y="3730680"/>
            <a:ext cx="23954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20" spc="-1" strike="noStrike">
                <a:solidFill>
                  <a:srgbClr val="0b1f33"/>
                </a:solidFill>
                <a:latin typeface="Aptos"/>
              </a:rPr>
              <a:t>modelos Django</a:t>
            </a:r>
            <a:endParaRPr b="0" lang="en-US" sz="1220" spc="-1" strike="noStrike">
              <a:latin typeface="Arial"/>
            </a:endParaRPr>
          </a:p>
        </p:txBody>
      </p:sp>
      <p:sp>
        <p:nvSpPr>
          <p:cNvPr id="120" name="TextBox 34"/>
          <p:cNvSpPr/>
          <p:nvPr/>
        </p:nvSpPr>
        <p:spPr>
          <a:xfrm>
            <a:off x="6135480" y="3986640"/>
            <a:ext cx="2395440" cy="2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40" spc="-1" strike="noStrike">
                <a:solidFill>
                  <a:srgbClr val="5b7285"/>
                </a:solidFill>
                <a:latin typeface="Aptos"/>
              </a:rPr>
              <a:t>persistencia</a:t>
            </a:r>
            <a:endParaRPr b="0" lang="en-US" sz="1040" spc="-1" strike="noStrike">
              <a:latin typeface="Arial"/>
            </a:endParaRPr>
          </a:p>
        </p:txBody>
      </p:sp>
      <p:sp>
        <p:nvSpPr>
          <p:cNvPr id="121" name="Rounded Rectangle 35"/>
          <p:cNvSpPr/>
          <p:nvPr/>
        </p:nvSpPr>
        <p:spPr>
          <a:xfrm>
            <a:off x="8860680" y="3291840"/>
            <a:ext cx="257832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2" name="TextBox 36"/>
          <p:cNvSpPr/>
          <p:nvPr/>
        </p:nvSpPr>
        <p:spPr>
          <a:xfrm>
            <a:off x="8952120" y="3364920"/>
            <a:ext cx="2395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f6e8c"/>
                </a:solidFill>
                <a:latin typeface="Aptos Display"/>
              </a:rPr>
              <a:t>17 / 12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23" name="TextBox 37"/>
          <p:cNvSpPr/>
          <p:nvPr/>
        </p:nvSpPr>
        <p:spPr>
          <a:xfrm>
            <a:off x="8952120" y="3730680"/>
            <a:ext cx="23954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20" spc="-1" strike="noStrike">
                <a:solidFill>
                  <a:srgbClr val="0b1f33"/>
                </a:solidFill>
                <a:latin typeface="Aptos"/>
              </a:rPr>
              <a:t>WS msgs / tools</a:t>
            </a:r>
            <a:endParaRPr b="0" lang="en-US" sz="1220" spc="-1" strike="noStrike">
              <a:latin typeface="Arial"/>
            </a:endParaRPr>
          </a:p>
        </p:txBody>
      </p:sp>
      <p:sp>
        <p:nvSpPr>
          <p:cNvPr id="124" name="TextBox 38"/>
          <p:cNvSpPr/>
          <p:nvPr/>
        </p:nvSpPr>
        <p:spPr>
          <a:xfrm>
            <a:off x="8952120" y="3986640"/>
            <a:ext cx="2395440" cy="2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40" spc="-1" strike="noStrike">
                <a:solidFill>
                  <a:srgbClr val="5b7285"/>
                </a:solidFill>
                <a:latin typeface="Aptos"/>
              </a:rPr>
              <a:t>cliente y toggles</a:t>
            </a:r>
            <a:endParaRPr b="0" lang="en-US" sz="1040" spc="-1" strike="noStrike">
              <a:latin typeface="Arial"/>
            </a:endParaRPr>
          </a:p>
        </p:txBody>
      </p:sp>
      <p:sp>
        <p:nvSpPr>
          <p:cNvPr id="125" name="Rounded Rectangle 39"/>
          <p:cNvSpPr/>
          <p:nvPr/>
        </p:nvSpPr>
        <p:spPr>
          <a:xfrm>
            <a:off x="438840" y="5074920"/>
            <a:ext cx="10972440" cy="749520"/>
          </a:xfrm>
          <a:prstGeom prst="roundRect">
            <a:avLst>
              <a:gd name="adj" fmla="val 16667"/>
            </a:avLst>
          </a:prstGeom>
          <a:solidFill>
            <a:srgbClr val="fff3e8"/>
          </a:solidFill>
          <a:ln w="12700">
            <a:solidFill>
              <a:srgbClr val="f3c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6" name="TextBox 40"/>
          <p:cNvSpPr/>
          <p:nvPr/>
        </p:nvSpPr>
        <p:spPr>
          <a:xfrm>
            <a:off x="640080" y="5303520"/>
            <a:ext cx="10515240" cy="53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450" spc="-1" strike="noStrike">
                <a:solidFill>
                  <a:srgbClr val="0b1f33"/>
                </a:solidFill>
                <a:latin typeface="Aptos"/>
              </a:rPr>
              <a:t>El sistema actual incorpora FlowBacker, 53 plantillas con reanimacion, 100 rutas app y una automatizacion mucho mas rica.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127" name="TextBox 41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128" name="TextBox 42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3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8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Box 1"/>
          <p:cNvSpPr/>
          <p:nvPr/>
        </p:nvSpPr>
        <p:spPr>
          <a:xfrm>
            <a:off x="438840" y="384120"/>
            <a:ext cx="27428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5be7ff"/>
                </a:solidFill>
                <a:latin typeface="Aptos"/>
              </a:rPr>
              <a:t>Tlamatini | seccion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30" name="TextBox 2"/>
          <p:cNvSpPr/>
          <p:nvPr/>
        </p:nvSpPr>
        <p:spPr>
          <a:xfrm>
            <a:off x="594360" y="1426320"/>
            <a:ext cx="18284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6000" spc="-1" strike="noStrike">
                <a:solidFill>
                  <a:srgbClr val="5be7ff"/>
                </a:solidFill>
                <a:latin typeface="Aptos Display"/>
              </a:rPr>
              <a:t>01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131" name="TextBox 3"/>
          <p:cNvSpPr/>
          <p:nvPr/>
        </p:nvSpPr>
        <p:spPr>
          <a:xfrm>
            <a:off x="1874520" y="1828800"/>
            <a:ext cx="7314840" cy="52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50" spc="-1" strike="noStrike">
                <a:solidFill>
                  <a:srgbClr val="ffffff"/>
                </a:solidFill>
                <a:latin typeface="Aptos Display"/>
              </a:rPr>
              <a:t>Producto y experiencia</a:t>
            </a:r>
            <a:endParaRPr b="0" lang="en-US" sz="2850" spc="-1" strike="noStrike">
              <a:latin typeface="Arial"/>
            </a:endParaRPr>
          </a:p>
        </p:txBody>
      </p:sp>
      <p:sp>
        <p:nvSpPr>
          <p:cNvPr id="132" name="TextBox 4"/>
          <p:cNvSpPr/>
          <p:nvPr/>
        </p:nvSpPr>
        <p:spPr>
          <a:xfrm>
            <a:off x="1901880" y="2377440"/>
            <a:ext cx="7497720" cy="34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50" spc="-1" strike="noStrike">
                <a:solidFill>
                  <a:srgbClr val="cbefff"/>
                </a:solidFill>
                <a:latin typeface="Aptos"/>
              </a:rPr>
              <a:t>Que es Tlamatini, como se presenta al usuario y que valor entrega.</a:t>
            </a:r>
            <a:endParaRPr b="0" lang="en-US" sz="1650" spc="-1" strike="noStrike">
              <a:latin typeface="Arial"/>
            </a:endParaRPr>
          </a:p>
        </p:txBody>
      </p:sp>
      <p:sp>
        <p:nvSpPr>
          <p:cNvPr id="133" name="Rounded Rectangle 5"/>
          <p:cNvSpPr/>
          <p:nvPr/>
        </p:nvSpPr>
        <p:spPr>
          <a:xfrm>
            <a:off x="1874520" y="3063240"/>
            <a:ext cx="3108600" cy="365400"/>
          </a:xfrm>
          <a:prstGeom prst="roundRect">
            <a:avLst>
              <a:gd name="adj" fmla="val 16667"/>
            </a:avLst>
          </a:prstGeom>
          <a:solidFill>
            <a:srgbClr val="0e2b4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4" name="TextBox 6"/>
          <p:cNvSpPr/>
          <p:nvPr/>
        </p:nvSpPr>
        <p:spPr>
          <a:xfrm>
            <a:off x="2011680" y="3182040"/>
            <a:ext cx="27428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ptos"/>
              </a:rPr>
              <a:t>RAG, flujos, seguridad, release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135" name="Picture 7" descr="Tlamatini.jpg"/>
          <p:cNvPicPr/>
          <p:nvPr/>
        </p:nvPicPr>
        <p:blipFill>
          <a:blip r:embed="rId1"/>
          <a:stretch/>
        </p:blipFill>
        <p:spPr>
          <a:xfrm>
            <a:off x="9281160" y="1280160"/>
            <a:ext cx="2148480" cy="2148480"/>
          </a:xfrm>
          <a:prstGeom prst="rect">
            <a:avLst/>
          </a:prstGeom>
          <a:ln w="0">
            <a:noFill/>
          </a:ln>
        </p:spPr>
      </p:pic>
      <p:sp>
        <p:nvSpPr>
          <p:cNvPr id="136" name="TextBox 8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ffffff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137" name="TextBox 9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ffffff"/>
                </a:solidFill>
                <a:latin typeface="Aptos"/>
              </a:rPr>
              <a:t>4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"/>
          <p:cNvSpPr/>
          <p:nvPr/>
        </p:nvSpPr>
        <p:spPr>
          <a:xfrm>
            <a:off x="0" y="0"/>
            <a:ext cx="12191760" cy="127800"/>
          </a:xfrm>
          <a:prstGeom prst="rect">
            <a:avLst/>
          </a:prstGeom>
          <a:solidFill>
            <a:srgbClr val="0818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9" name="Rounded Rectangle 2"/>
          <p:cNvSpPr/>
          <p:nvPr/>
        </p:nvSpPr>
        <p:spPr>
          <a:xfrm>
            <a:off x="347400" y="255960"/>
            <a:ext cx="1051200" cy="301320"/>
          </a:xfrm>
          <a:prstGeom prst="roundRect">
            <a:avLst>
              <a:gd name="adj" fmla="val 16667"/>
            </a:avLst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0" name="TextBox 3"/>
          <p:cNvSpPr/>
          <p:nvPr/>
        </p:nvSpPr>
        <p:spPr>
          <a:xfrm>
            <a:off x="438840" y="301680"/>
            <a:ext cx="86832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020" spc="-1" strike="noStrike">
                <a:solidFill>
                  <a:srgbClr val="081824"/>
                </a:solidFill>
                <a:latin typeface="Aptos"/>
              </a:rPr>
              <a:t>PRODUCTO</a:t>
            </a:r>
            <a:endParaRPr b="0" lang="en-US" sz="1020" spc="-1" strike="noStrike">
              <a:latin typeface="Arial"/>
            </a:endParaRPr>
          </a:p>
        </p:txBody>
      </p:sp>
      <p:sp>
        <p:nvSpPr>
          <p:cNvPr id="141" name="TextBox 4"/>
          <p:cNvSpPr/>
          <p:nvPr/>
        </p:nvSpPr>
        <p:spPr>
          <a:xfrm>
            <a:off x="384120" y="658440"/>
            <a:ext cx="82292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50" spc="-1" strike="noStrike">
                <a:solidFill>
                  <a:srgbClr val="0b1f33"/>
                </a:solidFill>
                <a:latin typeface="Aptos Display"/>
              </a:rPr>
              <a:t>Que es Tlamatini</a:t>
            </a:r>
            <a:endParaRPr b="0" lang="en-US" sz="2650" spc="-1" strike="noStrike">
              <a:latin typeface="Arial"/>
            </a:endParaRPr>
          </a:p>
        </p:txBody>
      </p:sp>
      <p:sp>
        <p:nvSpPr>
          <p:cNvPr id="142" name="TextBox 5"/>
          <p:cNvSpPr/>
          <p:nvPr/>
        </p:nvSpPr>
        <p:spPr>
          <a:xfrm>
            <a:off x="384120" y="1024200"/>
            <a:ext cx="106981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20" spc="-1" strike="noStrike">
                <a:solidFill>
                  <a:srgbClr val="5b7285"/>
                </a:solidFill>
                <a:latin typeface="Aptos"/>
              </a:rPr>
              <a:t>Asistente tecnico sobre Django con RAG code-aware, agente con tools y canvas visual.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143" name="Rectangle 6"/>
          <p:cNvSpPr/>
          <p:nvPr/>
        </p:nvSpPr>
        <p:spPr>
          <a:xfrm>
            <a:off x="384120" y="1325880"/>
            <a:ext cx="11063880" cy="2700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4" name="Rounded Rectangle 7"/>
          <p:cNvSpPr/>
          <p:nvPr/>
        </p:nvSpPr>
        <p:spPr>
          <a:xfrm>
            <a:off x="411480" y="1783080"/>
            <a:ext cx="5303160" cy="4068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5" name="Rectangle 8"/>
          <p:cNvSpPr/>
          <p:nvPr/>
        </p:nvSpPr>
        <p:spPr>
          <a:xfrm>
            <a:off x="411480" y="1783080"/>
            <a:ext cx="530316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6" name="TextBox 9"/>
          <p:cNvSpPr/>
          <p:nvPr/>
        </p:nvSpPr>
        <p:spPr>
          <a:xfrm>
            <a:off x="557640" y="1874520"/>
            <a:ext cx="5028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Definicion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47" name="TextBox 10"/>
          <p:cNvSpPr/>
          <p:nvPr/>
        </p:nvSpPr>
        <p:spPr>
          <a:xfrm>
            <a:off x="557640" y="2167200"/>
            <a:ext cx="5028840" cy="15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500" spc="-1" strike="noStrike">
                <a:solidFill>
                  <a:srgbClr val="0b1f33"/>
                </a:solidFill>
                <a:latin typeface="Aptos"/>
              </a:rPr>
              <a:t>Plataforma local-first para desarrollo, operacion y analitica.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500" spc="-1" strike="noStrike">
                <a:solidFill>
                  <a:srgbClr val="0b1f33"/>
                </a:solidFill>
                <a:latin typeface="Aptos"/>
              </a:rPr>
              <a:t>Unifica chat WebSocket, RAG de codigo, tools y automatizacion visual.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500" spc="-1" strike="noStrike">
                <a:solidFill>
                  <a:srgbClr val="0b1f33"/>
                </a:solidFill>
                <a:latin typeface="Aptos"/>
              </a:rPr>
              <a:t>Empaquetable para Windows mediante PyInstaller, instalador y desinstalador GUI.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48" name="Rounded Rectangle 11"/>
          <p:cNvSpPr/>
          <p:nvPr/>
        </p:nvSpPr>
        <p:spPr>
          <a:xfrm>
            <a:off x="5989320" y="1783080"/>
            <a:ext cx="255996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9" name="Rectangle 12"/>
          <p:cNvSpPr/>
          <p:nvPr/>
        </p:nvSpPr>
        <p:spPr>
          <a:xfrm>
            <a:off x="5989320" y="1783080"/>
            <a:ext cx="255996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0" name="TextBox 13"/>
          <p:cNvSpPr/>
          <p:nvPr/>
        </p:nvSpPr>
        <p:spPr>
          <a:xfrm>
            <a:off x="6090480" y="1855800"/>
            <a:ext cx="283392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Nombre y filosofia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51" name="TextBox 14"/>
          <p:cNvSpPr/>
          <p:nvPr/>
        </p:nvSpPr>
        <p:spPr>
          <a:xfrm>
            <a:off x="6135480" y="2167200"/>
            <a:ext cx="2285640" cy="99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20" spc="-1" strike="noStrike">
                <a:solidFill>
                  <a:srgbClr val="0b1f33"/>
                </a:solidFill>
                <a:latin typeface="Aptos"/>
              </a:rPr>
              <a:t>"Tlamatini" viene del nahuatl.</a:t>
            </a:r>
            <a:endParaRPr b="0" lang="en-US" sz="14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20" spc="-1" strike="noStrike">
                <a:solidFill>
                  <a:srgbClr val="0b1f33"/>
                </a:solidFill>
                <a:latin typeface="Aptos"/>
              </a:rPr>
              <a:t>XAIHT = Humanly Tempered.</a:t>
            </a:r>
            <a:endParaRPr b="0" lang="en-US" sz="1420" spc="-1" strike="noStrike">
              <a:latin typeface="Arial"/>
            </a:endParaRPr>
          </a:p>
        </p:txBody>
      </p:sp>
      <p:sp>
        <p:nvSpPr>
          <p:cNvPr id="152" name="Rounded Rectangle 15"/>
          <p:cNvSpPr/>
          <p:nvPr/>
        </p:nvSpPr>
        <p:spPr>
          <a:xfrm>
            <a:off x="8778240" y="1783080"/>
            <a:ext cx="255996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3" name="Rectangle 16"/>
          <p:cNvSpPr/>
          <p:nvPr/>
        </p:nvSpPr>
        <p:spPr>
          <a:xfrm>
            <a:off x="8778240" y="1783080"/>
            <a:ext cx="255996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4" name="TextBox 17"/>
          <p:cNvSpPr/>
          <p:nvPr/>
        </p:nvSpPr>
        <p:spPr>
          <a:xfrm>
            <a:off x="8924400" y="1874520"/>
            <a:ext cx="22856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Usuarios objetivo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55" name="TextBox 18"/>
          <p:cNvSpPr/>
          <p:nvPr/>
        </p:nvSpPr>
        <p:spPr>
          <a:xfrm>
            <a:off x="8924400" y="2167200"/>
            <a:ext cx="2285640" cy="10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20" spc="-1" strike="noStrike">
                <a:solidFill>
                  <a:srgbClr val="0b1f33"/>
                </a:solidFill>
                <a:latin typeface="Aptos"/>
              </a:rPr>
              <a:t>Desarrollo</a:t>
            </a:r>
            <a:endParaRPr b="0" lang="en-US" sz="14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20" spc="-1" strike="noStrike">
                <a:solidFill>
                  <a:srgbClr val="0b1f33"/>
                </a:solidFill>
                <a:latin typeface="Aptos"/>
              </a:rPr>
              <a:t>Sistemas</a:t>
            </a:r>
            <a:endParaRPr b="0" lang="en-US" sz="14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20" spc="-1" strike="noStrike">
                <a:solidFill>
                  <a:srgbClr val="0b1f33"/>
                </a:solidFill>
                <a:latin typeface="Aptos"/>
              </a:rPr>
              <a:t>Bases de datos</a:t>
            </a:r>
            <a:endParaRPr b="0" lang="en-US" sz="14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20" spc="-1" strike="noStrike">
                <a:solidFill>
                  <a:srgbClr val="0b1f33"/>
                </a:solidFill>
                <a:latin typeface="Aptos"/>
              </a:rPr>
              <a:t>Operacion</a:t>
            </a:r>
            <a:endParaRPr b="0" lang="en-US" sz="1420" spc="-1" strike="noStrike">
              <a:latin typeface="Arial"/>
            </a:endParaRPr>
          </a:p>
        </p:txBody>
      </p:sp>
      <p:sp>
        <p:nvSpPr>
          <p:cNvPr id="156" name="Rounded Rectangle 19"/>
          <p:cNvSpPr/>
          <p:nvPr/>
        </p:nvSpPr>
        <p:spPr>
          <a:xfrm>
            <a:off x="5989320" y="3794760"/>
            <a:ext cx="5348880" cy="2057040"/>
          </a:xfrm>
          <a:prstGeom prst="roundRect">
            <a:avLst>
              <a:gd name="adj" fmla="val 16667"/>
            </a:avLst>
          </a:prstGeom>
          <a:solidFill>
            <a:srgbClr val="e9f6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7" name="Rectangle 20"/>
          <p:cNvSpPr/>
          <p:nvPr/>
        </p:nvSpPr>
        <p:spPr>
          <a:xfrm>
            <a:off x="5989320" y="3794760"/>
            <a:ext cx="53488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8" name="TextBox 21"/>
          <p:cNvSpPr/>
          <p:nvPr/>
        </p:nvSpPr>
        <p:spPr>
          <a:xfrm>
            <a:off x="6135480" y="3886200"/>
            <a:ext cx="50745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Valor real hoy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59" name="TextBox 22"/>
          <p:cNvSpPr/>
          <p:nvPr/>
        </p:nvSpPr>
        <p:spPr>
          <a:xfrm>
            <a:off x="6135480" y="4178880"/>
            <a:ext cx="5074560" cy="10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40" spc="-1" strike="noStrike">
                <a:solidFill>
                  <a:srgbClr val="0b1f33"/>
                </a:solidFill>
                <a:latin typeface="Aptos"/>
              </a:rPr>
              <a:t>Local-first y multi-modelo, no solo chat.</a:t>
            </a:r>
            <a:endParaRPr b="0" lang="en-US" sz="144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40" spc="-1" strike="noStrike">
                <a:solidFill>
                  <a:srgbClr val="0b1f33"/>
                </a:solidFill>
                <a:latin typeface="Aptos"/>
              </a:rPr>
              <a:t>53 agentes visuales con supervision, pausa y respaldo.</a:t>
            </a:r>
            <a:endParaRPr b="0" lang="en-US" sz="144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40" spc="-1" strike="noStrike">
                <a:solidFill>
                  <a:srgbClr val="0b1f33"/>
                </a:solidFill>
                <a:latin typeface="Aptos"/>
              </a:rPr>
              <a:t>RAG con roles, dependencias y contexto curado.</a:t>
            </a:r>
            <a:endParaRPr b="0" lang="en-US" sz="1440" spc="-1" strike="noStrike">
              <a:latin typeface="Arial"/>
            </a:endParaRPr>
          </a:p>
        </p:txBody>
      </p:sp>
      <p:sp>
        <p:nvSpPr>
          <p:cNvPr id="160" name="TextBox 23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161" name="TextBox 24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5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Rectangle 1"/>
          <p:cNvSpPr/>
          <p:nvPr/>
        </p:nvSpPr>
        <p:spPr>
          <a:xfrm>
            <a:off x="0" y="0"/>
            <a:ext cx="12191760" cy="127800"/>
          </a:xfrm>
          <a:prstGeom prst="rect">
            <a:avLst/>
          </a:prstGeom>
          <a:solidFill>
            <a:srgbClr val="0818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3" name="Rounded Rectangle 2"/>
          <p:cNvSpPr/>
          <p:nvPr/>
        </p:nvSpPr>
        <p:spPr>
          <a:xfrm>
            <a:off x="347400" y="255960"/>
            <a:ext cx="1051200" cy="301320"/>
          </a:xfrm>
          <a:prstGeom prst="roundRect">
            <a:avLst>
              <a:gd name="adj" fmla="val 16667"/>
            </a:avLst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4" name="TextBox 3"/>
          <p:cNvSpPr/>
          <p:nvPr/>
        </p:nvSpPr>
        <p:spPr>
          <a:xfrm>
            <a:off x="438840" y="301680"/>
            <a:ext cx="86832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020" spc="-1" strike="noStrike">
                <a:solidFill>
                  <a:srgbClr val="081824"/>
                </a:solidFill>
                <a:latin typeface="Aptos"/>
              </a:rPr>
              <a:t>PRODUCTO</a:t>
            </a:r>
            <a:endParaRPr b="0" lang="en-US" sz="1020" spc="-1" strike="noStrike">
              <a:latin typeface="Arial"/>
            </a:endParaRPr>
          </a:p>
        </p:txBody>
      </p:sp>
      <p:sp>
        <p:nvSpPr>
          <p:cNvPr id="165" name="TextBox 4"/>
          <p:cNvSpPr/>
          <p:nvPr/>
        </p:nvSpPr>
        <p:spPr>
          <a:xfrm>
            <a:off x="384120" y="658440"/>
            <a:ext cx="82292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50" spc="-1" strike="noStrike">
                <a:solidFill>
                  <a:srgbClr val="0b1f33"/>
                </a:solidFill>
                <a:latin typeface="Aptos Display"/>
              </a:rPr>
              <a:t>Superficies de usuario</a:t>
            </a:r>
            <a:endParaRPr b="0" lang="en-US" sz="2650" spc="-1" strike="noStrike">
              <a:latin typeface="Arial"/>
            </a:endParaRPr>
          </a:p>
        </p:txBody>
      </p:sp>
      <p:sp>
        <p:nvSpPr>
          <p:cNvPr id="166" name="TextBox 5"/>
          <p:cNvSpPr/>
          <p:nvPr/>
        </p:nvSpPr>
        <p:spPr>
          <a:xfrm>
            <a:off x="384120" y="1024200"/>
            <a:ext cx="106981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20" spc="-1" strike="noStrike">
                <a:solidFill>
                  <a:srgbClr val="5b7285"/>
                </a:solidFill>
                <a:latin typeface="Aptos"/>
              </a:rPr>
              <a:t>Cinco puntos de contacto visibles para el usuario tecnico.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167" name="Rectangle 6"/>
          <p:cNvSpPr/>
          <p:nvPr/>
        </p:nvSpPr>
        <p:spPr>
          <a:xfrm>
            <a:off x="384120" y="1325880"/>
            <a:ext cx="11063880" cy="2700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8" name="Rounded Rectangle 7"/>
          <p:cNvSpPr/>
          <p:nvPr/>
        </p:nvSpPr>
        <p:spPr>
          <a:xfrm>
            <a:off x="411480" y="1783080"/>
            <a:ext cx="315432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9" name="Rectangle 8"/>
          <p:cNvSpPr/>
          <p:nvPr/>
        </p:nvSpPr>
        <p:spPr>
          <a:xfrm>
            <a:off x="411480" y="1783080"/>
            <a:ext cx="315432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0" name="TextBox 9"/>
          <p:cNvSpPr/>
          <p:nvPr/>
        </p:nvSpPr>
        <p:spPr>
          <a:xfrm>
            <a:off x="557640" y="1874520"/>
            <a:ext cx="288000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Autenticacion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71" name="TextBox 10"/>
          <p:cNvSpPr/>
          <p:nvPr/>
        </p:nvSpPr>
        <p:spPr>
          <a:xfrm>
            <a:off x="557640" y="2167200"/>
            <a:ext cx="2880000" cy="10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10" spc="-1" strike="noStrike">
                <a:solidFill>
                  <a:srgbClr val="0b1f33"/>
                </a:solidFill>
                <a:latin typeface="Aptos"/>
              </a:rPr>
              <a:t>Login Django</a:t>
            </a:r>
            <a:endParaRPr b="0" lang="en-US" sz="14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10" spc="-1" strike="noStrike">
                <a:solidFill>
                  <a:srgbClr val="0b1f33"/>
                </a:solidFill>
                <a:latin typeface="Aptos"/>
              </a:rPr>
              <a:t>Aislamiento multiusuario</a:t>
            </a:r>
            <a:endParaRPr b="0" lang="en-US" sz="14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10" spc="-1" strike="noStrike">
                <a:solidFill>
                  <a:srgbClr val="0b1f33"/>
                </a:solidFill>
                <a:latin typeface="Aptos"/>
              </a:rPr>
              <a:t>Credenciales propias o sembradas</a:t>
            </a:r>
            <a:endParaRPr b="0" lang="en-US" sz="1410" spc="-1" strike="noStrike">
              <a:latin typeface="Arial"/>
            </a:endParaRPr>
          </a:p>
        </p:txBody>
      </p:sp>
      <p:sp>
        <p:nvSpPr>
          <p:cNvPr id="172" name="Rounded Rectangle 11"/>
          <p:cNvSpPr/>
          <p:nvPr/>
        </p:nvSpPr>
        <p:spPr>
          <a:xfrm>
            <a:off x="4050720" y="1783080"/>
            <a:ext cx="315432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3" name="Rectangle 12"/>
          <p:cNvSpPr/>
          <p:nvPr/>
        </p:nvSpPr>
        <p:spPr>
          <a:xfrm>
            <a:off x="4050720" y="1783080"/>
            <a:ext cx="315432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4" name="TextBox 13"/>
          <p:cNvSpPr/>
          <p:nvPr/>
        </p:nvSpPr>
        <p:spPr>
          <a:xfrm>
            <a:off x="4197240" y="1874520"/>
            <a:ext cx="288000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Chat en tiempo real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75" name="TextBox 14"/>
          <p:cNvSpPr/>
          <p:nvPr/>
        </p:nvSpPr>
        <p:spPr>
          <a:xfrm>
            <a:off x="4197240" y="2167200"/>
            <a:ext cx="2880000" cy="80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10" spc="-1" strike="noStrike">
                <a:solidFill>
                  <a:srgbClr val="0b1f33"/>
                </a:solidFill>
                <a:latin typeface="Aptos"/>
              </a:rPr>
              <a:t>WebSocket via Channels</a:t>
            </a:r>
            <a:endParaRPr b="0" lang="en-US" sz="14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10" spc="-1" strike="noStrike">
                <a:solidFill>
                  <a:srgbClr val="0b1f33"/>
                </a:solidFill>
                <a:latin typeface="Aptos"/>
              </a:rPr>
              <a:t>Streaming y cancelacion</a:t>
            </a:r>
            <a:endParaRPr b="0" lang="en-US" sz="14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10" spc="-1" strike="noStrike">
                <a:solidFill>
                  <a:srgbClr val="0b1f33"/>
                </a:solidFill>
                <a:latin typeface="Aptos"/>
              </a:rPr>
              <a:t>Restauracion de sesion</a:t>
            </a:r>
            <a:endParaRPr b="0" lang="en-US" sz="1410" spc="-1" strike="noStrike">
              <a:latin typeface="Arial"/>
            </a:endParaRPr>
          </a:p>
        </p:txBody>
      </p:sp>
      <p:sp>
        <p:nvSpPr>
          <p:cNvPr id="176" name="Rounded Rectangle 15"/>
          <p:cNvSpPr/>
          <p:nvPr/>
        </p:nvSpPr>
        <p:spPr>
          <a:xfrm>
            <a:off x="7689960" y="1783080"/>
            <a:ext cx="315432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7" name="Rectangle 16"/>
          <p:cNvSpPr/>
          <p:nvPr/>
        </p:nvSpPr>
        <p:spPr>
          <a:xfrm>
            <a:off x="7689960" y="1783080"/>
            <a:ext cx="315432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8" name="TextBox 17"/>
          <p:cNvSpPr/>
          <p:nvPr/>
        </p:nvSpPr>
        <p:spPr>
          <a:xfrm>
            <a:off x="7836480" y="1874520"/>
            <a:ext cx="288000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Canvas de codigo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79" name="TextBox 18"/>
          <p:cNvSpPr/>
          <p:nvPr/>
        </p:nvSpPr>
        <p:spPr>
          <a:xfrm>
            <a:off x="7836480" y="2167200"/>
            <a:ext cx="2880000" cy="80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10" spc="-1" strike="noStrike">
                <a:solidFill>
                  <a:srgbClr val="0b1f33"/>
                </a:solidFill>
                <a:latin typeface="Aptos"/>
              </a:rPr>
              <a:t>Ver, editar y copiar</a:t>
            </a:r>
            <a:endParaRPr b="0" lang="en-US" sz="14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10" spc="-1" strike="noStrike">
                <a:solidFill>
                  <a:srgbClr val="0b1f33"/>
                </a:solidFill>
                <a:latin typeface="Aptos"/>
              </a:rPr>
              <a:t>Persistencia SQLite</a:t>
            </a:r>
            <a:endParaRPr b="0" lang="en-US" sz="14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10" spc="-1" strike="noStrike">
                <a:solidFill>
                  <a:srgbClr val="0b1f33"/>
                </a:solidFill>
                <a:latin typeface="Aptos"/>
              </a:rPr>
              <a:t>Guardar desde DB</a:t>
            </a:r>
            <a:endParaRPr b="0" lang="en-US" sz="1410" spc="-1" strike="noStrike">
              <a:latin typeface="Arial"/>
            </a:endParaRPr>
          </a:p>
        </p:txBody>
      </p:sp>
      <p:sp>
        <p:nvSpPr>
          <p:cNvPr id="180" name="Rounded Rectangle 19"/>
          <p:cNvSpPr/>
          <p:nvPr/>
        </p:nvSpPr>
        <p:spPr>
          <a:xfrm>
            <a:off x="2240280" y="3794760"/>
            <a:ext cx="315432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1" name="Rectangle 20"/>
          <p:cNvSpPr/>
          <p:nvPr/>
        </p:nvSpPr>
        <p:spPr>
          <a:xfrm>
            <a:off x="2240280" y="3794760"/>
            <a:ext cx="315432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2" name="TextBox 21"/>
          <p:cNvSpPr/>
          <p:nvPr/>
        </p:nvSpPr>
        <p:spPr>
          <a:xfrm>
            <a:off x="2386440" y="3886200"/>
            <a:ext cx="288000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Panel agentico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83" name="TextBox 22"/>
          <p:cNvSpPr/>
          <p:nvPr/>
        </p:nvSpPr>
        <p:spPr>
          <a:xfrm>
            <a:off x="2386440" y="4178880"/>
            <a:ext cx="2880000" cy="80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10" spc="-1" strike="noStrike">
                <a:solidFill>
                  <a:srgbClr val="0b1f33"/>
                </a:solidFill>
                <a:latin typeface="Aptos"/>
              </a:rPr>
              <a:t>Drag-and-drop</a:t>
            </a:r>
            <a:endParaRPr b="0" lang="en-US" sz="14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10" spc="-1" strike="noStrike">
                <a:solidFill>
                  <a:srgbClr val="0b1f33"/>
                </a:solidFill>
                <a:latin typeface="Aptos"/>
              </a:rPr>
              <a:t>.flw save/load</a:t>
            </a:r>
            <a:endParaRPr b="0" lang="en-US" sz="14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10" spc="-1" strike="noStrike">
                <a:solidFill>
                  <a:srgbClr val="0b1f33"/>
                </a:solidFill>
                <a:latin typeface="Aptos"/>
              </a:rPr>
              <a:t>Read log y restart</a:t>
            </a:r>
            <a:endParaRPr b="0" lang="en-US" sz="1410" spc="-1" strike="noStrike">
              <a:latin typeface="Arial"/>
            </a:endParaRPr>
          </a:p>
        </p:txBody>
      </p:sp>
      <p:sp>
        <p:nvSpPr>
          <p:cNvPr id="184" name="Rounded Rectangle 23"/>
          <p:cNvSpPr/>
          <p:nvPr/>
        </p:nvSpPr>
        <p:spPr>
          <a:xfrm>
            <a:off x="5879520" y="3794760"/>
            <a:ext cx="315432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5" name="Rectangle 24"/>
          <p:cNvSpPr/>
          <p:nvPr/>
        </p:nvSpPr>
        <p:spPr>
          <a:xfrm>
            <a:off x="5879520" y="3794760"/>
            <a:ext cx="315432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6" name="TextBox 25"/>
          <p:cNvSpPr/>
          <p:nvPr/>
        </p:nvSpPr>
        <p:spPr>
          <a:xfrm>
            <a:off x="6026040" y="3886200"/>
            <a:ext cx="288000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Open in...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87" name="TextBox 26"/>
          <p:cNvSpPr/>
          <p:nvPr/>
        </p:nvSpPr>
        <p:spPr>
          <a:xfrm>
            <a:off x="6026040" y="4178880"/>
            <a:ext cx="2880000" cy="10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10" spc="-1" strike="noStrike">
                <a:solidFill>
                  <a:srgbClr val="0b1f33"/>
                </a:solidFill>
                <a:latin typeface="Aptos"/>
              </a:rPr>
              <a:t>VS Code / Antigravity / Explorer</a:t>
            </a:r>
            <a:endParaRPr b="0" lang="en-US" sz="14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10" spc="-1" strike="noStrike">
                <a:solidFill>
                  <a:srgbClr val="0b1f33"/>
                </a:solidFill>
                <a:latin typeface="Aptos"/>
              </a:rPr>
              <a:t>Solo con directorio cargado</a:t>
            </a:r>
            <a:endParaRPr b="0" lang="en-US" sz="14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10" spc="-1" strike="noStrike">
                <a:solidFill>
                  <a:srgbClr val="0b1f33"/>
                </a:solidFill>
                <a:latin typeface="Aptos"/>
              </a:rPr>
              <a:t>Lanzamiento desde navbar</a:t>
            </a:r>
            <a:endParaRPr b="0" lang="en-US" sz="1410" spc="-1" strike="noStrike">
              <a:latin typeface="Arial"/>
            </a:endParaRPr>
          </a:p>
        </p:txBody>
      </p:sp>
      <p:sp>
        <p:nvSpPr>
          <p:cNvPr id="188" name="TextBox 27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189" name="TextBox 28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6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0" y="0"/>
            <a:ext cx="12191760" cy="127800"/>
          </a:xfrm>
          <a:prstGeom prst="rect">
            <a:avLst/>
          </a:prstGeom>
          <a:solidFill>
            <a:srgbClr val="0818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1" name="Rounded Rectangle 2"/>
          <p:cNvSpPr/>
          <p:nvPr/>
        </p:nvSpPr>
        <p:spPr>
          <a:xfrm>
            <a:off x="347400" y="255960"/>
            <a:ext cx="1051200" cy="301320"/>
          </a:xfrm>
          <a:prstGeom prst="roundRect">
            <a:avLst>
              <a:gd name="adj" fmla="val 16667"/>
            </a:avLst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2" name="TextBox 3"/>
          <p:cNvSpPr/>
          <p:nvPr/>
        </p:nvSpPr>
        <p:spPr>
          <a:xfrm>
            <a:off x="438840" y="301680"/>
            <a:ext cx="86832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020" spc="-1" strike="noStrike">
                <a:solidFill>
                  <a:srgbClr val="081824"/>
                </a:solidFill>
                <a:latin typeface="Aptos"/>
              </a:rPr>
              <a:t>PRODUCTO</a:t>
            </a:r>
            <a:endParaRPr b="0" lang="en-US" sz="1020" spc="-1" strike="noStrike">
              <a:latin typeface="Arial"/>
            </a:endParaRPr>
          </a:p>
        </p:txBody>
      </p:sp>
      <p:sp>
        <p:nvSpPr>
          <p:cNvPr id="193" name="TextBox 4"/>
          <p:cNvSpPr/>
          <p:nvPr/>
        </p:nvSpPr>
        <p:spPr>
          <a:xfrm>
            <a:off x="384120" y="658440"/>
            <a:ext cx="82292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50" spc="-1" strike="noStrike">
                <a:solidFill>
                  <a:srgbClr val="0b1f33"/>
                </a:solidFill>
                <a:latin typeface="Aptos Display"/>
              </a:rPr>
              <a:t>Capacidades de extremo a extremo</a:t>
            </a:r>
            <a:endParaRPr b="0" lang="en-US" sz="2650" spc="-1" strike="noStrike">
              <a:latin typeface="Arial"/>
            </a:endParaRPr>
          </a:p>
        </p:txBody>
      </p:sp>
      <p:sp>
        <p:nvSpPr>
          <p:cNvPr id="194" name="TextBox 5"/>
          <p:cNvSpPr/>
          <p:nvPr/>
        </p:nvSpPr>
        <p:spPr>
          <a:xfrm>
            <a:off x="384120" y="1024200"/>
            <a:ext cx="106981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20" spc="-1" strike="noStrike">
                <a:solidFill>
                  <a:srgbClr val="5b7285"/>
                </a:solidFill>
                <a:latin typeface="Aptos"/>
              </a:rPr>
              <a:t>Lo que el sistema cubre hoy en codigo y README actuales.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195" name="Rectangle 6"/>
          <p:cNvSpPr/>
          <p:nvPr/>
        </p:nvSpPr>
        <p:spPr>
          <a:xfrm>
            <a:off x="384120" y="1325880"/>
            <a:ext cx="11063880" cy="2700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6" name="Rounded Rectangle 7"/>
          <p:cNvSpPr/>
          <p:nvPr/>
        </p:nvSpPr>
        <p:spPr>
          <a:xfrm>
            <a:off x="411480" y="1783080"/>
            <a:ext cx="3401280" cy="1691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7" name="Rectangle 8"/>
          <p:cNvSpPr/>
          <p:nvPr/>
        </p:nvSpPr>
        <p:spPr>
          <a:xfrm>
            <a:off x="411480" y="178308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8" name="TextBox 9"/>
          <p:cNvSpPr/>
          <p:nvPr/>
        </p:nvSpPr>
        <p:spPr>
          <a:xfrm>
            <a:off x="557640" y="187452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Chat + historial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99" name="TextBox 10"/>
          <p:cNvSpPr/>
          <p:nvPr/>
        </p:nvSpPr>
        <p:spPr>
          <a:xfrm>
            <a:off x="557640" y="2167200"/>
            <a:ext cx="312696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Streaming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24h de sesion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Cancelacion y reconexion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00" name="Rounded Rectangle 11"/>
          <p:cNvSpPr/>
          <p:nvPr/>
        </p:nvSpPr>
        <p:spPr>
          <a:xfrm>
            <a:off x="4069080" y="1783080"/>
            <a:ext cx="3401280" cy="1691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1" name="Rectangle 12"/>
          <p:cNvSpPr/>
          <p:nvPr/>
        </p:nvSpPr>
        <p:spPr>
          <a:xfrm>
            <a:off x="4069080" y="178308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2" name="TextBox 13"/>
          <p:cNvSpPr/>
          <p:nvPr/>
        </p:nvSpPr>
        <p:spPr>
          <a:xfrm>
            <a:off x="4215240" y="187452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RAG code-aware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03" name="TextBox 14"/>
          <p:cNvSpPr/>
          <p:nvPr/>
        </p:nvSpPr>
        <p:spPr>
          <a:xfrm>
            <a:off x="4215240" y="2167200"/>
            <a:ext cx="312696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Archivo o directorio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Clases, funciones e imports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FAISS + BM25 + RRF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04" name="Rounded Rectangle 15"/>
          <p:cNvSpPr/>
          <p:nvPr/>
        </p:nvSpPr>
        <p:spPr>
          <a:xfrm>
            <a:off x="7726680" y="1783080"/>
            <a:ext cx="3401280" cy="1691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5" name="Rectangle 16"/>
          <p:cNvSpPr/>
          <p:nvPr/>
        </p:nvSpPr>
        <p:spPr>
          <a:xfrm>
            <a:off x="7726680" y="178308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6" name="TextBox 17"/>
          <p:cNvSpPr/>
          <p:nvPr/>
        </p:nvSpPr>
        <p:spPr>
          <a:xfrm>
            <a:off x="7872840" y="187452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Agente con tools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07" name="TextBox 18"/>
          <p:cNvSpPr/>
          <p:nvPr/>
        </p:nvSpPr>
        <p:spPr>
          <a:xfrm>
            <a:off x="7872840" y="2167200"/>
            <a:ext cx="312696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Shell y Python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Imagen Claude/Qwen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ZIP y Java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08" name="Rounded Rectangle 19"/>
          <p:cNvSpPr/>
          <p:nvPr/>
        </p:nvSpPr>
        <p:spPr>
          <a:xfrm>
            <a:off x="411480" y="3794760"/>
            <a:ext cx="3401280" cy="1691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9" name="Rectangle 20"/>
          <p:cNvSpPr/>
          <p:nvPr/>
        </p:nvSpPr>
        <p:spPr>
          <a:xfrm>
            <a:off x="411480" y="379476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0" name="TextBox 21"/>
          <p:cNvSpPr/>
          <p:nvPr/>
        </p:nvSpPr>
        <p:spPr>
          <a:xfrm>
            <a:off x="557640" y="388620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Automatizacion visual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11" name="TextBox 22"/>
          <p:cNvSpPr/>
          <p:nvPr/>
        </p:nvSpPr>
        <p:spPr>
          <a:xfrm>
            <a:off x="557640" y="4178880"/>
            <a:ext cx="312696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53 agentes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Canvas validado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Pools por sesion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12" name="Rounded Rectangle 23"/>
          <p:cNvSpPr/>
          <p:nvPr/>
        </p:nvSpPr>
        <p:spPr>
          <a:xfrm>
            <a:off x="4069080" y="3794760"/>
            <a:ext cx="3401280" cy="1691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3" name="Rectangle 24"/>
          <p:cNvSpPr/>
          <p:nvPr/>
        </p:nvSpPr>
        <p:spPr>
          <a:xfrm>
            <a:off x="4069080" y="379476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4" name="TextBox 25"/>
          <p:cNvSpPr/>
          <p:nvPr/>
        </p:nvSpPr>
        <p:spPr>
          <a:xfrm>
            <a:off x="4215240" y="3886200"/>
            <a:ext cx="332856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Web, MCP e integraciones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15" name="TextBox 26"/>
          <p:cNvSpPr/>
          <p:nvPr/>
        </p:nvSpPr>
        <p:spPr>
          <a:xfrm>
            <a:off x="4215240" y="4178880"/>
            <a:ext cx="312696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DuckDuckGo + clasificador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MCP system WS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File search gRPC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16" name="Rounded Rectangle 27"/>
          <p:cNvSpPr/>
          <p:nvPr/>
        </p:nvSpPr>
        <p:spPr>
          <a:xfrm>
            <a:off x="7726680" y="3794760"/>
            <a:ext cx="3401280" cy="1691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7" name="Rectangle 28"/>
          <p:cNvSpPr/>
          <p:nvPr/>
        </p:nvSpPr>
        <p:spPr>
          <a:xfrm>
            <a:off x="7726680" y="379476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8" name="TextBox 29"/>
          <p:cNvSpPr/>
          <p:nvPr/>
        </p:nvSpPr>
        <p:spPr>
          <a:xfrm>
            <a:off x="7872840" y="388620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Docs y empaquetado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19" name="TextBox 30"/>
          <p:cNvSpPr/>
          <p:nvPr/>
        </p:nvSpPr>
        <p:spPr>
          <a:xfrm>
            <a:off x="7872840" y="4178880"/>
            <a:ext cx="312696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python-docx / pptx / pymupdf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Installer + Uninstaller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400" spc="-1" strike="noStrike">
                <a:solidFill>
                  <a:srgbClr val="0b1f33"/>
                </a:solidFill>
                <a:latin typeface="Aptos"/>
              </a:rPr>
              <a:t>Tlamatini_Release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20" name="TextBox 31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221" name="TextBox 32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7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8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Box 1"/>
          <p:cNvSpPr/>
          <p:nvPr/>
        </p:nvSpPr>
        <p:spPr>
          <a:xfrm>
            <a:off x="438840" y="384120"/>
            <a:ext cx="27428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5be7ff"/>
                </a:solidFill>
                <a:latin typeface="Aptos"/>
              </a:rPr>
              <a:t>Tlamatini | seccion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23" name="TextBox 2"/>
          <p:cNvSpPr/>
          <p:nvPr/>
        </p:nvSpPr>
        <p:spPr>
          <a:xfrm>
            <a:off x="594360" y="1426320"/>
            <a:ext cx="18284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6000" spc="-1" strike="noStrike">
                <a:solidFill>
                  <a:srgbClr val="5be7ff"/>
                </a:solidFill>
                <a:latin typeface="Aptos Display"/>
              </a:rPr>
              <a:t>02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224" name="TextBox 3"/>
          <p:cNvSpPr/>
          <p:nvPr/>
        </p:nvSpPr>
        <p:spPr>
          <a:xfrm>
            <a:off x="1874520" y="1828800"/>
            <a:ext cx="7314840" cy="52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50" spc="-1" strike="noStrike">
                <a:solidFill>
                  <a:srgbClr val="ffffff"/>
                </a:solidFill>
                <a:latin typeface="Aptos Display"/>
              </a:rPr>
              <a:t>Arquitectura y procesamiento</a:t>
            </a:r>
            <a:endParaRPr b="0" lang="en-US" sz="2850" spc="-1" strike="noStrike">
              <a:latin typeface="Arial"/>
            </a:endParaRPr>
          </a:p>
        </p:txBody>
      </p:sp>
      <p:sp>
        <p:nvSpPr>
          <p:cNvPr id="225" name="TextBox 4"/>
          <p:cNvSpPr/>
          <p:nvPr/>
        </p:nvSpPr>
        <p:spPr>
          <a:xfrm>
            <a:off x="1901880" y="2377440"/>
            <a:ext cx="749772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50" spc="-1" strike="noStrike">
                <a:solidFill>
                  <a:srgbClr val="cbefff"/>
                </a:solidFill>
                <a:latin typeface="Aptos"/>
              </a:rPr>
              <a:t>Capas del sistema, flujo de solicitud y motor RAG con cadenas y herramientas.</a:t>
            </a:r>
            <a:endParaRPr b="0" lang="en-US" sz="1650" spc="-1" strike="noStrike">
              <a:latin typeface="Arial"/>
            </a:endParaRPr>
          </a:p>
        </p:txBody>
      </p:sp>
      <p:sp>
        <p:nvSpPr>
          <p:cNvPr id="226" name="Rounded Rectangle 5"/>
          <p:cNvSpPr/>
          <p:nvPr/>
        </p:nvSpPr>
        <p:spPr>
          <a:xfrm>
            <a:off x="1874520" y="3063240"/>
            <a:ext cx="3108600" cy="365400"/>
          </a:xfrm>
          <a:prstGeom prst="roundRect">
            <a:avLst>
              <a:gd name="adj" fmla="val 16667"/>
            </a:avLst>
          </a:prstGeom>
          <a:solidFill>
            <a:srgbClr val="0e2b4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7" name="TextBox 6"/>
          <p:cNvSpPr/>
          <p:nvPr/>
        </p:nvSpPr>
        <p:spPr>
          <a:xfrm>
            <a:off x="2011680" y="3182040"/>
            <a:ext cx="27428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ptos"/>
              </a:rPr>
              <a:t>RAG, flujos, seguridad, release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228" name="Picture 7" descr="Tlamatini.jpg"/>
          <p:cNvPicPr/>
          <p:nvPr/>
        </p:nvPicPr>
        <p:blipFill>
          <a:blip r:embed="rId1"/>
          <a:stretch/>
        </p:blipFill>
        <p:spPr>
          <a:xfrm>
            <a:off x="9281160" y="1280160"/>
            <a:ext cx="2148480" cy="2148480"/>
          </a:xfrm>
          <a:prstGeom prst="rect">
            <a:avLst/>
          </a:prstGeom>
          <a:ln w="0">
            <a:noFill/>
          </a:ln>
        </p:spPr>
      </p:pic>
      <p:sp>
        <p:nvSpPr>
          <p:cNvPr id="229" name="TextBox 8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ffffff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230" name="TextBox 9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ffffff"/>
                </a:solidFill>
                <a:latin typeface="Aptos"/>
              </a:rPr>
              <a:t>8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1"/>
          <p:cNvSpPr/>
          <p:nvPr/>
        </p:nvSpPr>
        <p:spPr>
          <a:xfrm>
            <a:off x="0" y="0"/>
            <a:ext cx="12191760" cy="127800"/>
          </a:xfrm>
          <a:prstGeom prst="rect">
            <a:avLst/>
          </a:prstGeom>
          <a:solidFill>
            <a:srgbClr val="0818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2" name="Rounded Rectangle 2"/>
          <p:cNvSpPr/>
          <p:nvPr/>
        </p:nvSpPr>
        <p:spPr>
          <a:xfrm>
            <a:off x="347400" y="255960"/>
            <a:ext cx="1051200" cy="301320"/>
          </a:xfrm>
          <a:prstGeom prst="roundRect">
            <a:avLst>
              <a:gd name="adj" fmla="val 16667"/>
            </a:avLst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3" name="TextBox 3"/>
          <p:cNvSpPr/>
          <p:nvPr/>
        </p:nvSpPr>
        <p:spPr>
          <a:xfrm>
            <a:off x="438840" y="301680"/>
            <a:ext cx="86832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020" spc="-1" strike="noStrike">
                <a:solidFill>
                  <a:srgbClr val="081824"/>
                </a:solidFill>
                <a:latin typeface="Aptos"/>
              </a:rPr>
              <a:t>ARQUITECTURA</a:t>
            </a:r>
            <a:endParaRPr b="0" lang="en-US" sz="1020" spc="-1" strike="noStrike">
              <a:latin typeface="Arial"/>
            </a:endParaRPr>
          </a:p>
        </p:txBody>
      </p:sp>
      <p:sp>
        <p:nvSpPr>
          <p:cNvPr id="234" name="TextBox 4"/>
          <p:cNvSpPr/>
          <p:nvPr/>
        </p:nvSpPr>
        <p:spPr>
          <a:xfrm>
            <a:off x="384120" y="658440"/>
            <a:ext cx="82292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50" spc="-1" strike="noStrike">
                <a:solidFill>
                  <a:srgbClr val="0b1f33"/>
                </a:solidFill>
                <a:latin typeface="Aptos Display"/>
              </a:rPr>
              <a:t>Arquitectura del sistema</a:t>
            </a:r>
            <a:endParaRPr b="0" lang="en-US" sz="2650" spc="-1" strike="noStrike">
              <a:latin typeface="Arial"/>
            </a:endParaRPr>
          </a:p>
        </p:txBody>
      </p:sp>
      <p:sp>
        <p:nvSpPr>
          <p:cNvPr id="235" name="TextBox 5"/>
          <p:cNvSpPr/>
          <p:nvPr/>
        </p:nvSpPr>
        <p:spPr>
          <a:xfrm>
            <a:off x="384120" y="1024200"/>
            <a:ext cx="106981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20" spc="-1" strike="noStrike">
                <a:solidFill>
                  <a:srgbClr val="5b7285"/>
                </a:solidFill>
                <a:latin typeface="Aptos"/>
              </a:rPr>
              <a:t>Navegador, Django/Channels, RAG, MCP y backends LLM dentro de una sola topologia.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236" name="Rectangle 6"/>
          <p:cNvSpPr/>
          <p:nvPr/>
        </p:nvSpPr>
        <p:spPr>
          <a:xfrm>
            <a:off x="384120" y="1325880"/>
            <a:ext cx="11063880" cy="2700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7" name="Rounded Rectangle 7"/>
          <p:cNvSpPr/>
          <p:nvPr/>
        </p:nvSpPr>
        <p:spPr>
          <a:xfrm>
            <a:off x="640080" y="1444320"/>
            <a:ext cx="10972440" cy="1298880"/>
          </a:xfrm>
          <a:prstGeom prst="roundRect">
            <a:avLst>
              <a:gd name="adj" fmla="val 16667"/>
            </a:avLst>
          </a:prstGeom>
          <a:solidFill>
            <a:srgbClr val="e9f6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8" name="Rectangle 8"/>
          <p:cNvSpPr/>
          <p:nvPr/>
        </p:nvSpPr>
        <p:spPr>
          <a:xfrm>
            <a:off x="685800" y="1371600"/>
            <a:ext cx="1097244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9" name="TextBox 9"/>
          <p:cNvSpPr/>
          <p:nvPr/>
        </p:nvSpPr>
        <p:spPr>
          <a:xfrm>
            <a:off x="786240" y="1479960"/>
            <a:ext cx="10698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Navegador web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40" name="TextBox 10"/>
          <p:cNvSpPr/>
          <p:nvPr/>
        </p:nvSpPr>
        <p:spPr>
          <a:xfrm>
            <a:off x="786240" y="1828800"/>
            <a:ext cx="10698120" cy="78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Chat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Canvas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ACP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241" name="Rounded Rectangle 11"/>
          <p:cNvSpPr/>
          <p:nvPr/>
        </p:nvSpPr>
        <p:spPr>
          <a:xfrm>
            <a:off x="868680" y="2851200"/>
            <a:ext cx="365724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2" name="Rectangle 12"/>
          <p:cNvSpPr/>
          <p:nvPr/>
        </p:nvSpPr>
        <p:spPr>
          <a:xfrm>
            <a:off x="868680" y="2851200"/>
            <a:ext cx="365724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3" name="TextBox 13"/>
          <p:cNvSpPr/>
          <p:nvPr/>
        </p:nvSpPr>
        <p:spPr>
          <a:xfrm>
            <a:off x="1014840" y="2942640"/>
            <a:ext cx="33829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Capa de aplicacion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44" name="TextBox 14"/>
          <p:cNvSpPr/>
          <p:nvPr/>
        </p:nvSpPr>
        <p:spPr>
          <a:xfrm>
            <a:off x="1014840" y="3235320"/>
            <a:ext cx="3382920" cy="78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Django 5.2.4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Channels + Daphne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AgentConsumer, views, SessionState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245" name="Rounded Rectangle 15"/>
          <p:cNvSpPr/>
          <p:nvPr/>
        </p:nvSpPr>
        <p:spPr>
          <a:xfrm>
            <a:off x="4434840" y="2851200"/>
            <a:ext cx="283428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6" name="Rectangle 16"/>
          <p:cNvSpPr/>
          <p:nvPr/>
        </p:nvSpPr>
        <p:spPr>
          <a:xfrm>
            <a:off x="4434840" y="2851200"/>
            <a:ext cx="2834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7" name="TextBox 17"/>
          <p:cNvSpPr/>
          <p:nvPr/>
        </p:nvSpPr>
        <p:spPr>
          <a:xfrm>
            <a:off x="4581000" y="2942640"/>
            <a:ext cx="2559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Subsistema RAG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48" name="TextBox 18"/>
          <p:cNvSpPr/>
          <p:nvPr/>
        </p:nvSpPr>
        <p:spPr>
          <a:xfrm>
            <a:off x="4581000" y="3235320"/>
            <a:ext cx="2559960" cy="78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Loaders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FAISS + BM25 + RRF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Compresion y budgeting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249" name="Rounded Rectangle 19"/>
          <p:cNvSpPr/>
          <p:nvPr/>
        </p:nvSpPr>
        <p:spPr>
          <a:xfrm>
            <a:off x="7406640" y="2851200"/>
            <a:ext cx="365724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0" name="Rectangle 20"/>
          <p:cNvSpPr/>
          <p:nvPr/>
        </p:nvSpPr>
        <p:spPr>
          <a:xfrm>
            <a:off x="7406640" y="2851200"/>
            <a:ext cx="365724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1" name="TextBox 21"/>
          <p:cNvSpPr/>
          <p:nvPr/>
        </p:nvSpPr>
        <p:spPr>
          <a:xfrm>
            <a:off x="7552800" y="2942640"/>
            <a:ext cx="33829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Agente y MCP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52" name="TextBox 22"/>
          <p:cNvSpPr/>
          <p:nvPr/>
        </p:nvSpPr>
        <p:spPr>
          <a:xfrm>
            <a:off x="7552800" y="3235320"/>
            <a:ext cx="3382920" cy="78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LangGraph + tools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MCP system WS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MCP file search gRPC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253" name="Rounded Rectangle 23"/>
          <p:cNvSpPr/>
          <p:nvPr/>
        </p:nvSpPr>
        <p:spPr>
          <a:xfrm>
            <a:off x="1920240" y="4526280"/>
            <a:ext cx="3565800" cy="1417320"/>
          </a:xfrm>
          <a:prstGeom prst="roundRect">
            <a:avLst>
              <a:gd name="adj" fmla="val 16667"/>
            </a:avLst>
          </a:prstGeom>
          <a:solidFill>
            <a:srgbClr val="e9f6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4" name="Rectangle 24"/>
          <p:cNvSpPr/>
          <p:nvPr/>
        </p:nvSpPr>
        <p:spPr>
          <a:xfrm>
            <a:off x="1920240" y="4526280"/>
            <a:ext cx="356580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5" name="TextBox 25"/>
          <p:cNvSpPr/>
          <p:nvPr/>
        </p:nvSpPr>
        <p:spPr>
          <a:xfrm>
            <a:off x="2066400" y="4617720"/>
            <a:ext cx="329148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Persistencia local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56" name="TextBox 26"/>
          <p:cNvSpPr/>
          <p:nvPr/>
        </p:nvSpPr>
        <p:spPr>
          <a:xfrm>
            <a:off x="2066400" y="4910400"/>
            <a:ext cx="3291480" cy="78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SQLite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archivos de sesion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logs, pid y reanim*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257" name="Rounded Rectangle 27"/>
          <p:cNvSpPr/>
          <p:nvPr/>
        </p:nvSpPr>
        <p:spPr>
          <a:xfrm>
            <a:off x="5806440" y="4526280"/>
            <a:ext cx="4480200" cy="1417320"/>
          </a:xfrm>
          <a:prstGeom prst="roundRect">
            <a:avLst>
              <a:gd name="adj" fmla="val 16667"/>
            </a:avLst>
          </a:prstGeom>
          <a:solidFill>
            <a:srgbClr val="fff3e8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8" name="Rectangle 28"/>
          <p:cNvSpPr/>
          <p:nvPr/>
        </p:nvSpPr>
        <p:spPr>
          <a:xfrm>
            <a:off x="5806440" y="4526280"/>
            <a:ext cx="448020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9" name="TextBox 29"/>
          <p:cNvSpPr/>
          <p:nvPr/>
        </p:nvSpPr>
        <p:spPr>
          <a:xfrm>
            <a:off x="5952600" y="4617720"/>
            <a:ext cx="420588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Backends LLM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60" name="TextBox 30"/>
          <p:cNvSpPr/>
          <p:nvPr/>
        </p:nvSpPr>
        <p:spPr>
          <a:xfrm>
            <a:off x="5952600" y="4910400"/>
            <a:ext cx="4205880" cy="10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Ollama local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Claude cloud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Qwen vision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50" spc="-1" strike="noStrike">
                <a:solidFill>
                  <a:srgbClr val="0b1f33"/>
                </a:solidFill>
                <a:latin typeface="Aptos"/>
              </a:rPr>
              <a:t>slots por tarea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261" name="TextBox 31"/>
          <p:cNvSpPr/>
          <p:nvPr/>
        </p:nvSpPr>
        <p:spPr>
          <a:xfrm>
            <a:off x="5623560" y="2440440"/>
            <a:ext cx="4568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f6e8c"/>
                </a:solidFill>
                <a:latin typeface="Aptos"/>
              </a:rPr>
              <a:t>↓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262" name="TextBox 32"/>
          <p:cNvSpPr/>
          <p:nvPr/>
        </p:nvSpPr>
        <p:spPr>
          <a:xfrm>
            <a:off x="2651760" y="4069080"/>
            <a:ext cx="4568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f6e8c"/>
                </a:solidFill>
                <a:latin typeface="Aptos"/>
              </a:rPr>
              <a:t>↓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263" name="TextBox 33"/>
          <p:cNvSpPr/>
          <p:nvPr/>
        </p:nvSpPr>
        <p:spPr>
          <a:xfrm>
            <a:off x="6126480" y="4069080"/>
            <a:ext cx="4568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f6e8c"/>
                </a:solidFill>
                <a:latin typeface="Aptos"/>
              </a:rPr>
              <a:t>↓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264" name="TextBox 34"/>
          <p:cNvSpPr/>
          <p:nvPr/>
        </p:nvSpPr>
        <p:spPr>
          <a:xfrm>
            <a:off x="8092440" y="4069080"/>
            <a:ext cx="4568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f6e8c"/>
                </a:solidFill>
                <a:latin typeface="Aptos"/>
              </a:rPr>
              <a:t>↓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265" name="TextBox 35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266" name="TextBox 36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9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Rectangle 1"/>
          <p:cNvSpPr/>
          <p:nvPr/>
        </p:nvSpPr>
        <p:spPr>
          <a:xfrm>
            <a:off x="0" y="0"/>
            <a:ext cx="12191760" cy="127800"/>
          </a:xfrm>
          <a:prstGeom prst="rect">
            <a:avLst/>
          </a:prstGeom>
          <a:solidFill>
            <a:srgbClr val="0818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8" name="Rounded Rectangle 2"/>
          <p:cNvSpPr/>
          <p:nvPr/>
        </p:nvSpPr>
        <p:spPr>
          <a:xfrm>
            <a:off x="347400" y="255960"/>
            <a:ext cx="1051200" cy="301320"/>
          </a:xfrm>
          <a:prstGeom prst="roundRect">
            <a:avLst>
              <a:gd name="adj" fmla="val 16667"/>
            </a:avLst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9" name="TextBox 3"/>
          <p:cNvSpPr/>
          <p:nvPr/>
        </p:nvSpPr>
        <p:spPr>
          <a:xfrm>
            <a:off x="438840" y="301680"/>
            <a:ext cx="86832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020" spc="-1" strike="noStrike">
                <a:solidFill>
                  <a:srgbClr val="081824"/>
                </a:solidFill>
                <a:latin typeface="Aptos"/>
              </a:rPr>
              <a:t>ARQUITECTURA</a:t>
            </a:r>
            <a:endParaRPr b="0" lang="en-US" sz="1020" spc="-1" strike="noStrike">
              <a:latin typeface="Arial"/>
            </a:endParaRPr>
          </a:p>
        </p:txBody>
      </p:sp>
      <p:sp>
        <p:nvSpPr>
          <p:cNvPr id="270" name="TextBox 4"/>
          <p:cNvSpPr/>
          <p:nvPr/>
        </p:nvSpPr>
        <p:spPr>
          <a:xfrm>
            <a:off x="384120" y="658440"/>
            <a:ext cx="82292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50" spc="-1" strike="noStrike">
                <a:solidFill>
                  <a:srgbClr val="0b1f33"/>
                </a:solidFill>
                <a:latin typeface="Aptos Display"/>
              </a:rPr>
              <a:t>Flujo de solicitud en tiempo real</a:t>
            </a:r>
            <a:endParaRPr b="0" lang="en-US" sz="2650" spc="-1" strike="noStrike">
              <a:latin typeface="Arial"/>
            </a:endParaRPr>
          </a:p>
        </p:txBody>
      </p:sp>
      <p:sp>
        <p:nvSpPr>
          <p:cNvPr id="271" name="TextBox 5"/>
          <p:cNvSpPr/>
          <p:nvPr/>
        </p:nvSpPr>
        <p:spPr>
          <a:xfrm>
            <a:off x="384120" y="1024200"/>
            <a:ext cx="106981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20" spc="-1" strike="noStrike">
                <a:solidFill>
                  <a:srgbClr val="5b7285"/>
                </a:solidFill>
                <a:latin typeface="Aptos"/>
              </a:rPr>
              <a:t>Ocho pasos convierten una consulta en respuesta y, si aplica, en ejecucion de tools.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272" name="Rectangle 6"/>
          <p:cNvSpPr/>
          <p:nvPr/>
        </p:nvSpPr>
        <p:spPr>
          <a:xfrm>
            <a:off x="384120" y="1325880"/>
            <a:ext cx="11063880" cy="2700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3" name="Rounded Rectangle 7"/>
          <p:cNvSpPr/>
          <p:nvPr/>
        </p:nvSpPr>
        <p:spPr>
          <a:xfrm>
            <a:off x="475560" y="1783080"/>
            <a:ext cx="255996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4" name="Rectangle 8"/>
          <p:cNvSpPr/>
          <p:nvPr/>
        </p:nvSpPr>
        <p:spPr>
          <a:xfrm>
            <a:off x="475560" y="1783080"/>
            <a:ext cx="255996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5" name="TextBox 9"/>
          <p:cNvSpPr/>
          <p:nvPr/>
        </p:nvSpPr>
        <p:spPr>
          <a:xfrm>
            <a:off x="621720" y="1874520"/>
            <a:ext cx="22856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1. Mensaje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76" name="TextBox 10"/>
          <p:cNvSpPr/>
          <p:nvPr/>
        </p:nvSpPr>
        <p:spPr>
          <a:xfrm>
            <a:off x="621720" y="2167200"/>
            <a:ext cx="228564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WebSocket autenticado.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277" name="Rounded Rectangle 11"/>
          <p:cNvSpPr/>
          <p:nvPr/>
        </p:nvSpPr>
        <p:spPr>
          <a:xfrm>
            <a:off x="3264480" y="1783080"/>
            <a:ext cx="255996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8" name="Rectangle 12"/>
          <p:cNvSpPr/>
          <p:nvPr/>
        </p:nvSpPr>
        <p:spPr>
          <a:xfrm>
            <a:off x="3264480" y="1783080"/>
            <a:ext cx="255996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9" name="TextBox 13"/>
          <p:cNvSpPr/>
          <p:nvPr/>
        </p:nvSpPr>
        <p:spPr>
          <a:xfrm>
            <a:off x="3410640" y="1874520"/>
            <a:ext cx="22856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2. receive()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80" name="TextBox 14"/>
          <p:cNvSpPr/>
          <p:nvPr/>
        </p:nvSpPr>
        <p:spPr>
          <a:xfrm>
            <a:off x="3410640" y="2167200"/>
            <a:ext cx="228564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Valida sesion y tipo.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281" name="Rounded Rectangle 15"/>
          <p:cNvSpPr/>
          <p:nvPr/>
        </p:nvSpPr>
        <p:spPr>
          <a:xfrm>
            <a:off x="6053400" y="1783080"/>
            <a:ext cx="255996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2" name="Rectangle 16"/>
          <p:cNvSpPr/>
          <p:nvPr/>
        </p:nvSpPr>
        <p:spPr>
          <a:xfrm>
            <a:off x="6053400" y="1783080"/>
            <a:ext cx="255996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3" name="TextBox 17"/>
          <p:cNvSpPr/>
          <p:nvPr/>
        </p:nvSpPr>
        <p:spPr>
          <a:xfrm>
            <a:off x="6199560" y="1874520"/>
            <a:ext cx="22856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3. Contexto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84" name="TextBox 18"/>
          <p:cNvSpPr/>
          <p:nvPr/>
        </p:nvSpPr>
        <p:spPr>
          <a:xfrm>
            <a:off x="6199560" y="2167200"/>
            <a:ext cx="228564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RAG cargado o restaurado.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285" name="Rounded Rectangle 19"/>
          <p:cNvSpPr/>
          <p:nvPr/>
        </p:nvSpPr>
        <p:spPr>
          <a:xfrm>
            <a:off x="8842320" y="1783080"/>
            <a:ext cx="255996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6" name="Rectangle 20"/>
          <p:cNvSpPr/>
          <p:nvPr/>
        </p:nvSpPr>
        <p:spPr>
          <a:xfrm>
            <a:off x="8842320" y="1783080"/>
            <a:ext cx="255996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7" name="TextBox 21"/>
          <p:cNvSpPr/>
          <p:nvPr/>
        </p:nvSpPr>
        <p:spPr>
          <a:xfrm>
            <a:off x="8988480" y="1874520"/>
            <a:ext cx="22856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4. Internet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88" name="TextBox 22"/>
          <p:cNvSpPr/>
          <p:nvPr/>
        </p:nvSpPr>
        <p:spPr>
          <a:xfrm>
            <a:off x="8988480" y="2167200"/>
            <a:ext cx="228564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Clasificador decide busqueda web.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289" name="Rounded Rectangle 23"/>
          <p:cNvSpPr/>
          <p:nvPr/>
        </p:nvSpPr>
        <p:spPr>
          <a:xfrm>
            <a:off x="475560" y="3749040"/>
            <a:ext cx="255996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0" name="Rectangle 24"/>
          <p:cNvSpPr/>
          <p:nvPr/>
        </p:nvSpPr>
        <p:spPr>
          <a:xfrm>
            <a:off x="475560" y="3749040"/>
            <a:ext cx="255996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1" name="TextBox 25"/>
          <p:cNvSpPr/>
          <p:nvPr/>
        </p:nvSpPr>
        <p:spPr>
          <a:xfrm>
            <a:off x="621720" y="3840480"/>
            <a:ext cx="22856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5. Cadena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92" name="TextBox 26"/>
          <p:cNvSpPr/>
          <p:nvPr/>
        </p:nvSpPr>
        <p:spPr>
          <a:xfrm>
            <a:off x="621720" y="4133160"/>
            <a:ext cx="228564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Basic / RAG / Unified Agent.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293" name="Rounded Rectangle 27"/>
          <p:cNvSpPr/>
          <p:nvPr/>
        </p:nvSpPr>
        <p:spPr>
          <a:xfrm>
            <a:off x="3264480" y="3749040"/>
            <a:ext cx="255996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4" name="Rectangle 28"/>
          <p:cNvSpPr/>
          <p:nvPr/>
        </p:nvSpPr>
        <p:spPr>
          <a:xfrm>
            <a:off x="3264480" y="3749040"/>
            <a:ext cx="255996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5" name="TextBox 29"/>
          <p:cNvSpPr/>
          <p:nvPr/>
        </p:nvSpPr>
        <p:spPr>
          <a:xfrm>
            <a:off x="3410640" y="3840480"/>
            <a:ext cx="22856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6. LLM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96" name="TextBox 30"/>
          <p:cNvSpPr/>
          <p:nvPr/>
        </p:nvSpPr>
        <p:spPr>
          <a:xfrm>
            <a:off x="3410640" y="4133160"/>
            <a:ext cx="228564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Invoca backend configurado.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297" name="Rounded Rectangle 31"/>
          <p:cNvSpPr/>
          <p:nvPr/>
        </p:nvSpPr>
        <p:spPr>
          <a:xfrm>
            <a:off x="6053400" y="3749040"/>
            <a:ext cx="255996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8" name="Rectangle 32"/>
          <p:cNvSpPr/>
          <p:nvPr/>
        </p:nvSpPr>
        <p:spPr>
          <a:xfrm>
            <a:off x="6053400" y="3749040"/>
            <a:ext cx="255996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9" name="TextBox 33"/>
          <p:cNvSpPr/>
          <p:nvPr/>
        </p:nvSpPr>
        <p:spPr>
          <a:xfrm>
            <a:off x="6199560" y="3840480"/>
            <a:ext cx="22856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7. Streaming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300" name="TextBox 34"/>
          <p:cNvSpPr/>
          <p:nvPr/>
        </p:nvSpPr>
        <p:spPr>
          <a:xfrm>
            <a:off x="6199560" y="4133160"/>
            <a:ext cx="228564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Vuelve al navegador en tiempo real.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301" name="Rounded Rectangle 35"/>
          <p:cNvSpPr/>
          <p:nvPr/>
        </p:nvSpPr>
        <p:spPr>
          <a:xfrm>
            <a:off x="8842320" y="3749040"/>
            <a:ext cx="255996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2" name="Rectangle 36"/>
          <p:cNvSpPr/>
          <p:nvPr/>
        </p:nvSpPr>
        <p:spPr>
          <a:xfrm>
            <a:off x="8842320" y="3749040"/>
            <a:ext cx="255996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3" name="TextBox 37"/>
          <p:cNvSpPr/>
          <p:nvPr/>
        </p:nvSpPr>
        <p:spPr>
          <a:xfrm>
            <a:off x="8988480" y="3840480"/>
            <a:ext cx="22856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8. Tools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304" name="TextBox 38"/>
          <p:cNvSpPr/>
          <p:nvPr/>
        </p:nvSpPr>
        <p:spPr>
          <a:xfrm>
            <a:off x="8988480" y="4133160"/>
            <a:ext cx="228564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Ejecuta y continua el ciclo.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305" name="TextBox 39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306" name="TextBox 40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10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Rectangle 1"/>
          <p:cNvSpPr/>
          <p:nvPr/>
        </p:nvSpPr>
        <p:spPr>
          <a:xfrm>
            <a:off x="0" y="0"/>
            <a:ext cx="12191760" cy="127800"/>
          </a:xfrm>
          <a:prstGeom prst="rect">
            <a:avLst/>
          </a:prstGeom>
          <a:solidFill>
            <a:srgbClr val="0818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8" name="Rounded Rectangle 2"/>
          <p:cNvSpPr/>
          <p:nvPr/>
        </p:nvSpPr>
        <p:spPr>
          <a:xfrm>
            <a:off x="347400" y="255960"/>
            <a:ext cx="1051200" cy="301320"/>
          </a:xfrm>
          <a:prstGeom prst="roundRect">
            <a:avLst>
              <a:gd name="adj" fmla="val 16667"/>
            </a:avLst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9" name="TextBox 3"/>
          <p:cNvSpPr/>
          <p:nvPr/>
        </p:nvSpPr>
        <p:spPr>
          <a:xfrm>
            <a:off x="438840" y="301680"/>
            <a:ext cx="86832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020" spc="-1" strike="noStrike">
                <a:solidFill>
                  <a:srgbClr val="081824"/>
                </a:solidFill>
                <a:latin typeface="Aptos"/>
              </a:rPr>
              <a:t>ARQUITECTURA</a:t>
            </a:r>
            <a:endParaRPr b="0" lang="en-US" sz="1020" spc="-1" strike="noStrike">
              <a:latin typeface="Arial"/>
            </a:endParaRPr>
          </a:p>
        </p:txBody>
      </p:sp>
      <p:sp>
        <p:nvSpPr>
          <p:cNvPr id="310" name="TextBox 4"/>
          <p:cNvSpPr/>
          <p:nvPr/>
        </p:nvSpPr>
        <p:spPr>
          <a:xfrm>
            <a:off x="384120" y="658440"/>
            <a:ext cx="82292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50" spc="-1" strike="noStrike">
                <a:solidFill>
                  <a:srgbClr val="0b1f33"/>
                </a:solidFill>
                <a:latin typeface="Aptos Display"/>
              </a:rPr>
              <a:t>RAG, cadenas y superficie de tools</a:t>
            </a:r>
            <a:endParaRPr b="0" lang="en-US" sz="2650" spc="-1" strike="noStrike">
              <a:latin typeface="Arial"/>
            </a:endParaRPr>
          </a:p>
        </p:txBody>
      </p:sp>
      <p:sp>
        <p:nvSpPr>
          <p:cNvPr id="311" name="TextBox 5"/>
          <p:cNvSpPr/>
          <p:nvPr/>
        </p:nvSpPr>
        <p:spPr>
          <a:xfrm>
            <a:off x="384120" y="1024200"/>
            <a:ext cx="106981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20" spc="-1" strike="noStrike">
                <a:solidFill>
                  <a:srgbClr val="5b7285"/>
                </a:solidFill>
                <a:latin typeface="Aptos"/>
              </a:rPr>
              <a:t>La recuperacion ya es arquitectonica; el agente unificado agrega ejecucion y control.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312" name="Rectangle 6"/>
          <p:cNvSpPr/>
          <p:nvPr/>
        </p:nvSpPr>
        <p:spPr>
          <a:xfrm>
            <a:off x="384120" y="1325880"/>
            <a:ext cx="11063880" cy="2700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3" name="Rounded Rectangle 7"/>
          <p:cNvSpPr/>
          <p:nvPr/>
        </p:nvSpPr>
        <p:spPr>
          <a:xfrm>
            <a:off x="411480" y="1755720"/>
            <a:ext cx="340128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4" name="Rectangle 8"/>
          <p:cNvSpPr/>
          <p:nvPr/>
        </p:nvSpPr>
        <p:spPr>
          <a:xfrm>
            <a:off x="411480" y="175572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5" name="TextBox 9"/>
          <p:cNvSpPr/>
          <p:nvPr/>
        </p:nvSpPr>
        <p:spPr>
          <a:xfrm>
            <a:off x="557640" y="184716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RAG code-aware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316" name="TextBox 10"/>
          <p:cNvSpPr/>
          <p:nvPr/>
        </p:nvSpPr>
        <p:spPr>
          <a:xfrm>
            <a:off x="557640" y="2139840"/>
            <a:ext cx="312696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10" spc="-1" strike="noStrike">
                <a:solidFill>
                  <a:srgbClr val="0b1f33"/>
                </a:solidFill>
                <a:latin typeface="Aptos"/>
              </a:rPr>
              <a:t>Metadatos, roles y dependencias.</a:t>
            </a:r>
            <a:endParaRPr b="0" lang="en-US" sz="13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10" spc="-1" strike="noStrike">
                <a:solidFill>
                  <a:srgbClr val="0b1f33"/>
                </a:solidFill>
                <a:latin typeface="Aptos"/>
              </a:rPr>
              <a:t>Archivo/directorio como contexto.</a:t>
            </a:r>
            <a:endParaRPr b="0" lang="en-US" sz="1310" spc="-1" strike="noStrike">
              <a:latin typeface="Arial"/>
            </a:endParaRPr>
          </a:p>
        </p:txBody>
      </p:sp>
      <p:sp>
        <p:nvSpPr>
          <p:cNvPr id="317" name="Rounded Rectangle 11"/>
          <p:cNvSpPr/>
          <p:nvPr/>
        </p:nvSpPr>
        <p:spPr>
          <a:xfrm>
            <a:off x="4069080" y="1755720"/>
            <a:ext cx="340128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8" name="Rectangle 12"/>
          <p:cNvSpPr/>
          <p:nvPr/>
        </p:nvSpPr>
        <p:spPr>
          <a:xfrm>
            <a:off x="4069080" y="175572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9" name="TextBox 13"/>
          <p:cNvSpPr/>
          <p:nvPr/>
        </p:nvSpPr>
        <p:spPr>
          <a:xfrm>
            <a:off x="4215240" y="184716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Recuperacion hibrida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320" name="TextBox 14"/>
          <p:cNvSpPr/>
          <p:nvPr/>
        </p:nvSpPr>
        <p:spPr>
          <a:xfrm>
            <a:off x="4215240" y="2139840"/>
            <a:ext cx="312696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10" spc="-1" strike="noStrike">
                <a:solidFill>
                  <a:srgbClr val="0b1f33"/>
                </a:solidFill>
                <a:latin typeface="Aptos"/>
              </a:rPr>
              <a:t>FAISS vectorial + BM25 keyword.</a:t>
            </a:r>
            <a:endParaRPr b="0" lang="en-US" sz="13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10" spc="-1" strike="noStrike">
                <a:solidFill>
                  <a:srgbClr val="0b1f33"/>
                </a:solidFill>
                <a:latin typeface="Aptos"/>
              </a:rPr>
              <a:t>Reciprocal Rank Fusion final.</a:t>
            </a:r>
            <a:endParaRPr b="0" lang="en-US" sz="1310" spc="-1" strike="noStrike">
              <a:latin typeface="Arial"/>
            </a:endParaRPr>
          </a:p>
        </p:txBody>
      </p:sp>
      <p:sp>
        <p:nvSpPr>
          <p:cNvPr id="321" name="Rounded Rectangle 15"/>
          <p:cNvSpPr/>
          <p:nvPr/>
        </p:nvSpPr>
        <p:spPr>
          <a:xfrm>
            <a:off x="7726680" y="1755720"/>
            <a:ext cx="3401280" cy="1782720"/>
          </a:xfrm>
          <a:prstGeom prst="roundRect">
            <a:avLst>
              <a:gd name="adj" fmla="val 16667"/>
            </a:avLst>
          </a:prstGeom>
          <a:solidFill>
            <a:srgbClr val="fff3e8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2" name="Rectangle 16"/>
          <p:cNvSpPr/>
          <p:nvPr/>
        </p:nvSpPr>
        <p:spPr>
          <a:xfrm>
            <a:off x="7726680" y="175572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3" name="TextBox 17"/>
          <p:cNvSpPr/>
          <p:nvPr/>
        </p:nvSpPr>
        <p:spPr>
          <a:xfrm>
            <a:off x="7872840" y="184716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Budgeting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324" name="TextBox 18"/>
          <p:cNvSpPr/>
          <p:nvPr/>
        </p:nvSpPr>
        <p:spPr>
          <a:xfrm>
            <a:off x="7872840" y="2139840"/>
            <a:ext cx="312696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10" spc="-1" strike="noStrike">
                <a:solidFill>
                  <a:srgbClr val="0b1f33"/>
                </a:solidFill>
                <a:latin typeface="Aptos"/>
              </a:rPr>
              <a:t>60% relevancia, 20% arquitectura, 15% relacionados, 5% docs.</a:t>
            </a:r>
            <a:endParaRPr b="0" lang="en-US" sz="1310" spc="-1" strike="noStrike">
              <a:latin typeface="Arial"/>
            </a:endParaRPr>
          </a:p>
        </p:txBody>
      </p:sp>
      <p:sp>
        <p:nvSpPr>
          <p:cNvPr id="325" name="Rounded Rectangle 19"/>
          <p:cNvSpPr/>
          <p:nvPr/>
        </p:nvSpPr>
        <p:spPr>
          <a:xfrm>
            <a:off x="411480" y="3785760"/>
            <a:ext cx="340128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6" name="Rectangle 20"/>
          <p:cNvSpPr/>
          <p:nvPr/>
        </p:nvSpPr>
        <p:spPr>
          <a:xfrm>
            <a:off x="411480" y="378576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7" name="TextBox 21"/>
          <p:cNvSpPr/>
          <p:nvPr/>
        </p:nvSpPr>
        <p:spPr>
          <a:xfrm>
            <a:off x="557640" y="387720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Cadenas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328" name="TextBox 22"/>
          <p:cNvSpPr/>
          <p:nvPr/>
        </p:nvSpPr>
        <p:spPr>
          <a:xfrm>
            <a:off x="557640" y="4169520"/>
            <a:ext cx="3126960" cy="123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10" spc="-1" strike="noStrike">
                <a:solidFill>
                  <a:srgbClr val="0b1f33"/>
                </a:solidFill>
                <a:latin typeface="Aptos"/>
              </a:rPr>
              <a:t>BasicPromptOnlyChain</a:t>
            </a:r>
            <a:endParaRPr b="0" lang="en-US" sz="13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10" spc="-1" strike="noStrike">
                <a:solidFill>
                  <a:srgbClr val="0b1f33"/>
                </a:solidFill>
                <a:latin typeface="Aptos"/>
              </a:rPr>
              <a:t>HistoryAwareNoDocsChain</a:t>
            </a:r>
            <a:endParaRPr b="0" lang="en-US" sz="13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10" spc="-1" strike="noStrike">
                <a:solidFill>
                  <a:srgbClr val="0b1f33"/>
                </a:solidFill>
                <a:latin typeface="Aptos"/>
              </a:rPr>
              <a:t>OptimizedHistoryAwareRAGChain</a:t>
            </a:r>
            <a:endParaRPr b="0" lang="en-US" sz="13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10" spc="-1" strike="noStrike">
                <a:solidFill>
                  <a:srgbClr val="0b1f33"/>
                </a:solidFill>
                <a:latin typeface="Aptos"/>
              </a:rPr>
              <a:t>UnifiedAgentChain</a:t>
            </a:r>
            <a:endParaRPr b="0" lang="en-US" sz="13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10" spc="-1" strike="noStrike">
                <a:solidFill>
                  <a:srgbClr val="0b1f33"/>
                </a:solidFill>
                <a:latin typeface="Aptos"/>
              </a:rPr>
              <a:t>UnifiedAgentRAGChain</a:t>
            </a:r>
            <a:endParaRPr b="0" lang="en-US" sz="1310" spc="-1" strike="noStrike">
              <a:latin typeface="Arial"/>
            </a:endParaRPr>
          </a:p>
        </p:txBody>
      </p:sp>
      <p:sp>
        <p:nvSpPr>
          <p:cNvPr id="329" name="Rounded Rectangle 23"/>
          <p:cNvSpPr/>
          <p:nvPr/>
        </p:nvSpPr>
        <p:spPr>
          <a:xfrm>
            <a:off x="4069080" y="3785760"/>
            <a:ext cx="340128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0" name="Rectangle 24"/>
          <p:cNvSpPr/>
          <p:nvPr/>
        </p:nvSpPr>
        <p:spPr>
          <a:xfrm>
            <a:off x="4069080" y="378576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1" name="TextBox 25"/>
          <p:cNvSpPr/>
          <p:nvPr/>
        </p:nvSpPr>
        <p:spPr>
          <a:xfrm>
            <a:off x="4215240" y="387720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12 tools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332" name="TextBox 26"/>
          <p:cNvSpPr/>
          <p:nvPr/>
        </p:nvSpPr>
        <p:spPr>
          <a:xfrm>
            <a:off x="4215240" y="4169520"/>
            <a:ext cx="3126960" cy="136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10" spc="-1" strike="noStrike">
                <a:solidFill>
                  <a:srgbClr val="0b1f33"/>
                </a:solidFill>
                <a:latin typeface="Aptos"/>
              </a:rPr>
              <a:t>current-time, agent-status, execute-netstat</a:t>
            </a:r>
            <a:endParaRPr b="0" lang="en-US" sz="13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10" spc="-1" strike="noStrike">
                <a:solidFill>
                  <a:srgbClr val="0b1f33"/>
                </a:solidFill>
                <a:latin typeface="Aptos"/>
              </a:rPr>
              <a:t>execute-file, execute-command, execute-agent, stop-agent</a:t>
            </a:r>
            <a:endParaRPr b="0" lang="en-US" sz="13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10" spc="-1" strike="noStrike">
                <a:solidFill>
                  <a:srgbClr val="0b1f33"/>
                </a:solidFill>
                <a:latin typeface="Aptos"/>
              </a:rPr>
              <a:t>view-image, unzip-file, decompile-java, opus/qwen analyze image</a:t>
            </a:r>
            <a:endParaRPr b="0" lang="en-US" sz="1310" spc="-1" strike="noStrike">
              <a:latin typeface="Arial"/>
            </a:endParaRPr>
          </a:p>
        </p:txBody>
      </p:sp>
      <p:sp>
        <p:nvSpPr>
          <p:cNvPr id="333" name="Rounded Rectangle 27"/>
          <p:cNvSpPr/>
          <p:nvPr/>
        </p:nvSpPr>
        <p:spPr>
          <a:xfrm>
            <a:off x="7726680" y="3785760"/>
            <a:ext cx="3401280" cy="1782720"/>
          </a:xfrm>
          <a:prstGeom prst="roundRect">
            <a:avLst>
              <a:gd name="adj" fmla="val 16667"/>
            </a:avLst>
          </a:prstGeom>
          <a:solidFill>
            <a:srgbClr val="fff3e8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4" name="Rectangle 28"/>
          <p:cNvSpPr/>
          <p:nvPr/>
        </p:nvSpPr>
        <p:spPr>
          <a:xfrm>
            <a:off x="7726680" y="378576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5" name="TextBox 29"/>
          <p:cNvSpPr/>
          <p:nvPr/>
        </p:nvSpPr>
        <p:spPr>
          <a:xfrm>
            <a:off x="7872840" y="387720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Defaults versionados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336" name="TextBox 30"/>
          <p:cNvSpPr/>
          <p:nvPr/>
        </p:nvSpPr>
        <p:spPr>
          <a:xfrm>
            <a:off x="7872840" y="4169520"/>
            <a:ext cx="3126960" cy="76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10" spc="-1" strike="noStrike">
                <a:solidFill>
                  <a:srgbClr val="0b1f33"/>
                </a:solidFill>
                <a:latin typeface="Aptos"/>
              </a:rPr>
              <a:t>qwen3-embedding:8b</a:t>
            </a:r>
            <a:endParaRPr b="0" lang="en-US" sz="13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10" spc="-1" strike="noStrike">
                <a:solidFill>
                  <a:srgbClr val="0b1f33"/>
                </a:solidFill>
                <a:latin typeface="Aptos"/>
              </a:rPr>
              <a:t>glm-5:cloud</a:t>
            </a:r>
            <a:endParaRPr b="0" lang="en-US" sz="131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10" spc="-1" strike="noStrike">
                <a:solidFill>
                  <a:srgbClr val="0b1f33"/>
                </a:solidFill>
                <a:latin typeface="Aptos"/>
              </a:rPr>
              <a:t>qwen3.5:cloud</a:t>
            </a:r>
            <a:endParaRPr b="0" lang="en-US" sz="1310" spc="-1" strike="noStrike">
              <a:latin typeface="Arial"/>
            </a:endParaRPr>
          </a:p>
        </p:txBody>
      </p:sp>
      <p:sp>
        <p:nvSpPr>
          <p:cNvPr id="337" name="TextBox 31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338" name="TextBox 32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11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8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TextBox 1"/>
          <p:cNvSpPr/>
          <p:nvPr/>
        </p:nvSpPr>
        <p:spPr>
          <a:xfrm>
            <a:off x="438840" y="384120"/>
            <a:ext cx="27428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5be7ff"/>
                </a:solidFill>
                <a:latin typeface="Aptos"/>
              </a:rPr>
              <a:t>Tlamatini | seccion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40" name="TextBox 2"/>
          <p:cNvSpPr/>
          <p:nvPr/>
        </p:nvSpPr>
        <p:spPr>
          <a:xfrm>
            <a:off x="594360" y="1426320"/>
            <a:ext cx="18284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6000" spc="-1" strike="noStrike">
                <a:solidFill>
                  <a:srgbClr val="5be7ff"/>
                </a:solidFill>
                <a:latin typeface="Aptos Display"/>
              </a:rPr>
              <a:t>03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341" name="TextBox 3"/>
          <p:cNvSpPr/>
          <p:nvPr/>
        </p:nvSpPr>
        <p:spPr>
          <a:xfrm>
            <a:off x="1874520" y="1828800"/>
            <a:ext cx="7314840" cy="52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50" spc="-1" strike="noStrike">
                <a:solidFill>
                  <a:srgbClr val="ffffff"/>
                </a:solidFill>
                <a:latin typeface="Aptos Display"/>
              </a:rPr>
              <a:t>Automatizacion y agentes</a:t>
            </a:r>
            <a:endParaRPr b="0" lang="en-US" sz="2850" spc="-1" strike="noStrike">
              <a:latin typeface="Arial"/>
            </a:endParaRPr>
          </a:p>
        </p:txBody>
      </p:sp>
      <p:sp>
        <p:nvSpPr>
          <p:cNvPr id="342" name="TextBox 4"/>
          <p:cNvSpPr/>
          <p:nvPr/>
        </p:nvSpPr>
        <p:spPr>
          <a:xfrm>
            <a:off x="1901880" y="2377440"/>
            <a:ext cx="749772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50" spc="-1" strike="noStrike">
                <a:solidFill>
                  <a:srgbClr val="cbefff"/>
                </a:solidFill>
                <a:latin typeface="Aptos"/>
              </a:rPr>
              <a:t>Canvas visual, mapa actualizado de agentes y mecanismos de pausa, reanimacion e interconexion.</a:t>
            </a:r>
            <a:endParaRPr b="0" lang="en-US" sz="1650" spc="-1" strike="noStrike">
              <a:latin typeface="Arial"/>
            </a:endParaRPr>
          </a:p>
        </p:txBody>
      </p:sp>
      <p:sp>
        <p:nvSpPr>
          <p:cNvPr id="343" name="Rounded Rectangle 5"/>
          <p:cNvSpPr/>
          <p:nvPr/>
        </p:nvSpPr>
        <p:spPr>
          <a:xfrm>
            <a:off x="1874520" y="3063240"/>
            <a:ext cx="3108600" cy="365400"/>
          </a:xfrm>
          <a:prstGeom prst="roundRect">
            <a:avLst>
              <a:gd name="adj" fmla="val 16667"/>
            </a:avLst>
          </a:prstGeom>
          <a:solidFill>
            <a:srgbClr val="0e2b4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4" name="TextBox 6"/>
          <p:cNvSpPr/>
          <p:nvPr/>
        </p:nvSpPr>
        <p:spPr>
          <a:xfrm>
            <a:off x="2011680" y="3182040"/>
            <a:ext cx="27428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ptos"/>
              </a:rPr>
              <a:t>RAG, flujos, seguridad, release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345" name="Picture 7" descr="Tlamatini.jpg"/>
          <p:cNvPicPr/>
          <p:nvPr/>
        </p:nvPicPr>
        <p:blipFill>
          <a:blip r:embed="rId1"/>
          <a:stretch/>
        </p:blipFill>
        <p:spPr>
          <a:xfrm>
            <a:off x="9281160" y="1280160"/>
            <a:ext cx="2148480" cy="2148480"/>
          </a:xfrm>
          <a:prstGeom prst="rect">
            <a:avLst/>
          </a:prstGeom>
          <a:ln w="0">
            <a:noFill/>
          </a:ln>
        </p:spPr>
      </p:pic>
      <p:sp>
        <p:nvSpPr>
          <p:cNvPr id="346" name="TextBox 8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ffffff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347" name="TextBox 9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ffffff"/>
                </a:solidFill>
                <a:latin typeface="Aptos"/>
              </a:rPr>
              <a:t>12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Rectangle 1"/>
          <p:cNvSpPr/>
          <p:nvPr/>
        </p:nvSpPr>
        <p:spPr>
          <a:xfrm>
            <a:off x="0" y="0"/>
            <a:ext cx="12191760" cy="127800"/>
          </a:xfrm>
          <a:prstGeom prst="rect">
            <a:avLst/>
          </a:prstGeom>
          <a:solidFill>
            <a:srgbClr val="0818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9" name="Rounded Rectangle 2"/>
          <p:cNvSpPr/>
          <p:nvPr/>
        </p:nvSpPr>
        <p:spPr>
          <a:xfrm>
            <a:off x="347400" y="255960"/>
            <a:ext cx="1051200" cy="301320"/>
          </a:xfrm>
          <a:prstGeom prst="roundRect">
            <a:avLst>
              <a:gd name="adj" fmla="val 16667"/>
            </a:avLst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0" name="TextBox 3"/>
          <p:cNvSpPr/>
          <p:nvPr/>
        </p:nvSpPr>
        <p:spPr>
          <a:xfrm>
            <a:off x="438840" y="301680"/>
            <a:ext cx="868320" cy="55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020" spc="-1" strike="noStrike">
                <a:solidFill>
                  <a:srgbClr val="081824"/>
                </a:solidFill>
                <a:latin typeface="Aptos"/>
              </a:rPr>
              <a:t>AUTOMATIZACION</a:t>
            </a:r>
            <a:endParaRPr b="0" lang="en-US" sz="1020" spc="-1" strike="noStrike">
              <a:latin typeface="Arial"/>
            </a:endParaRPr>
          </a:p>
        </p:txBody>
      </p:sp>
      <p:sp>
        <p:nvSpPr>
          <p:cNvPr id="351" name="TextBox 4"/>
          <p:cNvSpPr/>
          <p:nvPr/>
        </p:nvSpPr>
        <p:spPr>
          <a:xfrm>
            <a:off x="384120" y="658440"/>
            <a:ext cx="82292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50" spc="-1" strike="noStrike">
                <a:solidFill>
                  <a:srgbClr val="0b1f33"/>
                </a:solidFill>
                <a:latin typeface="Aptos Display"/>
              </a:rPr>
              <a:t>Panel agéntico y control visual</a:t>
            </a:r>
            <a:endParaRPr b="0" lang="en-US" sz="2650" spc="-1" strike="noStrike">
              <a:latin typeface="Arial"/>
            </a:endParaRPr>
          </a:p>
        </p:txBody>
      </p:sp>
      <p:sp>
        <p:nvSpPr>
          <p:cNvPr id="352" name="TextBox 5"/>
          <p:cNvSpPr/>
          <p:nvPr/>
        </p:nvSpPr>
        <p:spPr>
          <a:xfrm>
            <a:off x="384120" y="1024200"/>
            <a:ext cx="106981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20" spc="-1" strike="noStrike">
                <a:solidFill>
                  <a:srgbClr val="5b7285"/>
                </a:solidFill>
                <a:latin typeface="Aptos"/>
              </a:rPr>
              <a:t>El ACP ya es un subsistema de despliegue, validacion, monitoreo y operacion.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353" name="Rectangle 6"/>
          <p:cNvSpPr/>
          <p:nvPr/>
        </p:nvSpPr>
        <p:spPr>
          <a:xfrm>
            <a:off x="384120" y="1325880"/>
            <a:ext cx="11063880" cy="2700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4" name="Rounded Rectangle 7"/>
          <p:cNvSpPr/>
          <p:nvPr/>
        </p:nvSpPr>
        <p:spPr>
          <a:xfrm>
            <a:off x="411480" y="1783080"/>
            <a:ext cx="5257440" cy="1206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5" name="Rectangle 8"/>
          <p:cNvSpPr/>
          <p:nvPr/>
        </p:nvSpPr>
        <p:spPr>
          <a:xfrm>
            <a:off x="411480" y="1783080"/>
            <a:ext cx="525744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6" name="TextBox 9"/>
          <p:cNvSpPr/>
          <p:nvPr/>
        </p:nvSpPr>
        <p:spPr>
          <a:xfrm>
            <a:off x="557640" y="1874520"/>
            <a:ext cx="4983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Diseno visual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357" name="TextBox 10"/>
          <p:cNvSpPr/>
          <p:nvPr/>
        </p:nvSpPr>
        <p:spPr>
          <a:xfrm>
            <a:off x="557640" y="2167200"/>
            <a:ext cx="498312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Drag-and-drop</a:t>
            </a:r>
            <a:endParaRPr b="0" lang="en-US" sz="13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Dialogs por agente</a:t>
            </a:r>
            <a:endParaRPr b="0" lang="en-US" sz="13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Cableado automatico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358" name="Rounded Rectangle 11"/>
          <p:cNvSpPr/>
          <p:nvPr/>
        </p:nvSpPr>
        <p:spPr>
          <a:xfrm>
            <a:off x="5897880" y="1783080"/>
            <a:ext cx="5257440" cy="1206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9" name="Rectangle 12"/>
          <p:cNvSpPr/>
          <p:nvPr/>
        </p:nvSpPr>
        <p:spPr>
          <a:xfrm>
            <a:off x="5897880" y="1783080"/>
            <a:ext cx="525744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0" name="TextBox 13"/>
          <p:cNvSpPr/>
          <p:nvPr/>
        </p:nvSpPr>
        <p:spPr>
          <a:xfrm>
            <a:off x="6044040" y="1874520"/>
            <a:ext cx="4983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Persistencia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361" name="TextBox 14"/>
          <p:cNvSpPr/>
          <p:nvPr/>
        </p:nvSpPr>
        <p:spPr>
          <a:xfrm>
            <a:off x="6044040" y="2167200"/>
            <a:ext cx="498312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.flw save/load</a:t>
            </a:r>
            <a:endParaRPr b="0" lang="en-US" sz="13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Undo/redo 1024</a:t>
            </a:r>
            <a:endParaRPr b="0" lang="en-US" sz="13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Pool por sesion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362" name="Rounded Rectangle 15"/>
          <p:cNvSpPr/>
          <p:nvPr/>
        </p:nvSpPr>
        <p:spPr>
          <a:xfrm>
            <a:off x="411480" y="3200400"/>
            <a:ext cx="5257440" cy="1206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3" name="Rectangle 16"/>
          <p:cNvSpPr/>
          <p:nvPr/>
        </p:nvSpPr>
        <p:spPr>
          <a:xfrm>
            <a:off x="411480" y="3200400"/>
            <a:ext cx="525744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4" name="TextBox 17"/>
          <p:cNvSpPr/>
          <p:nvPr/>
        </p:nvSpPr>
        <p:spPr>
          <a:xfrm>
            <a:off x="557640" y="3291840"/>
            <a:ext cx="4983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Operacion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365" name="TextBox 18"/>
          <p:cNvSpPr/>
          <p:nvPr/>
        </p:nvSpPr>
        <p:spPr>
          <a:xfrm>
            <a:off x="557640" y="3584520"/>
            <a:ext cx="498312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Start / stop / pause / resume / restart</a:t>
            </a:r>
            <a:endParaRPr b="0" lang="en-US" sz="13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Read log</a:t>
            </a:r>
            <a:endParaRPr b="0" lang="en-US" sz="13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LEDs por agente y estado global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366" name="Rounded Rectangle 19"/>
          <p:cNvSpPr/>
          <p:nvPr/>
        </p:nvSpPr>
        <p:spPr>
          <a:xfrm>
            <a:off x="5897880" y="3200400"/>
            <a:ext cx="5257440" cy="1206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7" name="Rectangle 20"/>
          <p:cNvSpPr/>
          <p:nvPr/>
        </p:nvSpPr>
        <p:spPr>
          <a:xfrm>
            <a:off x="5897880" y="3200400"/>
            <a:ext cx="525744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8" name="TextBox 21"/>
          <p:cNvSpPr/>
          <p:nvPr/>
        </p:nvSpPr>
        <p:spPr>
          <a:xfrm>
            <a:off x="6044040" y="3291840"/>
            <a:ext cx="4983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Validacion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369" name="TextBox 22"/>
          <p:cNvSpPr/>
          <p:nvPr/>
        </p:nvSpPr>
        <p:spPr>
          <a:xfrm>
            <a:off x="6044040" y="3584520"/>
            <a:ext cx="498312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NxN adjacency matrix</a:t>
            </a:r>
            <a:endParaRPr b="0" lang="en-US" sz="13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Reglas para Starter, Ender, Cleaner y FlowBacker</a:t>
            </a:r>
            <a:endParaRPr b="0" lang="en-US" sz="13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Chequeo antes de ejecutar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370" name="Rounded Rectangle 23"/>
          <p:cNvSpPr/>
          <p:nvPr/>
        </p:nvSpPr>
        <p:spPr>
          <a:xfrm>
            <a:off x="411480" y="4617720"/>
            <a:ext cx="5257440" cy="1206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1" name="Rectangle 24"/>
          <p:cNvSpPr/>
          <p:nvPr/>
        </p:nvSpPr>
        <p:spPr>
          <a:xfrm>
            <a:off x="411480" y="4617720"/>
            <a:ext cx="525744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2" name="TextBox 25"/>
          <p:cNvSpPr/>
          <p:nvPr/>
        </p:nvSpPr>
        <p:spPr>
          <a:xfrm>
            <a:off x="557640" y="4709160"/>
            <a:ext cx="4983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Backend ACP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373" name="TextBox 26"/>
          <p:cNvSpPr/>
          <p:nvPr/>
        </p:nvSpPr>
        <p:spPr>
          <a:xfrm>
            <a:off x="557640" y="5001840"/>
            <a:ext cx="4983120" cy="5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50 rutas update_* dentro de 100 rutas app</a:t>
            </a:r>
            <a:endParaRPr b="0" lang="en-US" sz="13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Gran parte del backend existe para wiring y control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374" name="Rounded Rectangle 27"/>
          <p:cNvSpPr/>
          <p:nvPr/>
        </p:nvSpPr>
        <p:spPr>
          <a:xfrm>
            <a:off x="5897880" y="4617720"/>
            <a:ext cx="5257440" cy="1206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5" name="Rectangle 28"/>
          <p:cNvSpPr/>
          <p:nvPr/>
        </p:nvSpPr>
        <p:spPr>
          <a:xfrm>
            <a:off x="5897880" y="4617720"/>
            <a:ext cx="525744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6" name="TextBox 29"/>
          <p:cNvSpPr/>
          <p:nvPr/>
        </p:nvSpPr>
        <p:spPr>
          <a:xfrm>
            <a:off x="6044040" y="4709160"/>
            <a:ext cx="4983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Ganancia operacional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377" name="TextBox 30"/>
          <p:cNvSpPr/>
          <p:nvPr/>
        </p:nvSpPr>
        <p:spPr>
          <a:xfrm>
            <a:off x="6044040" y="5001840"/>
            <a:ext cx="49831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20" spc="-1" strike="noStrike">
                <a:solidFill>
                  <a:srgbClr val="0b1f33"/>
                </a:solidFill>
                <a:latin typeface="Aptos"/>
              </a:rPr>
              <a:t>El canvas ya no es decorativo: despliega, valida, pausa, reanima y limpia flujos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378" name="TextBox 31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379" name="TextBox 32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13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1"/>
          <p:cNvSpPr/>
          <p:nvPr/>
        </p:nvSpPr>
        <p:spPr>
          <a:xfrm>
            <a:off x="0" y="0"/>
            <a:ext cx="12191760" cy="127800"/>
          </a:xfrm>
          <a:prstGeom prst="rect">
            <a:avLst/>
          </a:prstGeom>
          <a:solidFill>
            <a:srgbClr val="0818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1" name="Rounded Rectangle 2"/>
          <p:cNvSpPr/>
          <p:nvPr/>
        </p:nvSpPr>
        <p:spPr>
          <a:xfrm>
            <a:off x="347400" y="255960"/>
            <a:ext cx="1051200" cy="301320"/>
          </a:xfrm>
          <a:prstGeom prst="roundRect">
            <a:avLst>
              <a:gd name="adj" fmla="val 16667"/>
            </a:avLst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2" name="TextBox 3"/>
          <p:cNvSpPr/>
          <p:nvPr/>
        </p:nvSpPr>
        <p:spPr>
          <a:xfrm>
            <a:off x="438840" y="301680"/>
            <a:ext cx="868320" cy="55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020" spc="-1" strike="noStrike">
                <a:solidFill>
                  <a:srgbClr val="081824"/>
                </a:solidFill>
                <a:latin typeface="Aptos"/>
              </a:rPr>
              <a:t>AUTOMATIZACION</a:t>
            </a:r>
            <a:endParaRPr b="0" lang="en-US" sz="1020" spc="-1" strike="noStrike">
              <a:latin typeface="Arial"/>
            </a:endParaRPr>
          </a:p>
        </p:txBody>
      </p:sp>
      <p:sp>
        <p:nvSpPr>
          <p:cNvPr id="383" name="TextBox 4"/>
          <p:cNvSpPr/>
          <p:nvPr/>
        </p:nvSpPr>
        <p:spPr>
          <a:xfrm>
            <a:off x="384120" y="658440"/>
            <a:ext cx="82292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50" spc="-1" strike="noStrike">
                <a:solidFill>
                  <a:srgbClr val="0b1f33"/>
                </a:solidFill>
                <a:latin typeface="Aptos Display"/>
              </a:rPr>
              <a:t>Mapa de 53 agentes</a:t>
            </a:r>
            <a:endParaRPr b="0" lang="en-US" sz="2650" spc="-1" strike="noStrike">
              <a:latin typeface="Arial"/>
            </a:endParaRPr>
          </a:p>
        </p:txBody>
      </p:sp>
      <p:sp>
        <p:nvSpPr>
          <p:cNvPr id="384" name="TextBox 5"/>
          <p:cNvSpPr/>
          <p:nvPr/>
        </p:nvSpPr>
        <p:spPr>
          <a:xfrm>
            <a:off x="384120" y="1024200"/>
            <a:ext cx="106981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20" spc="-1" strike="noStrike">
                <a:solidFill>
                  <a:srgbClr val="5b7285"/>
                </a:solidFill>
                <a:latin typeface="Aptos"/>
              </a:rPr>
              <a:t>La taxonomia actual supera con mucho la del deck antiguo.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385" name="Rectangle 6"/>
          <p:cNvSpPr/>
          <p:nvPr/>
        </p:nvSpPr>
        <p:spPr>
          <a:xfrm>
            <a:off x="384120" y="1325880"/>
            <a:ext cx="11063880" cy="2700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6" name="Rounded Rectangle 7"/>
          <p:cNvSpPr/>
          <p:nvPr/>
        </p:nvSpPr>
        <p:spPr>
          <a:xfrm>
            <a:off x="411480" y="1783080"/>
            <a:ext cx="340128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7" name="Rectangle 8"/>
          <p:cNvSpPr/>
          <p:nvPr/>
        </p:nvSpPr>
        <p:spPr>
          <a:xfrm>
            <a:off x="411480" y="178308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8" name="TextBox 9"/>
          <p:cNvSpPr/>
          <p:nvPr/>
        </p:nvSpPr>
        <p:spPr>
          <a:xfrm>
            <a:off x="557640" y="187452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Control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389" name="TextBox 10"/>
          <p:cNvSpPr/>
          <p:nvPr/>
        </p:nvSpPr>
        <p:spPr>
          <a:xfrm>
            <a:off x="557640" y="2167200"/>
            <a:ext cx="312696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starter, ender, stopper, cleaner, counter, raiser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390" name="Rounded Rectangle 11"/>
          <p:cNvSpPr/>
          <p:nvPr/>
        </p:nvSpPr>
        <p:spPr>
          <a:xfrm>
            <a:off x="4069080" y="1783080"/>
            <a:ext cx="340128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1" name="Rectangle 12"/>
          <p:cNvSpPr/>
          <p:nvPr/>
        </p:nvSpPr>
        <p:spPr>
          <a:xfrm>
            <a:off x="4069080" y="178308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2" name="TextBox 13"/>
          <p:cNvSpPr/>
          <p:nvPr/>
        </p:nvSpPr>
        <p:spPr>
          <a:xfrm>
            <a:off x="4215240" y="187452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Monitoreo y analisis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393" name="TextBox 14"/>
          <p:cNvSpPr/>
          <p:nvPr/>
        </p:nvSpPr>
        <p:spPr>
          <a:xfrm>
            <a:off x="4215240" y="2167200"/>
            <a:ext cx="3126960" cy="6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monitor_log, monitor_netstat, notifier, summarizer, flowhypervisor, pser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394" name="Rounded Rectangle 15"/>
          <p:cNvSpPr/>
          <p:nvPr/>
        </p:nvSpPr>
        <p:spPr>
          <a:xfrm>
            <a:off x="7726680" y="1783080"/>
            <a:ext cx="340128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5" name="Rectangle 16"/>
          <p:cNvSpPr/>
          <p:nvPr/>
        </p:nvSpPr>
        <p:spPr>
          <a:xfrm>
            <a:off x="7726680" y="178308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6" name="TextBox 17"/>
          <p:cNvSpPr/>
          <p:nvPr/>
        </p:nvSpPr>
        <p:spPr>
          <a:xfrm>
            <a:off x="7872840" y="187452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Notificacion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397" name="TextBox 18"/>
          <p:cNvSpPr/>
          <p:nvPr/>
        </p:nvSpPr>
        <p:spPr>
          <a:xfrm>
            <a:off x="7872840" y="2167200"/>
            <a:ext cx="312696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emailer, recmailer, whatsapper, telegramer, telegramrx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398" name="Rounded Rectangle 19"/>
          <p:cNvSpPr/>
          <p:nvPr/>
        </p:nvSpPr>
        <p:spPr>
          <a:xfrm>
            <a:off x="411480" y="3794760"/>
            <a:ext cx="340128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9" name="Rectangle 20"/>
          <p:cNvSpPr/>
          <p:nvPr/>
        </p:nvSpPr>
        <p:spPr>
          <a:xfrm>
            <a:off x="411480" y="379476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0" name="TextBox 21"/>
          <p:cNvSpPr/>
          <p:nvPr/>
        </p:nvSpPr>
        <p:spPr>
          <a:xfrm>
            <a:off x="557640" y="388620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Accion y DevOps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01" name="TextBox 22"/>
          <p:cNvSpPr/>
          <p:nvPr/>
        </p:nvSpPr>
        <p:spPr>
          <a:xfrm>
            <a:off x="557640" y="4178880"/>
            <a:ext cx="3126960" cy="87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executer, pythonxer, sqler, mongoxer, ssher, scper, gitter, dockerer, kuberneter, jenkinser, shoter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402" name="Rounded Rectangle 23"/>
          <p:cNvSpPr/>
          <p:nvPr/>
        </p:nvSpPr>
        <p:spPr>
          <a:xfrm>
            <a:off x="4069080" y="3794760"/>
            <a:ext cx="340128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3" name="Rectangle 24"/>
          <p:cNvSpPr/>
          <p:nvPr/>
        </p:nvSpPr>
        <p:spPr>
          <a:xfrm>
            <a:off x="4069080" y="379476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4" name="TextBox 25"/>
          <p:cNvSpPr/>
          <p:nvPr/>
        </p:nvSpPr>
        <p:spPr>
          <a:xfrm>
            <a:off x="4215240" y="388620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Logica y routing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05" name="TextBox 26"/>
          <p:cNvSpPr/>
          <p:nvPr/>
        </p:nvSpPr>
        <p:spPr>
          <a:xfrm>
            <a:off x="4215240" y="4178880"/>
            <a:ext cx="312696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and, or, forker, asker, croner, sleeper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406" name="Rounded Rectangle 27"/>
          <p:cNvSpPr/>
          <p:nvPr/>
        </p:nvSpPr>
        <p:spPr>
          <a:xfrm>
            <a:off x="7726680" y="3794760"/>
            <a:ext cx="340128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7" name="Rectangle 28"/>
          <p:cNvSpPr/>
          <p:nvPr/>
        </p:nvSpPr>
        <p:spPr>
          <a:xfrm>
            <a:off x="7726680" y="379476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8" name="TextBox 29"/>
          <p:cNvSpPr/>
          <p:nvPr/>
        </p:nvSpPr>
        <p:spPr>
          <a:xfrm>
            <a:off x="7872840" y="388620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Contenido y movimiento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09" name="TextBox 30"/>
          <p:cNvSpPr/>
          <p:nvPr/>
        </p:nvSpPr>
        <p:spPr>
          <a:xfrm>
            <a:off x="7872840" y="4178880"/>
            <a:ext cx="312696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mover, deleter, prompter, crawler, apirer, mouser, flowcreator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410" name="TextBox 31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411" name="TextBox 32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14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Rectangle 1"/>
          <p:cNvSpPr/>
          <p:nvPr/>
        </p:nvSpPr>
        <p:spPr>
          <a:xfrm>
            <a:off x="0" y="0"/>
            <a:ext cx="12191760" cy="127800"/>
          </a:xfrm>
          <a:prstGeom prst="rect">
            <a:avLst/>
          </a:prstGeom>
          <a:solidFill>
            <a:srgbClr val="0818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3" name="Rounded Rectangle 2"/>
          <p:cNvSpPr/>
          <p:nvPr/>
        </p:nvSpPr>
        <p:spPr>
          <a:xfrm>
            <a:off x="347400" y="255960"/>
            <a:ext cx="1051200" cy="301320"/>
          </a:xfrm>
          <a:prstGeom prst="roundRect">
            <a:avLst>
              <a:gd name="adj" fmla="val 16667"/>
            </a:avLst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4" name="TextBox 3"/>
          <p:cNvSpPr/>
          <p:nvPr/>
        </p:nvSpPr>
        <p:spPr>
          <a:xfrm>
            <a:off x="438840" y="301680"/>
            <a:ext cx="868320" cy="55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020" spc="-1" strike="noStrike">
                <a:solidFill>
                  <a:srgbClr val="081824"/>
                </a:solidFill>
                <a:latin typeface="Aptos"/>
              </a:rPr>
              <a:t>AUTOMATIZACION</a:t>
            </a:r>
            <a:endParaRPr b="0" lang="en-US" sz="1020" spc="-1" strike="noStrike">
              <a:latin typeface="Arial"/>
            </a:endParaRPr>
          </a:p>
        </p:txBody>
      </p:sp>
      <p:sp>
        <p:nvSpPr>
          <p:cNvPr id="415" name="TextBox 4"/>
          <p:cNvSpPr/>
          <p:nvPr/>
        </p:nvSpPr>
        <p:spPr>
          <a:xfrm>
            <a:off x="384120" y="658440"/>
            <a:ext cx="8229240" cy="89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50" spc="-1" strike="noStrike">
                <a:solidFill>
                  <a:srgbClr val="0b1f33"/>
                </a:solidFill>
                <a:latin typeface="Aptos Display"/>
              </a:rPr>
              <a:t>Especializadas, reanimacion e interconexion</a:t>
            </a:r>
            <a:endParaRPr b="0" lang="en-US" sz="2650" spc="-1" strike="noStrike">
              <a:latin typeface="Arial"/>
            </a:endParaRPr>
          </a:p>
        </p:txBody>
      </p:sp>
      <p:sp>
        <p:nvSpPr>
          <p:cNvPr id="416" name="TextBox 5"/>
          <p:cNvSpPr/>
          <p:nvPr/>
        </p:nvSpPr>
        <p:spPr>
          <a:xfrm>
            <a:off x="384120" y="1024200"/>
            <a:ext cx="106981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20" spc="-1" strike="noStrike">
                <a:solidFill>
                  <a:srgbClr val="5b7285"/>
                </a:solidFill>
                <a:latin typeface="Aptos"/>
              </a:rPr>
              <a:t>Ingress, nodos, archivos, crypto y backup de flujo amplian el sistema.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417" name="Rectangle 6"/>
          <p:cNvSpPr/>
          <p:nvPr/>
        </p:nvSpPr>
        <p:spPr>
          <a:xfrm>
            <a:off x="384120" y="1325880"/>
            <a:ext cx="11063880" cy="2700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8" name="Rounded Rectangle 7"/>
          <p:cNvSpPr/>
          <p:nvPr/>
        </p:nvSpPr>
        <p:spPr>
          <a:xfrm>
            <a:off x="411480" y="178308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9" name="Rectangle 8"/>
          <p:cNvSpPr/>
          <p:nvPr/>
        </p:nvSpPr>
        <p:spPr>
          <a:xfrm>
            <a:off x="411480" y="178308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0" name="TextBox 9"/>
          <p:cNvSpPr/>
          <p:nvPr/>
        </p:nvSpPr>
        <p:spPr>
          <a:xfrm>
            <a:off x="557640" y="187452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Ingress y relay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21" name="TextBox 10"/>
          <p:cNvSpPr/>
          <p:nvPr/>
        </p:nvSpPr>
        <p:spPr>
          <a:xfrm>
            <a:off x="557640" y="2167200"/>
            <a:ext cx="3126960" cy="12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gatewayer: webhook o folder-drop con HMAC/bearer, persistencia y dedup.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gateway_relayer: traduce webhooks nativos a la firma de Gatewayer.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422" name="Rounded Rectangle 11"/>
          <p:cNvSpPr/>
          <p:nvPr/>
        </p:nvSpPr>
        <p:spPr>
          <a:xfrm>
            <a:off x="4069080" y="178308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fff3e8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3" name="Rectangle 12"/>
          <p:cNvSpPr/>
          <p:nvPr/>
        </p:nvSpPr>
        <p:spPr>
          <a:xfrm>
            <a:off x="4069080" y="178308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4" name="TextBox 13"/>
          <p:cNvSpPr/>
          <p:nvPr/>
        </p:nvSpPr>
        <p:spPr>
          <a:xfrm>
            <a:off x="4215240" y="187452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Infraestructura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25" name="TextBox 14"/>
          <p:cNvSpPr/>
          <p:nvPr/>
        </p:nvSpPr>
        <p:spPr>
          <a:xfrm>
            <a:off x="4215240" y="2167200"/>
            <a:ext cx="312696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node_manager: salud de nodos via ping, TCP, SSH, WinRM y HTTP.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flowbacker: respalda la sesion completa antes de Cleaner.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426" name="Rounded Rectangle 15"/>
          <p:cNvSpPr/>
          <p:nvPr/>
        </p:nvSpPr>
        <p:spPr>
          <a:xfrm>
            <a:off x="7726680" y="178308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7" name="Rectangle 16"/>
          <p:cNvSpPr/>
          <p:nvPr/>
        </p:nvSpPr>
        <p:spPr>
          <a:xfrm>
            <a:off x="7726680" y="178308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8" name="TextBox 17"/>
          <p:cNvSpPr/>
          <p:nvPr/>
        </p:nvSpPr>
        <p:spPr>
          <a:xfrm>
            <a:off x="7872840" y="187452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Archivos y parsing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29" name="TextBox 18"/>
          <p:cNvSpPr/>
          <p:nvPr/>
        </p:nvSpPr>
        <p:spPr>
          <a:xfrm>
            <a:off x="7872840" y="2167200"/>
            <a:ext cx="312696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file_creator y file_extractor.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file_interpreter e image_interpreter amplian lectura documental y visual.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430" name="Rounded Rectangle 19"/>
          <p:cNvSpPr/>
          <p:nvPr/>
        </p:nvSpPr>
        <p:spPr>
          <a:xfrm>
            <a:off x="411480" y="379476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1" name="Rectangle 20"/>
          <p:cNvSpPr/>
          <p:nvPr/>
        </p:nvSpPr>
        <p:spPr>
          <a:xfrm>
            <a:off x="411480" y="379476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2" name="TextBox 21"/>
          <p:cNvSpPr/>
          <p:nvPr/>
        </p:nvSpPr>
        <p:spPr>
          <a:xfrm>
            <a:off x="557640" y="388620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Crypto e interconexion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33" name="TextBox 22"/>
          <p:cNvSpPr/>
          <p:nvPr/>
        </p:nvSpPr>
        <p:spPr>
          <a:xfrm>
            <a:off x="557640" y="4178880"/>
            <a:ext cx="312696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kyber_keygen, kyber_cipher, kyber_decipher.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parametrizer mapea salida de logs a config.yaml.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434" name="Rounded Rectangle 23"/>
          <p:cNvSpPr/>
          <p:nvPr/>
        </p:nvSpPr>
        <p:spPr>
          <a:xfrm>
            <a:off x="4069080" y="379476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5" name="Rectangle 24"/>
          <p:cNvSpPr/>
          <p:nvPr/>
        </p:nvSpPr>
        <p:spPr>
          <a:xfrm>
            <a:off x="4069080" y="379476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6" name="TextBox 25"/>
          <p:cNvSpPr/>
          <p:nvPr/>
        </p:nvSpPr>
        <p:spPr>
          <a:xfrm>
            <a:off x="4215240" y="388620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Pausa / resume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37" name="TextBox 26"/>
          <p:cNvSpPr/>
          <p:nvPr/>
        </p:nvSpPr>
        <p:spPr>
          <a:xfrm>
            <a:off x="4215240" y="4178880"/>
            <a:ext cx="3126960" cy="94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paused_agents.reanim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AGENT_REANIMATED=1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Start actua como resume cuando el estado es PAUSED.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438" name="Rounded Rectangle 27"/>
          <p:cNvSpPr/>
          <p:nvPr/>
        </p:nvSpPr>
        <p:spPr>
          <a:xfrm>
            <a:off x="7726680" y="379476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e9f6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9" name="Rectangle 28"/>
          <p:cNvSpPr/>
          <p:nvPr/>
        </p:nvSpPr>
        <p:spPr>
          <a:xfrm>
            <a:off x="7726680" y="379476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0" name="TextBox 29"/>
          <p:cNvSpPr/>
          <p:nvPr/>
        </p:nvSpPr>
        <p:spPr>
          <a:xfrm>
            <a:off x="7872840" y="388620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Semantica real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41" name="TextBox 30"/>
          <p:cNvSpPr/>
          <p:nvPr/>
        </p:nvSpPr>
        <p:spPr>
          <a:xfrm>
            <a:off x="7872840" y="4178880"/>
            <a:ext cx="3126960" cy="153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Las 53 plantillas soportan reanimacion.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FlowHypervisor trata REANIMATED como normal.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80" spc="-1" strike="noStrike">
                <a:solidFill>
                  <a:srgbClr val="0b1f33"/>
                </a:solidFill>
                <a:latin typeface="Aptos"/>
              </a:rPr>
              <a:t>LEDs: verde running, amarillo paused, gris stopped, rojo no-running during RUNNING.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442" name="TextBox 31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443" name="TextBox 32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15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8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TextBox 1"/>
          <p:cNvSpPr/>
          <p:nvPr/>
        </p:nvSpPr>
        <p:spPr>
          <a:xfrm>
            <a:off x="438840" y="384120"/>
            <a:ext cx="27428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5be7ff"/>
                </a:solidFill>
                <a:latin typeface="Aptos"/>
              </a:rPr>
              <a:t>Tlamatini | seccion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45" name="TextBox 2"/>
          <p:cNvSpPr/>
          <p:nvPr/>
        </p:nvSpPr>
        <p:spPr>
          <a:xfrm>
            <a:off x="594360" y="1426320"/>
            <a:ext cx="18284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6000" spc="-1" strike="noStrike">
                <a:solidFill>
                  <a:srgbClr val="5be7ff"/>
                </a:solidFill>
                <a:latin typeface="Aptos Display"/>
              </a:rPr>
              <a:t>04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446" name="TextBox 3"/>
          <p:cNvSpPr/>
          <p:nvPr/>
        </p:nvSpPr>
        <p:spPr>
          <a:xfrm>
            <a:off x="1874520" y="1828800"/>
            <a:ext cx="7314840" cy="52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50" spc="-1" strike="noStrike">
                <a:solidFill>
                  <a:srgbClr val="ffffff"/>
                </a:solidFill>
                <a:latin typeface="Aptos Display"/>
              </a:rPr>
              <a:t>Operacion, seguridad y release</a:t>
            </a:r>
            <a:endParaRPr b="0" lang="en-US" sz="2850" spc="-1" strike="noStrike">
              <a:latin typeface="Arial"/>
            </a:endParaRPr>
          </a:p>
        </p:txBody>
      </p:sp>
      <p:sp>
        <p:nvSpPr>
          <p:cNvPr id="447" name="TextBox 4"/>
          <p:cNvSpPr/>
          <p:nvPr/>
        </p:nvSpPr>
        <p:spPr>
          <a:xfrm>
            <a:off x="1901880" y="2377440"/>
            <a:ext cx="749772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50" spc="-1" strike="noStrike">
                <a:solidFill>
                  <a:srgbClr val="cbefff"/>
                </a:solidFill>
                <a:latin typeface="Aptos"/>
              </a:rPr>
              <a:t>Hardening, configuracion, empaquetado y caveats actuales del sistema.</a:t>
            </a:r>
            <a:endParaRPr b="0" lang="en-US" sz="1650" spc="-1" strike="noStrike">
              <a:latin typeface="Arial"/>
            </a:endParaRPr>
          </a:p>
        </p:txBody>
      </p:sp>
      <p:sp>
        <p:nvSpPr>
          <p:cNvPr id="448" name="Rounded Rectangle 5"/>
          <p:cNvSpPr/>
          <p:nvPr/>
        </p:nvSpPr>
        <p:spPr>
          <a:xfrm>
            <a:off x="1874520" y="3063240"/>
            <a:ext cx="3108600" cy="365400"/>
          </a:xfrm>
          <a:prstGeom prst="roundRect">
            <a:avLst>
              <a:gd name="adj" fmla="val 16667"/>
            </a:avLst>
          </a:prstGeom>
          <a:solidFill>
            <a:srgbClr val="0e2b4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9" name="TextBox 6"/>
          <p:cNvSpPr/>
          <p:nvPr/>
        </p:nvSpPr>
        <p:spPr>
          <a:xfrm>
            <a:off x="2011680" y="3182040"/>
            <a:ext cx="27428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ptos"/>
              </a:rPr>
              <a:t>RAG, flujos, seguridad, release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450" name="Picture 7" descr="Tlamatini.jpg"/>
          <p:cNvPicPr/>
          <p:nvPr/>
        </p:nvPicPr>
        <p:blipFill>
          <a:blip r:embed="rId1"/>
          <a:stretch/>
        </p:blipFill>
        <p:spPr>
          <a:xfrm>
            <a:off x="9281160" y="1280160"/>
            <a:ext cx="2148480" cy="2148480"/>
          </a:xfrm>
          <a:prstGeom prst="rect">
            <a:avLst/>
          </a:prstGeom>
          <a:ln w="0">
            <a:noFill/>
          </a:ln>
        </p:spPr>
      </p:pic>
      <p:sp>
        <p:nvSpPr>
          <p:cNvPr id="451" name="TextBox 8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ffffff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452" name="TextBox 9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ffffff"/>
                </a:solidFill>
                <a:latin typeface="Aptos"/>
              </a:rPr>
              <a:t>16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Rectangle 1"/>
          <p:cNvSpPr/>
          <p:nvPr/>
        </p:nvSpPr>
        <p:spPr>
          <a:xfrm>
            <a:off x="0" y="0"/>
            <a:ext cx="12191760" cy="127800"/>
          </a:xfrm>
          <a:prstGeom prst="rect">
            <a:avLst/>
          </a:prstGeom>
          <a:solidFill>
            <a:srgbClr val="0818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4" name="Rounded Rectangle 2"/>
          <p:cNvSpPr/>
          <p:nvPr/>
        </p:nvSpPr>
        <p:spPr>
          <a:xfrm>
            <a:off x="347400" y="255960"/>
            <a:ext cx="1051200" cy="301320"/>
          </a:xfrm>
          <a:prstGeom prst="roundRect">
            <a:avLst>
              <a:gd name="adj" fmla="val 16667"/>
            </a:avLst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5" name="TextBox 3"/>
          <p:cNvSpPr/>
          <p:nvPr/>
        </p:nvSpPr>
        <p:spPr>
          <a:xfrm>
            <a:off x="438840" y="301680"/>
            <a:ext cx="86832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020" spc="-1" strike="noStrike">
                <a:solidFill>
                  <a:srgbClr val="081824"/>
                </a:solidFill>
                <a:latin typeface="Aptos"/>
              </a:rPr>
              <a:t>OPERACION</a:t>
            </a:r>
            <a:endParaRPr b="0" lang="en-US" sz="1020" spc="-1" strike="noStrike">
              <a:latin typeface="Arial"/>
            </a:endParaRPr>
          </a:p>
        </p:txBody>
      </p:sp>
      <p:sp>
        <p:nvSpPr>
          <p:cNvPr id="456" name="TextBox 4"/>
          <p:cNvSpPr/>
          <p:nvPr/>
        </p:nvSpPr>
        <p:spPr>
          <a:xfrm>
            <a:off x="384120" y="658440"/>
            <a:ext cx="82292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50" spc="-1" strike="noStrike">
                <a:solidFill>
                  <a:srgbClr val="0b1f33"/>
                </a:solidFill>
                <a:latin typeface="Aptos Display"/>
              </a:rPr>
              <a:t>Seguridad y estado real del hardening</a:t>
            </a:r>
            <a:endParaRPr b="0" lang="en-US" sz="2650" spc="-1" strike="noStrike">
              <a:latin typeface="Arial"/>
            </a:endParaRPr>
          </a:p>
        </p:txBody>
      </p:sp>
      <p:sp>
        <p:nvSpPr>
          <p:cNvPr id="457" name="TextBox 5"/>
          <p:cNvSpPr/>
          <p:nvPr/>
        </p:nvSpPr>
        <p:spPr>
          <a:xfrm>
            <a:off x="384120" y="1024200"/>
            <a:ext cx="106981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20" spc="-1" strike="noStrike">
                <a:solidFill>
                  <a:srgbClr val="5b7285"/>
                </a:solidFill>
                <a:latin typeface="Aptos"/>
              </a:rPr>
              <a:t>El deck debe mostrar fortalezas reales junto con issues concretos y acotados.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458" name="Rectangle 6"/>
          <p:cNvSpPr/>
          <p:nvPr/>
        </p:nvSpPr>
        <p:spPr>
          <a:xfrm>
            <a:off x="384120" y="1325880"/>
            <a:ext cx="11063880" cy="2700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9" name="Rounded Rectangle 7"/>
          <p:cNvSpPr/>
          <p:nvPr/>
        </p:nvSpPr>
        <p:spPr>
          <a:xfrm>
            <a:off x="411480" y="178308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0" name="Rectangle 8"/>
          <p:cNvSpPr/>
          <p:nvPr/>
        </p:nvSpPr>
        <p:spPr>
          <a:xfrm>
            <a:off x="411480" y="178308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1" name="TextBox 9"/>
          <p:cNvSpPr/>
          <p:nvPr/>
        </p:nvSpPr>
        <p:spPr>
          <a:xfrm>
            <a:off x="557640" y="1874520"/>
            <a:ext cx="3126960" cy="60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Autenticacion y aislamiento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62" name="TextBox 10"/>
          <p:cNvSpPr/>
          <p:nvPr/>
        </p:nvSpPr>
        <p:spPr>
          <a:xfrm>
            <a:off x="557640" y="2167200"/>
            <a:ext cx="31269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login_required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Channels middleware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conversation_user y SessionState por usuario</a:t>
            </a:r>
            <a:endParaRPr b="0" lang="en-US" sz="1290" spc="-1" strike="noStrike">
              <a:latin typeface="Arial"/>
            </a:endParaRPr>
          </a:p>
        </p:txBody>
      </p:sp>
      <p:sp>
        <p:nvSpPr>
          <p:cNvPr id="463" name="Rounded Rectangle 11"/>
          <p:cNvSpPr/>
          <p:nvPr/>
        </p:nvSpPr>
        <p:spPr>
          <a:xfrm>
            <a:off x="4069080" y="178308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4" name="Rectangle 12"/>
          <p:cNvSpPr/>
          <p:nvPr/>
        </p:nvSpPr>
        <p:spPr>
          <a:xfrm>
            <a:off x="4069080" y="178308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5" name="TextBox 13"/>
          <p:cNvSpPr/>
          <p:nvPr/>
        </p:nvSpPr>
        <p:spPr>
          <a:xfrm>
            <a:off x="4215240" y="187452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CSRF y rutas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66" name="TextBox 14"/>
          <p:cNvSpPr/>
          <p:nvPr/>
        </p:nvSpPr>
        <p:spPr>
          <a:xfrm>
            <a:off x="4215240" y="2167200"/>
            <a:ext cx="3126960" cy="7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csrf_protect + require_POST en mutaciones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100 rutas app, 3 proyecto, 1 ws</a:t>
            </a:r>
            <a:endParaRPr b="0" lang="en-US" sz="1290" spc="-1" strike="noStrike">
              <a:latin typeface="Arial"/>
            </a:endParaRPr>
          </a:p>
        </p:txBody>
      </p:sp>
      <p:sp>
        <p:nvSpPr>
          <p:cNvPr id="467" name="Rounded Rectangle 15"/>
          <p:cNvSpPr/>
          <p:nvPr/>
        </p:nvSpPr>
        <p:spPr>
          <a:xfrm>
            <a:off x="7726680" y="178308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8" name="Rectangle 16"/>
          <p:cNvSpPr/>
          <p:nvPr/>
        </p:nvSpPr>
        <p:spPr>
          <a:xfrm>
            <a:off x="7726680" y="178308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9" name="TextBox 17"/>
          <p:cNvSpPr/>
          <p:nvPr/>
        </p:nvSpPr>
        <p:spPr>
          <a:xfrm>
            <a:off x="7872840" y="187452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Path guard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70" name="TextBox 18"/>
          <p:cNvSpPr/>
          <p:nvPr/>
        </p:nvSpPr>
        <p:spPr>
          <a:xfrm>
            <a:off x="7872840" y="2167200"/>
            <a:ext cx="3126960" cy="7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path_guard.py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allowed_paths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validacion de prompts y gRPC</a:t>
            </a:r>
            <a:endParaRPr b="0" lang="en-US" sz="1290" spc="-1" strike="noStrike">
              <a:latin typeface="Arial"/>
            </a:endParaRPr>
          </a:p>
        </p:txBody>
      </p:sp>
      <p:sp>
        <p:nvSpPr>
          <p:cNvPr id="471" name="Rounded Rectangle 19"/>
          <p:cNvSpPr/>
          <p:nvPr/>
        </p:nvSpPr>
        <p:spPr>
          <a:xfrm>
            <a:off x="411480" y="379476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2" name="Rectangle 20"/>
          <p:cNvSpPr/>
          <p:nvPr/>
        </p:nvSpPr>
        <p:spPr>
          <a:xfrm>
            <a:off x="411480" y="379476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3" name="TextBox 21"/>
          <p:cNvSpPr/>
          <p:nvPr/>
        </p:nvSpPr>
        <p:spPr>
          <a:xfrm>
            <a:off x="557640" y="388620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Pruebas actuales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74" name="TextBox 22"/>
          <p:cNvSpPr/>
          <p:nvPr/>
        </p:nvSpPr>
        <p:spPr>
          <a:xfrm>
            <a:off x="557640" y="4178880"/>
            <a:ext cx="3126960" cy="7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UTF-8: 26 pruebas, 25 ok, 1 error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Consola default: 26 pruebas, 22 ok, 4 errores</a:t>
            </a:r>
            <a:endParaRPr b="0" lang="en-US" sz="1290" spc="-1" strike="noStrike">
              <a:latin typeface="Arial"/>
            </a:endParaRPr>
          </a:p>
        </p:txBody>
      </p:sp>
      <p:sp>
        <p:nvSpPr>
          <p:cNvPr id="475" name="Rounded Rectangle 23"/>
          <p:cNvSpPr/>
          <p:nvPr/>
        </p:nvSpPr>
        <p:spPr>
          <a:xfrm>
            <a:off x="4069080" y="379476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fff3e8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6" name="Rectangle 24"/>
          <p:cNvSpPr/>
          <p:nvPr/>
        </p:nvSpPr>
        <p:spPr>
          <a:xfrm>
            <a:off x="4069080" y="379476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7" name="TextBox 25"/>
          <p:cNvSpPr/>
          <p:nvPr/>
        </p:nvSpPr>
        <p:spPr>
          <a:xfrm>
            <a:off x="4215240" y="388620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Issues abiertos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78" name="TextBox 26"/>
          <p:cNvSpPr/>
          <p:nvPr/>
        </p:nvSpPr>
        <p:spPr>
          <a:xfrm>
            <a:off x="4215240" y="4178880"/>
            <a:ext cx="3126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WebsocketCommunicator: no running event loop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CP1252 falla con U+2192 en rag/interface.py</a:t>
            </a:r>
            <a:endParaRPr b="0" lang="en-US" sz="1290" spc="-1" strike="noStrike">
              <a:latin typeface="Arial"/>
            </a:endParaRPr>
          </a:p>
        </p:txBody>
      </p:sp>
      <p:sp>
        <p:nvSpPr>
          <p:cNvPr id="479" name="Rounded Rectangle 27"/>
          <p:cNvSpPr/>
          <p:nvPr/>
        </p:nvSpPr>
        <p:spPr>
          <a:xfrm>
            <a:off x="7726680" y="379476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fff3e8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0" name="Rectangle 28"/>
          <p:cNvSpPr/>
          <p:nvPr/>
        </p:nvSpPr>
        <p:spPr>
          <a:xfrm>
            <a:off x="7726680" y="379476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1" name="TextBox 29"/>
          <p:cNvSpPr/>
          <p:nvPr/>
        </p:nvSpPr>
        <p:spPr>
          <a:xfrm>
            <a:off x="7872840" y="388620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Caveats honestos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82" name="TextBox 30"/>
          <p:cNvSpPr/>
          <p:nvPr/>
        </p:nvSpPr>
        <p:spPr>
          <a:xfrm>
            <a:off x="7872840" y="4178880"/>
            <a:ext cx="3126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README aun desalineado en 24 JS, color paused y Parametrizer.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Config versionada mezcla slots locales y cloud.</a:t>
            </a:r>
            <a:endParaRPr b="0" lang="en-US" sz="1290" spc="-1" strike="noStrike">
              <a:latin typeface="Arial"/>
            </a:endParaRPr>
          </a:p>
        </p:txBody>
      </p:sp>
      <p:sp>
        <p:nvSpPr>
          <p:cNvPr id="483" name="TextBox 31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484" name="TextBox 32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17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Rectangle 1"/>
          <p:cNvSpPr/>
          <p:nvPr/>
        </p:nvSpPr>
        <p:spPr>
          <a:xfrm>
            <a:off x="0" y="0"/>
            <a:ext cx="12191760" cy="127800"/>
          </a:xfrm>
          <a:prstGeom prst="rect">
            <a:avLst/>
          </a:prstGeom>
          <a:solidFill>
            <a:srgbClr val="0818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6" name="Rounded Rectangle 2"/>
          <p:cNvSpPr/>
          <p:nvPr/>
        </p:nvSpPr>
        <p:spPr>
          <a:xfrm>
            <a:off x="347400" y="255960"/>
            <a:ext cx="1051200" cy="301320"/>
          </a:xfrm>
          <a:prstGeom prst="roundRect">
            <a:avLst>
              <a:gd name="adj" fmla="val 16667"/>
            </a:avLst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7" name="TextBox 3"/>
          <p:cNvSpPr/>
          <p:nvPr/>
        </p:nvSpPr>
        <p:spPr>
          <a:xfrm>
            <a:off x="438840" y="301680"/>
            <a:ext cx="86832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020" spc="-1" strike="noStrike">
                <a:solidFill>
                  <a:srgbClr val="081824"/>
                </a:solidFill>
                <a:latin typeface="Aptos"/>
              </a:rPr>
              <a:t>OPERACION</a:t>
            </a:r>
            <a:endParaRPr b="0" lang="en-US" sz="1020" spc="-1" strike="noStrike">
              <a:latin typeface="Arial"/>
            </a:endParaRPr>
          </a:p>
        </p:txBody>
      </p:sp>
      <p:sp>
        <p:nvSpPr>
          <p:cNvPr id="488" name="TextBox 4"/>
          <p:cNvSpPr/>
          <p:nvPr/>
        </p:nvSpPr>
        <p:spPr>
          <a:xfrm>
            <a:off x="384120" y="658440"/>
            <a:ext cx="82292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50" spc="-1" strike="noStrike">
                <a:solidFill>
                  <a:srgbClr val="0b1f33"/>
                </a:solidFill>
                <a:latin typeface="Aptos Display"/>
              </a:rPr>
              <a:t>Configuracion, MCP, release y metricas</a:t>
            </a:r>
            <a:endParaRPr b="0" lang="en-US" sz="2650" spc="-1" strike="noStrike">
              <a:latin typeface="Arial"/>
            </a:endParaRPr>
          </a:p>
        </p:txBody>
      </p:sp>
      <p:sp>
        <p:nvSpPr>
          <p:cNvPr id="489" name="TextBox 5"/>
          <p:cNvSpPr/>
          <p:nvPr/>
        </p:nvSpPr>
        <p:spPr>
          <a:xfrm>
            <a:off x="384120" y="1024200"/>
            <a:ext cx="106981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20" spc="-1" strike="noStrike">
                <a:solidFill>
                  <a:srgbClr val="5b7285"/>
                </a:solidFill>
                <a:latin typeface="Aptos"/>
              </a:rPr>
              <a:t>La operacion real combina config por archivo, sidecars MCP y un pipeline de release ya estructurado.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490" name="Rectangle 6"/>
          <p:cNvSpPr/>
          <p:nvPr/>
        </p:nvSpPr>
        <p:spPr>
          <a:xfrm>
            <a:off x="384120" y="1325880"/>
            <a:ext cx="11063880" cy="2700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1" name="Rounded Rectangle 7"/>
          <p:cNvSpPr/>
          <p:nvPr/>
        </p:nvSpPr>
        <p:spPr>
          <a:xfrm>
            <a:off x="411480" y="178308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2" name="Rectangle 8"/>
          <p:cNvSpPr/>
          <p:nvPr/>
        </p:nvSpPr>
        <p:spPr>
          <a:xfrm>
            <a:off x="411480" y="178308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3" name="TextBox 9"/>
          <p:cNvSpPr/>
          <p:nvPr/>
        </p:nvSpPr>
        <p:spPr>
          <a:xfrm>
            <a:off x="557640" y="187452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Defaults actuales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94" name="TextBox 10"/>
          <p:cNvSpPr/>
          <p:nvPr/>
        </p:nvSpPr>
        <p:spPr>
          <a:xfrm>
            <a:off x="557640" y="2167200"/>
            <a:ext cx="31269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embeding-model: qwen3-embedding:8b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chained / unified: glm-5:cloud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image_interpreter: qwen3.5:cloud</a:t>
            </a:r>
            <a:endParaRPr b="0" lang="en-US" sz="1290" spc="-1" strike="noStrike">
              <a:latin typeface="Arial"/>
            </a:endParaRPr>
          </a:p>
        </p:txBody>
      </p:sp>
      <p:sp>
        <p:nvSpPr>
          <p:cNvPr id="495" name="Rounded Rectangle 11"/>
          <p:cNvSpPr/>
          <p:nvPr/>
        </p:nvSpPr>
        <p:spPr>
          <a:xfrm>
            <a:off x="4069080" y="178308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6" name="Rectangle 12"/>
          <p:cNvSpPr/>
          <p:nvPr/>
        </p:nvSpPr>
        <p:spPr>
          <a:xfrm>
            <a:off x="4069080" y="178308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7" name="TextBox 13"/>
          <p:cNvSpPr/>
          <p:nvPr/>
        </p:nvSpPr>
        <p:spPr>
          <a:xfrm>
            <a:off x="4215240" y="187452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Superficie tecnica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98" name="TextBox 14"/>
          <p:cNvSpPr/>
          <p:nvPr/>
        </p:nvSpPr>
        <p:spPr>
          <a:xfrm>
            <a:off x="4215240" y="2167200"/>
            <a:ext cx="3126960" cy="7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12 modelos Django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17 tipos de mensaje cliente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12 toggles de tools</a:t>
            </a:r>
            <a:endParaRPr b="0" lang="en-US" sz="1290" spc="-1" strike="noStrike">
              <a:latin typeface="Arial"/>
            </a:endParaRPr>
          </a:p>
        </p:txBody>
      </p:sp>
      <p:sp>
        <p:nvSpPr>
          <p:cNvPr id="499" name="Rounded Rectangle 15"/>
          <p:cNvSpPr/>
          <p:nvPr/>
        </p:nvSpPr>
        <p:spPr>
          <a:xfrm>
            <a:off x="7726680" y="178308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0" name="Rectangle 16"/>
          <p:cNvSpPr/>
          <p:nvPr/>
        </p:nvSpPr>
        <p:spPr>
          <a:xfrm>
            <a:off x="7726680" y="178308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1" name="TextBox 17"/>
          <p:cNvSpPr/>
          <p:nvPr/>
        </p:nvSpPr>
        <p:spPr>
          <a:xfrm>
            <a:off x="7872840" y="187452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MCP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02" name="TextBox 18"/>
          <p:cNvSpPr/>
          <p:nvPr/>
        </p:nvSpPr>
        <p:spPr>
          <a:xfrm>
            <a:off x="7872840" y="2167200"/>
            <a:ext cx="3126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system via WebSocket 127.0.0.1:8765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file search via gRPC localhost:50051</a:t>
            </a:r>
            <a:endParaRPr b="0" lang="en-US" sz="1290" spc="-1" strike="noStrike">
              <a:latin typeface="Arial"/>
            </a:endParaRPr>
          </a:p>
        </p:txBody>
      </p:sp>
      <p:sp>
        <p:nvSpPr>
          <p:cNvPr id="503" name="Rounded Rectangle 19"/>
          <p:cNvSpPr/>
          <p:nvPr/>
        </p:nvSpPr>
        <p:spPr>
          <a:xfrm>
            <a:off x="411480" y="379476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4" name="Rectangle 20"/>
          <p:cNvSpPr/>
          <p:nvPr/>
        </p:nvSpPr>
        <p:spPr>
          <a:xfrm>
            <a:off x="411480" y="379476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5" name="TextBox 21"/>
          <p:cNvSpPr/>
          <p:nvPr/>
        </p:nvSpPr>
        <p:spPr>
          <a:xfrm>
            <a:off x="557640" y="388620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Pipeline release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06" name="TextBox 22"/>
          <p:cNvSpPr/>
          <p:nvPr/>
        </p:nvSpPr>
        <p:spPr>
          <a:xfrm>
            <a:off x="557640" y="4178880"/>
            <a:ext cx="3126960" cy="13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build.py -&gt; pkg.zip + usuario sembrado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build_uninstaller.py -&gt; Uninstaller.exe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build_installer.py -&gt; dist/Tlamatini_Release</a:t>
            </a:r>
            <a:endParaRPr b="0" lang="en-US" sz="1290" spc="-1" strike="noStrike">
              <a:latin typeface="Arial"/>
            </a:endParaRPr>
          </a:p>
        </p:txBody>
      </p:sp>
      <p:sp>
        <p:nvSpPr>
          <p:cNvPr id="507" name="Rounded Rectangle 23"/>
          <p:cNvSpPr/>
          <p:nvPr/>
        </p:nvSpPr>
        <p:spPr>
          <a:xfrm>
            <a:off x="4069080" y="379476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8" name="Rectangle 24"/>
          <p:cNvSpPr/>
          <p:nvPr/>
        </p:nvSpPr>
        <p:spPr>
          <a:xfrm>
            <a:off x="4069080" y="3794760"/>
            <a:ext cx="340128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9" name="TextBox 25"/>
          <p:cNvSpPr/>
          <p:nvPr/>
        </p:nvSpPr>
        <p:spPr>
          <a:xfrm>
            <a:off x="4215240" y="388620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Semantica del release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10" name="TextBox 26"/>
          <p:cNvSpPr/>
          <p:nvPr/>
        </p:nvSpPr>
        <p:spPr>
          <a:xfrm>
            <a:off x="4215240" y="4178880"/>
            <a:ext cx="3126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pkg.zip y Uninstaller.exe se mueven, no se duplican.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El entregable final es dist/Tlamatini_Release.</a:t>
            </a:r>
            <a:endParaRPr b="0" lang="en-US" sz="1290" spc="-1" strike="noStrike">
              <a:latin typeface="Arial"/>
            </a:endParaRPr>
          </a:p>
        </p:txBody>
      </p:sp>
      <p:sp>
        <p:nvSpPr>
          <p:cNvPr id="511" name="Rounded Rectangle 27"/>
          <p:cNvSpPr/>
          <p:nvPr/>
        </p:nvSpPr>
        <p:spPr>
          <a:xfrm>
            <a:off x="7726680" y="3794760"/>
            <a:ext cx="3401280" cy="1810080"/>
          </a:xfrm>
          <a:prstGeom prst="roundRect">
            <a:avLst>
              <a:gd name="adj" fmla="val 16667"/>
            </a:avLst>
          </a:prstGeom>
          <a:solidFill>
            <a:srgbClr val="e9f6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2" name="Rectangle 28"/>
          <p:cNvSpPr/>
          <p:nvPr/>
        </p:nvSpPr>
        <p:spPr>
          <a:xfrm>
            <a:off x="7726680" y="3794760"/>
            <a:ext cx="340128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3" name="TextBox 29"/>
          <p:cNvSpPr/>
          <p:nvPr/>
        </p:nvSpPr>
        <p:spPr>
          <a:xfrm>
            <a:off x="7872840" y="3886200"/>
            <a:ext cx="31269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Metricas del repo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14" name="TextBox 30"/>
          <p:cNvSpPr/>
          <p:nvPr/>
        </p:nvSpPr>
        <p:spPr>
          <a:xfrm>
            <a:off x="7872840" y="4178880"/>
            <a:ext cx="312696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308 archivos rastreados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181 Python / 52,451 lineas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24 JS / 11,596 lineas</a:t>
            </a:r>
            <a:endParaRPr b="0" lang="en-US" sz="12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290" spc="-1" strike="noStrike">
                <a:solidFill>
                  <a:srgbClr val="0b1f33"/>
                </a:solidFill>
                <a:latin typeface="Aptos"/>
              </a:rPr>
              <a:t>53 plantillas de agente</a:t>
            </a:r>
            <a:endParaRPr b="0" lang="en-US" sz="1290" spc="-1" strike="noStrike">
              <a:latin typeface="Arial"/>
            </a:endParaRPr>
          </a:p>
        </p:txBody>
      </p:sp>
      <p:sp>
        <p:nvSpPr>
          <p:cNvPr id="515" name="TextBox 31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516" name="TextBox 32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18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angle 1"/>
          <p:cNvSpPr/>
          <p:nvPr/>
        </p:nvSpPr>
        <p:spPr>
          <a:xfrm>
            <a:off x="0" y="0"/>
            <a:ext cx="12191760" cy="127800"/>
          </a:xfrm>
          <a:prstGeom prst="rect">
            <a:avLst/>
          </a:prstGeom>
          <a:solidFill>
            <a:srgbClr val="0818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8" name="Rounded Rectangle 2"/>
          <p:cNvSpPr/>
          <p:nvPr/>
        </p:nvSpPr>
        <p:spPr>
          <a:xfrm>
            <a:off x="347400" y="255960"/>
            <a:ext cx="1051200" cy="301320"/>
          </a:xfrm>
          <a:prstGeom prst="roundRect">
            <a:avLst>
              <a:gd name="adj" fmla="val 16667"/>
            </a:avLst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9" name="TextBox 3"/>
          <p:cNvSpPr/>
          <p:nvPr/>
        </p:nvSpPr>
        <p:spPr>
          <a:xfrm>
            <a:off x="438840" y="301680"/>
            <a:ext cx="86832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020" spc="-1" strike="noStrike">
                <a:solidFill>
                  <a:srgbClr val="081824"/>
                </a:solidFill>
                <a:latin typeface="Aptos"/>
              </a:rPr>
              <a:t>CIERRE</a:t>
            </a:r>
            <a:endParaRPr b="0" lang="en-US" sz="1020" spc="-1" strike="noStrike">
              <a:latin typeface="Arial"/>
            </a:endParaRPr>
          </a:p>
        </p:txBody>
      </p:sp>
      <p:sp>
        <p:nvSpPr>
          <p:cNvPr id="520" name="TextBox 4"/>
          <p:cNvSpPr/>
          <p:nvPr/>
        </p:nvSpPr>
        <p:spPr>
          <a:xfrm>
            <a:off x="384120" y="658440"/>
            <a:ext cx="82292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50" spc="-1" strike="noStrike">
                <a:solidFill>
                  <a:srgbClr val="0b1f33"/>
                </a:solidFill>
                <a:latin typeface="Aptos Display"/>
              </a:rPr>
              <a:t>XAIHT y lectura final del sistema</a:t>
            </a:r>
            <a:endParaRPr b="0" lang="en-US" sz="2650" spc="-1" strike="noStrike">
              <a:latin typeface="Arial"/>
            </a:endParaRPr>
          </a:p>
        </p:txBody>
      </p:sp>
      <p:sp>
        <p:nvSpPr>
          <p:cNvPr id="521" name="TextBox 5"/>
          <p:cNvSpPr/>
          <p:nvPr/>
        </p:nvSpPr>
        <p:spPr>
          <a:xfrm>
            <a:off x="384120" y="1024200"/>
            <a:ext cx="106981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20" spc="-1" strike="noStrike">
                <a:solidFill>
                  <a:srgbClr val="5b7285"/>
                </a:solidFill>
                <a:latin typeface="Aptos"/>
              </a:rPr>
              <a:t>La propuesta ya no debe vender solo chat o solo RAG: Tlamatini es una plataforma operativa.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522" name="Rectangle 6"/>
          <p:cNvSpPr/>
          <p:nvPr/>
        </p:nvSpPr>
        <p:spPr>
          <a:xfrm>
            <a:off x="384120" y="1325880"/>
            <a:ext cx="11063880" cy="2700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23" name="Picture 7" descr="Tlamatini.jpg"/>
          <p:cNvPicPr/>
          <p:nvPr/>
        </p:nvPicPr>
        <p:blipFill>
          <a:blip r:embed="rId1"/>
          <a:stretch/>
        </p:blipFill>
        <p:spPr>
          <a:xfrm>
            <a:off x="8869680" y="1691640"/>
            <a:ext cx="2057040" cy="2057040"/>
          </a:xfrm>
          <a:prstGeom prst="rect">
            <a:avLst/>
          </a:prstGeom>
          <a:ln w="0">
            <a:noFill/>
          </a:ln>
        </p:spPr>
      </p:pic>
      <p:sp>
        <p:nvSpPr>
          <p:cNvPr id="524" name="Rounded Rectangle 8"/>
          <p:cNvSpPr/>
          <p:nvPr/>
        </p:nvSpPr>
        <p:spPr>
          <a:xfrm>
            <a:off x="411480" y="1783080"/>
            <a:ext cx="2559960" cy="164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5" name="Rectangle 9"/>
          <p:cNvSpPr/>
          <p:nvPr/>
        </p:nvSpPr>
        <p:spPr>
          <a:xfrm>
            <a:off x="411480" y="1783080"/>
            <a:ext cx="255996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6" name="TextBox 10"/>
          <p:cNvSpPr/>
          <p:nvPr/>
        </p:nvSpPr>
        <p:spPr>
          <a:xfrm>
            <a:off x="557640" y="1874520"/>
            <a:ext cx="2285640" cy="60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Sin autonomia opaca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27" name="TextBox 11"/>
          <p:cNvSpPr/>
          <p:nvPr/>
        </p:nvSpPr>
        <p:spPr>
          <a:xfrm>
            <a:off x="557640" y="2167200"/>
            <a:ext cx="2285640" cy="92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70" spc="-1" strike="noStrike">
                <a:solidFill>
                  <a:srgbClr val="0b1f33"/>
                </a:solidFill>
                <a:latin typeface="Aptos"/>
              </a:rPr>
              <a:t>No hay un relato tecnico legitimo de comportamiento autonomo oculto.</a:t>
            </a:r>
            <a:endParaRPr b="0" lang="en-US" sz="1370" spc="-1" strike="noStrike">
              <a:latin typeface="Arial"/>
            </a:endParaRPr>
          </a:p>
        </p:txBody>
      </p:sp>
      <p:sp>
        <p:nvSpPr>
          <p:cNvPr id="528" name="Rounded Rectangle 12"/>
          <p:cNvSpPr/>
          <p:nvPr/>
        </p:nvSpPr>
        <p:spPr>
          <a:xfrm>
            <a:off x="3246120" y="1783080"/>
            <a:ext cx="2559960" cy="1645560"/>
          </a:xfrm>
          <a:prstGeom prst="roundRect">
            <a:avLst>
              <a:gd name="adj" fmla="val 16667"/>
            </a:avLst>
          </a:prstGeom>
          <a:solidFill>
            <a:srgbClr val="fff3e8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9" name="Rectangle 13"/>
          <p:cNvSpPr/>
          <p:nvPr/>
        </p:nvSpPr>
        <p:spPr>
          <a:xfrm>
            <a:off x="3246120" y="1783080"/>
            <a:ext cx="255996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0" name="TextBox 14"/>
          <p:cNvSpPr/>
          <p:nvPr/>
        </p:nvSpPr>
        <p:spPr>
          <a:xfrm>
            <a:off x="3392280" y="1874520"/>
            <a:ext cx="22856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Control granular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31" name="TextBox 15"/>
          <p:cNvSpPr/>
          <p:nvPr/>
        </p:nvSpPr>
        <p:spPr>
          <a:xfrm>
            <a:off x="3392280" y="2167200"/>
            <a:ext cx="2285640" cy="92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70" spc="-1" strike="noStrike">
                <a:solidFill>
                  <a:srgbClr val="0b1f33"/>
                </a:solidFill>
                <a:latin typeface="Aptos"/>
              </a:rPr>
              <a:t>Tools, contexto, flujos, pausa, resume y restart se controlan explicitamente.</a:t>
            </a:r>
            <a:endParaRPr b="0" lang="en-US" sz="1370" spc="-1" strike="noStrike">
              <a:latin typeface="Arial"/>
            </a:endParaRPr>
          </a:p>
        </p:txBody>
      </p:sp>
      <p:sp>
        <p:nvSpPr>
          <p:cNvPr id="532" name="Rounded Rectangle 16"/>
          <p:cNvSpPr/>
          <p:nvPr/>
        </p:nvSpPr>
        <p:spPr>
          <a:xfrm>
            <a:off x="6080760" y="1783080"/>
            <a:ext cx="2559960" cy="164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3" name="Rectangle 17"/>
          <p:cNvSpPr/>
          <p:nvPr/>
        </p:nvSpPr>
        <p:spPr>
          <a:xfrm>
            <a:off x="6080760" y="1783080"/>
            <a:ext cx="255996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4" name="TextBox 18"/>
          <p:cNvSpPr/>
          <p:nvPr/>
        </p:nvSpPr>
        <p:spPr>
          <a:xfrm>
            <a:off x="6080760" y="1874520"/>
            <a:ext cx="255996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Usuarios tecnicos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35" name="TextBox 19"/>
          <p:cNvSpPr/>
          <p:nvPr/>
        </p:nvSpPr>
        <p:spPr>
          <a:xfrm>
            <a:off x="6226920" y="2167200"/>
            <a:ext cx="2285640" cy="71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70" spc="-1" strike="noStrike">
                <a:solidFill>
                  <a:srgbClr val="0b1f33"/>
                </a:solidFill>
                <a:latin typeface="Aptos"/>
              </a:rPr>
              <a:t>Desarrollo, sistemas, BD, analitica y operacion.</a:t>
            </a:r>
            <a:endParaRPr b="0" lang="en-US" sz="1370" spc="-1" strike="noStrike">
              <a:latin typeface="Arial"/>
            </a:endParaRPr>
          </a:p>
        </p:txBody>
      </p:sp>
      <p:sp>
        <p:nvSpPr>
          <p:cNvPr id="536" name="Rounded Rectangle 20"/>
          <p:cNvSpPr/>
          <p:nvPr/>
        </p:nvSpPr>
        <p:spPr>
          <a:xfrm>
            <a:off x="411480" y="3657600"/>
            <a:ext cx="5440320" cy="191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7" name="Rectangle 21"/>
          <p:cNvSpPr/>
          <p:nvPr/>
        </p:nvSpPr>
        <p:spPr>
          <a:xfrm>
            <a:off x="411480" y="3657600"/>
            <a:ext cx="5440320" cy="72720"/>
          </a:xfrm>
          <a:prstGeom prst="rect">
            <a:avLst/>
          </a:prstGeom>
          <a:solidFill>
            <a:srgbClr val="fb8b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8" name="TextBox 22"/>
          <p:cNvSpPr/>
          <p:nvPr/>
        </p:nvSpPr>
        <p:spPr>
          <a:xfrm>
            <a:off x="557640" y="3749040"/>
            <a:ext cx="516600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Lo que esta presentacion deja claro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39" name="TextBox 23"/>
          <p:cNvSpPr/>
          <p:nvPr/>
        </p:nvSpPr>
        <p:spPr>
          <a:xfrm>
            <a:off x="557640" y="4041720"/>
            <a:ext cx="5166000" cy="96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70" spc="-1" strike="noStrike">
                <a:solidFill>
                  <a:srgbClr val="0b1f33"/>
                </a:solidFill>
                <a:latin typeface="Aptos"/>
              </a:rPr>
              <a:t>Capacidad real: arquitectura web + RAG + tools + automatizacion + release flow.</a:t>
            </a:r>
            <a:endParaRPr b="0" lang="en-US" sz="137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70" spc="-1" strike="noStrike">
                <a:solidFill>
                  <a:srgbClr val="0b1f33"/>
                </a:solidFill>
                <a:latin typeface="Aptos"/>
              </a:rPr>
              <a:t>Estado honesto: fuerte superficie funcional con caveats acotados.</a:t>
            </a:r>
            <a:endParaRPr b="0" lang="en-US" sz="1370" spc="-1" strike="noStrike">
              <a:latin typeface="Arial"/>
            </a:endParaRPr>
          </a:p>
        </p:txBody>
      </p:sp>
      <p:sp>
        <p:nvSpPr>
          <p:cNvPr id="540" name="Rounded Rectangle 24"/>
          <p:cNvSpPr/>
          <p:nvPr/>
        </p:nvSpPr>
        <p:spPr>
          <a:xfrm>
            <a:off x="6080760" y="3657600"/>
            <a:ext cx="5257440" cy="1919880"/>
          </a:xfrm>
          <a:prstGeom prst="roundRect">
            <a:avLst>
              <a:gd name="adj" fmla="val 16667"/>
            </a:avLst>
          </a:prstGeom>
          <a:solidFill>
            <a:srgbClr val="e9f6ff"/>
          </a:solidFill>
          <a:ln w="12700">
            <a:solidFill>
              <a:srgbClr val="c9dd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1" name="Rectangle 25"/>
          <p:cNvSpPr/>
          <p:nvPr/>
        </p:nvSpPr>
        <p:spPr>
          <a:xfrm>
            <a:off x="6080760" y="3657600"/>
            <a:ext cx="5257440" cy="72720"/>
          </a:xfrm>
          <a:prstGeom prst="rect">
            <a:avLst/>
          </a:prstGeom>
          <a:solidFill>
            <a:srgbClr val="5be7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2" name="TextBox 26"/>
          <p:cNvSpPr/>
          <p:nvPr/>
        </p:nvSpPr>
        <p:spPr>
          <a:xfrm>
            <a:off x="6226920" y="3749040"/>
            <a:ext cx="4983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0b1f33"/>
                </a:solidFill>
                <a:latin typeface="Aptos"/>
              </a:rPr>
              <a:t>Mensaje final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43" name="TextBox 27"/>
          <p:cNvSpPr/>
          <p:nvPr/>
        </p:nvSpPr>
        <p:spPr>
          <a:xfrm>
            <a:off x="6226920" y="4041720"/>
            <a:ext cx="4983120" cy="71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370" spc="-1" strike="noStrike">
                <a:solidFill>
                  <a:srgbClr val="0b1f33"/>
                </a:solidFill>
                <a:latin typeface="Aptos"/>
              </a:rPr>
              <a:t>Tlamatini no es solo un asistente: es una plataforma local-first, visual y controlable para trabajo tecnico asistido por IA.</a:t>
            </a:r>
            <a:endParaRPr b="0" lang="en-US" sz="1370" spc="-1" strike="noStrike">
              <a:latin typeface="Arial"/>
            </a:endParaRPr>
          </a:p>
        </p:txBody>
      </p:sp>
      <p:sp>
        <p:nvSpPr>
          <p:cNvPr id="544" name="TextBox 28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545" name="TextBox 29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5b7285"/>
                </a:solidFill>
                <a:latin typeface="Aptos"/>
              </a:rPr>
              <a:t>19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8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TextBox 1"/>
          <p:cNvSpPr/>
          <p:nvPr/>
        </p:nvSpPr>
        <p:spPr>
          <a:xfrm>
            <a:off x="640080" y="1143000"/>
            <a:ext cx="6857640" cy="5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100" spc="-1" strike="noStrike">
                <a:solidFill>
                  <a:srgbClr val="ffffff"/>
                </a:solidFill>
                <a:latin typeface="Aptos Display"/>
              </a:rPr>
              <a:t>TLAMATINI HOY</a:t>
            </a:r>
            <a:endParaRPr b="0" lang="en-US" sz="3100" spc="-1" strike="noStrike">
              <a:latin typeface="Arial"/>
            </a:endParaRPr>
          </a:p>
        </p:txBody>
      </p:sp>
      <p:sp>
        <p:nvSpPr>
          <p:cNvPr id="547" name="TextBox 2"/>
          <p:cNvSpPr/>
          <p:nvPr/>
        </p:nvSpPr>
        <p:spPr>
          <a:xfrm>
            <a:off x="640080" y="1828800"/>
            <a:ext cx="6674760" cy="69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79" spc="-1" strike="noStrike">
                <a:solidFill>
                  <a:srgbClr val="ddefff"/>
                </a:solidFill>
                <a:latin typeface="Aptos"/>
              </a:rPr>
              <a:t>Plataforma local-first con RAG consciente del codigo, tools y 53 agentes visuales</a:t>
            </a:r>
            <a:endParaRPr b="0" lang="en-US" sz="1979" spc="-1" strike="noStrike">
              <a:latin typeface="Arial"/>
            </a:endParaRPr>
          </a:p>
        </p:txBody>
      </p:sp>
      <p:sp>
        <p:nvSpPr>
          <p:cNvPr id="548" name="TextBox 3"/>
          <p:cNvSpPr/>
          <p:nvPr/>
        </p:nvSpPr>
        <p:spPr>
          <a:xfrm>
            <a:off x="804600" y="2743200"/>
            <a:ext cx="6309000" cy="14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679" spc="-1" strike="noStrike">
                <a:solidFill>
                  <a:srgbClr val="ffffff"/>
                </a:solidFill>
                <a:latin typeface="Aptos"/>
              </a:rPr>
              <a:t>Deck reconstruido con cifras y funcionalidades actuales.</a:t>
            </a:r>
            <a:endParaRPr b="0" lang="en-US" sz="1679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679" spc="-1" strike="noStrike">
                <a:solidFill>
                  <a:srgbClr val="ffffff"/>
                </a:solidFill>
                <a:latin typeface="Aptos"/>
              </a:rPr>
              <a:t>Capacidad real: arquitectura web + RAG + tools + automatizacion + release flow.</a:t>
            </a:r>
            <a:endParaRPr b="0" lang="en-US" sz="1679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679" spc="-1" strike="noStrike">
                <a:solidFill>
                  <a:srgbClr val="ffffff"/>
                </a:solidFill>
                <a:latin typeface="Aptos"/>
              </a:rPr>
              <a:t>Estado honesto: fuerte superficie funcional con caveats tecnicos bien acotados.</a:t>
            </a:r>
            <a:endParaRPr b="0" lang="en-US" sz="1679" spc="-1" strike="noStrike">
              <a:latin typeface="Arial"/>
            </a:endParaRPr>
          </a:p>
        </p:txBody>
      </p:sp>
      <p:sp>
        <p:nvSpPr>
          <p:cNvPr id="549" name="Rounded Rectangle 4"/>
          <p:cNvSpPr/>
          <p:nvPr/>
        </p:nvSpPr>
        <p:spPr>
          <a:xfrm>
            <a:off x="804600" y="544068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0e2b4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0" name="TextBox 5"/>
          <p:cNvSpPr/>
          <p:nvPr/>
        </p:nvSpPr>
        <p:spPr>
          <a:xfrm>
            <a:off x="987480" y="5559480"/>
            <a:ext cx="2377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5be7ff"/>
                </a:solidFill>
                <a:latin typeface="Aptos"/>
              </a:rPr>
              <a:t>¿Preguntas?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551" name="Picture 6" descr="Tlamatini.jpg"/>
          <p:cNvPicPr/>
          <p:nvPr/>
        </p:nvPicPr>
        <p:blipFill>
          <a:blip r:embed="rId1"/>
          <a:stretch/>
        </p:blipFill>
        <p:spPr>
          <a:xfrm>
            <a:off x="8229600" y="1463040"/>
            <a:ext cx="2742840" cy="2742840"/>
          </a:xfrm>
          <a:prstGeom prst="rect">
            <a:avLst/>
          </a:prstGeom>
          <a:ln w="0">
            <a:noFill/>
          </a:ln>
        </p:spPr>
      </p:pic>
      <p:sp>
        <p:nvSpPr>
          <p:cNvPr id="552" name="TextBox 7"/>
          <p:cNvSpPr/>
          <p:nvPr/>
        </p:nvSpPr>
        <p:spPr>
          <a:xfrm>
            <a:off x="7452360" y="4572000"/>
            <a:ext cx="40230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ffb14a"/>
                </a:solidFill>
                <a:latin typeface="Aptos Display"/>
              </a:rPr>
              <a:t>Extended Artificial Intelligence Humanly Tempered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53" name="TextBox 8"/>
          <p:cNvSpPr/>
          <p:nvPr/>
        </p:nvSpPr>
        <p:spPr>
          <a:xfrm>
            <a:off x="7406640" y="5484600"/>
            <a:ext cx="41144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250" spc="-1" strike="noStrike">
                <a:solidFill>
                  <a:srgbClr val="ffffff"/>
                </a:solidFill>
                <a:latin typeface="Aptos"/>
              </a:rPr>
              <a:t>Inteligencia Artificial Extendida Humanamente Templada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554" name="TextBox 9"/>
          <p:cNvSpPr/>
          <p:nvPr/>
        </p:nvSpPr>
        <p:spPr>
          <a:xfrm>
            <a:off x="320040" y="6473880"/>
            <a:ext cx="548604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20" spc="-1" strike="noStrike">
                <a:solidFill>
                  <a:srgbClr val="ffffff"/>
                </a:solidFill>
                <a:latin typeface="Aptos"/>
              </a:rPr>
              <a:t>Tlamatini | 28 mar 2026 | 0b8c42d5f531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555" name="TextBox 10"/>
          <p:cNvSpPr/>
          <p:nvPr/>
        </p:nvSpPr>
        <p:spPr>
          <a:xfrm>
            <a:off x="11064240" y="6446520"/>
            <a:ext cx="7311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920" spc="-1" strike="noStrike">
                <a:solidFill>
                  <a:srgbClr val="ffffff"/>
                </a:solidFill>
                <a:latin typeface="Aptos"/>
              </a:rPr>
              <a:t>20</a:t>
            </a:r>
            <a:endParaRPr b="0" lang="en-US" sz="9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View_PPTX_PLUS/7.4.0.3$Windows_X86_64 LibreOffice_project/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OpenAI Codex</dc:creator>
  <dc:description>generated using python-pptx</dc:description>
  <dc:language>en-US</dc:language>
  <cp:lastModifiedBy/>
  <dcterms:modified xsi:type="dcterms:W3CDTF">2026-03-28T21:05:00Z</dcterms:modified>
  <cp:revision>6</cp:revision>
  <dc:subject>Presentacion tecnica actualizada</dc:subject>
  <dc:title>Tlamatini eXtended Artificial Intelligence Humanly Tempered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