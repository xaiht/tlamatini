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82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744</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82</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153,486</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June 20, 2026 09:20 PM UTC-0600 at HEAD ba21c6d</a:t>
            </a:r>
          </a:p>
        </p:txBody>
      </p:sp>
      <p:sp>
        <p:nvSpPr>
          <p:cNvPr id="21" name="TextBox 20"/>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
        <p:nvSpPr>
          <p:cNvPr id="21" name="TextBox 20"/>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
        <p:nvSpPr>
          <p:cNvPr id="21" name="TextBox 20"/>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p:txBody>
      </p:sp>
      <p:sp>
        <p:nvSpPr>
          <p:cNvPr id="21" name="TextBox 20"/>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a:p>
            <a:pPr>
              <a:spcAft>
                <a:spcPts val="400"/>
              </a:spcAft>
              <a:defRPr sz="1000">
                <a:solidFill>
                  <a:srgbClr val="B4BAAE"/>
                </a:solidFill>
                <a:latin typeface="Aptos"/>
              </a:defRPr>
            </a:pPr>
            <a:r>
              <a:t>Turns successful Multi-Turn tool executions into starter `.flw` workflows that can be inspected and validated in ACP.</a:t>
            </a:r>
          </a:p>
        </p:txBody>
      </p:sp>
      <p:sp>
        <p:nvSpPr>
          <p:cNvPr id="21" name="TextBox 20"/>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
        <p:nvSpPr>
          <p:cNvPr id="21" name="TextBox 20"/>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
        <p:nvSpPr>
          <p:cNvPr id="30" name="TextBox 2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4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
        <p:nvSpPr>
          <p:cNvPr id="13" name="TextBox 12"/>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V1.26.5 DOCS, DISCLAIMER, AND EXTERNAL MCPS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repository currently resolves to the latest reachable `v1.26.5` tag and the docs now identify Tlamatini as release 1.26.5, with the live source inventory confirming 82 workflow agents and 89 Multi-Turn tools.</a:t>
            </a:r>
          </a:p>
          <a:p>
            <a:pPr>
              <a:spcAft>
                <a:spcPts val="400"/>
              </a:spcAft>
              <a:defRPr sz="900">
                <a:solidFill>
                  <a:srgbClr val="B4BAAE"/>
                </a:solidFill>
                <a:latin typeface="Aptos"/>
              </a:defRPr>
            </a:pPr>
            <a:r>
              <a:t>This release keeps the `v1.26.0` External MCPs universal-client foundation, then adds the later maintenance wave: improved External MCP input/catalog handling, MCP Doctor enumeration across all active external MCPs, Unrealer parameterization fixes, and new Unreal game-creation demo prompts.</a:t>
            </a:r>
          </a:p>
          <a:p>
            <a:pPr>
              <a:spcAft>
                <a:spcPts val="400"/>
              </a:spcAft>
              <a:defRPr sz="900">
                <a:solidFill>
                  <a:srgbClr val="B4BAAE"/>
                </a:solidFill>
                <a:latin typeface="Aptos"/>
              </a:defRPr>
            </a:pPr>
            <a:r>
              <a:t>README.md and BookOfTlamatini.md now present the project under the MIT License, include the Discord community entry point, keep the strong Agent-directory disclaimer, and remove older count drift around the agent catalog.</a:t>
            </a:r>
          </a:p>
          <a:p>
            <a:pPr>
              <a:spcAft>
                <a:spcPts val="400"/>
              </a:spcAft>
              <a:defRPr sz="900">
                <a:solidFill>
                  <a:srgbClr val="B4BAAE"/>
                </a:solidFill>
                <a:latin typeface="Aptos"/>
              </a:defRPr>
            </a:pPr>
            <a:r>
              <a:t>The practical operator story is broader than a version bump: Create Superuser wizard prompts, FlowCreation backslash handling, Step-by-Step reliability, context-bloat/chat-history windowing, dialog polish, and external MCP JSON cleanup all changed in the same post-dossier span.</a:t>
            </a:r>
          </a:p>
          <a:p>
            <a:pPr>
              <a:spcAft>
                <a:spcPts val="400"/>
              </a:spcAft>
              <a:defRPr sz="900">
                <a:solidFill>
                  <a:srgbClr val="B4BAAE"/>
                </a:solidFill>
                <a:latin typeface="Aptos"/>
              </a:defRPr>
            </a:pPr>
            <a:r>
              <a:t>The resulting PDF/PPTX refresh therefore treats `v1.26.5` as the current product snapshot while preserving the historical context for self-update, media-agent dependency hardening, deterministic file tools, firmware agents, and External MCP usage.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version story is now explicit: the repo resolves to the `v1.26.5` line while carrying forward the External MCPs release, whose defining feature is the universal MCP client (any external MCP server over four transports, the MCP Doctor diagnostic agent, full-surface Multi-Turn tool binding, and Step-by-Step setup mode).</a:t>
            </a:r>
          </a:p>
          <a:p>
            <a:pPr>
              <a:spcAft>
                <a:spcPts val="400"/>
              </a:spcAft>
              <a:defRPr sz="1200">
                <a:solidFill>
                  <a:srgbClr val="B4BAAE"/>
                </a:solidFill>
                <a:latin typeface="Aptos"/>
              </a:defRPr>
            </a:pPr>
            <a:r>
              <a:t>Operators still inherit the two major foundations from the immediately prior release line: self-update preserves the user's database and custom toggles, and frozen builds ship the numpy/OpenCV native libraries the media agents need.</a:t>
            </a:r>
          </a:p>
          <a:p>
            <a:pPr>
              <a:spcAft>
                <a:spcPts val="400"/>
              </a:spcAft>
              <a:defRPr sz="1200">
                <a:solidFill>
                  <a:srgbClr val="B4BAAE"/>
                </a:solidFill>
                <a:latin typeface="Aptos"/>
              </a:defRPr>
            </a:pPr>
            <a:r>
              <a:t>The resulting narrative now also matches the new Agent-directory disclaimer, making the plain-Python user-responsibility boundary visible in both the PDF and the deck.</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MIT, CATALOG, EXTERNAL MCP, MCP DOCTOR, AND UNREALER FIXES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v1.26.5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latest reachable tag `v1.26.5`; HEAD documentation updates keep README.md, BookOfTlamatini.md, badges, and generated dossiers aligned to 1.26.5.</a:t>
            </a:r>
          </a:p>
          <a:p>
            <a:pPr>
              <a:spcAft>
                <a:spcPts val="400"/>
              </a:spcAft>
              <a:defRPr sz="1100">
                <a:solidFill>
                  <a:srgbClr val="B4BAAE"/>
                </a:solidFill>
                <a:latin typeface="Aptos"/>
              </a:defRPr>
            </a:pPr>
            <a:r>
              <a:t>Policy/community: `LICENSE` and the handbook now describe MIT licensing, and README/Book expose the Discord invite as the public community/support path.</a:t>
            </a:r>
          </a:p>
          <a:p>
            <a:pPr>
              <a:spcAft>
                <a:spcPts val="400"/>
              </a:spcAft>
              <a:defRPr sz="1100">
                <a:solidFill>
                  <a:srgbClr val="B4BAAE"/>
                </a:solidFill>
                <a:latin typeface="Aptos"/>
              </a:defRPr>
            </a:pPr>
            <a:r>
              <a:t>Catalog correction: the source and docs now converge on 82 workflow agents, 57 wrapped chat-agent tools, 20 core Python tools, 12 ACPX/Skill tools, and 89 total Multi-Turn tools.</a:t>
            </a:r>
          </a:p>
          <a:p>
            <a:pPr>
              <a:spcAft>
                <a:spcPts val="400"/>
              </a:spcAft>
              <a:defRPr sz="1100">
                <a:solidFill>
                  <a:srgbClr val="B4BAAE"/>
                </a:solidFill>
                <a:latin typeface="Aptos"/>
              </a:defRPr>
            </a:pPr>
            <a:r>
              <a:t>External MCP maintenance: `external_mcp_manager.py` and `external_mcps.json` were cleaned and tightened, while MCP Doctor now lists every active external MCP instead of just the first one.</a:t>
            </a:r>
          </a:p>
          <a:p>
            <a:pPr>
              <a:spcAft>
                <a:spcPts val="400"/>
              </a:spcAft>
              <a:defRPr sz="1100">
                <a:solidFill>
                  <a:srgbClr val="B4BAAE"/>
                </a:solidFill>
                <a:latin typeface="Aptos"/>
              </a:defRPr>
            </a:pPr>
            <a:r>
              <a:t>Unrealer and prompt assets: Unrealer parameter handling was corrected and the new Unreal game-demo prompt wave was seeded through migrations.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`0145` and `0146` seed and update the Create Superuser wizard prompt path.</a:t>
            </a:r>
          </a:p>
          <a:p>
            <a:pPr>
              <a:spcAft>
                <a:spcPts val="400"/>
              </a:spcAft>
              <a:defRPr sz="1200">
                <a:solidFill>
                  <a:srgbClr val="B4BAAE"/>
                </a:solidFill>
                <a:latin typeface="Aptos"/>
              </a:defRPr>
            </a:pPr>
            <a:r>
              <a:t>`0147` adds Unreal game-demo prompt seeds so Unrealer has a richer guided showcase.</a:t>
            </a:r>
          </a:p>
          <a:p>
            <a:pPr>
              <a:spcAft>
                <a:spcPts val="400"/>
              </a:spcAft>
              <a:defRPr sz="1200">
                <a:solidFill>
                  <a:srgbClr val="B4BAAE"/>
                </a:solidFill>
                <a:latin typeface="Aptos"/>
              </a:defRPr>
            </a:pPr>
            <a:r>
              <a:t>`test_chat_history_window.py` and `test_createsuperuser_wizard.py` cover context-window and wizard behavior.</a:t>
            </a:r>
          </a:p>
          <a:p>
            <a:pPr>
              <a:spcAft>
                <a:spcPts val="400"/>
              </a:spcAft>
              <a:defRPr sz="1200">
                <a:solidFill>
                  <a:srgbClr val="B4BAAE"/>
                </a:solidFill>
                <a:latin typeface="Aptos"/>
              </a:defRPr>
            </a:pPr>
            <a:r>
              <a:t>`external_mcps.json`, External MCP UI files, tools, and prompt templates were cleaned or retuned alongside README/Book updates.</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--noreload`.</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Recent assets worth calling out explicitly now span several release waves: onboarding screenshots `agent/images/MenuConfig.jpg`, `agent/images/ConfigureModels.jpg`, and `agent/images/ACPXKeysConfigureWizard.jpg`; the External MCP + MCP Doctor implementation files; data-preserving updater files; numpy/OpenCV build checks; deterministic file-agent directories; and the ESPHomer smart-home firmware tree.</a:t>
            </a:r>
          </a:p>
          <a:p>
            <a:pPr>
              <a:spcAft>
                <a:spcPts val="400"/>
              </a:spcAft>
              <a:defRPr sz="900">
                <a:solidFill>
                  <a:srgbClr val="B4BAAE"/>
                </a:solidFill>
                <a:latin typeface="Aptos"/>
              </a:defRPr>
            </a:pPr>
            <a:r>
              <a:t>The current `v1.26.5` wave adds or updates concrete assets too: `LICENSE` now reflects MIT adoption, `agent/external_mcp_manager.py` and `agent/external_mcps.json` carry the External MCP cleanup, `agent/agents/mcp_doctor/mcp_doctor.py` handles active-server enumeration, and the `0145`-`0147` migrations seed Create Superuser wizard and Unreal game-demo prompts.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Markdown, YAML, and Python, which the dossier’s language tables and complete repository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82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telegramer, telegramrx, teletlamatini, whatsapper, whatstlamatini</a:t>
            </a:r>
          </a:p>
          <a:p>
            <a:pPr>
              <a:spcAft>
                <a:spcPts val="400"/>
              </a:spcAft>
              <a:defRPr sz="1300">
                <a:solidFill>
                  <a:srgbClr val="B4BAAE"/>
                </a:solidFill>
                <a:latin typeface="Aptos"/>
              </a:defRPr>
            </a:pPr>
            <a:r>
              <a:t>Security and media: kyber_keygen, kyber_cipher, kyber_decipher, image_interpreter,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82</a:t>
            </a:r>
          </a:p>
          <a:p>
            <a:pPr>
              <a:spcAft>
                <a:spcPts val="400"/>
              </a:spcAft>
              <a:defRPr sz="1500">
                <a:solidFill>
                  <a:srgbClr val="B4BAAE"/>
                </a:solidFill>
                <a:latin typeface="Aptos"/>
              </a:defRPr>
            </a:pPr>
            <a:r>
              <a:t>Description rows in `agents_descriptions.md`: 82</a:t>
            </a:r>
          </a:p>
          <a:p>
            <a:pPr>
              <a:spcAft>
                <a:spcPts val="400"/>
              </a:spcAft>
              <a:defRPr sz="1500">
                <a:solidFill>
                  <a:srgbClr val="B4BAAE"/>
                </a:solidFill>
                <a:latin typeface="Aptos"/>
              </a:defRPr>
            </a:pPr>
            <a:r>
              <a:t>This dossier reconciles README and Book wording back to the same 82-agent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82 workflow agents, 89 Multi-Turn tools, 12 ACPX tools, and 27 skills.</a:t>
            </a:r>
          </a:p>
          <a:p>
            <a:pPr>
              <a:spcAft>
                <a:spcPts val="400"/>
              </a:spcAft>
              <a:defRPr sz="1000">
                <a:solidFill>
                  <a:srgbClr val="B4BAAE"/>
                </a:solidFill>
                <a:latin typeface="Aptos"/>
              </a:defRPr>
            </a:pPr>
            <a:r>
              <a:t>Source inspection confirms the total: 57 distinct wrapped chat-agent tools bound from `chat_agent_registry.py`, which combines with 20 core Python tools and 12 ACPX/Skill tools for 89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and the newer MCP Doctor onboarding specialist that accompanies the External MCP universal client release.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82-agent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
        <p:nvSpPr>
          <p:cNvPr id="14" name="TextBox 13"/>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`kimi-k2.6:cloud`,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 interpretation can run through Claude-backed cloud paths or Qwen/Ollama-backed local paths, and remote Ollama can be protected with a bearer token.</a:t>
            </a:r>
          </a:p>
        </p:txBody>
      </p:sp>
      <p:sp>
        <p:nvSpPr>
          <p:cNvPr id="13" name="TextBox 12"/>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3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300">
                <a:solidFill>
                  <a:srgbClr val="B4BAAE"/>
                </a:solidFill>
                <a:latin typeface="Aptos"/>
              </a:defRPr>
            </a:pPr>
            <a:r>
              <a:t>Those readability rules remain in force in the current documentation set, and the current `v1.26.0` release state keeps the version badge, runtime surfaces, self-knowledge wording, STM32er/ESP32er demo prompts, and operator handbook aligned.</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1.26.5 | build: 1.26.5</a:t>
            </a:r>
          </a:p>
        </p:txBody>
      </p:sp>
      <p:sp>
        <p:nvSpPr>
          <p:cNvPr id="18" name="TextBox 17"/>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kimi-k2.6:cloud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
        <p:nvSpPr>
          <p:cNvPr id="14" name="TextBox 13"/>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kimi-k2.6:cloud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
        <p:nvSpPr>
          <p:cNvPr id="30" name="TextBox 2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
        <p:nvSpPr>
          <p:cNvPr id="13" name="TextBox 12"/>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744</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82</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147</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30</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8</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ba21c6d - Update to 1.26.5 in every docs, by angelahack1</a:t>
            </a:r>
          </a:p>
          <a:p>
            <a:pPr>
              <a:spcAft>
                <a:spcPts val="400"/>
              </a:spcAft>
              <a:defRPr sz="1500">
                <a:solidFill>
                  <a:srgbClr val="B4BAAE"/>
                </a:solidFill>
                <a:latin typeface="Aptos"/>
              </a:defRPr>
            </a:pPr>
            <a:r>
              <a:t>Resolved version: 1.26.5 (git)</a:t>
            </a:r>
          </a:p>
          <a:p>
            <a:pPr>
              <a:spcAft>
                <a:spcPts val="400"/>
              </a:spcAft>
              <a:defRPr sz="1500">
                <a:solidFill>
                  <a:srgbClr val="B4BAAE"/>
                </a:solidFill>
                <a:latin typeface="Aptos"/>
              </a:defRPr>
            </a:pPr>
            <a:r>
              <a:t>Generated on June 20, 2026 09:20 PM UTC-0600</a:t>
            </a:r>
          </a:p>
          <a:p>
            <a:pPr>
              <a:spcAft>
                <a:spcPts val="400"/>
              </a:spcAft>
              <a:defRPr sz="1500">
                <a:solidFill>
                  <a:srgbClr val="B4BAAE"/>
                </a:solidFill>
                <a:latin typeface="Aptos"/>
              </a:defRPr>
            </a:pPr>
            <a:r>
              <a:t>Inventory scope: 744 files = 744 tracked + 0 git-unignored working-tree additions</a:t>
            </a:r>
          </a:p>
          <a:p>
            <a:pPr>
              <a:spcAft>
                <a:spcPts val="400"/>
              </a:spcAft>
              <a:defRPr sz="1500">
                <a:solidFill>
                  <a:srgbClr val="B4BAAE"/>
                </a:solidFill>
                <a:latin typeface="Aptos"/>
              </a:defRPr>
            </a:pPr>
            <a:r>
              <a:t>Multi-Turn tools: 89; wrapped chat-agent tools: 57; skills: 27</a:t>
            </a:r>
          </a:p>
          <a:p>
            <a:pPr>
              <a:spcAft>
                <a:spcPts val="400"/>
              </a:spcAft>
              <a:defRPr sz="1500">
                <a:solidFill>
                  <a:srgbClr val="B4BAAE"/>
                </a:solidFill>
                <a:latin typeface="Aptos"/>
              </a:defRPr>
            </a:pPr>
            <a:r>
              <a:t>Python requirements: 79; authoritative agent-description rows: 82</a:t>
            </a:r>
          </a:p>
          <a:p>
            <a:pPr>
              <a:spcAft>
                <a:spcPts val="400"/>
              </a:spcAft>
              <a:defRPr sz="1500">
                <a:solidFill>
                  <a:srgbClr val="B4BAAE"/>
                </a:solidFill>
                <a:latin typeface="Aptos"/>
              </a:defRPr>
            </a:pPr>
            <a:r>
              <a:t>Binary or asset inventory files skipped from line count: 26</a:t>
            </a:r>
          </a:p>
        </p:txBody>
      </p:sp>
      <p:sp>
        <p:nvSpPr>
          <p:cNvPr id="31" name="TextBox 30"/>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090ad13 on 2026-06-19</a:t>
            </a:r>
          </a:p>
          <a:p>
            <a:pPr>
              <a:spcAft>
                <a:spcPts val="400"/>
              </a:spcAft>
              <a:defRPr sz="1300">
                <a:solidFill>
                  <a:srgbClr val="B4BAAE"/>
                </a:solidFill>
                <a:latin typeface="Aptos"/>
              </a:defRPr>
            </a:pPr>
            <a:r>
              <a:t>Updating visual assets, by angelahack1</a:t>
            </a:r>
          </a:p>
          <a:p>
            <a:pPr>
              <a:spcAft>
                <a:spcPts val="400"/>
              </a:spcAft>
              <a:defRPr sz="1300">
                <a:solidFill>
                  <a:srgbClr val="B4BAAE"/>
                </a:solidFill>
                <a:latin typeface="Aptos"/>
              </a:defRPr>
            </a:pPr>
            <a:r>
              <a:t>Commits since then: 18</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Since the last committed PDF/PPTX refresh, the repository advanced to `v1.26.5`: the handbook and README now carry the MIT license identity, Discord invite, corrected 82-agent catalog, and the updated External MCP/MCP Doctor/Unrealer maintenance story.</a:t>
            </a:r>
          </a:p>
          <a:p>
            <a:pPr>
              <a:spcAft>
                <a:spcPts val="400"/>
              </a:spcAft>
              <a:defRPr sz="900">
                <a:solidFill>
                  <a:srgbClr val="B4BAAE"/>
                </a:solidFill>
                <a:latin typeface="Aptos"/>
              </a:defRPr>
            </a:pPr>
            <a:r>
              <a:t>The post-baseline implementation delta includes improved External MCP input/catalog handling, MCP Doctor enumeration across all active external MCPs, Unrealer parameterization fixes, seeded Unreal game-demo prompts, Create Superuser wizard prompt migrations, FlowCreation backslash behavior fixes, Step-by-Step polish, and context-bloat/chat-history windowing work.</a:t>
            </a:r>
          </a:p>
          <a:p>
            <a:pPr>
              <a:spcAft>
                <a:spcPts val="400"/>
              </a:spcAft>
              <a:defRPr sz="900">
                <a:solidFill>
                  <a:srgbClr val="B4BAAE"/>
                </a:solidFill>
                <a:latin typeface="Aptos"/>
              </a:defRPr>
            </a:pPr>
            <a:r>
              <a:t>The broader `v1.26.x` line still centers on the External MCPs universal client: four transports, the MCP Doctor agent, full-surface Multi-Turn tool binding, and Step-by-Step setup layered on top of the ESPHomer firmware lane.</a:t>
            </a:r>
          </a:p>
          <a:p>
            <a:pPr>
              <a:spcAft>
                <a:spcPts val="400"/>
              </a:spcAft>
              <a:defRPr sz="9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a:p>
            <a:pPr>
              <a:spcAft>
                <a:spcPts val="400"/>
              </a:spcAft>
              <a:defRPr sz="900">
                <a:solidFill>
                  <a:srgbClr val="B4BAAE"/>
                </a:solidFill>
                <a:latin typeface="Aptos"/>
              </a:defRPr>
            </a:pPr>
            <a:r>
              <a:t>The latest versioning/documentation commits move the source-of-truth product story to the `v1.26.5` line: the External MCPs universal client remains the headline runtime capability, and the new Agent-directory disclaimer now makes the user-jurisdiction boundary explicit beside the current 82-agent / 89-tool runtime surface.</a:t>
            </a:r>
          </a:p>
          <a:p>
            <a:pPr>
              <a:spcAft>
                <a:spcPts val="400"/>
              </a:spcAft>
              <a:defRPr sz="900">
                <a:solidFill>
                  <a:srgbClr val="B4BAAE"/>
                </a:solidFill>
                <a:latin typeface="Aptos"/>
              </a:defRPr>
            </a:pPr>
            <a:r>
              <a:t>Unrealer advanced substantially too: the docs now point at the public `XAIHT/XaihtUnrealEngineMCP` fork and the full 53-command Unreal MCP surface, with new demos and better parameter-path guidance.</a:t>
            </a:r>
          </a:p>
          <a:p>
            <a:pPr>
              <a:spcAft>
                <a:spcPts val="400"/>
              </a:spcAft>
              <a:defRPr sz="900">
                <a:solidFill>
                  <a:srgbClr val="B4BAAE"/>
                </a:solidFill>
                <a:latin typeface="Aptos"/>
              </a:defRPr>
            </a:pPr>
            <a:r>
              <a:t>The markdown handbooks themselves were revised during that span, so this dossier refresh is carrying forward not only code/runtime changes but also the corrected operator-language and release-story wording.</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FROM V1.17.X THROUGH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Globber / Grepper / Editor (v1.22.0 wave): a deterministic file-discovery/search/edit trio — find files by pattern, search them by regex, and make exact in-place replacements without dropping to shell `dir` / `findstr` / `sed` workflows.</a:t>
            </a:r>
          </a:p>
          <a:p>
            <a:pPr>
              <a:spcAft>
                <a:spcPts val="400"/>
              </a:spcAft>
              <a:defRPr sz="900">
                <a:solidFill>
                  <a:srgbClr val="B4BAAE"/>
                </a:solidFill>
                <a:latin typeface="Aptos"/>
              </a:defRPr>
            </a:pPr>
            <a:r>
              <a:t>ESPHomer (prior firmware lane, now folded into v1.26.0): the ESPHome bridge for YAML-authored smart-home devices — zero-config bootstrap, `new_config`, validation, compile, USB/OTA upload, bounded logs, and a bundled sample `tlamatini-light.yaml` baseline.</a:t>
            </a:r>
          </a:p>
          <a:p>
            <a:pPr>
              <a:spcAft>
                <a:spcPts val="400"/>
              </a:spcAft>
              <a:defRPr sz="900">
                <a:solidFill>
                  <a:srgbClr val="B4BAAE"/>
                </a:solidFill>
                <a:latin typeface="Aptos"/>
              </a:defRPr>
            </a:pPr>
            <a:r>
              <a:t>Blenderer (introduced in v1.20.0): the live Blender bridge over the official MCP add-on socket, so Tlamatini can inspect scenes, mutate geometry/materials, run raw code, and trigger renders from chat or canvas.</a:t>
            </a:r>
          </a:p>
          <a:p>
            <a:pPr>
              <a:spcAft>
                <a:spcPts val="400"/>
              </a:spcAft>
              <a:defRPr sz="900">
                <a:solidFill>
                  <a:srgbClr val="B4BAAE"/>
                </a:solidFill>
                <a:latin typeface="Aptos"/>
              </a:defRPr>
            </a:pPr>
            <a:r>
              <a:t>Talker (text-to-speech): SPEAKS input_text aloud via an Ollama neural TTS model (default Orpheus-3b-FT), SNAC-decoded to a 24 kHz WAV — FEMALE-VOICE-ONLY by design (a male voice is refused, never substituted); needs snac+torch (CPU is fine) else degrades to tokens_only.</a:t>
            </a:r>
          </a:p>
          <a:p>
            <a:pPr>
              <a:spcAft>
                <a:spcPts val="400"/>
              </a:spcAft>
              <a:defRPr sz="900">
                <a:solidFill>
                  <a:srgbClr val="B4BAAE"/>
                </a:solidFill>
                <a:latin typeface="Aptos"/>
              </a:defRPr>
            </a:pPr>
            <a:r>
              <a:t>Whisperer (speech-to-text): records the mic ITSELF (no Recorder dep, 30 s default) or transcribes a file, via faster-whisper LOCALLY — NVIDIA-GPU auto-detect with an ALWAYS-present CPU fallback — or cloud Groq/OpenAI; Ollama can only tidy the finished transcript.</a:t>
            </a:r>
          </a:p>
          <a:p>
            <a:pPr>
              <a:spcAft>
                <a:spcPts val="400"/>
              </a:spcAft>
              <a:defRPr sz="900">
                <a:solidFill>
                  <a:srgbClr val="B4BAAE"/>
                </a:solidFill>
                <a:latin typeface="Aptos"/>
              </a:defRPr>
            </a:pPr>
            <a:r>
              <a:t>Both audio agents now light a zero-latency console REC indicator (blinking dot + live VU bar) driven by the audio-stream callback — ON within ~20 ms of real samples, OFF the instant the stream stops; the agent reveals its own console even when spawned headless.</a:t>
            </a:r>
          </a:p>
          <a:p>
            <a:pPr>
              <a:spcAft>
                <a:spcPts val="400"/>
              </a:spcAft>
              <a:defRPr sz="900">
                <a:solidFill>
                  <a:srgbClr val="B4BAAE"/>
                </a:solidFill>
                <a:latin typeface="Aptos"/>
              </a:defRPr>
            </a:pPr>
            <a:r>
              <a:t>Camcorder + Recorder (capture): webcam photo/video via OpenCV and microphone WAV via sounddevice; AudioPlayer + VideoPlayer (playback): file to speakers / to a chosen display — the media-I/O family (screen / camera-in / mic-in / speakers-out / screen-out).</a:t>
            </a:r>
          </a:p>
          <a:p>
            <a:pPr>
              <a:spcAft>
                <a:spcPts val="400"/>
              </a:spcAft>
              <a:defRPr sz="900">
                <a:solidFill>
                  <a:srgbClr val="B4BAAE"/>
                </a:solidFill>
                <a:latin typeface="Aptos"/>
              </a:defRPr>
            </a:pPr>
            <a:r>
              <a:t>The capture/playback/voice family is observational/output, so it stays out of the Exec Report; each ships on the canvas and as a wrapped Multi-Turn tool. Arduiner adds a direct arduino-cli firmware bridge, and ESPHomer now adds the smart-home YAML/device lane on top of STM32er and ESP32er.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Version identity (v1.26.5): the latest tag now resolves the product to `1.26.5` across VERSIONING.md, release-folder naming, the About dialog story, startup banner wording, and `/agent/version/` expectations; v1.26.0's defining feature is the External MCPs universal client (plus the MCP Doctor diagnostic agent, full-surface Multi-Turn tool binding, and Step-by-Step setup mode).</a:t>
            </a:r>
          </a:p>
          <a:p>
            <a:pPr>
              <a:spcAft>
                <a:spcPts val="400"/>
              </a:spcAft>
              <a:defRPr sz="900">
                <a:solidFill>
                  <a:srgbClr val="B4BAAE"/>
                </a:solidFill>
                <a:latin typeface="Aptos"/>
              </a:defRPr>
            </a:pPr>
            <a:r>
              <a:t>Visual/media asset refresh (v1.26.0 window): `TlamatiniAbout.png` replaces the earlier JPEG and `TlamatiniAndKyber.mp4` is now part of the shipped repository assets, so the dossier inventory and appendices need to count those new binaries.</a:t>
            </a:r>
          </a:p>
          <a:p>
            <a:pPr>
              <a:spcAft>
                <a:spcPts val="400"/>
              </a:spcAft>
              <a:defRPr sz="900">
                <a:solidFill>
                  <a:srgbClr val="B4BAAE"/>
                </a:solidFill>
                <a:latin typeface="Aptos"/>
              </a:defRPr>
            </a:pPr>
            <a:r>
              <a:t>Self-update foundation (v1.23.0 carried into v1.26.0): packaged installs preserve the user's DB across the swap — `apply_update.ps1` stages it through `DB/ToLoad/` and the next launch migrates it back into the new build.</a:t>
            </a:r>
          </a:p>
          <a:p>
            <a:pPr>
              <a:spcAft>
                <a:spcPts val="400"/>
              </a:spcAft>
              <a:defRPr sz="900">
                <a:solidFill>
                  <a:srgbClr val="B4BAAE"/>
                </a:solidFill>
                <a:latin typeface="Aptos"/>
              </a:defRPr>
            </a:pPr>
            <a:r>
              <a:t>Frozen-build hardening (v1.23.0 carried into v1.26.0): numpy and OpenCV are embedded in both bundled Python runtimes and `build.py` aborts if either import is missing, closing the last media-agent dependency gap in installed builds.</a:t>
            </a:r>
          </a:p>
          <a:p>
            <a:pPr>
              <a:spcAft>
                <a:spcPts val="400"/>
              </a:spcAft>
              <a:defRPr sz="900">
                <a:solidFill>
                  <a:srgbClr val="B4BAAE"/>
                </a:solidFill>
                <a:latin typeface="Aptos"/>
              </a:defRPr>
            </a:pPr>
            <a:r>
              <a:t>flow-making skill: turns a plain objective into a canvas-loadable .flw by driving the FlowCreator engine, so chat can build runnable flows without opening the designer.</a:t>
            </a:r>
          </a:p>
          <a:p>
            <a:pPr>
              <a:spcAft>
                <a:spcPts val="400"/>
              </a:spcAft>
              <a:defRPr sz="900">
                <a:solidFill>
                  <a:srgbClr val="B4BAAE"/>
                </a:solidFill>
                <a:latin typeface="Aptos"/>
              </a:defRPr>
            </a:pPr>
            <a:r>
              <a:t>Temp/Templates policy: every transient file stays under &lt;app&gt;/Temp and every scaffolded firmware/engine project under &lt;app&gt;/Templates (never C:/Temp or %TEMP%), pinned before Django starts and taught to the LLM as Rules 15/16.</a:t>
            </a:r>
          </a:p>
          <a:p>
            <a:pPr>
              <a:spcAft>
                <a:spcPts val="400"/>
              </a:spcAft>
              <a:defRPr sz="900">
                <a:solidFill>
                  <a:srgbClr val="B4BAAE"/>
                </a:solidFill>
                <a:latin typeface="Aptos"/>
              </a:defRPr>
            </a:pPr>
            <a:r>
              <a:t>FlowHypervisor monitoring now covers every agent — ESP32er, Arduiner, ESPHomer, Camcorder, and Recorder were added to its categorization, timing, startup markers, and do-not-flag rules, with first-build-downloads-a-large-toolchain caveats where needed.</a:t>
            </a:r>
          </a:p>
          <a:p>
            <a:pPr>
              <a:spcAft>
                <a:spcPts val="400"/>
              </a:spcAft>
              <a:defRPr sz="900">
                <a:solidFill>
                  <a:srgbClr val="B4BAAE"/>
                </a:solidFill>
                <a:latin typeface="Aptos"/>
              </a:defRPr>
            </a:pPr>
            <a:r>
              <a:t>Catalog now stands at 82 workflow agents and 89 Multi-Turn tools (57 wrapped chat-agent + 12 ACPX/Skill + 20 core), with 27 skills.</a:t>
            </a:r>
          </a:p>
        </p:txBody>
      </p:sp>
      <p:sp>
        <p:nvSpPr>
          <p:cNvPr id="17" name="TextBox 16"/>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153,486</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210,939</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406     109,904    154,342  71.6%
Markdown                 148      17,461     22,061  11.4%
JavaScript                30      15,182     18,969   9.9%
CSS                        8       5,020      6,289   3.3%
YAML                      88       1,777      4,486   1.2%
HTML                       4         961        979   0.6%
Prompt template            2         883        995   0.6%
PowerShell                 6         672        987   0.4%
JSON                       9         551        551   0.4%
JavaScript module          1         412        481   0.3%
Other text                 7         376        455   0.2%
Text                       7         252        282   0.2%
Protocol Buffers           1          20         33   0.0%
Batch                      1          15         29   0.0%</a:t>
            </a:r>
          </a:p>
        </p:txBody>
      </p:sp>
      <p:sp>
        <p:nvSpPr>
          <p:cNvPr id="19" name="TextBox 18"/>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8,132  11,824
Tlamatini/agent/tests.py                                Python         5,393   6,979
Tlamatini/agent/doc_generation/complete_project_docs.py Python         2,834   3,178
Tlamatini/agent/tools.py                                Python         2,823   4,136
BookOfTlamatini.md                                      Markdown       2,406   3,415
Tlamatini/agent/agents/flowcreator/agentic_skill.md     Markdown       2,236   2,467
...ini/agent/static/agent/css/agentic_control_panel.css CSS            2,014   2,678
Tlamatini/agent/external_mcp_manager.py                 Python         1,810   2,204
Tlamatini/agent/static/agent/css/agent_page.css         CSS            1,588   1,957
Tlamatini/agent/chat_agent_registry.py                  Python         1,516   1,544
Tlamatini/agent/static/agent/js/agent_page_chat.js      JavaScript     1,471   2,009
Tlamatini/agent/static/agent/js/acp-agent-connectors.js JavaScript     1,469   1,629
Tlamatini/agent/static/agent/js/agent_page_init.js      JavaScript     1,460   1,713
Tlamatini/agent/static/agent/js/acp-canvas-core.js      JavaScript     1,365   1,675</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live Git window now lands on `v1.26.5`: README, BookOfTlamatini, and the version surfaces identify the project as 1.26.5, with the license moved to MIT, the public Discord invite added, the live catalog corrected to 82 workflow agents, and the External MCP/MCP Doctor/Unrealer maintenance wave folded into the documentation.</a:t>
            </a:r>
          </a:p>
          <a:p>
            <a:pPr>
              <a:spcAft>
                <a:spcPts val="400"/>
              </a:spcAft>
              <a:defRPr sz="900">
                <a:solidFill>
                  <a:srgbClr val="B4BAAE"/>
                </a:solidFill>
                <a:latin typeface="Aptos"/>
              </a:defRPr>
            </a:pPr>
            <a:r>
              <a:t>The `v1.26.5` code changes are maintenance-heavy but operator-visible: External MCP input handling and catalog cleanup were improved, MCP Doctor now enumerates all active external MCPs instead of stopping at the first, Unrealer parameterization was fixed, and a new Unreal game-creation prompt was seeded for guided demos.</a:t>
            </a:r>
          </a:p>
          <a:p>
            <a:pPr>
              <a:spcAft>
                <a:spcPts val="400"/>
              </a:spcAft>
              <a:defRPr sz="900">
                <a:solidFill>
                  <a:srgbClr val="B4BAAE"/>
                </a:solidFill>
                <a:latin typeface="Aptos"/>
              </a:defRPr>
            </a:pPr>
            <a:r>
              <a:t>The current Git window still carries the `v1.26.0` External MCP baseline forward: a config-driven universal client connects to external MCP servers over stdio, streamable HTTP, SSE, or WebSocket, with MCP Doctor diagnostics, full-surface Multi-Turn tool binding, and Step-by-Step setup layered on top of the earlier ESPHomer firmware lane.</a:t>
            </a:r>
          </a:p>
          <a:p>
            <a:pPr>
              <a:spcAft>
                <a:spcPts val="400"/>
              </a:spcAft>
              <a:defRPr sz="900">
                <a:solidFill>
                  <a:srgbClr val="B4BAAE"/>
                </a:solidFill>
                <a:latin typeface="Aptos"/>
              </a:defRPr>
            </a:pPr>
            <a:r>
              <a:t>The latest handbook pass on June 19, 2026 shifts the emphasis from release bragging to operator onboarding: BookOfTlamatini now opens with an easy-follow five-step setup path (install Tlamatini, install/sign in to Ollama, pull models, configure the app, start using Multi-Turn only when needed), and it adds first-run configuration screenshots plus a clearer local-vs-remote Ollama-token rule.</a:t>
            </a:r>
          </a:p>
          <a:p>
            <a:pPr>
              <a:spcAft>
                <a:spcPts val="400"/>
              </a:spcAft>
              <a:defRPr sz="900">
                <a:solidFill>
                  <a:srgbClr val="B4BAAE"/>
                </a:solidFill>
                <a:latin typeface="Aptos"/>
              </a:defRPr>
            </a:pPr>
            <a:r>
              <a:t>The documentation now carries a clear Agent-directory disclaimer: workflow agents under `Tlamatini/agent/agents/` are plain-Python user-jurisdiction code, so the user who enables, edits, configures, chains, or runs them is responsible for their security boundary, credentials, targets, and downstream effects.</a:t>
            </a:r>
          </a:p>
          <a:p>
            <a:pPr>
              <a:spcAft>
                <a:spcPts val="400"/>
              </a:spcAft>
              <a:defRPr sz="9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latest documentation pass aligns the handbook and source with the `v1.26.5` line, which matters here because the dossier must reflect the live MIT license, Discord community link, 82-agent / 89-tool inventory, and the Agent-directory responsibility boundary instead of older public badges or stale prose.</a:t>
            </a:r>
          </a:p>
          <a:p>
            <a:pPr>
              <a:spcAft>
                <a:spcPts val="400"/>
              </a:spcAft>
              <a:defRPr sz="900">
                <a:solidFill>
                  <a:srgbClr val="B4BAAE"/>
                </a:solidFill>
                <a:latin typeface="Aptos"/>
              </a:defRPr>
            </a:pPr>
            <a:r>
              <a:t>Unrealer kept growing across the same window: the docs now point at the public `XAIHT/XaihtUnrealEngineMCP` fork and the full 53-command, nine-category Unreal MCP surface it exposes to chat and canvas.</a:t>
            </a:r>
          </a:p>
          <a:p>
            <a:pPr>
              <a:spcAft>
                <a:spcPts val="400"/>
              </a:spcAft>
              <a:defRPr sz="900">
                <a:solidFill>
                  <a:srgbClr val="B4BAAE"/>
                </a:solidFill>
                <a:latin typeface="Aptos"/>
              </a:defRPr>
            </a:pPr>
            <a:r>
              <a:t>Unreal MCP support remains part of the broader platform story: the Unrealer agent, its chat-wrapped tool, canvas wiring, seeded prompts, and the direct TCP bridge into a live Unreal Engine 5 editor.</a:t>
            </a:r>
          </a:p>
          <a:p>
            <a:pPr>
              <a:spcAft>
                <a:spcPts val="400"/>
              </a:spcAft>
              <a:defRPr sz="9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
        <p:nvSpPr>
          <p:cNvPr id="13" name="TextBox 12"/>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2026-06-20 | ba21c6d | Update to 1.26.5 in every docs, by angelahack1</a:t>
            </a:r>
          </a:p>
          <a:p>
            <a:pPr>
              <a:spcAft>
                <a:spcPts val="400"/>
              </a:spcAft>
              <a:defRPr sz="1200">
                <a:solidFill>
                  <a:srgbClr val="B4BAAE"/>
                </a:solidFill>
                <a:latin typeface="Aptos"/>
              </a:defRPr>
            </a:pPr>
            <a:r>
              <a:t>2026-06-20 | 06a0087 | Some new Unrealer game creation prompt!!!, by Tlamatini's-AutoBot.</a:t>
            </a:r>
          </a:p>
          <a:p>
            <a:pPr>
              <a:spcAft>
                <a:spcPts val="400"/>
              </a:spcAft>
              <a:defRPr sz="1200">
                <a:solidFill>
                  <a:srgbClr val="B4BAAE"/>
                </a:solidFill>
                <a:latin typeface="Aptos"/>
              </a:defRPr>
            </a:pPr>
            <a:r>
              <a:t>2026-06-20 | 2002aab | Fix the unrealer parametrization 2, by angelahack1</a:t>
            </a:r>
          </a:p>
          <a:p>
            <a:pPr>
              <a:spcAft>
                <a:spcPts val="400"/>
              </a:spcAft>
              <a:defRPr sz="1200">
                <a:solidFill>
                  <a:srgbClr val="B4BAAE"/>
                </a:solidFill>
                <a:latin typeface="Aptos"/>
              </a:defRPr>
            </a:pPr>
            <a:r>
              <a:t>2026-06-20 | 6515532 | Fix the unrealer parametrization, by angelahack1</a:t>
            </a:r>
          </a:p>
          <a:p>
            <a:pPr>
              <a:spcAft>
                <a:spcPts val="400"/>
              </a:spcAft>
              <a:defRPr sz="1200">
                <a:solidFill>
                  <a:srgbClr val="B4BAAE"/>
                </a:solidFill>
                <a:latin typeface="Aptos"/>
              </a:defRPr>
            </a:pPr>
            <a:r>
              <a:t>2026-06-20 | d550369 | Fix on tools wrapper for Unrelaer, by angelahack1</a:t>
            </a:r>
          </a:p>
          <a:p>
            <a:pPr>
              <a:spcAft>
                <a:spcPts val="400"/>
              </a:spcAft>
              <a:defRPr sz="1200">
                <a:solidFill>
                  <a:srgbClr val="B4BAAE"/>
                </a:solidFill>
                <a:latin typeface="Aptos"/>
              </a:defRPr>
            </a:pPr>
            <a:r>
              <a:t>2026-06-20 | 2f94dbe | Narrowing the files to open in agent_page.html, by angelahack1</a:t>
            </a:r>
          </a:p>
        </p:txBody>
      </p:sp>
      <p:sp>
        <p:nvSpPr>
          <p:cNvPr id="13" name="TextBox 12"/>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2/3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2026-06-20 | bb7cb55 | Fixing the format config keys, by angelahack1</a:t>
            </a:r>
          </a:p>
          <a:p>
            <a:pPr>
              <a:spcAft>
                <a:spcPts val="400"/>
              </a:spcAft>
              <a:defRPr sz="1200">
                <a:solidFill>
                  <a:srgbClr val="B4BAAE"/>
                </a:solidFill>
                <a:latin typeface="Aptos"/>
              </a:defRPr>
            </a:pPr>
            <a:r>
              <a:t>2026-06-20 | ed96dd0 | Improved the External MCP income, by angelahack1</a:t>
            </a:r>
          </a:p>
          <a:p>
            <a:pPr>
              <a:spcAft>
                <a:spcPts val="400"/>
              </a:spcAft>
              <a:defRPr sz="1200">
                <a:solidFill>
                  <a:srgbClr val="B4BAAE"/>
                </a:solidFill>
                <a:latin typeface="Aptos"/>
              </a:defRPr>
            </a:pPr>
            <a:r>
              <a:t>2026-06-20 | e5b4985 | Swapping to MIT License for Maximal adoption, by angelahack1</a:t>
            </a:r>
          </a:p>
          <a:p>
            <a:pPr>
              <a:spcAft>
                <a:spcPts val="400"/>
              </a:spcAft>
              <a:defRPr sz="1200">
                <a:solidFill>
                  <a:srgbClr val="B4BAAE"/>
                </a:solidFill>
                <a:latin typeface="Aptos"/>
              </a:defRPr>
            </a:pPr>
            <a:r>
              <a:t>2026-06-20 | 5eeb53f | Fixing MCP-Doctor to list all th active external mcps, not just the first, by angelahack1</a:t>
            </a:r>
          </a:p>
          <a:p>
            <a:pPr>
              <a:spcAft>
                <a:spcPts val="400"/>
              </a:spcAft>
              <a:defRPr sz="1200">
                <a:solidFill>
                  <a:srgbClr val="B4BAAE"/>
                </a:solidFill>
                <a:latin typeface="Aptos"/>
              </a:defRPr>
            </a:pPr>
            <a:r>
              <a:t>2026-06-20 | d03d2f6 | Documenting recent fexs, of backslash bahaviour on FlowCreation from agent_page.html, by Tlamatini's-AutoBot.</a:t>
            </a:r>
          </a:p>
          <a:p>
            <a:pPr>
              <a:spcAft>
                <a:spcPts val="400"/>
              </a:spcAft>
              <a:defRPr sz="1200">
                <a:solidFill>
                  <a:srgbClr val="B4BAAE"/>
                </a:solidFill>
                <a:latin typeface="Aptos"/>
              </a:defRPr>
            </a:pPr>
            <a:r>
              <a:t>2026-06-20 | fede578 | Fixing backslash bahaviour on FlowCreation from agent_page.html, by Tlamatini's-AutoBot.</a:t>
            </a:r>
          </a:p>
        </p:txBody>
      </p:sp>
      <p:sp>
        <p:nvSpPr>
          <p:cNvPr id="13" name="TextBox 12"/>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3/3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2026-06-20 | a6203f9 | Fixing the drift of number of agents, by angelahack1.</a:t>
            </a:r>
          </a:p>
          <a:p>
            <a:pPr>
              <a:spcAft>
                <a:spcPts val="400"/>
              </a:spcAft>
              <a:defRPr sz="1200">
                <a:solidFill>
                  <a:srgbClr val="B4BAAE"/>
                </a:solidFill>
                <a:latin typeface="Aptos"/>
              </a:defRPr>
            </a:pPr>
            <a:r>
              <a:t>2026-06-20 | ec79710 | Erasing som external MCPs trash from external json, by angelahack1</a:t>
            </a:r>
          </a:p>
          <a:p>
            <a:pPr>
              <a:spcAft>
                <a:spcPts val="400"/>
              </a:spcAft>
              <a:defRPr sz="1200">
                <a:solidFill>
                  <a:srgbClr val="B4BAAE"/>
                </a:solidFill>
                <a:latin typeface="Aptos"/>
              </a:defRPr>
            </a:pPr>
            <a:r>
              <a:t>2026-06-20 | a286652 | Adding our discord invite, by angelahack1</a:t>
            </a:r>
          </a:p>
          <a:p>
            <a:pPr>
              <a:spcAft>
                <a:spcPts val="400"/>
              </a:spcAft>
              <a:defRPr sz="1200">
                <a:solidFill>
                  <a:srgbClr val="B4BAAE"/>
                </a:solidFill>
                <a:latin typeface="Aptos"/>
              </a:defRPr>
            </a:pPr>
            <a:r>
              <a:t>2026-06-19 | 83c6e0a | Fixing possible context bloat, by angelahack1</a:t>
            </a:r>
          </a:p>
          <a:p>
            <a:pPr>
              <a:spcAft>
                <a:spcPts val="400"/>
              </a:spcAft>
              <a:defRPr sz="1200">
                <a:solidFill>
                  <a:srgbClr val="B4BAAE"/>
                </a:solidFill>
                <a:latin typeface="Aptos"/>
              </a:defRPr>
            </a:pPr>
            <a:r>
              <a:t>2026-06-19 | a8502f7 | Patching the Step-by-Step mechanism, by angelahack1</a:t>
            </a:r>
          </a:p>
          <a:p>
            <a:pPr>
              <a:spcAft>
                <a:spcPts val="400"/>
              </a:spcAft>
              <a:defRPr sz="1200">
                <a:solidFill>
                  <a:srgbClr val="B4BAAE"/>
                </a:solidFill>
                <a:latin typeface="Aptos"/>
              </a:defRPr>
            </a:pPr>
            <a:r>
              <a:t>2026-06-19 | 1df0ef9 | Just making sure some garbage is thrown, by angelahack1</a:t>
            </a:r>
          </a:p>
        </p:txBody>
      </p:sp>
      <p:sp>
        <p:nvSpPr>
          <p:cNvPr id="13" name="TextBox 12"/>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2026-06-20 | ba21c6d | Update to 1.26.5 in every docs, by angelahack1</a:t>
            </a:r>
          </a:p>
          <a:p>
            <a:pPr>
              <a:spcAft>
                <a:spcPts val="400"/>
              </a:spcAft>
              <a:defRPr sz="1200">
                <a:solidFill>
                  <a:srgbClr val="B4BAAE"/>
                </a:solidFill>
                <a:latin typeface="Aptos"/>
              </a:defRPr>
            </a:pPr>
            <a:r>
              <a:t>2026-06-20 | 06a0087 | Some new Unrealer game creation prompt!!!, by Tlamatini's-AutoBot.</a:t>
            </a:r>
          </a:p>
          <a:p>
            <a:pPr>
              <a:spcAft>
                <a:spcPts val="400"/>
              </a:spcAft>
              <a:defRPr sz="1200">
                <a:solidFill>
                  <a:srgbClr val="B4BAAE"/>
                </a:solidFill>
                <a:latin typeface="Aptos"/>
              </a:defRPr>
            </a:pPr>
            <a:r>
              <a:t>2026-06-20 | 2002aab | Fix the unrealer parametrization 2, by angelahack1</a:t>
            </a:r>
          </a:p>
          <a:p>
            <a:pPr>
              <a:spcAft>
                <a:spcPts val="400"/>
              </a:spcAft>
              <a:defRPr sz="1200">
                <a:solidFill>
                  <a:srgbClr val="B4BAAE"/>
                </a:solidFill>
                <a:latin typeface="Aptos"/>
              </a:defRPr>
            </a:pPr>
            <a:r>
              <a:t>2026-06-20 | 6515532 | Fix the unrealer parametrization, by angelahack1</a:t>
            </a:r>
          </a:p>
          <a:p>
            <a:pPr>
              <a:spcAft>
                <a:spcPts val="400"/>
              </a:spcAft>
              <a:defRPr sz="1200">
                <a:solidFill>
                  <a:srgbClr val="B4BAAE"/>
                </a:solidFill>
                <a:latin typeface="Aptos"/>
              </a:defRPr>
            </a:pPr>
            <a:r>
              <a:t>2026-06-20 | d550369 | Fix on tools wrapper for Unrelaer, by angelahack1</a:t>
            </a:r>
          </a:p>
          <a:p>
            <a:pPr>
              <a:spcAft>
                <a:spcPts val="400"/>
              </a:spcAft>
              <a:defRPr sz="1200">
                <a:solidFill>
                  <a:srgbClr val="B4BAAE"/>
                </a:solidFill>
                <a:latin typeface="Aptos"/>
              </a:defRPr>
            </a:pPr>
            <a:r>
              <a:t>2026-06-20 | 2f94dbe | Narrowing the files to open in agent_page.html, by angelahack1</a:t>
            </a:r>
          </a:p>
        </p:txBody>
      </p:sp>
      <p:sp>
        <p:nvSpPr>
          <p:cNvPr id="13" name="TextBox 12"/>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2026-06-20 | bb7cb55 | Fixing the format config keys, by angelahack1</a:t>
            </a:r>
          </a:p>
          <a:p>
            <a:pPr>
              <a:spcAft>
                <a:spcPts val="400"/>
              </a:spcAft>
              <a:defRPr sz="1200">
                <a:solidFill>
                  <a:srgbClr val="B4BAAE"/>
                </a:solidFill>
                <a:latin typeface="Aptos"/>
              </a:defRPr>
            </a:pPr>
            <a:r>
              <a:t>2026-06-20 | ed96dd0 | Improved the External MCP income, by angelahack1</a:t>
            </a:r>
          </a:p>
          <a:p>
            <a:pPr>
              <a:spcAft>
                <a:spcPts val="400"/>
              </a:spcAft>
              <a:defRPr sz="1200">
                <a:solidFill>
                  <a:srgbClr val="B4BAAE"/>
                </a:solidFill>
                <a:latin typeface="Aptos"/>
              </a:defRPr>
            </a:pPr>
            <a:r>
              <a:t>2026-06-20 | e5b4985 | Swapping to MIT License for Maximal adoption, by angelahack1</a:t>
            </a:r>
          </a:p>
          <a:p>
            <a:pPr>
              <a:spcAft>
                <a:spcPts val="400"/>
              </a:spcAft>
              <a:defRPr sz="1200">
                <a:solidFill>
                  <a:srgbClr val="B4BAAE"/>
                </a:solidFill>
                <a:latin typeface="Aptos"/>
              </a:defRPr>
            </a:pPr>
            <a:r>
              <a:t>2026-06-20 | 5eeb53f | Fixing MCP-Doctor to list all th active external mcps, not just the first, by angelahack1</a:t>
            </a:r>
          </a:p>
          <a:p>
            <a:pPr>
              <a:spcAft>
                <a:spcPts val="400"/>
              </a:spcAft>
              <a:defRPr sz="1200">
                <a:solidFill>
                  <a:srgbClr val="B4BAAE"/>
                </a:solidFill>
                <a:latin typeface="Aptos"/>
              </a:defRPr>
            </a:pPr>
            <a:r>
              <a:t>2026-06-20 | d03d2f6 | Documenting recent fexs, of backslash bahaviour on FlowCreation from agent_page.html, by Tlamatini's-AutoBot.</a:t>
            </a:r>
          </a:p>
          <a:p>
            <a:pPr>
              <a:spcAft>
                <a:spcPts val="400"/>
              </a:spcAft>
              <a:defRPr sz="1200">
                <a:solidFill>
                  <a:srgbClr val="B4BAAE"/>
                </a:solidFill>
                <a:latin typeface="Aptos"/>
              </a:defRPr>
            </a:pPr>
            <a:r>
              <a:t>2026-06-20 | fede578 | Fixing backslash bahaviour on FlowCreation from agent_page.html, by Tlamatini's-AutoBot.</a:t>
            </a:r>
          </a:p>
        </p:txBody>
      </p:sp>
      <p:sp>
        <p:nvSpPr>
          <p:cNvPr id="13" name="TextBox 12"/>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2026-06-20 | a6203f9 | Fixing the drift of number of agents, by angelahack1.</a:t>
            </a:r>
          </a:p>
          <a:p>
            <a:pPr>
              <a:spcAft>
                <a:spcPts val="400"/>
              </a:spcAft>
              <a:defRPr sz="1200">
                <a:solidFill>
                  <a:srgbClr val="B4BAAE"/>
                </a:solidFill>
                <a:latin typeface="Aptos"/>
              </a:defRPr>
            </a:pPr>
            <a:r>
              <a:t>2026-06-20 | ec79710 | Erasing som external MCPs trash from external json, by angelahack1</a:t>
            </a:r>
          </a:p>
          <a:p>
            <a:pPr>
              <a:spcAft>
                <a:spcPts val="400"/>
              </a:spcAft>
              <a:defRPr sz="1200">
                <a:solidFill>
                  <a:srgbClr val="B4BAAE"/>
                </a:solidFill>
                <a:latin typeface="Aptos"/>
              </a:defRPr>
            </a:pPr>
            <a:r>
              <a:t>2026-06-20 | a286652 | Adding our discord invite, by angelahack1</a:t>
            </a:r>
          </a:p>
          <a:p>
            <a:pPr>
              <a:spcAft>
                <a:spcPts val="400"/>
              </a:spcAft>
              <a:defRPr sz="1200">
                <a:solidFill>
                  <a:srgbClr val="B4BAAE"/>
                </a:solidFill>
                <a:latin typeface="Aptos"/>
              </a:defRPr>
            </a:pPr>
            <a:r>
              <a:t>2026-06-19 | 83c6e0a | Fixing possible context bloat, by angelahack1</a:t>
            </a:r>
          </a:p>
          <a:p>
            <a:pPr>
              <a:spcAft>
                <a:spcPts val="400"/>
              </a:spcAft>
              <a:defRPr sz="1200">
                <a:solidFill>
                  <a:srgbClr val="B4BAAE"/>
                </a:solidFill>
                <a:latin typeface="Aptos"/>
              </a:defRPr>
            </a:pPr>
            <a:r>
              <a:t>2026-06-19 | a8502f7 | Patching the Step-by-Step mechanism, by angelahack1</a:t>
            </a:r>
          </a:p>
          <a:p>
            <a:pPr>
              <a:spcAft>
                <a:spcPts val="400"/>
              </a:spcAft>
              <a:defRPr sz="1200">
                <a:solidFill>
                  <a:srgbClr val="B4BAAE"/>
                </a:solidFill>
                <a:latin typeface="Aptos"/>
              </a:defRPr>
            </a:pPr>
            <a:r>
              <a:t>2026-06-19 | 1df0ef9 | Just making sure some garbage is thrown, by angelahack1</a:t>
            </a:r>
          </a:p>
        </p:txBody>
      </p:sp>
      <p:sp>
        <p:nvSpPr>
          <p:cNvPr id="13" name="TextBox 12"/>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4/5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2026-06-19 | 090ad13 | Updating visual assets, by angelahack1</a:t>
            </a:r>
          </a:p>
          <a:p>
            <a:pPr>
              <a:spcAft>
                <a:spcPts val="400"/>
              </a:spcAft>
              <a:defRPr sz="1200">
                <a:solidFill>
                  <a:srgbClr val="B4BAAE"/>
                </a:solidFill>
                <a:latin typeface="Aptos"/>
              </a:defRPr>
            </a:pPr>
            <a:r>
              <a:t>2026-06-19 | 12f071a | Some fixes on front-end, parsed by Codex, by Tlamatini's-AutoBot.</a:t>
            </a:r>
          </a:p>
          <a:p>
            <a:pPr>
              <a:spcAft>
                <a:spcPts val="400"/>
              </a:spcAft>
              <a:defRPr sz="1200">
                <a:solidFill>
                  <a:srgbClr val="B4BAAE"/>
                </a:solidFill>
                <a:latin typeface="Aptos"/>
              </a:defRPr>
            </a:pPr>
            <a:r>
              <a:t>2026-06-19 | 3e3ba78 | Added the disclaimer on agents, by angelahack1</a:t>
            </a:r>
          </a:p>
          <a:p>
            <a:pPr>
              <a:spcAft>
                <a:spcPts val="400"/>
              </a:spcAft>
              <a:defRPr sz="1200">
                <a:solidFill>
                  <a:srgbClr val="B4BAAE"/>
                </a:solidFill>
                <a:latin typeface="Aptos"/>
              </a:defRPr>
            </a:pPr>
            <a:r>
              <a:t>2026-06-19 | 2702e60 | Fixing External Mcps dialog, by Codex, and Tlamatini's-AutoBot.</a:t>
            </a:r>
          </a:p>
          <a:p>
            <a:pPr>
              <a:spcAft>
                <a:spcPts val="400"/>
              </a:spcAft>
              <a:defRPr sz="1200">
                <a:solidFill>
                  <a:srgbClr val="B4BAAE"/>
                </a:solidFill>
                <a:latin typeface="Aptos"/>
              </a:defRPr>
            </a:pPr>
            <a:r>
              <a:t>2026-06-19 | 041c074 | Updating visual documentation, by Tlamatini's-AutoBot.</a:t>
            </a:r>
          </a:p>
          <a:p>
            <a:pPr>
              <a:spcAft>
                <a:spcPts val="400"/>
              </a:spcAft>
              <a:defRPr sz="1200">
                <a:solidFill>
                  <a:srgbClr val="B4BAAE"/>
                </a:solidFill>
                <a:latin typeface="Aptos"/>
              </a:defRPr>
            </a:pPr>
            <a:r>
              <a:t>2026-06-19 | d6a11b3 | Fixing the ollama token stuff in docs.</a:t>
            </a:r>
          </a:p>
        </p:txBody>
      </p:sp>
      <p:sp>
        <p:nvSpPr>
          <p:cNvPr id="13" name="TextBox 12"/>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5/5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2026-06-19 | 6903e12 | Making clearer the installation/use steps.</a:t>
            </a:r>
          </a:p>
          <a:p>
            <a:pPr>
              <a:spcAft>
                <a:spcPts val="400"/>
              </a:spcAft>
              <a:defRPr sz="1200">
                <a:solidFill>
                  <a:srgbClr val="B4BAAE"/>
                </a:solidFill>
                <a:latin typeface="Aptos"/>
              </a:defRPr>
            </a:pPr>
            <a:r>
              <a:t>2026-06-19 | af7fdea | Adding some config images, and the getting start retargeted to whats most important.</a:t>
            </a:r>
          </a:p>
          <a:p>
            <a:pPr>
              <a:spcAft>
                <a:spcPts val="400"/>
              </a:spcAft>
              <a:defRPr sz="1200">
                <a:solidFill>
                  <a:srgbClr val="B4BAAE"/>
                </a:solidFill>
                <a:latin typeface="Aptos"/>
              </a:defRPr>
            </a:pPr>
            <a:r>
              <a:t>2026-06-18 | 7c4de17 | A little better redaction.</a:t>
            </a:r>
          </a:p>
          <a:p>
            <a:pPr>
              <a:spcAft>
                <a:spcPts val="400"/>
              </a:spcAft>
              <a:defRPr sz="1200">
                <a:solidFill>
                  <a:srgbClr val="B4BAAE"/>
                </a:solidFill>
                <a:latin typeface="Aptos"/>
              </a:defRPr>
            </a:pPr>
            <a:r>
              <a:t>2026-06-18 | 33ff11e | version fix</a:t>
            </a:r>
          </a:p>
          <a:p>
            <a:pPr>
              <a:spcAft>
                <a:spcPts val="400"/>
              </a:spcAft>
              <a:defRPr sz="1200">
                <a:solidFill>
                  <a:srgbClr val="B4BAAE"/>
                </a:solidFill>
                <a:latin typeface="Aptos"/>
              </a:defRPr>
            </a:pPr>
            <a:r>
              <a:t>2026-06-18 | 60c79a7 | Keeping a short README.md</a:t>
            </a:r>
          </a:p>
        </p:txBody>
      </p:sp>
      <p:sp>
        <p:nvSpPr>
          <p:cNvPr id="13" name="TextBox 12"/>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build_installer.py
|-- build_uninstaller.py
|-- Claude-Desktop-KALI-MCP-Session.md
|-- CLAUDE.md
|-- copy_source_assets.py
|-- CreateShortcut.json
|-- CreateShortcut.ps1
|-- eslint.config.mjs
|-- example_of_prompt_to_make_de-compresser_agent.txt
|-- install.py
|-- KIMI.md
|-- LICENSE
|-- OllamaPricing.png
|-- package.json
|-- PIVOT_CHANGES.md
|-- pnpm-lock.yaml
|-- prompt_example_2_create_agent.txt
|-- README.md
|-- regen_secrets.py
|-- register_flw.ps1
|-- RemoveShortcut.ps1
|-- requirements.txt</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Tlamatini-Kali-Setup.md
|-- Tlamatini.ico
|-- Tlamatini.jpg
|-- Tlamatini.ps1
|-- tlamatini_app_summary.pdf
|-- Tlamatini_eXtended_Artificial_Intelligence_Humanly_Tempered.pptx
|-- TLAMATINI_MCP.md
|-- tlamatini_mcp_server.py
|-- TlamatiniJudgementDay.md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skills/
|       |-- tlamatini-agent-creation/
|       |   `-- SKILL.md
|       |-- tlamatini-agent-naming/
|       |   `-- SKILL.md
|       |-- tlamatini-daily-chat-test/
|       |   |-- .gitignore
|       |   |-- SKILL.md
|       |   `-- harness/
|       |       |-- config.py
|       |       |-- cyber_watchdog_test.py
|       |       |-- mcp_playwright_suite.py
|       |       |-- qualify.py
|       |       |-- questions.py
|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overlap-safe-pptx-dossier/
|           `-- SKILL.md
|-- .github/
|   `-- workflows/
|       `-- name-guard.yml
|-- .scanning/
|   `-- finding-policy.json
|-- AuxTests/
|   `-- mypdf2.py
|-- docs/
|   `-- claude/
|       |-- acpx.md
|       |-- agents.md
|       |-- architecture.md
|       |-- exec-report.md
|       |-- frontend.md
|       |-- gotchas.md
|       |-- INDEX.md
|       |-- mcp-tools.md
|       |-- multi-turn.md
|       `-- recent-fixes.md
|-- pyinstaller_hooks/
|   `-- hook-numpy.py
`-- Tlamatini/
    |-- cat_art.py
    |-- manage.py
    |-- .agents/
    |   `-- workflows/
    |       `-- create_new_agent.md
    |-- .mcps/
    |   `-- create_new_mcp.md</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.skills/
    |   `-- create_new_skill.md
    |-- agent/
    |   |-- __init__.py
    |   |-- access_key_wizard.py
    |   |-- admin.py
    |   |-- apps.py
    |   |-- capability_registry.py
    |   |-- chain_files_search_lcel.py
    |   |-- chain_system_lcel.py
    |   |-- chat_agent_registry.py
    |   |-- chat_agent_runtime.py
    |   |-- chat_history_loader.py
    |   |-- command_togen_pb2.txt
    |   |-- command_watchdog.py
    |   |-- config.json
    |   |-- config_loader.py
    |   |-- constants.py
    |   |-- consumers.py
    |   |-- embedding_memory_guard.py
    |   |-- exec_permission.py
    |   |-- external_mcp_manager.py
    |   |-- external_mcps.json
    |   |-- filesearch.proto
    |   |-- filesearch_pb2.py
    |   |-- filesearch_pb2_grpc.py
    |   |-- global_execution_planner.py
    |   |-- global_state.py
    |   |-- gpu_perf.py
    |   |-- inet_determiner.py
    |   |-- mcp_agent.py</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mcp_files_search_client.py
    |   |-- mcp_files_search_server.py
    |   |-- mcp_system_client.py
    |   |-- mcp_system_server.py
    |   |-- models.py
    |   |-- native_dialogs.py
    |   |-- orphan_reaper.py
    |   |-- path_guard.py
    |   |-- prompt.pmt
    |   |-- rag_enhancements.py
    |   |-- routing.py
    |   |-- self_update.py
    |   |-- test_access_key_wizard.py
    |   |-- test_arduiner_agent.py
    |   |-- test_audioplayer_agent.py
    |   |-- test_blenderer_agent.py
    |   |-- test_build_scripts.py
    |   |-- test_camcorder_agent.py
    |   |-- test_chat_bridge_bots.py
    |   |-- test_chat_history_window.py
    |   |-- test_command_watchdog.py
    |   |-- test_crawler_agent.py
    |   |-- test_createsuperuser_wizard.py
    |   |-- test_de_compresser.py
    |   |-- test_editor_agent.py
    |   |-- test_embedding_memory_guard.py
    |   |-- test_esp32er_agent.py
    |   |-- test_esphomer_agent.py
    |   |-- test_execute_command_bounded.py
    |   |-- test_external_mcp_add_flow.py
    |   |-- test_external_mcp_e2e.py</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test_external_mcp_transports.py
    |   |-- test_external_mcp_universal.py
    |   |-- test_file_extractor_reader.py
    |   |-- test_flow_contracts.py
    |   |-- test_globber_agent.py
    |   |-- test_googler_agent.py
    |   |-- test_grepper_agent.py
    |   |-- test_j_decompiler_agent.py
    |   |-- test_kalier_agent.py
    |   |-- test_native_dialogs.py
    |   |-- test_orphan_reaper.py
    |   |-- test_parametrizer_mcp_doctor.py
    |   |-- test_password_quoting.py
    |   |-- test_playwrighter_agent.py
    |   |-- test_recorder_agent.py
    |   |-- test_self_update.py
    |   |-- test_step_by_step_mode.py
    |   |-- test_stm32er_agent.py
    |   |-- test_talker_agent.py
    |   |-- test_temp_dir_policy.py
    |   |-- test_unrealer_agent.py
    |   |-- test_videoplayer_agent.py
    |   |-- test_whisperer_agent.py
    |   |-- test_windower_agent.py
    |   |-- test_windows_app_registration.py
    |   |-- tests.py
    |   |-- Tlamatini.md
    |   |-- tools.py
    |   |-- urls.py
    |   |-- version.py
    |   |-- views.py</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crawler.py
    |   |   |-- croner/
    |   |   |   |-- config.yaml
    |   |   |   `-- croner.py
    |   |   |-- de_compresser/
    |   |   |   |-- config.yaml
    |   |   |   `-- de_compresser.py
    |   |   |-- deleter/
    |   |   |   |-- config.yaml
    |   |   |   `-- deleter.py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j_decompiler/
    |   |   |   |-- config.yaml
    |   |   |   `-- j_decompiler.py
    |   |   |-- jenkinser/
    |   |   |   |-- config.yaml
    |   |   |   `-- jenkinser.py
    |   |   |-- kalier/
    |   |   |   |-- config.yaml
    |   |   |   `-- kalier.py
    |   |   |-- keyboarder/
    |   |   |   |-- config.yaml</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keyboarder.py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
    |   |   |   `-- monitor_netstat.py
    |   |   |-- mouser/
    |   |   |   |-- config.yaml
    |   |   |   `-- mouser.py
    |   |   |-- mover/
    |   |   |   |-- config.yaml
    |   |   |   `-- mover.py</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node_manager/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
    |   |   |-- pythonxer/
    |   |   |   |-- config.yaml
    |   |   |   `-- pythonxer.py
    |   |   |-- raiser/
    |   |   |   |-- config.yaml
    |   |   |   `-- raiser.py
    |   |   |-- recmailer/</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stopper.py
    |   |   |-- summarizer/
    |   |   |   |-- config.yaml
    |   |   |   `-- summarizer.py
    |   |   |-- talker/
    |   |   |   |-- config.yaml
    |   |   |   `-- talker.py
    |   |   |-- telegramer/
    |   |   |   |-- config.yaml
    |   |   |   `-- telegramer.py
    |   |   |-- telegramrx/
    |   |   |   |-- config.yaml
    |   |   |   `-- telegramrx.py
    |   |   |-- teletlamatini/
    |   |   |   |-- config.yaml
    |   |   |   `-- teletlamatini.py
    |   |   |-- unrealer/
    |   |   |   |-- config.yaml
    |   |   |   `-- unrealer.py
    |   |   |-- videoplayer/
    |   |   |   |-- config.yaml
    |   |   |   `-- videoplayer.py
    |   |   |-- whatsapper/
    |   |   |   |-- config.yaml
    |   |   |   `-- whatsapper.py
    |   |   |-- whatstlamatini/
    |   |   |   |-- config.yaml
    |   |   |   `-- whatstlamatini.py
    |   |   |-- whisperer/
    |   |   |   |-- config.yaml
    |   |   |   `-- whisperer.py</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windower/
    |   |       |-- config.yaml
    |   |       `-- windower.py
    |   |-- doc_generation/
    |   |   |-- complete_project_docs.py
    |   |   |-- mardown_to_pdf.py
    |   |   |-- refresh_project_docs.py
    |   |   `-- test_output.pdf
    |   |-- images/
    |   |   |-- ACPXKeysConfigureWizard.jpg
    |   |   |-- ConfigureModels.jpg
    |   |   |-- HiIamTlamatini.png
    |   |   |-- MenuConfig.jpg
    |   |   |-- mockup.jpg
    |   |   |-- RealisticTlamatini.png
    |   |   |-- ShouldersUoTlamatini.png
    |   |   |-- Tlamatini AI Agentic Advisor Video.mp4
    |   |   |-- TlamatiniAbout.png
    |   |   |-- TlamatiniAndKyber.mp4
    |   |   |-- TlamatiniDrawings.png
    |   |   |-- TlammatiniLetsMakeSomeMagic.mp4
    |   |   |-- TorsoTlamatini.png
    |   |   `-- XAIHT-Tlamatini.mp4
    |   |-- imaging/
    |   |   |-- converter.py
    |   |   |-- image_interpreter.py
    |   |   `-- screenshot.py
    |   |-- management/
    |   |   |-- __init__.py
    |   |   `-- commands/
    |   |       |-- acpx_lint.py</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__init__.py
    |   |-- monitors/
    |   |   `-- monitor_sql.py
    |   |-- opus_client/
    |   |   |-- claude_opus_client.py
    |   |   |-- examples.py</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README.md
    |   |-- rag/
    |   |   |-- __init__.py
    |   |   |-- config.py
    |   |   |-- factory.py
    |   |   |-- interaction.py
    |   |   |-- interface.py
    |   |   |-- loaders.py
    |   |   |-- prompts.py
    |   |   |-- retrieval.py
    |   |   |-- splitters.py
    |   |   |-- utils.py
    |   |   `-- chains/
    |   |       |-- base.py
    |   |       |-- basic.py
    |   |       |-- history_aware.py
    |   |       `-- unified.py
    |   |-- services/
    |   |   |-- __init__.py
    |   |   |-- agent_contracts.py
    |   |   |-- agent_paths.py
    |   |   |-- answer_analizer.py
    |   |   |-- filesystem.py
    |   |   |-- flow_compiler.py
    |   |   |-- flow_spec.py
    |   |   `-- response_parser.py
    |   |-- skills/
    |   |   |-- __init__.py
    |   |   |-- frontmatter.py
    |   |   |-- harness.py
    |   |   |-- io_contract.py</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registry.py
    |   |-- skills_pkg/
    |   |   |-- _meta/
    |   |   |   |-- lint.py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trello/
    |   |   |   `-- SKILL.md
    |   |   `-- weather/
    |   |       `-- SKILL.md
    |   |-- static/
    |   |   `-- agent/
    |   |       |-- css/
    |   |       |   |-- access_keys_wizard.css
    |   |       |   |-- agent_page.css
    |   |       |   |-- agentic_control_panel.css
    |   |       |   |-- external_mcps_dialog.css
    |   |       |   |-- login.css
    |   |       |   |-- skills_dialog.css
    |   |       |   |-- tools_dialog.css
    |   |       |   `-- welcome.css
    |   |       |-- img/
    |   |       |   |-- spinner.svg
    |   |       |   `-- Tlamatini.ico
    |   |       |-- js/
    |   |       |   |-- access_keys_wizard.js
    |   |       |   |-- acp-agent-connectors.js
    |   |       |   |-- acp-canvas-core.js
    |   |       |   |-- acp-canvas-undo.js
    |   |       |   |-- acp-control-buttons.js
    |   |       |   |-- acp-file-io.js
    |   |       |   |-- acp-flow-snapshot.js
    |   |       |   |-- acp-globals.js
    |   |       |   |-- acp-layout.js
    |   |       |   |-- acp-parametrizer-dialog.js
    |   |       |   |-- acp-running-state.js
    |   |       |   |-- acp-session.js</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acp-undo-manager.js
    |   |       |   |-- acp-validate.js
    |   |       |   |-- agent_page_canvas.js
    |   |       |   |-- agent_page_chat.js
    |   |       |   |-- agent_page_context.js
    |   |       |   |-- agent_page_dialogs.js
    |   |       |   |-- agent_page_init.js
    |   |       |   |-- agent_page_layout.js
    |   |       |   |-- agent_page_state.js
    |   |       |   |-- agent_page_ui.js
    |   |       |   |-- agentic_control_panel.js
    |   |       |   |-- canvas_item_dialog.js
    |   |       |   |-- chat_page_runtime_poller.js
    |   |       |   |-- contextual_menus.js
    |   |       |   |-- external_mcps_dialog.js
    |   |       |   |-- shared-runtime-dialogs.js
    |   |       |   |-- skills_dialog.js
    |   |       |   `-- tools_dialog.js
    |   |       |-- sounds/
    |   |       |   |-- hypervisor_alert.wav
    |   |       |   `-- notification.wav
    |   |       `-- video/
    |   |           `-- XAIHT-Tlamatini.mp4
    |   |-- telegram/
    |   |   |-- AztecTlamatini.txt
    |   |   |-- config.yaml
    |   |   `-- telegram_receiver.py
    |   |-- templates/
    |   |   `-- agent/
    |   |       |-- agent_page.html
    |   |       |-- agentic_control_panel.html</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login.html
    |   |       `-- welcome.html
    |   |-- test_fixtures/
    |   |   `-- talker_orpheus_tokens.txt
    |   `-- TlamatiniSourceCode/
    |       `-- README.md
    |-- DB/
    |   |-- Older/
    |   |   `-- README.md
    |   `-- ToLoad/
    |       `-- README.md
    |-- jd-cli/
    |   |-- jd-cli.bat
    |   `-- jd-cli.jar
    `-- tlamatini/
        |-- __init__.py
        |-- asgi.py
        |-- context_processors.py
        |-- logging_filters.py
        |-- middleware.py
        |-- settings.py
        |-- urls.py
        `-- wsgi.py</a:t>
            </a:r>
          </a:p>
        </p:txBody>
      </p:sp>
      <p:sp>
        <p:nvSpPr>
          <p:cNvPr id="10" name="TextBox 9"/>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
        <p:nvSpPr>
          <p:cNvPr id="13" name="TextBox 12"/>
          <p:cNvSpPr txBox="1"/>
          <p:nvPr/>
        </p:nvSpPr>
        <p:spPr>
          <a:xfrm>
            <a:off x="300000" y="6298000"/>
            <a:ext cx="11591695" cy="450000"/>
          </a:xfrm>
          <a:prstGeom prst="rect">
            <a:avLst/>
          </a:prstGeom>
          <a:noFill/>
        </p:spPr>
        <p:txBody>
          <a:bodyPr wrap="square">
            <a:spAutoFit/>
          </a:bodyPr>
          <a:lstStyle/>
          <a:p>
            <a:r>
              <a:rPr sz="1200" b="1">
                <a:solidFill>
                  <a:srgbClr val="1F1F1F"/>
                </a:solidFill>
              </a:rPr>
              <a:t>CREATED BY ANGELA LÓPEZ MENDOZA  ·  @angelahack1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created by Angela López Mendoza</dc:title>
  <dc:subject/>
  <dc:creator>Angela López Mendoza</dc:creator>
  <cp:keywords/>
  <dc:description>generated using python-pptx</dc:description>
  <cp:lastModifiedBy>Angela López Mendoza</cp:lastModifiedBy>
  <cp:revision>1</cp:revision>
  <dcterms:created xsi:type="dcterms:W3CDTF">2013-01-27T09:14:16Z</dcterms:created>
  <dcterms:modified xsi:type="dcterms:W3CDTF">2013-01-27T09:15:58Z</dcterms:modified>
  <cp:category/>
</cp:coreProperties>
</file>