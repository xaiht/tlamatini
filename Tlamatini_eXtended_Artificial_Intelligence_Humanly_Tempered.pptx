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Batch</c:v>
                </c:pt>
                <c:pt idx="2">
                  <c:v>Text</c:v>
                </c:pt>
                <c:pt idx="3">
                  <c:v>Prompt template</c:v>
                </c:pt>
                <c:pt idx="4">
                  <c:v>HTML</c:v>
                </c:pt>
                <c:pt idx="5">
                  <c:v>YAML</c:v>
                </c:pt>
                <c:pt idx="6">
                  <c:v>PowerShell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981</c:v>
                </c:pt>
                <c:pt idx="1">
                  <c:v>882</c:v>
                </c:pt>
                <c:pt idx="2">
                  <c:v>1311</c:v>
                </c:pt>
                <c:pt idx="3">
                  <c:v>1354</c:v>
                </c:pt>
                <c:pt idx="4">
                  <c:v>1584</c:v>
                </c:pt>
                <c:pt idx="5">
                  <c:v>2079</c:v>
                </c:pt>
                <c:pt idx="6">
                  <c:v>2355</c:v>
                </c:pt>
                <c:pt idx="7">
                  <c:v>6030</c:v>
                </c:pt>
                <c:pt idx="8">
                  <c:v>10595</c:v>
                </c:pt>
                <c:pt idx="9">
                  <c:v>14258</c:v>
                </c:pt>
                <c:pt idx="10">
                  <c:v>28131</c:v>
                </c:pt>
                <c:pt idx="11">
                  <c:v>37973</c:v>
                </c:pt>
                <c:pt idx="12">
                  <c:v>102895</c:v>
                </c:pt>
                <c:pt idx="13">
                  <c:v>253967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86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 and the Model Brain tunes every model from its maker's published settings.</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self-healing steps and Compact mode for small models.</a:t>
            </a:r>
          </a:p>
          <a:p/>
          <a:p>
            <a:r>
              <a:t>Agentic Control Panel: 86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86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60 JavaScript modules, 27 stylesheets and 6 page templates, 217 database migrations and 264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51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cannot freeze her. Since v1.76.0 lines are coloured by level.</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any page: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divider above the message box. With her avatar undocked, the box can shrink to its buttons.</a:t>
            </a:r>
          </a:p>
          <a:p/>
          <a:p>
            <a:r>
              <a:t>The divider between the conversation and the message box follows the pointer and the keyboard. The arrow keys move it one step and Shift+arrows five; Home or a double-click shrinks the box to its smallest, End makes it as tall as allowed, and Escape ends a drag. Screen readers hear the box height. The toolbar, context gauge, attachment and dictation rows are measured, so none of them is cut off.</a:t>
            </a:r>
          </a:p>
          <a:p/>
          <a:p>
            <a:r>
              <a:t>Docked, her portrait keeps its room above the action buttons. Undocked, the box can shrink to those buttons plus a six-pixel guard, and docking her again gives the portrait its room back. In a short window the box scrolls inside itself, and on a narrow screen the workspace pans while the page and its dialogs stay in place.</a:t>
            </a:r>
          </a:p>
          <a:p/>
          <a:p>
            <a:r>
              <a:t>Docked, her portrait now follows the divider too: dragging the bar down shrinks it to a 120-pixel square and dragging up gives it back. Shipped in v1.83.0.</a:t>
            </a:r>
          </a:p>
          <a:p/>
          <a:p>
            <a:r>
              <a:t>In v1.85.0, the portrait and its frame stay centered over the complete Mic-to-Send row. Views → Canvas can give the chat the full width; Views → Reset layout restores both panes and docks the portrait while keeping the document, draft and context.</a:t>
            </a:r>
          </a:p>
          <a:p/>
          <a:p>
            <a:r>
              <a:t>Drag or type: Pointer, arrows, Shift+arrows, Home and End move the divider.</a:t>
            </a:r>
          </a:p>
          <a:p/>
          <a:p>
            <a:r>
              <a:t>Undocked: The message box can shrink to its own action buttons.</a:t>
            </a:r>
          </a:p>
          <a:p/>
          <a:p>
            <a:r>
              <a:t>Docked: A centered portrait above Mic through Send, down to a 120-pixel square.</a:t>
            </a:r>
          </a:p>
          <a:p/>
          <a:p>
            <a:r>
              <a:t>Small windows: The box scrolls itself; dialogs stay inside the window.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USAGE follows the shared dialog theme and remains available during a long answer.</a:t>
            </a:r>
          </a:p>
          <a:p/>
          <a:p>
            <a:r>
              <a:t>Open About → Usage, then choose Cloud credits, Chat activity or Models. The first tab reads the configured Ollama account; the other views identify measured main-chat activity for the signed-in Tlamatini user. Recording begins with this feature and does not reconstruct earlier history or include child agents and other applications.</a:t>
            </a:r>
          </a:p>
          <a:p/>
          <a:p>
            <a:r>
              <a:t>The desktop dialog is 80vw by 74dvh, capped at 1440 pixels wide: at most 59.2% of the client area. Narrow screens use 94vw by 63dvh. Text follows normal dialog sizing, buttons have clear borders and the body scrolls between fixed controls. Fractional displays have at most two decimal places. Colored bars offer keyboard-focus and pointer tooltips plus exact tables.</a:t>
            </a:r>
          </a:p>
          <a:p/>
          <a:p>
            <a:r>
              <a:t>Cloud credits: Reported balance, monthly usage, allowance and refill weeks/date.</a:t>
            </a:r>
          </a:p>
          <a:p/>
          <a:p>
            <a:r>
              <a:t>Chat activity: Your measured calls, input/output tokens and daily trends.</a:t>
            </a:r>
          </a:p>
          <a:p/>
          <a:p>
            <a:r>
              <a:t>Models: Recorded model activity and peak UTC dates; server inventory alongside it.</a:t>
            </a:r>
          </a:p>
          <a:p/>
          <a:p>
            <a:r>
              <a:t>While busy: Open and refresh without interrupting the model request.</a:t>
            </a:r>
          </a:p>
          <a:p/>
          <a:p>
            <a:r>
              <a:t>Normal size: Under 60% client area; ordinary typography and clear buttons.</a:t>
            </a:r>
          </a:p>
          <a:p/>
          <a:p>
            <a:r>
              <a:t>Accessible: Keyboard tabs, chart tooltips, focus trap and normal Escape/Close behavior.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Monthly credits, rolling cloud usage and recorded local activity answer different questions.</a:t>
            </a:r>
          </a:p>
          <a:p/>
          <a:p>
            <a:r>
              <a:t>The authoritative /api/balance response supplies included allowance and remaining balance, purchased credits and the UTC refill period. Used credits equal allowance minus included balance; total available adds purchased credits only when both values are reported. Plan names never supply an assumed allowance. Refill weeks/date come from the returned period, not an assumed 30-day cycle.</a:t>
            </a:r>
          </a:p>
          <a:p/>
          <a:p>
            <a:r>
              <a:t>Cloud /api/usage supplies rolling 7/30-day history, including today's partial UTC day. That spend is not monthly credits used. Cached input is already part of input. The local ledger's 7/30 calendar dates include today and have a narrower measurement scope.</a:t>
            </a:r>
          </a:p>
          <a:p/>
          <a:p>
            <a:r>
              <a:t>Ollama's documented API does not yet expose the website's full per-model history or individual purchased-credit expiries. The dialog links to Ollama Usage for website-only details. Missing fields are explained, never replaced with invented values. Balances follow the configured server account, which can differ from the user's website login.</a:t>
            </a:r>
          </a:p>
          <a:p/>
          <a:p>
            <a:r>
              <a:t>Monthly balance: Actual included and purchased credits from /api/balance.</a:t>
            </a:r>
          </a:p>
          <a:p/>
          <a:p>
            <a:r>
              <a:t>Rolling history: 7/30-day cloud spend and tokens; separate from the billing period.</a:t>
            </a:r>
          </a:p>
          <a:p/>
          <a:p>
            <a:r>
              <a:t>Local model graphs: Measured Tlamatini main-chat activity, not website-wide history.</a:t>
            </a:r>
          </a:p>
          <a:p/>
          <a:p>
            <a:r>
              <a:t>Refresh: Healthy data is cached 60 s; a brief outage is retried after 15 s.</a:t>
            </a:r>
          </a:p>
          <a:p/>
          <a:p>
            <a:r>
              <a:t>Missing data: Explain unavailable or stale values; no guessed balance or token count.</a:t>
            </a:r>
          </a:p>
          <a:p/>
          <a:p>
            <a:r>
              <a:t>References: docs.ollama.com/api/balance and /api/cloud-usage; docs/usage-dashboard.md.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shape selects the layout; a plan label is not a credit entitlement.</a:t>
            </a:r>
          </a:p>
          <a:p/>
          <a:p>
            <a:r>
              <a:t>Free, Pro and Max accounts with monthly balance fields use credit cards. Legacy session and weekly responses use reported remaining percentages and reset times; unsupported cost and token fields are omitted. Purchased-only responses display only the supplied balance. A zero monthly allowance does not produce an invented percentage.</a:t>
            </a:r>
          </a:p>
          <a:p/>
          <a:p>
            <a:r>
              <a:t>As checked on October 10, 2026, Ollama lists Free, Pro, Max, Team and Enterprise, with no cloud plan named Unlimited. Unlimited local execution is a different claim. Team balances are shared, while this adapter requests default member usage, not administrator team scope. Commercial terms remain at ollama.com/pricing; they are not hardcoded into the dialog.</a:t>
            </a:r>
          </a:p>
          <a:p/>
          <a:p>
            <a:r>
              <a:t>Monthly: Returned allowance, balance, purchased credits and reset period.</a:t>
            </a:r>
          </a:p>
          <a:p/>
          <a:p>
            <a:r>
              <a:t>Legacy: Remaining session/weekly percentages; no guessed dollar conversion.</a:t>
            </a:r>
          </a:p>
          <a:p/>
          <a:p>
            <a:r>
              <a:t>Purchased only: Only the reported purchased balance; no invented included quota.</a:t>
            </a:r>
          </a:p>
          <a:p/>
          <a:p>
            <a:r>
              <a:t>Free or zero: Report actual data and omit percentages when allowance is zero.</a:t>
            </a:r>
          </a:p>
          <a:p/>
          <a:p>
            <a:r>
              <a:t>Team: Shared credit balance is distinct from member-scoped usage.</a:t>
            </a:r>
          </a:p>
          <a:p/>
          <a:p>
            <a:r>
              <a:t>Unlimited label: Never interpreted as unlimited cloud credits.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86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86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Feed embeddings requires a real vector store. A provider error cannot become success through the chat stack's prompt-only fallback, including with tools enabled. The flow reports failure before its next operation and keeps any previously accepted context.</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Commentary is a review note on the canvas. User Input is the operation that pauses playback for a reply, using the notched figure.</a:t>
            </a:r>
          </a:p>
          <a:p/>
          <a:p>
            <a:r>
              <a:t>Double-click a bubble or press Enter to write directly in it. Select words or paragraphs, then use the floating mini toolbar for font, size, text color, bold, italic and underline. For example, one bubble can have a large Verdana heading, an italic Arial sentence and a Georgia paragraph. With only a caret, formatting applies to subsequent typing. Outside editing, it applies to the whole selected note. Bubble color and alignment affect the note.</a:t>
            </a:r>
          </a:p>
          <a:p/>
          <a:p>
            <a:r>
              <a:t>Drag any of the eight borders or corners to resize, even while writing. The handles also accept arrow keys. Fit text removes spare height, and the bubble grows to contain all wrapped text. There are no internal scrollbars, numeric size fields or commentary configuration dialogs.</a:t>
            </a:r>
          </a:p>
          <a:p/>
          <a:p>
            <a:r>
              <a:t>Done or Ctrl+Enter saves the complete edit. Cancel or Escape restores its original text, styles, dimensions and position. Ctrl+Z/Y works inside the editor. Completed edits, moves, resizes and duplicates participate in the diagram's Undo/Redo. Copying between comment editors preserves formatting. External clipboard text stays literal.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2 .fpmt files retain independent notes with their full text, formatting and geometry.</a:t>
            </a:r>
          </a:p>
          <a:p/>
          <a:p>
            <a:r>
              <a:t>Each note stores allowlisted text runs plus matching literal text. Runs carry font, size, text color, bold, italic and underline. Older plain version 2 notes normalize to one run. Version 1 executable commentary migrates to User Input with its identifiers, connections, settings and reply/cancellation behavior intact. Opening a file never starts playback.</a:t>
            </a:r>
          </a:p>
          <a:p/>
          <a:p>
            <a:r>
              <a:t>A note has no connection ports or Start state and never enters model context, conversation history or playback step counts. Tokens such as {{last_output}} and HTML-like text remain literal in a comment. Several independently styled notes can share a diagram.</a:t>
            </a:r>
          </a:p>
          <a:p/>
          <a:p>
            <a:r>
              <a:t>The per-user browser draft keeps the existing .draft.v1 key for compatibility. Portable files retain the .fpmt extension. The similarly named .pmt files belong to system prompts and remain a separate format. Limits are 5 MiB per flow, 500 assets, 1,000 connections, 100,000 characters and 10,000 formatted runs per note.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shipped file associations open .flw agent flows and .fpmt prompting flows. Opening never runs them.</a:t>
            </a:r>
          </a:p>
          <a:p/>
          <a:p>
            <a:r>
              <a:t>The main chat routes both formats into their own editor tabs and keeps its current document. An external file launch validates a bounded snapshot and reuses a matching running server before any database startup work. A cold launch starts the application on its configured port.</a:t>
            </a:r>
          </a:p>
          <a:p/>
          <a:p>
            <a:r>
              <a:t>Login returns to the requested file. Short-lived, single-use opening links carry a random token rather than a filesystem path; browser uploads are bound to the signed-in user. Invalid formats, unsupported versions and files over 5 MiB are rejected before replacement.</a:t>
            </a:r>
          </a:p>
          <a:p/>
          <a:p>
            <a:r>
              <a:t>Unsaved diagrams and recovered drafts require confirmation. Rich commentary runs retain their fonts, styles and layout through .fpmt save/open. Agent-flow opening now awaits validation and session preparation; failed credential redaction blocks unsafe .flw downloads.</a:t>
            </a:r>
          </a:p>
          <a:p/>
          <a:p>
            <a:r>
              <a:t>From chat: Open either flow in its editor and keep the chat document.</a:t>
            </a:r>
          </a:p>
          <a:p/>
          <a:p>
            <a:r>
              <a:t>From Windows: Start once or reuse the running app; return through login.</a:t>
            </a:r>
          </a:p>
          <a:p/>
          <a:p>
            <a:r>
              <a:t>Preserve work: Validate before replacement; confirm unsaved changes.</a:t>
            </a:r>
          </a:p>
          <a:p/>
          <a:p>
            <a:r>
              <a:t>No automatic run: Opening prepares the diagram. Play remains a user action.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Per-user associations, installation ownership and Windows default-app choices.</a:t>
            </a:r>
          </a:p>
          <a:p/>
          <a:p>
            <a:r>
              <a:t>A shared PowerShell helper registers .flw and .fpmt with separate ProgIDs, friendly names, icons, Open With entries and Default Apps capabilities. Status reports the current registration; DefaultApps opens Windows Settings so the user can choose a default.</a:t>
            </a:r>
          </a:p>
          <a:p/>
          <a:p>
            <a:r>
              <a:t>Installation registers both formats. Update Repair preserves explicit unregistration and never takes another installation's owned entry. Removal deletes only this installation's values, preserving Windows UserChoice and other applications' Open With entries. Historical .flw wrappers cover both formats so existing installer/uninstaller binaries remain compatible.</a:t>
            </a:r>
          </a:p>
          <a:p/>
          <a:p>
            <a:r>
              <a:t>The scripts and opening modules are included in frozen and self-modify packaging. Native registry checks use an isolated test key, and visible Chrome tests exercise real file opening and login. The October 4 release campaign also rebuilt local main and uninstaller executables. The work was committed to main that day and is carried by the v1.76.0 tag; compiled acceptance is recorded separately from source tests. See docs/windows-flow-files.md for commands, contracts and verification.</a:t>
            </a:r>
          </a:p>
          <a:p/>
          <a:p>
            <a:r>
              <a:t>Install: Register both types with names, icons and the correct editor destinations.</a:t>
            </a:r>
          </a:p>
          <a:p/>
          <a:p>
            <a:r>
              <a:t>Administer: Inspect Status, register or remove one type, or open Default Apps.</a:t>
            </a:r>
          </a:p>
          <a:p/>
          <a:p>
            <a:r>
              <a:t>Update: Repair owned entries without undoing the user's opt-out.</a:t>
            </a:r>
          </a:p>
          <a:p/>
          <a:p>
            <a:r>
              <a:t>Uninstall: Remove owned registrations; keep other apps and user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Confirmation, installation ownership, retryable errors and preserved user content.</a:t>
            </a:r>
          </a:p>
          <a:p/>
          <a:p>
            <a:r>
              <a:t>The real installer registration failure came from an omitted InstallDir whose parameter default evaluated before Windows PowerShell populated PSScriptRoot. The wrappers now resolve that default inside the script. Fresh powershell.exe -File tests exercise the same entry point from an unrelated working directory.</a:t>
            </a:r>
          </a:p>
          <a:p/>
          <a:p>
            <a:r>
              <a:t>The uninstaller first requires the main application to close. After confirmation it stops workers belonging to the selected installation and their descendants. Exact path boundaries, creation times and inherited TLAMATINI_AGENTS_ROOT identify agent children even after reparenting; unrelated processes and Explorer remain running.</a:t>
            </a:r>
          </a:p>
          <a:p/>
          <a:p>
            <a:r>
              <a:t>A temporary independent copy allows the installed uninstaller itself to be removed. Helpers and the installation marker remain until file and owned-registry removal succeed, so a partial failure can be retried. Locked files and denied registry deletion report failure. Drive roots, shared folders, source checkouts and redirected targets are rejected.</a:t>
            </a:r>
          </a:p>
          <a:p/>
          <a:p>
            <a:r>
              <a:t>Since v1.76.0, when Windows still holds Uninstaller.exe itself, the file is retried, moved aside and removed by a hidden cleanup after the uninstaller exits, so the uninstall finishes cleanly.</a:t>
            </a:r>
          </a:p>
          <a:p/>
          <a:p>
            <a:r>
              <a:t>Agents and nonempty user-content directories remain under the existing preservation contract. A full directory/registry reset is a separate authorized action. Verification distinguishes real compiled GUI outcomes from backend tests and records any blocked native launch explicitly.</a:t>
            </a:r>
          </a:p>
          <a:p/>
          <a:p>
            <a:r>
              <a:t>Installer entry points: Resolve the installation directory inside PowerShell script bodies.</a:t>
            </a:r>
          </a:p>
          <a:p/>
          <a:p>
            <a:r>
              <a:t>Owned workers: Stop this installation's agents and surviving descendants after confirmation.</a:t>
            </a:r>
          </a:p>
          <a:p/>
          <a:p>
            <a:r>
              <a:t>Honest retry: Retain removal support until success; report locked files and registry errors.</a:t>
            </a:r>
          </a:p>
          <a:p/>
          <a:p>
            <a:r>
              <a:t>Preserve user work: Keep agents and nonempty content; notify the shell without restarting Explorer.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Installer and Uninstaller share one window that prepares a recovery copy before changing anything.</a:t>
            </a:r>
          </a:p>
          <a:p/>
          <a:p>
            <a:r>
              <a:t>Both executables use one setup window: Tlamatini's palette, keyboard controls, a destination and review page, real progress and result details that stay on screen. The action row is its own window row, so buttons are never clipped, and large fonts or long paths scroll the body. Errors stay in the window with Retry and Change folder, and every run writes a private log under %LOCALAPPDATA%\Tlamatini\SetupLogs.</a:t>
            </a:r>
          </a:p>
          <a:p/>
          <a:p>
            <a:r>
              <a:t>Before installation or removal changes a file, a recovery copy is prepared and verified; its journal lives in the installation's Temp folder, and the next run restores an interrupted transaction first. A failed restoration is reported, never presented as a rollback. A locked file gets a five-second retry and is then named with the program holding it, which is never closed for you. Only Tlamatini's own registry values and Desktop shortcut are snapshotted.</a:t>
            </a:r>
          </a:p>
          <a:p/>
          <a:p>
            <a:r>
              <a:t>These are custom EXE recovery mechanics, not MSI transactions. In the visible October 11-12 campaign 52 interface checkpoints, 28 recovery checks, 21 lifecycle checks and 61 mechanics tests passed; five real installations and four real removals passed their independent audits. The fifth removal stopped safely before deleting anything, because a test browser held a file in the installation's Temp folder.</a:t>
            </a:r>
          </a:p>
          <a:p/>
          <a:p>
            <a:r>
              <a:t>One window: Shared Installer and Uninstaller screens that never clip their buttons.</a:t>
            </a:r>
          </a:p>
          <a:p/>
          <a:p>
            <a:r>
              <a:t>Recovery copy: Prepared and verified before any file changes; restored after an interruption.</a:t>
            </a:r>
          </a:p>
          <a:p/>
          <a:p>
            <a:r>
              <a:t>Named locks: A locked file and its holder are named; nothing is force-closed.</a:t>
            </a:r>
          </a:p>
          <a:p/>
          <a:p>
            <a:r>
              <a:t>Own scope: Only Tlamatini's registry values and shortcut; never UserChoice.</a:t>
            </a:r>
          </a:p>
          <a:p/>
          <a:p>
            <a:r>
              <a:t>Bounded helpers: PowerShell helpers end within 120 seconds inside a Windows job.</a:t>
            </a:r>
          </a:p>
          <a:p/>
          <a:p>
            <a:r>
              <a:t>Honest tally: Five installations and four removals passed; one stopped safely.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4 repairs, now carried by v1.76.0, have separate source, frozen, package and visual evidence.</a:t>
            </a:r>
          </a:p>
          <a:p/>
          <a:p>
            <a:r>
              <a:t>The visible campaign checks the actual installer, Windows associations, authenticated file opening, administration, main chat and both flow panels. It also compares several rich comments across repeated file writes and reads, executes local agents, and audits owned workers after shutdown. A configuration dialog opening is not proof that a hardware or external-service agent executed successfully.</a:t>
            </a:r>
          </a:p>
          <a:p/>
          <a:p>
            <a:r>
              <a:t>System-Metrics and Files-Search now honor the effective configuration and nondefault ports, including UTF-8 BOM files. The path-security and chat-chain readers accept the same encoding without weakening directory boundaries. Both auxiliary context chains use the same effective paths and endpoints; system sockets close after each request and file RPCs have deadlines. Parametrizer restores connections when a saved file contains mappings without explicit connection lists. Model-free agents avoid unrelated model-setting reads. Numeric messaging identifiers keep the same string/integer contract in public and keyed templates.</a:t>
            </a:r>
          </a:p>
          <a:p/>
          <a:p>
            <a:r>
              <a:t>A rejected embedding request must fail the flow before its next operation. The campaign's provider returned HTTP 401; this is recorded as a blocked capability with a tested failure path. The desktop-control tool also blocked the compiled uninstaller launch. Backend cleanup tests do not certify its unobserved native confirmation and completion screens.</a:t>
            </a:r>
          </a:p>
          <a:p/>
          <a:p>
            <a:r>
              <a:t>Detailed results and retained failed attempts are in docs/changes/2026-10-04-release-validation.md. The review profile requested by Angela lists each changed file and code segment. The work was committed on October 4 and is carried by the v1.76.0 tag.</a:t>
            </a:r>
          </a:p>
          <a:p/>
          <a:p>
            <a:r>
              <a:t>Real user paths: Installer, login, Admin, chat, both panels and Windows file opening.</a:t>
            </a:r>
          </a:p>
          <a:p/>
          <a:p>
            <a:r>
              <a:t>File fidelity: Mixed styles, geometry and rendered text checked across save/open cycles.</a:t>
            </a:r>
          </a:p>
          <a:p/>
          <a:p>
            <a:r>
              <a:t>Runtime boundaries: Configured MCP endpoints, agent defaults, mappings and identifier types.</a:t>
            </a:r>
          </a:p>
          <a:p/>
          <a:p>
            <a:r>
              <a:t>Explicit limits: Provider failure and blocked native launch remain visible in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horizontal divider above Run output to give it 5% to 95% of the available pane height.</a:t>
            </a:r>
          </a:p>
          <a:p/>
          <a:p>
            <a:r>
              <a:t>The percentage uses the combined canvas and output height, excluding headers, the status strip and the divider. The initial allocation is 20%. The canvas and Run output each keep their own scrollbar. Moving the divider preserves canvas zoom, node dimensions and text size. The Operations bar keeps its separate horizontal sizing control.</a:t>
            </a:r>
          </a:p>
          <a:p/>
          <a:p>
            <a:r>
              <a:t>Tab to the divider and use Up/Down for one percentage point, or Shift+Up/Down for five. Home selects 5% and End selects 95%. Escape ends a drag. Click the Run output heading to collapse it. Reopening restores the chosen height, and resizing the window retains the ratio.</a:t>
            </a:r>
          </a:p>
          <a:p/>
          <a:p>
            <a:r>
              <a:t>The browser remembers the output height per signed-in user. This layout preference does not modify a flow file, mark the diagram as edited or add an Undo step. Resizing the panel also leaves the run and its output unchanged.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a:p/>
          <a:p>
            <a:r>
              <a:t>A second account signed in from the same browser takes over every open tab, while an open chat keeps its first account, so loading is refused. Since v1.76.0 the message names that cause and the fix, reloading with F5, the header comes back and the progress dialog marks the failed step.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or drop a .md file and the canvas renders it; one click shows the original text.</a:t>
            </a:r>
          </a:p>
          <a:p/>
          <a:p>
            <a:r>
              <a:t>Open, Refresh, a dropped file, a generated-file link and Context ▸ Set file as context all recognise .md and .markdown. Preview renders CommonMark and GitHub-flavored Markdown: headings, tables, task lists, fenced code through the existing highlighter and safe embedded HTML such as expandable details. Source shows the full original text with line numbers.</a:t>
            </a:r>
          </a:p>
          <a:p/>
          <a:p>
            <a:r>
              <a:t>Rendering is local: Marked 18.1.0 and DOMPurify 3.4.16 are vendored with pinned integrity, so nothing is fetched from a CDN. The sanitizer allowlists HTML and attributes, scopes ids and restricts resource protocols. Choose folder resolves relative images and links from files you select; they stay on your device, and a relative URL never reaches an application endpoint.</a:t>
            </a:r>
          </a:p>
          <a:p/>
          <a:p>
            <a:r>
              <a:t>Copy, Use as context and Save always take the Markdown source, never the flattened preview; Save returns the original bytes, UTF-8 BOM and CRLF included. Shipped in v1.82.0 and checked on October 11 with 30 of 30 visible browser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listener on every page reads each dropped file and sends it to the mechanism that fits it.</a:t>
            </a:r>
          </a:p>
          <a:p/>
          <a:p>
            <a:r>
              <a:t>Drag a file from Windows Explorer onto the chat, the Agentic Control Panel, the Prompt Flow Panel, the welcome and login pages, the admin pages or the PDF viewer. A small overlay says what will happen on that page. The listener claims only file drags, so text you drag, such as an agent name or a palette item, is never touched, and a drop on a file input is left to the browser.</a:t>
            </a:r>
          </a:p>
          <a:p/>
          <a:p>
            <a:r>
              <a:t>It decides by the bytes, not the name: the extension, the MIME type, magic numbers, a byte-order-mark aware text-or-binary test and a real JSON parse that recognises an MCP configuration in every common shape, UTF-16 files from PowerShell included. A bare map of names to servers counts only when every value is a server, so ordinary JSON is never hijacked. An MCP import is never silent: a confirmation lists the servers and warns that they can start programs on this computer.</a:t>
            </a:r>
          </a:p>
          <a:p/>
          <a:p>
            <a:r>
              <a:t>Each page tells the listener what it can do, and the same registration writes the drag overlay. Up to 25 files at a time; a folder cannot be dropped because browsers do not reveal its path. Shipped in v1.83.0 and checked on October 14 with 138 router checks, 22 new tests and 58 visible browser checks.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 Since v1.76.0 Save also opens the Model Brain's Auto-tuning dialog, which tunes each configured model in front of you and names the source of every value.</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 both panels, login, welcome, Usage, the PDF viewer and the admin pages share one identity.</a:t>
            </a:r>
          </a:p>
          <a:p/>
          <a:p>
            <a:r>
              <a:t>One set of design tokens defines the slate surfaces, teal accent, readable text, borders, fonts and scrollbars for every first-party page, including a themed Django admin that keeps its light, dark and automatic modes. Dialog colors follow the same tokens, and the dialog theme always loads last.</a:t>
            </a:r>
          </a:p>
          <a:p/>
          <a:p>
            <a:r>
              <a:t>All five pane dividers share one grip and one gesture model: pointer capture, arrows for one percent, Shift for five, Home and End, and clean cancellation on Escape, blur or a lost pointer. Resizable dialogs accept all eight edges and corners and the keyboard, and a modal can no longer slide under the expanded menu at 400 percent zoom.</a:t>
            </a:r>
          </a:p>
          <a:p/>
          <a:p>
            <a:r>
              <a:t>Shared tokens: One palette, font set and scrollbar style for every page.</a:t>
            </a:r>
          </a:p>
          <a:p/>
          <a:p>
            <a:r>
              <a:t>Five dividers: One grip, one keyboard model, one clean cancel.</a:t>
            </a:r>
          </a:p>
          <a:p/>
          <a:p>
            <a:r>
              <a:t>Dialogs: Eight resize directions, keyboard resizing, buttons that match.</a:t>
            </a:r>
          </a:p>
          <a:p/>
          <a:p>
            <a:r>
              <a:t>High zoom: A modal stays above the menu at 400 percent.</a:t>
            </a:r>
          </a:p>
          <a:p/>
          <a:p>
            <a:r>
              <a:t>Evidence: 175 source tests and visible checks passed on October 11.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86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Terminater: Types commands into a real CMD or PowerShell terminal the user watches, and can hand the keyboard over.</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Terminater: Types commands into a real CMD or PowerShell terminal the user watches, and can hand the keyboard over.</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a:p/>
          <a:p>
            <a:r>
              <a:t>Since v1.76.0 a PDF is reported only when the delivered file really exists. A build that had to cut a quarter or more of its body is delivered as &lt;name&gt;.DEGRADED.pdf, never under the name you asked for, and in a document over 8,000 characters the model rung first repairs only the lines around the compiler's error with a capped request; a reply that never came forbids bisect.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A comma-separated list reads several images.</a:t>
            </a:r>
          </a:p>
          <a:p/>
          <a:p>
            <a:r>
              <a:t>Video-Analyzer · robotics: A deterministic motion gate plus two vision models; PASS only when both agree.</a:t>
            </a:r>
          </a:p>
          <a:p/>
          <a:p>
            <a:r>
              <a:t>Video-Analyzer · transcription: Timestamped speech from chosen audio tracks or a web link, locally.</a:t>
            </a:r>
          </a:p>
          <a:p/>
          <a:p>
            <a:r>
              <a:t>Video-Analyzer · summary: Speech plus sampled visual evidence: scenes, text, facts, decisions and limits; a web link is downloaded first.</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18 dependency audit covers all 85 agents, build helpers, optional imports and tests.</a:t>
            </a:r>
          </a:p>
          <a:p/>
          <a:p>
            <a:r>
              <a:t>The refreshed static guard scanned 855 Python files and 72 directly referenced distributions. The complete requirements file pins all 263 distributions, including CPU PyTorch. A clean Python installation, dependency consistency check and runtime imports passed.</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18: no missing declarations, syntax errors or unreviewed dynamic imports.</a:t>
            </a:r>
          </a:p>
          <a:p/>
          <a:p>
            <a:r>
              <a:t>Earlier evidence: September 27: main/ESPHome dry runs and temporary-environment dependency smoke checks passed.</a:t>
            </a:r>
          </a:p>
          <a:p/>
          <a:p>
            <a:r>
              <a:t>Limits: A clean Python dependency installation does not certify the compiled installer or every external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a:p/>
          <a:p>
            <a:r>
              <a:t>Both MCP services honor their configured hosts and ports in source and frozen mode; their client URIs must match. Files-Search also honors its worker count and bounds RPC waits. UTF-8 BOM configuration files and CONFIG_PATH overrides are supported by both clients.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September 27 repair, carried since v1.72.1, ships the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1.87.0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Current Release. Version v1.87.0, the current release, published on GitHub.</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latest released version is still v1.87.0. This finished work sits on main after it.</a:t>
            </a:r>
          </a:p>
          <a:p/>
          <a:p>
            <a:r>
              <a:t>Terminater is workflow agent number 86. It raises real CMD and PowerShell terminals in a new Terminals area (Views → Terminals, or Ctrl+`) on the chat, Agentic Control Panel and Prompt Flow Panel pages. Tlamatini types every key like a person, about 50 words per minute and never pasted, waits for the command, reads its whole output and reports the exit code. Esc takes the keyboard; a command can hand it to you on purpose with &lt;&lt;USER:hint&gt;&gt;.</a:t>
            </a:r>
          </a:p>
          <a:p/>
          <a:p>
            <a:r>
              <a:t>A command that stops answering is flagged hung and can be aborted without losing the terminal; one that exits with an error is a red Exec Report row even though the terminal worked. One hub in the Django process owns the shells, so closing a page never closes one. It is wrapped chat agent number 67, the eighth Prompt Flow Panel operation, and has three safe cards in the Catalog of Prompts.</a:t>
            </a:r>
          </a:p>
          <a:p/>
          <a:p>
            <a:r>
              <a:t>The build now proves it inside the frozen app: check_terminater drives a real PowerShell, a real cmd.exe, the shipped pool agent under the carried Python and a WebSocket round trip, and packaging stops if it fails. On October 19, 774 unit tests passed. The saved chat-page and canvas visible suites were not re-run as one clean pass after their last fixes.</a:t>
            </a:r>
          </a:p>
          <a:p/>
          <a:p>
            <a:r>
              <a:t>The private (keyed) release now carries the data of the machine that builds it: every External MCP server of the installed copy and its active choice, merged into a gitignored private catalog, and the whole data.keys vault. The public builder refuses both. An in-app update does not keep data.keys.</a:t>
            </a:r>
          </a:p>
          <a:p/>
          <a:p>
            <a:r>
              <a:t>Terminals: Real CMD and PowerShell you can watch, typed like a person, with a hand-over.</a:t>
            </a:r>
          </a:p>
          <a:p/>
          <a:p>
            <a:r>
              <a:t>Counts: 86 agents · 67 wrapped · 109 tools · 217 migrations.</a:t>
            </a:r>
          </a:p>
          <a:p/>
          <a:p>
            <a:r>
              <a:t>Gate: check_terminater runs inside the frozen app; packaging stops on failure.</a:t>
            </a:r>
          </a:p>
          <a:p/>
          <a:p>
            <a:r>
              <a:t>Private release: External MCP servers and data.keys travel in the keyed build only.</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v1.87.0 is the latest released version, tagged on October 18.</a:t>
            </a:r>
          </a:p>
          <a:p/>
          <a:p>
            <a:r>
              <a:t>The catalog now holds 85 workflow agents: Gatewayer, Gateway-Relayer, Node-Manager and Zavuerer were removed. Migration 0214 deletes their rows and catalog prompts without renumbering anything that remains.</a:t>
            </a:r>
          </a:p>
          <a:p/>
          <a:p>
            <a:r>
              <a:t>The Uninstaller moves the installation aside on the same drive instead of copying it, and offers Retry cleanup when a locked file stays behind. The frozen release no longer carries the media and browser libraries twice. About → Usage waits for real data, and every tracked Python file has a quality gate.</a:t>
            </a:r>
          </a:p>
          <a:p/>
          <a:p>
            <a:r>
              <a:t>The v1.87.0 tag was created one minute before the work it names. Both follow-up commits landed on main right after it, so a build of main reports 1.87.0 and carries all of it.</a:t>
            </a:r>
          </a:p>
          <a:p/>
          <a:p>
            <a:r>
              <a:t>85 agents: Four retired agents removed in a forward migration.</a:t>
            </a:r>
          </a:p>
          <a:p/>
          <a:p>
            <a:r>
              <a:t>Removal: Move aside, verify, Retry cleanup for locked leftovers.</a:t>
            </a:r>
          </a:p>
          <a:p/>
          <a:p>
            <a:r>
              <a:t>Release size: Media and browser libraries ship once, in the carried Python.</a:t>
            </a:r>
          </a:p>
          <a:p/>
          <a:p>
            <a:r>
              <a:t>Quality: npm run lint:python checks every tracked Python file.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Uninstaller moves entries into a recovery folder instead of copying and hashing them.</a:t>
            </a:r>
          </a:p>
          <a:p/>
          <a:p>
            <a:r>
              <a:t>Each move is recorded in a schema 2 journal before and after it happens. A destination collision is refused, and the journal stays until cleanup succeeds. If a reversible step fails, the entries and the Windows state are put back.</a:t>
            </a:r>
          </a:p>
          <a:p/>
          <a:p>
            <a:r>
              <a:t>If the application is removed but a locked file remains, the window says Application removed; cleanup incomplete, lists what remains and offers Retry cleanup. Reopening the Uninstaller can finish the job later. agents/ and the six content folders that hold files are kept.</a:t>
            </a:r>
          </a:p>
          <a:p/>
          <a:p>
            <a:r>
              <a:t>A filesystem benchmark removed 64,264 package files (3.88 GB) in 22.3 seconds with all 254 preserved hashes unchanged. It measures the filesystem phase; a compiled-client run remains the acceptance test.</a:t>
            </a:r>
          </a:p>
          <a:p/>
          <a:p>
            <a:r>
              <a:t>Journal: Every move recorded before and after.</a:t>
            </a:r>
          </a:p>
          <a:p/>
          <a:p>
            <a:r>
              <a:t>Retry: Locked leftovers can be finished later.</a:t>
            </a:r>
          </a:p>
          <a:p/>
          <a:p>
            <a:r>
              <a:t>Kept: agents/ and the content folders that hold files.</a:t>
            </a:r>
          </a:p>
          <a:p/>
          <a:p>
            <a:r>
              <a:t>Benchmark: 64,264 files in 22.3 s, October 18.</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frozen web process stops carrying libraries that only the pool agents use.</a:t>
            </a:r>
          </a:p>
          <a:p/>
          <a:p>
            <a:r>
              <a:t>cv2, ffpyplayer, av, playwright, faster_whisper, ctranslate2 and onnxruntime run under the carried Python, so build.py keeps them out of the frozen interpreter. Chromium and FFmpeg revisions come from the carried Playwright manifest.</a:t>
            </a:r>
          </a:p>
          <a:p/>
          <a:p>
            <a:r>
              <a:t>Only bytecode caches whose source sits beside them are removed, Git's copied uninstaller files are dropped and the package is written with DEFLATE level 9. A release-payload test pins who owns each library.</a:t>
            </a:r>
          </a:p>
          <a:p/>
          <a:p>
            <a:r>
              <a:t>About → Usage shows Checking usage… until real report data arrives, explains a failed connection under Connection details and retries by itself. Its account request is a bodyless POST /api/me: a {} body made the local server reset the connection.</a:t>
            </a:r>
          </a:p>
          <a:p/>
          <a:p>
            <a:r>
              <a:t>Ownership: Pool-only libraries live in the carried Python.</a:t>
            </a:r>
          </a:p>
          <a:p/>
          <a:p>
            <a:r>
              <a:t>Package: Bytecode, uninstaller copies and compression tuned.</a:t>
            </a:r>
          </a:p>
          <a:p/>
          <a:p>
            <a:r>
              <a:t>Usage: Checking usage… until real data arrives.</a:t>
            </a:r>
          </a:p>
          <a:p/>
          <a:p>
            <a:r>
              <a:t>Account: A bodyless POST /api/me.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source-wide sweep re-derived every count and fixed what it found.</a:t>
            </a:r>
          </a:p>
          <a:p/>
          <a:p>
            <a:r>
              <a:t>Grepper's glob and Globber's pattern now understand brace sets such as *.{js,py}, lists such as *.py,*.js and folder globs such as src/**/*.py. Before, each searched zero files and answered no_matches. Globber walks the tree once for several patterns: three minutes became ten seconds.</a:t>
            </a:r>
          </a:p>
          <a:p/>
          <a:p>
            <a:r>
              <a:t>Six wrapped tools whose label names an action (Send Email, Move File, Summarize Text and the three Kyber tools) now obey their agent's Configure Agents checkbox. A loaded flow keeps FlowCreator's label, and the Python quality gate runs in Windows Terminal.</a:t>
            </a:r>
          </a:p>
          <a:p/>
          <a:p>
            <a:r>
              <a:t>The daily chat test reads this repository again instead of an old copy, and its question banks cover all 85 agents and all 66 wrapped tools. Configure Agents and Configure MCPs now open with the boxes the server saved, so a quick Continue can no longer switch most agents off.</a:t>
            </a:r>
          </a:p>
          <a:p/>
          <a:p>
            <a:r>
              <a:t>Patterns: Brace sets, lists and folder globs in Grepper and Globber.</a:t>
            </a:r>
          </a:p>
          <a:p/>
          <a:p>
            <a:r>
              <a:t>Gates: Six wrapped tools follow their agent's checkbox; Configure opens with the saved ticks.</a:t>
            </a:r>
          </a:p>
          <a:p/>
          <a:p>
            <a:r>
              <a:t>Harness: The daily chat test reads this repository.</a:t>
            </a:r>
          </a:p>
          <a:p/>
          <a:p>
            <a:r>
              <a:t>Quality gate: Runs in Windows Terminal, the Windows 11 default.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17: a missing destination becomes a folder, and the atlas rebuilds itself.</a:t>
            </a:r>
          </a:p>
          <a:p/>
          <a:p>
            <a:r>
              <a:t>Mover creates a destination that does not exist yet, such as scripts/architecture_atlas, as a folder, and the file keeps its own name. A rename still happens when the destination names a file: it exists as a file, has an extension, or the source has none either. A trailing slash always means a folder.</a:t>
            </a:r>
          </a:p>
          <a:p/>
          <a:p>
            <a:r>
              <a:t>python scripts/architecture_atlas/build_architecture_pdf.py regenerates Tlamatini-Architecture.pdf with Tlamatini's own LaTeXer and verifies that every tracked file appears in it. Exit codes 0, 1, 2 and 3 mean ok, typeset failed, a file left unplaced and a file missing.</a:t>
            </a:r>
          </a:p>
          <a:p/>
          <a:p>
            <a:r>
              <a:t>Mover: A new destination name becomes a folder.</a:t>
            </a:r>
          </a:p>
          <a:p/>
          <a:p>
            <a:r>
              <a:t>Rename: Only when the destination names a file.</a:t>
            </a:r>
          </a:p>
          <a:p/>
          <a:p>
            <a:r>
              <a:t>Atlas: Rebuilt by LaTeXer from the repository.</a:t>
            </a:r>
          </a:p>
          <a:p/>
          <a:p>
            <a:r>
              <a:t>Proof: Every tracked file appears in the atlas.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16, with a more flexible chat workspace.</a:t>
            </a:r>
          </a:p>
          <a:p/>
          <a:p>
            <a:r>
              <a:t>Refresh rereads the open document. Views makes room for full-width chat while keeping the canvas alive. Reset restores the layout without clearing content. The portrait and its frame remain centered over Mic through Send as the message box shrinks.</a:t>
            </a:r>
          </a:p>
          <a:p/>
          <a:p>
            <a:r>
              <a:t>The release retains the page-wide file-drop router, setup recovery, Markdown rendering, Usage dashboard, Model Brain, Compact mode, voice dictation and both flow editors.</a:t>
            </a:r>
          </a:p>
          <a:p/>
          <a:p>
            <a:r>
              <a:t>Refresh: The original document, read again without a chooser.</a:t>
            </a:r>
          </a:p>
          <a:p/>
          <a:p>
            <a:r>
              <a:t>Views: Show or hide the canvas and keep its state.</a:t>
            </a:r>
          </a:p>
          <a:p/>
          <a:p>
            <a:r>
              <a:t>Reset layout: Restore both panes and dock the avatar.</a:t>
            </a:r>
          </a:p>
          <a:p/>
          <a:p>
            <a:r>
              <a:t>Portrait: Center the whole frame above the complete action row.</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selects a file. Refresh reads that same source again, without writing to it.</a:t>
            </a:r>
          </a:p>
          <a:p/>
          <a:p>
            <a:r>
              <a:t>Native-picker access retains a browser-granted handle. Drops retain their handle or entry during the original event, including the PDF-frame relay. A snapshot-only source explains why Refresh is unavailable. A generated document rereads its authenticated saved-content endpoint.</a:t>
            </a:r>
          </a:p>
          <a:p/>
          <a:p>
            <a:r>
              <a:t>Text and Markdown are compared in full, including empty files. Equal size or timestamp is never proof of equal content. An unchanged document stays in place without rebuilding context. Changed content replaces the complete document only when preparation succeeds.</a:t>
            </a:r>
          </a:p>
          <a:p/>
          <a:p>
            <a:r>
              <a:t>Busy, unchanged, updated, permission and error states have visible feedback. Cancel, Clear, opening another document and a new operation invalidate pending reads. Failure preserves the previous document and explains the next action.</a:t>
            </a:r>
          </a:p>
          <a:p/>
          <a:p>
            <a:r>
              <a:t>Open: Choose a document and retain read access.</a:t>
            </a:r>
          </a:p>
          <a:p/>
          <a:p>
            <a:r>
              <a:t>Refresh: Reread the retained source without another picker.</a:t>
            </a:r>
          </a:p>
          <a:p/>
          <a:p>
            <a:r>
              <a:t>Failure: Keep the previous content and allow retry.</a:t>
            </a:r>
          </a:p>
          <a:p/>
          <a:p>
            <a:r>
              <a:t>Context: Prepare changed content before replacing active context.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Refreshing Markdown or PDF preserves the view while the underlying document changes.</a:t>
            </a:r>
          </a:p>
          <a:p/>
          <a:p>
            <a:r>
              <a:t>Markdown retains Preview or Source, reading position and explicitly selected resources. Its source bytes remain the basis for Save. Folder-selected resource files remain snapshots and can be selected again when those separate files change.</a:t>
            </a:r>
          </a:p>
          <a:p/>
          <a:p>
            <a:r>
              <a:t>PDF Refresh stages a new range-backed PDF.js viewer before retiring the old one. It keeps page, zoom, rotation and scroll mode, clamping the page to a shorter document. A corrupt PDF or cancelled password entry leaves the prior viewer visible. The staged iframe stays attached during the swap so the browser does not reload it.</a:t>
            </a:r>
          </a:p>
          <a:p/>
          <a:p>
            <a:r>
              <a:t>PDFs always reload on Refresh. No whole-file hash, eager whole-document read or metadata-only equality claim is introduced. Active-context replacement keeps the established text/image options.</a:t>
            </a:r>
          </a:p>
          <a:p/>
          <a:p>
            <a:r>
              <a:t>Markdown: Preview/Source, position and selected resources stay.</a:t>
            </a:r>
          </a:p>
          <a:p/>
          <a:p>
            <a:r>
              <a:t>PDF: Page, zoom, rotation and scroll mode stay.</a:t>
            </a:r>
          </a:p>
          <a:p/>
          <a:p>
            <a:r>
              <a:t>Recovery: A failed replacement retains the previous viewer.</a:t>
            </a:r>
          </a:p>
          <a:p/>
          <a:p>
            <a:r>
              <a:t>Evidence: 20 visible Chrome checks on October 15.</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Views → Canvas shows or hides the canvas without unloading it.</a:t>
            </a:r>
          </a:p>
          <a:p/>
          <a:p>
            <a:r>
              <a:t>Hiding the canvas gives the chat the full width. The document, PDF viewer, Markdown mode, Refresh source, draft, history and loaded context remain intact. Open, a supported document drop and a generated-file link reveal the canvas when their result needs it.</a:t>
            </a:r>
          </a:p>
          <a:p/>
          <a:p>
            <a:r>
              <a:t>The choice is stored per account in that browser and synchronized across its tabs. It survives reload and browser restart. A different browser profile or origin has separate preferences.</a:t>
            </a:r>
          </a:p>
          <a:p/>
          <a:p>
            <a:r>
              <a:t>Changing visibility cancels divider gestures. Focus moves to the Views menu only when its current region disappears, and the check mark exposes its state to assistive technology.</a:t>
            </a:r>
          </a:p>
          <a:p/>
          <a:p>
            <a:r>
              <a:t>Full width: Hide the canvas to give the chat more room.</a:t>
            </a:r>
          </a:p>
          <a:p/>
          <a:p>
            <a:r>
              <a:t>Continuity: Keep the open document and active context.</a:t>
            </a:r>
          </a:p>
          <a:p/>
          <a:p>
            <a:r>
              <a:t>Preference: Saved per account and browser origin.</a:t>
            </a:r>
          </a:p>
          <a:p/>
          <a:p>
            <a:r>
              <a:t>Navigation: Opening a document reveals its canvas.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portrait and its frame share the center of the entire Mic-to-Send action row.</a:t>
            </a:r>
          </a:p>
          <a:p/>
          <a:p>
            <a:r>
              <a:t>Previously, reducing the composer height shrank the portrait but left it anchored to the right edge. The layout now measures from Mic's left edge to Send's right edge and centers the whole dock above that span. Both dividers, narrow layouts and zoom follow the same measurement.</a:t>
            </a:r>
          </a:p>
          <a:p/>
          <a:p>
            <a:r>
              <a:t>The portrait remains square with a 120-pixel minimum. Its floating size remains independent. Hiding the canvas docks the portrait and disables floating resize through pointer, keyboard and API paths. Showing the canvas enables resizing again and leaves the portrait docked.</a:t>
            </a:r>
          </a:p>
          <a:p/>
          <a:p>
            <a:r>
              <a:t>Views → Reset layout shows both panes, restores their initial sizes and docks the avatar. It does not clear the document, draft, history or context.</a:t>
            </a:r>
          </a:p>
          <a:p/>
          <a:p>
            <a:r>
              <a:t>Alignment: Mic's left edge through Send's right edge.</a:t>
            </a:r>
          </a:p>
          <a:p/>
          <a:p>
            <a:r>
              <a:t>Sizing: A square portrait, never below 120 pixels.</a:t>
            </a:r>
          </a:p>
          <a:p/>
          <a:p>
            <a:r>
              <a:t>Reset: Restore layout while keeping content.</a:t>
            </a:r>
          </a:p>
          <a:p/>
          <a:p>
            <a:r>
              <a:t>Evidence: 19 visible checks; center error below 0.02 CSS px, October 16.</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runtime and self-modify inventories cover the Views template and scripts.</a:t>
            </a:r>
          </a:p>
          <a:p/>
          <a:p>
            <a:r>
              <a:t>The runtime receipt requires agent_page.html plus agent_page_layout.js, avatar_size.js, agent_page_canvas.js and agent_page_init.js. The snapshot also requires the two visible Views harnesses and the identity instructions. Refresh retains the existing PDF and Markdown carriers.</a:t>
            </a:r>
          </a:p>
          <a:p/>
          <a:p>
            <a:r>
              <a:t>There is no new migration or Python dependency. Its cache suffix was -avatar-center-1 and the Views template suffix is _views1. Visibility is browser-local and does not depend on Self-modify.</a:t>
            </a:r>
          </a:p>
          <a:p/>
          <a:p>
            <a:r>
              <a:t>Dated evidence includes 160 packaging/self-update/self-modify tests and 13 visible frozen frontend checks on October 16. The latter used an actual executable with byte-verified current frontend assets in a disposable fixture. The carriage guide records the exact scope.</a:t>
            </a:r>
          </a:p>
          <a:p/>
          <a:p>
            <a:r>
              <a:t>Runtime: Required template and four cooperating scripts.</a:t>
            </a:r>
          </a:p>
          <a:p/>
          <a:p>
            <a:r>
              <a:t>Snapshot: Sources, identity and both Views harnesses.</a:t>
            </a:r>
          </a:p>
          <a:p/>
          <a:p>
            <a:r>
              <a:t>Database: No new migration; 217 migrations remain.</a:t>
            </a:r>
          </a:p>
          <a:p/>
          <a:p>
            <a:r>
              <a:t>Version: v1.85.0 across the application at the time.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14 maintenance commit updated catalog/configuration data and scrubbed test fixtures.</a:t>
            </a:r>
          </a:p>
          <a:p/>
          <a:p>
            <a:r>
              <a:t>Commit 1a8c5093 changed FlowCreator catalog data, the local External MCP catalog and test fixtures. It introduced no new product subsystem, agent type, migration or dependency. Private catalog values are excluded from this dossier.</a:t>
            </a:r>
          </a:p>
          <a:p/>
          <a:p>
            <a:r>
              <a:t>The current audit reads the actual implementation and keeps historical test results dated. A fixture value is test data, not a deployed credential or evidence that a provider ran.</a:t>
            </a:r>
          </a:p>
          <a:p/>
          <a:p>
            <a:r>
              <a:t>Maintenance: Catalog data and test fixtures changed in commit 1a8c5093.</a:t>
            </a:r>
          </a:p>
          <a:p/>
          <a:p>
            <a:r>
              <a:t>Product surface: No new subsystem, agent type, migration or dependency.</a:t>
            </a:r>
          </a:p>
          <a:p/>
          <a:p>
            <a:r>
              <a:t>Privacy: Public documents exclude private catalog values.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14: a dropped file never errors, never opens as text by mistake and never navigates away.</a:t>
            </a:r>
          </a:p>
          <a:p/>
          <a:p>
            <a:r>
              <a:t>Dropping an MCP .json on the chat used to report an error, on the canvas it opened as plain text and killed the import, and on every other page the browser left for the file. One listener now sits in the head of the chat, both panels, the welcome and login pages, the admin pages and the PDF viewer frame, as the File Drop section describes. It claims only file drags.</a:t>
            </a:r>
          </a:p>
          <a:p/>
          <a:p>
            <a:r>
              <a:t>It decides by the bytes, not the name, and sends each kind to its own mechanism: an MCP .json to a confirmation and the External MCP catalog, a .flw or .fpmt flow to its editor, an image to the message, a PDF, Markdown or code file to the chat canvas, and anything else to a plain explanation.</a:t>
            </a:r>
          </a:p>
          <a:p/>
          <a:p>
            <a:r>
              <a:t>It replaced four per-page handlers. Checked with 138 router checks against the real script, 22 new Django tests and a visible Chrome run of 58 checks with 24 Shoter photographs, all on October 14.</a:t>
            </a:r>
          </a:p>
          <a:p/>
          <a:p>
            <a:r>
              <a:t>One listener: Capture phase, file drags only; text drags are untouched.</a:t>
            </a:r>
          </a:p>
          <a:p/>
          <a:p>
            <a:r>
              <a:t>By the bytes: Extension, MIME, magic numbers, BOM-aware text test, real JSON parse.</a:t>
            </a:r>
          </a:p>
          <a:p/>
          <a:p>
            <a:r>
              <a:t>MCP import: Never silent: a confirmation lists the servers first.</a:t>
            </a:r>
          </a:p>
          <a:p/>
          <a:p>
            <a:r>
              <a:t>Everywhere: Chat, both panels, welcome, login, admin and the PDF frame.</a:t>
            </a:r>
          </a:p>
          <a:p/>
          <a:p>
            <a:r>
              <a:t>Evidence: 138 router checks, 22 tests, 58 visible checks, 24 photographs.</a:t>
            </a:r>
          </a:p>
          <a:p/>
          <a:p>
            <a:r>
              <a:t>Tag: v1.83.0 at a2914019, pushed and published October 14.</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63a62cc1 on October 13, credited to Tlamatini's-AutoBot; shipped in v1.83.0.</a:t>
            </a:r>
          </a:p>
          <a:p/>
          <a:p>
            <a:r>
              <a:t>The divider above the message box used to reserve the portrait's current width as the box's minimum height, so a wide portrait kept the box from shrinking. It now reserves only a 120-pixel portrait plus its controls, and the docked portrait follows the divider: its side is the smaller of a quarter of the form width and the height above the Send and Mic row, never below 120 pixels.</a:t>
            </a:r>
          </a:p>
          <a:p/>
          <a:p>
            <a:r>
              <a:t>At the initial 1440-pixel window the portrait went from 282 to 120 pixels, returning about 162 pixels to the chat history. Nineteen docked-avatar checkpoints and all eighteen existing composer checkpoints passed in a visible Chrome window.</a:t>
            </a:r>
          </a:p>
          <a:p/>
          <a:p>
            <a:r>
              <a:t>Down: Dragging the divider down shrinks the portrait to a 120-pixel square.</a:t>
            </a:r>
          </a:p>
          <a:p/>
          <a:p>
            <a:r>
              <a:t>Up: Dragging it up gives the portrait back, up to its original column.</a:t>
            </a:r>
          </a:p>
          <a:p/>
          <a:p>
            <a:r>
              <a:t>Keyboard: Arrows, Shift+arrows, Home, End, double-click and Escape still work.</a:t>
            </a:r>
          </a:p>
          <a:p/>
          <a:p>
            <a:r>
              <a:t>Evidence: 19 docked-avatar and 18 composer checkpoints passed.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91ff8453 on October 12, credited to Tlamatini's-AutoBot; shipped in v1.83.0.</a:t>
            </a:r>
          </a:p>
          <a:p/>
          <a:p>
            <a:r>
              <a:t>When the launcher refuses an Image-Interpreter or Video-Analyzer call before the agent starts, because a setting does not exist or a mandatory one is missing, the refusal is marked as a request error. It no longer raises the red fatal-analysis dialog and its sound; the model simply corrects the call. A real start failure still raises the dialog.</a:t>
            </a:r>
          </a:p>
          <a:p/>
          <a:p>
            <a:r>
              <a:t>Video-Analyzer's description now says it has no transcription engine setting, which belongs to Whisperer. Five new tests pin the behavior, and it reaches installations with v1.83.0.</a:t>
            </a:r>
          </a:p>
          <a:p/>
          <a:p>
            <a:r>
              <a:t>Request errors: Refused before any model ran; the model retries.</a:t>
            </a:r>
          </a:p>
          <a:p/>
          <a:p>
            <a:r>
              <a:t>Real failures: Still raise the accumulated fatal dialog.</a:t>
            </a:r>
          </a:p>
          <a:p/>
          <a:p>
            <a:r>
              <a:t>No engine setting: engine= belongs to Whisperer, not Video-Analyzer.</a:t>
            </a:r>
          </a:p>
          <a:p/>
          <a:p>
            <a:r>
              <a:t>Tests: Five tests in RequestRefusalIsNotFatalTests.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12: new setup windows, and Markdown that opens as a page.</a:t>
            </a:r>
          </a:p>
          <a:p/>
          <a:p>
            <a:r>
              <a:t>The Installer and Uninstaller share one window that prepares and verifies a recovery copy before changing any file, restores an interrupted run, names a locked file and keeps every error on screen with Retry, as the Setup Windows section describes. Markdown files now open in the chat canvas as a rendered page with their source kept intact.</a:t>
            </a:r>
          </a:p>
          <a:p/>
          <a:p>
            <a:r>
              <a:t>The release was published on GitHub on October 12 and was the latest until v1.83.0 replaced it on October 14. Its zip was a self-modify build whose package carried the setup windows, the Markdown canvas, the shared theme of v1.80.0 and the web links of v1.79.0. There is no v1.81.0 tag.</a:t>
            </a:r>
          </a:p>
          <a:p/>
          <a:p>
            <a:r>
              <a:t>The setup campaign ran visibly on October 11 and 12: 52 interface checkpoints, 28 recovery checks, 21 lifecycle checks and 61 mechanics tests passed, with five real installations and four real removals passing their independent audits. The Markdown canvas passed 30 of 30 visible checkpoints. The campaign did not install the published zip.</a:t>
            </a:r>
          </a:p>
          <a:p/>
          <a:p>
            <a:r>
              <a:t>Setup windows: One recoverable window for installing and removing.</a:t>
            </a:r>
          </a:p>
          <a:p/>
          <a:p>
            <a:r>
              <a:t>Markdown: Rendered Preview, original Source, offline sanitizer.</a:t>
            </a:r>
          </a:p>
          <a:p/>
          <a:p>
            <a:r>
              <a:t>Published: October 12; the latest release until v1.83.0.</a:t>
            </a:r>
          </a:p>
          <a:p/>
          <a:p>
            <a:r>
              <a:t>No v1.81.0: The number was skipped; v1.80.0 and v1.79.0 come before it.</a:t>
            </a:r>
          </a:p>
          <a:p/>
          <a:p>
            <a:r>
              <a:t>Campaign: Five installations and four removals passed; one removal stopped safely.</a:t>
            </a:r>
          </a:p>
          <a:p/>
          <a:p>
            <a:r>
              <a:t>Followed by: v1.83.0 on October 14 carries the three later changes.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 and v1.83.0.</a:t>
            </a:r>
          </a:p>
          <a:p/>
          <a:p>
            <a:r>
              <a:t>Every first-party page now draws from one set of design tokens, and the five pane dividers share one grip and one gesture model, as the One Look section describes. The side divider was first made to match the composer divider, then the whole site followed the same evening.</a:t>
            </a:r>
          </a:p>
          <a:p/>
          <a:p>
            <a:r>
              <a:t>The source campaign passed 175 tests with two platform skips, 17 composer checkpoints, 38 zoom and responsive checkpoints at 25 to 400 percent, 13 commentary checkpoints and all eight dialog resize directions, in a visible Chrome window. It certifies the source pages, not a model answer or an installed build.</a:t>
            </a:r>
          </a:p>
          <a:p/>
          <a:p>
            <a:r>
              <a:t>Tag: v1.80.0 at 82099963, pushed; no published release.</a:t>
            </a:r>
          </a:p>
          <a:p/>
          <a:p>
            <a:r>
              <a:t>Tokens: Slate surfaces, teal accent, one font set, one scrollbar.</a:t>
            </a:r>
          </a:p>
          <a:p/>
          <a:p>
            <a:r>
              <a:t>Dividers: Five seams, one grip, arrows and Shift, Home and End.</a:t>
            </a:r>
          </a:p>
          <a:p/>
          <a:p>
            <a:r>
              <a:t>Dialogs: Eight-direction and keyboard resizing; matching buttons.</a:t>
            </a:r>
          </a:p>
          <a:p/>
          <a:p>
            <a:r>
              <a:t>Evidence: 175 tests and visible zoom, composer and dialog checks.</a:t>
            </a:r>
          </a:p>
          <a:p/>
          <a:p>
            <a:r>
              <a:t>Delivered by: The published v1.82.0 and v1.83.0 releases.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 and v1.83.0.</a:t>
            </a:r>
          </a:p>
          <a:p/>
          <a:p>
            <a:r>
              <a:t>Given a YouTube or other web link, Video-Analyzer downloads one item itself: only the sound for a transcription, the picture for a summary or a robotics check. It keeps a private, self-updating downloader, updates it once and retries when a download fails, joins picture and sound without ffmpeg, and names every failure instead of returning silence.</a:t>
            </a:r>
          </a:p>
          <a:p/>
          <a:p>
            <a:r>
              <a:t>The chat parser no longer mistakes a link's ?v= for a setting, a request written in plain words fills in the link and the mode, and the result adds the source address and title. The model is told to hand links to Video-Analyzer and never to install a downloader itself. 141 unit tests and a visible 12-of-12 chat run passed on October 11.</a:t>
            </a:r>
          </a:p>
          <a:p/>
          <a:p>
            <a:r>
              <a:t>One item: Sound for transcription, picture for summary or robotics.</a:t>
            </a:r>
          </a:p>
          <a:p/>
          <a:p>
            <a:r>
              <a:t>Self-updating: A private downloader, refreshed once on failure.</a:t>
            </a:r>
          </a:p>
          <a:p/>
          <a:p>
            <a:r>
              <a:t>Named failures: Unavailable, login required, network, timeout and more.</a:t>
            </a:r>
          </a:p>
          <a:p/>
          <a:p>
            <a:r>
              <a:t>Prose works: Plain-language requests fill in the link and the mode.</a:t>
            </a:r>
          </a:p>
          <a:p/>
          <a:p>
            <a:r>
              <a:t>Evidence: 141 unit tests and a visible 12-of-12 chat run.</a:t>
            </a:r>
          </a:p>
          <a:p/>
          <a:p>
            <a:r>
              <a:t>Delivered by: The published v1.82.0 and v1.83.0 releases.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10; the Usage commit lands one commit after the tag. The published v1.78.0 zip carries it.</a:t>
            </a:r>
          </a:p>
          <a:p/>
          <a:p>
            <a:r>
              <a:t>The first October 10 campaign passed 18 Usage tests, 202 existing regressions and 24 visible browser checks, plus source/collected-static byte parity. The live Pro account was compared with Ollama Settings before and after a real model request, and Usage opened and refreshed while that request ran. Other-plan, failure and account-switch cases used explicitly synthetic fixtures, not live Free, Max or Unlimited subscriptions.</a:t>
            </a:r>
          </a:p>
          <a:p/>
          <a:p>
            <a:r>
              <a:t>A follow-up the same day made Usage recover when Ollama starts late. Temporary connection, timeout and invalid-response failures now retry after 15 seconds instead of a full minute, an upstream Retry-After is respected even when Refresh is clicked repeatedly, and a refused connection is checked again at once on Refresh or reopen. It passed 27 Usage tests and 12 visible browser checks: Refresh recovered in 0.47 seconds, reopening in 0.52 seconds and the automatic retry in 15.02 seconds.</a:t>
            </a:r>
          </a:p>
          <a:p/>
          <a:p>
            <a:r>
              <a:t>UsageDaily, migration 0213, records counters by user/model/UTC day through a bounded worker queue; it is best-effort telemetry, not a billing ledger. Both inclusion sweeps passed. Those campaigns ran from source. This refresh checked that the published zip matches the local build byte for byte (SHA-256); it did not install the release or rerun the browser tests.</a:t>
            </a:r>
          </a:p>
          <a:p/>
          <a:p>
            <a:r>
              <a:t>220 tests: 18 Usage plus 202 existing regressions passed on October 10.</a:t>
            </a:r>
          </a:p>
          <a:p/>
          <a:p>
            <a:r>
              <a:t>24 browser checks: Visible live Pro comparisons plus clearly synthetic edge cases.</a:t>
            </a:r>
          </a:p>
          <a:p/>
          <a:p>
            <a:r>
              <a:t>Recovery: 27 Usage tests and 12 visible checks; outages retried after 15 s.</a:t>
            </a:r>
          </a:p>
          <a:p/>
          <a:p>
            <a:r>
              <a:t>During a request: Usage opened/refreshed while a real model answer completed.</a:t>
            </a:r>
          </a:p>
          <a:p/>
          <a:p>
            <a:r>
              <a:t>In the release: The published zip's files match the latest October 10 commit.</a:t>
            </a:r>
          </a:p>
          <a:p/>
          <a:p>
            <a:r>
              <a:t>Privacy: Account observations and authenticated screenshots stay out of this dossier.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commits after the v1.78.0 tag, and carried by the published zip: the input area resizes once she floats.</a:t>
            </a:r>
          </a:p>
          <a:p/>
          <a:p>
            <a:r>
              <a:t>With the avatar undocked, the input form can now be dragged down to its own action buttons plus a six-pixel guard; the old 30% floor is gone. The toolbar, context gauge, attachment and dictation rows count with their measured heights. Docking her again restores room for the portrait. The divider answers the pointer, the arrow keys, Shift+arrows, Home, End and double-click, and reports its height to screen readers.</a:t>
            </a:r>
          </a:p>
          <a:p/>
          <a:p>
            <a:r>
              <a:t>Short windows scroll the composer inside itself and keep the chat history. The page occupies the real viewport: collapsed navigation opens over the workspace instead of pushing it down, and a 640-pixel minimum workspace keeps both panes on narrow screens. jQuery UI dialogs stay inside the window after opening, dragging or resizing, short native dialogs scroll as complete cards, and the avatar never covers a modal dialog.</a:t>
            </a:r>
          </a:p>
          <a:p/>
          <a:p>
            <a:r>
              <a:t>In a verified foreground Chrome window, 18 composer checks and 38 viewport checks passed at 100%, native 400% and 25% zoom and in a phone-sized window, with eight dialogs at each size. That is a desktop browser at phone-sized dimensions, not a physical phone; 20% zoom was unavailable and is not claimed. These layout checks do not certify model inference or audio capture.</a:t>
            </a:r>
          </a:p>
          <a:p/>
          <a:p>
            <a:r>
              <a:t>Shrinks to fit: Undocked, the input area can shrink to its buttons; no 30% floor.</a:t>
            </a:r>
          </a:p>
          <a:p/>
          <a:p>
            <a:r>
              <a:t>Dock again: Docking restores room for her portrait above the buttons.</a:t>
            </a:r>
          </a:p>
          <a:p/>
          <a:p>
            <a:r>
              <a:t>Keyboard: Arrows, Shift+arrows, Home, End and double-click on the divider.</a:t>
            </a:r>
          </a:p>
          <a:p/>
          <a:p>
            <a:r>
              <a:t>Short windows: The composer scrolls inside itself; chat history stays visible.</a:t>
            </a:r>
          </a:p>
          <a:p/>
          <a:p>
            <a:r>
              <a:t>Narrow screens: A 640-pixel workspace pans; the page and dialogs stay anchored.</a:t>
            </a:r>
          </a:p>
          <a:p/>
          <a:p>
            <a:r>
              <a:t>Evidence: 18 composer and 38 viewport checks passed, visibly, on October 10.</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Image-Interpreter now reads a comma-separated list of images, a change credited to Tlamatini herself.</a:t>
            </a:r>
          </a:p>
          <a:p/>
          <a:p>
            <a:r>
              <a:t>Commit 0e6fc72d is titled “Tlamatini's self-repair Image-Interpreter, by Tlamatini's-AutoBot” and is the commit the v1.78.0 tag points to. When the images field holds several paths separated by commas, each entry is resolved on its own, the results are merged, and repeated paths are removed while the original order is kept.</a:t>
            </a:r>
          </a:p>
          <a:p/>
          <a:p>
            <a:r>
              <a:t>The list is split only when the whole value is not itself an existing file, so a single image whose name contains a comma still resolves. An entry that matches nothing is logged as a warning and the other images are still analyzed. The 22-line change arrived without a new automated test; it ships in the published v1.78.0 release.</a:t>
            </a:r>
          </a:p>
          <a:p/>
          <a:p>
            <a:r>
              <a:t>Several images: Comma-separated paths are resolved one by one and merged.</a:t>
            </a:r>
          </a:p>
          <a:p/>
          <a:p>
            <a:r>
              <a:t>No duplicates: Repeated paths are removed; the original order is kept.</a:t>
            </a:r>
          </a:p>
          <a:p/>
          <a:p>
            <a:r>
              <a:t>Commas in names: A single existing file is never split at its comma.</a:t>
            </a:r>
          </a:p>
          <a:p/>
          <a:p>
            <a:r>
              <a:t>Honest warning: An entry that resolves to nothing is logged, not hidden.</a:t>
            </a:r>
          </a:p>
          <a:p/>
          <a:p>
            <a:r>
              <a:t>Self-repair: The commit credits Tlamatini's-AutoBot, her own self-modify work.</a:t>
            </a:r>
          </a:p>
          <a:p/>
          <a:p>
            <a:r>
              <a:t>In v1.78.0: The tag points to this commit; no dedicated test yet.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9; v1.78.0 replaced it as the Latest release on October 10.</a:t>
            </a:r>
          </a:p>
          <a:p/>
          <a:p>
            <a:r>
              <a:t>Every fixed line Tlamatini sends to the chat, and that her avatar reads aloud, is now written in the first person and addressed to the user by name: “I'm ready, Angela! You can start chatting with me now.” replaces “Your agent is ready.” The lines live in one place, agent/constants.py; a helper fills in the first name, or the user name when there is no first name, and leaves the name out cleanly when there is neither.</a:t>
            </a:r>
          </a:p>
          <a:p/>
          <a:p>
            <a:r>
              <a:t>Some of these lines are recognised by their words: the chat page uses them to know it is busy or ready, the avatar to decide what to say, and the Telegram bridge to filter its replies. Every one of those matchers changed in the same commit and still accepts the old wording, so a saved chat history and an older server still read correctly.</a:t>
            </a:r>
          </a:p>
          <a:p/>
          <a:p>
            <a:r>
              <a:t>The uninstaller no longer erases the user's own work. Uninstalling an installation had deleted the projects kept in Templates/, where STM32er, ESP32er, Arduiner, ESPHomer, Unrealer and LaTeXer create their projects by default. It now keeps application, applications, content_generated, context_files, doc_generated and Templates whenever they hold a file, always erases Temp/, and still keeps agents/. Only a rebuilt Uninstaller.exe carries this: a fresh install or a reinstall copies it, while an in-app update keeps the old one.</a:t>
            </a:r>
          </a:p>
          <a:p/>
          <a:p>
            <a:r>
              <a:t>Both changes are covered by unit tests (the message tests in test_compact_mode_switch.py and test_uninstaller_mechanics.py), recorded as passing in the October 9 documentation refresh.</a:t>
            </a:r>
          </a:p>
          <a:p/>
          <a:p>
            <a:r>
              <a:t>First person: Fixed chat lines say “I” and use your name.</a:t>
            </a:r>
          </a:p>
          <a:p/>
          <a:p>
            <a:r>
              <a:t>One source: Every fixed line lives in agent/constants.py.</a:t>
            </a:r>
          </a:p>
          <a:p/>
          <a:p>
            <a:r>
              <a:t>Old wording kept: Matchers accept both, so old histories still read.</a:t>
            </a:r>
          </a:p>
          <a:p/>
          <a:p>
            <a:r>
              <a:t>Templates kept: Uninstalling keeps the projects in Templates/.</a:t>
            </a:r>
          </a:p>
          <a:p/>
          <a:p>
            <a:r>
              <a:t>Temp erased: Scratch goes; folders holding your files stay.</a:t>
            </a:r>
          </a:p>
          <a:p/>
          <a:p>
            <a:r>
              <a:t>Rebuilt uninstaller: A reinstall carries the fix; an in-app update does not.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8; the Model Brain commit lands on main one commit after the tag. The published v1.76.0 release was built from main and carries it.</a:t>
            </a:r>
          </a:p>
          <a:p/>
          <a:p>
            <a:r>
              <a:t>Every model Tlamatini calls now receives its own sampling, thinking level and context size from formal sources, as the How She Works chapter describes. Config ▸ Models ▸ Save opens an Auto-tuning dialog that tunes each configured model in front of you, thinking models keep their own reasoning between tool calls inside one answer, and the stall clocks that threw finished work away are gone.</a:t>
            </a:r>
          </a:p>
          <a:p/>
          <a:p>
            <a:r>
              <a:t>The console window paints each line by level: errors red, fatal errors white on red, warnings yellow, debug grey and successes green, while tlamatini.log stays plain text. At startup she logs which program draws the window, the classic console or Windows Terminal, the default on Windows 11. console_colors and the standard NO_COLOR variable turn the colours off.</a:t>
            </a:r>
          </a:p>
          <a:p/>
          <a:p>
            <a:r>
              <a:t>Two smaller repairs ship beside it. A PDF refused because a second account signed in from the same browser now names that cause and the fix, reloading with F5, and the progress dialog marks the failed step. Two chat pages on two different models no longer make each other measure again forever: a model's verdict updates the boxes and stops. On two idle test pages the re-sends fell from 1,081 in one minute to none.</a:t>
            </a:r>
          </a:p>
          <a:p/>
          <a:p>
            <a:r>
              <a:t>On October 8 the visible Model Brain test passed 25 of 25 checks in a source run and the visible PDF-account test passed 20 of 20. These are dated results, not a claim that this documentation refresh reran them. Publication status is stated in the Release Identity section.</a:t>
            </a:r>
          </a:p>
          <a:p/>
          <a:p>
            <a:r>
              <a:t>Model Brain: Per-model settings from cited sources; Auto-tuning shows each one.</a:t>
            </a:r>
          </a:p>
          <a:p/>
          <a:p>
            <a:r>
              <a:t>Reasoning kept: Thinking models keep their train of thought between tool calls.</a:t>
            </a:r>
          </a:p>
          <a:p/>
          <a:p>
            <a:r>
              <a:t>Coloured console: Lines coloured by level; the log file stays plain text.</a:t>
            </a:r>
          </a:p>
          <a:p/>
          <a:p>
            <a:r>
              <a:t>Truthful refusal: A PDF refused for a second account says why and how to fix it.</a:t>
            </a:r>
          </a:p>
          <a:p/>
          <a:p>
            <a:r>
              <a:t>Quiet tabs: Two pages on two models no longer re-measure each other.</a:t>
            </a:r>
          </a:p>
          <a:p/>
          <a:p>
            <a:r>
              <a:t>Evidence: 25 of 25 and 20 of 20 visible checks on October 8.</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7 and 8: LaTeXer, Mover and the document agents report what really happened.</a:t>
            </a:r>
          </a:p>
          <a:p/>
          <a:p>
            <a:r>
              <a:t>LaTeXer reports a PDF only when the delivered file really exists and is not empty, and a PDF whose text sticks out more than five points past the margin is reported as created with findings, not as clean. When it had to cut a quarter or more of a broken document's body to produce any PDF at all, it saves the result as &lt;name&gt;.DEGRADED.pdf and leaves the requested name untouched. In a document longer than 8,000 characters the model rung first repairs only the lines around the compiler's error with a capped request; an unusable reply falls back to the whole-document request, and a reply that never came forbids the bisect rung.</a:t>
            </a:r>
          </a:p>
          <a:p/>
          <a:p>
            <a:r>
              <a:t>Mover no longer erases a destination folder to copy into it: folders are merged, each file is staged and published whole, a move removes its source only afterwards, and a failure ends with a failure receipt and a non-zero exit instead of a success. Document and capture agents keep a finished file when Windows Controlled Folder Access blocks the folder, and the security whitelist script now finds every Tlamatini installation and lets its Python save files.</a:t>
            </a:r>
          </a:p>
          <a:p/>
          <a:p>
            <a:r>
              <a:t>The October 8 LaTeXer change added 37 tests, and all 549 LaTeXer tests passed with it. The October 7 Mover and LaTeXer delivery work passed 126 focused tests.</a:t>
            </a:r>
          </a:p>
          <a:p/>
          <a:p>
            <a:r>
              <a:t>Real PDFs: Success only when the delivered file exists and is not empty.</a:t>
            </a:r>
          </a:p>
          <a:p/>
          <a:p>
            <a:r>
              <a:t>Layout findings: Text past the margin is reported, never called clean.</a:t>
            </a:r>
          </a:p>
          <a:p/>
          <a:p>
            <a:r>
              <a:t>DEGRADED name: A mostly-cut build never wears the name you asked for.</a:t>
            </a:r>
          </a:p>
          <a:p/>
          <a:p>
            <a:r>
              <a:t>Region repair: Large documents: the lines around the error are repaired first.</a:t>
            </a:r>
          </a:p>
          <a:p/>
          <a:p>
            <a:r>
              <a:t>Mover: Destinations are merged, never erased; failures are reported.</a:t>
            </a:r>
          </a:p>
          <a:p/>
          <a:p>
            <a:r>
              <a:t>Protected folders: Finished files survive Controlled Folder Access.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after the v1.75.0 tag and carried by the v1.76.0 tag.</a:t>
            </a:r>
          </a:p>
          <a:p/>
          <a:p>
            <a:r>
              <a:t>The Files-Search and System-Metrics helpers ask Ollama their own questions before the main answer. Those calls now have a time limit, context_sidecar_llm_timeout_seconds, 60 seconds by default; at the limit, or when you press Cancel, a helper skips its context and the answer goes ahead, so a slow reply can no longer freeze the chat.</a:t>
            </a:r>
          </a:p>
          <a:p/>
          <a:p>
            <a:r>
              <a:t>When Windows still holds Uninstaller.exe while the uninstaller finishes, the file is retried, moved aside and deleted by a hidden cleanup after exit, so the uninstall completes. File-Creator gained append: true adds the content to the end of a file, byte for byte, instead of overwriting it.</a:t>
            </a:r>
          </a:p>
          <a:p/>
          <a:p>
            <a:r>
              <a:t>Context helpers: Their own model calls stop at a time limit or on Cancel.</a:t>
            </a:r>
          </a:p>
          <a:p/>
          <a:p>
            <a:r>
              <a:t>Uninstaller: A held Uninstaller.exe is moved aside and removed after exit.</a:t>
            </a:r>
          </a:p>
          <a:p/>
          <a:p>
            <a:r>
              <a:t>File-Creator: append: true adds to a file instead of overwriting it.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to main on October 4 and carried by the v1.76.0 tag; local executables were rebuilt to validate them.</a:t>
            </a:r>
          </a:p>
          <a:p/>
          <a:p>
            <a:r>
              <a:t>User Commentary is edited entirely on the canvas. Double-click or press Enter to write, then format selected words with the floating mini toolbar. A single note can combine different fonts, sizes, text colors, bold, italic and underline. A caret styles the next text you type. Bubble color and alignment apply to the whole note.</a:t>
            </a:r>
          </a:p>
          <a:p/>
          <a:p>
            <a:r>
              <a:t>Drag any border or corner, including while writing. Fit text removes spare height. Every wrapped line stays inside the bubble without an internal scrollbar. Done or Ctrl+Enter saves the edit. Cancel or Escape restores its text, styles, size and position.</a:t>
            </a:r>
          </a:p>
          <a:p/>
          <a:p>
            <a:r>
              <a:t>The divider above Run output allocates 5% to 95% of the usable canvas/output height. Only the two viewports change. Canvas zoom, figure dimensions and text sizes stay fixed, and each pane scrolls independently. The browser remembers the ratio per signed-in user.</a:t>
            </a:r>
          </a:p>
          <a:p/>
          <a:p>
            <a:r>
              <a:t>The October 4 commentary verification passed 29 diagram/runner tests, 3 carriage tests and 23 visible Chrome checkpoints, including three mixed-style comments through three file save/open cycles with identical data and rendered line boxes. The output-divider verification separately passed 14 visible Chrome checkpoints and 3 carriage tests. These are dated results, not a claim that this documentation refresh reran them.</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and carried by the v1.76.0 tag.</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The October 3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October 3 evidence: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and ships in v1.76.0.</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which ships in v1.76.0.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user guides, PDF and PowerPoint all identify the same current release. The repository metadata records the implementation inspected for this dossier.</a:t>
            </a:r>
          </a:p>
          <a:p/>
          <a:p>
            <a:r>
              <a:t>v1.87.0 is the latest released version. The application, user guides and both dossiers use the same version, 1.87.0.</a:t>
            </a:r>
          </a:p>
          <a:p/>
          <a:p>
            <a:r>
              <a:t>This audit inspected commit 83e0cbe6. The existing annotated tag v1.87.0 was created on 2026-10-18 and resolves to 2203b436. Git history is preserved.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464,395 effective lines across 1,522 text files; 595,586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application file tree. 1,546 application files, with 218 database-history files summarized.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 Id="rId4" Type="http://schemas.openxmlformats.org/officeDocument/2006/relationships/chart" Target="../charts/char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2.xml"/><Relationship Id="rId4" Type="http://schemas.openxmlformats.org/officeDocument/2006/relationships/chart" Target="../charts/char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7.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86</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v1.87.0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00" b="0" i="0" spc="103">
                <a:solidFill>
                  <a:srgbClr val="A7B2B0"/>
                </a:solidFill>
                <a:latin typeface="Segoe UI Semibold"/>
              </a:rPr>
              <a:t>CURRENT RELEASE</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19,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the application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86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Release</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Version v1.87.0, the current release, published on GitHub.</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application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Application files; database history is summarized.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109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86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86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86</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217</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1,764</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464,395</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tuned from formal sources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Since v1.76.0 each model receives its own sampling, thinking level and context size, taken from formal sources, instead of one fixed set of values for every model.</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Formal sources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overrides, cited profiles, learned profiles, Ollama, model defaults.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context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requested window never exceeds what the model can read.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Auto-tuning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 </a:t>
            </a:r>
            <a:r>
              <a:rPr sz="1300" b="0" i="0">
                <a:solidFill>
                  <a:srgbClr val="A7B2B0"/>
                </a:solidFill>
                <a:latin typeface="Segoe UI Symbol"/>
              </a:rPr>
              <a:t>▸</a:t>
            </a:r>
            <a:r>
              <a:rPr sz="1300" b="0" i="0">
                <a:solidFill>
                  <a:srgbClr val="A7B2B0"/>
                </a:solidFill>
                <a:latin typeface="Segoe UI"/>
              </a:rPr>
              <a:t> Models </a:t>
            </a:r>
            <a:r>
              <a:rPr sz="1300" b="0" i="0">
                <a:solidFill>
                  <a:srgbClr val="A7B2B0"/>
                </a:solidFill>
                <a:latin typeface="Segoe UI Symbol"/>
              </a:rPr>
              <a:t>▸</a:t>
            </a:r>
            <a:r>
              <a:rPr sz="1300" b="0" i="0">
                <a:solidFill>
                  <a:srgbClr val="A7B2B0"/>
                </a:solidFill>
                <a:latin typeface="Segoe UI"/>
              </a:rPr>
              <a:t> Save shows each model tuned, with its sources.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stall clocks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slow model is never thrown away and restarted.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model_brain: off</a:t>
            </a:r>
            <a:r>
              <a:rPr sz="1300" b="0" i="0">
                <a:solidFill>
                  <a:srgbClr val="A7B2B0"/>
                </a:solidFill>
                <a:latin typeface="Segoe UI"/>
              </a:rPr>
              <a:t> restores the legacy fixed sampler exactly.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 model name in the code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new model gets its values from the knowledge base, research, Ollama or its own defaults, never from a branch written for one model name, and a value you set always wins.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model tuned from formal sources”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cannot freeze her. Since v1.76.0 lines are coloured by level.</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Sends her self-knowledge; only in self-modify builds,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MESSAGE BOX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to write, or more room to read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divider above the message box. With her avatar undocked, the box can shrink to its buttons.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Drag or type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Pointer, arrows, Shift+arrows, Home and End move the divider.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Undocked</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message box can shrink to its own action buttons.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centered portrait above Mic through Send, down to a 120-pixel square.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Small windows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box scrolls itself; dialogs stay inside the window.</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4069080"/>
          </a:xfrm>
          <a:prstGeom prst="roundRect">
            <a:avLst>
              <a:gd name="adj" fmla="val 179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author credits and Check for updates. Since v1.78.0, About also opens Usage, even while she is busy.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ABOUT → USAGE · NEW IN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usage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USAGE follows the shared dialog theme and remains available during a long answer.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Cloud credits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Reported balance, monthly usage, allowance and refill weeks/date.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Chat activity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measured calls, input/output tokens and daily trends.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model activity and peak UTC dates; server inventory alongside it.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While busy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and refresh without interrupting the model request.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Normal size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Under 60% client area; ordinary typography and clear buttons.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Accessible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Keyboard tabs, chart tooltips, focus trap and normal Escape/Close behavior.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ACCOUNT DATA</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Different scopes, clearly identified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Monthly credits, rolling cloud usage and recorded local activity answer different questions.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 balance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Actual included and purchased credits from /api/balance.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Rolling history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7/30-day cloud spend and tokens; separate from the billing period.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Local model graphs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Measured Tlamatini main-chat activity, not website-wide history.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Healthy data is cached 60 s; a brief outage is retried after 15 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Missing data</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Explain unavailable or stale values; no guessed balance or token count.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References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docs.ollama.com/api/balance and /api/cloud-usage; docs/usage-dashboard.md.</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ADAPTIVE LAYOUT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Report what the account supplies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response shape selects the layout; a plan label is not a credit entitlement.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Returned allowance, balance, purchased credits and reset period.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Legacy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Remaining session/weekly percentages; no guessed dollar conversion.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Purchased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reported purchased balance; no invented included quota.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Free or zero</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 actual data and omit percentages when allowance is zero.</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Team</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credit balance is distinct from member-scoped usage.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Unlimited label</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interpreted as unlimited cloud credits.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86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86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6603339" y="4434840"/>
            <a:ext cx="438912" cy="548640"/>
          </a:xfrm>
          <a:custGeom>
            <a:avLst/>
            <a:gdLst/>
            <a:ahLst/>
            <a:cxnLst/>
            <a:rect l="l" t="t" r="r" b="b"/>
            <a:pathLst>
              <a:path w="438912" h="548640">
                <a:moveTo>
                  <a:pt x="0" y="0"/>
                </a:moveTo>
                <a:lnTo>
                  <a:pt x="219456" y="155265"/>
                </a:lnTo>
                <a:lnTo>
                  <a:pt x="438912" y="0"/>
                </a:lnTo>
                <a:lnTo>
                  <a:pt x="438912" y="384048"/>
                </a:lnTo>
                <a:lnTo>
                  <a:pt x="219456" y="548640"/>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ular Callout 37"/>
          <p:cNvSpPr/>
          <p:nvPr/>
        </p:nvSpPr>
        <p:spPr>
          <a:xfrm>
            <a:off x="9207779" y="4434840"/>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13619"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40" name="TextBox 39"/>
          <p:cNvSpPr txBox="1"/>
          <p:nvPr/>
        </p:nvSpPr>
        <p:spPr>
          <a:xfrm>
            <a:off x="9207779"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speech-bubble note for reviewers; it never runs.</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STATIC REVIEW NOTES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Writing and formatting a commentary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User Commentary is a review note on the canvas. User Input is the operation that pauses playback for a reply, using the notched figure.</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Write in place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Double-click or Enter edits the bubble. No configuration dialog or numeric dimensions.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Mixed styles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toolbar: font, size, text color, bold, italic and underline for each passage.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Selection or caret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Format selected text or subsequent typing; outside editing, format the whole note.</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sizing</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Drag any edge/corner, even while writing. Fit text removes spare height. No internal scrollbars.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Finish or restore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Done/Ctrl+Enter saves; Cancel/Escape restores text, styles and geometry. Editor and flow Undo/Redo.</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PORTABLE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Comments survive save, open and draft recovery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2 .fpmt files retain independent notes with their full text, formatting and geometry.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Version 2</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Literal text and allowlisted runs preserve mixed formatting.</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Older files</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Plain v2 notes normalize. Version 1 reply steps become User Input with IDs, edges and settings intact.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Static isolation</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ports, Start or execution steps. Text stays literal and never enters context or history.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Recovery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notes retain text, styles and geometry. Opening never plays the flow; draft key stays compatible.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OPENING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right editor, from chat or Windows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shipped file associations open .flw agent flows and .fpmt prompting flows. Opening never runs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chat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either flow in its editor and keep the chat document.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Windows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Start once or reuse the running app; return through login.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work</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before replacement; confirm unsaved changes.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automatic run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prepares the diagram. Play remains a user action.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FILE TYPES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Register, repair and remove both formats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Per-user associations, installation ownership and Windows default-app choices.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Register both types with names, icons and the correct editor destinations.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Administer</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Inspect Status, register or remove one type, or open Default Apps.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Update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Repair owned entries without undoing the user's opt-out.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Remove owned registrations; keep other apps and user documents.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LIFECYCLE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Remove the application and its owned workers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Confirmation, installation ownership, retryable errors and preserved user content.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Installer entry points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Resolve the installation directory inside PowerShell script bodies.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workers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 this installation's agents and surviving descendants after confirmation.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retry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Retain removal support until success; report locked files and registry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user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agents and nonempty content; notify the shell without restarting Explorer.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SETUP WINDOWS ·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Install and remove with a way back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Installer and Uninstaller share one window that prepares a recovery copy before changing anything.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window</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Installer and Uninstaller screens that never clip their buttons.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copy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Prepared and verified before any file changes; restored after an interruption.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locks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locked file and its holder are named; nothing is force-closed.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 scope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Tlamatini's registry values and shortcut; never UserChoice.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helpers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PowerShell helpers end within 120 seconds inside a Windows job.</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tally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stopped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RELEASE VALIDATION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Repair the boundary, then repeat the real operation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4 repairs, now carried by v1.76.0, have separate source, frozen, package and visual evidence.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user paths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Installer, login, Admin, chat, both panels and Windows file opening.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 fidelity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Mixed styles, geometry and rendered text checked across save/open cycles.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boundaries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 MCP endpoints, agent defaults, mappings and identifier types.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Explicit 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Provider failure and blocked native launch remain visible in the verdict.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 OUTPUT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for the canvas or the log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horizontal divider above Run output to give it 5% to 95% of the available pane height.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5% to 95%</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Share of canvas/output height, excluding headers, status and divider. Initial share: 20%.</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Stable content</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scrolling. Canvas zoom and text sizes stay unchanged.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Up/Down: 1 point; Shift: 5. Home: 5%; End: 95%. Escape ends the drag.</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Remembered layout</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Collapse/reopen and window resizing retain the ratio. Saved per user, outside flow files and Undo/Redo.</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MARKDOWN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Markdown opens as a page, and stays your source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or drop a .md file and the canvas renders it; one click shows the original 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Preview and Source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Rendered page, or the original text with line numbers.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Offline</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Vendored Marked and DOMPurify; no CDN at runtime.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Safe HTML</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Allowlisted markup; relative links never reach the app.</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source</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Copy, context and Save keep the exact Markdown bytes.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30 of 30 visible checkpoints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FILE DROP ·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file anywhere, and she knows what it is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One listener on every page reads each dropped file and sends it to the mechanism that fits it.</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YOU DROP</a:t>
            </a:r>
          </a:p>
        </p:txBody>
      </p:sp>
      <p:sp>
        <p:nvSpPr>
          <p:cNvPr id="11" name="TextBox 10"/>
          <p:cNvSpPr txBox="1"/>
          <p:nvPr/>
        </p:nvSpPr>
        <p:spPr>
          <a:xfrm>
            <a:off x="3957431" y="2121408"/>
            <a:ext cx="759418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HAPPENS</a:t>
            </a:r>
          </a:p>
        </p:txBody>
      </p:sp>
      <p:sp>
        <p:nvSpPr>
          <p:cNvPr id="12" name="TextBox 11"/>
          <p:cNvSpPr txBox="1"/>
          <p:nvPr/>
        </p:nvSpPr>
        <p:spPr>
          <a:xfrm>
            <a:off x="640080" y="250545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An MCP .json</a:t>
            </a:r>
          </a:p>
        </p:txBody>
      </p:sp>
      <p:sp>
        <p:nvSpPr>
          <p:cNvPr id="13" name="TextBox 12"/>
          <p:cNvSpPr txBox="1"/>
          <p:nvPr/>
        </p:nvSpPr>
        <p:spPr>
          <a:xfrm>
            <a:off x="3957431" y="250545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Confirm, then it joins the External MCP catalog; works on every page.</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.flw flow</a:t>
            </a:r>
          </a:p>
        </p:txBody>
      </p:sp>
      <p:sp>
        <p:nvSpPr>
          <p:cNvPr id="16" name="TextBox 15"/>
          <p:cNvSpPr txBox="1"/>
          <p:nvPr/>
        </p:nvSpPr>
        <p:spPr>
          <a:xfrm>
            <a:off x="3957431" y="2880360"/>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Loads on the Agentic Control Panel canvas, or opens that panel in a new tab.</a:t>
            </a:r>
          </a:p>
        </p:txBody>
      </p:sp>
      <p:sp>
        <p:nvSpPr>
          <p:cNvPr id="17" name="TextBox 16"/>
          <p:cNvSpPr txBox="1"/>
          <p:nvPr/>
        </p:nvSpPr>
        <p:spPr>
          <a:xfrm>
            <a:off x="640080" y="325526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.fpmt flow</a:t>
            </a:r>
          </a:p>
        </p:txBody>
      </p:sp>
      <p:sp>
        <p:nvSpPr>
          <p:cNvPr id="18" name="TextBox 17"/>
          <p:cNvSpPr txBox="1"/>
          <p:nvPr/>
        </p:nvSpPr>
        <p:spPr>
          <a:xfrm>
            <a:off x="3957431" y="3255264"/>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Loads in the Prompt Flow Panel, asking first about unsaved work, or a new tab.</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An image</a:t>
            </a:r>
          </a:p>
        </p:txBody>
      </p:sp>
      <p:sp>
        <p:nvSpPr>
          <p:cNvPr id="21" name="TextBox 20"/>
          <p:cNvSpPr txBox="1"/>
          <p:nvPr/>
        </p:nvSpPr>
        <p:spPr>
          <a:xfrm>
            <a:off x="3957431" y="3630168"/>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Attached to your message: saved in Temp, its path written into the message.</a:t>
            </a:r>
          </a:p>
        </p:txBody>
      </p:sp>
      <p:sp>
        <p:nvSpPr>
          <p:cNvPr id="22" name="TextBox 21"/>
          <p:cNvSpPr txBox="1"/>
          <p:nvPr/>
        </p:nvSpPr>
        <p:spPr>
          <a:xfrm>
            <a:off x="640080" y="4005072"/>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 Markdown, code, plain JSON</a:t>
            </a:r>
          </a:p>
        </p:txBody>
      </p:sp>
      <p:sp>
        <p:nvSpPr>
          <p:cNvPr id="23" name="TextBox 22"/>
          <p:cNvSpPr txBox="1"/>
          <p:nvPr/>
        </p:nvSpPr>
        <p:spPr>
          <a:xfrm>
            <a:off x="3957431" y="4005072"/>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Opens in the chat canvas.</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folder, zip or program</a:t>
            </a:r>
          </a:p>
        </p:txBody>
      </p:sp>
      <p:sp>
        <p:nvSpPr>
          <p:cNvPr id="26" name="TextBox 25"/>
          <p:cNvSpPr txBox="1"/>
          <p:nvPr/>
        </p:nvSpPr>
        <p:spPr>
          <a:xfrm>
            <a:off x="3957431" y="437997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Explained in plain words; nothing opens.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Keeps unrelated settings, downloads nothing, then auto-tunes each model.</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ONE LOOK ·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page shares one theme and one way to resize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Chat, both panels, login, welcome, Usage, the PDF viewer and the admin pages share one identity.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palette, font set and scrollbar style for every page.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Five dividers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grip, one keyboard model, one clean cancel.</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 resize directions, keyboard resizing, buttons that match.</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High zoom</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modal stays above the menu at 400 percent.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source tests and visible checks passed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86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86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14</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9</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Parametrizer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Maps one agent's structured output into the next agent's configuration.</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FlowCreator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Designs a complete, validated .flw workflow from a plain objective.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FlowHypervisor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model watchdog that reads a running flow: OK or ATTENTION NEEDED.</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FlowBacker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Backs up a session's logs and configurations before clean-up.</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Prompter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Sends one prompt to a model and logs a structured answer.</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Summarizer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Summarizes text once, or watches logs and fires on a detected event.</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ACPXer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one external coding-agent CLI turn on the canvas and captures its answer.</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MCP Doctor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Diagnoses an external MCP server on paper, before any live connection.</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14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Terminater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Types commands into a real CMD or PowerShell terminal the user watches, and can hand the keyboard over.</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5" name="TextBox 34"/>
          <p:cNvSpPr txBox="1"/>
          <p:nvPr/>
        </p:nvSpPr>
        <p:spPr>
          <a:xfrm>
            <a:off x="6333591"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14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Deleter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Deletes by glob inside a guarded working directory.</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File-Interpreter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Reads DOCX, PPTX, XLSX, PDF and more, optionally summarizing them.</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File-Extractor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Extracts raw text from PDF, DOCX and similar documents.</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De-Compresser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Compresses or decompresses .zip, .7z, .gz and tar archives.</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J-Decompiler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Decompiles JAR and WAR archives with the bundled jd-cli.</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Gitter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git operations and custom git commands.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9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Shows an in-browser notification, optionally with a sound.</a:t>
            </a:r>
          </a:p>
        </p:txBody>
      </p:sp>
      <p:sp>
        <p:nvSpPr>
          <p:cNvPr id="12" name="Rounded Rectangle 11"/>
          <p:cNvSpPr/>
          <p:nvPr/>
        </p:nvSpPr>
        <p:spPr>
          <a:xfrm>
            <a:off x="4326026"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4454042"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8085124"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8213140"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566928"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694944"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4326026"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4454042"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WhatsApp through Meta's Cloud API, or explicitly from your own number.</a:t>
            </a:r>
          </a:p>
        </p:txBody>
      </p:sp>
      <p:sp>
        <p:nvSpPr>
          <p:cNvPr id="28" name="Rounded Rectangle 27"/>
          <p:cNvSpPr/>
          <p:nvPr/>
        </p:nvSpPr>
        <p:spPr>
          <a:xfrm>
            <a:off x="8085124"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1" name="TextBox 30"/>
          <p:cNvSpPr txBox="1"/>
          <p:nvPr/>
        </p:nvSpPr>
        <p:spPr>
          <a:xfrm>
            <a:off x="8213140"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Brings the full Tlamatini chat, Multi-Turn included, into Telegram.</a:t>
            </a:r>
          </a:p>
        </p:txBody>
      </p:sp>
      <p:sp>
        <p:nvSpPr>
          <p:cNvPr id="32" name="Rounded Rectangle 31"/>
          <p:cNvSpPr/>
          <p:nvPr/>
        </p:nvSpPr>
        <p:spPr>
          <a:xfrm>
            <a:off x="566928"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94944"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Instant Messaging Doctor</a:t>
            </a:r>
          </a:p>
        </p:txBody>
      </p:sp>
      <p:sp>
        <p:nvSpPr>
          <p:cNvPr id="35" name="TextBox 34"/>
          <p:cNvSpPr txBox="1"/>
          <p:nvPr/>
        </p:nvSpPr>
        <p:spPr>
          <a:xfrm>
            <a:off x="694944"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Diagnoses and safely repairs Telegram and WhatsApp readiness.</a:t>
            </a:r>
          </a:p>
        </p:txBody>
      </p:sp>
      <p:sp>
        <p:nvSpPr>
          <p:cNvPr id="36" name="Rounded Rectangle 35"/>
          <p:cNvSpPr/>
          <p:nvPr/>
        </p:nvSpPr>
        <p:spPr>
          <a:xfrm>
            <a:off x="4326026"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490618"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454042"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39" name="TextBox 38"/>
          <p:cNvSpPr txBox="1"/>
          <p:nvPr/>
        </p:nvSpPr>
        <p:spPr>
          <a:xfrm>
            <a:off x="4454042"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0" name="Rounded Rectangle 39"/>
          <p:cNvSpPr/>
          <p:nvPr/>
        </p:nvSpPr>
        <p:spPr>
          <a:xfrm>
            <a:off x="8085124"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8249716"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213140"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3" name="TextBox 42"/>
          <p:cNvSpPr txBox="1"/>
          <p:nvPr/>
        </p:nvSpPr>
        <p:spPr>
          <a:xfrm>
            <a:off x="8213140"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4" name="Connector 4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6" name="TextBox 4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3108960"/>
          </a:xfrm>
          <a:prstGeom prst="roundRect">
            <a:avLst>
              <a:gd name="adj" fmla="val 235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987551"/>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a mostly-cut build delivered as </a:t>
            </a:r>
            <a:r>
              <a:rPr sz="1400" b="0" i="0">
                <a:solidFill>
                  <a:srgbClr val="E2B462"/>
                </a:solidFill>
                <a:latin typeface="Consolas"/>
              </a:rPr>
              <a:t>&lt;name&gt;.DEGRADED.pdf</a:t>
            </a:r>
            <a:r>
              <a:rPr sz="1500" b="0" i="0">
                <a:solidFill>
                  <a:srgbClr val="A7B2B0"/>
                </a:solidFill>
                <a:latin typeface="Segoe UI"/>
              </a:rPr>
              <a:t>;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A comma-separated list reads several images.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or a web link,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 a web link is downloaded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recoverable release installer (Python 3.12.10 bundled),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18 dependency audit covers all 85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18: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clean Python dependency installation does not certify the compiled installer or every external integration.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Defaults: 8000, 8765 and 50051; configure clients and servers together.</a:t>
            </a:r>
          </a:p>
        </p:txBody>
      </p:sp>
      <p:sp>
        <p:nvSpPr>
          <p:cNvPr id="24" name="Rounded Rectangle 23"/>
          <p:cNvSpPr/>
          <p:nvPr/>
        </p:nvSpPr>
        <p:spPr>
          <a:xfrm>
            <a:off x="6144768" y="2084831"/>
            <a:ext cx="5479999" cy="1920239"/>
          </a:xfrm>
          <a:prstGeom prst="roundRect">
            <a:avLst>
              <a:gd name="adj" fmla="val 38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 (default)</a:t>
            </a:r>
          </a:p>
        </p:txBody>
      </p:sp>
      <p:sp>
        <p:nvSpPr>
          <p:cNvPr id="34" name="TextBox 33"/>
          <p:cNvSpPr txBox="1"/>
          <p:nvPr/>
        </p:nvSpPr>
        <p:spPr>
          <a:xfrm>
            <a:off x="7313919" y="3017520"/>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match server port and client URI.</a:t>
            </a:r>
          </a:p>
        </p:txBody>
      </p:sp>
      <p:sp>
        <p:nvSpPr>
          <p:cNvPr id="36" name="TextBox 35"/>
          <p:cNvSpPr txBox="1"/>
          <p:nvPr/>
        </p:nvSpPr>
        <p:spPr>
          <a:xfrm>
            <a:off x="6217920" y="3529584"/>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 (default)</a:t>
            </a:r>
          </a:p>
        </p:txBody>
      </p:sp>
      <p:sp>
        <p:nvSpPr>
          <p:cNvPr id="37" name="TextBox 36"/>
          <p:cNvSpPr txBox="1"/>
          <p:nvPr/>
        </p:nvSpPr>
        <p:spPr>
          <a:xfrm>
            <a:off x="7313919" y="3529584"/>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match server port and client URI.</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(1/2)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django_port</a:t>
            </a:r>
          </a:p>
        </p:txBody>
      </p:sp>
      <p:sp>
        <p:nvSpPr>
          <p:cNvPr id="14" name="TextBox 13"/>
          <p:cNvSpPr txBox="1"/>
          <p:nvPr/>
        </p:nvSpPr>
        <p:spPr>
          <a:xfrm>
            <a:off x="4731480" y="2505456"/>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8000</a:t>
            </a:r>
          </a:p>
        </p:txBody>
      </p:sp>
      <p:sp>
        <p:nvSpPr>
          <p:cNvPr id="15" name="TextBox 14"/>
          <p:cNvSpPr txBox="1"/>
          <p:nvPr/>
        </p:nvSpPr>
        <p:spPr>
          <a:xfrm>
            <a:off x="6500734" y="2505456"/>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Web port for every launch path; fails open to 8000.</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unified_agent_max_iterations</a:t>
            </a:r>
          </a:p>
        </p:txBody>
      </p:sp>
      <p:sp>
        <p:nvSpPr>
          <p:cNvPr id="18" name="TextBox 17"/>
          <p:cNvSpPr txBox="1"/>
          <p:nvPr/>
        </p:nvSpPr>
        <p:spPr>
          <a:xfrm>
            <a:off x="4731480" y="281177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4096</a:t>
            </a:r>
          </a:p>
        </p:txBody>
      </p:sp>
      <p:sp>
        <p:nvSpPr>
          <p:cNvPr id="19" name="TextBox 18"/>
          <p:cNvSpPr txBox="1"/>
          <p:nvPr/>
        </p:nvSpPr>
        <p:spPr>
          <a:xfrm>
            <a:off x="6500734" y="281177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Upper bound on Multi-Turn tool-loop turns.</a:t>
            </a:r>
          </a:p>
        </p:txBody>
      </p:sp>
      <p:sp>
        <p:nvSpPr>
          <p:cNvPr id="20" name="TextBox 19"/>
          <p:cNvSpPr txBox="1"/>
          <p:nvPr/>
        </p:nvSpPr>
        <p:spPr>
          <a:xfrm>
            <a:off x="640080" y="311810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unified_agent_llm_step_timeout_seconds</a:t>
            </a:r>
          </a:p>
        </p:txBody>
      </p:sp>
      <p:sp>
        <p:nvSpPr>
          <p:cNvPr id="21" name="TextBox 20"/>
          <p:cNvSpPr txBox="1"/>
          <p:nvPr/>
        </p:nvSpPr>
        <p:spPr>
          <a:xfrm>
            <a:off x="4731480" y="311810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900</a:t>
            </a:r>
          </a:p>
        </p:txBody>
      </p:sp>
      <p:sp>
        <p:nvSpPr>
          <p:cNvPr id="22" name="TextBox 21"/>
          <p:cNvSpPr txBox="1"/>
          <p:nvPr/>
        </p:nvSpPr>
        <p:spPr>
          <a:xfrm>
            <a:off x="6500734" y="311810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Watchdog for one model attempt.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llm_client_timeout_seconds</a:t>
            </a:r>
          </a:p>
        </p:txBody>
      </p:sp>
      <p:sp>
        <p:nvSpPr>
          <p:cNvPr id="25" name="TextBox 24"/>
          <p:cNvSpPr txBox="1"/>
          <p:nvPr/>
        </p:nvSpPr>
        <p:spPr>
          <a:xfrm>
            <a:off x="4731480" y="342442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600</a:t>
            </a:r>
          </a:p>
        </p:txBody>
      </p:sp>
      <p:sp>
        <p:nvSpPr>
          <p:cNvPr id="26" name="TextBox 25"/>
          <p:cNvSpPr txBox="1"/>
          <p:nvPr/>
        </p:nvSpPr>
        <p:spPr>
          <a:xfrm>
            <a:off x="6500734" y="342442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How long one model call may take.</a:t>
            </a:r>
          </a:p>
        </p:txBody>
      </p:sp>
      <p:sp>
        <p:nvSpPr>
          <p:cNvPr id="27" name="TextBox 26"/>
          <p:cNvSpPr txBox="1"/>
          <p:nvPr/>
        </p:nvSpPr>
        <p:spPr>
          <a:xfrm>
            <a:off x="640080" y="373075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model_brain</a:t>
            </a:r>
          </a:p>
        </p:txBody>
      </p:sp>
      <p:sp>
        <p:nvSpPr>
          <p:cNvPr id="28" name="TextBox 27"/>
          <p:cNvSpPr txBox="1"/>
          <p:nvPr/>
        </p:nvSpPr>
        <p:spPr>
          <a:xfrm>
            <a:off x="4731480" y="373075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29" name="TextBox 28"/>
          <p:cNvSpPr txBox="1"/>
          <p:nvPr/>
        </p:nvSpPr>
        <p:spPr>
          <a:xfrm>
            <a:off x="6500734" y="373075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Tunes each model from formal sources; off restores the legacy sampler.</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ollama_repeat_penalty</a:t>
            </a:r>
          </a:p>
        </p:txBody>
      </p:sp>
      <p:sp>
        <p:nvSpPr>
          <p:cNvPr id="32" name="TextBox 31"/>
          <p:cNvSpPr txBox="1"/>
          <p:nvPr/>
        </p:nvSpPr>
        <p:spPr>
          <a:xfrm>
            <a:off x="4731480" y="403707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1.2</a:t>
            </a:r>
          </a:p>
        </p:txBody>
      </p:sp>
      <p:sp>
        <p:nvSpPr>
          <p:cNvPr id="33" name="TextBox 32"/>
          <p:cNvSpPr txBox="1"/>
          <p:nvPr/>
        </p:nvSpPr>
        <p:spPr>
          <a:xfrm>
            <a:off x="6500734" y="403707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sampler, sent only when model_brain is off.</a:t>
            </a:r>
          </a:p>
        </p:txBody>
      </p:sp>
      <p:sp>
        <p:nvSpPr>
          <p:cNvPr id="34" name="TextBox 33"/>
          <p:cNvSpPr txBox="1"/>
          <p:nvPr/>
        </p:nvSpPr>
        <p:spPr>
          <a:xfrm>
            <a:off x="640080" y="434339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ollama_num_ctx</a:t>
            </a:r>
          </a:p>
        </p:txBody>
      </p:sp>
      <p:sp>
        <p:nvSpPr>
          <p:cNvPr id="35" name="TextBox 34"/>
          <p:cNvSpPr txBox="1"/>
          <p:nvPr/>
        </p:nvSpPr>
        <p:spPr>
          <a:xfrm>
            <a:off x="4731480" y="434339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1048576</a:t>
            </a:r>
          </a:p>
        </p:txBody>
      </p:sp>
      <p:sp>
        <p:nvSpPr>
          <p:cNvPr id="36" name="TextBox 35"/>
          <p:cNvSpPr txBox="1"/>
          <p:nvPr/>
        </p:nvSpPr>
        <p:spPr>
          <a:xfrm>
            <a:off x="6500734" y="434339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requested window; the brain clamps it to the real one.</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context_sidecar_llm_timeout_seconds</a:t>
            </a:r>
          </a:p>
        </p:txBody>
      </p:sp>
      <p:sp>
        <p:nvSpPr>
          <p:cNvPr id="39" name="TextBox 38"/>
          <p:cNvSpPr txBox="1"/>
          <p:nvPr/>
        </p:nvSpPr>
        <p:spPr>
          <a:xfrm>
            <a:off x="4731480" y="464972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a:t>
            </a:r>
          </a:p>
        </p:txBody>
      </p:sp>
      <p:sp>
        <p:nvSpPr>
          <p:cNvPr id="40" name="TextBox 39"/>
          <p:cNvSpPr txBox="1"/>
          <p:nvPr/>
        </p:nvSpPr>
        <p:spPr>
          <a:xfrm>
            <a:off x="6500734" y="464972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Time limit on the context helpers' own model calls.</a:t>
            </a:r>
          </a:p>
        </p:txBody>
      </p:sp>
      <p:sp>
        <p:nvSpPr>
          <p:cNvPr id="41" name="TextBox 40"/>
          <p:cNvSpPr txBox="1"/>
          <p:nvPr/>
        </p:nvSpPr>
        <p:spPr>
          <a:xfrm>
            <a:off x="640080" y="495604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context_compact_mode</a:t>
            </a:r>
          </a:p>
        </p:txBody>
      </p:sp>
      <p:sp>
        <p:nvSpPr>
          <p:cNvPr id="42" name="TextBox 41"/>
          <p:cNvSpPr txBox="1"/>
          <p:nvPr/>
        </p:nvSpPr>
        <p:spPr>
          <a:xfrm>
            <a:off x="4731480" y="495604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43" name="TextBox 42"/>
          <p:cNvSpPr txBox="1"/>
          <p:nvPr/>
        </p:nvSpPr>
        <p:spPr>
          <a:xfrm>
            <a:off x="6500734" y="495604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Compact mode locks on for models that cannot hold everything.</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binary_context_detection</a:t>
            </a:r>
          </a:p>
        </p:txBody>
      </p:sp>
      <p:sp>
        <p:nvSpPr>
          <p:cNvPr id="46" name="TextBox 45"/>
          <p:cNvSpPr txBox="1"/>
          <p:nvPr/>
        </p:nvSpPr>
        <p:spPr>
          <a:xfrm>
            <a:off x="4731480" y="526237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47" name="TextBox 46"/>
          <p:cNvSpPr txBox="1"/>
          <p:nvPr/>
        </p:nvSpPr>
        <p:spPr>
          <a:xfrm>
            <a:off x="6500734" y="526237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Screens files by content before embedding.</a:t>
            </a:r>
          </a:p>
        </p:txBody>
      </p:sp>
      <p:sp>
        <p:nvSpPr>
          <p:cNvPr id="48" name="TextBox 47"/>
          <p:cNvSpPr txBox="1"/>
          <p:nvPr/>
        </p:nvSpPr>
        <p:spPr>
          <a:xfrm>
            <a:off x="640080" y="556869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console_quick_edit</a:t>
            </a:r>
          </a:p>
        </p:txBody>
      </p:sp>
      <p:sp>
        <p:nvSpPr>
          <p:cNvPr id="49" name="TextBox 48"/>
          <p:cNvSpPr txBox="1"/>
          <p:nvPr/>
        </p:nvSpPr>
        <p:spPr>
          <a:xfrm>
            <a:off x="4731480" y="556869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false</a:t>
            </a:r>
          </a:p>
        </p:txBody>
      </p:sp>
      <p:sp>
        <p:nvSpPr>
          <p:cNvPr id="50" name="TextBox 49"/>
          <p:cNvSpPr txBox="1"/>
          <p:nvPr/>
        </p:nvSpPr>
        <p:spPr>
          <a:xfrm>
            <a:off x="6500734" y="556869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Keeps a click from pausing a frozen console.</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console_colors</a:t>
            </a:r>
          </a:p>
        </p:txBody>
      </p:sp>
      <p:sp>
        <p:nvSpPr>
          <p:cNvPr id="53" name="TextBox 52"/>
          <p:cNvSpPr txBox="1"/>
          <p:nvPr/>
        </p:nvSpPr>
        <p:spPr>
          <a:xfrm>
            <a:off x="4731480" y="587501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54" name="TextBox 53"/>
          <p:cNvSpPr txBox="1"/>
          <p:nvPr/>
        </p:nvSpPr>
        <p:spPr>
          <a:xfrm>
            <a:off x="6500734" y="587501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Colours console lines by level; the log stays plain text.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(2/2)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runtime_autoprovision</a:t>
            </a:r>
          </a:p>
        </p:txBody>
      </p:sp>
      <p:sp>
        <p:nvSpPr>
          <p:cNvPr id="14" name="TextBox 13"/>
          <p:cNvSpPr txBox="1"/>
          <p:nvPr/>
        </p:nvSpPr>
        <p:spPr>
          <a:xfrm>
            <a:off x="4731480"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true</a:t>
            </a:r>
          </a:p>
        </p:txBody>
      </p:sp>
      <p:sp>
        <p:nvSpPr>
          <p:cNvPr id="15" name="TextBox 14"/>
          <p:cNvSpPr txBox="1"/>
          <p:nvPr/>
        </p:nvSpPr>
        <p:spPr>
          <a:xfrm>
            <a:off x="6500734" y="2505456"/>
            <a:ext cx="505088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Lets MCP servers provision Node or uv privately.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legacy sampler comes from repeated trials on real workloads, and one fast run never justifies a change. The Model Brain now tunes each model from formal sources.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REPAIR · SEPTEMBER 27</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September 27 repair, carried since v1.72.1, ships the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Current Release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Version v1.87.0, the current release, published on GitHub.</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ON MAIN · NOT YET RELEASED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2650" b="0" i="0">
                <a:solidFill>
                  <a:srgbClr val="F7F2E8"/>
                </a:solidFill>
                <a:latin typeface="Palatino Linotype"/>
              </a:rPr>
              <a:t>Terminals you can watch, and a private release that carries your data</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latest released version is still v1.87.0. This finished work sits on main after it.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Terminals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Real CMD and PowerShell you can watch, typed like a person, with a hand-over.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Counts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86 agents · 67 wrapped · 109 tools · 217 migrations.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check_terminater runs inside the frozen app; packaging stops on failure.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servers and data.keys travel in the keyed build only.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CURRENT RELEASE · v1.87.0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leaner catalog, a safer removal, a smaller release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v1.87.0 is the latest released version, tagged on October 18.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85 agents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Four retired agents removed in a forward migration.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Removal</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Move aside, verify, Retry cleanup for locked leftovers.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 size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Media and browser libraries ship once, in the carried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Quality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npm run lint:python checks every tracked Python file.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Uninstalling is fast and recoverable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Uninstaller moves entries into a recovery folder instead of copying and hashing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Journal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move recorded before and after.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Retry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Locked leftovers can be finished later.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Kept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agents/ and the content folders that hold files.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Benchmark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64,264 files in 22.3 s, October 18.</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owner for every library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frozen web process stops carrying libraries that only the pool agents use.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Pool-only libraries live in the carried Python.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Package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Bytecode, uninstaller copies and compression tuned.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Usage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Checking usage… until real data arrives.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Account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bodyless POST /api/me.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AFTER THE v1.87.0 TAG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consistency sweep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source-wide sweep re-derived every count and fixed what it found.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Patterns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Brace sets, lists and folder globs in Grepper and Globber.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Gates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Six wrapped tools follow their agent's checkbox; Configure opens with the saved ticks.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Harness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daily chat test reads this repository.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Quality gate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Runs in Windows Terminal, the Windows 11 default.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Mover folders and the Architecture atlas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17: a missing destination becomes a folder, and the atlas rebuilds itself.</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destination name becomes a folder.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Rename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when the destination names a file.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Atlas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Rebuilt by LaTeXer from the repository.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tracked file appears in the atlas.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Refresh, Views and a centered avatar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16, with a more flexible chat workspace.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original document, read again without a chooser.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Views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Show or hide the canvas and keep its state.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Reset layout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Restore both panes and dock the avatar.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Portrait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Center the whole frame above the complete action row.</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Refresh the original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selects a file. Refresh reads that same source again, without writing to it.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Open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Choose a document and retain read access.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Reread the retained source without another picker.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Failure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the previous content and allow retry.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 changed content before replacing active context.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Keep the reading position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Refreshing Markdown or PDF preserves the view while the underlying document changes.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Preview/Source, position and selected resources stay.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PDF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Page, zoom, rotation and scroll mode stay.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failed replacement retains the previous viewer.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20 visible Chrome checks on October 15.</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Choose a full-width chat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Views → Canvas shows or hides the canvas without unloading it.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width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Hide the canvas to give the chat more room.</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the open document and active context.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Preference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Saved per account and browser origin.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Navigation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a document reveals its canvas.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centered portrait at every height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portrait and its frame share the center of the entire Mic-to-Send action row.</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Alignment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Mic's left edge through Send's right edge.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Sizing</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square portrait, never below 120 pixels.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Reset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Restore layout while keeping content.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19 visible checks; center error below 0.02 CSS px, October 16.</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complete feature travels together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Required runtime and self-modify inventories cover the Views template and scripts.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Required template and four cooperating scripts.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Sources, identity and both Views harnesses.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Database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 new migration; 217 migrations remain.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v1.85.0 across the application at the time.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Catalog and fixture maintenance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14 maintenance commit updated catalog/configuration data and scrubbed test fixtures.</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Maintenance</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Catalog data and test fixtures changed in commit 1a8c5093.</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Product surface</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new subsystem, agent type, migration or dependency.</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Privacy</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Public documents exclude private catalog values.</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smart listener for every file you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14: a dropped file never errors, never opens as text by mistake and never navigates away.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listener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Capture phase, file drags only; text drags are untouched.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By the bytes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Extension, MIME, magic numbers, BOM-aware text test, real JSON parse.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MCP import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silent: a confirmation lists the servers first.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Everywhere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Chat, both panels, welcome, login, admin and the PDF frame.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138 router checks, 22 tests, 58 visible checks, 24 photographs.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Tag</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v1.83.0 at a2914019, pushed and published October 14.</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portrait shrinks with the message box</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 63a62cc1 on October 13, credited to Tlamatini's-AutoBot; shipped in v1.83.0.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Down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Dragging the divider down shrinks the portrait to a 120-pixel square.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Dragging it up gives the portrait back, up to its original column.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double-click and Escape still work.</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19 docked-avatar and 18 composer checkpoints passed.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wrongly worded request is not fatal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 91ff8453 on October 12, credited to Tlamatini's-AutoBot; shipped in v1.83.0.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Request errors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Refused before any model ran; the model retries.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failures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Still raise the accumulated fatal dialog.</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engine setting</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engine= belongs to Whisperer, not Video-Analyzer.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Tests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tests in RequestRefusalIsNotFatalTests.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way back for installing and removing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12: new setup windows, and Markdown that opens as a page.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Setup windows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recoverable window for installing and removing.</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Rendered Preview, original Source, offline sanitizer.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12; the latest release until v1.83.0.</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v1.81.0</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number was skipped; v1.80.0 and v1.79.0 come before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Campaign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removal stopped safely.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Followed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v1.83.0 on October 14 carries the three later changes.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look, and one way to drag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 and v1.83.0.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Tag</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v1.80.0 at 82099963, pushed; no published release.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Slate surfaces, teal accent, one font set, one scrollbar.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Dividers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seams, one grip, arrows and Shift, Home and End.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Eight-direction and keyboard resizing; matching buttons.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tests and visible zoom, composer and dialog checks.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and v1.83.0 releases.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v1.79.0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Video-Analyzer takes a web link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 and v1.83.0.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item</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Sound for transcription, picture for summary or robotics.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Self-updating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private downloader, refreshed once on failure.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failures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Unavailable, login required, network, timeout and more.</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Prose works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Plain-language requests fill in the link and the mode.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141 unit tests and a visible 12-of-12 chat run.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and v1.83.0 releases.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Usage: credits and activity,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10; the Usage commit lands one commit after the tag. The published v1.78.0 zip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220 tests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Usage plus 202 existing regressions passed on October 10.</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24 browser checks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Visible live Pro comparisons plus clearly synthetic edge cases.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27 Usage tests and 12 visible checks; outages retried after 15 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During a request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Usage opened/refreshed while a real model answer completed.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the release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zip's files match the latest October 10 commit.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Privacy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Account observations and authenticated screenshots stay out of this dossier.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Undock her, and the message box shrinks to fit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commits after the v1.78.0 tag, and carried by the published zip: the input area resizes once she floats.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Shrinks to fit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Undocked, the input area can shrink to its buttons; no 30% floor.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 again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Docking restores room for her portrait above the buttons.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and double-click on the divider.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Short windows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scrolls inside itself; chat history stays visible.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Narrow screens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640-pixel workspace pans; the page and dialogs stay anchored.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composer and 38 viewport checks passed, visibly, on October 10.</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repaired one of her own agents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Image-Interpreter now reads a comma-separated list of images, a change credited to Tlamatini herself.</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Several images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Comma-separated paths are resolved one by one and merged.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duplicates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Repeated paths are removed; the original order is kept.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Commas in names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single existing file is never split at its comma.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warning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entry that resolves to nothing is logged, not hidden.</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Self-repair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commit credits Tlamatini's-AutoBot, her own self-modify work.</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v1.78.0</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tag points to this commit; no dedicated test yet.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speaks to you, by name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9; v1.78.0 replaced it as the Latest release on October 10.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First person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Fixed chat lines say “I” and use your name.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source</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fixed line lives in agent/constants.py.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Old wording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Matchers accept both, so old histories still read.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Templates kept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Uninstalling keeps the projects in Templates/.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erased</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goes; folders holding your files stay.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Rebuilt uninstaller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reinstall carries the fix; an in-app update does not.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Model Brain tunes every model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8; the Model Brain commit lands on main one commit after the tag. The published v1.76.0 release was built from main and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 Brain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Per-model settings from cited sources; Auto-tuning shows each one.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Coloured console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coloured by level; the log file stays plain text.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refusal</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PDF refused for a second account says why and how to fix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Quiet tabs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pages on two models no longer re-measure each other.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25 of 25 and 20 of 20 visible checks on October 8.</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 and files that tell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7 and 8: LaTeXer, Mover and the document agents report what really happened.</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PDFs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Success only when the delivered file exists and is not empty.</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 findings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Text past the margin is reported, never called clean.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name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mostly-cut build never wears the name you asked for.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Region repair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Large documents: the lines around the error are repaired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Destinations are merged, never erased; failures are reported.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Protected folders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Finished files survive Controlled Folder Access.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5 AND 8</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Smaller fixes that keep the chat 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after the v1.75.0 tag and carried by the v1.76.0 tag.</a:t>
            </a:r>
          </a:p>
        </p:txBody>
      </p:sp>
      <p:sp>
        <p:nvSpPr>
          <p:cNvPr id="8" name="Rounded Rectangle 7"/>
          <p:cNvSpPr/>
          <p:nvPr/>
        </p:nvSpPr>
        <p:spPr>
          <a:xfrm>
            <a:off x="566928"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helpers</a:t>
            </a:r>
          </a:p>
        </p:txBody>
      </p:sp>
      <p:sp>
        <p:nvSpPr>
          <p:cNvPr id="11" name="TextBox 10"/>
          <p:cNvSpPr txBox="1"/>
          <p:nvPr/>
        </p:nvSpPr>
        <p:spPr>
          <a:xfrm>
            <a:off x="694944"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Their own model calls stop at a time limit or on Cancel.</a:t>
            </a:r>
          </a:p>
        </p:txBody>
      </p:sp>
      <p:sp>
        <p:nvSpPr>
          <p:cNvPr id="12" name="Rounded Rectangle 11"/>
          <p:cNvSpPr/>
          <p:nvPr/>
        </p:nvSpPr>
        <p:spPr>
          <a:xfrm>
            <a:off x="4319930"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Uninstaller</a:t>
            </a:r>
          </a:p>
        </p:txBody>
      </p:sp>
      <p:sp>
        <p:nvSpPr>
          <p:cNvPr id="15" name="TextBox 14"/>
          <p:cNvSpPr txBox="1"/>
          <p:nvPr/>
        </p:nvSpPr>
        <p:spPr>
          <a:xfrm>
            <a:off x="4447946"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held Uninstaller.exe is moved aside and removed after exit.</a:t>
            </a:r>
          </a:p>
        </p:txBody>
      </p:sp>
      <p:sp>
        <p:nvSpPr>
          <p:cNvPr id="16" name="Rounded Rectangle 15"/>
          <p:cNvSpPr/>
          <p:nvPr/>
        </p:nvSpPr>
        <p:spPr>
          <a:xfrm>
            <a:off x="8072932"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File-Creator</a:t>
            </a:r>
          </a:p>
        </p:txBody>
      </p:sp>
      <p:sp>
        <p:nvSpPr>
          <p:cNvPr id="19" name="TextBox 18"/>
          <p:cNvSpPr txBox="1"/>
          <p:nvPr/>
        </p:nvSpPr>
        <p:spPr>
          <a:xfrm>
            <a:off x="8200948" y="2657855"/>
            <a:ext cx="3295802" cy="3450336"/>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append: true</a:t>
            </a:r>
            <a:r>
              <a:rPr sz="1300" b="0" i="0">
                <a:solidFill>
                  <a:srgbClr val="A7B2B0"/>
                </a:solidFill>
                <a:latin typeface="Segoe UI"/>
              </a:rPr>
              <a:t> adds to a file instead of overwriting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Graphical notes and resizable Run output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to main on October 4 and carried by the v1.76.0 tag; local executables were rebuilt to validate them.</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Rich notes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Selected text keeps its own fonts, sizes, colors and emphasis.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editing</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tools and all-border resizing. No commentary dialog.</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 output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to 95% height. Independent scrolling with content sizes preserved.</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File fidelity</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Three mixed-style notes rendered identically across three save/open cycles.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Delivery</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Committed October 4 and carried by v1.76.0; builds were validated separately.</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3</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and carried by the v1.76.0 tag.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October 3 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and ships in v1.76.0.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2026-10-03</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v1.75.0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v1.75.0 Making Compact mode a real checkbox: it unticks the real Configure rows, locks ON for a small model, prices every row, and warns when a request is cut.</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2026-10-08</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v1.76.0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v1.76.0 Implementin the Model Brain tunning system (comes into action everytime user config any model.</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2026-10-09</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v1.77.0</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v1.77.0 Making Tlamatini speak every fixed chat line in the first person and to the user by name, with the word matchers, the avatar and the Telegram bridge updated to recognise both the new and the old wording.</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2026-10-10</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v1.78.0</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v1.78.0 Implementing the About -&gt; Usage dialog.</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v1.79.0</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v1.79.0 Video-Analizer agent way too improved!.</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v1.80.0</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Release v1.80.0 Standarization stage completed of the GUI elements in every HTML page of Tlamatini.</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2026-10-12</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v1.82.0</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v1.82.0 Installation/Uninstallation mechanisms: way too improved!.</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2026-10-14</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v1.83.0</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v1.83.0 A smart file-drop router for every page: each dropped file is recognised by its bytes and sent to its own mechanism, so an MCP .json imports everywhere and never errors, opens as text or navigates away.</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2026-10-15</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v1.84.0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v1.84.0 Button Reopen refactored to Refresh and omtomized as-is.</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2026-10-16</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v1.85.0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v1.85.0 Improved canvas visibility introducing views modify behavior.</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2026-10-17</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v1.86.0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v1.86.0 Fixing Mover: a new folder name is created as a folder, not a file.</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2026-10-18</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v1.87.0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v1.87.0 Improving the uninstaller, the space taken, and the ollama usage..</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released version: v1.87.0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application, user guides, PDF and PowerPoint all identify the same current release. The repository metadata records the implementation inspected for this dossier.</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Current release</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v1.87.0</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Audit commit</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83e0cbe6</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version</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1.87.0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Current release</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v1.87.0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Runtime version</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1.87.0</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Existing annotated tag</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v1.87.0 → 2203b436 (2026-10-18)</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commit</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83e0cbe6</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83e0cbe6 · 2026-10-19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1.87.0</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1,764</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1,522</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242</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595,586</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464,395</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86</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217</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60 · 27 · 6</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264</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464,395 effective lines across 1,522 text files; 595,586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883</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354,231</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253,967</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54.7%</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104,336</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102,895</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22.2%</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229</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50,120</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37,973</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8.2%</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84</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35,324</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28,131</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6.1%</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17,712</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14,258</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48</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11,994</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10,595</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6,030</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6,030</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3,023</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2,355</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93</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5,930</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2,079</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0.4%</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1,641</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1,584</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1,497</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1,354</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1,642</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1,311</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1,026</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882</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434</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434</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1,522</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595,586</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464,395</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1,383</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352,871</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139</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111,524</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1,522</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464,395</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8,645</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5,964</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4,963</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4,274</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3,763</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3,431</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3,204</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Tlamatini/agent/doc_generation/dossier_content.py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2,552</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2,511</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2,363</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scripts/architecture_atlas/gen_architecture.py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2,300</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2,241</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Tlamatini/agent/external_mcp_manager.py</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2,144</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Tlamatini/agent/static/agent/css/agentic_control_panel.css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2,060</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2,022</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1,943</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docs/changes/2026-10-04-commentary-graphical-redesign.patch</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Other text</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1,908</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83e0cbe6</a:t>
            </a:r>
          </a:p>
        </p:txBody>
      </p:sp>
      <p:sp>
        <p:nvSpPr>
          <p:cNvPr id="14" name="TextBox 13"/>
          <p:cNvSpPr txBox="1"/>
          <p:nvPr/>
        </p:nvSpPr>
        <p:spPr>
          <a:xfrm>
            <a:off x="1967020" y="2505456"/>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2026-10-19</a:t>
            </a:r>
          </a:p>
        </p:txBody>
      </p:sp>
      <p:sp>
        <p:nvSpPr>
          <p:cNvPr id="15" name="TextBox 14"/>
          <p:cNvSpPr txBox="1"/>
          <p:nvPr/>
        </p:nvSpPr>
        <p:spPr>
          <a:xfrm>
            <a:off x="3515118" y="2505456"/>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Swept of consistency by CODEX/CLAUDE over version 1.87.0, by angelahack1</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826c7c1a</a:t>
            </a:r>
          </a:p>
        </p:txBody>
      </p:sp>
      <p:sp>
        <p:nvSpPr>
          <p:cNvPr id="18" name="TextBox 17"/>
          <p:cNvSpPr txBox="1"/>
          <p:nvPr/>
        </p:nvSpPr>
        <p:spPr>
          <a:xfrm>
            <a:off x="1967020" y="281177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2026-10-18</a:t>
            </a:r>
          </a:p>
        </p:txBody>
      </p:sp>
      <p:sp>
        <p:nvSpPr>
          <p:cNvPr id="19" name="TextBox 18"/>
          <p:cNvSpPr txBox="1"/>
          <p:nvPr/>
        </p:nvSpPr>
        <p:spPr>
          <a:xfrm>
            <a:off x="3515118" y="281177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Improving the uninstaller, the space taken, and the ollama usage, by angelahack1</a:t>
            </a:r>
          </a:p>
        </p:txBody>
      </p:sp>
      <p:sp>
        <p:nvSpPr>
          <p:cNvPr id="20" name="TextBox 19"/>
          <p:cNvSpPr txBox="1"/>
          <p:nvPr/>
        </p:nvSpPr>
        <p:spPr>
          <a:xfrm>
            <a:off x="640080" y="3118103"/>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9a55f836</a:t>
            </a:r>
          </a:p>
        </p:txBody>
      </p:sp>
      <p:sp>
        <p:nvSpPr>
          <p:cNvPr id="21" name="TextBox 20"/>
          <p:cNvSpPr txBox="1"/>
          <p:nvPr/>
        </p:nvSpPr>
        <p:spPr>
          <a:xfrm>
            <a:off x="1967020" y="3118103"/>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2026-10-18</a:t>
            </a:r>
          </a:p>
        </p:txBody>
      </p:sp>
      <p:sp>
        <p:nvSpPr>
          <p:cNvPr id="22" name="TextBox 21"/>
          <p:cNvSpPr txBox="1"/>
          <p:nvPr/>
        </p:nvSpPr>
        <p:spPr>
          <a:xfrm>
            <a:off x="3515118" y="3118103"/>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Improving the uninstaller, the space taken, and the ollama usage, by angelahack1</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2203b436</a:t>
            </a:r>
          </a:p>
        </p:txBody>
      </p:sp>
      <p:sp>
        <p:nvSpPr>
          <p:cNvPr id="25" name="TextBox 24"/>
          <p:cNvSpPr txBox="1"/>
          <p:nvPr/>
        </p:nvSpPr>
        <p:spPr>
          <a:xfrm>
            <a:off x="1967020" y="3424427"/>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2026-10-17</a:t>
            </a:r>
          </a:p>
        </p:txBody>
      </p:sp>
      <p:sp>
        <p:nvSpPr>
          <p:cNvPr id="26" name="TextBox 25"/>
          <p:cNvSpPr txBox="1"/>
          <p:nvPr/>
        </p:nvSpPr>
        <p:spPr>
          <a:xfrm>
            <a:off x="3515118" y="3424427"/>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Fixing Mover: a new folder name is created as a folder, not a file, by angelahack1</a:t>
            </a:r>
          </a:p>
        </p:txBody>
      </p:sp>
      <p:sp>
        <p:nvSpPr>
          <p:cNvPr id="27" name="TextBox 26"/>
          <p:cNvSpPr txBox="1"/>
          <p:nvPr/>
        </p:nvSpPr>
        <p:spPr>
          <a:xfrm>
            <a:off x="640080" y="3730751"/>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0e302118</a:t>
            </a:r>
          </a:p>
        </p:txBody>
      </p:sp>
      <p:sp>
        <p:nvSpPr>
          <p:cNvPr id="28" name="TextBox 27"/>
          <p:cNvSpPr txBox="1"/>
          <p:nvPr/>
        </p:nvSpPr>
        <p:spPr>
          <a:xfrm>
            <a:off x="1967020" y="3730751"/>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2026-10-17</a:t>
            </a:r>
          </a:p>
        </p:txBody>
      </p:sp>
      <p:sp>
        <p:nvSpPr>
          <p:cNvPr id="29" name="TextBox 28"/>
          <p:cNvSpPr txBox="1"/>
          <p:nvPr/>
        </p:nvSpPr>
        <p:spPr>
          <a:xfrm>
            <a:off x="3515118" y="3730751"/>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Mentioning the architecture atlas in the README, by angelahack1</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5be9e21e</a:t>
            </a:r>
          </a:p>
        </p:txBody>
      </p:sp>
      <p:sp>
        <p:nvSpPr>
          <p:cNvPr id="32" name="TextBox 31"/>
          <p:cNvSpPr txBox="1"/>
          <p:nvPr/>
        </p:nvSpPr>
        <p:spPr>
          <a:xfrm>
            <a:off x="1967020" y="4037075"/>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2026-10-17</a:t>
            </a:r>
          </a:p>
        </p:txBody>
      </p:sp>
      <p:sp>
        <p:nvSpPr>
          <p:cNvPr id="33" name="TextBox 32"/>
          <p:cNvSpPr txBox="1"/>
          <p:nvPr/>
        </p:nvSpPr>
        <p:spPr>
          <a:xfrm>
            <a:off x="3515118" y="4037075"/>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the Tlamatini-Architecture.pdf generator committable (scripts/architecture_atlas), by angelahack1</a:t>
            </a:r>
          </a:p>
        </p:txBody>
      </p:sp>
      <p:sp>
        <p:nvSpPr>
          <p:cNvPr id="34" name="TextBox 33"/>
          <p:cNvSpPr txBox="1"/>
          <p:nvPr/>
        </p:nvSpPr>
        <p:spPr>
          <a:xfrm>
            <a:off x="640080" y="434339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adba0fa9</a:t>
            </a:r>
          </a:p>
        </p:txBody>
      </p:sp>
      <p:sp>
        <p:nvSpPr>
          <p:cNvPr id="35" name="TextBox 34"/>
          <p:cNvSpPr txBox="1"/>
          <p:nvPr/>
        </p:nvSpPr>
        <p:spPr>
          <a:xfrm>
            <a:off x="1967020" y="434339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2026-10-17</a:t>
            </a:r>
          </a:p>
        </p:txBody>
      </p:sp>
      <p:sp>
        <p:nvSpPr>
          <p:cNvPr id="36" name="TextBox 35"/>
          <p:cNvSpPr txBox="1"/>
          <p:nvPr/>
        </p:nvSpPr>
        <p:spPr>
          <a:xfrm>
            <a:off x="3515118" y="434339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Tlamatini-Architecture.pdf made by Tlamatini's LaTeXer, by angelahack1</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5a9631cd</a:t>
            </a:r>
          </a:p>
        </p:txBody>
      </p:sp>
      <p:sp>
        <p:nvSpPr>
          <p:cNvPr id="39" name="TextBox 38"/>
          <p:cNvSpPr txBox="1"/>
          <p:nvPr/>
        </p:nvSpPr>
        <p:spPr>
          <a:xfrm>
            <a:off x="1967020" y="4649723"/>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2026-10-17</a:t>
            </a:r>
          </a:p>
        </p:txBody>
      </p:sp>
      <p:sp>
        <p:nvSpPr>
          <p:cNvPr id="40" name="TextBox 39"/>
          <p:cNvSpPr txBox="1"/>
          <p:nvPr/>
        </p:nvSpPr>
        <p:spPr>
          <a:xfrm>
            <a:off x="3515118" y="4649723"/>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adjustments to default configuration models, by angelahack1</a:t>
            </a:r>
          </a:p>
        </p:txBody>
      </p:sp>
      <p:sp>
        <p:nvSpPr>
          <p:cNvPr id="41" name="TextBox 40"/>
          <p:cNvSpPr txBox="1"/>
          <p:nvPr/>
        </p:nvSpPr>
        <p:spPr>
          <a:xfrm>
            <a:off x="640080" y="4956047"/>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aa4d4b2c</a:t>
            </a:r>
          </a:p>
        </p:txBody>
      </p:sp>
      <p:sp>
        <p:nvSpPr>
          <p:cNvPr id="42" name="TextBox 41"/>
          <p:cNvSpPr txBox="1"/>
          <p:nvPr/>
        </p:nvSpPr>
        <p:spPr>
          <a:xfrm>
            <a:off x="1967020" y="4956047"/>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2026-10-16</a:t>
            </a:r>
          </a:p>
        </p:txBody>
      </p:sp>
      <p:sp>
        <p:nvSpPr>
          <p:cNvPr id="43" name="TextBox 42"/>
          <p:cNvSpPr txBox="1"/>
          <p:nvPr/>
        </p:nvSpPr>
        <p:spPr>
          <a:xfrm>
            <a:off x="3515118" y="4956047"/>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everything to the release v1.85.0, by angelahack1</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32a4a6d3</a:t>
            </a:r>
          </a:p>
        </p:txBody>
      </p:sp>
      <p:sp>
        <p:nvSpPr>
          <p:cNvPr id="46" name="TextBox 45"/>
          <p:cNvSpPr txBox="1"/>
          <p:nvPr/>
        </p:nvSpPr>
        <p:spPr>
          <a:xfrm>
            <a:off x="1967020" y="5262371"/>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2026-10-16</a:t>
            </a:r>
          </a:p>
        </p:txBody>
      </p:sp>
      <p:sp>
        <p:nvSpPr>
          <p:cNvPr id="47" name="TextBox 46"/>
          <p:cNvSpPr txBox="1"/>
          <p:nvPr/>
        </p:nvSpPr>
        <p:spPr>
          <a:xfrm>
            <a:off x="3515118" y="5262371"/>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Improved positioning when resizing, by Tlamatini's-AutoBot.</a:t>
            </a:r>
          </a:p>
        </p:txBody>
      </p:sp>
      <p:sp>
        <p:nvSpPr>
          <p:cNvPr id="48" name="TextBox 47"/>
          <p:cNvSpPr txBox="1"/>
          <p:nvPr/>
        </p:nvSpPr>
        <p:spPr>
          <a:xfrm>
            <a:off x="640080" y="5568695"/>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c261fe20</a:t>
            </a:r>
          </a:p>
        </p:txBody>
      </p:sp>
      <p:sp>
        <p:nvSpPr>
          <p:cNvPr id="49" name="TextBox 48"/>
          <p:cNvSpPr txBox="1"/>
          <p:nvPr/>
        </p:nvSpPr>
        <p:spPr>
          <a:xfrm>
            <a:off x="1967020" y="5568695"/>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2026-10-16</a:t>
            </a:r>
          </a:p>
        </p:txBody>
      </p:sp>
      <p:sp>
        <p:nvSpPr>
          <p:cNvPr id="50" name="TextBox 49"/>
          <p:cNvSpPr txBox="1"/>
          <p:nvPr/>
        </p:nvSpPr>
        <p:spPr>
          <a:xfrm>
            <a:off x="3515118" y="5568695"/>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Improved canvas visibility introducing views modify behavior, by Tlamatini's-AutoBot.</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5d1f0c76</a:t>
            </a:r>
          </a:p>
        </p:txBody>
      </p:sp>
      <p:sp>
        <p:nvSpPr>
          <p:cNvPr id="53" name="TextBox 52"/>
          <p:cNvSpPr txBox="1"/>
          <p:nvPr/>
        </p:nvSpPr>
        <p:spPr>
          <a:xfrm>
            <a:off x="1967020" y="587501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2026-10-15</a:t>
            </a:r>
          </a:p>
        </p:txBody>
      </p:sp>
      <p:sp>
        <p:nvSpPr>
          <p:cNvPr id="54" name="TextBox 53"/>
          <p:cNvSpPr txBox="1"/>
          <p:nvPr/>
        </p:nvSpPr>
        <p:spPr>
          <a:xfrm>
            <a:off x="3515118" y="587501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Button Reopen refactored to Refresh and omtomized as-is, by Tlamatini's-AutoBot.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application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1,546 application files, with 218 database-history files summarized.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1,546 listed files at commit 83e0cbe6;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ConfigureModels.png</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flow_file_associations.ps1</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register_fpmt.ps1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setup_logging.py</a:t>
            </a:r>
          </a:p>
          <a:p>
            <a:pPr algn="l">
              <a:lnSpc>
                <a:spcPct val="100000"/>
              </a:lnSpc>
            </a:pPr>
            <a:r>
              <a:rPr sz="800" b="0" i="0">
                <a:solidFill>
                  <a:srgbClr val="ECE7DC"/>
                </a:solidFill>
                <a:latin typeface="Consolas"/>
              </a:rPr>
              <a:t>├── setup_recovery.py</a:t>
            </a:r>
          </a:p>
          <a:p>
            <a:pPr algn="l">
              <a:lnSpc>
                <a:spcPct val="100000"/>
              </a:lnSpc>
            </a:pPr>
            <a:r>
              <a:rPr sz="800" b="0" i="0">
                <a:solidFill>
                  <a:srgbClr val="ECE7DC"/>
                </a:solidFill>
                <a:latin typeface="Consolas"/>
              </a:rPr>
              <a:t>├── setup_windows.py</a:t>
            </a:r>
          </a:p>
          <a:p>
            <a:pPr algn="l">
              <a:lnSpc>
                <a:spcPct val="100000"/>
              </a:lnSpc>
            </a:pPr>
            <a:r>
              <a:rPr sz="800" b="0" i="0">
                <a:solidFill>
                  <a:srgbClr val="ECE7DC"/>
                </a:solidFill>
                <a:latin typeface="Consolas"/>
              </a:rPr>
              <a:t>├── setup_wizard.py</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Tlamatini-Architecture.pdf</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uninstall_processes.py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unregister_fpmt.ps1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1,546 listed files at commit 83e0cbe6;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compact_pingpong_visible.py</a:t>
            </a:r>
          </a:p>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file_drop_visible.py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model_brain_visible.py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pdf_context_visible.py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video_link_visible.py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1,546 listed files at commit 83e0cbe6;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tlamatini-release-validation/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agents/</a:t>
            </a:r>
          </a:p>
          <a:p>
            <a:pPr algn="l">
              <a:lnSpc>
                <a:spcPct val="100000"/>
              </a:lnSpc>
            </a:pPr>
            <a:r>
              <a:rPr sz="800" b="0" i="0">
                <a:solidFill>
                  <a:srgbClr val="ECE7DC"/>
                </a:solidFill>
                <a:latin typeface="Consolas"/>
              </a:rPr>
              <a:t>│           │   └── openai.yaml</a:t>
            </a:r>
          </a:p>
          <a:p>
            <a:pPr algn="l">
              <a:lnSpc>
                <a:spcPct val="100000"/>
              </a:lnSpc>
            </a:pPr>
            <a:r>
              <a:rPr sz="800" b="0" i="0">
                <a:solidFill>
                  <a:srgbClr val="3BBE93"/>
                </a:solidFill>
                <a:latin typeface="Consolas"/>
              </a:rPr>
              <a:t>│           └── references/</a:t>
            </a:r>
          </a:p>
          <a:p>
            <a:pPr algn="l">
              <a:lnSpc>
                <a:spcPct val="100000"/>
              </a:lnSpc>
            </a:pPr>
            <a:r>
              <a:rPr sz="800" b="0" i="0">
                <a:solidFill>
                  <a:srgbClr val="ECE7DC"/>
                </a:solidFill>
                <a:latin typeface="Consolas"/>
              </a:rPr>
              <a:t>│               └── acceptance-matrix.md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a:p>
            <a:pPr algn="l">
              <a:lnSpc>
                <a:spcPct val="100000"/>
              </a:lnSpc>
            </a:pPr>
            <a:r>
              <a:rPr sz="800" b="0" i="0">
                <a:solidFill>
                  <a:srgbClr val="ECE7DC"/>
                </a:solidFill>
                <a:latin typeface="Consolas"/>
              </a:rPr>
              <a:t>│   ├── canvas-refresh.md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markdown-canvas.md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setup-lifecycle-research.md</a:t>
            </a:r>
          </a:p>
          <a:p>
            <a:pPr algn="l">
              <a:lnSpc>
                <a:spcPct val="100000"/>
              </a:lnSpc>
            </a:pPr>
            <a:r>
              <a:rPr sz="800" b="0" i="0">
                <a:solidFill>
                  <a:srgbClr val="ECE7DC"/>
                </a:solidFill>
                <a:latin typeface="Consolas"/>
              </a:rPr>
              <a:t>│   ├── setup-wizards.md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terminater.md</a:t>
            </a:r>
          </a:p>
          <a:p>
            <a:pPr algn="l">
              <a:lnSpc>
                <a:spcPct val="100000"/>
              </a:lnSpc>
            </a:pPr>
            <a:r>
              <a:rPr sz="800" b="0" i="0">
                <a:solidFill>
                  <a:srgbClr val="ECE7DC"/>
                </a:solidFill>
                <a:latin typeface="Consolas"/>
              </a:rPr>
              <a:t>│   ├── usage-dashboard.md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ECE7DC"/>
                </a:solidFill>
                <a:latin typeface="Consolas"/>
              </a:rPr>
              <a:t>│   ├── windows-flow-files.md</a:t>
            </a:r>
          </a:p>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ECE7DC"/>
                </a:solidFill>
                <a:latin typeface="Consolas"/>
              </a:rPr>
              <a:t>│   │   ├── 2026-10-04-commentary-graphical-redesign.md</a:t>
            </a:r>
          </a:p>
          <a:p>
            <a:pPr algn="l">
              <a:lnSpc>
                <a:spcPct val="100000"/>
              </a:lnSpc>
            </a:pPr>
            <a:r>
              <a:rPr sz="800" b="0" i="0">
                <a:solidFill>
                  <a:srgbClr val="ECE7DC"/>
                </a:solidFill>
                <a:latin typeface="Consolas"/>
              </a:rPr>
              <a:t>│   │   ├── 2026-10-04-commentary-graphical-redesign.pat</a:t>
            </a:r>
          </a:p>
          <a:p>
            <a:pPr algn="l">
              <a:lnSpc>
                <a:spcPct val="100000"/>
              </a:lnSpc>
            </a:pPr>
            <a:r>
              <a:rPr sz="800" b="0" i="0">
                <a:solidFill>
                  <a:srgbClr val="ECE7DC"/>
                </a:solidFill>
                <a:latin typeface="Consolas"/>
              </a:rPr>
              <a:t>│   │   │     » ch</a:t>
            </a:r>
          </a:p>
          <a:p>
            <a:pPr algn="l">
              <a:lnSpc>
                <a:spcPct val="100000"/>
              </a:lnSpc>
            </a:pPr>
            <a:r>
              <a:rPr sz="800" b="0" i="0">
                <a:solidFill>
                  <a:srgbClr val="ECE7DC"/>
                </a:solidFill>
                <a:latin typeface="Consolas"/>
              </a:rPr>
              <a:t>│   │   ├── 2026-10-04-prompt-flow-documentation.md</a:t>
            </a:r>
          </a:p>
          <a:p>
            <a:pPr algn="l">
              <a:lnSpc>
                <a:spcPct val="100000"/>
              </a:lnSpc>
            </a:pPr>
            <a:r>
              <a:rPr sz="800" b="0" i="0">
                <a:solidFill>
                  <a:srgbClr val="ECE7DC"/>
                </a:solidFill>
                <a:latin typeface="Consolas"/>
              </a:rPr>
              <a:t>│   │   ├── 2026-10-04-release-validation.md</a:t>
            </a:r>
          </a:p>
          <a:p>
            <a:pPr algn="l">
              <a:lnSpc>
                <a:spcPct val="100000"/>
              </a:lnSpc>
            </a:pPr>
            <a:r>
              <a:rPr sz="800" b="0" i="0">
                <a:solidFill>
                  <a:srgbClr val="ECE7DC"/>
                </a:solidFill>
                <a:latin typeface="Consolas"/>
              </a:rPr>
              <a:t>│   │   ├── 2026-10-04-run-output-resize.md</a:t>
            </a:r>
          </a:p>
          <a:p>
            <a:pPr algn="l">
              <a:lnSpc>
                <a:spcPct val="100000"/>
              </a:lnSpc>
            </a:pPr>
            <a:r>
              <a:rPr sz="800" b="0" i="0">
                <a:solidFill>
                  <a:srgbClr val="ECE7DC"/>
                </a:solidFill>
                <a:latin typeface="Consolas"/>
              </a:rPr>
              <a:t>│   │   ├── 2026-10-04-run-output-resize.patch</a:t>
            </a:r>
          </a:p>
          <a:p>
            <a:pPr algn="l">
              <a:lnSpc>
                <a:spcPct val="100000"/>
              </a:lnSpc>
            </a:pPr>
            <a:r>
              <a:rPr sz="800" b="0" i="0">
                <a:solidFill>
                  <a:srgbClr val="ECE7DC"/>
                </a:solidFill>
                <a:latin typeface="Consolas"/>
              </a:rPr>
              <a:t>│   │   ├── 2026-10-04-windows-flow-files.md</a:t>
            </a:r>
          </a:p>
          <a:p>
            <a:pPr algn="l">
              <a:lnSpc>
                <a:spcPct val="100000"/>
              </a:lnSpc>
            </a:pPr>
            <a:r>
              <a:rPr sz="800" b="0" i="0">
                <a:solidFill>
                  <a:srgbClr val="ECE7DC"/>
                </a:solidFill>
                <a:latin typeface="Consolas"/>
              </a:rPr>
              <a:t>│   │   ├── 2026-10-07-latexer-verification.md</a:t>
            </a:r>
          </a:p>
          <a:p>
            <a:pPr algn="l">
              <a:lnSpc>
                <a:spcPct val="100000"/>
              </a:lnSpc>
            </a:pPr>
            <a:r>
              <a:rPr sz="800" b="0" i="0">
                <a:solidFill>
                  <a:srgbClr val="ECE7DC"/>
                </a:solidFill>
                <a:latin typeface="Consolas"/>
              </a:rPr>
              <a:t>│   │   ├── 2026-10-07-pdf-mover-incident.md</a:t>
            </a:r>
          </a:p>
          <a:p>
            <a:pPr algn="l">
              <a:lnSpc>
                <a:spcPct val="100000"/>
              </a:lnSpc>
            </a:pPr>
            <a:r>
              <a:rPr sz="800" b="0" i="0">
                <a:solidFill>
                  <a:srgbClr val="ECE7DC"/>
                </a:solidFill>
                <a:latin typeface="Consolas"/>
              </a:rPr>
              <a:t>│   │   ├── 2026-10-07-windows-access-verification.md</a:t>
            </a:r>
          </a:p>
          <a:p>
            <a:pPr algn="l">
              <a:lnSpc>
                <a:spcPct val="100000"/>
              </a:lnSpc>
            </a:pPr>
            <a:r>
              <a:rPr sz="800" b="0" i="0">
                <a:solidFill>
                  <a:srgbClr val="ECE7DC"/>
                </a:solidFill>
                <a:latin typeface="Consolas"/>
              </a:rPr>
              <a:t>│   │   ├── 2026-10-10-composer-resize.md</a:t>
            </a:r>
          </a:p>
          <a:p>
            <a:pPr algn="l">
              <a:lnSpc>
                <a:spcPct val="100000"/>
              </a:lnSpc>
            </a:pPr>
            <a:r>
              <a:rPr sz="800" b="0" i="0">
                <a:solidFill>
                  <a:srgbClr val="ECE7DC"/>
                </a:solidFill>
                <a:latin typeface="Consolas"/>
              </a:rPr>
              <a:t>│   │   ├── 2026-10-11-ui-sweep.md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1,546 listed files at commit 83e0cbe6;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2026-10-13-docked-avatar-divider.md</a:t>
            </a:r>
          </a:p>
          <a:p>
            <a:pPr algn="l">
              <a:lnSpc>
                <a:spcPct val="100000"/>
              </a:lnSpc>
            </a:pPr>
            <a:r>
              <a:rPr sz="800" b="0" i="0">
                <a:solidFill>
                  <a:srgbClr val="ECE7DC"/>
                </a:solidFill>
                <a:latin typeface="Consolas"/>
              </a:rPr>
              <a:t>│   │   ├── 2026-10-16-v1.85.0.md</a:t>
            </a:r>
          </a:p>
          <a:p>
            <a:pPr algn="l">
              <a:lnSpc>
                <a:spcPct val="100000"/>
              </a:lnSpc>
            </a:pPr>
            <a:r>
              <a:rPr sz="800" b="0" i="0">
                <a:solidFill>
                  <a:srgbClr val="ECE7DC"/>
                </a:solidFill>
                <a:latin typeface="Consolas"/>
              </a:rPr>
              <a:t>│   │   ├── 2026-10-18-v1.87.0.md</a:t>
            </a:r>
          </a:p>
          <a:p>
            <a:pPr algn="l">
              <a:lnSpc>
                <a:spcPct val="100000"/>
              </a:lnSpc>
            </a:pPr>
            <a:r>
              <a:rPr sz="800" b="0" i="0">
                <a:solidFill>
                  <a:srgbClr val="ECE7DC"/>
                </a:solidFill>
                <a:latin typeface="Consolas"/>
              </a:rPr>
              <a:t>│   │   ├── 2026-10-19-private-release-data.md</a:t>
            </a:r>
          </a:p>
          <a:p>
            <a:pPr algn="l">
              <a:lnSpc>
                <a:spcPct val="100000"/>
              </a:lnSpc>
            </a:pPr>
            <a:r>
              <a:rPr sz="800" b="0" i="0">
                <a:solidFill>
                  <a:srgbClr val="ECE7DC"/>
                </a:solidFill>
                <a:latin typeface="Consolas"/>
              </a:rPr>
              <a:t>│   │   └── 2026-10-19-terminater.md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agent_catalog_visible.py</a:t>
            </a:r>
          </a:p>
          <a:p>
            <a:pPr algn="l">
              <a:lnSpc>
                <a:spcPct val="100000"/>
              </a:lnSpc>
            </a:pPr>
            <a:r>
              <a:rPr sz="800" b="0" i="0">
                <a:solidFill>
                  <a:srgbClr val="ECE7DC"/>
                </a:solidFill>
                <a:latin typeface="Consolas"/>
              </a:rPr>
              <a:t>│   ├── build_setup_full_payload.py</a:t>
            </a:r>
          </a:p>
          <a:p>
            <a:pPr algn="l">
              <a:lnSpc>
                <a:spcPct val="100000"/>
              </a:lnSpc>
            </a:pPr>
            <a:r>
              <a:rPr sz="800" b="0" i="0">
                <a:solidFill>
                  <a:srgbClr val="ECE7DC"/>
                </a:solidFill>
                <a:latin typeface="Consolas"/>
              </a:rPr>
              <a:t>│   ├── build_setup_validation.py</a:t>
            </a:r>
          </a:p>
          <a:p>
            <a:pPr algn="l">
              <a:lnSpc>
                <a:spcPct val="100000"/>
              </a:lnSpc>
            </a:pPr>
            <a:r>
              <a:rPr sz="800" b="0" i="0">
                <a:solidFill>
                  <a:srgbClr val="ECE7DC"/>
                </a:solidFill>
                <a:latin typeface="Consolas"/>
              </a:rPr>
              <a:t>│   ├── canvas_refresh_visible.py</a:t>
            </a:r>
          </a:p>
          <a:p>
            <a:pPr algn="l">
              <a:lnSpc>
                <a:spcPct val="100000"/>
              </a:lnSpc>
            </a:pPr>
            <a:r>
              <a:rPr sz="800" b="0" i="0">
                <a:solidFill>
                  <a:srgbClr val="ECE7DC"/>
                </a:solidFill>
                <a:latin typeface="Consolas"/>
              </a:rPr>
              <a:t>│   ├── chat_composer_resize_checks.py</a:t>
            </a:r>
          </a:p>
          <a:p>
            <a:pPr algn="l">
              <a:lnSpc>
                <a:spcPct val="100000"/>
              </a:lnSpc>
            </a:pPr>
            <a:r>
              <a:rPr sz="800" b="0" i="0">
                <a:solidFill>
                  <a:srgbClr val="ECE7DC"/>
                </a:solidFill>
                <a:latin typeface="Consolas"/>
              </a:rPr>
              <a:t>│   ├── chat_composer_resize_visible.py</a:t>
            </a:r>
          </a:p>
          <a:p>
            <a:pPr algn="l">
              <a:lnSpc>
                <a:spcPct val="100000"/>
              </a:lnSpc>
            </a:pPr>
            <a:r>
              <a:rPr sz="800" b="0" i="0">
                <a:solidFill>
                  <a:srgbClr val="ECE7DC"/>
                </a:solidFill>
                <a:latin typeface="Consolas"/>
              </a:rPr>
              <a:t>│   ├── chat_composer_visible_window.py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chat_viewport_visible_checks.py</a:t>
            </a:r>
          </a:p>
          <a:p>
            <a:pPr algn="l">
              <a:lnSpc>
                <a:spcPct val="100000"/>
              </a:lnSpc>
            </a:pPr>
            <a:r>
              <a:rPr sz="800" b="0" i="0">
                <a:solidFill>
                  <a:srgbClr val="ECE7DC"/>
                </a:solidFill>
                <a:latin typeface="Consolas"/>
              </a:rPr>
              <a:t>│   ├── chat_views_frozen_visible.py</a:t>
            </a:r>
          </a:p>
          <a:p>
            <a:pPr algn="l">
              <a:lnSpc>
                <a:spcPct val="100000"/>
              </a:lnSpc>
            </a:pPr>
            <a:r>
              <a:rPr sz="800" b="0" i="0">
                <a:solidFill>
                  <a:srgbClr val="ECE7DC"/>
                </a:solidFill>
                <a:latin typeface="Consolas"/>
              </a:rPr>
              <a:t>│   ├── chat_views_visible.py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check_python_quality.py</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docked_avatar_resize_checks.py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drag_divider_look_visible.py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file_drop_router_cases.mjs</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flow_file_associations_test.ps1</a:t>
            </a:r>
          </a:p>
          <a:p>
            <a:pPr algn="l">
              <a:lnSpc>
                <a:spcPct val="100000"/>
              </a:lnSpc>
            </a:pPr>
            <a:r>
              <a:rPr sz="800" b="0" i="0">
                <a:solidFill>
                  <a:srgbClr val="ECE7DC"/>
                </a:solidFill>
                <a:latin typeface="Consolas"/>
              </a:rPr>
              <a:t>│   ├── flow_files_visible.py</a:t>
            </a:r>
          </a:p>
          <a:p>
            <a:pPr algn="l">
              <a:lnSpc>
                <a:spcPct val="100000"/>
              </a:lnSpc>
            </a:pPr>
            <a:r>
              <a:rPr sz="800" b="0" i="0">
                <a:solidFill>
                  <a:srgbClr val="ECE7DC"/>
                </a:solidFill>
                <a:latin typeface="Consolas"/>
              </a:rPr>
              <a:t>│   ├── installed_panels_visible.py</a:t>
            </a:r>
          </a:p>
          <a:p>
            <a:pPr algn="l">
              <a:lnSpc>
                <a:spcPct val="100000"/>
              </a:lnSpc>
            </a:pPr>
            <a:r>
              <a:rPr sz="800" b="0" i="0">
                <a:solidFill>
                  <a:srgbClr val="ECE7DC"/>
                </a:solidFill>
                <a:latin typeface="Consolas"/>
              </a:rPr>
              <a:t>│   ├── markdown_canvas_visible.py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prompt_flow_output_resize_visible.py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release_acp_editor_checks.py</a:t>
            </a:r>
          </a:p>
          <a:p>
            <a:pPr algn="l">
              <a:lnSpc>
                <a:spcPct val="100000"/>
              </a:lnSpc>
            </a:pPr>
            <a:r>
              <a:rPr sz="800" b="0" i="0">
                <a:solidFill>
                  <a:srgbClr val="ECE7DC"/>
                </a:solidFill>
                <a:latin typeface="Consolas"/>
              </a:rPr>
              <a:t>│   ├── release_acp_runtime_checks.py</a:t>
            </a:r>
          </a:p>
          <a:p>
            <a:pPr algn="l">
              <a:lnSpc>
                <a:spcPct val="100000"/>
              </a:lnSpc>
            </a:pPr>
            <a:r>
              <a:rPr sz="800" b="0" i="0">
                <a:solidFill>
                  <a:srgbClr val="ECE7DC"/>
                </a:solidFill>
                <a:latin typeface="Consolas"/>
              </a:rPr>
              <a:t>│   ├── release_agent_catalog_checks.py</a:t>
            </a:r>
          </a:p>
          <a:p>
            <a:pPr algn="l">
              <a:lnSpc>
                <a:spcPct val="100000"/>
              </a:lnSpc>
            </a:pPr>
            <a:r>
              <a:rPr sz="800" b="0" i="0">
                <a:solidFill>
                  <a:srgbClr val="ECE7DC"/>
                </a:solidFill>
                <a:latin typeface="Consolas"/>
              </a:rPr>
              <a:t>│   ├── release_auth_checks.py</a:t>
            </a:r>
          </a:p>
          <a:p>
            <a:pPr algn="l">
              <a:lnSpc>
                <a:spcPct val="100000"/>
              </a:lnSpc>
            </a:pPr>
            <a:r>
              <a:rPr sz="800" b="0" i="0">
                <a:solidFill>
                  <a:srgbClr val="ECE7DC"/>
                </a:solidFill>
                <a:latin typeface="Consolas"/>
              </a:rPr>
              <a:t>│   ├── release_commentary_checks.py</a:t>
            </a:r>
          </a:p>
          <a:p>
            <a:pPr algn="l">
              <a:lnSpc>
                <a:spcPct val="100000"/>
              </a:lnSpc>
            </a:pPr>
            <a:r>
              <a:rPr sz="800" b="0" i="0">
                <a:solidFill>
                  <a:srgbClr val="ECE7DC"/>
                </a:solidFill>
                <a:latin typeface="Consolas"/>
              </a:rPr>
              <a:t>│   ├── release_extended_checks.py</a:t>
            </a:r>
          </a:p>
          <a:p>
            <a:pPr algn="l">
              <a:lnSpc>
                <a:spcPct val="100000"/>
              </a:lnSpc>
            </a:pPr>
            <a:r>
              <a:rPr sz="800" b="0" i="0">
                <a:solidFill>
                  <a:srgbClr val="ECE7DC"/>
                </a:solidFill>
                <a:latin typeface="Consolas"/>
              </a:rPr>
              <a:t>│   ├── release_local_agent_checks.py</a:t>
            </a:r>
          </a:p>
          <a:p>
            <a:pPr algn="l">
              <a:lnSpc>
                <a:spcPct val="100000"/>
              </a:lnSpc>
            </a:pPr>
            <a:r>
              <a:rPr sz="800" b="0" i="0">
                <a:solidFill>
                  <a:srgbClr val="ECE7DC"/>
                </a:solidFill>
                <a:latin typeface="Consolas"/>
              </a:rPr>
              <a:t>│   ├── release_mcp_checks.py</a:t>
            </a:r>
          </a:p>
          <a:p>
            <a:pPr algn="l">
              <a:lnSpc>
                <a:spcPct val="100000"/>
              </a:lnSpc>
            </a:pPr>
            <a:r>
              <a:rPr sz="800" b="0" i="0">
                <a:solidFill>
                  <a:srgbClr val="ECE7DC"/>
                </a:solidFill>
                <a:latin typeface="Consolas"/>
              </a:rPr>
              <a:t>│   ├── release_output_resize_checks.py</a:t>
            </a:r>
          </a:p>
          <a:p>
            <a:pPr algn="l">
              <a:lnSpc>
                <a:spcPct val="100000"/>
              </a:lnSpc>
            </a:pPr>
            <a:r>
              <a:rPr sz="800" b="0" i="0">
                <a:solidFill>
                  <a:srgbClr val="ECE7DC"/>
                </a:solidFill>
                <a:latin typeface="Consolas"/>
              </a:rPr>
              <a:t>│   ├── release_prompt_runtime_checks.py</a:t>
            </a:r>
          </a:p>
          <a:p>
            <a:pPr algn="l">
              <a:lnSpc>
                <a:spcPct val="100000"/>
              </a:lnSpc>
            </a:pPr>
            <a:r>
              <a:rPr sz="800" b="0" i="0">
                <a:solidFill>
                  <a:srgbClr val="ECE7DC"/>
                </a:solidFill>
                <a:latin typeface="Consolas"/>
              </a:rPr>
              <a:t>│   ├── release_shell_file_checks.py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setup_crash_agents_visible.py</a:t>
            </a:r>
          </a:p>
          <a:p>
            <a:pPr algn="l">
              <a:lnSpc>
                <a:spcPct val="100000"/>
              </a:lnSpc>
            </a:pPr>
            <a:r>
              <a:rPr sz="800" b="0" i="0">
                <a:solidFill>
                  <a:srgbClr val="ECE7DC"/>
                </a:solidFill>
                <a:latin typeface="Consolas"/>
              </a:rPr>
              <a:t>│   ├── setup_desktop_cycles.py</a:t>
            </a:r>
          </a:p>
          <a:p>
            <a:pPr algn="l">
              <a:lnSpc>
                <a:spcPct val="100000"/>
              </a:lnSpc>
            </a:pPr>
            <a:r>
              <a:rPr sz="800" b="0" i="0">
                <a:solidFill>
                  <a:srgbClr val="ECE7DC"/>
                </a:solidFill>
                <a:latin typeface="Consolas"/>
              </a:rPr>
              <a:t>│   ├── setup_lifecycle_checks.py</a:t>
            </a:r>
          </a:p>
          <a:p>
            <a:pPr algn="l">
              <a:lnSpc>
                <a:spcPct val="100000"/>
              </a:lnSpc>
            </a:pPr>
            <a:r>
              <a:rPr sz="800" b="0" i="0">
                <a:solidFill>
                  <a:srgbClr val="ECE7DC"/>
                </a:solidFill>
                <a:latin typeface="Consolas"/>
              </a:rPr>
              <a:t>│   ├── setup_release_cycles.py</a:t>
            </a:r>
          </a:p>
          <a:p>
            <a:pPr algn="l">
              <a:lnSpc>
                <a:spcPct val="100000"/>
              </a:lnSpc>
            </a:pPr>
            <a:r>
              <a:rPr sz="800" b="0" i="0">
                <a:solidFill>
                  <a:srgbClr val="ECE7DC"/>
                </a:solidFill>
                <a:latin typeface="Consolas"/>
              </a:rPr>
              <a:t>│   ├── setup_wizard_visible.py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terminater_visible_acp.py</a:t>
            </a:r>
          </a:p>
          <a:p>
            <a:pPr algn="l">
              <a:lnSpc>
                <a:spcPct val="100000"/>
              </a:lnSpc>
            </a:pPr>
            <a:r>
              <a:rPr sz="800" b="0" i="0">
                <a:solidFill>
                  <a:srgbClr val="ECE7DC"/>
                </a:solidFill>
                <a:latin typeface="Consolas"/>
              </a:rPr>
              <a:t>│   ├── terminater_visible_all.py</a:t>
            </a:r>
          </a:p>
          <a:p>
            <a:pPr algn="l">
              <a:lnSpc>
                <a:spcPct val="100000"/>
              </a:lnSpc>
            </a:pPr>
            <a:r>
              <a:rPr sz="800" b="0" i="0">
                <a:solidFill>
                  <a:srgbClr val="ECE7DC"/>
                </a:solidFill>
                <a:latin typeface="Consolas"/>
              </a:rPr>
              <a:t>│   ├── terminater_visible_battery.py</a:t>
            </a:r>
          </a:p>
          <a:p>
            <a:pPr algn="l">
              <a:lnSpc>
                <a:spcPct val="100000"/>
              </a:lnSpc>
            </a:pPr>
            <a:r>
              <a:rPr sz="800" b="0" i="0">
                <a:solidFill>
                  <a:srgbClr val="ECE7DC"/>
                </a:solidFill>
                <a:latin typeface="Consolas"/>
              </a:rPr>
              <a:t>│   ├── terminater_visible_chat.py</a:t>
            </a:r>
          </a:p>
          <a:p>
            <a:pPr algn="l">
              <a:lnSpc>
                <a:spcPct val="100000"/>
              </a:lnSpc>
            </a:pPr>
            <a:r>
              <a:rPr sz="800" b="0" i="0">
                <a:solidFill>
                  <a:srgbClr val="ECE7DC"/>
                </a:solidFill>
                <a:latin typeface="Consolas"/>
              </a:rPr>
              <a:t>│   ├── terminater_visible_common.py</a:t>
            </a:r>
          </a:p>
          <a:p>
            <a:pPr algn="l">
              <a:lnSpc>
                <a:spcPct val="100000"/>
              </a:lnSpc>
            </a:pPr>
            <a:r>
              <a:rPr sz="800" b="0" i="0">
                <a:solidFill>
                  <a:srgbClr val="ECE7DC"/>
                </a:solidFill>
                <a:latin typeface="Consolas"/>
              </a:rPr>
              <a:t>│   ├── terminater_visible_pfp.py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tlamatini_clean_install.ps1</a:t>
            </a:r>
          </a:p>
          <a:p>
            <a:pPr algn="l">
              <a:lnSpc>
                <a:spcPct val="100000"/>
              </a:lnSpc>
            </a:pPr>
            <a:r>
              <a:rPr sz="800" b="0" i="0">
                <a:solidFill>
                  <a:srgbClr val="ECE7DC"/>
                </a:solidFill>
                <a:latin typeface="Consolas"/>
              </a:rPr>
              <a:t>│   ├── ui_sweep_resize_checks.py</a:t>
            </a:r>
          </a:p>
          <a:p>
            <a:pPr algn="l">
              <a:lnSpc>
                <a:spcPct val="100000"/>
              </a:lnSpc>
            </a:pPr>
            <a:r>
              <a:rPr sz="800" b="0" i="0">
                <a:solidFill>
                  <a:srgbClr val="ECE7DC"/>
                </a:solidFill>
                <a:latin typeface="Consolas"/>
              </a:rPr>
              <a:t>│   ├── ui_sweep_visible.py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usage_dashboard_browser_checks.py</a:t>
            </a:r>
          </a:p>
          <a:p>
            <a:pPr algn="l">
              <a:lnSpc>
                <a:spcPct val="100000"/>
              </a:lnSpc>
            </a:pPr>
            <a:r>
              <a:rPr sz="800" b="0" i="0">
                <a:solidFill>
                  <a:srgbClr val="ECE7DC"/>
                </a:solidFill>
                <a:latin typeface="Consolas"/>
              </a:rPr>
              <a:t>│   ├── usage_dashboard_fixture_checks.py</a:t>
            </a:r>
          </a:p>
          <a:p>
            <a:pPr algn="l">
              <a:lnSpc>
                <a:spcPct val="100000"/>
              </a:lnSpc>
            </a:pPr>
            <a:r>
              <a:rPr sz="800" b="0" i="0">
                <a:solidFill>
                  <a:srgbClr val="ECE7DC"/>
                </a:solidFill>
                <a:latin typeface="Consolas"/>
              </a:rPr>
              <a:t>│   ├── usage_dashboard_visible.py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 architecture_atlas/</a:t>
            </a:r>
          </a:p>
          <a:p>
            <a:pPr algn="l">
              <a:lnSpc>
                <a:spcPct val="100000"/>
              </a:lnSpc>
            </a:pPr>
            <a:r>
              <a:rPr sz="800" b="0" i="0">
                <a:solidFill>
                  <a:srgbClr val="ECE7DC"/>
                </a:solidFill>
                <a:latin typeface="Consolas"/>
              </a:rPr>
              <a:t>│       ├── build_architecture_pdf.py</a:t>
            </a:r>
          </a:p>
          <a:p>
            <a:pPr algn="l">
              <a:lnSpc>
                <a:spcPct val="100000"/>
              </a:lnSpc>
            </a:pPr>
            <a:r>
              <a:rPr sz="800" b="0" i="0">
                <a:solidFill>
                  <a:srgbClr val="ECE7DC"/>
                </a:solidFill>
                <a:latin typeface="Consolas"/>
              </a:rPr>
              <a:t>│       ├── gen_architecture.py</a:t>
            </a:r>
          </a:p>
          <a:p>
            <a:pPr algn="l">
              <a:lnSpc>
                <a:spcPct val="100000"/>
              </a:lnSpc>
            </a:pPr>
            <a:r>
              <a:rPr sz="800" b="0" i="0">
                <a:solidFill>
                  <a:srgbClr val="ECE7DC"/>
                </a:solidFill>
                <a:latin typeface="Consolas"/>
              </a:rPr>
              <a:t>│       └── README.md</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sync_enable_launcher.py</a:t>
            </a:r>
          </a:p>
          <a:p>
            <a:pPr algn="l">
              <a:lnSpc>
                <a:spcPct val="100000"/>
              </a:lnSpc>
            </a:pPr>
            <a:r>
              <a:rPr sz="800" b="0" i="0">
                <a:solidFill>
                  <a:srgbClr val="ECE7DC"/>
                </a:solidFill>
                <a:latin typeface="Consolas"/>
              </a:rPr>
              <a:t>│   ├── test_security_syntax.ps1</a:t>
            </a:r>
          </a:p>
          <a:p>
            <a:pPr algn="l">
              <a:lnSpc>
                <a:spcPct val="100000"/>
              </a:lnSpc>
            </a:pPr>
            <a:r>
              <a:rPr sz="800" b="0" i="0">
                <a:solidFill>
                  <a:srgbClr val="ECE7DC"/>
                </a:solidFill>
                <a:latin typeface="Consolas"/>
              </a:rPr>
              <a:t>│   ├── test_windows_access.ps1</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ECE7DC"/>
                </a:solidFill>
                <a:latin typeface="Consolas"/>
              </a:rPr>
              <a:t>│   ├── verify_agent_execution.py</a:t>
            </a:r>
          </a:p>
          <a:p>
            <a:pPr algn="l">
              <a:lnSpc>
                <a:spcPct val="100000"/>
              </a:lnSpc>
            </a:pPr>
            <a:r>
              <a:rPr sz="800" b="0" i="0">
                <a:solidFill>
                  <a:srgbClr val="ECE7DC"/>
                </a:solidFill>
                <a:latin typeface="Consolas"/>
              </a:rPr>
              <a:t>│   └── windows_access_helpers.ps1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1,546 listed files at commit 83e0cbe6;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test_release_regeneration.py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ECE7DC"/>
                </a:solidFill>
                <a:latin typeface="Consolas"/>
              </a:rPr>
              <a:t>│   ├── test_setup_release_paths.py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context_sidecar_timeout.py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flow_file_open.py</a:t>
            </a:r>
          </a:p>
          <a:p>
            <a:pPr algn="l">
              <a:lnSpc>
                <a:spcPct val="100000"/>
              </a:lnSpc>
            </a:pPr>
            <a:r>
              <a:rPr sz="800" b="0" i="0">
                <a:solidFill>
                  <a:srgbClr val="ECE7DC"/>
                </a:solidFill>
                <a:latin typeface="Consolas"/>
              </a:rPr>
              <a:t>    │   ├── flow_file_views.py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model_brain.py</a:t>
            </a:r>
          </a:p>
          <a:p>
            <a:pPr algn="l">
              <a:lnSpc>
                <a:spcPct val="100000"/>
              </a:lnSpc>
            </a:pPr>
            <a:r>
              <a:rPr sz="800" b="0" i="0">
                <a:solidFill>
                  <a:srgbClr val="ECE7DC"/>
                </a:solidFill>
                <a:latin typeface="Consolas"/>
              </a:rPr>
              <a:t>    │   ├── model_brain_chat.py</a:t>
            </a:r>
          </a:p>
          <a:p>
            <a:pPr algn="l">
              <a:lnSpc>
                <a:spcPct val="100000"/>
              </a:lnSpc>
            </a:pPr>
            <a:r>
              <a:rPr sz="800" b="0" i="0">
                <a:solidFill>
                  <a:srgbClr val="ECE7DC"/>
                </a:solidFill>
                <a:latin typeface="Consolas"/>
              </a:rPr>
              <a:t>    │   ├── model_brain_views.py</a:t>
            </a:r>
          </a:p>
          <a:p>
            <a:pPr algn="l">
              <a:lnSpc>
                <a:spcPct val="100000"/>
              </a:lnSpc>
            </a:pPr>
            <a:r>
              <a:rPr sz="800" b="0" i="0">
                <a:solidFill>
                  <a:srgbClr val="ECE7DC"/>
                </a:solidFill>
                <a:latin typeface="Consolas"/>
              </a:rPr>
              <a:t>    │   ├── model_profiles.json</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terminal_consumer.py</a:t>
            </a:r>
          </a:p>
          <a:p>
            <a:pPr algn="l">
              <a:lnSpc>
                <a:spcPct val="100000"/>
              </a:lnSpc>
            </a:pPr>
            <a:r>
              <a:rPr sz="800" b="0" i="0">
                <a:solidFill>
                  <a:srgbClr val="ECE7DC"/>
                </a:solidFill>
                <a:latin typeface="Consolas"/>
              </a:rPr>
              <a:t>    │   ├── terminal_hub.py</a:t>
            </a:r>
          </a:p>
          <a:p>
            <a:pPr algn="l">
              <a:lnSpc>
                <a:spcPct val="100000"/>
              </a:lnSpc>
            </a:pPr>
            <a:r>
              <a:rPr sz="800" b="0" i="0">
                <a:solidFill>
                  <a:srgbClr val="ECE7DC"/>
                </a:solidFill>
                <a:latin typeface="Consolas"/>
              </a:rPr>
              <a:t>    │   ├── terminal_views.py</a:t>
            </a:r>
          </a:p>
          <a:p>
            <a:pPr algn="l">
              <a:lnSpc>
                <a:spcPct val="100000"/>
              </a:lnSpc>
            </a:pPr>
            <a:r>
              <a:rPr sz="800" b="0" i="0">
                <a:solidFill>
                  <a:srgbClr val="ECE7DC"/>
                </a:solidFill>
                <a:latin typeface="Consolas"/>
              </a:rPr>
              <a:t>    │   ├── terminater_testkit.py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test_catalog_pruning.py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test_compact_mode_pingpong.py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test_configure_dialog_initial_ticks.py</a:t>
            </a:r>
          </a:p>
          <a:p>
            <a:pPr algn="l">
              <a:lnSpc>
                <a:spcPct val="100000"/>
              </a:lnSpc>
            </a:pPr>
            <a:r>
              <a:rPr sz="800" b="0" i="0">
                <a:solidFill>
                  <a:srgbClr val="ECE7DC"/>
                </a:solidFill>
                <a:latin typeface="Consolas"/>
              </a:rPr>
              <a:t>    │   ├── test_console_colors.py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1,546 listed files at commit 83e0cbe6;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test_context_sidecar_timeout.py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test_drag_divider_look.py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test_executer_window_report.py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test_file_creator_append.py</a:t>
            </a:r>
          </a:p>
          <a:p>
            <a:pPr algn="l">
              <a:lnSpc>
                <a:spcPct val="100000"/>
              </a:lnSpc>
            </a:pPr>
            <a:r>
              <a:rPr sz="800" b="0" i="0">
                <a:solidFill>
                  <a:srgbClr val="ECE7DC"/>
                </a:solidFill>
                <a:latin typeface="Consolas"/>
              </a:rPr>
              <a:t>    │   ├── test_file_drop_router.py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test_flow_file_open.py</a:t>
            </a:r>
          </a:p>
          <a:p>
            <a:pPr algn="l">
              <a:lnSpc>
                <a:spcPct val="100000"/>
              </a:lnSpc>
            </a:pPr>
            <a:r>
              <a:rPr sz="800" b="0" i="0">
                <a:solidFill>
                  <a:srgbClr val="ECE7DC"/>
                </a:solidFill>
                <a:latin typeface="Consolas"/>
              </a:rPr>
              <a:t>    │   ├── test_flow_file_views.py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test_glob_patterns.py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test_latexer_delivery_truth.py</a:t>
            </a:r>
          </a:p>
          <a:p>
            <a:pPr algn="l">
              <a:lnSpc>
                <a:spcPct val="100000"/>
              </a:lnSpc>
            </a:pPr>
            <a:r>
              <a:rPr sz="800" b="0" i="0">
                <a:solidFill>
                  <a:srgbClr val="ECE7DC"/>
                </a:solidFill>
                <a:latin typeface="Consolas"/>
              </a:rPr>
              <a:t>    │   ├── test_latexer_layout_truth.py</a:t>
            </a:r>
          </a:p>
          <a:p>
            <a:pPr algn="l">
              <a:lnSpc>
                <a:spcPct val="100000"/>
              </a:lnSpc>
            </a:pPr>
            <a:r>
              <a:rPr sz="800" b="0" i="0">
                <a:solidFill>
                  <a:srgbClr val="ECE7DC"/>
                </a:solidFill>
                <a:latin typeface="Consolas"/>
              </a:rPr>
              <a:t>    │   ├── test_latexer_major_removal_and_window_repair</a:t>
            </a:r>
          </a:p>
          <a:p>
            <a:pPr algn="l">
              <a:lnSpc>
                <a:spcPct val="100000"/>
              </a:lnSpc>
            </a:pPr>
            <a:r>
              <a:rPr sz="800" b="0" i="0">
                <a:solidFill>
                  <a:srgbClr val="ECE7DC"/>
                </a:solidFill>
                <a:latin typeface="Consolas"/>
              </a:rPr>
              <a:t>    │   │     » .py</a:t>
            </a:r>
          </a:p>
          <a:p>
            <a:pPr algn="l">
              <a:lnSpc>
                <a:spcPct val="100000"/>
              </a:lnSpc>
            </a:pPr>
            <a:r>
              <a:rPr sz="800" b="0" i="0">
                <a:solidFill>
                  <a:srgbClr val="ECE7DC"/>
                </a:solidFill>
                <a:latin typeface="Consolas"/>
              </a:rPr>
              <a:t>    │   ├── test_latexer_model_repair_truth.py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test_mcp_configured_endpoints.py</a:t>
            </a:r>
          </a:p>
          <a:p>
            <a:pPr algn="l">
              <a:lnSpc>
                <a:spcPct val="100000"/>
              </a:lnSpc>
            </a:pPr>
            <a:r>
              <a:rPr sz="800" b="0" i="0">
                <a:solidFill>
                  <a:srgbClr val="ECE7DC"/>
                </a:solidFill>
                <a:latin typeface="Consolas"/>
              </a:rPr>
              <a:t>    │   ├── test_model_brain.py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test_mover_file_safety.py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test_prompt_shape_sentences.py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test_release_payload_ownership.py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test_terminater_agent.py</a:t>
            </a:r>
          </a:p>
          <a:p>
            <a:pPr algn="l">
              <a:lnSpc>
                <a:spcPct val="100000"/>
              </a:lnSpc>
            </a:pPr>
            <a:r>
              <a:rPr sz="800" b="0" i="0">
                <a:solidFill>
                  <a:srgbClr val="ECE7DC"/>
                </a:solidFill>
                <a:latin typeface="Consolas"/>
              </a:rPr>
              <a:t>    │   ├── test_terminater_engine.py</a:t>
            </a:r>
          </a:p>
          <a:p>
            <a:pPr algn="l">
              <a:lnSpc>
                <a:spcPct val="100000"/>
              </a:lnSpc>
            </a:pPr>
            <a:r>
              <a:rPr sz="800" b="0" i="0">
                <a:solidFill>
                  <a:srgbClr val="ECE7DC"/>
                </a:solidFill>
                <a:latin typeface="Consolas"/>
              </a:rPr>
              <a:t>    │   ├── test_terminater_hub_api.py</a:t>
            </a:r>
          </a:p>
          <a:p>
            <a:pPr algn="l">
              <a:lnSpc>
                <a:spcPct val="100000"/>
              </a:lnSpc>
            </a:pPr>
            <a:r>
              <a:rPr sz="800" b="0" i="0">
                <a:solidFill>
                  <a:srgbClr val="ECE7DC"/>
                </a:solidFill>
                <a:latin typeface="Consolas"/>
              </a:rPr>
              <a:t>    │   ├── test_terminater_integration.py</a:t>
            </a:r>
          </a:p>
          <a:p>
            <a:pPr algn="l">
              <a:lnSpc>
                <a:spcPct val="100000"/>
              </a:lnSpc>
            </a:pPr>
            <a:r>
              <a:rPr sz="800" b="0" i="0">
                <a:solidFill>
                  <a:srgbClr val="ECE7DC"/>
                </a:solidFill>
                <a:latin typeface="Consolas"/>
              </a:rPr>
              <a:t>    │   ├── test_terminater_pfp.py</a:t>
            </a:r>
          </a:p>
          <a:p>
            <a:pPr algn="l">
              <a:lnSpc>
                <a:spcPct val="100000"/>
              </a:lnSpc>
            </a:pPr>
            <a:r>
              <a:rPr sz="800" b="0" i="0">
                <a:solidFill>
                  <a:srgbClr val="ECE7DC"/>
                </a:solidFill>
                <a:latin typeface="Consolas"/>
              </a:rPr>
              <a:t>    │   ├── test_terminater_text.py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test_uninstall_processes.py</a:t>
            </a:r>
          </a:p>
          <a:p>
            <a:pPr algn="l">
              <a:lnSpc>
                <a:spcPct val="100000"/>
              </a:lnSpc>
            </a:pPr>
            <a:r>
              <a:rPr sz="800" b="0" i="0">
                <a:solidFill>
                  <a:srgbClr val="ECE7DC"/>
                </a:solidFill>
                <a:latin typeface="Consolas"/>
              </a:rPr>
              <a:t>    │   ├── test_uninstaller_lifecycle.py</a:t>
            </a:r>
          </a:p>
          <a:p>
            <a:pPr algn="l">
              <a:lnSpc>
                <a:spcPct val="100000"/>
              </a:lnSpc>
            </a:pPr>
            <a:r>
              <a:rPr sz="800" b="0" i="0">
                <a:solidFill>
                  <a:srgbClr val="ECE7DC"/>
                </a:solidFill>
                <a:latin typeface="Consolas"/>
              </a:rPr>
              <a:t>    │   ├── test_uninstaller_mechanics.py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7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1,546 listed files at commit 83e0cbe6;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test_usage.py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test_video_analyzer_fetch.py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usage_provider.py</a:t>
            </a:r>
          </a:p>
          <a:p>
            <a:pPr algn="l">
              <a:lnSpc>
                <a:spcPct val="100000"/>
              </a:lnSpc>
            </a:pPr>
            <a:r>
              <a:rPr sz="800" b="0" i="0">
                <a:solidFill>
                  <a:srgbClr val="ECE7DC"/>
                </a:solidFill>
                <a:latin typeface="Consolas"/>
              </a:rPr>
              <a:t>    │   ├── usage_tracking.py</a:t>
            </a:r>
          </a:p>
          <a:p>
            <a:pPr algn="l">
              <a:lnSpc>
                <a:spcPct val="100000"/>
              </a:lnSpc>
            </a:pPr>
            <a:r>
              <a:rPr sz="800" b="0" i="0">
                <a:solidFill>
                  <a:srgbClr val="ECE7DC"/>
                </a:solidFill>
                <a:latin typeface="Consolas"/>
              </a:rPr>
              <a:t>    │   ├── usage_views.py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8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1,546 listed files at commit 83e0cbe6;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9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1,546 listed files at commit 83e0cbe6;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terminater/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terminater.py</a:t>
            </a:r>
          </a:p>
          <a:p>
            <a:pPr algn="l">
              <a:lnSpc>
                <a:spcPct val="100000"/>
              </a:lnSpc>
            </a:pPr>
            <a:r>
              <a:rPr sz="800" b="0" i="0">
                <a:solidFill>
                  <a:srgbClr val="ECE7DC"/>
                </a:solidFill>
                <a:latin typeface="Consolas"/>
              </a:rPr>
              <a:t>    │   │   │   ├── terminater_conpty.py</a:t>
            </a:r>
          </a:p>
          <a:p>
            <a:pPr algn="l">
              <a:lnSpc>
                <a:spcPct val="100000"/>
              </a:lnSpc>
            </a:pPr>
            <a:r>
              <a:rPr sz="800" b="0" i="0">
                <a:solidFill>
                  <a:srgbClr val="ECE7DC"/>
                </a:solidFill>
                <a:latin typeface="Consolas"/>
              </a:rPr>
              <a:t>    │   │   │   ├── terminater_engine.py</a:t>
            </a:r>
          </a:p>
          <a:p>
            <a:pPr algn="l">
              <a:lnSpc>
                <a:spcPct val="100000"/>
              </a:lnSpc>
            </a:pPr>
            <a:r>
              <a:rPr sz="800" b="0" i="0">
                <a:solidFill>
                  <a:srgbClr val="ECE7DC"/>
                </a:solidFill>
                <a:latin typeface="Consolas"/>
              </a:rPr>
              <a:t>    │   │   │   └── terminater_text.py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10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1,546 listed files at commit 83e0cbe6;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ECE7DC"/>
                </a:solidFill>
                <a:latin typeface="Consolas"/>
              </a:rPr>
              <a:t>    │   │   │   └── video_fetch.py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windower.py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check_terminater.py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170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1,546 listed files at commit 83e0cbe6;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admin_theme.css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entry_pages.css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markdown_canvas.css</a:t>
            </a:r>
          </a:p>
          <a:p>
            <a:pPr algn="l">
              <a:lnSpc>
                <a:spcPct val="100000"/>
              </a:lnSpc>
            </a:pPr>
            <a:r>
              <a:rPr sz="800" b="0" i="0">
                <a:solidFill>
                  <a:srgbClr val="ECE7DC"/>
                </a:solidFill>
                <a:latin typeface="Consolas"/>
              </a:rPr>
              <a:t>    │   │       │   ├── model_brain_tuning.css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terminater_dock.css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ui_shell.css</a:t>
            </a:r>
          </a:p>
          <a:p>
            <a:pPr algn="l">
              <a:lnSpc>
                <a:spcPct val="100000"/>
              </a:lnSpc>
            </a:pPr>
            <a:r>
              <a:rPr sz="800" b="0" i="0">
                <a:solidFill>
                  <a:srgbClr val="ECE7DC"/>
                </a:solidFill>
                <a:latin typeface="Consolas"/>
              </a:rPr>
              <a:t>    │   │       │   ├── ui_splitters.css</a:t>
            </a:r>
          </a:p>
          <a:p>
            <a:pPr algn="l">
              <a:lnSpc>
                <a:spcPct val="100000"/>
              </a:lnSpc>
            </a:pPr>
            <a:r>
              <a:rPr sz="800" b="0" i="0">
                <a:solidFill>
                  <a:srgbClr val="ECE7DC"/>
                </a:solidFill>
                <a:latin typeface="Consolas"/>
              </a:rPr>
              <a:t>    │   │       │   ├── ui_tokens.css</a:t>
            </a:r>
          </a:p>
          <a:p>
            <a:pPr algn="l">
              <a:lnSpc>
                <a:spcPct val="100000"/>
              </a:lnSpc>
            </a:pPr>
            <a:r>
              <a:rPr sz="800" b="0" i="0">
                <a:solidFill>
                  <a:srgbClr val="ECE7DC"/>
                </a:solidFill>
                <a:latin typeface="Consolas"/>
              </a:rPr>
              <a:t>    │   │       │   ├── usage_dashboard.css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agent_page_markdown.js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171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1,546 listed files at commit 83e0cbe6;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file_drop_router.js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model_brain_tuning.js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terminater_dock.js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ui_splitters.js</a:t>
            </a:r>
          </a:p>
          <a:p>
            <a:pPr algn="l">
              <a:lnSpc>
                <a:spcPct val="100000"/>
              </a:lnSpc>
            </a:pPr>
            <a:r>
              <a:rPr sz="800" b="0" i="0">
                <a:solidFill>
                  <a:srgbClr val="ECE7DC"/>
                </a:solidFill>
                <a:latin typeface="Consolas"/>
              </a:rPr>
              <a:t>    │   │       │   ├── usage_dashboard.js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dompurify/</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purify.min.js</a:t>
            </a:r>
          </a:p>
          <a:p>
            <a:pPr algn="l">
              <a:lnSpc>
                <a:spcPct val="100000"/>
              </a:lnSpc>
            </a:pPr>
            <a:r>
              <a:rPr sz="800" b="0" i="0">
                <a:solidFill>
                  <a:srgbClr val="ECE7DC"/>
                </a:solidFill>
                <a:latin typeface="Consolas"/>
              </a:rPr>
              <a:t>    │   │       │   │   │       └── purify.min.js.map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marked/</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nunito/</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400.css</a:t>
            </a:r>
          </a:p>
          <a:p>
            <a:pPr algn="l">
              <a:lnSpc>
                <a:spcPct val="100000"/>
              </a:lnSpc>
            </a:pPr>
            <a:r>
              <a:rPr sz="800" b="0" i="0">
                <a:solidFill>
                  <a:srgbClr val="ECE7DC"/>
                </a:solidFill>
                <a:latin typeface="Consolas"/>
              </a:rPr>
              <a:t>    │   │       │   │   │   ├── 700.css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files/</a:t>
            </a:r>
          </a:p>
          <a:p>
            <a:pPr algn="l">
              <a:lnSpc>
                <a:spcPct val="100000"/>
              </a:lnSpc>
            </a:pPr>
            <a:r>
              <a:rPr sz="800" b="0" i="0">
                <a:solidFill>
                  <a:srgbClr val="ECE7DC"/>
                </a:solidFill>
                <a:latin typeface="Consolas"/>
              </a:rPr>
              <a:t>    │   │       │   │   │       ├── nunito-cyrillic-400-</a:t>
            </a:r>
          </a:p>
          <a:p>
            <a:pPr algn="l">
              <a:lnSpc>
                <a:spcPct val="100000"/>
              </a:lnSpc>
            </a:pPr>
            <a:r>
              <a:rPr sz="800" b="0" i="0">
                <a:solidFill>
                  <a:srgbClr val="ECE7DC"/>
                </a:solidFill>
                <a:latin typeface="Consolas"/>
              </a:rPr>
              <a:t>    │   │       │   │   │       │     » normal.woff</a:t>
            </a:r>
          </a:p>
          <a:p>
            <a:pPr algn="l">
              <a:lnSpc>
                <a:spcPct val="100000"/>
              </a:lnSpc>
            </a:pPr>
            <a:r>
              <a:rPr sz="800" b="0" i="0">
                <a:solidFill>
                  <a:srgbClr val="ECE7DC"/>
                </a:solidFill>
                <a:latin typeface="Consolas"/>
              </a:rPr>
              <a:t>    │   │       │   │   │       ├── nunito-cyrillic-400-</a:t>
            </a:r>
          </a:p>
          <a:p>
            <a:pPr algn="l">
              <a:lnSpc>
                <a:spcPct val="100000"/>
              </a:lnSpc>
            </a:pPr>
            <a:r>
              <a:rPr sz="800" b="0" i="0">
                <a:solidFill>
                  <a:srgbClr val="ECE7DC"/>
                </a:solidFill>
                <a:latin typeface="Consolas"/>
              </a:rPr>
              <a:t>    │   │       │   │   │       │     » normal.woff2</a:t>
            </a:r>
          </a:p>
          <a:p>
            <a:pPr algn="l">
              <a:lnSpc>
                <a:spcPct val="100000"/>
              </a:lnSpc>
            </a:pPr>
            <a:r>
              <a:rPr sz="800" b="0" i="0">
                <a:solidFill>
                  <a:srgbClr val="ECE7DC"/>
                </a:solidFill>
                <a:latin typeface="Consolas"/>
              </a:rPr>
              <a:t>    │   │       │   │   │       ├── nunito-cyrillic-700-</a:t>
            </a:r>
          </a:p>
          <a:p>
            <a:pPr algn="l">
              <a:lnSpc>
                <a:spcPct val="100000"/>
              </a:lnSpc>
            </a:pPr>
            <a:r>
              <a:rPr sz="800" b="0" i="0">
                <a:solidFill>
                  <a:srgbClr val="ECE7DC"/>
                </a:solidFill>
                <a:latin typeface="Consolas"/>
              </a:rPr>
              <a:t>    │   │       │   │   │       │     » normal.woff</a:t>
            </a:r>
          </a:p>
          <a:p>
            <a:pPr algn="l">
              <a:lnSpc>
                <a:spcPct val="100000"/>
              </a:lnSpc>
            </a:pPr>
            <a:r>
              <a:rPr sz="800" b="0" i="0">
                <a:solidFill>
                  <a:srgbClr val="ECE7DC"/>
                </a:solidFill>
                <a:latin typeface="Consolas"/>
              </a:rPr>
              <a:t>    │   │       │   │   │       ├── nunito-cyrillic-700-</a:t>
            </a:r>
          </a:p>
          <a:p>
            <a:pPr algn="l">
              <a:lnSpc>
                <a:spcPct val="100000"/>
              </a:lnSpc>
            </a:pPr>
            <a:r>
              <a:rPr sz="800" b="0" i="0">
                <a:solidFill>
                  <a:srgbClr val="ECE7DC"/>
                </a:solidFill>
                <a:latin typeface="Consolas"/>
              </a:rPr>
              <a:t>    │   │       │   │   │       │     » normal.woff2</a:t>
            </a:r>
          </a:p>
          <a:p>
            <a:pPr algn="l">
              <a:lnSpc>
                <a:spcPct val="100000"/>
              </a:lnSpc>
            </a:pPr>
            <a:r>
              <a:rPr sz="800" b="0" i="0">
                <a:solidFill>
                  <a:srgbClr val="ECE7DC"/>
                </a:solidFill>
                <a:latin typeface="Consolas"/>
              </a:rPr>
              <a:t>    │   │       │   │   │       ├── nunito-cyrillic-ext-</a:t>
            </a:r>
          </a:p>
          <a:p>
            <a:pPr algn="l">
              <a:lnSpc>
                <a:spcPct val="100000"/>
              </a:lnSpc>
            </a:pPr>
            <a:r>
              <a:rPr sz="800" b="0" i="0">
                <a:solidFill>
                  <a:srgbClr val="ECE7DC"/>
                </a:solidFill>
                <a:latin typeface="Consolas"/>
              </a:rPr>
              <a:t>    │   │       │   │   │       │     » 400-normal.woff</a:t>
            </a:r>
          </a:p>
          <a:p>
            <a:pPr algn="l">
              <a:lnSpc>
                <a:spcPct val="100000"/>
              </a:lnSpc>
            </a:pPr>
            <a:r>
              <a:rPr sz="800" b="0" i="0">
                <a:solidFill>
                  <a:srgbClr val="ECE7DC"/>
                </a:solidFill>
                <a:latin typeface="Consolas"/>
              </a:rPr>
              <a:t>    │   │       │   │   │       ├── nunito-cyrillic-ext-</a:t>
            </a:r>
          </a:p>
          <a:p>
            <a:pPr algn="l">
              <a:lnSpc>
                <a:spcPct val="100000"/>
              </a:lnSpc>
            </a:pPr>
            <a:r>
              <a:rPr sz="800" b="0" i="0">
                <a:solidFill>
                  <a:srgbClr val="ECE7DC"/>
                </a:solidFill>
                <a:latin typeface="Consolas"/>
              </a:rPr>
              <a:t>    │   │       │   │   │       │     » 400-normal.woff2</a:t>
            </a:r>
          </a:p>
          <a:p>
            <a:pPr algn="l">
              <a:lnSpc>
                <a:spcPct val="100000"/>
              </a:lnSpc>
            </a:pPr>
            <a:r>
              <a:rPr sz="800" b="0" i="0">
                <a:solidFill>
                  <a:srgbClr val="ECE7DC"/>
                </a:solidFill>
                <a:latin typeface="Consolas"/>
              </a:rPr>
              <a:t>    │   │       │   │   │       ├── nunito-cyrillic-ext-</a:t>
            </a:r>
          </a:p>
          <a:p>
            <a:pPr algn="l">
              <a:lnSpc>
                <a:spcPct val="100000"/>
              </a:lnSpc>
            </a:pPr>
            <a:r>
              <a:rPr sz="800" b="0" i="0">
                <a:solidFill>
                  <a:srgbClr val="ECE7DC"/>
                </a:solidFill>
                <a:latin typeface="Consolas"/>
              </a:rPr>
              <a:t>    │   │       │   │   │       │     » 700-normal.woff</a:t>
            </a:r>
          </a:p>
          <a:p>
            <a:pPr algn="l">
              <a:lnSpc>
                <a:spcPct val="100000"/>
              </a:lnSpc>
            </a:pPr>
            <a:r>
              <a:rPr sz="800" b="0" i="0">
                <a:solidFill>
                  <a:srgbClr val="ECE7DC"/>
                </a:solidFill>
                <a:latin typeface="Consolas"/>
              </a:rPr>
              <a:t>    │   │       │   │   │       ├── nunito-cyrillic-ext-</a:t>
            </a:r>
          </a:p>
          <a:p>
            <a:pPr algn="l">
              <a:lnSpc>
                <a:spcPct val="100000"/>
              </a:lnSpc>
            </a:pPr>
            <a:r>
              <a:rPr sz="800" b="0" i="0">
                <a:solidFill>
                  <a:srgbClr val="ECE7DC"/>
                </a:solidFill>
                <a:latin typeface="Consolas"/>
              </a:rPr>
              <a:t>    │   │       │   │   │       │     » 700-normal.woff2</a:t>
            </a:r>
          </a:p>
          <a:p>
            <a:pPr algn="l">
              <a:lnSpc>
                <a:spcPct val="100000"/>
              </a:lnSpc>
            </a:pPr>
            <a:r>
              <a:rPr sz="800" b="0" i="0">
                <a:solidFill>
                  <a:srgbClr val="ECE7DC"/>
                </a:solidFill>
                <a:latin typeface="Consolas"/>
              </a:rPr>
              <a:t>    │   │       │   │   │       ├── nunito-latin-400-nor</a:t>
            </a:r>
          </a:p>
          <a:p>
            <a:pPr algn="l">
              <a:lnSpc>
                <a:spcPct val="100000"/>
              </a:lnSpc>
            </a:pPr>
            <a:r>
              <a:rPr sz="800" b="0" i="0">
                <a:solidFill>
                  <a:srgbClr val="ECE7DC"/>
                </a:solidFill>
                <a:latin typeface="Consolas"/>
              </a:rPr>
              <a:t>    │   │       │   │   │       │     » mal.woff</a:t>
            </a:r>
          </a:p>
          <a:p>
            <a:pPr algn="l">
              <a:lnSpc>
                <a:spcPct val="100000"/>
              </a:lnSpc>
            </a:pPr>
            <a:r>
              <a:rPr sz="800" b="0" i="0">
                <a:solidFill>
                  <a:srgbClr val="ECE7DC"/>
                </a:solidFill>
                <a:latin typeface="Consolas"/>
              </a:rPr>
              <a:t>    │   │       │   │   │       ├── nunito-latin-400-nor</a:t>
            </a:r>
          </a:p>
          <a:p>
            <a:pPr algn="l">
              <a:lnSpc>
                <a:spcPct val="100000"/>
              </a:lnSpc>
            </a:pPr>
            <a:r>
              <a:rPr sz="800" b="0" i="0">
                <a:solidFill>
                  <a:srgbClr val="ECE7DC"/>
                </a:solidFill>
                <a:latin typeface="Consolas"/>
              </a:rPr>
              <a:t>    │   │       │   │   │       │     » mal.woff2</a:t>
            </a:r>
          </a:p>
          <a:p>
            <a:pPr algn="l">
              <a:lnSpc>
                <a:spcPct val="100000"/>
              </a:lnSpc>
            </a:pPr>
            <a:r>
              <a:rPr sz="800" b="0" i="0">
                <a:solidFill>
                  <a:srgbClr val="ECE7DC"/>
                </a:solidFill>
                <a:latin typeface="Consolas"/>
              </a:rPr>
              <a:t>    │   │       │   │   │       ├── nunito-latin-700-nor</a:t>
            </a:r>
          </a:p>
          <a:p>
            <a:pPr algn="l">
              <a:lnSpc>
                <a:spcPct val="100000"/>
              </a:lnSpc>
            </a:pPr>
            <a:r>
              <a:rPr sz="800" b="0" i="0">
                <a:solidFill>
                  <a:srgbClr val="ECE7DC"/>
                </a:solidFill>
                <a:latin typeface="Consolas"/>
              </a:rPr>
              <a:t>    │   │       │   │   │       │     » mal.woff</a:t>
            </a:r>
          </a:p>
          <a:p>
            <a:pPr algn="l">
              <a:lnSpc>
                <a:spcPct val="100000"/>
              </a:lnSpc>
            </a:pPr>
            <a:r>
              <a:rPr sz="800" b="0" i="0">
                <a:solidFill>
                  <a:srgbClr val="ECE7DC"/>
                </a:solidFill>
                <a:latin typeface="Consolas"/>
              </a:rPr>
              <a:t>    │   │       │   │   │       ├── nunito-latin-700-nor</a:t>
            </a:r>
          </a:p>
          <a:p>
            <a:pPr algn="l">
              <a:lnSpc>
                <a:spcPct val="100000"/>
              </a:lnSpc>
            </a:pPr>
            <a:r>
              <a:rPr sz="800" b="0" i="0">
                <a:solidFill>
                  <a:srgbClr val="ECE7DC"/>
                </a:solidFill>
                <a:latin typeface="Consolas"/>
              </a:rPr>
              <a:t>    │   │       │   │   │       │     » mal.woff2</a:t>
            </a:r>
          </a:p>
          <a:p>
            <a:pPr algn="l">
              <a:lnSpc>
                <a:spcPct val="100000"/>
              </a:lnSpc>
            </a:pPr>
            <a:r>
              <a:rPr sz="800" b="0" i="0">
                <a:solidFill>
                  <a:srgbClr val="ECE7DC"/>
                </a:solidFill>
                <a:latin typeface="Consolas"/>
              </a:rPr>
              <a:t>    │   │       │   │   │       ├── nunito-latin-ext-400</a:t>
            </a:r>
          </a:p>
          <a:p>
            <a:pPr algn="l">
              <a:lnSpc>
                <a:spcPct val="100000"/>
              </a:lnSpc>
            </a:pPr>
            <a:r>
              <a:rPr sz="800" b="0" i="0">
                <a:solidFill>
                  <a:srgbClr val="ECE7DC"/>
                </a:solidFill>
                <a:latin typeface="Consolas"/>
              </a:rPr>
              <a:t>    │   │       │   │   │       │     » -normal.woff</a:t>
            </a:r>
          </a:p>
          <a:p>
            <a:pPr algn="l">
              <a:lnSpc>
                <a:spcPct val="100000"/>
              </a:lnSpc>
            </a:pPr>
            <a:r>
              <a:rPr sz="800" b="0" i="0">
                <a:solidFill>
                  <a:srgbClr val="ECE7DC"/>
                </a:solidFill>
                <a:latin typeface="Consolas"/>
              </a:rPr>
              <a:t>    │   │       │   │   │       ├── nunito-latin-ext-400</a:t>
            </a:r>
          </a:p>
          <a:p>
            <a:pPr algn="l">
              <a:lnSpc>
                <a:spcPct val="100000"/>
              </a:lnSpc>
            </a:pPr>
            <a:r>
              <a:rPr sz="800" b="0" i="0">
                <a:solidFill>
                  <a:srgbClr val="ECE7DC"/>
                </a:solidFill>
                <a:latin typeface="Consolas"/>
              </a:rPr>
              <a:t>    │   │       │   │   │       │     » -normal.woff2</a:t>
            </a:r>
          </a:p>
          <a:p>
            <a:pPr algn="l">
              <a:lnSpc>
                <a:spcPct val="100000"/>
              </a:lnSpc>
            </a:pPr>
            <a:r>
              <a:rPr sz="800" b="0" i="0">
                <a:solidFill>
                  <a:srgbClr val="ECE7DC"/>
                </a:solidFill>
                <a:latin typeface="Consolas"/>
              </a:rPr>
              <a:t>    │   │       │   │   │       ├── nunito-latin-ext-700</a:t>
            </a:r>
          </a:p>
          <a:p>
            <a:pPr algn="l">
              <a:lnSpc>
                <a:spcPct val="100000"/>
              </a:lnSpc>
            </a:pPr>
            <a:r>
              <a:rPr sz="800" b="0" i="0">
                <a:solidFill>
                  <a:srgbClr val="ECE7DC"/>
                </a:solidFill>
                <a:latin typeface="Consolas"/>
              </a:rPr>
              <a:t>    │   │       │   │   │       │     » -normal.woff</a:t>
            </a:r>
          </a:p>
          <a:p>
            <a:pPr algn="l">
              <a:lnSpc>
                <a:spcPct val="100000"/>
              </a:lnSpc>
            </a:pPr>
            <a:r>
              <a:rPr sz="800" b="0" i="0">
                <a:solidFill>
                  <a:srgbClr val="ECE7DC"/>
                </a:solidFill>
                <a:latin typeface="Consolas"/>
              </a:rPr>
              <a:t>    │   │       │   │   │       ├── nunito-latin-ext-700</a:t>
            </a:r>
          </a:p>
          <a:p>
            <a:pPr algn="l">
              <a:lnSpc>
                <a:spcPct val="100000"/>
              </a:lnSpc>
            </a:pPr>
            <a:r>
              <a:rPr sz="800" b="0" i="0">
                <a:solidFill>
                  <a:srgbClr val="ECE7DC"/>
                </a:solidFill>
                <a:latin typeface="Consolas"/>
              </a:rPr>
              <a:t>    │   │       │   │   │       │     » -normal.woff2</a:t>
            </a:r>
          </a:p>
          <a:p>
            <a:pPr algn="l">
              <a:lnSpc>
                <a:spcPct val="100000"/>
              </a:lnSpc>
            </a:pPr>
            <a:r>
              <a:rPr sz="800" b="0" i="0">
                <a:solidFill>
                  <a:srgbClr val="ECE7DC"/>
                </a:solidFill>
                <a:latin typeface="Consolas"/>
              </a:rPr>
              <a:t>    │   │       │   │   │       ├── nunito-vietnamese-40</a:t>
            </a:r>
          </a:p>
          <a:p>
            <a:pPr algn="l">
              <a:lnSpc>
                <a:spcPct val="100000"/>
              </a:lnSpc>
            </a:pPr>
            <a:r>
              <a:rPr sz="800" b="0" i="0">
                <a:solidFill>
                  <a:srgbClr val="ECE7DC"/>
                </a:solidFill>
                <a:latin typeface="Consolas"/>
              </a:rPr>
              <a:t>    │   │       │   │   │       │     » 0-normal.woff</a:t>
            </a:r>
          </a:p>
          <a:p>
            <a:pPr algn="l">
              <a:lnSpc>
                <a:spcPct val="100000"/>
              </a:lnSpc>
            </a:pPr>
            <a:r>
              <a:rPr sz="800" b="0" i="0">
                <a:solidFill>
                  <a:srgbClr val="ECE7DC"/>
                </a:solidFill>
                <a:latin typeface="Consolas"/>
              </a:rPr>
              <a:t>    │   │       │   │   │       ├── nunito-vietnamese-40</a:t>
            </a:r>
          </a:p>
          <a:p>
            <a:pPr algn="l">
              <a:lnSpc>
                <a:spcPct val="100000"/>
              </a:lnSpc>
            </a:pPr>
            <a:r>
              <a:rPr sz="800" b="0" i="0">
                <a:solidFill>
                  <a:srgbClr val="ECE7DC"/>
                </a:solidFill>
                <a:latin typeface="Consolas"/>
              </a:rPr>
              <a:t>    │   │       │   │   │       │     » 0-normal.woff2</a:t>
            </a:r>
          </a:p>
          <a:p>
            <a:pPr algn="l">
              <a:lnSpc>
                <a:spcPct val="100000"/>
              </a:lnSpc>
            </a:pPr>
            <a:r>
              <a:rPr sz="800" b="0" i="0">
                <a:solidFill>
                  <a:srgbClr val="ECE7DC"/>
                </a:solidFill>
                <a:latin typeface="Consolas"/>
              </a:rPr>
              <a:t>    │   │       │   │   │       ├── nunito-vietnamese-70</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172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1,546 listed files at commit 83e0cbe6;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 0-normal.woff</a:t>
            </a:r>
          </a:p>
          <a:p>
            <a:pPr algn="l">
              <a:lnSpc>
                <a:spcPct val="100000"/>
              </a:lnSpc>
            </a:pPr>
            <a:r>
              <a:rPr sz="800" b="0" i="0">
                <a:solidFill>
                  <a:srgbClr val="ECE7DC"/>
                </a:solidFill>
                <a:latin typeface="Consolas"/>
              </a:rPr>
              <a:t>    │   │       │   │   │       └── nunito-vietnamese-70</a:t>
            </a:r>
          </a:p>
          <a:p>
            <a:pPr algn="l">
              <a:lnSpc>
                <a:spcPct val="100000"/>
              </a:lnSpc>
            </a:pPr>
            <a:r>
              <a:rPr sz="800" b="0" i="0">
                <a:solidFill>
                  <a:srgbClr val="ECE7DC"/>
                </a:solidFill>
                <a:latin typeface="Consolas"/>
              </a:rPr>
              <a:t>    │   │       │   │   │             » 0-normal.woff2</a:t>
            </a:r>
          </a:p>
          <a:p>
            <a:pPr algn="l">
              <a:lnSpc>
                <a:spcPct val="100000"/>
              </a:lnSpc>
            </a:pPr>
            <a:r>
              <a:rPr sz="800" b="0" i="0">
                <a:solidFill>
                  <a:srgbClr val="3BBE93"/>
                </a:solidFill>
                <a:latin typeface="Consolas"/>
              </a:rPr>
              <a:t>    │   │       │   │   ├── xterm/</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xterm.css</a:t>
            </a:r>
          </a:p>
          <a:p>
            <a:pPr algn="l">
              <a:lnSpc>
                <a:spcPct val="100000"/>
              </a:lnSpc>
            </a:pPr>
            <a:r>
              <a:rPr sz="800" b="0" i="0">
                <a:solidFill>
                  <a:srgbClr val="3BBE93"/>
                </a:solidFill>
                <a:latin typeface="Consolas"/>
              </a:rPr>
              <a:t>    │   │       │   │   ├── xterm-addon-fit/</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xterm-addon-web-links/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173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1,546 listed files at commit 83e0cbe6;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174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1,546 listed files at commit 83e0cbe6;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175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1,546 listed files at commit 83e0cbe6;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admin/</a:t>
            </a:r>
          </a:p>
          <a:p>
            <a:pPr algn="l">
              <a:lnSpc>
                <a:spcPct val="100000"/>
              </a:lnSpc>
            </a:pPr>
            <a:r>
              <a:rPr sz="800" b="0" i="0">
                <a:solidFill>
                  <a:srgbClr val="ECE7DC"/>
                </a:solidFill>
                <a:latin typeface="Consolas"/>
              </a:rPr>
              <a:t>    │   │   │   └── base_site.html</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usage_dialog.html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7" name="Connector 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9" name="TextBox 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176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19, 2026  ·  commit 83e0cbe6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1.87.0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