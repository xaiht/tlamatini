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Settings</c:v>
                </c:pt>
              </c:strCache>
            </c:strRef>
          </c:tx>
          <c:spPr>
            <a:solidFill>
              <a:srgbClr val="3BBE93"/>
            </a:solidFill>
          </c:spPr>
          <c:cat>
            <c:strRef>
              <c:f>Sheet1!$A$2:$A$7</c:f>
              <c:strCache>
                <c:ptCount val="6"/>
                <c:pt idx="0">
                  <c:v>Monitoring &amp; messaging</c:v>
                </c:pt>
                <c:pt idx="1">
                  <c:v>Documents</c:v>
                </c:pt>
                <c:pt idx="2">
                  <c:v>Workflows</c:v>
                </c:pt>
                <c:pt idx="3">
                  <c:v>Speech</c:v>
                </c:pt>
                <c:pt idx="4">
                  <c:v>Vision</c:v>
                </c:pt>
                <c:pt idx="5">
                  <c:v>Core</c:v>
                </c:pt>
              </c:strCache>
            </c:strRef>
          </c:cat>
          <c:val>
            <c:numRef>
              <c:f>Sheet1!$B$2:$B$7</c:f>
              <c:numCache>
                <c:formatCode>General</c:formatCode>
                <c:ptCount val="6"/>
                <c:pt idx="0">
                  <c:v>6</c:v>
                </c:pt>
                <c:pt idx="1">
                  <c:v>5</c:v>
                </c:pt>
                <c:pt idx="2">
                  <c:v>6</c:v>
                </c:pt>
                <c:pt idx="3">
                  <c:v>7</c:v>
                </c:pt>
                <c:pt idx="4">
                  <c:v>7</c:v>
                </c:pt>
                <c:pt idx="5">
                  <c:v>7</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Effective lines</c:v>
                </c:pt>
              </c:strCache>
            </c:strRef>
          </c:tx>
          <c:spPr>
            <a:solidFill>
              <a:srgbClr val="3BBE93"/>
            </a:solidFill>
          </c:spPr>
          <c:cat>
            <c:strRef>
              <c:f>Sheet1!$A$2:$A$15</c:f>
              <c:strCache>
                <c:ptCount val="14"/>
                <c:pt idx="0">
                  <c:v>6 more</c:v>
                </c:pt>
                <c:pt idx="1">
                  <c:v>Batch</c:v>
                </c:pt>
                <c:pt idx="2">
                  <c:v>Text</c:v>
                </c:pt>
                <c:pt idx="3">
                  <c:v>Prompt template</c:v>
                </c:pt>
                <c:pt idx="4">
                  <c:v>HTML</c:v>
                </c:pt>
                <c:pt idx="5">
                  <c:v>YAML</c:v>
                </c:pt>
                <c:pt idx="6">
                  <c:v>PowerShell</c:v>
                </c:pt>
                <c:pt idx="7">
                  <c:v>JSON</c:v>
                </c:pt>
                <c:pt idx="8">
                  <c:v>Other text</c:v>
                </c:pt>
                <c:pt idx="9">
                  <c:v>CSS</c:v>
                </c:pt>
                <c:pt idx="10">
                  <c:v>JavaScript</c:v>
                </c:pt>
                <c:pt idx="11">
                  <c:v>Markdown</c:v>
                </c:pt>
                <c:pt idx="12">
                  <c:v>JavaScript module</c:v>
                </c:pt>
                <c:pt idx="13">
                  <c:v>Python</c:v>
                </c:pt>
              </c:strCache>
            </c:strRef>
          </c:cat>
          <c:val>
            <c:numRef>
              <c:f>Sheet1!$B$2:$B$15</c:f>
              <c:numCache>
                <c:formatCode>General</c:formatCode>
                <c:ptCount val="14"/>
                <c:pt idx="0">
                  <c:v>1384</c:v>
                </c:pt>
                <c:pt idx="1">
                  <c:v>883</c:v>
                </c:pt>
                <c:pt idx="2">
                  <c:v>1229</c:v>
                </c:pt>
                <c:pt idx="3">
                  <c:v>1388</c:v>
                </c:pt>
                <c:pt idx="4">
                  <c:v>1446</c:v>
                </c:pt>
                <c:pt idx="5">
                  <c:v>2320</c:v>
                </c:pt>
                <c:pt idx="6">
                  <c:v>2357</c:v>
                </c:pt>
                <c:pt idx="7">
                  <c:v>6392</c:v>
                </c:pt>
                <c:pt idx="8">
                  <c:v>10338</c:v>
                </c:pt>
                <c:pt idx="9">
                  <c:v>13629</c:v>
                </c:pt>
                <c:pt idx="10">
                  <c:v>26113</c:v>
                </c:pt>
                <c:pt idx="11">
                  <c:v>35668</c:v>
                </c:pt>
                <c:pt idx="12">
                  <c:v>102470</c:v>
                </c:pt>
                <c:pt idx="13">
                  <c:v>233500</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the complete project dossier.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dossier covers, chapter by chapter.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 Who She Is. A self-hosted developer assistant that reads, reasons, builds and acts, and lets you design how.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is a self-hosted AI developer assistant for Windows 10 and 11: a Django application that converses, retrieves, plans, runs agents, and lets you draw whole agent workflows on a canvas.</a:t>
            </a:r>
          </a:p>
          <a:p/>
          <a:p>
            <a:r>
              <a:t>Her name is Nahuatl. In the Nahua world a tlamatini was a sage, literally “one who knows”: a keeper of the painted books who carried knowledge and taught others to see. The name is a promise about behaviour. She should know what she is doing, say what she actually did, and never pretend.</a:t>
            </a:r>
          </a:p>
          <a:p/>
          <a:p>
            <a:r>
              <a:t>Tlamatini was conceived, designed and built by Angela López Mendoza (@angelahack1), who gave her the name. Her birthday is October 29, 2025. She is female by design, including her spoken voice, which is always a female voice, and she refers to herself as she.</a:t>
            </a:r>
          </a:p>
          <a:p/>
          <a:p>
            <a:r>
              <a:t>She is free, open-source software under the MIT license, published at github.com/XAIHT/Tlamatini. The repository carries the application and every one of its 89 workflow-agent programs as plain, readable Python.</a:t>
            </a:r>
          </a:p>
          <a:p/>
          <a:p>
            <a:r>
              <a:t>Creator: Angela López Mendoza · @angelahack1</a:t>
            </a:r>
          </a:p>
          <a:p/>
          <a:p>
            <a:r>
              <a:t>Born: October 29, 2025</a:t>
            </a:r>
          </a:p>
          <a:p/>
          <a:p>
            <a:r>
              <a:t>Platform: Windows 10 and 11 · Python 3.12.10 · Django 5.2.15</a:t>
            </a:r>
          </a:p>
          <a:p/>
          <a:p>
            <a:r>
              <a:t>License: MIT: free and open source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“Local-first” describes where control lives: the application, database, workflows, credentials, agent code and the small embedding model stay on your machine, while the demanding reasoning is done by cloud models reached through Ollama.</a:t>
            </a:r>
          </a:p>
          <a:p/>
          <a:p>
            <a:r>
              <a:t>Three planes cooperate. The local control plane is the Django application with its chat, canvases, SQLite database, agent programs, permissions, files and hardware connections. Local retrieval builds embeddings with nomic-embed-text so project context is found quickly. Cloud reasoning — configured :cloud models served through Ollama — performs chat, tool calling, long context, vision and Multi-Turn planning. A smaller local model also works: a request it cannot hold is sent in Compact mode, and the Model Brain tunes every model from its maker's published settings.</a:t>
            </a:r>
          </a:p>
          <a:p/>
          <a:p>
            <a:r>
              <a:t>Because the complete experience was engineered around Ollama's cloud-model capacity, an active Ollama Pro plan or higher is part of the intended system requirements. This is an independent technical recommendation: Tlamatini and XAIHT are not sponsored by, affiliated with or compensated by Ollama.</a:t>
            </a:r>
          </a:p>
          <a:p/>
          <a:p>
            <a:r>
              <a:t>Whatever you send to a configured cloud model is processed by that provider. Direct Claude API use, external coding-agent CLIs and remote MCP servers are configured separately, so you decide what material leaves your machine.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Tlamatini does rests on seven cooperating subsystems.</a:t>
            </a:r>
          </a:p>
          <a:p/>
          <a:p>
            <a:r>
              <a:t>Hybrid RAG: FAISS vectors, BM25 keywords, metadata extraction, context budgeting and a binary-content guard keep answers grounded in your real project.</a:t>
            </a:r>
          </a:p>
          <a:p/>
          <a:p>
            <a:r>
              <a:t>Multi-Turn: A planner and a tool loop of up to 4,096 iterations over the full enabled surface of 109 built-in tools, self-healing steps and Compact mode for small models.</a:t>
            </a:r>
          </a:p>
          <a:p/>
          <a:p>
            <a:r>
              <a:t>Agentic Control Panel: 89 drag-and-drop agent types wired into runnable, savable .flw workflows.</a:t>
            </a:r>
          </a:p>
          <a:p/>
          <a:p>
            <a:r>
              <a:t>Prompt Flow Panel: New in v1.70.0: prompts, decisions and embeddings drawn as a diagram, saved as .fpmt, and played against your models.</a:t>
            </a:r>
          </a:p>
          <a:p/>
          <a:p>
            <a:r>
              <a:t>ACPX: 14 external coding-agent CLIs, from Claude Code to Codex and Gemini, spawned as children and brokered through 12 tools.</a:t>
            </a:r>
          </a:p>
          <a:p/>
          <a:p>
            <a:r>
              <a:t>External MCPs: A universal client for any MCP server over four transports, with up to five servers active at once.</a:t>
            </a:r>
          </a:p>
          <a:p/>
          <a:p>
            <a:r>
              <a:t>Skills: 29 SKILL.md runbooks, from code review to MCP onboarding, handed to the model as complete procedures.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Coding assistants edit text files. Tlamatini does that too, then reaches into engines, boards and networks, and lets you wire all of it together visually.</a:t>
            </a:r>
          </a:p>
          <a:p/>
          <a:p>
            <a:r>
              <a:t>Visual workflow design: 89 agent types on a canvas you connect, validate, run, pause and save.</a:t>
            </a:r>
          </a:p>
          <a:p/>
          <a:p>
            <a:r>
              <a:t>Unreal Engine: Drive a live UE5 editor from chat or canvas: actors, Blueprints, levels, assets and materials.</a:t>
            </a:r>
          </a:p>
          <a:p/>
          <a:p>
            <a:r>
              <a:t>Blender: Scenes, objects, materials, renders and raw bpy code over the official add-on socket.</a:t>
            </a:r>
          </a:p>
          <a:p/>
          <a:p>
            <a:r>
              <a:t>Real firmware: Scaffold, build and flash STM32, ESP32, Arduino and ESPHome boards behind fail-safe preflights.</a:t>
            </a:r>
          </a:p>
          <a:p/>
          <a:p>
            <a:r>
              <a:t>Whole projects: Find, read, edit and rebuild entire codebases with grounded retrieval.</a:t>
            </a:r>
          </a:p>
          <a:p/>
          <a:p>
            <a:r>
              <a:t>Any MCP server: One client for the MCP ecosystem: stdio, streamable HTTP, SSE and WebSocket.</a:t>
            </a:r>
          </a:p>
          <a:p/>
          <a:p>
            <a:r>
              <a:t>Security assessment: Authorized Kali, ProjectDiscovery and nmap work, driven from chat.</a:t>
            </a:r>
          </a:p>
          <a:p/>
          <a:p>
            <a:r>
              <a:t>Blue-hat defence: An administrator-run Windows monitoring and response toolkit.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figure below was counted from the repository while this dossier was generated.</a:t>
            </a:r>
          </a:p>
          <a:p/>
          <a:p>
            <a:r>
              <a:t>The built-in Multi-Turn surface is 20 core tools + 67 wrapped agent launchers + 12 ACPX and Skill tools + 10 External-MCP supervisors = 109 tools. Healthy, active external MCP servers add their own ext__&lt;server&gt;__&lt;tool&gt; tools on top.</a:t>
            </a:r>
          </a:p>
          <a:p/>
          <a:p>
            <a:r>
              <a:t>The application ships 56 JavaScript modules, 20 stylesheets and 6 page templates, 213 database migrations and 87 pinned Python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 How She Works. From a keystroke in the browser to a verified result on disk: the layers, the loop and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request passes through five layers, each with one responsibility, between the browser above and the model back-ends below.</a:t>
            </a:r>
          </a:p>
          <a:p/>
          <a:p>
            <a:r>
              <a:t>Above the layers sit the browser pages — the chat, the Agentic Control Panel and the Prompt Flow Panel — talking to Django Channels over WebSockets under the Daphne ASGI server. Below them sit the language-model back-ends: Ollama (local and cloud), Anthropic Claude and Qwen vision.</a:t>
            </a:r>
          </a:p>
          <a:p/>
          <a:p>
            <a:r>
              <a:t>A row in the database only switches a capability on or off. It never creates one: an MCP provider needs its runtime service and context chain, and a tool needs its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Eleven steps take a message from the browser to a verified, reported result.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Multi-Turn checked, Tlamatini stops being an advisor and becomes an operator: she plans, calls tools, reads their results and continues until the task is done.</a:t>
            </a:r>
          </a:p>
          <a:p/>
          <a:p>
            <a:r>
              <a:t>A global execution planner builds a request-scoped plan and capability hints, but the executor binds the full enabled tool surface: every enabled tool, wrapped agent and skill, with ACPX still filtered by its own checkbox. An earlier design bound only a narrow planner subset and could starve the loop of the one tool it needed.</a:t>
            </a:r>
          </a:p>
          <a:p/>
          <a:p>
            <a:r>
              <a:t>The loop runs up to 4,096 iterations. Identical wrapped-agent calls in one request are deduplicated, a repetition breaker nudges a model that circles, and each wrapped agent runs in its own isolated runtime folder, so templates are never modified.</a:t>
            </a:r>
          </a:p>
          <a:p/>
          <a:p>
            <a:r>
              <a:t>When at least one agent succeeded, the answer carries a Create Flow button. It turns exactly the successful tool calls into a canvas-loadable .flw workflow, normalized and secret-redacted by the backend, so a conversation can become a reusable workflow.</a:t>
            </a:r>
          </a:p>
          <a:p/>
          <a:p>
            <a:r>
              <a:t>Step-by-Step: One concrete action at a time; she waits for your READY or output.</a:t>
            </a:r>
          </a:p>
          <a:p/>
          <a:p>
            <a:r>
              <a:t>Ask Execs: A human Proceed/Deny gate before each risky step.</a:t>
            </a:r>
          </a:p>
          <a:p/>
          <a:p>
            <a:r>
              <a:t>Exec Report: One table per agent family, one row per real tool call.</a:t>
            </a:r>
          </a:p>
          <a:p/>
          <a:p>
            <a:r>
              <a:t>ACPX: Adds the external coding-agent and Skill tools to the surface.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whose real window cannot hold the complete request receives a compact one; a model that can hold it receives exactly the request it always did.</a:t>
            </a:r>
          </a:p>
          <a:p/>
          <a:p>
            <a:r>
              <a:t>Ollama does not refuse an oversized request for a local model: it keeps the end and answers from that. A local qwen2.5 whose 32,768 tokens were split between two request slots read 16,386 tokens of a request of about 52,000, lost the live system metrics, and answered a CPU question with the time.</a:t>
            </a:r>
          </a:p>
          <a:p/>
          <a:p>
            <a:r>
              <a:t>Ollama's own count is now the proof. When the characters sent cannot fit the tokens Ollama says it read, the request was cut, and that count is learned as the model's real window. A local model's reported context length is never taken as its per-request window, because parallel request slots divide it.</a:t>
            </a:r>
          </a:p>
          <a:p/>
          <a:p>
            <a:r>
              <a:t>A request that fits the usable window is sent byte for byte, as before. Otherwise Compact mode keeps System-Metrics and Files-Search, whose context rides inside the question, and binds only the rows you tick. Since v1.75.0 that is a toolbar switch: ticking it unticks every Configure row but those three and pauses External MCPs, and each row shows its price. The system prompt is rebuilt by rule priority and closed by a seven-rule note, and history keeps the six newest messages. A first step that Ollama still cut is re-fitted and resent before any tool runs.</a:t>
            </a:r>
          </a:p>
          <a:p/>
          <a:p>
            <a:r>
              <a:t>Full: A model that can hold the request receives it unchanged, byte for byte.</a:t>
            </a:r>
          </a:p>
          <a:p/>
          <a:p>
            <a:r>
              <a:t>Compact: A toolbar switch: only the rows you tick are bound, each with its price.</a:t>
            </a:r>
          </a:p>
          <a:p/>
          <a:p>
            <a:r>
              <a:t>Locked: A model too small for everything turns Compact on by itself and locks it.</a:t>
            </a:r>
          </a:p>
          <a:p/>
          <a:p>
            <a:r>
              <a:t>Your choice: context_compact_mode is auto by default, or always or never, obeyed exactly.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whose real window cannot hold the complete request receives a compact one; a model that can hold it receives exactly the request it always did.</a:t>
            </a:r>
          </a:p>
          <a:p/>
          <a:p>
            <a:r>
              <a:t>Ollama does not refuse an oversized request for a local model: it keeps the end and answers from that. A local qwen2.5 whose 32,768 tokens were split between two request slots read 16,386 tokens of a request of about 52,000, lost the live system metrics, and answered a CPU question with the time.</a:t>
            </a:r>
          </a:p>
          <a:p/>
          <a:p>
            <a:r>
              <a:t>Ollama's own count is now the proof. When the characters sent cannot fit the tokens Ollama says it read, the request was cut, and that count is learned as the model's real window. A local model's reported context length is never taken as its per-request window, because parallel request slots divide it.</a:t>
            </a:r>
          </a:p>
          <a:p/>
          <a:p>
            <a:r>
              <a:t>A request that fits the usable window is sent byte for byte, as before. Otherwise Compact mode keeps System-Metrics and Files-Search, whose context rides inside the question, and binds only the rows you tick. Since v1.75.0 that is a toolbar switch: ticking it unticks every Configure row but those three and pauses External MCPs, and each row shows its price. The system prompt is rebuilt by rule priority and closed by a seven-rule note, and history keeps the six newest messages. A first step that Ollama still cut is re-fitted and resent before any tool runs.</a:t>
            </a:r>
          </a:p>
          <a:p/>
          <a:p>
            <a:r>
              <a:t>Full: A model that can hold the request receives it unchanged, byte for byte.</a:t>
            </a:r>
          </a:p>
          <a:p/>
          <a:p>
            <a:r>
              <a:t>Compact: A toolbar switch: only the rows you tick are bound, each with its price.</a:t>
            </a:r>
          </a:p>
          <a:p/>
          <a:p>
            <a:r>
              <a:t>Locked: A model too small for everything turns Compact on by itself and locks it.</a:t>
            </a:r>
          </a:p>
          <a:p/>
          <a:p>
            <a:r>
              <a:t>Your choice: context_compact_mode is auto by default, or always or never, obeyed exactly.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v1.76.0 each model receives its own sampling, thinking level and context size, taken from formal sources, instead of one fixed set of values for every model.</a:t>
            </a:r>
          </a:p>
          <a:p/>
          <a:p>
            <a:r>
              <a:t>The values come, in this order, from your own model_brain_overrides; a built-in knowledge base whose every profile cites its vendor model card or Hugging Face generation_config.json (GLM-5, DeepSeek-V4, MiniMax-M3, Gemma 4, Qwen 3.5, Qwen 2.5, gpt-oss, Kimi, Mistral Large 3 and Nemotron 3); a profile learned once, in the background, for a model she does not know yet and kept outside the installation so it survives updates; the parameters Ollama publishes for the model; and finally the model's own defaults. The requested context never exceeds what the model can really read.</a:t>
            </a:r>
          </a:p>
          <a:p/>
          <a:p>
            <a:r>
              <a:t>Inside one answer, between tool calls, a thinking model gets its own earlier reasoning back, as its maker requires, instead of starting over at every step; it is dropped between your questions, and the context gauge counts it. In Config ▸ Models, Save opens an Auto-tuning dialog that tunes every configured model in front of you, with the source of each value.</a:t>
            </a:r>
          </a:p>
          <a:p/>
          <a:p>
            <a:r>
              <a:t>The stall clocks that abandoned a slow model and started again from scratch were removed. Measured with Ollama's own numbers, reading even a very long prompt is not the bottleneck on Ollama cloud: the time is the reasoning the model generates, and a clock cannot tell a dead call from a model that is still thinking. The self-healing watchdog and the client time limit remain.</a:t>
            </a:r>
          </a:p>
          <a:p/>
          <a:p>
            <a:r>
              <a:t>Formal sources: Your overrides, cited profiles, learned profiles, Ollama, model defaults.</a:t>
            </a:r>
          </a:p>
          <a:p/>
          <a:p>
            <a:r>
              <a:t>Real context: The requested window never exceeds what the model can read.</a:t>
            </a:r>
          </a:p>
          <a:p/>
          <a:p>
            <a:r>
              <a:t>Reasoning kept: Thinking models keep their train of thought between tool calls.</a:t>
            </a:r>
          </a:p>
          <a:p/>
          <a:p>
            <a:r>
              <a:t>Auto-tuning: Config ▸ Models ▸ Save shows each model tuned, with its sources.</a:t>
            </a:r>
          </a:p>
          <a:p/>
          <a:p>
            <a:r>
              <a:t>No stall clocks: A slow model is never thrown away and restarted.</a:t>
            </a:r>
          </a:p>
          <a:p/>
          <a:p>
            <a:r>
              <a:t>Your choice: model_brain: off restores the legacy fixed sampler exactly.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v1.76.0 each model receives its own sampling, thinking level and context size, taken from formal sources, instead of one fixed set of values for every model.</a:t>
            </a:r>
          </a:p>
          <a:p/>
          <a:p>
            <a:r>
              <a:t>The values come, in this order, from your own model_brain_overrides; a built-in knowledge base whose every profile cites its vendor model card or Hugging Face generation_config.json (GLM-5, DeepSeek-V4, MiniMax-M3, Gemma 4, Qwen 3.5, Qwen 2.5, gpt-oss, Kimi, Mistral Large 3 and Nemotron 3); a profile learned once, in the background, for a model she does not know yet and kept outside the installation so it survives updates; the parameters Ollama publishes for the model; and finally the model's own defaults. The requested context never exceeds what the model can really read.</a:t>
            </a:r>
          </a:p>
          <a:p/>
          <a:p>
            <a:r>
              <a:t>Inside one answer, between tool calls, a thinking model gets its own earlier reasoning back, as its maker requires, instead of starting over at every step; it is dropped between your questions, and the context gauge counts it. In Config ▸ Models, Save opens an Auto-tuning dialog that tunes every configured model in front of you, with the source of each value.</a:t>
            </a:r>
          </a:p>
          <a:p/>
          <a:p>
            <a:r>
              <a:t>The stall clocks that abandoned a slow model and started again from scratch were removed. Measured with Ollama's own numbers, reading even a very long prompt is not the bottleneck on Ollama cloud: the time is the reasoning the model generates, and a clock cannot tell a dead call from a model that is still thinking. The self-healing watchdog and the client time limit remain.</a:t>
            </a:r>
          </a:p>
          <a:p/>
          <a:p>
            <a:r>
              <a:t>Formal sources: Your overrides, cited profiles, learned profiles, Ollama, model defaults.</a:t>
            </a:r>
          </a:p>
          <a:p/>
          <a:p>
            <a:r>
              <a:t>Real context: The requested window never exceeds what the model can read.</a:t>
            </a:r>
          </a:p>
          <a:p/>
          <a:p>
            <a:r>
              <a:t>Reasoning kept: Thinking models keep their train of thought between tool calls.</a:t>
            </a:r>
          </a:p>
          <a:p/>
          <a:p>
            <a:r>
              <a:t>Auto-tuning: Config ▸ Models ▸ Save shows each model tuned, with its sources.</a:t>
            </a:r>
          </a:p>
          <a:p/>
          <a:p>
            <a:r>
              <a:t>No stall clocks: A slow model is never thrown away and restarted.</a:t>
            </a:r>
          </a:p>
          <a:p/>
          <a:p>
            <a:r>
              <a:t>Your choice: model_brain: off restores the legacy fixed sampler exactly.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Ask Execs on, the executor blocks before each risky tool and waits for Proceed or Deny in the browser. A single Deny halts the whole chain and leaves a red “Execution interrupted” banner.</a:t>
            </a:r>
          </a:p>
          <a:p/>
          <a:p>
            <a:r>
              <a:t>The gate is an explicit allowlist, chosen tier by tier. Every doubtful path resolves to Deny: a failed prompt, a Cancel or a disconnected browser never lets a risky tool run unconfirmed. Unchecking Ask Execs during a run relaxes that run; checking it again re-arms the prompts.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 retrieval combines FAISS vectors with BM25 keywords, extracts metadata, budgets the context and falls back gracefully when a chain cannot retrieve.</a:t>
            </a:r>
          </a:p>
          <a:p/>
          <a:p>
            <a:r>
              <a:t>When you load a directory or file, that loaded context outranks her self-knowledge: a request to “summarize the project” is answered from your project, not from a description of herself.</a:t>
            </a:r>
          </a:p>
          <a:p/>
          <a:p>
            <a:r>
              <a:t>Before any file is embedded, a binary-content guard screens its bytes in a short-circuiting cascade that reads at most one 8 KiB block. Binary files are dropped exactly like a name you chose to omit, and every drop is named in tlamatini.log under --- [BINARY-GUARD].</a:t>
            </a:r>
          </a:p>
          <a:p/>
          <a:p>
            <a:r>
              <a:t>The guard fails open: any doubt means “load it as text”, because silently deleting real context is worse than embedding one odd file. The byte-order-mark stage runs before the NUL-byte stage, or every UTF-16 document would vanish.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Canvas snapshots and chat-generated drafts compile through the same Agent Contract registry before any file reaches the session pool.</a:t>
            </a:r>
          </a:p>
          <a:p/>
          <a:p>
            <a:r>
              <a:t>Each agent's contract declares which configuration field a connection on each slot writes, which fields Parametrizer may read, which paths are secrets to redact, and whether it is a singleton, long-running or never starts its targets. Both surfaces normalize into one FlowSpec (schema version 2).</a:t>
            </a:r>
          </a:p>
          <a:p/>
          <a:p>
            <a:r>
              <a:t>The canvas Start button compiles the live snapshot in write mode, so an edited but unsaved flow runs under the same validation as a freshly loaded file. Validate uses a dry run that previews the compiled configuration without touching disk.</a:t>
            </a:r>
          </a:p>
          <a:p/>
          <a:p>
            <a:r>
              <a:t>Agents that feed Parametrizer emit one atomic INI_SECTION block per result. 53 agents currently declare structured outputs.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deliberate mechanisms keep the core alive under the conditions that used to stop it.</a:t>
            </a:r>
          </a:p>
          <a:p/>
          <a:p>
            <a:r>
              <a:t>Console shield: The log file is written first; console output goes through a bounded queue, so clicking the console cannot freeze her. Since v1.76.0 lines are coloured by level.</a:t>
            </a:r>
          </a:p>
          <a:p/>
          <a:p>
            <a:r>
              <a:t>Orphan reaper: Three tiers sweep dead descendants and orphaned console hosts after tools, after answers and at shutdown, without ever raising into the chat.</a:t>
            </a:r>
          </a:p>
          <a:p/>
          <a:p>
            <a:r>
              <a:t>Per-user log lines: Lines carry a five-character tag such as [a3] so concurrent users and turns never blur.</a:t>
            </a:r>
          </a:p>
          <a:p/>
          <a:p>
            <a:r>
              <a:t>Clean Ctrl+C: The signal handler only sets an event; a worker cleans up, a watchdog guarantees exit, and a second Ctrl+C exits at once.</a:t>
            </a:r>
          </a:p>
          <a:p/>
          <a:p>
            <a:r>
              <a:t>Configurable port: django_port moves the web port with no rebuild and falls back to 8000 on any bad value.</a:t>
            </a:r>
          </a:p>
          <a:p/>
          <a:p>
            <a:r>
              <a:t>Temp and Templates: Scratch files live under the application's Temp folder; scaffolded projects default to its Templates folder.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III: Where You Work With Her. The chat, the two canvases, the catalog and the dialogs that operate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page is where you talk to her. Up to eight toolbar switches decide how each request runs.</a:t>
            </a:r>
          </a:p>
          <a:p/>
          <a:p>
            <a:r>
              <a:t>Beside the conversation sits a canvas that shows code, text and PDFs. Paste a screenshot with Ctrl+V or drop images on the chat: she saves them to her Temp folder and writes the full path into your message, ready for Image-Interpreter. A context ring between the toolbar and the message box shows how much of the model's window the real request uses, measured by the backend in bytes. Tokens use Ollama's own prompt_eval_count for the request; an estimate is labeled until a measured count arrives. When Ollama cut a request the ring says so, and an answer built from a cut request carries a CONTEXT-WINDOW warning.</a:t>
            </a:r>
          </a:p>
          <a:p/>
          <a:p>
            <a:r>
              <a:t>Her avatar speaks answers aloud when you ask. Since v1.72.3, clearer syllable movement and faster closure make her lips easier to follow, with opening capped to her portrait. After login, pressing Enter on the welcome page takes you straight to the chat.</a:t>
            </a:r>
          </a:p>
          <a:p/>
          <a:p>
            <a:r>
              <a:t>Answer tables stay readable with every model: only a cell whose text would fall below 3:1 contrast is recoloured, while readable tables, Exec Report tables and gradient backgrounds keep their colours.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the divider above the message box. With her avatar undocked, the box can shrink to its buttons.</a:t>
            </a:r>
          </a:p>
          <a:p/>
          <a:p>
            <a:r>
              <a:t>The divider between the conversation and the message box follows the pointer and the keyboard. The arrow keys move it one step and Shift+arrows five; Home or a double-click shrinks the box to its smallest, End makes it as tall as allowed, and Escape ends a drag. Screen readers hear the box height. The toolbar, context gauge, attachment and dictation rows are measured, so none of them is cut off.</a:t>
            </a:r>
          </a:p>
          <a:p/>
          <a:p>
            <a:r>
              <a:t>Docked, her portrait keeps its room above the action buttons. Undocked, the box can shrink to those buttons plus a six-pixel guard, and docking her again gives the portrait its room back. In a short window the box scrolls inside itself, and on a narrow screen the workspace pans while the page and its dialogs stay in place.</a:t>
            </a:r>
          </a:p>
          <a:p/>
          <a:p>
            <a:r>
              <a:t>Drag or type: Pointer, arrows, Shift+arrows, Home and End move the divider.</a:t>
            </a:r>
          </a:p>
          <a:p/>
          <a:p>
            <a:r>
              <a:t>Undocked: The message box can shrink to its own action buttons.</a:t>
            </a:r>
          </a:p>
          <a:p/>
          <a:p>
            <a:r>
              <a:t>Docked: Her portrait keeps its room above the buttons.</a:t>
            </a:r>
          </a:p>
          <a:p/>
          <a:p>
            <a:r>
              <a:t>Small windows: The box scrolls itself; dialogs stay inside the window.</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message card has Drop beside Copy, for your prompts and Tlamatini's answers.</a:t>
            </a:r>
          </a:p>
          <a:p/>
          <a:p>
            <a:r>
              <a:t>Press Drop and read the themed confirmation. Cancel starts focused, so Enter cancels by default. The red Drop button confirms deletion. Escape and the close button also cancel. The saved message disappears from the chat and the database history used for future requests.</a:t>
            </a:r>
          </a:p>
          <a:p/>
          <a:p>
            <a:r>
              <a:t>The other messages stay. Dropping only a prompt leaves its answer; dropping only an answer leaves its prompt. Remove both cards to remove the exchange. A user prompt also takes its directly following Referenced Rephrase rows, so a reload cannot show those duplicate words.</a:t>
            </a:r>
          </a:p>
          <a:p/>
          <a:p>
            <a:r>
              <a:t>Connected tabs for the same user remove the saved cards after the server confirms. A status, error or retry card without a saved message id only disappears from the current screen. The connection refuses Drop while it is answering, and a disconnected chat asks you to reconnect.</a:t>
            </a:r>
          </a:p>
          <a:p/>
          <a:p>
            <a:r>
              <a:t>Choose: Drop sits beside Copy on both user and assistant message cards.</a:t>
            </a:r>
          </a:p>
          <a:p/>
          <a:p>
            <a:r>
              <a:t>Confirm: Cancel starts focused. Red Drop confirms; Escape and close cancel.</a:t>
            </a:r>
          </a:p>
          <a:p/>
          <a:p>
            <a:r>
              <a:t>Remove: Delete the saved message from chat history. Its paired prompt or answer stays.</a:t>
            </a:r>
          </a:p>
          <a:p/>
          <a:p>
            <a:r>
              <a:t>Continue: The next request reads the updated history without a reconnect.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Deleting a chat card changes future conversation context. Separate saved notes and completed work remain.</a:t>
            </a:r>
          </a:p>
          <a:p/>
          <a:p>
            <a:r>
              <a:t>Each request reloads up to eight newest AgentMessage rows through DBChatHistoryLoader, then filters status and rephrase content. No cached conversation summary or LangGraph checkpoint needs clearing. Removing a row lets the window reach an older row when one exists.</a:t>
            </a:r>
          </a:p>
          <a:p/>
          <a:p>
            <a:r>
              <a:t>An enabled External MCP memory tool stores notes separately from AgentMessage. Drop does not erase that knowledge graph; ask Tlamatini to forget the saved note too. Retained messages may also repeat a fact from a deleted card, so Drop is not a guarantee of complete forgetting.</a:t>
            </a:r>
          </a:p>
          <a:p/>
          <a:p>
            <a:r>
              <a:t>Files created, messages sent, agent runs and Exec Report rows remain real completed work. Dropping their prompt or answer cannot undo those effects. A Create Flow button belongs to its answer card and disappears with it, so download a needed .flw before deleting the card.</a:t>
            </a:r>
          </a:p>
          <a:p/>
          <a:p>
            <a:r>
              <a:t>History: Every request reloads a window of up to eight newest database rows.</a:t>
            </a:r>
          </a:p>
          <a:p/>
          <a:p>
            <a:r>
              <a:t>Saved notes: External MCP memory is separate. Ask her to forget its note too.</a:t>
            </a:r>
          </a:p>
          <a:p/>
          <a:p>
            <a:r>
              <a:t>Other messages: The paired answer or prompt stays and may repeat the same information.</a:t>
            </a:r>
          </a:p>
          <a:p/>
          <a:p>
            <a:r>
              <a:t>Completed work: Files and sent messages remain. Save a needed flow before dropping its card.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microphone captures first; no model tool-selection step stands between the click and recording.</a:t>
            </a:r>
          </a:p>
          <a:p/>
          <a:p>
            <a:r>
              <a:t>Click Mic beside Send, wait for Listening, and speak into the microphone on the Tlamatini host. Real input level, elapsed time and the silence countdown stay in the chat. After the configured silence window (shipped default 3.5 seconds), recognition runs and the text is appended to the existing draft. Config &gt; Mic selects automatic normal-form submission or an editable draft for manual Send.</a:t>
            </a:r>
          </a:p>
          <a:p/>
          <a:p>
            <a:r>
              <a:t>Review mode starts no task until Send. A second click or Escape cancels; empty or failed recognition sends nothing. Current modes and permission behavior remain in force. The avatar acknowledges dispatch through browser speech and respects Silent mode.</a:t>
            </a:r>
          </a:p>
          <a:p/>
          <a:p>
            <a:r>
              <a:t>Click: Direct Whisperer start; the host microphone opens only for a recording.</a:t>
            </a:r>
          </a:p>
          <a:p/>
          <a:p>
            <a:r>
              <a:t>Listen: Live samples drive the in-chat indicator and the configured silence gate.</a:t>
            </a:r>
          </a:p>
          <a:p/>
          <a:p>
            <a:r>
              <a:t>Recognize: Local faster-whisper or the explicitly configured cloud speech engine.</a:t>
            </a:r>
          </a:p>
          <a:p/>
          <a:p>
            <a:r>
              <a:t>Send or review: Submit once with current modes, or review the editable draft and press Send yourself.</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automatic Send or an editable draft, using the same dialog style as the rest of Tlamatini.</a:t>
            </a:r>
          </a:p>
          <a:p/>
          <a:p>
            <a:r>
              <a:t>The button label is Mic. Config &gt; Mic follows Voice and controls what happens after recognition. Send automatically is the default. Keep in the chat input restores editing without launching a task or processing acknowledgment; correct the words, then press Send.</a:t>
            </a:r>
          </a:p>
          <a:p/>
          <a:p>
            <a:r>
              <a:t>Preferences are saved in this browser for the next recording. Each recording owns a snapshot. Unset fields inherit the current Whisperer template; Reset then Save restores that inheritance. Cancel, close and Escape discard unsaved edits; outside clicks leave the dialog open. Config &gt; Voice controls avatar playback; Config &gt; Models &gt; Speech selects the recognizer.</a:t>
            </a:r>
          </a:p>
          <a:p/>
          <a:p>
            <a:r>
              <a:t>Input: Configured/default/listed host device, refresh and software gain from 0 to 300%.</a:t>
            </a:r>
          </a:p>
          <a:p/>
          <a:p>
            <a:r>
              <a:t>Sound gate: Silence 0.3-20 seconds, cap 5-600 seconds, adaptive or manual sensitivity.</a:t>
            </a:r>
          </a:p>
          <a:p/>
          <a:p>
            <a:r>
              <a:t>Recognition: Language, English translation, capture rate/channels, local beam size and VAD.</a:t>
            </a:r>
          </a:p>
          <a:p/>
          <a:p>
            <a:r>
              <a:t>Guardrails: Validate settings before capture; removed or ambiguous saved devices cannot silently change inputs.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visibility requirements do not become additional product windows.</a:t>
            </a:r>
          </a:p>
          <a:p/>
          <a:p>
            <a:r>
              <a:t>The authenticated same-origin /ws/chat-voice/ connection prepares one resident worker per web process. Source/carried Python runs chat_worker.py; the frozen Django process stays free of the speech ML stack. A private token-authenticated loopback socket carries control and result frames. Preparation does not open the microphone.</a:t>
            </a:r>
          </a:p>
          <a:p/>
          <a:p>
            <a:r>
              <a:t>No PowerShell, conhost, focus activation or console-visibility prerequisite is involved. The worker's stdout/stderr flows through agent.chat_voice_runtime into the main console/log. Failed startup and shutdown reap the child. Config reloads per job; compatible models are cached, and late cancelled results cannot submit.</a:t>
            </a:r>
          </a:p>
          <a:p/>
          <a:p>
            <a:r>
              <a:t>UI ownership: The composer displays recording and transcription; no second console.</a:t>
            </a:r>
          </a:p>
          <a:p/>
          <a:p>
            <a:r>
              <a:t>Configuration: Model/template inheritance plus validated, per-recording Mic capture overrides.</a:t>
            </a:r>
          </a:p>
          <a:p/>
          <a:p>
            <a:r>
              <a:t>Boundary: The direct button is input, not a wrapped tool or an Exec Report row.</a:t>
            </a:r>
          </a:p>
          <a:p/>
          <a:p>
            <a:r>
              <a:t>Release: Ship consumer/runtime/settings modules, carried validator and worker, Mic JS/CSS and template.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Dated source checks are evidence, not a claim that an older installer contains the change.</a:t>
            </a:r>
          </a:p>
          <a:p/>
          <a:p>
            <a:r>
              <a:t>On September 27, 2026, 108 voice regressions and 42 existing dialog-theme tests passed. The worker refreshed 16 host inputs and restarted twice without extra windows or focus changes. Earlier real host capture yielded samples in 297 ms after direct start; cancellation and normal worker exit were observed. Two startup/shutdown cycles created no additional visible windows and left foreground focus unchanged.</a:t>
            </a:r>
          </a:p>
          <a:p/>
          <a:p>
            <a:r>
              <a:t>The updated headed-browser suite passed 62 controlled-transport checks, including both modes, settings persistence, shared control styles and narrow layouts. Earlier cached recognition of a 5.768-second synthetic speech file took 0.203 seconds, versus 11.094 seconds on first decode. These are separate observations, not end-to-end latency guarantees. No new live Ollama task or rebuilt installer was certified by those checks.</a:t>
            </a:r>
          </a:p>
          <a:p/>
          <a:p>
            <a:r>
              <a:t>Current source: 108 voice regressions, 42 theme tests and real worker metadata/lifecycle probes.</a:t>
            </a:r>
          </a:p>
          <a:p/>
          <a:p>
            <a:r>
              <a:t>Browser evidence: 62 headed checks with controlled transport; separate from live ASR.</a:t>
            </a:r>
          </a:p>
          <a:p/>
          <a:p>
            <a:r>
              <a:t>Limits: Cold model loading, provider latency and hardware vary; no zero-latency promise.</a:t>
            </a:r>
          </a:p>
          <a:p/>
          <a:p>
            <a:r>
              <a:t>Detailed guide: docs/chat-microphone-design.md records configuration, protocol and evidence.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new Panels menu opens the two canvases, and every configuration dialog lives under Config.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USAGE follows the shared dialog theme and remains available during a long answer.</a:t>
            </a:r>
          </a:p>
          <a:p/>
          <a:p>
            <a:r>
              <a:t>Open About → Usage, then choose Cloud credits, Chat activity or Models. The first tab reads the configured Ollama account; the other views identify measured main-chat activity for the signed-in Tlamatini user. Recording begins with this feature and does not reconstruct earlier history or include child agents and other applications.</a:t>
            </a:r>
          </a:p>
          <a:p/>
          <a:p>
            <a:r>
              <a:t>The desktop dialog is 80vw by 74dvh, capped at 1440 pixels wide: at most 59.2% of the client area. Narrow screens use 94vw by 63dvh. Text follows normal dialog sizing, buttons have clear borders and the body scrolls between fixed controls. Fractional displays have at most two decimal places. Colored bars offer keyboard-focus and pointer tooltips plus exact tables.</a:t>
            </a:r>
          </a:p>
          <a:p/>
          <a:p>
            <a:r>
              <a:t>Cloud credits: Reported balance, monthly usage, allowance and refill weeks/date.</a:t>
            </a:r>
          </a:p>
          <a:p/>
          <a:p>
            <a:r>
              <a:t>Chat activity: Your measured calls, input/output tokens and daily trends.</a:t>
            </a:r>
          </a:p>
          <a:p/>
          <a:p>
            <a:r>
              <a:t>Models: Recorded model activity and peak UTC dates; server inventory alongside it.</a:t>
            </a:r>
          </a:p>
          <a:p/>
          <a:p>
            <a:r>
              <a:t>While busy: Open and refresh without interrupting the model request.</a:t>
            </a:r>
          </a:p>
          <a:p/>
          <a:p>
            <a:r>
              <a:t>Normal size: Under 60% client area; ordinary typography and clear buttons.</a:t>
            </a:r>
          </a:p>
          <a:p/>
          <a:p>
            <a:r>
              <a:t>Accessible: Keyboard tabs, chart tooltips, focus trap and normal Escape/Close behavior.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Monthly credits, rolling cloud usage and recorded local activity answer different questions.</a:t>
            </a:r>
          </a:p>
          <a:p/>
          <a:p>
            <a:r>
              <a:t>The authoritative /api/balance response supplies included allowance and remaining balance, purchased credits and the UTC refill period. Used credits equal allowance minus included balance; total available adds purchased credits only when both values are reported. Plan names never supply an assumed allowance. Refill weeks/date come from the returned period, not an assumed 30-day cycle.</a:t>
            </a:r>
          </a:p>
          <a:p/>
          <a:p>
            <a:r>
              <a:t>Cloud /api/usage supplies rolling 7/30-day history, including today's partial UTC day. That spend is not monthly credits used. Cached input is already part of input. The local ledger's 7/30 calendar dates include today and have a narrower measurement scope.</a:t>
            </a:r>
          </a:p>
          <a:p/>
          <a:p>
            <a:r>
              <a:t>Ollama's documented API does not yet expose the website's full per-model history or individual purchased-credit expiries. The dialog links to Ollama Usage for website-only details. Missing fields are explained, never replaced with invented values. Balances follow the configured server account, which can differ from the user's website login.</a:t>
            </a:r>
          </a:p>
          <a:p/>
          <a:p>
            <a:r>
              <a:t>Monthly balance: Actual included and purchased credits from /api/balance.</a:t>
            </a:r>
          </a:p>
          <a:p/>
          <a:p>
            <a:r>
              <a:t>Rolling history: 7/30-day cloud spend and tokens; separate from the billing period.</a:t>
            </a:r>
          </a:p>
          <a:p/>
          <a:p>
            <a:r>
              <a:t>Local model graphs: Measured Tlamatini main-chat activity, not website-wide history.</a:t>
            </a:r>
          </a:p>
          <a:p/>
          <a:p>
            <a:r>
              <a:t>Refresh: Healthy data is cached 60 s; a brief outage is retried after 15 s.</a:t>
            </a:r>
          </a:p>
          <a:p/>
          <a:p>
            <a:r>
              <a:t>Missing data: Explain unavailable or stale values; no guessed balance or token count.</a:t>
            </a:r>
          </a:p>
          <a:p/>
          <a:p>
            <a:r>
              <a:t>References: docs.ollama.com/api/balance and /api/cloud-usage; docs/usage-dashboard.md.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response shape selects the layout; a plan label is not a credit entitlement.</a:t>
            </a:r>
          </a:p>
          <a:p/>
          <a:p>
            <a:r>
              <a:t>Free, Pro and Max accounts with monthly balance fields use credit cards. Legacy session and weekly responses use reported remaining percentages and reset times; unsupported cost and token fields are omitted. Purchased-only responses display only the supplied balance. A zero monthly allowance does not produce an invented percentage.</a:t>
            </a:r>
          </a:p>
          <a:p/>
          <a:p>
            <a:r>
              <a:t>As checked on October 10, 2026, Ollama lists Free, Pro, Max, Team and Enterprise, with no cloud plan named Unlimited. Unlimited local execution is a different claim. Team balances are shared, while this adapter requests default member usage, not administrator team scope. Commercial terms remain at ollama.com/pricing; they are not hardcoded into the dialog.</a:t>
            </a:r>
          </a:p>
          <a:p/>
          <a:p>
            <a:r>
              <a:t>Monthly: Returned allowance, balance, purchased credits and reset period.</a:t>
            </a:r>
          </a:p>
          <a:p/>
          <a:p>
            <a:r>
              <a:t>Legacy: Remaining session/weekly percentages; no guessed dollar conversion.</a:t>
            </a:r>
          </a:p>
          <a:p/>
          <a:p>
            <a:r>
              <a:t>Purchased only: Only the reported purchased balance; no invented included quota.</a:t>
            </a:r>
          </a:p>
          <a:p/>
          <a:p>
            <a:r>
              <a:t>Free or zero: Report actual data and omit percentages when allowance is zero.</a:t>
            </a:r>
          </a:p>
          <a:p/>
          <a:p>
            <a:r>
              <a:t>Team: Shared credit balance is distinct from member-scoped usage.</a:t>
            </a:r>
          </a:p>
          <a:p/>
          <a:p>
            <a:r>
              <a:t>Unlimited label: Never interpreted as unlimited cloud credits.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any of the 89 agent types onto the canvas, connect output triangles to input triangles, configure each node, validate, and press Start.</a:t>
            </a:r>
          </a:p>
          <a:p/>
          <a:p>
            <a:r>
              <a:t>Agents run as separate, log-emitting processes that talk through their config.yaml files, with a live LED for each. Flows can be paused, resumed and stopped, and saved or loaded as .flw files. FlowCreator can design a flow from a sentence, and FlowHypervisor watches a running flow and raises an alert when something looks wrong.</a:t>
            </a:r>
          </a:p>
          <a:p/>
          <a:p>
            <a:r>
              <a:t>Since v1.70.0 the canvas is a real editor. Duplicate copies agents together with their saved settings and the connections between them; Undo also restores an agent's configuration. Editing locks while a flow runs, so a flow is never changed underneath its own processes.</a:t>
            </a:r>
          </a:p>
          <a:p/>
          <a:p>
            <a:r>
              <a:t>Undo and Redo: Up to 1,024 steps, configuration included.</a:t>
            </a:r>
          </a:p>
          <a:p/>
          <a:p>
            <a:r>
              <a:t>Duplicate: Copies settings and internal connections.</a:t>
            </a:r>
          </a:p>
          <a:p/>
          <a:p>
            <a:r>
              <a:t>Zoom: 25 to 200 percent, and Fit.</a:t>
            </a:r>
          </a:p>
          <a:p/>
          <a:p>
            <a:r>
              <a:t>Agent search: Filters the 89 agent types by name.</a:t>
            </a:r>
          </a:p>
          <a:p/>
          <a:p>
            <a:r>
              <a:t>Starters: Locates each Starter on a large canvas.</a:t>
            </a:r>
          </a:p>
          <a:p/>
          <a:p>
            <a:r>
              <a:t>Help: Explains every gesture; • marks unsaved changes.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Flow Panel turns a chain of prompts into a diagram of seven operations plus static review notes, saved as a portable .fpmt file and played against your configured models.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Validate checks the diagram, Play runs it, and every run keeps its own conversation, embeddings and cancellation identity, so it never disturbs your chat.</a:t>
            </a:r>
          </a:p>
          <a:p/>
          <a:p>
            <a:r>
              <a:t>Write {{last_output}} to pass the previous answer forward. Decisions compare strings — contains, does not contain, equals, empty, with optional case matching — and never evaluate expressions from a file. Cycles are allowed and bounded by a maximum number of executed operations, 500 by default and up to 5,000.</a:t>
            </a:r>
          </a:p>
          <a:p/>
          <a:p>
            <a:r>
              <a:t>The running figure lights up and traversed connections are highlighted. Pause lets the current operation finish and holds the next; Stop drains the running worker before another run may start. Opening a file never runs it, and a User Commentary note never runs at all.</a:t>
            </a:r>
          </a:p>
          <a:p/>
          <a:p>
            <a:r>
              <a:t>Feed embeddings requires a real vector store. A provider error cannot become success through the chat stack's prompt-only fallback, including with tools enabled. The flow reports failure before its next operation and keeps any previously accepted context.</a:t>
            </a:r>
          </a:p>
          <a:p/>
          <a:p>
            <a:r>
              <a:t>Format: JSON tlamatini-prompting-flow, version 2; version 1 files migrate.</a:t>
            </a:r>
          </a:p>
          <a:p/>
          <a:p>
            <a:r>
              <a:t>Limits: 5 MiB, 500 assets, 1,000 connections.</a:t>
            </a:r>
          </a:p>
          <a:p/>
          <a:p>
            <a:r>
              <a:t>Isolation: Empty history and embeddings at every start.</a:t>
            </a:r>
          </a:p>
          <a:p/>
          <a:p>
            <a:r>
              <a:t>Validation: Checked in the browser and again on the server.</a:t>
            </a:r>
          </a:p>
          <a:p/>
          <a:p>
            <a:r>
              <a:t>Not .pmt: Plain-text system prompts keep .pmt and are refused.</a:t>
            </a:r>
          </a:p>
          <a:p/>
          <a:p>
            <a:r>
              <a:t>Drafts: Kept per user in browser storage.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 Commentary is a review note on the canvas. User Input is the operation that pauses playback for a reply, using the notched figure.</a:t>
            </a:r>
          </a:p>
          <a:p/>
          <a:p>
            <a:r>
              <a:t>Double-click a bubble or press Enter to write directly in it. Select words or paragraphs, then use the floating mini toolbar for font, size, text color, bold, italic and underline. For example, one bubble can have a large Verdana heading, an italic Arial sentence and a Georgia paragraph. With only a caret, formatting applies to subsequent typing. Outside editing, it applies to the whole selected note. Bubble color and alignment affect the note.</a:t>
            </a:r>
          </a:p>
          <a:p/>
          <a:p>
            <a:r>
              <a:t>Drag any of the eight borders or corners to resize, even while writing. The handles also accept arrow keys. Fit text removes spare height, and the bubble grows to contain all wrapped text. There are no internal scrollbars, numeric size fields or commentary configuration dialogs.</a:t>
            </a:r>
          </a:p>
          <a:p/>
          <a:p>
            <a:r>
              <a:t>Done or Ctrl+Enter saves the complete edit. Cancel or Escape restores its original text, styles, dimensions and position. Ctrl+Z/Y works inside the editor. Completed edits, moves, resizes and duplicates participate in the diagram's Undo/Redo. Copying between comment editors preserves formatting. External clipboard text stays literal.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2 .fpmt files retain independent notes with their full text, formatting and geometry.</a:t>
            </a:r>
          </a:p>
          <a:p/>
          <a:p>
            <a:r>
              <a:t>Each note stores allowlisted text runs plus matching literal text. Runs carry font, size, text color, bold, italic and underline. Older plain version 2 notes normalize to one run. Version 1 executable commentary migrates to User Input with its identifiers, connections, settings and reply/cancellation behavior intact. Opening a file never starts playback.</a:t>
            </a:r>
          </a:p>
          <a:p/>
          <a:p>
            <a:r>
              <a:t>A note has no connection ports or Start state and never enters model context, conversation history or playback step counts. Tokens such as {{last_output}} and HTML-like text remain literal in a comment. Several independently styled notes can share a diagram.</a:t>
            </a:r>
          </a:p>
          <a:p/>
          <a:p>
            <a:r>
              <a:t>The per-user browser draft keeps the existing .draft.v1 key for compatibility. Portable files retain the .fpmt extension. The similarly named .pmt files belong to system prompts and remain a separate format. Limits are 5 MiB per flow, 500 assets, 1,000 connections, 100,000 characters and 10,000 formatted runs per note.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4 source changes: .flw opens agents; .fpmt opens prompting flows. Opening never runs them.</a:t>
            </a:r>
          </a:p>
          <a:p/>
          <a:p>
            <a:r>
              <a:t>The main chat routes both formats into their own editor tabs and keeps its current document. An external file launch validates a bounded snapshot and reuses a matching running server before any database startup work. A cold launch starts the application on its configured port.</a:t>
            </a:r>
          </a:p>
          <a:p/>
          <a:p>
            <a:r>
              <a:t>Login returns to the requested file. Short-lived, single-use opening links carry a random token rather than a filesystem path; browser uploads are bound to the signed-in user. Invalid formats, unsupported versions and files over 5 MiB are rejected before replacement.</a:t>
            </a:r>
          </a:p>
          <a:p/>
          <a:p>
            <a:r>
              <a:t>Unsaved diagrams and recovered drafts require confirmation. Rich commentary runs retain their fonts, styles and layout through .fpmt save/open. Agent-flow opening now awaits validation and session preparation; failed credential redaction blocks unsafe .flw downloads.</a:t>
            </a:r>
          </a:p>
          <a:p/>
          <a:p>
            <a:r>
              <a:t>From chat: Open either flow in its editor and keep the chat document.</a:t>
            </a:r>
          </a:p>
          <a:p/>
          <a:p>
            <a:r>
              <a:t>From Windows: Start once or reuse the running app; return through login.</a:t>
            </a:r>
          </a:p>
          <a:p/>
          <a:p>
            <a:r>
              <a:t>Preserve work: Validate before replacement; confirm unsaved changes.</a:t>
            </a:r>
          </a:p>
          <a:p/>
          <a:p>
            <a:r>
              <a:t>No automatic run: Opening prepares the diagram. Play remains a user action.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Per-user associations, installation ownership and Windows default-app choices.</a:t>
            </a:r>
          </a:p>
          <a:p/>
          <a:p>
            <a:r>
              <a:t>A shared PowerShell helper registers .flw and .fpmt with separate ProgIDs, friendly names, icons, Open With entries and Default Apps capabilities. Status reports the current registration; DefaultApps opens Windows Settings so the user can choose a default.</a:t>
            </a:r>
          </a:p>
          <a:p/>
          <a:p>
            <a:r>
              <a:t>Installation registers both formats. Update Repair preserves explicit unregistration and never takes another installation's owned entry. Removal deletes only this installation's values, preserving Windows UserChoice and other applications' Open With entries. Historical .flw wrappers cover both formats so existing installer/uninstaller binaries remain compatible.</a:t>
            </a:r>
          </a:p>
          <a:p/>
          <a:p>
            <a:r>
              <a:t>The scripts and opening modules are included in frozen and self-modify packaging. Native registry checks use an isolated test key, and visible Chrome tests exercise real file opening and login. The October 4 release campaign also rebuilt local main and uninstaller executables. The work was committed to main that day and is carried by the v1.76.0 tag; compiled acceptance is recorded separately from source tests. See docs/windows-flow-files.md for commands, contracts and verification.</a:t>
            </a:r>
          </a:p>
          <a:p/>
          <a:p>
            <a:r>
              <a:t>Install: Register both types with names, icons and the correct editor destinations.</a:t>
            </a:r>
          </a:p>
          <a:p/>
          <a:p>
            <a:r>
              <a:t>Administer: Inspect Status, register or remove one type, or open Default Apps.</a:t>
            </a:r>
          </a:p>
          <a:p/>
          <a:p>
            <a:r>
              <a:t>Update: Repair owned entries without undoing the user's opt-out.</a:t>
            </a:r>
          </a:p>
          <a:p/>
          <a:p>
            <a:r>
              <a:t>Uninstall: Remove owned registrations; keep other apps and user documents.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Confirmation, installation ownership, retryable errors and preserved user content.</a:t>
            </a:r>
          </a:p>
          <a:p/>
          <a:p>
            <a:r>
              <a:t>The real installer registration failure came from an omitted InstallDir whose parameter default evaluated before Windows PowerShell populated PSScriptRoot. The wrappers now resolve that default inside the script. Fresh powershell.exe -File tests exercise the same entry point from an unrelated working directory.</a:t>
            </a:r>
          </a:p>
          <a:p/>
          <a:p>
            <a:r>
              <a:t>The uninstaller first requires the main application to close. After confirmation it stops workers belonging to the selected installation and their descendants. Exact path boundaries, creation times and inherited TLAMATINI_AGENTS_ROOT identify agent children even after reparenting; unrelated processes and Explorer remain running.</a:t>
            </a:r>
          </a:p>
          <a:p/>
          <a:p>
            <a:r>
              <a:t>A temporary independent copy allows the installed uninstaller itself to be removed. Helpers and the installation marker remain until file and owned-registry removal succeed, so a partial failure can be retried. Locked files and denied registry deletion report failure. Drive roots, shared folders, source checkouts and redirected targets are rejected.</a:t>
            </a:r>
          </a:p>
          <a:p/>
          <a:p>
            <a:r>
              <a:t>Since v1.76.0, when Windows still holds Uninstaller.exe itself, the file is retried, moved aside and removed by a hidden cleanup after the uninstaller exits, so the uninstall finishes cleanly.</a:t>
            </a:r>
          </a:p>
          <a:p/>
          <a:p>
            <a:r>
              <a:t>Agents and nonempty user-content directories remain under the existing preservation contract. A full directory/registry reset is a separate authorized action. Verification distinguishes real compiled GUI outcomes from backend tests and records any blocked native launch explicitly.</a:t>
            </a:r>
          </a:p>
          <a:p/>
          <a:p>
            <a:r>
              <a:t>Installer entry points: Resolve the installation directory inside PowerShell script bodies.</a:t>
            </a:r>
          </a:p>
          <a:p/>
          <a:p>
            <a:r>
              <a:t>Owned workers: Stop this installation's agents and surviving descendants after confirmation.</a:t>
            </a:r>
          </a:p>
          <a:p/>
          <a:p>
            <a:r>
              <a:t>Honest retry: Retain removal support until success; report locked files and registry errors.</a:t>
            </a:r>
          </a:p>
          <a:p/>
          <a:p>
            <a:r>
              <a:t>Preserve user work: Keep agents and nonempty content; notify the shell without restarting Explorer.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4 repairs, now carried by v1.76.0, have separate source, frozen, package and visual evidence.</a:t>
            </a:r>
          </a:p>
          <a:p/>
          <a:p>
            <a:r>
              <a:t>The visible campaign checks the actual installer, Windows associations, authenticated file opening, administration, main chat and both flow panels. It also compares several rich comments across repeated file writes and reads, executes local agents, and audits owned workers after shutdown. A configuration dialog opening is not proof that a hardware or external-service agent executed successfully.</a:t>
            </a:r>
          </a:p>
          <a:p/>
          <a:p>
            <a:r>
              <a:t>System-Metrics and Files-Search now honor the effective configuration and nondefault ports, including UTF-8 BOM files. The path-security and chat-chain readers accept the same encoding without weakening directory boundaries. Both auxiliary context chains use the same effective paths and endpoints; system sockets close after each request and file RPCs have deadlines. Parametrizer restores connections when a saved file contains mappings without explicit connection lists. Model-free agents avoid unrelated model-setting reads. Numeric messaging identifiers keep the same string/integer contract in public and keyed templates.</a:t>
            </a:r>
          </a:p>
          <a:p/>
          <a:p>
            <a:r>
              <a:t>A rejected embedding request must fail the flow before its next operation. The campaign's provider returned HTTP 401; this is recorded as a blocked capability with a tested failure path. The desktop-control tool also blocked the compiled uninstaller launch. Backend cleanup tests do not certify its unobserved native confirmation and completion screens.</a:t>
            </a:r>
          </a:p>
          <a:p/>
          <a:p>
            <a:r>
              <a:t>Detailed results and retained failed attempts are in docs/changes/2026-10-04-release-validation.md. The review profile requested by Angela lists each changed file and code segment. The work was committed on October 4 and is carried by the v1.76.0 tag.</a:t>
            </a:r>
          </a:p>
          <a:p/>
          <a:p>
            <a:r>
              <a:t>Real user paths: Installer, login, Admin, chat, both panels and Windows file opening.</a:t>
            </a:r>
          </a:p>
          <a:p/>
          <a:p>
            <a:r>
              <a:t>File fidelity: Mixed styles, geometry and rendered text checked across save/open cycles.</a:t>
            </a:r>
          </a:p>
          <a:p/>
          <a:p>
            <a:r>
              <a:t>Runtime boundaries: Configured MCP endpoints, agent defaults, mappings and identifier types.</a:t>
            </a:r>
          </a:p>
          <a:p/>
          <a:p>
            <a:r>
              <a:t>Explicit limits: Provider failure and blocked native launch remain visible in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the horizontal divider above Run output to give it 5% to 95% of the available pane height.</a:t>
            </a:r>
          </a:p>
          <a:p/>
          <a:p>
            <a:r>
              <a:t>The percentage uses the combined canvas and output height, excluding headers, the status strip and the divider. The initial allocation is 20%. The canvas and Run output each keep their own scrollbar. Moving the divider preserves canvas zoom, node dimensions and text size. The Operations bar keeps its separate horizontal sizing control.</a:t>
            </a:r>
          </a:p>
          <a:p/>
          <a:p>
            <a:r>
              <a:t>Tab to the divider and use Up/Down for one percentage point, or Shift+Up/Down for five. Home selects 5% and End selects 95%. Escape ends a drag. Click the Run output heading to collapse it. Reopening restores the chosen height, and resizing the window retains the ratio.</a:t>
            </a:r>
          </a:p>
          <a:p/>
          <a:p>
            <a:r>
              <a:t>The browser remembers the output height per signed-in user. This layout preference does not modify a flow file, mark the diagram as edited or add an Undo step. Resizing the panel also leaves the run and its output unchanged.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of Prompts opens with 16 sections, each beginning with a guided Step-by-Step wizard and growing from simple to advanced.</a:t>
            </a:r>
          </a:p>
          <a:p/>
          <a:p>
            <a:r>
              <a:t>Sections: Voice Commands, Getting Started, Files &amp; Search, Run &amp; Execute, Code &amp; Project Generation, Documents &amp; PDF, Images &amp; Vision, Agents &amp; Flows, ACPX, Skills &amp; MCPs, Desktop Automation, Games &amp; 3D, Firmware &amp; IoT, Security &amp; Recon, Messaging &amp; Contacts, Media &amp; Voice, More. VOICE COMMANDS comes first, because speaking is the shortest way to use her: you talk, Whisperer transcribes, and the transcript becomes the prompt. These catalog workflows use the model-mediated wrapped tool and their card-specific modes; they are distinct from the direct microphone button beside Send.</a:t>
            </a:r>
          </a:p>
          <a:p/>
          <a:p>
            <a:r>
              <a:t>The mode badges on each card are derived from the prompt text itself, and clicking a card sets the toolbar switches to exactly those modes. Every prompt uses one grammar, so it is always clear whose blank is whose.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a PDF beside the chat in a vendored Mozilla PDF.js viewer, then use it as context.</a:t>
            </a:r>
          </a:p>
          <a:p/>
          <a:p>
            <a:r>
              <a:t>Reading uploads nothing and calls no model: the viewer reads byte ranges straight from your disk, so there is no size or page cutoff on Tlamatini's side. Text selection, navigation, zoom, fit, rotation and in-viewer passwords behave as you expect; Copy lifts the text of every page and Save As returns the original bytes.</a:t>
            </a:r>
          </a:p>
          <a:p/>
          <a:p>
            <a:r>
              <a:t>Use as context asks one question first: Process images? It starts unticked every time, and nothing runs until you press Continue. Unticked, she reads the selectable text only. Ticked, she also renders every page and analyzes every embedded image with Image-Interpreter. Progress is honest, Cancel really cancels, and partial image failures are reported, not hidden. A PDF password is used in memory only: never written to disk, to the context text or to the log.</a:t>
            </a:r>
          </a:p>
          <a:p/>
          <a:p>
            <a:r>
              <a:t>A second account signed in from the same browser takes over every open tab, while an open chat keeps its first account, so loading is refused. Since v1.76.0 the message names that cause and the fix, reloading with F5, the header comes back and the progress dialog marks the failed step.</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Models dialog exposes 38 model, engine and voice settings for the core services and 21 model-backed agents, in six searchable categories.</a:t>
            </a:r>
          </a:p>
          <a:p/>
          <a:p>
            <a:r>
              <a:t>Categories: Core 7, Vision 7, Speech 7, Workflows 6, Documents 5, Monitoring &amp; messaging 6. Save submits all values, preserves unrelated configuration and downloads nothing. Reconnect the chat to rebuild its clients; agents pick up a choice at their next configuration load. The model list comes from the configured Ollama servers, asked by the backend with their token, so a remote server's models are offered and accepted. Since v1.76.0 Save also opens the Model Brain's Auto-tuning dialog, which tunes each configured model in front of you and names the source of every value.</a:t>
            </a:r>
          </a:p>
          <a:p/>
          <a:p>
            <a:r>
              <a:t>Agent templates marked "@config" follow the global choice, while a literal value in a workflow remains an explicit override. Wrapped chat launches seed the global choices before any explicit tool argument, and the frozen build proves every model loader runs before it packages.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IV: The Bestiary. 89 agent types in twelve families. Each is a plain-Python program you can read, audit and change.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follows one skeleton: a template directory, a config.yaml, a session-scoped pool copy, PID and log files, and explicit source and target wiring.</a:t>
            </a:r>
          </a:p>
          <a:p/>
          <a:p>
            <a:r>
              <a:t>67 of them also run from the chat as wrapped chat_agent_* tools, each in its own isolated runtime folder. Every wrapped agent appears in the Exec Report automatically, and each ships at least one example prompt in the catalog.</a:t>
            </a:r>
          </a:p>
          <a:p/>
          <a:p>
            <a:r>
              <a:t>Display names keep their exact designed casing — STM32er, PDFer, LaTeXer, ACPXer — while directories, pools and style classes use lowercase forms.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pause, schedule and end a flow.</a:t>
            </a:r>
          </a:p>
          <a:p/>
          <a:p>
            <a:r>
              <a:t>Starter: The entry point of every flow; launches its targets when you press Start.</a:t>
            </a:r>
          </a:p>
          <a:p/>
          <a:p>
            <a:r>
              <a:t>Ender: Ends a flow gracefully: kills its targets, then starts backups and cleaners.</a:t>
            </a:r>
          </a:p>
          <a:p/>
          <a:p>
            <a:r>
              <a:t>Stopper: Watches logs for a pattern and stops exactly those source agents.</a:t>
            </a:r>
          </a:p>
          <a:p/>
          <a:p>
            <a:r>
              <a:t>Cleaner: Post-run janitor that removes the logs and PID files of finished agents.</a:t>
            </a:r>
          </a:p>
          <a:p/>
          <a:p>
            <a:r>
              <a:t>Sleeper: Waits a configured number of milliseconds, then starts its targets.</a:t>
            </a:r>
          </a:p>
          <a:p/>
          <a:p>
            <a:r>
              <a:t>Croner: A daily clock trigger that starts its targets at a configured HH:MM.</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Decide where the flow goes next.</a:t>
            </a:r>
          </a:p>
          <a:p/>
          <a:p>
            <a:r>
              <a:t>Raiser: Fires its targets the moment a pattern appears in a watched log.</a:t>
            </a:r>
          </a:p>
          <a:p/>
          <a:p>
            <a:r>
              <a:t>Forker: Automatic A/B router: whichever of two patterns appears first picks the path.</a:t>
            </a:r>
          </a:p>
          <a:p/>
          <a:p>
            <a:r>
              <a:t>Asker: Asks you in the chat to choose Path A or Path B: a human in the loop.</a:t>
            </a:r>
          </a:p>
          <a:p/>
          <a:p>
            <a:r>
              <a:t>Counter: A persistent tally that routes below, or at and above, a threshold.</a:t>
            </a:r>
          </a:p>
          <a:p/>
          <a:p>
            <a:r>
              <a:t>AND: Two-input gate that fires once both sources have matched.</a:t>
            </a:r>
          </a:p>
          <a:p/>
          <a:p>
            <a:r>
              <a:t>OR: Two-input gate that fires as soon as either source matches.</a:t>
            </a:r>
          </a:p>
          <a:p/>
          <a:p>
            <a:r>
              <a:t>Barrier: N-input fan-in that releases once every configured source has arrived.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connect, supervise and reason.</a:t>
            </a:r>
          </a:p>
          <a:p/>
          <a:p>
            <a:r>
              <a:t>Parametrizer: Maps one agent's structured output into the next agent's configuration.</a:t>
            </a:r>
          </a:p>
          <a:p/>
          <a:p>
            <a:r>
              <a:t>FlowCreator: Designs a complete, validated .flw workflow from a plain objective.</a:t>
            </a:r>
          </a:p>
          <a:p/>
          <a:p>
            <a:r>
              <a:t>FlowHypervisor: A model watchdog that reads a running flow: OK or ATTENTION NEEDED.</a:t>
            </a:r>
          </a:p>
          <a:p/>
          <a:p>
            <a:r>
              <a:t>FlowBacker: Backs up a session's logs and configurations before clean-up.</a:t>
            </a:r>
          </a:p>
          <a:p/>
          <a:p>
            <a:r>
              <a:t>Gatewayer: Webhook and folder-drop ingress that turns outside events into triggers.</a:t>
            </a:r>
          </a:p>
          <a:p/>
          <a:p>
            <a:r>
              <a:t>Gateway Relayer: Relays GitHub and GitLab webhooks into Gatewayer.</a:t>
            </a:r>
          </a:p>
          <a:p/>
          <a:p>
            <a:r>
              <a:t>Node Manager: Infrastructure registry: discovers nodes, probes heartbeats and capabilities.</a:t>
            </a:r>
          </a:p>
          <a:p/>
          <a:p>
            <a:r>
              <a:t>Prompter: Sends one prompt to a model and logs a structured answer.</a:t>
            </a:r>
          </a:p>
          <a:p/>
          <a:p>
            <a:r>
              <a:t>Summarizer: Summarizes text once, or watches logs and fires on a detected event.</a:t>
            </a:r>
          </a:p>
          <a:p/>
          <a:p>
            <a:r>
              <a:t>ACPXer: Runs one external coding-agent CLI turn on the canvas and captures its answer.</a:t>
            </a:r>
          </a:p>
          <a:p/>
          <a:p>
            <a:r>
              <a:t>MCP Doctor: Diagnoses an external MCP server on paper, before any live connection.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Compose, typeset and present.</a:t>
            </a:r>
          </a:p>
          <a:p/>
          <a:p>
            <a:r>
              <a:t>PDFer: Composes PDFs from text, Markdown, HTML and images: 24 styles, 20 themes.</a:t>
            </a:r>
          </a:p>
          <a:p/>
          <a:p>
            <a:r>
              <a:t>PPTXer: Builds editable PowerPoint decks whose text is measured, never truncated.</a:t>
            </a:r>
          </a:p>
          <a:p/>
          <a:p>
            <a:r>
              <a:t>LaTeXer: Typesets LaTeX projects, with a self-healing eight-rung repair ladder.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Search, browse, call and measure.</a:t>
            </a:r>
          </a:p>
          <a:p/>
          <a:p>
            <a:r>
              <a:t>Googler: Resilient two-tier web search with a structured Google-dork builder.</a:t>
            </a:r>
          </a:p>
          <a:p/>
          <a:p>
            <a:r>
              <a:t>Crawler: Fetches a page raw or as text and analyzes it with a model.</a:t>
            </a:r>
          </a:p>
          <a:p/>
          <a:p>
            <a:r>
              <a:t>Playwrighter: Drives a real browser through scripted steps: log in, fill, click, extract.</a:t>
            </a:r>
          </a:p>
          <a:p/>
          <a:p>
            <a:r>
              <a:t>Apirer: Calls REST APIs with any method, headers, body and timeout.</a:t>
            </a:r>
          </a:p>
          <a:p/>
          <a:p>
            <a:r>
              <a:t>SQLer: Runs Python against Microsoft SQL Server with a ready cursor.</a:t>
            </a:r>
          </a:p>
          <a:p/>
          <a:p>
            <a:r>
              <a:t>Mongoxer: Runs Python against MongoDB with a ready database handle.</a:t>
            </a:r>
          </a:p>
          <a:p/>
          <a:p>
            <a:r>
              <a:t>NetSpeed-Calculator: Measures your connection with confidence intervals and bufferbloat.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Containers, clusters, pipelines and hosts.</a:t>
            </a:r>
          </a:p>
          <a:p/>
          <a:p>
            <a:r>
              <a:t>Dockerer: A Docker and docker-compose front-end.</a:t>
            </a:r>
          </a:p>
          <a:p/>
          <a:p>
            <a:r>
              <a:t>Kuberneter: A kubectl front-end with a structured, truthful result.</a:t>
            </a:r>
          </a:p>
          <a:p/>
          <a:p>
            <a:r>
              <a:t>Jenkinser: Triggers Jenkins jobs, handling the CSRF crumb.</a:t>
            </a:r>
          </a:p>
          <a:p/>
          <a:p>
            <a:r>
              <a:t>SSHer: Runs a command on a remote host over SSH.</a:t>
            </a:r>
          </a:p>
          <a:p/>
          <a:p>
            <a:r>
              <a:t>SCPer: Sends or receives files over SCP.</a:t>
            </a:r>
          </a:p>
          <a:p/>
          <a:p>
            <a:r>
              <a:t>PSer: Finds a running process from a fuzzy name with a model's help.</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analyze, assess and protect.</a:t>
            </a:r>
          </a:p>
          <a:p/>
          <a:p>
            <a:r>
              <a:t>Reviewer: Model-driven review of a git diff with an APPROVE or REQUEST_CHANGES verdict.</a:t>
            </a:r>
          </a:p>
          <a:p/>
          <a:p>
            <a:r>
              <a:t>Analyzer: Deterministic static analysis: bandit, semgrep, ruff, eslint, gitleaks, pip-audit.</a:t>
            </a:r>
          </a:p>
          <a:p/>
          <a:p>
            <a:r>
              <a:t>Kalier: Authorized Kali Linux tooling through MCP-Kali-Server.</a:t>
            </a:r>
          </a:p>
          <a:p/>
          <a:p>
            <a:r>
              <a:t>Discoverer: The ProjectDiscovery recon suite on a private, self-installing Go toolchain.</a:t>
            </a:r>
          </a:p>
          <a:p/>
          <a:p>
            <a:r>
              <a:t>Nmapper: A local, use-only nmap bridge; unprivileged connect scan by default.</a:t>
            </a:r>
          </a:p>
          <a:p/>
          <a:p>
            <a:r>
              <a:t>Kyber-KeyGen: Generates CRYSTALS-Kyber post-quantum key pairs.</a:t>
            </a:r>
          </a:p>
          <a:p/>
          <a:p>
            <a:r>
              <a:t>Kyber-Cipher: Encrypts with Kyber post-quantum cryptography.</a:t>
            </a:r>
          </a:p>
          <a:p/>
          <a:p>
            <a:r>
              <a:t>Kyber-DeCipher: Decrypts Kyber-protected data.</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boards and live editors.</a:t>
            </a:r>
          </a:p>
          <a:p/>
          <a:p>
            <a:r>
              <a:t>STM32er: STM32 firmware from Blue Pill to H7: build, flash, observe, fail-safe.</a:t>
            </a:r>
          </a:p>
          <a:p/>
          <a:p>
            <a:r>
              <a:t>ESP32er: ESP32 firmware through PlatformIO, from a template that compiles at once.</a:t>
            </a:r>
          </a:p>
          <a:p/>
          <a:p>
            <a:r>
              <a:t>Arduiner: Arduino firmware through arduino-cli, with cores installed automatically.</a:t>
            </a:r>
          </a:p>
          <a:p/>
          <a:p>
            <a:r>
              <a:t>ESPHomer: ESPHome smart-home devices from YAML, no C++ required.</a:t>
            </a:r>
          </a:p>
          <a:p/>
          <a:p>
            <a:r>
              <a:t>Unrealer: Drives a live Unreal Engine 5 editor: 53 commands in nine categories.</a:t>
            </a:r>
          </a:p>
          <a:p/>
          <a:p>
            <a:r>
              <a:t>Blenderer: Drives Blender over the official Blender MCP add-on socket.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 the screen, move the pointer, type.</a:t>
            </a:r>
          </a:p>
          <a:p/>
          <a:p>
            <a:r>
              <a:t>Mouser: Moves and clicks in explicitly declared coordinate spaces.</a:t>
            </a:r>
          </a:p>
          <a:p/>
          <a:p>
            <a:r>
              <a:t>Keyboarder: Types Unicode into a verified foreground window.</a:t>
            </a:r>
          </a:p>
          <a:p/>
          <a:p>
            <a:r>
              <a:t>Windower: Focuses, tiles, resizes, lists and closes windows by title.</a:t>
            </a:r>
          </a:p>
          <a:p/>
          <a:p>
            <a:r>
              <a:t>Shoter: Whole-desktop screenshots with published capture geometry.</a:t>
            </a:r>
          </a:p>
          <a:p/>
          <a:p>
            <a:r>
              <a:t>Camcorder: Webcam photo or video at the camera's native resolution.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speak, play and look.</a:t>
            </a:r>
          </a:p>
          <a:p/>
          <a:p>
            <a:r>
              <a:t>Recorder: Microphone capture to WAV at the device's native sample rate.</a:t>
            </a:r>
          </a:p>
          <a:p/>
          <a:p>
            <a:r>
              <a:t>Whisperer: Speech to text that keeps listening until you stop talking.</a:t>
            </a:r>
          </a:p>
          <a:p/>
          <a:p>
            <a:r>
              <a:t>Talker: Text to speech, always in Tlamatini's female voice.</a:t>
            </a:r>
          </a:p>
          <a:p/>
          <a:p>
            <a:r>
              <a:t>AudioPlayer: Plays audio files with volume, truncate and loop control.</a:t>
            </a:r>
          </a:p>
          <a:p/>
          <a:p>
            <a:r>
              <a:t>VideoPlayer: Plays video with its audio on a chosen display.</a:t>
            </a:r>
          </a:p>
          <a:p/>
          <a:p>
            <a:r>
              <a:t>Image-Interpreter: Two vision models in parallel, merged by a third into one report.</a:t>
            </a:r>
          </a:p>
          <a:p/>
          <a:p>
            <a:r>
              <a:t>Video-Analyzer: Rules on robot motion, transcribes audio tracks, or summarizes a video.</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Reach people and watch systems.</a:t>
            </a:r>
          </a:p>
          <a:p/>
          <a:p>
            <a:r>
              <a:t>Notifier: Shows an in-browser notification, optionally with a sound.</a:t>
            </a:r>
          </a:p>
          <a:p/>
          <a:p>
            <a:r>
              <a:t>Emailer: Sends email over SMTP.</a:t>
            </a:r>
          </a:p>
          <a:p/>
          <a:p>
            <a:r>
              <a:t>RecMailer: Watches an IMAP mailbox for new messages.</a:t>
            </a:r>
          </a:p>
          <a:p/>
          <a:p>
            <a:r>
              <a:t>Telegrammer: Telegram as the bot or as your own account.</a:t>
            </a:r>
          </a:p>
          <a:p/>
          <a:p>
            <a:r>
              <a:t>Whatsapper: WhatsApp through Meta's Cloud API, or explicitly from your own number.</a:t>
            </a:r>
          </a:p>
          <a:p/>
          <a:p>
            <a:r>
              <a:t>Zavuerer: SMS, WhatsApp, Telegram, email and voice through one Zavu key.</a:t>
            </a:r>
          </a:p>
          <a:p/>
          <a:p>
            <a:r>
              <a:t>TeleTlamatini: Brings the full Tlamatini chat, Multi-Turn included, into Telegram.</a:t>
            </a:r>
          </a:p>
          <a:p/>
          <a:p>
            <a:r>
              <a:t>Instant Messaging Doctor: Diagnoses and safely repairs Telegram and WhatsApp readiness.</a:t>
            </a:r>
          </a:p>
          <a:p/>
          <a:p>
            <a:r>
              <a:t>Monitor-Log: Model-powered log monitor.</a:t>
            </a:r>
          </a:p>
          <a:p/>
          <a:p>
            <a:r>
              <a:t>Monitor Netstat: Model-powered network-port monitor.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 Deep Capabilities. The subsystems that give her reach: other agents, other servers, documents, boards, engines and senses.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ACPX spawns external coding-agent CLIs as out-of-process children, talks to them over stdin and stdout, keeps an NDJSON transcript of every turn, and brokers it all to the model as twelve tools.</a:t>
            </a:r>
          </a:p>
          <a:p/>
          <a:p>
            <a:r>
              <a:t>14 peers are registered: claude, codex, cursor, gemini, qwen, copilot, pi, droid, iflow, kilocode, kimi, kiro, opencode, tlamatini. One-shot peers receive the prompt as a command-line argument and are read to completion; the Tlamatini self-host speaks strict JSON; interactive peers are drained by a transport-aware idle rule. ACPX is a Python port of OpenClaw's ACPX plugin, so its agent identifiers and skill contract are compatible.</a:t>
            </a:r>
          </a:p>
          <a:p/>
          <a:p>
            <a:r>
              <a:t>ACPX tells the truth about its peers. A version check is not health and exit code 0 is not success: a stdlib-only classifier decides whether a child actually delivered, and a refusal is returned as ok: false with a named code instead of a green row. acp_doctor(deep=True) sends a real one-line prompt to each peer and names what is broken.</a:t>
            </a:r>
          </a:p>
          <a:p/>
          <a:p>
            <a:r>
              <a:t>Children are never spawned through the shell, because cmd.exe silently cuts a command line at its first newline. npm and pnpm shims are rewritten to node.exe with the script path.</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Tlamatini to any MCP server declared in a JSON catalog and use its tools at once, with no code written for the server.</a:t>
            </a:r>
          </a:p>
          <a:p/>
          <a:p>
            <a:r>
              <a:t>The catalog uses the standard mcpServers shape and lives beside config.json, preserved across updates. Four transports connect — stdio, streamable HTTP, SSE and WebSocket — lazily on a background thread, so a slow server can never delay an answer. Up to five servers are active at once, and each remote tool appears as ext__&lt;server&gt;__&lt;tool&gt;.</a:t>
            </a:r>
          </a:p>
          <a:p/>
          <a:p>
            <a:r>
              <a:t>Most servers start with npx or uvx, which a fresh machine lacks. A private runtime provisioner downloads Node and uv once from their official sources into the user's profile, verifies checksums, installs atomically, needs no administrator rights and never changes the system PATH.</a:t>
            </a:r>
          </a:p>
          <a:p/>
          <a:p>
            <a:r>
              <a:t>Memory and Sequential Thinking ship in every installation, inactive. A default you delete is remembered and never resurrected; one you edit is never overwritten.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build fails, LaTeXer climbs eight rungs in a fixed order, each tried only if the one before produced no PDF.</a:t>
            </a:r>
          </a:p>
          <a:p/>
          <a:p>
            <a:r>
              <a:t>Every repair is applied to a copy and re-linted; a repair that makes the lint worse is reverted. The author's file is never overwritten unless repair_write_back is set, every rung is recorded in an audit trace, and any block set aside is named with its line number.</a:t>
            </a:r>
          </a:p>
          <a:p/>
          <a:p>
            <a:r>
              <a:t>Bisect is strictly last because it is the only rung that removes content, and it is skipped when the model rung merely could not be reached. A clean build tells the model plainly that the document is finished, so a good PDF is never “improved” into a broken one.</a:t>
            </a:r>
          </a:p>
          <a:p/>
          <a:p>
            <a:r>
              <a:t>Since v1.76.0 a PDF is reported only when the delivered file really exists. A build that had to cut a quarter or more of its body is delivered as &lt;name&gt;.DEGRADED.pdf, never under the name you asked for, and in a document over 8,000 characters the model rung first repairs only the lines around the compiler's error with a capped request; a reply that never came forbids bisect.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agents drive running editors over their own sockets, from chat or from the canvas.</a:t>
            </a:r>
          </a:p>
          <a:p/>
          <a:p>
            <a:r>
              <a:t>Unrealer: Talks to the Unreal MCP plugin over TCP: 53 commands in nine categories — editor, Blueprint, nodes, project, UMG, system, level, asset and material.</a:t>
            </a:r>
          </a:p>
          <a:p/>
          <a:p>
            <a:r>
              <a:t>Tlamatini's Unreal fork: XaihtUnrealEngineMCP ships the full surface plus a scaffolder for a ready-to-build UE 5.8 C++ project with a Visual Studio 2026 solution.</a:t>
            </a:r>
          </a:p>
          <a:p/>
          <a:p>
            <a:r>
              <a:t>Blenderer: Speaks the official Blender MCP add-on's code-execution protocol on its local socket, with a rich action catalog so most tasks need no hand-written Python.</a:t>
            </a:r>
          </a:p>
          <a:p/>
          <a:p>
            <a:r>
              <a:t>Chainable: Both return structured blocks, so Parametrizer can carry a result into the next step and a Forker can branch on it.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Offensive and defensive tooling is part of the catalog, always limited to systems you own or are explicitly authorized to test.</a:t>
            </a:r>
          </a:p>
          <a:p/>
          <a:p>
            <a:r>
              <a:t>Kalier: Kali Linux tools through MCP-Kali-Server: nmap, gobuster, nikto, sqlmap and more.</a:t>
            </a:r>
          </a:p>
          <a:p/>
          <a:p>
            <a:r>
              <a:t>Discoverer: subfinder, httpx, naabu, katana, nuclei and vulnx on a private Go toolchain.</a:t>
            </a:r>
          </a:p>
          <a:p/>
          <a:p>
            <a:r>
              <a:t>Nmapper: Uses the nmap you installed; never bundles it; connect scan needs no admin.</a:t>
            </a:r>
          </a:p>
          <a:p/>
          <a:p>
            <a:r>
              <a:t>Analyzer: bandit, semgrep, ruff, eslint, gitleaks and pip-audit, deterministically.</a:t>
            </a:r>
          </a:p>
          <a:p/>
          <a:p>
            <a:r>
              <a:t>Reviewer: A senior-engineer review of a diff, with a verdict a flow can branch on.</a:t>
            </a:r>
          </a:p>
          <a:p/>
          <a:p>
            <a:r>
              <a:t>Kyber: Post-quantum key generation, encryption and decryption.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toolkit is an administrator-run monitoring and response kit, not a chat tool: a person launches it, reads its evidence and decides.</a:t>
            </a:r>
          </a:p>
          <a:p/>
          <a:p>
            <a:r>
              <a:t>Enablement makes persistent changes. Defender and the firewall keep running, but the installation is excluded from scans, allowed through Controlled Folder Access, and six attack surface reduction rules move to Audit. Those exceptions are real trade-offs, so record a baseline before elevation; there is no automatic rollback.</a:t>
            </a:r>
          </a:p>
          <a:p/>
          <a:p>
            <a:r>
              <a:t>The monitor watches ten signal families, from Defender health and logons to persistence, ransomware indicators and administrator-group changes. Start with a detect-only baseline, investigate, and arm only when justified. A non-destructive visible harness validates the assets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chat dictation, workflow Whisperer, Talker and catalog commands have distinct voice contracts.</a:t>
            </a:r>
          </a:p>
          <a:p/>
          <a:p>
            <a:r>
              <a:t>In standalone/workflow Whisperer, no duration means the gate records while you talk and stops after 3.5 seconds of silence, with a 300-second ceiling. record_seconds: 0 is the switch; name a duration and it is honoured exactly. The gate starts at a sensitive floor so a speaker who begins at once is heard, and if a sound driver refuses the live stream she records a fixed length and says so. Direct chat dictation instead requires the gate and refuses that fallback.</a:t>
            </a:r>
          </a:p>
          <a:p/>
          <a:p>
            <a:r>
              <a:t>Transcription runs locally with faster-whisper, on a GPU when present and on the CPU otherwise, or through a cloud Whisper provider. Talker speaks through an Orpheus-compatible model in a female voice — tara, leah, jess, mia or zoe. A male voice is refused by design.</a:t>
            </a:r>
          </a:p>
          <a:p/>
          <a:p>
            <a:r>
              <a:t>The catalog's first section, VOICE COMMANDS, makes the microphone the keyboard: she transcribes your instruction, reads it back, and only then acts. Anything irreversible still needs your written confirmation under those catalog instructions. Config &gt; Mic selects automatic submission or an editable draft. Actual dispatch uses browser speech for acknowledgment, respecting Silent mode.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and video analysis combine independent observers, so one model's guess is never presented as fact.</a:t>
            </a:r>
          </a:p>
          <a:p/>
          <a:p>
            <a:r>
              <a:t>Image-Interpreter: Two vision models read each image in parallel on their own connections; a third merges both. A comma-separated list reads several images.</a:t>
            </a:r>
          </a:p>
          <a:p/>
          <a:p>
            <a:r>
              <a:t>Video-Analyzer · robotics: A deterministic motion gate plus two vision models; PASS only when both agree.</a:t>
            </a:r>
          </a:p>
          <a:p/>
          <a:p>
            <a:r>
              <a:t>Video-Analyzer · transcription: Timestamped speech from chosen audio tracks, locally.</a:t>
            </a:r>
          </a:p>
          <a:p/>
          <a:p>
            <a:r>
              <a:t>Video-Analyzer · summary: Speech plus sampled visual evidence: scenes, text, facts, decisions and limits.</a:t>
            </a:r>
          </a:p>
          <a:p/>
          <a:p>
            <a:r>
              <a:t>Capture: Shoter, Camcorder and Recorder save to your known folders with exact names.</a:t>
            </a:r>
          </a:p>
          <a:p/>
          <a:p>
            <a:r>
              <a:t>Paste to chat: A screenshot pasted into the chat becomes a path she can analyze.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Desktop agents state their coordinate spaces and their evidence, because a click that lands in the wrong place is worse than no click.</a:t>
            </a:r>
          </a:p>
          <a:p/>
          <a:p>
            <a:r>
              <a:t>Mouser: Coordinates are declared: physical screen, desktop, normalized, window or screenshot.</a:t>
            </a:r>
          </a:p>
          <a:p/>
          <a:p>
            <a:r>
              <a:t>Shoter: Publishes the exact captured rectangle, image size and monitor geometry.</a:t>
            </a:r>
          </a:p>
          <a:p/>
          <a:p>
            <a:r>
              <a:t>Keyboarder: Binds each keystroke to a verified window and stops on focus loss.</a:t>
            </a:r>
          </a:p>
          <a:p/>
          <a:p>
            <a:r>
              <a:t>Delivery is not acceptance: input_sent proves delivery only; interrupted input is inspected before any replay.</a:t>
            </a:r>
          </a:p>
          <a:p/>
          <a:p>
            <a:r>
              <a:t>Playwrighter: A real browser through declared steps, with a hold-open knob to watch.</a:t>
            </a:r>
          </a:p>
          <a:p/>
          <a:p>
            <a:r>
              <a:t>Windower: Focus, move, resize, tile, pin and close windows by title.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search tool and pool agent use the same Googler implementation, with a default 120-second budget and explicit outcomes.</a:t>
            </a:r>
          </a:p>
          <a:p/>
          <a:p>
            <a:r>
              <a:t>With no engine pinned, six plain-HTTP routes race for relevant results. If none answers, real installed Chrome uses a persistent profile across eight browser routes. Open knowledge sources form the final tier: Wikipedia, arXiv, OpenAlex, Hacker News, GitHub, Internet Archive and Project Gutenberg. The log names the answering engine and tier.</a:t>
            </a:r>
          </a:p>
          <a:p/>
          <a:p>
            <a:r>
              <a:t>A shared health ledger rests refusing engines for 3, 10 or 30 minutes; an off-topic result is rejected, and a refusing route is not asked again in the same run. Blocked, timed out, unreachable and no matches are separate outcomes. The chat wrapper supports Cancel and enforces a process deadline with a cleanup allowance.</a:t>
            </a:r>
          </a:p>
          <a:p/>
          <a:p>
            <a:r>
              <a:t>Structured dorks retain presets, grouped filters and links_only URL delivery. An explicit engines list skips the HTTP and open-source tiers. Pin Google when Google-only operators matter; fallback engines may broaden their meaning. Licensing and authorization remain yours.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Crawler starts with the supplied page, bounds its work and keeps refusal pages away from the model.</a:t>
            </a:r>
          </a:p>
          <a:p/>
          <a:p>
            <a:r>
              <a:t>The default crawl_type is page, with include_seed enabled. A range crawl defaults to 25 pages and a 900-second whole-run budget. Each download has a 45-second default wall-clock limit and an 8,000,000-byte cap. These are configurable defaults; zero disables the page count or whole-crawl limit, so unlimited operation must be a deliberate choice.</a:t>
            </a:r>
          </a:p>
          <a:p/>
          <a:p>
            <a:r>
              <a:t>Headers are read case-insensitively. Bot walls, CAPTCHA pages and access refusals are reported before analysis; timeouts and unreachable pages remain named outcomes. If nothing was analyzed, the final report says so. Crawler reads fetched HTML; it does not execute JavaScript.</a:t>
            </a:r>
          </a:p>
          <a:p/>
          <a:p>
            <a:r>
              <a:t>Since v1.72.4, both Crawler and Googler use a stack of skipped HTML regions, handle omitted head endings and self-closing tags, and compare the extraction with a plain-text fallback. When that fallback has at least 200 characters and the parser kept less than 25 percent, the fallback takes over. Crawler warns in its log; Googler returns an extraction_note. Parser exceptions also use the fallback; healthy extractions stay unchanged.</a:t>
            </a:r>
          </a:p>
          <a:p/>
          <a:p>
            <a:r>
              <a:t>Page first: Read the seed URL by default; range crawling is explicit.</a:t>
            </a:r>
          </a:p>
          <a:p/>
          <a:p>
            <a:r>
              <a:t>Budgets: Defaults: 25 pages, 900 seconds overall, 45 seconds per download.</a:t>
            </a:r>
          </a:p>
          <a:p/>
          <a:p>
            <a:r>
              <a:t>Truthful outcome: Refusals never become source content; no analysis is reported plainly.</a:t>
            </a:r>
          </a:p>
          <a:p/>
          <a:p>
            <a:r>
              <a:t>Text safety net: Below 25% of a 200+ character fallback: recover and disclose.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NetSpeed-Calculator publishes a speed with a confidence interval and measures latency under load.</a:t>
            </a:r>
          </a:p>
          <a:p/>
          <a:p>
            <a:r>
              <a:t>Several keyless providers run in parallel. The measurement discards the TCP slow-start ramp, samples throughput as a derivative, rejects outliers and fuses providers with a random-effects meta-analysis. It grades bufferbloat from A+ to F. A full run transfers about 100 to 200 MB, so it asks before running.</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Messaging agents use official surfaces by default and make every unofficial route an explicit choice.</a:t>
            </a:r>
          </a:p>
          <a:p/>
          <a:p>
            <a:r>
              <a:t>Telegrammer: Sends as the bot or as your own account; “send it as me” picks yours.</a:t>
            </a:r>
          </a:p>
          <a:p/>
          <a:p>
            <a:r>
              <a:t>Whatsapper: Meta's official Cloud API by default; your own number only when you say so.</a:t>
            </a:r>
          </a:p>
          <a:p/>
          <a:p>
            <a:r>
              <a:t>Zavuerer: One Zavu key for SMS, WhatsApp, Telegram, email and voice, with smart routing.</a:t>
            </a:r>
          </a:p>
          <a:p/>
          <a:p>
            <a:r>
              <a:t>TeleTlamatini: The full chat in Telegram, on a dedicated account.</a:t>
            </a:r>
          </a:p>
          <a:p/>
          <a:p>
            <a:r>
              <a:t>Instant Messaging Doctor: Checks tokens, contacts, templates and policy windows.</a:t>
            </a:r>
          </a:p>
          <a:p/>
          <a:p>
            <a:r>
              <a:t>Contacts: A contact name resolves to the real address when a message is sent.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 Promises She Keeps. Honesty, consent, safety and control, written into the code rather than into a brochure.</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 system can be confidently wrong, Tlamatini is built to say what she knows and what she does not.</a:t>
            </a:r>
          </a:p>
          <a:p/>
          <a:p>
            <a:r>
              <a:t>Self-report first: An agent's typed result outranks a one-bit exit code.</a:t>
            </a:r>
          </a:p>
          <a:p/>
          <a:p>
            <a:r>
              <a:t>Degraded is red: A compromised deliverable is never painted green.</a:t>
            </a:r>
          </a:p>
          <a:p/>
          <a:p>
            <a:r>
              <a:t>Silence is named: Skipped files, dead transfers and refusals carry a reason.</a:t>
            </a:r>
          </a:p>
          <a:p/>
          <a:p>
            <a:r>
              <a:t>Recovery is narrated: Retries are shown live and summarized in the answer.</a:t>
            </a:r>
          </a:p>
          <a:p/>
          <a:p>
            <a:r>
              <a:t>Created is not clean: Documents report their audits before being called finished.</a:t>
            </a:r>
          </a:p>
          <a:p/>
          <a:p>
            <a:r>
              <a:t>Delivered is not accepted: Desktop input evidence is kept distinct from success.</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guard chooses its failure direction deliberately, by asking which mistake would hurt you more.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is a plain-Python program so you can read, audit, edit, restrict or disable it. That transparency is a means of control, not a warranty of safety.</a:t>
            </a:r>
          </a:p>
          <a:p/>
          <a:p>
            <a:r>
              <a:t>Agents have no independent authority. You decide whether, where, how and with which permissions they run. When you enable, configure, modify, chain or execute an agent, that execution is under your control and your jurisdiction.</a:t>
            </a:r>
          </a:p>
          <a:p/>
          <a:p>
            <a:r>
              <a:t>You are responsible for reviewing code and configuration, limiting secrets and permissions, authorizing every file, target, browser, shell, API, MCP server, machine and device an agent can reach, supervising its output and complying with the law, policies, licenses and agreements that apply.</a:t>
            </a:r>
          </a:p>
          <a:p/>
          <a:p>
            <a:r>
              <a:t>By running an agent you accept responsibility for its actions and consequences. Tlamatini's orchestration, documentation and guardrails do not authorize access to third-party systems and cannot replace your own security review, permission controls, monitoring or legal compliance.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Databases, secrets and scratch files each have one well-defined path.</a:t>
            </a:r>
          </a:p>
          <a:p/>
          <a:p>
            <a:r>
              <a:t>WAL-safe database: Backups read through the write-ahead log with SQLite's online backup API and are verified with quick_check.</a:t>
            </a:r>
          </a:p>
          <a:p/>
          <a:p>
            <a:r>
              <a:t>Staged replacement: A new database waits in DB/ToLoad; the old one is archived with its sidecars before Django starts.</a:t>
            </a:r>
          </a:p>
          <a:p/>
          <a:p>
            <a:r>
              <a:t>Secrets: Known secret fields are redacted from exported .flw files and public builds.</a:t>
            </a:r>
          </a:p>
          <a:p/>
          <a:p>
            <a:r>
              <a:t>Private contacts: Public builds and source snapshots carry no contact data.</a:t>
            </a:r>
          </a:p>
          <a:p/>
          <a:p>
            <a:r>
              <a:t>Scratch files: Temporary files stay inside the application's own Temp folder.</a:t>
            </a:r>
          </a:p>
          <a:p/>
          <a:p>
            <a:r>
              <a:t>Passwords: PDF passwords live in memory only.</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Tlamatini's development rule is that every test, build and diagnostic runs visibly, on a real desktop, where its creator can watch each step.</a:t>
            </a:r>
          </a:p>
          <a:p/>
          <a:p>
            <a:r>
              <a:t>Browser tests run headed in real Chrome, consoles open in the foreground, and whole-desktop photographs are taken by Tlamatini's own Shoter agent — because using the agent is the test of the agent. A stale, transient or timed-out answer is never recorded as a pass.</a:t>
            </a:r>
          </a:p>
          <a:p/>
          <a:p>
            <a:r>
              <a:t>Source-derived guards stop drift before it ships: the status vocabulary, display names, dialog dismissal, catalog ordering, the Ask Execs allowlist, the self-modify gate and the frozen-bundle module proof are all checked by tests that read the real source.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 Install, Configure, Run. From a fresh Windows machine to a working assistant, and from source to a signed-off release.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itself is free. The only purchase is an Ollama plan, bought directly from Ollama.</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1 static coverage check includes all 89 agents, build helpers, optional imports and tests.</a:t>
            </a:r>
          </a:p>
          <a:p/>
          <a:p>
            <a:r>
              <a:t>The refreshed static guard scanned 762 Python files and 69 directly referenced distributions. The main requirements file contains 87 declarations; missing Autobahn, lxml, six, pip and PlatformIO declarations were added. Existing framework and compatibility pins remain.</a:t>
            </a:r>
          </a:p>
          <a:p/>
          <a:p>
            <a:r>
              <a:t>ESPHome has a separate requirements-esphome.txt manifest because its py7zr and PlatformIO pins conflict with the main environment. Keep it in its private runtime. Blender bpy, Unreal unreal, device toolchains, npm packages and model weights follow their own runtime contracts; they are not missing pip packages.</a:t>
            </a:r>
          </a:p>
          <a:p/>
          <a:p>
            <a:r>
              <a:t>Coverage guard: scripts/check_requirements_coverage.py checks source and build inventories.</a:t>
            </a:r>
          </a:p>
          <a:p/>
          <a:p>
            <a:r>
              <a:t>Verification: October 1: no missing declarations, syntax errors or unreviewed dynamic imports.</a:t>
            </a:r>
          </a:p>
          <a:p/>
          <a:p>
            <a:r>
              <a:t>Earlier evidence: September 27: main/ESPHome dry runs and temporary-environment dependency smoke checks passed.</a:t>
            </a:r>
          </a:p>
          <a:p/>
          <a:p>
            <a:r>
              <a:t>Limits: Static coverage and selective smoke tests do not certify a clean installation or frozen build.</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runs either from source or as a frozen executable built by PyInstaller. Only path resolution differs, and CONFIG_PATH overrides the configuration location in both.</a:t>
            </a:r>
          </a:p>
          <a:p/>
          <a:p>
            <a:r>
              <a:t>An installed build resolves config.json beside Tlamatini.exe; a source run uses Tlamatini/agent/config.json. A second, independent axis is self-modification: a build made with --self-modify carries her complete, rebuildable source beside the executable, and her self-knowledge travels with it. Without the flag, neither ships. A source run is always self-able, and a toolbar Self-modify switch decides per request whether her self-knowledge is sent; it locks off when the model cannot hold it.</a:t>
            </a:r>
          </a:p>
          <a:p/>
          <a:p>
            <a:r>
              <a:t>Direct dictation additionally uses a private ephemeral loopback listener for its worker handshake. It closes after authentication; it is not a fourth public service or fixed port.</a:t>
            </a:r>
          </a:p>
          <a:p/>
          <a:p>
            <a:r>
              <a:t>Both MCP services honor their configured hosts and ports in source and frozen mode; their client URIs must match. Files-Search also honors its worker count and bounds RPC waits. UTF-8 BOM configuration files and CONFIG_PATH overrides are supported by both clients.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build scripts produce a standalone Windows release, and the build proves what it ships before it packages anything.</a:t>
            </a:r>
          </a:p>
          <a:p/>
          <a:p>
            <a:r>
              <a:t>PyInstaller bundle: Collected static files, templates, agents, skills and helpers, with numpy and OpenCV embedded in both shipped Pythons.</a:t>
            </a:r>
          </a:p>
          <a:p/>
          <a:p>
            <a:r>
              <a:t>Carriage proof: The build opens the archive it produced and aborts if a required fail-open module is missing.</a:t>
            </a:r>
          </a:p>
          <a:p/>
          <a:p>
            <a:r>
              <a:t>Runtime gates: Every agent runtime and every model loader is executed inside the new frozen executable, and the Prompt Flow Panel check runs there too.</a:t>
            </a:r>
          </a:p>
          <a:p/>
          <a:p>
            <a:r>
              <a:t>Integrity receipt: A SHA-256 receipt covers every payload file and is checked again when the installer is assembled.</a:t>
            </a:r>
          </a:p>
          <a:p/>
          <a:p>
            <a:r>
              <a:t>Size ceiling: The final release ZIP stays under 1,990,000,000 bytes; required files are never dropped to fit.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September 27 repair, carried since v1.72.1, ships the Whisperer settings helper without weakening package verification.</a:t>
            </a:r>
          </a:p>
          <a:p/>
          <a:p>
            <a:r>
              <a:t>A build correctly refused a runtime receipt because chat_voice_settings.py was missing. The verifier required the loose helper, but build.py used a separate copy dictionary that omitted it. Compiling agent.chat_voice_settings does not satisfy the standalone Whisperer worker running under the carried Python.</a:t>
            </a:r>
          </a:p>
          <a:p/>
          <a:p>
            <a:r>
              <a:t>build.py now calls copy_root_sources using the verifier's ROOT_SOURCES inventory. All inputs are checked before copying. Every mapped destination is mandatory in both ZIP and extracted-stage receipts, so removing a required file and its receipt entry still fails. The pre-freeze hash baseline continues to reject source changes during a build.</a:t>
            </a:r>
          </a:p>
          <a:p/>
          <a:p>
            <a:r>
              <a:t>One carrier: Copy and verification share ROOT_SOURCES; a new required helper needs no second list.</a:t>
            </a:r>
          </a:p>
          <a:p/>
          <a:p>
            <a:r>
              <a:t>Worker import: Carry chat_voice_settings.py at the installation root as well as compiling the Django module.</a:t>
            </a:r>
          </a:p>
          <a:p/>
          <a:p>
            <a:r>
              <a:t>Integrity: Reject missing, edited or unmanifested files, including otherwise consistent incomplete receipts.</a:t>
            </a:r>
          </a:p>
          <a:p/>
          <a:p>
            <a:r>
              <a:t>Rebuild inputs: Mirrored self-update/self-modify sweeps include the shared inventory and report omitted Git checks.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27 file-level checks establish carriage and integrity; a full installer is a separate verification.</a:t>
            </a:r>
          </a:p>
          <a:p/>
          <a:p>
            <a:r>
              <a:t>The recorded focused suite ran 146 tests: 145 passed and one Git-dependent census was skipped. It exercised the real carrier with source files, imported the worker from a staged installation, and verified ZIP creation, extraction and receipts with synthetic runtime binaries. Missing or corrupted helpers and extra files were rejected.</a:t>
            </a:r>
          </a:p>
          <a:p/>
          <a:p>
            <a:r>
              <a:t>The recorded self-update sweep with --no-git had no findings. A self-modify snapshot copied 1,579 files with zero copy errors and accounted for all 778 runtime source inputs. These are that audit's dated counts. Neither those checks nor this dossier regeneration ran a complete PyInstaller build, installed a release or performed a live update swap.</a:t>
            </a:r>
          </a:p>
          <a:p/>
          <a:p>
            <a:r>
              <a:t>Focused suite: 146 tests recorded: 145 passed, one skipped; file-only harness exited successfully.</a:t>
            </a:r>
          </a:p>
          <a:p/>
          <a:p>
            <a:r>
              <a:t>Real files: Every mapped source destination matched; the staged worker resolved its settings helper.</a:t>
            </a:r>
          </a:p>
          <a:p/>
          <a:p>
            <a:r>
              <a:t>Snapshot: Recorded audit: 1,579 files, 11 redacted, 778 runtime inputs covered, zero copy errors.</a:t>
            </a:r>
          </a:p>
          <a:p/>
          <a:p>
            <a:r>
              <a:t>Evidence: docs/build-root-assets-verification.md records scope, skipped checks and local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 Check for updates fetches the latest published release, stages it, and hands the locked-file swap to an external script.</a:t>
            </a:r>
          </a:p>
          <a:p/>
          <a:p>
            <a:r>
              <a:t>The swap preserves config.json, the database, contacts, the external-MCP catalog, Temp, Templates, generated content and the separately built uninstaller. The database is copied through SQLite's online backup API before shutdown, then new migrations are applied to it on the next launch, so chat history and settings survive while new agents and prompts arrive.</a:t>
            </a:r>
          </a:p>
          <a:p/>
          <a:p>
            <a:r>
              <a:t>Downloads and staging receipts are verified before shutdown, and a failed prerequisite stops before any file is replaced. While the download runs, the update dialog is sealed and refuses to close.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follows Semantic Versioning, with annotated Git tags as the single source of truth.</a:t>
            </a:r>
          </a:p>
          <a:p/>
          <a:p>
            <a:r>
              <a:t>The runtime resolver, the About window, the /agent/version/ endpoint and every build artefact report the same base tag. The reported version never carries a development or dirty suffix, and TLAMATINI_VERSION can document a release before its tag is cut.</a:t>
            </a:r>
          </a:p>
          <a:p/>
          <a:p>
            <a:r>
              <a:t>This dossier reports version 1.78.0 and states the exact tag, commit and publication status in its Release chapter.</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VIII: Version and Release Status. Version v1.78.0, the current release, published on GitHub.</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10; the Usage commit lands one commit after the tag. The published v1.78.0 zip carries it.</a:t>
            </a:r>
          </a:p>
          <a:p/>
          <a:p>
            <a:r>
              <a:t>The first October 10 campaign passed 18 Usage tests, 202 existing regressions and 24 visible browser checks, plus source/collected-static byte parity. The live Pro account was compared with Ollama Settings before and after a real model request, and Usage opened and refreshed while that request ran. Other-plan, failure and account-switch cases used explicitly synthetic fixtures, not live Free, Max or Unlimited subscriptions.</a:t>
            </a:r>
          </a:p>
          <a:p/>
          <a:p>
            <a:r>
              <a:t>A follow-up the same day made Usage recover when Ollama starts late. Temporary connection, timeout and invalid-response failures now retry after 15 seconds instead of a full minute, an upstream Retry-After is respected even when Refresh is clicked repeatedly, and a refused connection is checked again at once on Refresh or reopen. It passed 27 Usage tests and 12 visible browser checks: Refresh recovered in 0.47 seconds, reopening in 0.52 seconds and the automatic retry in 15.02 seconds.</a:t>
            </a:r>
          </a:p>
          <a:p/>
          <a:p>
            <a:r>
              <a:t>UsageDaily, migration 0213, records counters by user/model/UTC day through a bounded worker queue; it is best-effort telemetry, not a billing ledger. Both inclusion sweeps passed. Those campaigns ran from source. This refresh checked that the published zip matches the local build byte for byte (SHA-256); it did not install the release or rerun the browser tests.</a:t>
            </a:r>
          </a:p>
          <a:p/>
          <a:p>
            <a:r>
              <a:t>220 tests: 18 Usage plus 202 existing regressions passed on October 10.</a:t>
            </a:r>
          </a:p>
          <a:p/>
          <a:p>
            <a:r>
              <a:t>24 browser checks: Visible live Pro comparisons plus clearly synthetic edge cases.</a:t>
            </a:r>
          </a:p>
          <a:p/>
          <a:p>
            <a:r>
              <a:t>Recovery: 27 Usage tests and 12 visible checks; outages retried after 15 s.</a:t>
            </a:r>
          </a:p>
          <a:p/>
          <a:p>
            <a:r>
              <a:t>During a request: Usage opened/refreshed while a real model answer completed.</a:t>
            </a:r>
          </a:p>
          <a:p/>
          <a:p>
            <a:r>
              <a:t>In the release: The published zip's files match the latest October 10 commit.</a:t>
            </a:r>
          </a:p>
          <a:p/>
          <a:p>
            <a:r>
              <a:t>Privacy: Account observations and authenticated screenshots stay out of this dossier.</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commits after the v1.78.0 tag, and carried by the published zip: the input area resizes once she floats.</a:t>
            </a:r>
          </a:p>
          <a:p/>
          <a:p>
            <a:r>
              <a:t>With the avatar undocked, the input form can now be dragged down to its own action buttons plus a six-pixel guard; the old 30% floor is gone. The toolbar, context gauge, attachment and dictation rows count with their measured heights. Docking her again restores room for the portrait. The divider answers the pointer, the arrow keys, Shift+arrows, Home, End and double-click, and reports its height to screen readers.</a:t>
            </a:r>
          </a:p>
          <a:p/>
          <a:p>
            <a:r>
              <a:t>Short windows scroll the composer inside itself and keep the chat history. The page occupies the real viewport: collapsed navigation opens over the workspace instead of pushing it down, and a 640-pixel minimum workspace keeps both panes on narrow screens. jQuery UI dialogs stay inside the window after opening, dragging or resizing, short native dialogs scroll as complete cards, and the avatar never covers a modal dialog.</a:t>
            </a:r>
          </a:p>
          <a:p/>
          <a:p>
            <a:r>
              <a:t>In a verified foreground Chrome window, 18 composer checks and 38 viewport checks passed at 100%, native 400% and 25% zoom and in a phone-sized window, with eight dialogs at each size. That is a desktop browser at phone-sized dimensions, not a physical phone; 20% zoom was unavailable and is not claimed. These layout checks do not certify model inference or audio capture.</a:t>
            </a:r>
          </a:p>
          <a:p/>
          <a:p>
            <a:r>
              <a:t>Shrinks to fit: Undocked, the input area can shrink to its buttons; no 30% floor.</a:t>
            </a:r>
          </a:p>
          <a:p/>
          <a:p>
            <a:r>
              <a:t>Dock again: Docking restores room for her portrait above the buttons.</a:t>
            </a:r>
          </a:p>
          <a:p/>
          <a:p>
            <a:r>
              <a:t>Keyboard: Arrows, Shift+arrows, Home, End and double-click on the divider.</a:t>
            </a:r>
          </a:p>
          <a:p/>
          <a:p>
            <a:r>
              <a:t>Short windows: The composer scrolls inside itself; chat history stays visible.</a:t>
            </a:r>
          </a:p>
          <a:p/>
          <a:p>
            <a:r>
              <a:t>Narrow screens: A 640-pixel workspace pans; the page and dialogs stay anchored.</a:t>
            </a:r>
          </a:p>
          <a:p/>
          <a:p>
            <a:r>
              <a:t>Evidence: 18 composer and 38 viewport checks passed, visibly, on October 10.</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Image-Interpreter now reads a comma-separated list of images, a change credited to Tlamatini herself.</a:t>
            </a:r>
          </a:p>
          <a:p/>
          <a:p>
            <a:r>
              <a:t>Commit 0e6fc72d is titled “Tlamatini's self-repair Image-Interpreter, by Tlamatini's-AutoBot” and is the commit the v1.78.0 tag points to. When the images field holds several paths separated by commas, each entry is resolved on its own, the results are merged, and repeated paths are removed while the original order is kept.</a:t>
            </a:r>
          </a:p>
          <a:p/>
          <a:p>
            <a:r>
              <a:t>The list is split only when the whole value is not itself an existing file, so a single image whose name contains a comma still resolves. An entry that matches nothing is logged as a warning and the other images are still analyzed. The 22-line change arrived without a new automated test; it ships in the published v1.78.0 release.</a:t>
            </a:r>
          </a:p>
          <a:p/>
          <a:p>
            <a:r>
              <a:t>Several images: Comma-separated paths are resolved one by one and merged.</a:t>
            </a:r>
          </a:p>
          <a:p/>
          <a:p>
            <a:r>
              <a:t>No duplicates: Repeated paths are removed; the original order is kept.</a:t>
            </a:r>
          </a:p>
          <a:p/>
          <a:p>
            <a:r>
              <a:t>Commas in names: A single existing file is never split at its comma.</a:t>
            </a:r>
          </a:p>
          <a:p/>
          <a:p>
            <a:r>
              <a:t>Honest warning: An entry that resolves to nothing is logged, not hidden.</a:t>
            </a:r>
          </a:p>
          <a:p/>
          <a:p>
            <a:r>
              <a:t>Self-repair: The commit credits Tlamatini's-AutoBot, her own self-modify work.</a:t>
            </a:r>
          </a:p>
          <a:p/>
          <a:p>
            <a:r>
              <a:t>In v1.78.0: The tag points to this commit; no dedicated test yet.</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October 9; v1.78.0 replaced it as the Latest release on October 10.</a:t>
            </a:r>
          </a:p>
          <a:p/>
          <a:p>
            <a:r>
              <a:t>Every fixed line Tlamatini sends to the chat, and that her avatar reads aloud, is now written in the first person and addressed to the user by name: “I'm ready, Angela! You can start chatting with me now.” replaces “Your agent is ready.” The lines live in one place, agent/constants.py; a helper fills in the first name, or the user name when there is no first name, and leaves the name out cleanly when there is neither.</a:t>
            </a:r>
          </a:p>
          <a:p/>
          <a:p>
            <a:r>
              <a:t>Some of these lines are recognised by their words: the chat page uses them to know it is busy or ready, the avatar to decide what to say, and the Telegram bridge to filter its replies. Every one of those matchers changed in the same commit and still accepts the old wording, so a saved chat history and an older server still read correctly.</a:t>
            </a:r>
          </a:p>
          <a:p/>
          <a:p>
            <a:r>
              <a:t>The uninstaller no longer erases the user's own work. Uninstalling an installation had deleted the projects kept in Templates/, where STM32er, ESP32er, Arduiner, ESPHomer, Unrealer and LaTeXer create their projects by default. It now keeps application, applications, content_generated, context_files, doc_generated and Templates whenever they hold a file, always erases Temp/, and still keeps agents/. Only a rebuilt Uninstaller.exe carries this: a fresh install or a reinstall copies it, while an in-app update keeps the old one.</a:t>
            </a:r>
          </a:p>
          <a:p/>
          <a:p>
            <a:r>
              <a:t>Both changes are covered by unit tests (the message tests in test_compact_mode_switch.py and test_uninstaller_mechanics.py), recorded as passing in the October 9 documentation refresh.</a:t>
            </a:r>
          </a:p>
          <a:p/>
          <a:p>
            <a:r>
              <a:t>First person: Fixed chat lines say “I” and use your name.</a:t>
            </a:r>
          </a:p>
          <a:p/>
          <a:p>
            <a:r>
              <a:t>One source: Every fixed line lives in agent/constants.py.</a:t>
            </a:r>
          </a:p>
          <a:p/>
          <a:p>
            <a:r>
              <a:t>Old wording kept: Matchers accept both, so old histories still read.</a:t>
            </a:r>
          </a:p>
          <a:p/>
          <a:p>
            <a:r>
              <a:t>Templates kept: Uninstalling keeps the projects in Templates/.</a:t>
            </a:r>
          </a:p>
          <a:p/>
          <a:p>
            <a:r>
              <a:t>Temp erased: Scratch goes; folders holding your files stay.</a:t>
            </a:r>
          </a:p>
          <a:p/>
          <a:p>
            <a:r>
              <a:t>Rebuilt uninstaller: A reinstall carries the fix; an in-app update does not.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8; the Model Brain commit lands on main one commit after the tag. The published v1.76.0 release was built from main and carries it.</a:t>
            </a:r>
          </a:p>
          <a:p/>
          <a:p>
            <a:r>
              <a:t>Every model Tlamatini calls now receives its own sampling, thinking level and context size from formal sources, as the How She Works chapter describes. Config ▸ Models ▸ Save opens an Auto-tuning dialog that tunes each configured model in front of you, thinking models keep their own reasoning between tool calls inside one answer, and the stall clocks that threw finished work away are gone.</a:t>
            </a:r>
          </a:p>
          <a:p/>
          <a:p>
            <a:r>
              <a:t>The console window paints each line by level: errors red, fatal errors white on red, warnings yellow, debug grey and successes green, while tlamatini.log stays plain text. At startup she logs which program draws the window, the classic console or Windows Terminal, the default on Windows 11. console_colors and the standard NO_COLOR variable turn the colours off.</a:t>
            </a:r>
          </a:p>
          <a:p/>
          <a:p>
            <a:r>
              <a:t>Two smaller repairs ship beside it. A PDF refused because a second account signed in from the same browser now names that cause and the fix, reloading with F5, and the progress dialog marks the failed step. Two chat pages on two different models no longer make each other measure again forever: a model's verdict updates the boxes and stops. On two idle test pages the re-sends fell from 1,081 in one minute to none.</a:t>
            </a:r>
          </a:p>
          <a:p/>
          <a:p>
            <a:r>
              <a:t>On October 8 the visible Model Brain test passed 25 of 25 checks in a source run and the visible PDF-account test passed 20 of 20. These are dated results, not a claim that this documentation refresh reran them. Publication status is stated in the Release Identity section.</a:t>
            </a:r>
          </a:p>
          <a:p/>
          <a:p>
            <a:r>
              <a:t>Model Brain: Per-model settings from cited sources; Auto-tuning shows each one.</a:t>
            </a:r>
          </a:p>
          <a:p/>
          <a:p>
            <a:r>
              <a:t>Reasoning kept: Thinking models keep their train of thought between tool calls.</a:t>
            </a:r>
          </a:p>
          <a:p/>
          <a:p>
            <a:r>
              <a:t>Coloured console: Lines coloured by level; the log file stays plain text.</a:t>
            </a:r>
          </a:p>
          <a:p/>
          <a:p>
            <a:r>
              <a:t>Truthful refusal: A PDF refused for a second account says why and how to fix it.</a:t>
            </a:r>
          </a:p>
          <a:p/>
          <a:p>
            <a:r>
              <a:t>Quiet tabs: Two pages on two models no longer re-measure each other.</a:t>
            </a:r>
          </a:p>
          <a:p/>
          <a:p>
            <a:r>
              <a:t>Evidence: 25 of 25 and 20 of 20 visible checks on October 8.</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7 and 8: LaTeXer, Mover and the document agents report what really happened.</a:t>
            </a:r>
          </a:p>
          <a:p/>
          <a:p>
            <a:r>
              <a:t>LaTeXer reports a PDF only when the delivered file really exists and is not empty, and a PDF whose text sticks out more than five points past the margin is reported as created with findings, not as clean. When it had to cut a quarter or more of a broken document's body to produce any PDF at all, it saves the result as &lt;name&gt;.DEGRADED.pdf and leaves the requested name untouched. In a document longer than 8,000 characters the model rung first repairs only the lines around the compiler's error with a capped request; an unusable reply falls back to the whole-document request, and a reply that never came forbids the bisect rung.</a:t>
            </a:r>
          </a:p>
          <a:p/>
          <a:p>
            <a:r>
              <a:t>Mover no longer erases a destination folder to copy into it: folders are merged, each file is staged and published whole, a move removes its source only afterwards, and a failure ends with a failure receipt and a non-zero exit instead of a success. Document and capture agents keep a finished file when Windows Controlled Folder Access blocks the folder, and the security whitelist script now finds every Tlamatini installation and lets its Python save files.</a:t>
            </a:r>
          </a:p>
          <a:p/>
          <a:p>
            <a:r>
              <a:t>The October 8 LaTeXer change added 37 tests, and all 549 LaTeXer tests passed with it. The October 7 Mover and LaTeXer delivery work passed 126 focused tests.</a:t>
            </a:r>
          </a:p>
          <a:p/>
          <a:p>
            <a:r>
              <a:t>Real PDFs: Success only when the delivered file exists and is not empty.</a:t>
            </a:r>
          </a:p>
          <a:p/>
          <a:p>
            <a:r>
              <a:t>Layout findings: Text past the margin is reported, never called clean.</a:t>
            </a:r>
          </a:p>
          <a:p/>
          <a:p>
            <a:r>
              <a:t>DEGRADED name: A mostly-cut build never wears the name you asked for.</a:t>
            </a:r>
          </a:p>
          <a:p/>
          <a:p>
            <a:r>
              <a:t>Region repair: Large documents: the lines around the error are repaired first.</a:t>
            </a:r>
          </a:p>
          <a:p/>
          <a:p>
            <a:r>
              <a:t>Mover: Destinations are merged, never erased; failures are reported.</a:t>
            </a:r>
          </a:p>
          <a:p/>
          <a:p>
            <a:r>
              <a:t>Protected folders: Finished files survive Controlled Folder Access.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after the v1.75.0 tag and carried by the v1.76.0 tag.</a:t>
            </a:r>
          </a:p>
          <a:p/>
          <a:p>
            <a:r>
              <a:t>The Files-Search and System-Metrics helpers ask Ollama their own questions before the main answer. Those calls now have a time limit, context_sidecar_llm_timeout_seconds, 60 seconds by default; at the limit, or when you press Cancel, a helper skips its context and the answer goes ahead, so a slow reply can no longer freeze the chat.</a:t>
            </a:r>
          </a:p>
          <a:p/>
          <a:p>
            <a:r>
              <a:t>When Windows still holds Uninstaller.exe while the uninstaller finishes, the file is retried, moved aside and deleted by a hidden cleanup after exit, so the uninstall completes. File-Creator gained append: true adds the content to the end of a file, byte for byte, instead of overwriting it.</a:t>
            </a:r>
          </a:p>
          <a:p/>
          <a:p>
            <a:r>
              <a:t>Context helpers: Their own model calls stop at a time limit or on Cancel.</a:t>
            </a:r>
          </a:p>
          <a:p/>
          <a:p>
            <a:r>
              <a:t>Uninstaller: A held Uninstaller.exe is moved aside and removed after exit.</a:t>
            </a:r>
          </a:p>
          <a:p/>
          <a:p>
            <a:r>
              <a:t>File-Creator: append: true adds to a file instead of overwriting it.</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to main on October 4 and carried by the v1.76.0 tag; local executables were rebuilt to validate them.</a:t>
            </a:r>
          </a:p>
          <a:p/>
          <a:p>
            <a:r>
              <a:t>User Commentary is edited entirely on the canvas. Double-click or press Enter to write, then format selected words with the floating mini toolbar. A single note can combine different fonts, sizes, text colors, bold, italic and underline. A caret styles the next text you type. Bubble color and alignment apply to the whole note.</a:t>
            </a:r>
          </a:p>
          <a:p/>
          <a:p>
            <a:r>
              <a:t>Drag any border or corner, including while writing. Fit text removes spare height. Every wrapped line stays inside the bubble without an internal scrollbar. Done or Ctrl+Enter saves the edit. Cancel or Escape restores its text, styles, size and position.</a:t>
            </a:r>
          </a:p>
          <a:p/>
          <a:p>
            <a:r>
              <a:t>The divider above Run output allocates 5% to 95% of the usable canvas/output height. Only the two viewports change. Canvas zoom, figure dimensions and text sizes stay fixed, and each pane scrolls independently. The browser remembers the ratio per signed-in user.</a:t>
            </a:r>
          </a:p>
          <a:p/>
          <a:p>
            <a:r>
              <a:t>The October 4 commentary verification passed 29 diagram/runner tests, 3 carriage tests and 23 visible Chrome checkpoints, including three mixed-style comments through three file save/open cycles with identical data and rendered line boxes. The output-divider verification separately passed 14 visible Chrome checkpoints and 3 carriage tests. These are dated results, not a claim that this documentation refresh reran them.</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on main after the v1.75.0 tag and carried by the v1.76.0 tag.</a:t>
            </a:r>
          </a:p>
          <a:p/>
          <a:p>
            <a:r>
              <a:t>Ollama's cloud models refuse a request that carries more than four stop sequences, and the chat model used to send nine, so the chat-history summary, the first call once a conversation grows long, failed the whole request. Every stop list now passes through one fitter that keeps at most four, most important first, and a failed summary no longer fails the answer: the request continues without it, while Cancel still stops it.</a:t>
            </a:r>
          </a:p>
          <a:p/>
          <a:p>
            <a:r>
              <a:t>The Prompt Flow Panel separates two things that shared one name. User Input is the operation that stops to ask you something; it keeps exactly its old behaviour under a new notched figure. User Commentary is now a static speech-bubble note for reviewers: written in place, coloured and styled freely, growing to hold its whole text without a scrollbar, and never run. New files are saved as version 2; version 1 files open with their old commentary steps turned into User Input, identifiers and connections kept.</a:t>
            </a:r>
          </a:p>
          <a:p/>
          <a:p>
            <a:r>
              <a:t>The October 3 refresh reran 430 targeted unit tests, the offline Prompt Flow check, ESLint with zero errors, the skills inventory and both inclusion sweeps; all passed, and ruff now reports a clean tree. In a visible Chrome on the real desktop, the commentary test passed all nine checkpoints: long notes without scrollbars, fonts and colours, resize with Undo and Redo, save and reopen, a real User Input run, Escape stopping it, and a version 1 file migrating.</a:t>
            </a:r>
          </a:p>
          <a:p/>
          <a:p>
            <a:r>
              <a:t>Four stop sequences: Every Ollama request; a failed summary never fails the answer.</a:t>
            </a:r>
          </a:p>
          <a:p/>
          <a:p>
            <a:r>
              <a:t>User Input: The step that asks you: same mechanism, new figure.</a:t>
            </a:r>
          </a:p>
          <a:p/>
          <a:p>
            <a:r>
              <a:t>User Commentary: A static review note; it never runs and never reaches the model.</a:t>
            </a:r>
          </a:p>
          <a:p/>
          <a:p>
            <a:r>
              <a:t>Version 2 files: Version 1 flows migrate on open; identifiers and links are kept.</a:t>
            </a:r>
          </a:p>
          <a:p/>
          <a:p>
            <a:r>
              <a:t>October 3 evidence: 430 unit tests; 9 of 9 visible Chrome checkpoints.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3: Compact mode is a toolbar switch; the Self-modify switch followed and ships in v1.76.0.</a:t>
            </a:r>
          </a:p>
          <a:p/>
          <a:p>
            <a:r>
              <a:t>Compact mode as tagged in v1.74.0 was a verdict made behind the user's back. In v1.75.0 it is a toolbar box. Ticking it unticks every row in Configure MCPs, Configure Agents and ACPX-Skills except System-Metrics, Files-Search and Current-Time, and pauses the External MCPs; unticking it ticks every row again. Each row shows the tokens it adds, a model that cannot hold everything turns the box on and locks it, and an answer built from a cut request carries a CONTEXT-WINDOW warning.</a:t>
            </a:r>
          </a:p>
          <a:p/>
          <a:p>
            <a:r>
              <a:t>Right after the tag, commit 70aeeb87 added the Self-modify box, which ships in v1.76.0. A source run always shows it; a frozen build shows it only when built with --self-modify. On, it sends her self-knowledge, about 28,900 tokens per request; off, one line tells her not to change her own code. A model that cannot hold it shows the box locked off.</a:t>
            </a:r>
          </a:p>
          <a:p/>
          <a:p>
            <a:r>
              <a:t>The visible Compact-switch run passed 57 of 57 checks on a local qwen2.5 and a free cloud model. The visible Self-modify run passed 28 of 28: with the same 119 tools, the request with the self-knowledge was 117,517 bytes larger than without it. 473 unit tests passed, including a render of the page as a frozen build.</a:t>
            </a:r>
          </a:p>
          <a:p/>
          <a:p>
            <a:r>
              <a:t>Compact switch: Only the rows you tick; locked on when the model cannot hold everything.</a:t>
            </a:r>
          </a:p>
          <a:p/>
          <a:p>
            <a:r>
              <a:t>Prices: Every Configure row shows the tokens it adds to each request.</a:t>
            </a:r>
          </a:p>
          <a:p/>
          <a:p>
            <a:r>
              <a:t>Self-modify: Her self-knowledge on or off; locked off when it does not fit.</a:t>
            </a:r>
          </a:p>
          <a:p/>
          <a:p>
            <a:r>
              <a:t>Proof: 57/57 and 28/28 visible checks; 473 unit tests.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 every request is fitted to the model it is sent to.</a:t>
            </a:r>
          </a:p>
          <a:p/>
          <a:p>
            <a:r>
              <a:t>A model that can hold Tlamatini's complete request still receives it byte for byte. A model whose real window is smaller receives Compact mode, described in the How She Works chapter, with a once-per-model dialog, a Compact badge and a locked ACPX box, replaced in v1.75.0 by a switch.</a:t>
            </a:r>
          </a:p>
          <a:p/>
          <a:p>
            <a:r>
              <a:t>The visible run on a local qwen2.5 exposed three more problems, fixed in the same release. In Compact mode the one-shot file guard now states the real reason a file cannot be opened, and a table the user asked to see is shown as a table instead of fenced code. For every model, an answer-table cell whose text would be unreadable is recoloured.</a:t>
            </a:r>
          </a:p>
          <a:p/>
          <a:p>
            <a:r>
              <a:t>On October 1 the visible Compact run on the installed qwen2.5:latest passed 37 of 37 checks at about 8,100 tokens per request, with no cuts. On nemotron-3-ultra:cloud every request stayed complete, with Ollama reading 102,539 to 104,259 tokens. A small model can still sometimes re-answer an earlier question before the new one. The v1.74.0 dossier refresh reran the 43 Compact-mode regression tests; all passed.</a:t>
            </a:r>
          </a:p>
          <a:p/>
          <a:p>
            <a:r>
              <a:t>Fitted: Full when the model can hold the request; Compact when it cannot.</a:t>
            </a:r>
          </a:p>
          <a:p/>
          <a:p>
            <a:r>
              <a:t>Compact proof: 37/37 visible checks on a local qwen2.5, about 8.1K tokens, no cuts.</a:t>
            </a:r>
          </a:p>
          <a:p/>
          <a:p>
            <a:r>
              <a:t>Full proof: A large cloud model read every request complete: about 103K tokens.</a:t>
            </a:r>
          </a:p>
          <a:p/>
          <a:p>
            <a:r>
              <a:t>Readable tables: Cells below 3:1 contrast are recoloured, for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 Config ▸ Models asks the configured Ollama servers, with their token.</a:t>
            </a:r>
          </a:p>
          <a:p/>
          <a:p>
            <a:r>
              <a:t>Config ▸ Models used to ask the browser's own Ollama for the model list, at an address fixed when the page loaded. After Config ▸ URLs pointed Tlamatini at a remote server, a model installed only there was marked red and could not be saved.</a:t>
            </a:r>
          </a:p>
          <a:p/>
          <a:p>
            <a:r>
              <a:t>A login-protected endpoint now reads config.json on every call, asks each distinct configured Ollama address in parallel with the same bearer token the chat sends, and merges their model names. Each server reports its own status, and the dialog names the server and the reason when one cannot answer, such as an HTTP 401 that points to the token.</a:t>
            </a:r>
          </a:p>
          <a:p/>
          <a:p>
            <a:r>
              <a:t>The same release made the start-up GPU step send the token too, so a token-protected remote server no longer answers 401 at every start. A visible run against a simulated token-protected server passed 16 of 16 checks, with every request carrying the token. The v1.74.0 dossier refresh reran the 18 model-catalog regression tests; all passed.</a:t>
            </a:r>
          </a:p>
          <a:p/>
          <a:p>
            <a:r>
              <a:t>Fresh address: Read from config.json on every call, never fixed at page load.</a:t>
            </a:r>
          </a:p>
          <a:p/>
          <a:p>
            <a:r>
              <a:t>Token: Every configured server is asked with the chat's own bearer token.</a:t>
            </a:r>
          </a:p>
          <a:p/>
          <a:p>
            <a:r>
              <a:t>Clear errors: Each server reports its status; a 401 points at the token.</a:t>
            </a:r>
          </a:p>
          <a:p/>
          <a:p>
            <a:r>
              <a:t>Start-up: The GPU warm-up sends the token too: no 401 at every start.</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30: Drop throughout chat, with confirmation and history updates.</a:t>
            </a:r>
          </a:p>
          <a:p/>
          <a:p>
            <a:r>
              <a:t>Saved greetings, user prompts and answers carry their AgentMessage id from the first page render and subsequent WebSocket frames. The drop-message request validates that id against the signed-in conversation owner before deleting rows. A busy guard checks this connection's active run; it is not a global lock across all of the user's tabs.</a:t>
            </a:r>
          </a:p>
          <a:p/>
          <a:p>
            <a:r>
              <a:t>Successful deletion broadcasts message-dropped with all deleted ids to the user's tabs, then schedules a context-gauge refresh. Dropping a user prompt also removes up to twenty directly following Referenced Rephrase rows, stopping at the first other row. An answer or another user's message is never included in that cleanup.</a:t>
            </a:r>
          </a:p>
          <a:p/>
          <a:p>
            <a:r>
              <a:t>All 23 focused Drop regression tests passed on September 30, covering ownership, both message roles, neighboring rows, the history window, busy refusal, rephrases and browser/server protocol contracts. The September 30 maintainer record reports 42/42 checks in the extended visible browser harness, including a new real context count after every drop that ends lower than before; this dossier refresh reruns the focused suite without writing to the real memory graph.</a:t>
            </a:r>
          </a:p>
          <a:p/>
          <a:p>
            <a:r>
              <a:t>Owned rows: Server deletion is scoped to the signed-in user's conversation.</a:t>
            </a:r>
          </a:p>
          <a:p/>
          <a:p>
            <a:r>
              <a:t>Tabs and gauge: Confirmed ids remove saved cards across tabs and refresh the context estimate.</a:t>
            </a:r>
          </a:p>
          <a:p/>
          <a:p>
            <a:r>
              <a:t>Rephrases: Prompt cleanup removes following rephrase copies and keeps the answer.</a:t>
            </a:r>
          </a:p>
          <a:p/>
          <a:p>
            <a:r>
              <a:t>Run guard: An active answer blocks Drop on that connection. Other tabs have separate runs.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29: no web page loses its text without saying so.</a:t>
            </a:r>
          </a:p>
          <a:p/>
          <a:p>
            <a:r>
              <a:t>Crawler and Googler strip a page to its words by skipping scripts, styles and similar blocks. A block that never closed, such as an omitted closing head tag or a cut-off download, used to swallow the rest of the page. Both now track open blocks with a stack, and a plain-text safety net replaces any result that kept too little, logging a warning when it does.</a:t>
            </a:r>
          </a:p>
          <a:p/>
          <a:p>
            <a:r>
              <a:t>Two tags travel with it. v1.72.2 added deadline-bound defaults to both agents, and a CAPTCHA or bot wall is reported as blocked, never read as content. v1.72.3 made the chat avatar's lips move clearly while she speaks, never wider than her own portrait.</a:t>
            </a:r>
          </a:p>
          <a:p/>
          <a:p>
            <a:r>
              <a:t>No silent loss: A stack of open tags replaces a counter in both agents.</a:t>
            </a:r>
          </a:p>
          <a:p/>
          <a:p>
            <a:r>
              <a:t>Safety net: A plain reading takes over when a parse keeps too little.</a:t>
            </a:r>
          </a:p>
          <a:p/>
          <a:p>
            <a:r>
              <a:t>Bounded defaults: v1.72.2: search and crawl budgets, cancellation and explicit outcomes.</a:t>
            </a:r>
          </a:p>
          <a:p/>
          <a:p>
            <a:r>
              <a:t>Refusals named: A CAPTCHA or bot wall comes back as blocked, never as content.</a:t>
            </a:r>
          </a:p>
          <a:p/>
          <a:p>
            <a:r>
              <a:t>Visible lips: v1.72.3: her lips open and close clearly, without gaping.</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28: the ring beside the message box shows Ollama's own count.</a:t>
            </a:r>
          </a:p>
          <a:p/>
          <a:p>
            <a:r>
              <a:t>The ring now reports the exact request Tlamatini's main chain sends. Bytes are measured; the token figure is Ollama's own prompt_eval_count for that request, and the ceiling is the context length Ollama reports. An estimate is shown only until Ollama answers, and says so.</a:t>
            </a:r>
          </a:p>
          <a:p/>
          <a:p>
            <a:r>
              <a:t>Between questions the ring shows what the next request will cost, recalculated whenever the state changes: page open, Clear history, Drop, Clear context, a context loaded, an answer finished or a mode toggled. It is exact in one-shot and Multi-Turn alike, per connected user, and one-shot questions no longer carry an empty System-Metrics line.</a:t>
            </a:r>
          </a:p>
          <a:p/>
          <a:p>
            <a:r>
              <a:t>Real tokens: Ollama's prompt_eval_count, paired to its own request.</a:t>
            </a:r>
          </a:p>
          <a:p/>
          <a:p>
            <a:r>
              <a:t>Exact in both modes: Live = at-rest prediction + the question + the Multi-Turn plan.</a:t>
            </a:r>
          </a:p>
          <a:p/>
          <a:p>
            <a:r>
              <a:t>Main chain only: Out-of-band calls never reach the ring; each user sees their own.</a:t>
            </a:r>
          </a:p>
          <a:p/>
          <a:p>
            <a:r>
              <a:t>Less waste: The question is sent once; the one-shot placeholder line is gone.</a:t>
            </a:r>
          </a:p>
          <a:p/>
          <a:p>
            <a:r>
              <a:t>Proof: A visible lab passed 60 of 60 checks against tlamatini.log.</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September 27 changes were tagged v1.72.0 and published on September 28.</a:t>
            </a:r>
          </a:p>
          <a:p/>
          <a:p>
            <a:r>
              <a:t>The chat microphone starts Whisperer directly, stops on the configured silence gate, recognizes speech and sends or leaves an editable draft as selected in Config &gt; Mic. The dialog also saves browser-local input, gain, gate and recognition preferences. The worker uses the main application logger and creates no second console. Developer tests remain visibly executed.</a:t>
            </a:r>
          </a:p>
          <a:p/>
          <a:p>
            <a:r>
              <a:t>The root dependency manifest and separate ESPHome manifest now account for referenced libraries across agents and source. The static guard and detailed dependency audit record coverage and runtime boundaries. They shipped in the published v1.72.0 release; the shared root-asset carrier repair that followed is committed and carried by v1.72.1.</a:t>
            </a:r>
          </a:p>
          <a:p/>
          <a:p>
            <a:r>
              <a:t>User guide: README.md and BookOfTlamatini.md explain Mic settings, recording, cancellation and both modes.</a:t>
            </a:r>
          </a:p>
          <a:p/>
          <a:p>
            <a:r>
              <a:t>Runtime contract: docs/chat-microphone-design.md records ownership, protocol, configuration and limits.</a:t>
            </a:r>
          </a:p>
          <a:p/>
          <a:p>
            <a:r>
              <a:t>Dependencies: docs/dependency-coverage-audit.md records declarations, isolation and verification.</a:t>
            </a:r>
          </a:p>
          <a:p/>
          <a:p>
            <a:r>
              <a:t>Delivery: Published as v1.72.0 and carried by v1.72.1, with the root-asset carrier repair.</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1.70.0 is about designing conversations and editing flows with the same ease.</a:t>
            </a:r>
          </a:p>
          <a:p/>
          <a:p>
            <a:r>
              <a:t>Prompt Flow Panel: Seven operations, .fpmt files, validated playback, isolated runs.</a:t>
            </a:r>
          </a:p>
          <a:p/>
          <a:p>
            <a:r>
              <a:t>Panels and Config: The canvases live under Panels; every Configure dialog under Config.</a:t>
            </a:r>
          </a:p>
          <a:p/>
          <a:p>
            <a:r>
              <a:t>A real editor: Undo and Redo, Duplicate with settings, zoom, Fit, agent search, Help.</a:t>
            </a:r>
          </a:p>
          <a:p/>
          <a:p>
            <a:r>
              <a:t>Shared mechanics: Both canvases connect, drag, select and zoom the same way.</a:t>
            </a:r>
          </a:p>
          <a:p/>
          <a:p>
            <a:r>
              <a:t>Busy-safe menus: Panels stays usable while she answers; one path re-arms the menus.</a:t>
            </a:r>
          </a:p>
          <a:p/>
          <a:p>
            <a:r>
              <a:t>Context line carried: The context meter, Context Governor and context gauge of v1.65.</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Recent tags, oldest first, read from Git.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tag is not a release, and a commit after a tag is not a new tag. This dossier keeps the three apart.</a:t>
            </a:r>
          </a:p>
          <a:p/>
          <a:p>
            <a:r>
              <a:t>The annotated tag v1.78.0 was created on 2026-10-10 and resolves to commit 0e6fc72d, and the remote advertises it.</a:t>
            </a:r>
          </a:p>
          <a:p/>
          <a:p>
            <a:r>
              <a:t>Since the tag, 2 more commit(s) went into main (113eddc4, 7460a147). A build of main still reports version 1.78.0, because the version always carries the tag's number and nothing more.</a:t>
            </a:r>
          </a:p>
          <a:p/>
          <a:p>
            <a:r>
              <a:t>The newest release published on GitHub is v1.78.0, published 2026-10-10.</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IX: Repository Facts. The source tree measured: files, languages, effective lines, the largest files and recent history.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439,117 effective lines across 1,447 text files; 564,863 physical lines.</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Third-party frontend libraries are vendored so the application needs no CDN at runtime; their lines are counted separately here so they are never mistaken for Tlamatini's own logic.</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inventory is reproducible: run the generator again and the same tree yields the same counts.</a:t>
            </a:r>
          </a:p>
          <a:p/>
          <a:p>
            <a:r>
              <a:t>Scope: Every Git-tracked file plus unignored working-tree additions; ignored build output, caches and runtime state are excluded.</a:t>
            </a:r>
          </a:p>
          <a:p/>
          <a:p>
            <a:r>
              <a:t>Text only: Binary assets such as images, fonts and archives are counted as files, never as lines.</a:t>
            </a:r>
          </a:p>
          <a:p/>
          <a:p>
            <a:r>
              <a:t>Python: Tokenized: comments, blank lines and module, class and function docstrings are excluded.</a:t>
            </a:r>
          </a:p>
          <a:p/>
          <a:p>
            <a:r>
              <a:t>Other languages: Block and line comments are stripped, then non-blank lines are counted.</a:t>
            </a:r>
          </a:p>
          <a:p/>
          <a:p>
            <a:r>
              <a:t>No private values: Configuration values, credentials and addresses are never reproduced.</a:t>
            </a:r>
          </a:p>
          <a:p/>
          <a:p>
            <a:r>
              <a:t>Regenerate: python Tlamatini\agent\doc_generation\refresh_project_docs.py</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A: The complete tracked file tree. Every one of the 1,688 files Git tracks, drawn as a tree.</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 one who knows.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0.xml"/><Relationship Id="rId4" Type="http://schemas.openxmlformats.org/officeDocument/2006/relationships/chart" Target="../charts/char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9.xml"/><Relationship Id="rId4" Type="http://schemas.openxmlformats.org/officeDocument/2006/relationships/chart" Target="../charts/char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6.xml"/><Relationship Id="rId4"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1714408" y="1623060"/>
            <a:ext cx="3886200" cy="3886200"/>
          </a:xfrm>
          <a:prstGeom prst="rect">
            <a:avLst/>
          </a:prstGeom>
        </p:spPr>
      </p:pic>
      <p:sp>
        <p:nvSpPr>
          <p:cNvPr id="4" name="TextBox 3"/>
          <p:cNvSpPr txBox="1"/>
          <p:nvPr/>
        </p:nvSpPr>
        <p:spPr>
          <a:xfrm>
            <a:off x="6446520" y="896112"/>
            <a:ext cx="5303520" cy="329184"/>
          </a:xfrm>
          <a:prstGeom prst="rect">
            <a:avLst/>
          </a:prstGeom>
          <a:noFill/>
        </p:spPr>
        <p:txBody>
          <a:bodyPr wrap="square" lIns="45720" rIns="45720" tIns="27432" bIns="27432" anchor="t">
            <a:noAutofit/>
          </a:bodyPr>
          <a:lstStyle/>
          <a:p>
            <a:pPr algn="l">
              <a:lnSpc>
                <a:spcPct val="100000"/>
              </a:lnSpc>
            </a:pPr>
            <a:r>
              <a:rPr sz="1200" b="0" i="0" spc="340">
                <a:solidFill>
                  <a:srgbClr val="C98457"/>
                </a:solidFill>
                <a:latin typeface="Segoe UI Semibold"/>
              </a:rPr>
              <a:t>THE COMPLETE PROJECT DOSSIER</a:t>
            </a:r>
          </a:p>
        </p:txBody>
      </p:sp>
      <p:sp>
        <p:nvSpPr>
          <p:cNvPr id="5" name="TextBox 4"/>
          <p:cNvSpPr txBox="1"/>
          <p:nvPr/>
        </p:nvSpPr>
        <p:spPr>
          <a:xfrm>
            <a:off x="6391656" y="1261872"/>
            <a:ext cx="5394960" cy="1216152"/>
          </a:xfrm>
          <a:prstGeom prst="rect">
            <a:avLst/>
          </a:prstGeom>
          <a:noFill/>
        </p:spPr>
        <p:txBody>
          <a:bodyPr wrap="square" lIns="45720" rIns="45720" tIns="27432" bIns="27432" anchor="t">
            <a:noAutofit/>
          </a:bodyPr>
          <a:lstStyle/>
          <a:p>
            <a:pPr algn="l">
              <a:lnSpc>
                <a:spcPct val="100000"/>
              </a:lnSpc>
            </a:pPr>
            <a:r>
              <a:rPr sz="7450" b="0" i="0">
                <a:solidFill>
                  <a:srgbClr val="F7F2E8"/>
                </a:solidFill>
                <a:latin typeface="Palatino Linotype"/>
              </a:rPr>
              <a:t>Tlamatini</a:t>
            </a:r>
          </a:p>
        </p:txBody>
      </p:sp>
      <p:sp>
        <p:nvSpPr>
          <p:cNvPr id="6" name="TextBox 5"/>
          <p:cNvSpPr txBox="1"/>
          <p:nvPr/>
        </p:nvSpPr>
        <p:spPr>
          <a:xfrm>
            <a:off x="6446520" y="2505456"/>
            <a:ext cx="5303520" cy="502920"/>
          </a:xfrm>
          <a:prstGeom prst="rect">
            <a:avLst/>
          </a:prstGeom>
          <a:noFill/>
        </p:spPr>
        <p:txBody>
          <a:bodyPr wrap="square" lIns="45720" rIns="45720" tIns="27432" bIns="27432" anchor="t">
            <a:noAutofit/>
          </a:bodyPr>
          <a:lstStyle/>
          <a:p>
            <a:pPr algn="l">
              <a:lnSpc>
                <a:spcPct val="100000"/>
              </a:lnSpc>
            </a:pPr>
            <a:r>
              <a:rPr sz="2600" b="0" i="1">
                <a:solidFill>
                  <a:srgbClr val="3BBE93"/>
                </a:solidFill>
                <a:latin typeface="Palatino Linotype"/>
              </a:rPr>
              <a:t>the one who knows</a:t>
            </a:r>
          </a:p>
        </p:txBody>
      </p:sp>
      <p:sp>
        <p:nvSpPr>
          <p:cNvPr id="7" name="TextBox 6"/>
          <p:cNvSpPr txBox="1"/>
          <p:nvPr/>
        </p:nvSpPr>
        <p:spPr>
          <a:xfrm>
            <a:off x="6446520" y="3127248"/>
            <a:ext cx="5212080" cy="1005840"/>
          </a:xfrm>
          <a:prstGeom prst="rect">
            <a:avLst/>
          </a:prstGeom>
          <a:noFill/>
        </p:spPr>
        <p:txBody>
          <a:bodyPr wrap="square" lIns="45720" rIns="45720" tIns="27432" bIns="27432" anchor="t">
            <a:noAutofit/>
          </a:bodyPr>
          <a:lstStyle/>
          <a:p>
            <a:pPr algn="l">
              <a:lnSpc>
                <a:spcPct val="100000"/>
              </a:lnSpc>
            </a:pPr>
            <a:r>
              <a:rPr sz="1650" b="0" i="0">
                <a:solidFill>
                  <a:srgbClr val="ECE7DC"/>
                </a:solidFill>
                <a:latin typeface="Segoe UI Light"/>
              </a:rPr>
              <a:t>A self-hosted AI developer assistant with a visual agent-workflow designer, a universal MCP client, and the reach to drive real boards, engines and networks.</a:t>
            </a:r>
          </a:p>
        </p:txBody>
      </p:sp>
      <p:sp>
        <p:nvSpPr>
          <p:cNvPr id="8" name="TextBox 7"/>
          <p:cNvSpPr txBox="1"/>
          <p:nvPr/>
        </p:nvSpPr>
        <p:spPr>
          <a:xfrm>
            <a:off x="644652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89</a:t>
            </a:r>
          </a:p>
        </p:txBody>
      </p:sp>
      <p:sp>
        <p:nvSpPr>
          <p:cNvPr id="9" name="TextBox 8"/>
          <p:cNvSpPr txBox="1"/>
          <p:nvPr/>
        </p:nvSpPr>
        <p:spPr>
          <a:xfrm>
            <a:off x="644652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AGENT TYPES</a:t>
            </a:r>
          </a:p>
        </p:txBody>
      </p:sp>
      <p:sp>
        <p:nvSpPr>
          <p:cNvPr id="10" name="TextBox 9"/>
          <p:cNvSpPr txBox="1"/>
          <p:nvPr/>
        </p:nvSpPr>
        <p:spPr>
          <a:xfrm>
            <a:off x="777240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109</a:t>
            </a:r>
          </a:p>
        </p:txBody>
      </p:sp>
      <p:sp>
        <p:nvSpPr>
          <p:cNvPr id="11" name="TextBox 10"/>
          <p:cNvSpPr txBox="1"/>
          <p:nvPr/>
        </p:nvSpPr>
        <p:spPr>
          <a:xfrm>
            <a:off x="7772400" y="4937760"/>
            <a:ext cx="1234439" cy="274320"/>
          </a:xfrm>
          <a:prstGeom prst="rect">
            <a:avLst/>
          </a:prstGeom>
          <a:noFill/>
        </p:spPr>
        <p:txBody>
          <a:bodyPr wrap="square" lIns="45720" rIns="45720" tIns="27432" bIns="27432" anchor="t">
            <a:noAutofit/>
          </a:bodyPr>
          <a:lstStyle/>
          <a:p>
            <a:pPr algn="l">
              <a:lnSpc>
                <a:spcPct val="100000"/>
              </a:lnSpc>
            </a:pPr>
            <a:r>
              <a:rPr sz="750" b="0" i="0" spc="95">
                <a:solidFill>
                  <a:srgbClr val="A7B2B0"/>
                </a:solidFill>
                <a:latin typeface="Segoe UI Semibold"/>
              </a:rPr>
              <a:t>MULTI-TURN TOOLS</a:t>
            </a:r>
          </a:p>
        </p:txBody>
      </p:sp>
      <p:cxnSp>
        <p:nvCxnSpPr>
          <p:cNvPr id="12" name="Connector 11"/>
          <p:cNvCxnSpPr/>
          <p:nvPr/>
        </p:nvCxnSpPr>
        <p:spPr>
          <a:xfrm>
            <a:off x="768096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09828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29</a:t>
            </a:r>
          </a:p>
        </p:txBody>
      </p:sp>
      <p:sp>
        <p:nvSpPr>
          <p:cNvPr id="14" name="TextBox 13"/>
          <p:cNvSpPr txBox="1"/>
          <p:nvPr/>
        </p:nvSpPr>
        <p:spPr>
          <a:xfrm>
            <a:off x="909828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SKILLS</a:t>
            </a:r>
          </a:p>
        </p:txBody>
      </p:sp>
      <p:cxnSp>
        <p:nvCxnSpPr>
          <p:cNvPr id="15" name="Connector 14"/>
          <p:cNvCxnSpPr/>
          <p:nvPr/>
        </p:nvCxnSpPr>
        <p:spPr>
          <a:xfrm>
            <a:off x="900684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424159" y="4370832"/>
            <a:ext cx="1234439" cy="548640"/>
          </a:xfrm>
          <a:prstGeom prst="rect">
            <a:avLst/>
          </a:prstGeom>
          <a:noFill/>
        </p:spPr>
        <p:txBody>
          <a:bodyPr wrap="square" lIns="45720" rIns="45720" tIns="27432" bIns="27432" anchor="t">
            <a:noAutofit/>
          </a:bodyPr>
          <a:lstStyle/>
          <a:p>
            <a:pPr algn="l">
              <a:lnSpc>
                <a:spcPct val="100000"/>
              </a:lnSpc>
            </a:pPr>
            <a:r>
              <a:rPr sz="2750" b="1" i="0">
                <a:solidFill>
                  <a:srgbClr val="E2B462"/>
                </a:solidFill>
                <a:latin typeface="Palatino Linotype"/>
              </a:rPr>
              <a:t>v1.78.0</a:t>
            </a:r>
          </a:p>
        </p:txBody>
      </p:sp>
      <p:sp>
        <p:nvSpPr>
          <p:cNvPr id="17" name="TextBox 16"/>
          <p:cNvSpPr txBox="1"/>
          <p:nvPr/>
        </p:nvSpPr>
        <p:spPr>
          <a:xfrm>
            <a:off x="10424159" y="4937760"/>
            <a:ext cx="1234439" cy="274320"/>
          </a:xfrm>
          <a:prstGeom prst="rect">
            <a:avLst/>
          </a:prstGeom>
          <a:noFill/>
        </p:spPr>
        <p:txBody>
          <a:bodyPr wrap="square" lIns="45720" rIns="45720" tIns="27432" bIns="27432" anchor="t">
            <a:noAutofit/>
          </a:bodyPr>
          <a:lstStyle/>
          <a:p>
            <a:pPr algn="l">
              <a:lnSpc>
                <a:spcPct val="100000"/>
              </a:lnSpc>
            </a:pPr>
            <a:r>
              <a:rPr sz="800" b="0" i="0" spc="103">
                <a:solidFill>
                  <a:srgbClr val="A7B2B0"/>
                </a:solidFill>
                <a:latin typeface="Segoe UI Semibold"/>
              </a:rPr>
              <a:t>CURRENT RELEASE</a:t>
            </a:r>
          </a:p>
        </p:txBody>
      </p:sp>
      <p:cxnSp>
        <p:nvCxnSpPr>
          <p:cNvPr id="18" name="Connector 17"/>
          <p:cNvCxnSpPr/>
          <p:nvPr/>
        </p:nvCxnSpPr>
        <p:spPr>
          <a:xfrm>
            <a:off x="10332719"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46520" y="5596128"/>
            <a:ext cx="5303520" cy="310896"/>
          </a:xfrm>
          <a:prstGeom prst="rect">
            <a:avLst/>
          </a:prstGeom>
          <a:noFill/>
        </p:spPr>
        <p:txBody>
          <a:bodyPr wrap="square" lIns="45720" rIns="45720" tIns="27432" bIns="27432" anchor="t">
            <a:noAutofit/>
          </a:bodyPr>
          <a:lstStyle/>
          <a:p>
            <a:pPr algn="l">
              <a:lnSpc>
                <a:spcPct val="100000"/>
              </a:lnSpc>
            </a:pPr>
            <a:r>
              <a:rPr sz="1300" b="0" i="0">
                <a:solidFill>
                  <a:srgbClr val="F7F2E8"/>
                </a:solidFill>
                <a:latin typeface="Segoe UI Semibold"/>
              </a:rPr>
              <a:t>Created by Angela López Mendoza  ·  @angelahack1</a:t>
            </a:r>
          </a:p>
        </p:txBody>
      </p:sp>
      <p:sp>
        <p:nvSpPr>
          <p:cNvPr id="20" name="TextBox 19"/>
          <p:cNvSpPr txBox="1"/>
          <p:nvPr/>
        </p:nvSpPr>
        <p:spPr>
          <a:xfrm>
            <a:off x="6446520" y="5907024"/>
            <a:ext cx="5303520" cy="274320"/>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October 10, 2026  ·  github.com/XAIHT/Tlamatini  ·  MIT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CONTENTS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this dossier covers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Nine chapters from identity to inventory, and a complete file tree at the end.</a:t>
            </a:r>
          </a:p>
        </p:txBody>
      </p:sp>
      <p:sp>
        <p:nvSpPr>
          <p:cNvPr id="8" name="TextBox 7"/>
          <p:cNvSpPr txBox="1"/>
          <p:nvPr/>
        </p:nvSpPr>
        <p:spPr>
          <a:xfrm>
            <a:off x="566928"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I</a:t>
            </a:r>
          </a:p>
        </p:txBody>
      </p:sp>
      <p:sp>
        <p:nvSpPr>
          <p:cNvPr id="9" name="TextBox 8"/>
          <p:cNvSpPr txBox="1"/>
          <p:nvPr/>
        </p:nvSpPr>
        <p:spPr>
          <a:xfrm>
            <a:off x="1389888"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 She Is</a:t>
            </a:r>
          </a:p>
        </p:txBody>
      </p:sp>
      <p:sp>
        <p:nvSpPr>
          <p:cNvPr id="10" name="TextBox 9"/>
          <p:cNvSpPr txBox="1"/>
          <p:nvPr/>
        </p:nvSpPr>
        <p:spPr>
          <a:xfrm>
            <a:off x="1389888"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A self-hosted developer assistant that reads, reasons, builds and acts, and lets you design how.</a:t>
            </a:r>
          </a:p>
        </p:txBody>
      </p:sp>
      <p:sp>
        <p:nvSpPr>
          <p:cNvPr id="11" name="TextBox 10"/>
          <p:cNvSpPr txBox="1"/>
          <p:nvPr/>
        </p:nvSpPr>
        <p:spPr>
          <a:xfrm>
            <a:off x="566928"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II</a:t>
            </a:r>
          </a:p>
        </p:txBody>
      </p:sp>
      <p:sp>
        <p:nvSpPr>
          <p:cNvPr id="12" name="TextBox 11"/>
          <p:cNvSpPr txBox="1"/>
          <p:nvPr/>
        </p:nvSpPr>
        <p:spPr>
          <a:xfrm>
            <a:off x="1389888"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How She Works</a:t>
            </a:r>
          </a:p>
        </p:txBody>
      </p:sp>
      <p:sp>
        <p:nvSpPr>
          <p:cNvPr id="13" name="TextBox 12"/>
          <p:cNvSpPr txBox="1"/>
          <p:nvPr/>
        </p:nvSpPr>
        <p:spPr>
          <a:xfrm>
            <a:off x="1389888"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keystroke in the browser to a verified result on disk: the layers, the loop and the verdict.</a:t>
            </a:r>
          </a:p>
        </p:txBody>
      </p:sp>
      <p:sp>
        <p:nvSpPr>
          <p:cNvPr id="14" name="TextBox 13"/>
          <p:cNvSpPr txBox="1"/>
          <p:nvPr/>
        </p:nvSpPr>
        <p:spPr>
          <a:xfrm>
            <a:off x="566928"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III</a:t>
            </a:r>
          </a:p>
        </p:txBody>
      </p:sp>
      <p:sp>
        <p:nvSpPr>
          <p:cNvPr id="15" name="TextBox 14"/>
          <p:cNvSpPr txBox="1"/>
          <p:nvPr/>
        </p:nvSpPr>
        <p:spPr>
          <a:xfrm>
            <a:off x="1389888"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Where You Work With Her</a:t>
            </a:r>
          </a:p>
        </p:txBody>
      </p:sp>
      <p:sp>
        <p:nvSpPr>
          <p:cNvPr id="16" name="TextBox 15"/>
          <p:cNvSpPr txBox="1"/>
          <p:nvPr/>
        </p:nvSpPr>
        <p:spPr>
          <a:xfrm>
            <a:off x="1389888"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chat, the two canvases, the catalog and the dialogs that operate everything else.</a:t>
            </a:r>
          </a:p>
        </p:txBody>
      </p:sp>
      <p:sp>
        <p:nvSpPr>
          <p:cNvPr id="17" name="TextBox 16"/>
          <p:cNvSpPr txBox="1"/>
          <p:nvPr/>
        </p:nvSpPr>
        <p:spPr>
          <a:xfrm>
            <a:off x="566928"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25CD6"/>
                </a:solidFill>
                <a:latin typeface="Palatino Linotype"/>
              </a:rPr>
              <a:t>IV</a:t>
            </a:r>
          </a:p>
        </p:txBody>
      </p:sp>
      <p:sp>
        <p:nvSpPr>
          <p:cNvPr id="18" name="TextBox 17"/>
          <p:cNvSpPr txBox="1"/>
          <p:nvPr/>
        </p:nvSpPr>
        <p:spPr>
          <a:xfrm>
            <a:off x="1389888"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Bestiary</a:t>
            </a:r>
          </a:p>
        </p:txBody>
      </p:sp>
      <p:sp>
        <p:nvSpPr>
          <p:cNvPr id="19" name="TextBox 18"/>
          <p:cNvSpPr txBox="1"/>
          <p:nvPr/>
        </p:nvSpPr>
        <p:spPr>
          <a:xfrm>
            <a:off x="1389888"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89 agent types in twelve families. Each is a plain-Python program you can read, audit and change.</a:t>
            </a:r>
          </a:p>
        </p:txBody>
      </p:sp>
      <p:sp>
        <p:nvSpPr>
          <p:cNvPr id="20" name="TextBox 19"/>
          <p:cNvSpPr txBox="1"/>
          <p:nvPr/>
        </p:nvSpPr>
        <p:spPr>
          <a:xfrm>
            <a:off x="566928"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46D2E2"/>
                </a:solidFill>
                <a:latin typeface="Palatino Linotype"/>
              </a:rPr>
              <a:t>V</a:t>
            </a:r>
          </a:p>
        </p:txBody>
      </p:sp>
      <p:sp>
        <p:nvSpPr>
          <p:cNvPr id="21" name="TextBox 20"/>
          <p:cNvSpPr txBox="1"/>
          <p:nvPr/>
        </p:nvSpPr>
        <p:spPr>
          <a:xfrm>
            <a:off x="1389888"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Deep Capabilities</a:t>
            </a:r>
          </a:p>
        </p:txBody>
      </p:sp>
      <p:sp>
        <p:nvSpPr>
          <p:cNvPr id="22" name="TextBox 21"/>
          <p:cNvSpPr txBox="1"/>
          <p:nvPr/>
        </p:nvSpPr>
        <p:spPr>
          <a:xfrm>
            <a:off x="1389888" y="576072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subsystems that give her reach: other agents, other servers, documents, boards, engines and senses.</a:t>
            </a:r>
          </a:p>
        </p:txBody>
      </p:sp>
      <p:sp>
        <p:nvSpPr>
          <p:cNvPr id="23" name="TextBox 22"/>
          <p:cNvSpPr txBox="1"/>
          <p:nvPr/>
        </p:nvSpPr>
        <p:spPr>
          <a:xfrm>
            <a:off x="6278727"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9576B"/>
                </a:solidFill>
                <a:latin typeface="Palatino Linotype"/>
              </a:rPr>
              <a:t>VI</a:t>
            </a:r>
          </a:p>
        </p:txBody>
      </p:sp>
      <p:sp>
        <p:nvSpPr>
          <p:cNvPr id="24" name="TextBox 23"/>
          <p:cNvSpPr txBox="1"/>
          <p:nvPr/>
        </p:nvSpPr>
        <p:spPr>
          <a:xfrm>
            <a:off x="7101687"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Promises She Keeps</a:t>
            </a:r>
          </a:p>
        </p:txBody>
      </p:sp>
      <p:sp>
        <p:nvSpPr>
          <p:cNvPr id="25" name="TextBox 24"/>
          <p:cNvSpPr txBox="1"/>
          <p:nvPr/>
        </p:nvSpPr>
        <p:spPr>
          <a:xfrm>
            <a:off x="7101687"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Honesty, consent, safety and control, written into the code rather than into a brochure.</a:t>
            </a:r>
          </a:p>
        </p:txBody>
      </p:sp>
      <p:sp>
        <p:nvSpPr>
          <p:cNvPr id="26" name="TextBox 25"/>
          <p:cNvSpPr txBox="1"/>
          <p:nvPr/>
        </p:nvSpPr>
        <p:spPr>
          <a:xfrm>
            <a:off x="6278727"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VII</a:t>
            </a:r>
          </a:p>
        </p:txBody>
      </p:sp>
      <p:sp>
        <p:nvSpPr>
          <p:cNvPr id="27" name="TextBox 26"/>
          <p:cNvSpPr txBox="1"/>
          <p:nvPr/>
        </p:nvSpPr>
        <p:spPr>
          <a:xfrm>
            <a:off x="7101687"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 Configure, Run</a:t>
            </a:r>
          </a:p>
        </p:txBody>
      </p:sp>
      <p:sp>
        <p:nvSpPr>
          <p:cNvPr id="28" name="TextBox 27"/>
          <p:cNvSpPr txBox="1"/>
          <p:nvPr/>
        </p:nvSpPr>
        <p:spPr>
          <a:xfrm>
            <a:off x="7101687"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fresh Windows machine to a working assistant, and from source to a signed-off release.</a:t>
            </a:r>
          </a:p>
        </p:txBody>
      </p:sp>
      <p:sp>
        <p:nvSpPr>
          <p:cNvPr id="29" name="TextBox 28"/>
          <p:cNvSpPr txBox="1"/>
          <p:nvPr/>
        </p:nvSpPr>
        <p:spPr>
          <a:xfrm>
            <a:off x="6278727"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VIII</a:t>
            </a:r>
          </a:p>
        </p:txBody>
      </p:sp>
      <p:sp>
        <p:nvSpPr>
          <p:cNvPr id="30" name="TextBox 29"/>
          <p:cNvSpPr txBox="1"/>
          <p:nvPr/>
        </p:nvSpPr>
        <p:spPr>
          <a:xfrm>
            <a:off x="7101687"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Version and Release Status</a:t>
            </a:r>
          </a:p>
        </p:txBody>
      </p:sp>
      <p:sp>
        <p:nvSpPr>
          <p:cNvPr id="31" name="TextBox 30"/>
          <p:cNvSpPr txBox="1"/>
          <p:nvPr/>
        </p:nvSpPr>
        <p:spPr>
          <a:xfrm>
            <a:off x="7101687" y="4114800"/>
            <a:ext cx="4477359" cy="402336"/>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Version v1.78.0, the current release, published on GitHub.</a:t>
            </a:r>
          </a:p>
        </p:txBody>
      </p:sp>
      <p:sp>
        <p:nvSpPr>
          <p:cNvPr id="32" name="TextBox 31"/>
          <p:cNvSpPr txBox="1"/>
          <p:nvPr/>
        </p:nvSpPr>
        <p:spPr>
          <a:xfrm>
            <a:off x="6278727"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IX</a:t>
            </a:r>
          </a:p>
        </p:txBody>
      </p:sp>
      <p:sp>
        <p:nvSpPr>
          <p:cNvPr id="33" name="TextBox 32"/>
          <p:cNvSpPr txBox="1"/>
          <p:nvPr/>
        </p:nvSpPr>
        <p:spPr>
          <a:xfrm>
            <a:off x="7101687"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Repository Facts</a:t>
            </a:r>
          </a:p>
        </p:txBody>
      </p:sp>
      <p:sp>
        <p:nvSpPr>
          <p:cNvPr id="34" name="TextBox 33"/>
          <p:cNvSpPr txBox="1"/>
          <p:nvPr/>
        </p:nvSpPr>
        <p:spPr>
          <a:xfrm>
            <a:off x="7101687"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source tree measured: files, languages, effective lines, the largest files and recent history.</a:t>
            </a:r>
          </a:p>
        </p:txBody>
      </p:sp>
      <p:sp>
        <p:nvSpPr>
          <p:cNvPr id="35" name="TextBox 34"/>
          <p:cNvSpPr txBox="1"/>
          <p:nvPr/>
        </p:nvSpPr>
        <p:spPr>
          <a:xfrm>
            <a:off x="6278727"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A</a:t>
            </a:r>
          </a:p>
        </p:txBody>
      </p:sp>
      <p:sp>
        <p:nvSpPr>
          <p:cNvPr id="36" name="TextBox 35"/>
          <p:cNvSpPr txBox="1"/>
          <p:nvPr/>
        </p:nvSpPr>
        <p:spPr>
          <a:xfrm>
            <a:off x="7101687"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complete tracked file tree</a:t>
            </a:r>
          </a:p>
        </p:txBody>
      </p:sp>
      <p:sp>
        <p:nvSpPr>
          <p:cNvPr id="37" name="TextBox 36"/>
          <p:cNvSpPr txBox="1"/>
          <p:nvPr/>
        </p:nvSpPr>
        <p:spPr>
          <a:xfrm>
            <a:off x="7101687" y="5760720"/>
            <a:ext cx="4477359" cy="402336"/>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Every file Git tracks, drawn as a tree.</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CONTENTS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Who She Is</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A self-hosted developer assistant that reads, reasons, builds and acts, and lets you design how.</a:t>
            </a:r>
          </a:p>
        </p:txBody>
      </p:sp>
      <p:sp>
        <p:nvSpPr>
          <p:cNvPr id="8" name="Diamond 7"/>
          <p:cNvSpPr/>
          <p:nvPr/>
        </p:nvSpPr>
        <p:spPr>
          <a:xfrm>
            <a:off x="82296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Tlamatini, the one who knows</a:t>
            </a:r>
          </a:p>
        </p:txBody>
      </p:sp>
      <p:sp>
        <p:nvSpPr>
          <p:cNvPr id="10" name="Diamond 9"/>
          <p:cNvSpPr/>
          <p:nvPr/>
        </p:nvSpPr>
        <p:spPr>
          <a:xfrm>
            <a:off x="82296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Local control, cloud reasoning</a:t>
            </a:r>
          </a:p>
        </p:txBody>
      </p:sp>
      <p:sp>
        <p:nvSpPr>
          <p:cNvPr id="12" name="Diamond 11"/>
          <p:cNvSpPr/>
          <p:nvPr/>
        </p:nvSpPr>
        <p:spPr>
          <a:xfrm>
            <a:off x="822960" y="588873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Seven subsystems, one assistant</a:t>
            </a:r>
          </a:p>
        </p:txBody>
      </p:sp>
      <p:sp>
        <p:nvSpPr>
          <p:cNvPr id="14" name="Diamond 13"/>
          <p:cNvSpPr/>
          <p:nvPr/>
        </p:nvSpPr>
        <p:spPr>
          <a:xfrm>
            <a:off x="420624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jewels</a:t>
            </a:r>
          </a:p>
        </p:txBody>
      </p:sp>
      <p:sp>
        <p:nvSpPr>
          <p:cNvPr id="16" name="Diamond 15"/>
          <p:cNvSpPr/>
          <p:nvPr/>
        </p:nvSpPr>
        <p:spPr>
          <a:xfrm>
            <a:off x="420624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numbers, derived from source</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640080" y="960120"/>
            <a:ext cx="3840480" cy="3840480"/>
          </a:xfrm>
          <a:prstGeom prst="rect">
            <a:avLst/>
          </a:prstGeom>
        </p:spPr>
      </p:pic>
      <p:sp>
        <p:nvSpPr>
          <p:cNvPr id="4" name="TextBox 3"/>
          <p:cNvSpPr txBox="1"/>
          <p:nvPr/>
        </p:nvSpPr>
        <p:spPr>
          <a:xfrm>
            <a:off x="640080" y="4892040"/>
            <a:ext cx="3840480" cy="457200"/>
          </a:xfrm>
          <a:prstGeom prst="rect">
            <a:avLst/>
          </a:prstGeom>
          <a:noFill/>
        </p:spPr>
        <p:txBody>
          <a:bodyPr wrap="square" lIns="45720" rIns="45720" tIns="27432" bIns="27432" anchor="t">
            <a:noAutofit/>
          </a:bodyPr>
          <a:lstStyle/>
          <a:p>
            <a:pPr algn="ctr">
              <a:lnSpc>
                <a:spcPct val="100000"/>
              </a:lnSpc>
            </a:pPr>
            <a:r>
              <a:rPr sz="2000" b="0" i="1">
                <a:solidFill>
                  <a:srgbClr val="3BBE93"/>
                </a:solidFill>
                <a:latin typeface="Palatino Linotype"/>
              </a:rPr>
              <a:t>“one who knows”</a:t>
            </a:r>
          </a:p>
        </p:txBody>
      </p:sp>
      <p:sp>
        <p:nvSpPr>
          <p:cNvPr id="5" name="TextBox 4"/>
          <p:cNvSpPr txBox="1"/>
          <p:nvPr/>
        </p:nvSpPr>
        <p:spPr>
          <a:xfrm>
            <a:off x="640080" y="5376672"/>
            <a:ext cx="3840480" cy="329184"/>
          </a:xfrm>
          <a:prstGeom prst="rect">
            <a:avLst/>
          </a:prstGeom>
          <a:noFill/>
        </p:spPr>
        <p:txBody>
          <a:bodyPr wrap="square" lIns="45720" rIns="45720" tIns="27432" bIns="27432" anchor="t">
            <a:noAutofit/>
          </a:bodyPr>
          <a:lstStyle/>
          <a:p>
            <a:pPr algn="ctr">
              <a:lnSpc>
                <a:spcPct val="100000"/>
              </a:lnSpc>
            </a:pPr>
            <a:r>
              <a:rPr sz="1100" b="0" i="0" spc="300">
                <a:solidFill>
                  <a:srgbClr val="C98457"/>
                </a:solidFill>
                <a:latin typeface="Segoe UI Semibold"/>
              </a:rPr>
              <a:t>NAHUATL</a:t>
            </a:r>
          </a:p>
        </p:txBody>
      </p:sp>
      <p:sp>
        <p:nvSpPr>
          <p:cNvPr id="6" name="TextBox 5"/>
          <p:cNvSpPr txBox="1"/>
          <p:nvPr/>
        </p:nvSpPr>
        <p:spPr>
          <a:xfrm>
            <a:off x="4983480" y="438912"/>
            <a:ext cx="6583680" cy="274320"/>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IDENTITY</a:t>
            </a:r>
          </a:p>
        </p:txBody>
      </p:sp>
      <p:sp>
        <p:nvSpPr>
          <p:cNvPr id="7" name="TextBox 6"/>
          <p:cNvSpPr txBox="1"/>
          <p:nvPr/>
        </p:nvSpPr>
        <p:spPr>
          <a:xfrm>
            <a:off x="4956048" y="713232"/>
            <a:ext cx="6675120" cy="731520"/>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Tlamatini, the one who knows</a:t>
            </a:r>
          </a:p>
        </p:txBody>
      </p:sp>
      <p:sp>
        <p:nvSpPr>
          <p:cNvPr id="8" name="TextBox 7"/>
          <p:cNvSpPr txBox="1"/>
          <p:nvPr/>
        </p:nvSpPr>
        <p:spPr>
          <a:xfrm>
            <a:off x="4983480" y="1481328"/>
            <a:ext cx="6583680" cy="1261872"/>
          </a:xfrm>
          <a:prstGeom prst="rect">
            <a:avLst/>
          </a:prstGeom>
          <a:noFill/>
        </p:spPr>
        <p:txBody>
          <a:bodyPr wrap="square" lIns="45720" rIns="45720" tIns="27432" bIns="27432" anchor="t">
            <a:noAutofit/>
          </a:bodyPr>
          <a:lstStyle/>
          <a:p>
            <a:pPr algn="l">
              <a:lnSpc>
                <a:spcPct val="100000"/>
              </a:lnSpc>
            </a:pPr>
            <a:r>
              <a:rPr sz="1500" b="0" i="0">
                <a:solidFill>
                  <a:srgbClr val="ECE7DC"/>
                </a:solidFill>
                <a:latin typeface="Segoe UI Semilight"/>
              </a:rPr>
              <a:t>Tlamatini is a self-hosted AI developer assistant for Windows 10 and 11: a Django application that converses, retrieves, plans, runs agents, and lets you draw whole agent workflows on a canvas.</a:t>
            </a:r>
          </a:p>
        </p:txBody>
      </p:sp>
      <p:sp>
        <p:nvSpPr>
          <p:cNvPr id="9" name="Rounded Rectangle 8"/>
          <p:cNvSpPr/>
          <p:nvPr/>
        </p:nvSpPr>
        <p:spPr>
          <a:xfrm>
            <a:off x="4983480" y="2907792"/>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184648" y="2962656"/>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3BBE93"/>
                </a:solidFill>
                <a:latin typeface="Segoe UI Semibold"/>
              </a:rPr>
              <a:t>CREATOR</a:t>
            </a:r>
          </a:p>
        </p:txBody>
      </p:sp>
      <p:sp>
        <p:nvSpPr>
          <p:cNvPr id="11" name="TextBox 10"/>
          <p:cNvSpPr txBox="1"/>
          <p:nvPr/>
        </p:nvSpPr>
        <p:spPr>
          <a:xfrm>
            <a:off x="6812280" y="2962656"/>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Angela López Mendoza · @angelahack1</a:t>
            </a:r>
          </a:p>
        </p:txBody>
      </p:sp>
      <p:sp>
        <p:nvSpPr>
          <p:cNvPr id="12" name="Rounded Rectangle 11"/>
          <p:cNvSpPr/>
          <p:nvPr/>
        </p:nvSpPr>
        <p:spPr>
          <a:xfrm>
            <a:off x="4983480" y="3675888"/>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184648" y="3730752"/>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C98457"/>
                </a:solidFill>
                <a:latin typeface="Segoe UI Semibold"/>
              </a:rPr>
              <a:t>BORN</a:t>
            </a:r>
          </a:p>
        </p:txBody>
      </p:sp>
      <p:sp>
        <p:nvSpPr>
          <p:cNvPr id="14" name="TextBox 13"/>
          <p:cNvSpPr txBox="1"/>
          <p:nvPr/>
        </p:nvSpPr>
        <p:spPr>
          <a:xfrm>
            <a:off x="6812280" y="3730752"/>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October 29, 2025</a:t>
            </a:r>
          </a:p>
        </p:txBody>
      </p:sp>
      <p:sp>
        <p:nvSpPr>
          <p:cNvPr id="15" name="Rounded Rectangle 14"/>
          <p:cNvSpPr/>
          <p:nvPr/>
        </p:nvSpPr>
        <p:spPr>
          <a:xfrm>
            <a:off x="4983480" y="4443984"/>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84648" y="4498848"/>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PLATFORM</a:t>
            </a:r>
          </a:p>
        </p:txBody>
      </p:sp>
      <p:sp>
        <p:nvSpPr>
          <p:cNvPr id="17" name="TextBox 16"/>
          <p:cNvSpPr txBox="1"/>
          <p:nvPr/>
        </p:nvSpPr>
        <p:spPr>
          <a:xfrm>
            <a:off x="6812280" y="4498848"/>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Windows 10 and 11 · Python 3.12.10 · Django 5.2.15</a:t>
            </a:r>
          </a:p>
        </p:txBody>
      </p:sp>
      <p:sp>
        <p:nvSpPr>
          <p:cNvPr id="18" name="Rounded Rectangle 17"/>
          <p:cNvSpPr/>
          <p:nvPr/>
        </p:nvSpPr>
        <p:spPr>
          <a:xfrm>
            <a:off x="4983480" y="5212080"/>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84648" y="5266944"/>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46D2E2"/>
                </a:solidFill>
                <a:latin typeface="Segoe UI Semibold"/>
              </a:rPr>
              <a:t>LICENSE</a:t>
            </a:r>
          </a:p>
        </p:txBody>
      </p:sp>
      <p:sp>
        <p:nvSpPr>
          <p:cNvPr id="20" name="TextBox 19"/>
          <p:cNvSpPr txBox="1"/>
          <p:nvPr/>
        </p:nvSpPr>
        <p:spPr>
          <a:xfrm>
            <a:off x="6812280" y="5266944"/>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MIT: free and open source</a:t>
            </a:r>
          </a:p>
        </p:txBody>
      </p:sp>
      <p:cxnSp>
        <p:nvCxnSpPr>
          <p:cNvPr id="21" name="Connector 2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3" name="TextBox 2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WHERE THINGS RUN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Local control, cloud reasoning</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“Local-first” describes where control lives: the application, database, workflows, credentials, agent code and the small embedding model stay on your machine, while the demanding reasoning is done by cloud models reached through Ollama.</a:t>
            </a:r>
          </a:p>
        </p:txBody>
      </p:sp>
      <p:sp>
        <p:nvSpPr>
          <p:cNvPr id="8" name="Rounded Rectangle 7"/>
          <p:cNvSpPr/>
          <p:nvPr/>
        </p:nvSpPr>
        <p:spPr>
          <a:xfrm>
            <a:off x="566928" y="2084831"/>
            <a:ext cx="3350666" cy="3703320"/>
          </a:xfrm>
          <a:prstGeom prst="roundRect">
            <a:avLst>
              <a:gd name="adj" fmla="val 3820"/>
            </a:avLst>
          </a:prstGeom>
          <a:solidFill>
            <a:srgbClr val="121A1D"/>
          </a:solidFill>
          <a:ln w="1587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3350666" cy="566928"/>
          </a:xfrm>
          <a:prstGeom prst="roundRect">
            <a:avLst>
              <a:gd name="adj" fmla="val 22580"/>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49808"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control plane</a:t>
            </a:r>
          </a:p>
        </p:txBody>
      </p:sp>
      <p:sp>
        <p:nvSpPr>
          <p:cNvPr id="11" name="TextBox 10"/>
          <p:cNvSpPr txBox="1"/>
          <p:nvPr/>
        </p:nvSpPr>
        <p:spPr>
          <a:xfrm>
            <a:off x="795528"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Django, Channels and Daphne</a:t>
            </a:r>
          </a:p>
          <a:p>
            <a:pPr algn="l">
              <a:lnSpc>
                <a:spcPct val="100000"/>
              </a:lnSpc>
              <a:spcBef>
                <a:spcPts val="900"/>
              </a:spcBef>
            </a:pPr>
            <a:r>
              <a:rPr sz="1450" b="0" i="0">
                <a:solidFill>
                  <a:srgbClr val="ECE7DC"/>
                </a:solidFill>
                <a:latin typeface="Segoe UI"/>
              </a:rPr>
              <a:t>▪  Chat, canvases and dialogs</a:t>
            </a:r>
          </a:p>
          <a:p>
            <a:pPr algn="l">
              <a:lnSpc>
                <a:spcPct val="100000"/>
              </a:lnSpc>
              <a:spcBef>
                <a:spcPts val="900"/>
              </a:spcBef>
            </a:pPr>
            <a:r>
              <a:rPr sz="1450" b="0" i="0">
                <a:solidFill>
                  <a:srgbClr val="ECE7DC"/>
                </a:solidFill>
                <a:latin typeface="Segoe UI"/>
              </a:rPr>
              <a:t>▪  SQLite database and settings</a:t>
            </a:r>
          </a:p>
          <a:p>
            <a:pPr algn="l">
              <a:lnSpc>
                <a:spcPct val="100000"/>
              </a:lnSpc>
              <a:spcBef>
                <a:spcPts val="900"/>
              </a:spcBef>
            </a:pPr>
            <a:r>
              <a:rPr sz="1450" b="0" i="0">
                <a:solidFill>
                  <a:srgbClr val="ECE7DC"/>
                </a:solidFill>
                <a:latin typeface="Segoe UI"/>
              </a:rPr>
              <a:t>▪  Agent programs and permissions</a:t>
            </a:r>
          </a:p>
        </p:txBody>
      </p:sp>
      <p:sp>
        <p:nvSpPr>
          <p:cNvPr id="12" name="TextBox 11"/>
          <p:cNvSpPr txBox="1"/>
          <p:nvPr/>
        </p:nvSpPr>
        <p:spPr>
          <a:xfrm>
            <a:off x="566928"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3BBE93"/>
                </a:solidFill>
                <a:latin typeface="Segoe UI Semibold"/>
              </a:rPr>
              <a:t>YOUR MACHINE</a:t>
            </a:r>
          </a:p>
        </p:txBody>
      </p:sp>
      <p:cxnSp>
        <p:nvCxnSpPr>
          <p:cNvPr id="13" name="Connector 12"/>
          <p:cNvCxnSpPr/>
          <p:nvPr/>
        </p:nvCxnSpPr>
        <p:spPr>
          <a:xfrm>
            <a:off x="3990746"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3990746"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420514" y="2084831"/>
            <a:ext cx="3350666" cy="3703320"/>
          </a:xfrm>
          <a:prstGeom prst="roundRect">
            <a:avLst>
              <a:gd name="adj" fmla="val 3820"/>
            </a:avLst>
          </a:prstGeom>
          <a:solidFill>
            <a:srgbClr val="121A1D"/>
          </a:solidFill>
          <a:ln w="1587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420514" y="2084831"/>
            <a:ext cx="3350666" cy="566928"/>
          </a:xfrm>
          <a:prstGeom prst="roundRect">
            <a:avLst>
              <a:gd name="adj" fmla="val 22580"/>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03394"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retrieval</a:t>
            </a:r>
          </a:p>
        </p:txBody>
      </p:sp>
      <p:sp>
        <p:nvSpPr>
          <p:cNvPr id="18" name="TextBox 17"/>
          <p:cNvSpPr txBox="1"/>
          <p:nvPr/>
        </p:nvSpPr>
        <p:spPr>
          <a:xfrm>
            <a:off x="4649114"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nomic-embed-text embeddings</a:t>
            </a:r>
          </a:p>
          <a:p>
            <a:pPr algn="l">
              <a:lnSpc>
                <a:spcPct val="100000"/>
              </a:lnSpc>
              <a:spcBef>
                <a:spcPts val="900"/>
              </a:spcBef>
            </a:pPr>
            <a:r>
              <a:rPr sz="1450" b="0" i="0">
                <a:solidFill>
                  <a:srgbClr val="ECE7DC"/>
                </a:solidFill>
                <a:latin typeface="Segoe UI"/>
              </a:rPr>
              <a:t>▪  FAISS vectors and BM25</a:t>
            </a:r>
          </a:p>
          <a:p>
            <a:pPr algn="l">
              <a:lnSpc>
                <a:spcPct val="100000"/>
              </a:lnSpc>
              <a:spcBef>
                <a:spcPts val="900"/>
              </a:spcBef>
            </a:pPr>
            <a:r>
              <a:rPr sz="1450" b="0" i="0">
                <a:solidFill>
                  <a:srgbClr val="ECE7DC"/>
                </a:solidFill>
                <a:latin typeface="Segoe UI"/>
              </a:rPr>
              <a:t>▪  Context budgeting</a:t>
            </a:r>
          </a:p>
          <a:p>
            <a:pPr algn="l">
              <a:lnSpc>
                <a:spcPct val="100000"/>
              </a:lnSpc>
              <a:spcBef>
                <a:spcPts val="900"/>
              </a:spcBef>
            </a:pPr>
            <a:r>
              <a:rPr sz="1450" b="0" i="0">
                <a:solidFill>
                  <a:srgbClr val="ECE7DC"/>
                </a:solidFill>
                <a:latin typeface="Segoe UI"/>
              </a:rPr>
              <a:t>▪  Binary-content guard</a:t>
            </a:r>
          </a:p>
        </p:txBody>
      </p:sp>
      <p:sp>
        <p:nvSpPr>
          <p:cNvPr id="19" name="TextBox 18"/>
          <p:cNvSpPr txBox="1"/>
          <p:nvPr/>
        </p:nvSpPr>
        <p:spPr>
          <a:xfrm>
            <a:off x="4420514"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E2B462"/>
                </a:solidFill>
                <a:latin typeface="Segoe UI Semibold"/>
              </a:rPr>
              <a:t>YOUR MACHINE</a:t>
            </a:r>
          </a:p>
        </p:txBody>
      </p:sp>
      <p:cxnSp>
        <p:nvCxnSpPr>
          <p:cNvPr id="20" name="Connector 19"/>
          <p:cNvCxnSpPr/>
          <p:nvPr/>
        </p:nvCxnSpPr>
        <p:spPr>
          <a:xfrm>
            <a:off x="7844332"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7844332"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274100" y="2084831"/>
            <a:ext cx="3350666" cy="3703320"/>
          </a:xfrm>
          <a:prstGeom prst="roundRect">
            <a:avLst>
              <a:gd name="adj" fmla="val 3820"/>
            </a:avLst>
          </a:prstGeom>
          <a:solidFill>
            <a:srgbClr val="121A1D"/>
          </a:solidFill>
          <a:ln w="1587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8274100" y="2084831"/>
            <a:ext cx="3350666" cy="566928"/>
          </a:xfrm>
          <a:prstGeom prst="roundRect">
            <a:avLst>
              <a:gd name="adj" fmla="val 22580"/>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456980"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Cloud reasoning</a:t>
            </a:r>
          </a:p>
        </p:txBody>
      </p:sp>
      <p:sp>
        <p:nvSpPr>
          <p:cNvPr id="25" name="TextBox 24"/>
          <p:cNvSpPr txBox="1"/>
          <p:nvPr/>
        </p:nvSpPr>
        <p:spPr>
          <a:xfrm>
            <a:off x="8502700"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Chat and tool calling</a:t>
            </a:r>
          </a:p>
          <a:p>
            <a:pPr algn="l">
              <a:lnSpc>
                <a:spcPct val="100000"/>
              </a:lnSpc>
              <a:spcBef>
                <a:spcPts val="900"/>
              </a:spcBef>
            </a:pPr>
            <a:r>
              <a:rPr sz="1450" b="0" i="0">
                <a:solidFill>
                  <a:srgbClr val="ECE7DC"/>
                </a:solidFill>
                <a:latin typeface="Segoe UI"/>
              </a:rPr>
              <a:t>▪  Long context</a:t>
            </a:r>
          </a:p>
          <a:p>
            <a:pPr algn="l">
              <a:lnSpc>
                <a:spcPct val="100000"/>
              </a:lnSpc>
              <a:spcBef>
                <a:spcPts val="900"/>
              </a:spcBef>
            </a:pPr>
            <a:r>
              <a:rPr sz="1450" b="0" i="0">
                <a:solidFill>
                  <a:srgbClr val="ECE7DC"/>
                </a:solidFill>
                <a:latin typeface="Segoe UI"/>
              </a:rPr>
              <a:t>▪  Vision observers and mergers</a:t>
            </a:r>
          </a:p>
          <a:p>
            <a:pPr algn="l">
              <a:lnSpc>
                <a:spcPct val="100000"/>
              </a:lnSpc>
              <a:spcBef>
                <a:spcPts val="900"/>
              </a:spcBef>
            </a:pPr>
            <a:r>
              <a:rPr sz="1450" b="0" i="0">
                <a:solidFill>
                  <a:srgbClr val="ECE7DC"/>
                </a:solidFill>
                <a:latin typeface="Segoe UI"/>
              </a:rPr>
              <a:t>▪  Multi-Turn planning</a:t>
            </a:r>
          </a:p>
        </p:txBody>
      </p:sp>
      <p:sp>
        <p:nvSpPr>
          <p:cNvPr id="26" name="TextBox 25"/>
          <p:cNvSpPr txBox="1"/>
          <p:nvPr/>
        </p:nvSpPr>
        <p:spPr>
          <a:xfrm>
            <a:off x="8274100"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C98457"/>
                </a:solidFill>
                <a:latin typeface="Segoe UI Semibold"/>
              </a:rPr>
              <a:t>OLLAMA CLOUD</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PILLARS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Seven subsystems, one assistant</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Everything Tlamatini does rests on seven cooperating subsystems.</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Hybrid RAG</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FAISS vectors, BM25 keywords, metadata extraction, context budgeting and a binary-content guard keep answers grounded in your real project.</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Multi-Turn</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A planner and a tool loop of up to 4,096 iterations over the full enabled surface of 109 built-in tools, self-healing steps and Compact mode for small models.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Agentic Control Panel</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drag-and-drop agent types wired into runnable, savable </a:t>
            </a:r>
            <a:r>
              <a:rPr sz="1200" b="0" i="0">
                <a:solidFill>
                  <a:srgbClr val="E2B462"/>
                </a:solidFill>
                <a:latin typeface="Consolas"/>
              </a:rPr>
              <a:t>.flw</a:t>
            </a:r>
            <a:r>
              <a:rPr sz="1300" b="0" i="0">
                <a:solidFill>
                  <a:srgbClr val="A7B2B0"/>
                </a:solidFill>
                <a:latin typeface="Segoe UI"/>
              </a:rPr>
              <a:t> workflows.</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New in v1.70.0: prompts, decisions and embeddings drawn as a diagram, saved as </a:t>
            </a:r>
            <a:r>
              <a:rPr sz="1200" b="0" i="0">
                <a:solidFill>
                  <a:srgbClr val="E2B462"/>
                </a:solidFill>
                <a:latin typeface="Consolas"/>
              </a:rPr>
              <a:t>.fpmt</a:t>
            </a:r>
            <a:r>
              <a:rPr sz="1300" b="0" i="0">
                <a:solidFill>
                  <a:srgbClr val="A7B2B0"/>
                </a:solidFill>
                <a:latin typeface="Segoe UI"/>
              </a:rPr>
              <a:t>, and played against your models.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 external coding-agent CLIs, from Claude Code to Codex and Gemini, spawned as children and brokered through 12 tools.</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MCPs</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universal client for any MCP server over four transports, with up to five servers active at once.</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Skills</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29 </a:t>
            </a:r>
            <a:r>
              <a:rPr sz="1200" b="0" i="0">
                <a:solidFill>
                  <a:srgbClr val="E2B462"/>
                </a:solidFill>
                <a:latin typeface="Consolas"/>
              </a:rPr>
              <a:t>SKILL.md</a:t>
            </a:r>
            <a:r>
              <a:rPr sz="1300" b="0" i="0">
                <a:solidFill>
                  <a:srgbClr val="A7B2B0"/>
                </a:solidFill>
                <a:latin typeface="Segoe UI"/>
              </a:rPr>
              <a:t> runbooks, from code review to MCP onboarding, handed to the model as complete procedures.</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WHAT SETS HER APART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jewels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Coding assistants edit text files. Tlamatini does that too, then reaches into engines, boards and networks, and lets you wire all of it together visually.</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Visual workflow design</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agent types on a canvas you connect, validate, run, pause and save.</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 Engine</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Drive a live UE5 editor from chat or canvas: actors, Blueprints, levels, assets and materials.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Scenes, objects, materials, renders and raw bpy code over the official add-on socket.</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firmware</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Scaffold, build and flash STM32, ESP32, Arduino and ESPHome boards behind fail-safe preflights.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Whole projects</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Find, read, edit and rebuild entire codebases with grounded retrieval.</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Any MCP server</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client for the MCP ecosystem: stdio, streamable HTTP, SSE and WebSocket.</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Security assessment</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Authorized Kali, ProjectDiscovery and nmap work, driven from chat.</a:t>
            </a:r>
          </a:p>
        </p:txBody>
      </p:sp>
      <p:sp>
        <p:nvSpPr>
          <p:cNvPr id="36" name="Rounded Rectangle 35"/>
          <p:cNvSpPr/>
          <p:nvPr/>
        </p:nvSpPr>
        <p:spPr>
          <a:xfrm>
            <a:off x="9011183"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75775" y="4370832"/>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39199"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Blue-hat defence</a:t>
            </a:r>
          </a:p>
        </p:txBody>
      </p:sp>
      <p:sp>
        <p:nvSpPr>
          <p:cNvPr id="39" name="TextBox 38"/>
          <p:cNvSpPr txBox="1"/>
          <p:nvPr/>
        </p:nvSpPr>
        <p:spPr>
          <a:xfrm>
            <a:off x="9139199"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administrator-run Windows monitoring and response toolkit.</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AT A GLANCE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numbers, derived from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figure below was counted from the repository while this dossier was generated.</a:t>
            </a:r>
          </a:p>
        </p:txBody>
      </p:sp>
      <p:sp>
        <p:nvSpPr>
          <p:cNvPr id="8" name="Rounded Rectangle 7"/>
          <p:cNvSpPr/>
          <p:nvPr/>
        </p:nvSpPr>
        <p:spPr>
          <a:xfrm>
            <a:off x="566928"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22960" y="2404871"/>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8096"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89</a:t>
            </a:r>
          </a:p>
        </p:txBody>
      </p:sp>
      <p:sp>
        <p:nvSpPr>
          <p:cNvPr id="11" name="TextBox 10"/>
          <p:cNvSpPr txBox="1"/>
          <p:nvPr/>
        </p:nvSpPr>
        <p:spPr>
          <a:xfrm>
            <a:off x="786384"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AGENT TYPES</a:t>
            </a:r>
          </a:p>
        </p:txBody>
      </p:sp>
      <p:sp>
        <p:nvSpPr>
          <p:cNvPr id="12" name="Rounded Rectangle 11"/>
          <p:cNvSpPr/>
          <p:nvPr/>
        </p:nvSpPr>
        <p:spPr>
          <a:xfrm>
            <a:off x="3390823"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646855" y="2404871"/>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91991"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109</a:t>
            </a:r>
          </a:p>
        </p:txBody>
      </p:sp>
      <p:sp>
        <p:nvSpPr>
          <p:cNvPr id="15" name="TextBox 14"/>
          <p:cNvSpPr txBox="1"/>
          <p:nvPr/>
        </p:nvSpPr>
        <p:spPr>
          <a:xfrm>
            <a:off x="3610279"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MULTI-TURN TOOLS</a:t>
            </a:r>
          </a:p>
        </p:txBody>
      </p:sp>
      <p:sp>
        <p:nvSpPr>
          <p:cNvPr id="16" name="Rounded Rectangle 15"/>
          <p:cNvSpPr/>
          <p:nvPr/>
        </p:nvSpPr>
        <p:spPr>
          <a:xfrm>
            <a:off x="6214719"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470751" y="2404871"/>
            <a:ext cx="64008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15887"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67</a:t>
            </a:r>
          </a:p>
        </p:txBody>
      </p:sp>
      <p:sp>
        <p:nvSpPr>
          <p:cNvPr id="19" name="TextBox 18"/>
          <p:cNvSpPr txBox="1"/>
          <p:nvPr/>
        </p:nvSpPr>
        <p:spPr>
          <a:xfrm>
            <a:off x="6434175"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E2B462"/>
                </a:solidFill>
                <a:latin typeface="Segoe UI Semibold"/>
              </a:rPr>
              <a:t>WRAPPED AGENTS</a:t>
            </a:r>
          </a:p>
        </p:txBody>
      </p:sp>
      <p:sp>
        <p:nvSpPr>
          <p:cNvPr id="20" name="Rounded Rectangle 19"/>
          <p:cNvSpPr/>
          <p:nvPr/>
        </p:nvSpPr>
        <p:spPr>
          <a:xfrm>
            <a:off x="9038615"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294647" y="2404871"/>
            <a:ext cx="64008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39783"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29</a:t>
            </a:r>
          </a:p>
        </p:txBody>
      </p:sp>
      <p:sp>
        <p:nvSpPr>
          <p:cNvPr id="23" name="TextBox 22"/>
          <p:cNvSpPr txBox="1"/>
          <p:nvPr/>
        </p:nvSpPr>
        <p:spPr>
          <a:xfrm>
            <a:off x="9258071"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46D2E2"/>
                </a:solidFill>
                <a:latin typeface="Segoe UI Semibold"/>
              </a:rPr>
              <a:t>SKILLS</a:t>
            </a:r>
          </a:p>
        </p:txBody>
      </p:sp>
      <p:sp>
        <p:nvSpPr>
          <p:cNvPr id="24" name="Rounded Rectangle 23"/>
          <p:cNvSpPr/>
          <p:nvPr/>
        </p:nvSpPr>
        <p:spPr>
          <a:xfrm>
            <a:off x="566928"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22960" y="4558284"/>
            <a:ext cx="64008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8096"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14</a:t>
            </a:r>
          </a:p>
        </p:txBody>
      </p:sp>
      <p:sp>
        <p:nvSpPr>
          <p:cNvPr id="27" name="TextBox 26"/>
          <p:cNvSpPr txBox="1"/>
          <p:nvPr/>
        </p:nvSpPr>
        <p:spPr>
          <a:xfrm>
            <a:off x="786384"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25CD6"/>
                </a:solidFill>
                <a:latin typeface="Segoe UI Semibold"/>
              </a:rPr>
              <a:t>ACPX PEERS</a:t>
            </a:r>
          </a:p>
        </p:txBody>
      </p:sp>
      <p:sp>
        <p:nvSpPr>
          <p:cNvPr id="28" name="Rounded Rectangle 27"/>
          <p:cNvSpPr/>
          <p:nvPr/>
        </p:nvSpPr>
        <p:spPr>
          <a:xfrm>
            <a:off x="3390823"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646855" y="4558284"/>
            <a:ext cx="64008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91991"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213</a:t>
            </a:r>
          </a:p>
        </p:txBody>
      </p:sp>
      <p:sp>
        <p:nvSpPr>
          <p:cNvPr id="31" name="TextBox 30"/>
          <p:cNvSpPr txBox="1"/>
          <p:nvPr/>
        </p:nvSpPr>
        <p:spPr>
          <a:xfrm>
            <a:off x="3610279"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9576B"/>
                </a:solidFill>
                <a:latin typeface="Segoe UI Semibold"/>
              </a:rPr>
              <a:t>MIGRATIONS</a:t>
            </a:r>
          </a:p>
        </p:txBody>
      </p:sp>
      <p:sp>
        <p:nvSpPr>
          <p:cNvPr id="32" name="Rounded Rectangle 31"/>
          <p:cNvSpPr/>
          <p:nvPr/>
        </p:nvSpPr>
        <p:spPr>
          <a:xfrm>
            <a:off x="6214719"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470751" y="4558284"/>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15887"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1,688</a:t>
            </a:r>
          </a:p>
        </p:txBody>
      </p:sp>
      <p:sp>
        <p:nvSpPr>
          <p:cNvPr id="35" name="TextBox 34"/>
          <p:cNvSpPr txBox="1"/>
          <p:nvPr/>
        </p:nvSpPr>
        <p:spPr>
          <a:xfrm>
            <a:off x="6434175"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TRACKED FILES</a:t>
            </a:r>
          </a:p>
        </p:txBody>
      </p:sp>
      <p:sp>
        <p:nvSpPr>
          <p:cNvPr id="36" name="Rounded Rectangle 35"/>
          <p:cNvSpPr/>
          <p:nvPr/>
        </p:nvSpPr>
        <p:spPr>
          <a:xfrm>
            <a:off x="9038615"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294647" y="4558284"/>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239783"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439,117</a:t>
            </a:r>
          </a:p>
        </p:txBody>
      </p:sp>
      <p:sp>
        <p:nvSpPr>
          <p:cNvPr id="39" name="TextBox 38"/>
          <p:cNvSpPr txBox="1"/>
          <p:nvPr/>
        </p:nvSpPr>
        <p:spPr>
          <a:xfrm>
            <a:off x="9258071"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EFFECTIVE LINES</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How She Works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keystroke in the browser to a verified result on disk: the layers, the loop and the verdict.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ARCHITECTURE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layers, from toggle to tool</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request passes through five layers, each with one responsibility, between the browser above and the model back-ends below.</a:t>
            </a:r>
          </a:p>
        </p:txBody>
      </p:sp>
      <p:sp>
        <p:nvSpPr>
          <p:cNvPr id="8" name="Rounded Rectangle 7"/>
          <p:cNvSpPr/>
          <p:nvPr/>
        </p:nvSpPr>
        <p:spPr>
          <a:xfrm>
            <a:off x="566928" y="208483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49808" y="208483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BROWSER   </a:t>
            </a:r>
            <a:r>
              <a:rPr sz="1300" b="0" i="0">
                <a:solidFill>
                  <a:srgbClr val="ECE7DC"/>
                </a:solidFill>
                <a:latin typeface="Segoe UI"/>
              </a:rPr>
              <a:t>Chat page  ·  Agentic Control Panel  ·  Prompt Flow Panel  ·  WebSockets</a:t>
            </a:r>
          </a:p>
        </p:txBody>
      </p:sp>
      <p:sp>
        <p:nvSpPr>
          <p:cNvPr id="10" name="Rounded Rectangle 9"/>
          <p:cNvSpPr/>
          <p:nvPr/>
        </p:nvSpPr>
        <p:spPr>
          <a:xfrm>
            <a:off x="566928" y="2542032"/>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566928" y="2542032"/>
            <a:ext cx="566928" cy="566928"/>
          </a:xfrm>
          <a:prstGeom prst="roundRect">
            <a:avLst>
              <a:gd name="adj" fmla="val 12903"/>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66928" y="2542032"/>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1</a:t>
            </a:r>
          </a:p>
        </p:txBody>
      </p:sp>
      <p:sp>
        <p:nvSpPr>
          <p:cNvPr id="13" name="TextBox 12"/>
          <p:cNvSpPr txBox="1"/>
          <p:nvPr/>
        </p:nvSpPr>
        <p:spPr>
          <a:xfrm>
            <a:off x="1298448" y="2578608"/>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Persisted toggles</a:t>
            </a:r>
          </a:p>
        </p:txBody>
      </p:sp>
      <p:sp>
        <p:nvSpPr>
          <p:cNvPr id="14" name="TextBox 13"/>
          <p:cNvSpPr txBox="1"/>
          <p:nvPr/>
        </p:nvSpPr>
        <p:spPr>
          <a:xfrm>
            <a:off x="4224528" y="2578608"/>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Mcp, Tool, Agent and Skill rows decide what is enabled; the Configure dialogs flip them.</a:t>
            </a:r>
          </a:p>
        </p:txBody>
      </p:sp>
      <p:sp>
        <p:nvSpPr>
          <p:cNvPr id="15" name="Rounded Rectangle 14"/>
          <p:cNvSpPr/>
          <p:nvPr/>
        </p:nvSpPr>
        <p:spPr>
          <a:xfrm>
            <a:off x="566928" y="3200400"/>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566928" y="3200400"/>
            <a:ext cx="566928" cy="566928"/>
          </a:xfrm>
          <a:prstGeom prst="roundRect">
            <a:avLst>
              <a:gd name="adj" fmla="val 12903"/>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66928" y="3200400"/>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2</a:t>
            </a:r>
          </a:p>
        </p:txBody>
      </p:sp>
      <p:sp>
        <p:nvSpPr>
          <p:cNvPr id="18" name="TextBox 17"/>
          <p:cNvSpPr txBox="1"/>
          <p:nvPr/>
        </p:nvSpPr>
        <p:spPr>
          <a:xfrm>
            <a:off x="1298448" y="3236976"/>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Runtime MCP services</a:t>
            </a:r>
          </a:p>
        </p:txBody>
      </p:sp>
      <p:sp>
        <p:nvSpPr>
          <p:cNvPr id="19" name="TextBox 18"/>
          <p:cNvSpPr txBox="1"/>
          <p:nvPr/>
        </p:nvSpPr>
        <p:spPr>
          <a:xfrm>
            <a:off x="4224528" y="3236976"/>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System-Metrics (WebSocket :8765) and Files-Search (gRPC :50051) start with the application.</a:t>
            </a:r>
          </a:p>
        </p:txBody>
      </p:sp>
      <p:sp>
        <p:nvSpPr>
          <p:cNvPr id="20" name="Rounded Rectangle 19"/>
          <p:cNvSpPr/>
          <p:nvPr/>
        </p:nvSpPr>
        <p:spPr>
          <a:xfrm>
            <a:off x="566928" y="3858768"/>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566928" y="3858768"/>
            <a:ext cx="566928" cy="566928"/>
          </a:xfrm>
          <a:prstGeom prst="roundRect">
            <a:avLst>
              <a:gd name="adj" fmla="val 12903"/>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66928" y="3858768"/>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3</a:t>
            </a:r>
          </a:p>
        </p:txBody>
      </p:sp>
      <p:sp>
        <p:nvSpPr>
          <p:cNvPr id="23" name="TextBox 22"/>
          <p:cNvSpPr txBox="1"/>
          <p:nvPr/>
        </p:nvSpPr>
        <p:spPr>
          <a:xfrm>
            <a:off x="1298448" y="3895344"/>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Context sidecars</a:t>
            </a:r>
          </a:p>
        </p:txBody>
      </p:sp>
      <p:sp>
        <p:nvSpPr>
          <p:cNvPr id="24" name="TextBox 23"/>
          <p:cNvSpPr txBox="1"/>
          <p:nvPr/>
        </p:nvSpPr>
        <p:spPr>
          <a:xfrm>
            <a:off x="4224528" y="3895344"/>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Chains that decide whether system or file context is needed and inject it into the payload.</a:t>
            </a:r>
          </a:p>
        </p:txBody>
      </p:sp>
      <p:sp>
        <p:nvSpPr>
          <p:cNvPr id="25" name="Rounded Rectangle 24"/>
          <p:cNvSpPr/>
          <p:nvPr/>
        </p:nvSpPr>
        <p:spPr>
          <a:xfrm>
            <a:off x="566928" y="4517136"/>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6928" y="4517136"/>
            <a:ext cx="566928" cy="566928"/>
          </a:xfrm>
          <a:prstGeom prst="roundRect">
            <a:avLst>
              <a:gd name="adj" fmla="val 12903"/>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66928" y="4517136"/>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4</a:t>
            </a:r>
          </a:p>
        </p:txBody>
      </p:sp>
      <p:sp>
        <p:nvSpPr>
          <p:cNvPr id="28" name="TextBox 27"/>
          <p:cNvSpPr txBox="1"/>
          <p:nvPr/>
        </p:nvSpPr>
        <p:spPr>
          <a:xfrm>
            <a:off x="1298448" y="4553712"/>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Answer chains</a:t>
            </a:r>
          </a:p>
        </p:txBody>
      </p:sp>
      <p:sp>
        <p:nvSpPr>
          <p:cNvPr id="29" name="TextBox 28"/>
          <p:cNvSpPr txBox="1"/>
          <p:nvPr/>
        </p:nvSpPr>
        <p:spPr>
          <a:xfrm>
            <a:off x="4224528" y="4553712"/>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Basic, history-aware RAG and unified-agent chains compose the prompt and produce the answer.</a:t>
            </a:r>
          </a:p>
        </p:txBody>
      </p:sp>
      <p:sp>
        <p:nvSpPr>
          <p:cNvPr id="30" name="Rounded Rectangle 29"/>
          <p:cNvSpPr/>
          <p:nvPr/>
        </p:nvSpPr>
        <p:spPr>
          <a:xfrm>
            <a:off x="566928" y="5175503"/>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566928" y="5175503"/>
            <a:ext cx="566928" cy="566928"/>
          </a:xfrm>
          <a:prstGeom prst="roundRect">
            <a:avLst>
              <a:gd name="adj" fmla="val 12903"/>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66928" y="5175503"/>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5</a:t>
            </a:r>
          </a:p>
        </p:txBody>
      </p:sp>
      <p:sp>
        <p:nvSpPr>
          <p:cNvPr id="33" name="TextBox 32"/>
          <p:cNvSpPr txBox="1"/>
          <p:nvPr/>
        </p:nvSpPr>
        <p:spPr>
          <a:xfrm>
            <a:off x="1298448" y="5212079"/>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Unified-agent tools</a:t>
            </a:r>
          </a:p>
        </p:txBody>
      </p:sp>
      <p:sp>
        <p:nvSpPr>
          <p:cNvPr id="34" name="TextBox 33"/>
          <p:cNvSpPr txBox="1"/>
          <p:nvPr/>
        </p:nvSpPr>
        <p:spPr>
          <a:xfrm>
            <a:off x="4224528" y="5212079"/>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20 core, 67 wrapped agents, 12 ACPX/Skill and 10 External-MCP supervisor tools.</a:t>
            </a:r>
          </a:p>
        </p:txBody>
      </p:sp>
      <p:sp>
        <p:nvSpPr>
          <p:cNvPr id="35" name="Rounded Rectangle 34"/>
          <p:cNvSpPr/>
          <p:nvPr/>
        </p:nvSpPr>
        <p:spPr>
          <a:xfrm>
            <a:off x="566928" y="583387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49808" y="583387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MODELS   </a:t>
            </a:r>
            <a:r>
              <a:rPr sz="1300" b="0" i="0">
                <a:solidFill>
                  <a:srgbClr val="ECE7DC"/>
                </a:solidFill>
                <a:latin typeface="Segoe UI"/>
              </a:rPr>
              <a:t>Ollama (local and cloud)  ·  Anthropic Claude  ·  Qwen vision</a:t>
            </a:r>
          </a:p>
        </p:txBody>
      </p:sp>
      <p:cxnSp>
        <p:nvCxnSpPr>
          <p:cNvPr id="37" name="Connector 3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9" name="TextBox 3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REQUEST JOURNEY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life of one message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Eleven steps take a message from the browser to a verified, reported result.</a:t>
            </a:r>
          </a:p>
        </p:txBody>
      </p:sp>
      <p:sp>
        <p:nvSpPr>
          <p:cNvPr id="8" name="Rounded Rectangle 7"/>
          <p:cNvSpPr/>
          <p:nvPr/>
        </p:nvSpPr>
        <p:spPr>
          <a:xfrm>
            <a:off x="566928"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Send</a:t>
            </a:r>
          </a:p>
        </p:txBody>
      </p:sp>
      <p:sp>
        <p:nvSpPr>
          <p:cNvPr id="12" name="TextBox 11"/>
          <p:cNvSpPr txBox="1"/>
          <p:nvPr/>
        </p:nvSpPr>
        <p:spPr>
          <a:xfrm>
            <a:off x="694944"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browser sends the text and its toolbar flags over the chat WebSocket.</a:t>
            </a:r>
          </a:p>
        </p:txBody>
      </p:sp>
      <p:cxnSp>
        <p:nvCxnSpPr>
          <p:cNvPr id="13" name="Connector 12"/>
          <p:cNvCxnSpPr/>
          <p:nvPr/>
        </p:nvCxnSpPr>
        <p:spPr>
          <a:xfrm>
            <a:off x="3134791"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409111"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537127"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37127"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994327"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Route</a:t>
            </a:r>
          </a:p>
        </p:txBody>
      </p:sp>
      <p:sp>
        <p:nvSpPr>
          <p:cNvPr id="18" name="TextBox 17"/>
          <p:cNvSpPr txBox="1"/>
          <p:nvPr/>
        </p:nvSpPr>
        <p:spPr>
          <a:xfrm>
            <a:off x="3537127"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AgentConsumer receives it, attributes it to the user and queues retrieval.</a:t>
            </a:r>
          </a:p>
        </p:txBody>
      </p:sp>
      <p:cxnSp>
        <p:nvCxnSpPr>
          <p:cNvPr id="19" name="Connector 18"/>
          <p:cNvCxnSpPr/>
          <p:nvPr/>
        </p:nvCxnSpPr>
        <p:spPr>
          <a:xfrm>
            <a:off x="597697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51295"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37931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7931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6836511"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Context</a:t>
            </a:r>
          </a:p>
        </p:txBody>
      </p:sp>
      <p:sp>
        <p:nvSpPr>
          <p:cNvPr id="24" name="TextBox 23"/>
          <p:cNvSpPr txBox="1"/>
          <p:nvPr/>
        </p:nvSpPr>
        <p:spPr>
          <a:xfrm>
            <a:off x="6379311"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It decides whether RAG context is loaded and whether web search is needed.</a:t>
            </a:r>
          </a:p>
        </p:txBody>
      </p:sp>
      <p:cxnSp>
        <p:nvCxnSpPr>
          <p:cNvPr id="25" name="Connector 24"/>
          <p:cNvCxnSpPr/>
          <p:nvPr/>
        </p:nvCxnSpPr>
        <p:spPr>
          <a:xfrm>
            <a:off x="881915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93479"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922149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2149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9678695"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Chain</a:t>
            </a:r>
          </a:p>
        </p:txBody>
      </p:sp>
      <p:sp>
        <p:nvSpPr>
          <p:cNvPr id="30" name="TextBox 29"/>
          <p:cNvSpPr txBox="1"/>
          <p:nvPr/>
        </p:nvSpPr>
        <p:spPr>
          <a:xfrm>
            <a:off x="9221495"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RAG, Basic or Unified-Agent chain is selected and fitted to the model.</a:t>
            </a:r>
          </a:p>
        </p:txBody>
      </p:sp>
      <p:sp>
        <p:nvSpPr>
          <p:cNvPr id="31" name="Rounded Rectangle 30"/>
          <p:cNvSpPr/>
          <p:nvPr/>
        </p:nvSpPr>
        <p:spPr>
          <a:xfrm>
            <a:off x="566928"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694944"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4944"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4" name="TextBox 33"/>
          <p:cNvSpPr txBox="1"/>
          <p:nvPr/>
        </p:nvSpPr>
        <p:spPr>
          <a:xfrm>
            <a:off x="1152144"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Gate</a:t>
            </a:r>
          </a:p>
        </p:txBody>
      </p:sp>
      <p:sp>
        <p:nvSpPr>
          <p:cNvPr id="35" name="TextBox 34"/>
          <p:cNvSpPr txBox="1"/>
          <p:nvPr/>
        </p:nvSpPr>
        <p:spPr>
          <a:xfrm>
            <a:off x="694944"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Multi-Turn selects planned execution; ACPX filters its twelve tools in or out.</a:t>
            </a:r>
          </a:p>
        </p:txBody>
      </p:sp>
      <p:cxnSp>
        <p:nvCxnSpPr>
          <p:cNvPr id="36" name="Connector 35"/>
          <p:cNvCxnSpPr/>
          <p:nvPr/>
        </p:nvCxnSpPr>
        <p:spPr>
          <a:xfrm>
            <a:off x="3134791"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3409111"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3537127"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537127"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6</a:t>
            </a:r>
          </a:p>
        </p:txBody>
      </p:sp>
      <p:sp>
        <p:nvSpPr>
          <p:cNvPr id="40" name="TextBox 39"/>
          <p:cNvSpPr txBox="1"/>
          <p:nvPr/>
        </p:nvSpPr>
        <p:spPr>
          <a:xfrm>
            <a:off x="3994327"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Permission</a:t>
            </a:r>
          </a:p>
        </p:txBody>
      </p:sp>
      <p:sp>
        <p:nvSpPr>
          <p:cNvPr id="41" name="TextBox 40"/>
          <p:cNvSpPr txBox="1"/>
          <p:nvPr/>
        </p:nvSpPr>
        <p:spPr>
          <a:xfrm>
            <a:off x="3537127"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With Ask Execs on, a risky tool waits for Proceed or Deny.</a:t>
            </a:r>
          </a:p>
        </p:txBody>
      </p:sp>
      <p:cxnSp>
        <p:nvCxnSpPr>
          <p:cNvPr id="42" name="Connector 41"/>
          <p:cNvCxnSpPr/>
          <p:nvPr/>
        </p:nvCxnSpPr>
        <p:spPr>
          <a:xfrm>
            <a:off x="5976975"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251295"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379311"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379311"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7</a:t>
            </a:r>
          </a:p>
        </p:txBody>
      </p:sp>
      <p:sp>
        <p:nvSpPr>
          <p:cNvPr id="46" name="TextBox 45"/>
          <p:cNvSpPr txBox="1"/>
          <p:nvPr/>
        </p:nvSpPr>
        <p:spPr>
          <a:xfrm>
            <a:off x="6836511"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Prefetch</a:t>
            </a:r>
          </a:p>
        </p:txBody>
      </p:sp>
      <p:sp>
        <p:nvSpPr>
          <p:cNvPr id="47" name="TextBox 46"/>
          <p:cNvSpPr txBox="1"/>
          <p:nvPr/>
        </p:nvSpPr>
        <p:spPr>
          <a:xfrm>
            <a:off x="6379311"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System-metrics and file-search sidecars add context when it helps.</a:t>
            </a:r>
          </a:p>
        </p:txBody>
      </p:sp>
      <p:cxnSp>
        <p:nvCxnSpPr>
          <p:cNvPr id="48" name="Connector 47"/>
          <p:cNvCxnSpPr/>
          <p:nvPr/>
        </p:nvCxnSpPr>
        <p:spPr>
          <a:xfrm>
            <a:off x="8819159"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9093479"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9221495"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221495"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8</a:t>
            </a:r>
          </a:p>
        </p:txBody>
      </p:sp>
      <p:sp>
        <p:nvSpPr>
          <p:cNvPr id="52" name="TextBox 51"/>
          <p:cNvSpPr txBox="1"/>
          <p:nvPr/>
        </p:nvSpPr>
        <p:spPr>
          <a:xfrm>
            <a:off x="9678695"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Loop</a:t>
            </a:r>
          </a:p>
        </p:txBody>
      </p:sp>
      <p:sp>
        <p:nvSpPr>
          <p:cNvPr id="53" name="TextBox 52"/>
          <p:cNvSpPr txBox="1"/>
          <p:nvPr/>
        </p:nvSpPr>
        <p:spPr>
          <a:xfrm>
            <a:off x="9221495"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Tool calls run, wrapped agents launch, every model step is self-healed.</a:t>
            </a:r>
          </a:p>
        </p:txBody>
      </p:sp>
      <p:sp>
        <p:nvSpPr>
          <p:cNvPr id="54" name="Rounded Rectangle 53"/>
          <p:cNvSpPr/>
          <p:nvPr/>
        </p:nvSpPr>
        <p:spPr>
          <a:xfrm>
            <a:off x="566928"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694944"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694944"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9</a:t>
            </a:r>
          </a:p>
        </p:txBody>
      </p:sp>
      <p:sp>
        <p:nvSpPr>
          <p:cNvPr id="57" name="TextBox 56"/>
          <p:cNvSpPr txBox="1"/>
          <p:nvPr/>
        </p:nvSpPr>
        <p:spPr>
          <a:xfrm>
            <a:off x="1152144"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Verdict</a:t>
            </a:r>
          </a:p>
        </p:txBody>
      </p:sp>
      <p:sp>
        <p:nvSpPr>
          <p:cNvPr id="58" name="TextBox 57"/>
          <p:cNvSpPr txBox="1"/>
          <p:nvPr/>
        </p:nvSpPr>
        <p:spPr>
          <a:xfrm>
            <a:off x="694944" y="5504688"/>
            <a:ext cx="2293543" cy="62179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agent's own self-report decides SUCCESS or FAILED.</a:t>
            </a:r>
          </a:p>
        </p:txBody>
      </p:sp>
      <p:cxnSp>
        <p:nvCxnSpPr>
          <p:cNvPr id="59" name="Connector 58"/>
          <p:cNvCxnSpPr/>
          <p:nvPr/>
        </p:nvCxnSpPr>
        <p:spPr>
          <a:xfrm>
            <a:off x="3134791"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3409111"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3537127"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3537127"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10</a:t>
            </a:r>
          </a:p>
        </p:txBody>
      </p:sp>
      <p:sp>
        <p:nvSpPr>
          <p:cNvPr id="63" name="TextBox 62"/>
          <p:cNvSpPr txBox="1"/>
          <p:nvPr/>
        </p:nvSpPr>
        <p:spPr>
          <a:xfrm>
            <a:off x="3994327"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Answer</a:t>
            </a:r>
          </a:p>
        </p:txBody>
      </p:sp>
      <p:sp>
        <p:nvSpPr>
          <p:cNvPr id="64" name="TextBox 63"/>
          <p:cNvSpPr txBox="1"/>
          <p:nvPr/>
        </p:nvSpPr>
        <p:spPr>
          <a:xfrm>
            <a:off x="3537127"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reply streams back with Exec Report tables and Create Flow.</a:t>
            </a:r>
          </a:p>
        </p:txBody>
      </p:sp>
      <p:cxnSp>
        <p:nvCxnSpPr>
          <p:cNvPr id="65" name="Connector 64"/>
          <p:cNvCxnSpPr/>
          <p:nvPr/>
        </p:nvCxnSpPr>
        <p:spPr>
          <a:xfrm>
            <a:off x="5976975"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251295"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6379311"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6379311"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11</a:t>
            </a:r>
          </a:p>
        </p:txBody>
      </p:sp>
      <p:sp>
        <p:nvSpPr>
          <p:cNvPr id="69" name="TextBox 68"/>
          <p:cNvSpPr txBox="1"/>
          <p:nvPr/>
        </p:nvSpPr>
        <p:spPr>
          <a:xfrm>
            <a:off x="6836511"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Clean-up</a:t>
            </a:r>
          </a:p>
        </p:txBody>
      </p:sp>
      <p:sp>
        <p:nvSpPr>
          <p:cNvPr id="70" name="TextBox 69"/>
          <p:cNvSpPr txBox="1"/>
          <p:nvPr/>
        </p:nvSpPr>
        <p:spPr>
          <a:xfrm>
            <a:off x="6379311"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orphan reaper sweeps console hosts left by child processes.</a:t>
            </a:r>
          </a:p>
        </p:txBody>
      </p:sp>
      <p:cxnSp>
        <p:nvCxnSpPr>
          <p:cNvPr id="71" name="Connector 7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73" name="TextBox 7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MULTI-TURN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operator loop</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Multi-Turn checked, Tlamatini stops being an advisor and becomes an operator: she plans, calls tools, reads their results and continues until the task is done.</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Step-by-Step</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concrete action at a time; she waits for your READY or output.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Ask Execs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Proceed/Deny gate before each risky step.</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Exec Report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table per agent family, one row per real tool call.</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ACPX</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Adds the external coding-agent and Skill tools to the surface.</a:t>
            </a:r>
          </a:p>
        </p:txBody>
      </p:sp>
      <p:sp>
        <p:nvSpPr>
          <p:cNvPr id="24" name="Rounded Rectangle 23"/>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 global execution planner builds a request-scoped plan and capability hints, but the executor binds the </a:t>
            </a:r>
            <a:r>
              <a:rPr sz="1350" b="0" i="0">
                <a:solidFill>
                  <a:srgbClr val="ECE7DC"/>
                </a:solidFill>
                <a:latin typeface="Segoe UI Semibold"/>
              </a:rPr>
              <a:t>full enabled tool surface</a:t>
            </a:r>
            <a:r>
              <a:rPr sz="1350" b="0" i="0">
                <a:solidFill>
                  <a:srgbClr val="ECE7DC"/>
                </a:solidFill>
                <a:latin typeface="Segoe UI"/>
              </a:rPr>
              <a:t>: every enabled tool, wrapped agent and skill, with ACPX still filtered by its own checkbox. An earlier design bound only a narrow planner subset and could starve the loop of the one tool it needed.</a:t>
            </a:r>
          </a:p>
          <a:p>
            <a:pPr algn="l">
              <a:lnSpc>
                <a:spcPct val="100000"/>
              </a:lnSpc>
              <a:spcBef>
                <a:spcPts val="1000"/>
              </a:spcBef>
            </a:pPr>
            <a:r>
              <a:rPr sz="1350" b="0" i="0">
                <a:solidFill>
                  <a:srgbClr val="ECE7DC"/>
                </a:solidFill>
                <a:latin typeface="Segoe UI"/>
              </a:rPr>
              <a:t>The loop runs up to 4,096 iterations. Identical wrapped-agent calls in one request are deduplicated, a repetition breaker nudges a model that circles, and each wrapped agent runs in its own isolated runtime folder, so templates are never modified.</a:t>
            </a:r>
          </a:p>
          <a:p>
            <a:pPr algn="l">
              <a:lnSpc>
                <a:spcPct val="100000"/>
              </a:lnSpc>
              <a:spcBef>
                <a:spcPts val="1000"/>
              </a:spcBef>
            </a:pPr>
            <a:r>
              <a:rPr sz="1350" b="0" i="0">
                <a:solidFill>
                  <a:srgbClr val="ECE7DC"/>
                </a:solidFill>
                <a:latin typeface="Segoe UI"/>
              </a:rPr>
              <a:t>When at least one agent succeeded, the answer carries a </a:t>
            </a:r>
            <a:r>
              <a:rPr sz="1350" b="0" i="0">
                <a:solidFill>
                  <a:srgbClr val="ECE7DC"/>
                </a:solidFill>
                <a:latin typeface="Segoe UI Semibold"/>
              </a:rPr>
              <a:t>Create Flow</a:t>
            </a:r>
            <a:r>
              <a:rPr sz="1350" b="0" i="0">
                <a:solidFill>
                  <a:srgbClr val="ECE7DC"/>
                </a:solidFill>
                <a:latin typeface="Segoe UI"/>
              </a:rPr>
              <a:t> button. It turns exactly the successful tool calls into a canvas-loadable </a:t>
            </a:r>
            <a:r>
              <a:rPr sz="1250" b="0" i="0">
                <a:solidFill>
                  <a:srgbClr val="E2B462"/>
                </a:solidFill>
                <a:latin typeface="Consolas"/>
              </a:rPr>
              <a:t>.flw</a:t>
            </a:r>
            <a:r>
              <a:rPr sz="1350" b="0" i="0">
                <a:solidFill>
                  <a:srgbClr val="ECE7DC"/>
                </a:solidFill>
                <a:latin typeface="Segoe UI"/>
              </a:rPr>
              <a:t> workflow, normalized and secret-redacted by the backend, so a conversation can become a reusable workflow.</a:t>
            </a:r>
          </a:p>
        </p:txBody>
      </p:sp>
      <p:cxnSp>
        <p:nvCxnSpPr>
          <p:cNvPr id="26" name="Connector 2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8" name="TextBox 2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Never hang, never discard, never lie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model call inside the loop goes through a per-request self-healing invoker that switches to a genuinely different tactic each time a transient failure strikes.</a:t>
            </a:r>
          </a:p>
        </p:txBody>
      </p:sp>
      <p:sp>
        <p:nvSpPr>
          <p:cNvPr id="8" name="Rounded Rectangle 7"/>
          <p:cNvSpPr/>
          <p:nvPr/>
        </p:nvSpPr>
        <p:spPr>
          <a:xfrm>
            <a:off x="877824"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normal</a:t>
            </a:r>
          </a:p>
        </p:txBody>
      </p:sp>
      <p:sp>
        <p:nvSpPr>
          <p:cNvPr id="12" name="TextBox 11"/>
          <p:cNvSpPr txBox="1"/>
          <p:nvPr/>
        </p:nvSpPr>
        <p:spPr>
          <a:xfrm>
            <a:off x="2944368"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full request again.</a:t>
            </a:r>
          </a:p>
        </p:txBody>
      </p:sp>
      <p:sp>
        <p:nvSpPr>
          <p:cNvPr id="13" name="Rounded Rectangle 12"/>
          <p:cNvSpPr/>
          <p:nvPr/>
        </p:nvSpPr>
        <p:spPr>
          <a:xfrm>
            <a:off x="877824"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retry</a:t>
            </a:r>
          </a:p>
        </p:txBody>
      </p:sp>
      <p:sp>
        <p:nvSpPr>
          <p:cNvPr id="17" name="TextBox 16"/>
          <p:cNvSpPr txBox="1"/>
          <p:nvPr/>
        </p:nvSpPr>
        <p:spPr>
          <a:xfrm>
            <a:off x="2944368"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same tool-bound request; most blips clear here.</a:t>
            </a:r>
          </a:p>
        </p:txBody>
      </p:sp>
      <p:sp>
        <p:nvSpPr>
          <p:cNvPr id="18" name="Rounded Rectangle 17"/>
          <p:cNvSpPr/>
          <p:nvPr/>
        </p:nvSpPr>
        <p:spPr>
          <a:xfrm>
            <a:off x="877824"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patient retry</a:t>
            </a:r>
          </a:p>
        </p:txBody>
      </p:sp>
      <p:sp>
        <p:nvSpPr>
          <p:cNvPr id="22" name="TextBox 21"/>
          <p:cNvSpPr txBox="1"/>
          <p:nvPr/>
        </p:nvSpPr>
        <p:spPr>
          <a:xfrm>
            <a:off x="2944368"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Wait, then retry with extra patience.</a:t>
            </a:r>
          </a:p>
        </p:txBody>
      </p:sp>
      <p:sp>
        <p:nvSpPr>
          <p:cNvPr id="23" name="Rounded Rectangle 22"/>
          <p:cNvSpPr/>
          <p:nvPr/>
        </p:nvSpPr>
        <p:spPr>
          <a:xfrm>
            <a:off x="6589623"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278727"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78727"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6845655"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trim context</a:t>
            </a:r>
          </a:p>
        </p:txBody>
      </p:sp>
      <p:sp>
        <p:nvSpPr>
          <p:cNvPr id="27" name="TextBox 26"/>
          <p:cNvSpPr txBox="1"/>
          <p:nvPr/>
        </p:nvSpPr>
        <p:spPr>
          <a:xfrm>
            <a:off x="8656167"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system messages and the last twelve.</a:t>
            </a:r>
          </a:p>
        </p:txBody>
      </p:sp>
      <p:sp>
        <p:nvSpPr>
          <p:cNvPr id="28" name="Rounded Rectangle 27"/>
          <p:cNvSpPr/>
          <p:nvPr/>
        </p:nvSpPr>
        <p:spPr>
          <a:xfrm>
            <a:off x="6589623"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minimal</a:t>
            </a:r>
          </a:p>
        </p:txBody>
      </p:sp>
      <p:sp>
        <p:nvSpPr>
          <p:cNvPr id="32" name="TextBox 31"/>
          <p:cNvSpPr txBox="1"/>
          <p:nvPr/>
        </p:nvSpPr>
        <p:spPr>
          <a:xfrm>
            <a:off x="8656167"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last six messages; tools stay bound.</a:t>
            </a:r>
          </a:p>
        </p:txBody>
      </p:sp>
      <p:sp>
        <p:nvSpPr>
          <p:cNvPr id="33" name="Rounded Rectangle 32"/>
          <p:cNvSpPr/>
          <p:nvPr/>
        </p:nvSpPr>
        <p:spPr>
          <a:xfrm>
            <a:off x="6589623"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plain summary</a:t>
            </a:r>
          </a:p>
        </p:txBody>
      </p:sp>
      <p:sp>
        <p:nvSpPr>
          <p:cNvPr id="37" name="TextBox 36"/>
          <p:cNvSpPr txBox="1"/>
          <p:nvPr/>
        </p:nvSpPr>
        <p:spPr>
          <a:xfrm>
            <a:off x="8656167"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resort: summarize truthfully what was gathered.</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bugs are not hidden</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Only transient failures — timeouts, resets, HTTP 429 and 5xx — trigger new tactics. A deterministic error such as a bad schema is raised at once so it gets fixed.</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“Never hang, never discard, never lie”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COMPACT MODE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request fits the model it is sent to</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model whose real window cannot hold the complete request receives a compact one; a model that can hold it receives exactly the request it always did.</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model that can hold the request receives it unchanged, byte for byte.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toolbar switch: only the rows you tick are bound, each with its price.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Locked</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model too small for everything turns Compact on by itself and locks it.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Your choice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context_compact_mode</a:t>
            </a:r>
            <a:r>
              <a:rPr sz="1300" b="0" i="0">
                <a:solidFill>
                  <a:srgbClr val="A7B2B0"/>
                </a:solidFill>
                <a:latin typeface="Segoe UI"/>
              </a:rPr>
              <a:t> is auto by default, or always or never, obeyed exactly.</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COMPACT MODE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It fails open to the full request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Every part of the fitter fails open: when anything is uncertain, the complete request is sent exactly as before.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 request fits the model it is sent to”</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MODEL BRAIN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tuned from formal sources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Since v1.76.0 each model receives its own sampling, thinking level and context size, taken from formal sources, instead of one fixed set of values for every model.</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Formal sources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Your overrides, cited profiles, learned profiles, Ollama, model defaults.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context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requested window never exceeds what the model can read.</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Reasoning kept</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Thinking models keep their train of thought between tool calls.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Auto-tuning</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 </a:t>
            </a:r>
            <a:r>
              <a:rPr sz="1300" b="0" i="0">
                <a:solidFill>
                  <a:srgbClr val="A7B2B0"/>
                </a:solidFill>
                <a:latin typeface="Segoe UI Symbol"/>
              </a:rPr>
              <a:t>▸</a:t>
            </a:r>
            <a:r>
              <a:rPr sz="1300" b="0" i="0">
                <a:solidFill>
                  <a:srgbClr val="A7B2B0"/>
                </a:solidFill>
                <a:latin typeface="Segoe UI"/>
              </a:rPr>
              <a:t> Models </a:t>
            </a:r>
            <a:r>
              <a:rPr sz="1300" b="0" i="0">
                <a:solidFill>
                  <a:srgbClr val="A7B2B0"/>
                </a:solidFill>
                <a:latin typeface="Segoe UI Symbol"/>
              </a:rPr>
              <a:t>▸</a:t>
            </a:r>
            <a:r>
              <a:rPr sz="1300" b="0" i="0">
                <a:solidFill>
                  <a:srgbClr val="A7B2B0"/>
                </a:solidFill>
                <a:latin typeface="Segoe UI"/>
              </a:rPr>
              <a:t> Save shows each model tuned, with its sources.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stall clocks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slow model is never thrown away and restarted.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Your choice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model_brain: off</a:t>
            </a:r>
            <a:r>
              <a:rPr sz="1300" b="0" i="0">
                <a:solidFill>
                  <a:srgbClr val="A7B2B0"/>
                </a:solidFill>
                <a:latin typeface="Segoe UI"/>
              </a:rPr>
              <a:t> restores the legacy fixed sampler exactly.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MODEL BRAIN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 model name in the code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new model gets its values from the knowledge base, research, Ollama or its own defaults, never from a branch written for one model name, and a value you set always wins.</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 model tuned from formal sources”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verdict you can trust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An exit code is one bit. An agent's own structured self-report is a typed record, and it outranks the exit code.</a:t>
            </a:r>
          </a:p>
        </p:txBody>
      </p:sp>
      <p:sp>
        <p:nvSpPr>
          <p:cNvPr id="8" name="Rounded Rectangle 7"/>
          <p:cNvSpPr/>
          <p:nvPr/>
        </p:nvSpPr>
        <p:spPr>
          <a:xfrm>
            <a:off x="566928" y="2084831"/>
            <a:ext cx="11057839" cy="4088892"/>
          </a:xfrm>
          <a:prstGeom prst="roundRect">
            <a:avLst>
              <a:gd name="adj" fmla="val 1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95947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RULE</a:t>
            </a:r>
          </a:p>
        </p:txBody>
      </p:sp>
      <p:sp>
        <p:nvSpPr>
          <p:cNvPr id="11" name="TextBox 10"/>
          <p:cNvSpPr txBox="1"/>
          <p:nvPr/>
        </p:nvSpPr>
        <p:spPr>
          <a:xfrm>
            <a:off x="1745863" y="2121408"/>
            <a:ext cx="715186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FIRES WHEN</a:t>
            </a:r>
          </a:p>
        </p:txBody>
      </p:sp>
      <p:sp>
        <p:nvSpPr>
          <p:cNvPr id="12" name="TextBox 11"/>
          <p:cNvSpPr txBox="1"/>
          <p:nvPr/>
        </p:nvSpPr>
        <p:spPr>
          <a:xfrm>
            <a:off x="904403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VERDICT</a:t>
            </a:r>
          </a:p>
        </p:txBody>
      </p:sp>
      <p:sp>
        <p:nvSpPr>
          <p:cNvPr id="13" name="TextBox 12"/>
          <p:cNvSpPr txBox="1"/>
          <p:nvPr/>
        </p:nvSpPr>
        <p:spPr>
          <a:xfrm>
            <a:off x="640080" y="2505456"/>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R1</a:t>
            </a:r>
          </a:p>
        </p:txBody>
      </p:sp>
      <p:sp>
        <p:nvSpPr>
          <p:cNvPr id="14" name="TextBox 13"/>
          <p:cNvSpPr txBox="1"/>
          <p:nvPr/>
        </p:nvSpPr>
        <p:spPr>
          <a:xfrm>
            <a:off x="1745863" y="2505456"/>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wrote no self-report</a:t>
            </a:r>
          </a:p>
        </p:txBody>
      </p:sp>
      <p:sp>
        <p:nvSpPr>
          <p:cNvPr id="15" name="TextBox 14"/>
          <p:cNvSpPr txBox="1"/>
          <p:nvPr/>
        </p:nvSpPr>
        <p:spPr>
          <a:xfrm>
            <a:off x="9044037" y="2505456"/>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Exit code decides</a:t>
            </a:r>
          </a:p>
        </p:txBody>
      </p:sp>
      <p:sp>
        <p:nvSpPr>
          <p:cNvPr id="16" name="Rectangle 15"/>
          <p:cNvSpPr/>
          <p:nvPr/>
        </p:nvSpPr>
        <p:spPr>
          <a:xfrm>
            <a:off x="585216" y="2805683"/>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4225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R2</a:t>
            </a:r>
          </a:p>
        </p:txBody>
      </p:sp>
      <p:sp>
        <p:nvSpPr>
          <p:cNvPr id="18" name="TextBox 17"/>
          <p:cNvSpPr txBox="1"/>
          <p:nvPr/>
        </p:nvSpPr>
        <p:spPr>
          <a:xfrm>
            <a:off x="1745863" y="284225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declares error or failed</a:t>
            </a:r>
          </a:p>
        </p:txBody>
      </p:sp>
      <p:sp>
        <p:nvSpPr>
          <p:cNvPr id="19" name="TextBox 18"/>
          <p:cNvSpPr txBox="1"/>
          <p:nvPr/>
        </p:nvSpPr>
        <p:spPr>
          <a:xfrm>
            <a:off x="9044037" y="284225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0" name="TextBox 19"/>
          <p:cNvSpPr txBox="1"/>
          <p:nvPr/>
        </p:nvSpPr>
        <p:spPr>
          <a:xfrm>
            <a:off x="640080" y="317906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a:t>
            </a:r>
          </a:p>
        </p:txBody>
      </p:sp>
      <p:sp>
        <p:nvSpPr>
          <p:cNvPr id="21" name="TextBox 20"/>
          <p:cNvSpPr txBox="1"/>
          <p:nvPr/>
        </p:nvSpPr>
        <p:spPr>
          <a:xfrm>
            <a:off x="1745863" y="317906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Work not done: refused, not_found, engine_unavailable …</a:t>
            </a:r>
          </a:p>
        </p:txBody>
      </p:sp>
      <p:sp>
        <p:nvSpPr>
          <p:cNvPr id="22" name="TextBox 21"/>
          <p:cNvSpPr txBox="1"/>
          <p:nvPr/>
        </p:nvSpPr>
        <p:spPr>
          <a:xfrm>
            <a:off x="9044037" y="317906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3" name="Rectangle 22"/>
          <p:cNvSpPr/>
          <p:nvPr/>
        </p:nvSpPr>
        <p:spPr>
          <a:xfrm>
            <a:off x="585216" y="3479291"/>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51586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R3b</a:t>
            </a:r>
          </a:p>
        </p:txBody>
      </p:sp>
      <p:sp>
        <p:nvSpPr>
          <p:cNvPr id="25" name="TextBox 24"/>
          <p:cNvSpPr txBox="1"/>
          <p:nvPr/>
        </p:nvSpPr>
        <p:spPr>
          <a:xfrm>
            <a:off x="1745863" y="351586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Degraded: tokens_only, compiled_with_errors, operator_required …</a:t>
            </a:r>
          </a:p>
        </p:txBody>
      </p:sp>
      <p:sp>
        <p:nvSpPr>
          <p:cNvPr id="26" name="TextBox 25"/>
          <p:cNvSpPr txBox="1"/>
          <p:nvPr/>
        </p:nvSpPr>
        <p:spPr>
          <a:xfrm>
            <a:off x="9044037" y="351586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7" name="TextBox 26"/>
          <p:cNvSpPr txBox="1"/>
          <p:nvPr/>
        </p:nvSpPr>
        <p:spPr>
          <a:xfrm>
            <a:off x="640080" y="385267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R4</a:t>
            </a:r>
          </a:p>
        </p:txBody>
      </p:sp>
      <p:sp>
        <p:nvSpPr>
          <p:cNvPr id="28" name="TextBox 27"/>
          <p:cNvSpPr txBox="1"/>
          <p:nvPr/>
        </p:nvSpPr>
        <p:spPr>
          <a:xfrm>
            <a:off x="1745863" y="385267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diagnostic completed: invalid, findings, no_matches, listed …</a:t>
            </a:r>
          </a:p>
        </p:txBody>
      </p:sp>
      <p:sp>
        <p:nvSpPr>
          <p:cNvPr id="29" name="TextBox 28"/>
          <p:cNvSpPr txBox="1"/>
          <p:nvPr/>
        </p:nvSpPr>
        <p:spPr>
          <a:xfrm>
            <a:off x="9044037" y="385267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30" name="Rectangle 29"/>
          <p:cNvSpPr/>
          <p:nvPr/>
        </p:nvSpPr>
        <p:spPr>
          <a:xfrm>
            <a:off x="585216" y="4152899"/>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18947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R5</a:t>
            </a:r>
          </a:p>
        </p:txBody>
      </p:sp>
      <p:sp>
        <p:nvSpPr>
          <p:cNvPr id="32" name="TextBox 31"/>
          <p:cNvSpPr txBox="1"/>
          <p:nvPr/>
        </p:nvSpPr>
        <p:spPr>
          <a:xfrm>
            <a:off x="1745863" y="418947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An explicit success or ok flag</a:t>
            </a:r>
          </a:p>
        </p:txBody>
      </p:sp>
      <p:sp>
        <p:nvSpPr>
          <p:cNvPr id="33" name="TextBox 32"/>
          <p:cNvSpPr txBox="1"/>
          <p:nvPr/>
        </p:nvSpPr>
        <p:spPr>
          <a:xfrm>
            <a:off x="9044037" y="418947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That flag</a:t>
            </a:r>
          </a:p>
        </p:txBody>
      </p:sp>
      <p:sp>
        <p:nvSpPr>
          <p:cNvPr id="34" name="TextBox 33"/>
          <p:cNvSpPr txBox="1"/>
          <p:nvPr/>
        </p:nvSpPr>
        <p:spPr>
          <a:xfrm>
            <a:off x="640080" y="452627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R6</a:t>
            </a:r>
          </a:p>
        </p:txBody>
      </p:sp>
      <p:sp>
        <p:nvSpPr>
          <p:cNvPr id="35" name="TextBox 34"/>
          <p:cNvSpPr txBox="1"/>
          <p:nvPr/>
        </p:nvSpPr>
        <p:spPr>
          <a:xfrm>
            <a:off x="1745863" y="452627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non-zero errors count</a:t>
            </a:r>
          </a:p>
        </p:txBody>
      </p:sp>
      <p:sp>
        <p:nvSpPr>
          <p:cNvPr id="36" name="TextBox 35"/>
          <p:cNvSpPr txBox="1"/>
          <p:nvPr/>
        </p:nvSpPr>
        <p:spPr>
          <a:xfrm>
            <a:off x="9044037" y="452627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37" name="Rectangle 36"/>
          <p:cNvSpPr/>
          <p:nvPr/>
        </p:nvSpPr>
        <p:spPr>
          <a:xfrm>
            <a:off x="585216" y="4826507"/>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86308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a:t>
            </a:r>
          </a:p>
        </p:txBody>
      </p:sp>
      <p:sp>
        <p:nvSpPr>
          <p:cNvPr id="39" name="TextBox 38"/>
          <p:cNvSpPr txBox="1"/>
          <p:nvPr/>
        </p:nvSpPr>
        <p:spPr>
          <a:xfrm>
            <a:off x="1745863" y="486308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Nothing decisive and a non-zero exit code</a:t>
            </a:r>
          </a:p>
        </p:txBody>
      </p:sp>
      <p:sp>
        <p:nvSpPr>
          <p:cNvPr id="40" name="TextBox 39"/>
          <p:cNvSpPr txBox="1"/>
          <p:nvPr/>
        </p:nvSpPr>
        <p:spPr>
          <a:xfrm>
            <a:off x="9044037" y="486308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41" name="TextBox 40"/>
          <p:cNvSpPr txBox="1"/>
          <p:nvPr/>
        </p:nvSpPr>
        <p:spPr>
          <a:xfrm>
            <a:off x="640080" y="519988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R7b</a:t>
            </a:r>
          </a:p>
        </p:txBody>
      </p:sp>
      <p:sp>
        <p:nvSpPr>
          <p:cNvPr id="42" name="TextBox 41"/>
          <p:cNvSpPr txBox="1"/>
          <p:nvPr/>
        </p:nvSpPr>
        <p:spPr>
          <a:xfrm>
            <a:off x="1745863" y="519988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named completion: ok, created, sent …</a:t>
            </a:r>
          </a:p>
        </p:txBody>
      </p:sp>
      <p:sp>
        <p:nvSpPr>
          <p:cNvPr id="43" name="TextBox 42"/>
          <p:cNvSpPr txBox="1"/>
          <p:nvPr/>
        </p:nvSpPr>
        <p:spPr>
          <a:xfrm>
            <a:off x="9044037" y="519988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44" name="Rectangle 43"/>
          <p:cNvSpPr/>
          <p:nvPr/>
        </p:nvSpPr>
        <p:spPr>
          <a:xfrm>
            <a:off x="585216" y="5500115"/>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53669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R8b</a:t>
            </a:r>
          </a:p>
        </p:txBody>
      </p:sp>
      <p:sp>
        <p:nvSpPr>
          <p:cNvPr id="46" name="TextBox 45"/>
          <p:cNvSpPr txBox="1"/>
          <p:nvPr/>
        </p:nvSpPr>
        <p:spPr>
          <a:xfrm>
            <a:off x="1745863" y="553669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status token outside the vocabulary</a:t>
            </a:r>
          </a:p>
        </p:txBody>
      </p:sp>
      <p:sp>
        <p:nvSpPr>
          <p:cNvPr id="47" name="TextBox 46"/>
          <p:cNvSpPr txBox="1"/>
          <p:nvPr/>
        </p:nvSpPr>
        <p:spPr>
          <a:xfrm>
            <a:off x="9044037" y="553669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 flagged</a:t>
            </a:r>
          </a:p>
        </p:txBody>
      </p:sp>
      <p:sp>
        <p:nvSpPr>
          <p:cNvPr id="48" name="TextBox 47"/>
          <p:cNvSpPr txBox="1"/>
          <p:nvPr/>
        </p:nvSpPr>
        <p:spPr>
          <a:xfrm>
            <a:off x="640080" y="587349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a:t>
            </a:r>
          </a:p>
        </p:txBody>
      </p:sp>
      <p:sp>
        <p:nvSpPr>
          <p:cNvPr id="49" name="TextBox 48"/>
          <p:cNvSpPr txBox="1"/>
          <p:nvPr/>
        </p:nvSpPr>
        <p:spPr>
          <a:xfrm>
            <a:off x="1745863" y="587349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 failure signal at all</a:t>
            </a:r>
          </a:p>
        </p:txBody>
      </p:sp>
      <p:sp>
        <p:nvSpPr>
          <p:cNvPr id="50" name="TextBox 49"/>
          <p:cNvSpPr txBox="1"/>
          <p:nvPr/>
        </p:nvSpPr>
        <p:spPr>
          <a:xfrm>
            <a:off x="9044037" y="587349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cxnSp>
        <p:nvCxnSpPr>
          <p:cNvPr id="51" name="Connector 5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53" name="TextBox 5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Why R4 outranks R5 and R6</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linter that worked perfectly reports </a:t>
            </a:r>
            <a:r>
              <a:rPr sz="2400" b="0" i="0">
                <a:solidFill>
                  <a:srgbClr val="E2B462"/>
                </a:solidFill>
                <a:latin typeface="Consolas"/>
              </a:rPr>
              <a:t>status: invalid</a:t>
            </a:r>
            <a:r>
              <a:rPr sz="2600" b="0" i="0">
                <a:solidFill>
                  <a:srgbClr val="F7F2E8"/>
                </a:solidFill>
                <a:latin typeface="Segoe UI Light"/>
              </a:rPr>
              <a:t>, </a:t>
            </a:r>
            <a:r>
              <a:rPr sz="2400" b="0" i="0">
                <a:solidFill>
                  <a:srgbClr val="E2B462"/>
                </a:solidFill>
                <a:latin typeface="Consolas"/>
              </a:rPr>
              <a:t>success: False</a:t>
            </a:r>
            <a:r>
              <a:rPr sz="2600" b="0" i="0">
                <a:solidFill>
                  <a:srgbClr val="F7F2E8"/>
                </a:solidFill>
                <a:latin typeface="Segoe UI Light"/>
              </a:rPr>
              <a:t> and </a:t>
            </a:r>
            <a:r>
              <a:rPr sz="2400" b="0" i="0">
                <a:solidFill>
                  <a:srgbClr val="E2B462"/>
                </a:solidFill>
                <a:latin typeface="Consolas"/>
              </a:rPr>
              <a:t>errors: 2</a:t>
            </a:r>
            <a:r>
              <a:rPr sz="2600" b="0" i="0">
                <a:solidFill>
                  <a:srgbClr val="F7F2E8"/>
                </a:solidFill>
                <a:latin typeface="Segoe UI Light"/>
              </a:rPr>
              <a:t> together. The last two describe the document, not the agent.</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“A verdict you can trust”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PERMISSION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Ask Execs: a human gate before risky steps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Ask Execs on, the executor blocks before each risky tool and waits for Proceed or Deny in the browser. A single Deny halts the whole chain and leaves a red “Execution interrupted” banner.</a:t>
            </a:r>
          </a:p>
        </p:txBody>
      </p:sp>
      <p:sp>
        <p:nvSpPr>
          <p:cNvPr id="8" name="Rounded Rectangle 7"/>
          <p:cNvSpPr/>
          <p:nvPr/>
        </p:nvSpPr>
        <p:spPr>
          <a:xfrm>
            <a:off x="566928" y="2084831"/>
            <a:ext cx="11057839" cy="3172968"/>
          </a:xfrm>
          <a:prstGeom prst="roundRect">
            <a:avLst>
              <a:gd name="adj" fmla="val 23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TIER</a:t>
            </a:r>
          </a:p>
        </p:txBody>
      </p:sp>
      <p:sp>
        <p:nvSpPr>
          <p:cNvPr id="11" name="TextBox 10"/>
          <p:cNvSpPr txBox="1"/>
          <p:nvPr/>
        </p:nvSpPr>
        <p:spPr>
          <a:xfrm>
            <a:off x="3515118"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PROMPTED</a:t>
            </a:r>
          </a:p>
        </p:txBody>
      </p:sp>
      <p:sp>
        <p:nvSpPr>
          <p:cNvPr id="12" name="TextBox 11"/>
          <p:cNvSpPr txBox="1"/>
          <p:nvPr/>
        </p:nvSpPr>
        <p:spPr>
          <a:xfrm>
            <a:off x="5284372" y="2121408"/>
            <a:ext cx="626724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AGENTS</a:t>
            </a:r>
          </a:p>
        </p:txBody>
      </p:sp>
      <p:sp>
        <p:nvSpPr>
          <p:cNvPr id="13" name="TextBox 12"/>
          <p:cNvSpPr txBox="1"/>
          <p:nvPr/>
        </p:nvSpPr>
        <p:spPr>
          <a:xfrm>
            <a:off x="640080" y="2505456"/>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Command and script runners</a:t>
            </a:r>
          </a:p>
        </p:txBody>
      </p:sp>
      <p:sp>
        <p:nvSpPr>
          <p:cNvPr id="14" name="TextBox 13"/>
          <p:cNvSpPr txBox="1"/>
          <p:nvPr/>
        </p:nvSpPr>
        <p:spPr>
          <a:xfrm>
            <a:off x="3515118" y="2505456"/>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5" name="TextBox 14"/>
          <p:cNvSpPr txBox="1"/>
          <p:nvPr/>
        </p:nvSpPr>
        <p:spPr>
          <a:xfrm>
            <a:off x="5284372" y="2505456"/>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Executer, Pythonxer, SSHer, Kalier, Dockerer, Kuberneter, SQLer, Mongoxer, Gitter, Jenkinser, PSer, J-Decompiler</a:t>
            </a:r>
          </a:p>
        </p:txBody>
      </p:sp>
      <p:sp>
        <p:nvSpPr>
          <p:cNvPr id="16" name="Rectangle 15"/>
          <p:cNvSpPr/>
          <p:nvPr/>
        </p:nvSpPr>
        <p:spPr>
          <a:xfrm>
            <a:off x="585216" y="30723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1089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 destroys or overwrites</a:t>
            </a:r>
          </a:p>
        </p:txBody>
      </p:sp>
      <p:sp>
        <p:nvSpPr>
          <p:cNvPr id="18" name="TextBox 17"/>
          <p:cNvSpPr txBox="1"/>
          <p:nvPr/>
        </p:nvSpPr>
        <p:spPr>
          <a:xfrm>
            <a:off x="3515118" y="3108960"/>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9" name="TextBox 18"/>
          <p:cNvSpPr txBox="1"/>
          <p:nvPr/>
        </p:nvSpPr>
        <p:spPr>
          <a:xfrm>
            <a:off x="5284372" y="3108960"/>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Deleter, Mover, File-Creator, Editor, De-Compresser, unzip, PDFer, LaTeXer</a:t>
            </a:r>
          </a:p>
        </p:txBody>
      </p:sp>
      <p:sp>
        <p:nvSpPr>
          <p:cNvPr id="20" name="TextBox 19"/>
          <p:cNvSpPr txBox="1"/>
          <p:nvPr/>
        </p:nvSpPr>
        <p:spPr>
          <a:xfrm>
            <a:off x="640080" y="3712463"/>
            <a:ext cx="2728734"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 · remote systems</a:t>
            </a:r>
          </a:p>
        </p:txBody>
      </p:sp>
      <p:sp>
        <p:nvSpPr>
          <p:cNvPr id="21" name="TextBox 20"/>
          <p:cNvSpPr txBox="1"/>
          <p:nvPr/>
        </p:nvSpPr>
        <p:spPr>
          <a:xfrm>
            <a:off x="3515118" y="3712463"/>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22" name="TextBox 21"/>
          <p:cNvSpPr txBox="1"/>
          <p:nvPr/>
        </p:nvSpPr>
        <p:spPr>
          <a:xfrm>
            <a:off x="5284372" y="3712463"/>
            <a:ext cx="6267242"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SCPer, Apirer, Nmapper, Discoverer, Crawler, NetSpeed-Calculator</a:t>
            </a:r>
          </a:p>
        </p:txBody>
      </p:sp>
      <p:sp>
        <p:nvSpPr>
          <p:cNvPr id="23" name="Rectangle 22"/>
          <p:cNvSpPr/>
          <p:nvPr/>
        </p:nvSpPr>
        <p:spPr>
          <a:xfrm>
            <a:off x="585216" y="4050791"/>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0873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 · messaging</a:t>
            </a:r>
          </a:p>
        </p:txBody>
      </p:sp>
      <p:sp>
        <p:nvSpPr>
          <p:cNvPr id="25" name="TextBox 24"/>
          <p:cNvSpPr txBox="1"/>
          <p:nvPr/>
        </p:nvSpPr>
        <p:spPr>
          <a:xfrm>
            <a:off x="3515118" y="4087368"/>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6" name="TextBox 25"/>
          <p:cNvSpPr txBox="1"/>
          <p:nvPr/>
        </p:nvSpPr>
        <p:spPr>
          <a:xfrm>
            <a:off x="5284372" y="4087368"/>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Emailer, Whatsapper, Telegrammer, Zavuerer, Instant Messaging Doctor: sending is the model's own judgement</a:t>
            </a:r>
          </a:p>
        </p:txBody>
      </p:sp>
      <p:sp>
        <p:nvSpPr>
          <p:cNvPr id="27" name="TextBox 26"/>
          <p:cNvSpPr txBox="1"/>
          <p:nvPr/>
        </p:nvSpPr>
        <p:spPr>
          <a:xfrm>
            <a:off x="640080" y="4690872"/>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 · desktop and hardware</a:t>
            </a:r>
          </a:p>
        </p:txBody>
      </p:sp>
      <p:sp>
        <p:nvSpPr>
          <p:cNvPr id="28" name="TextBox 27"/>
          <p:cNvSpPr txBox="1"/>
          <p:nvPr/>
        </p:nvSpPr>
        <p:spPr>
          <a:xfrm>
            <a:off x="3515118" y="4690872"/>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9" name="TextBox 28"/>
          <p:cNvSpPr txBox="1"/>
          <p:nvPr/>
        </p:nvSpPr>
        <p:spPr>
          <a:xfrm>
            <a:off x="5284372" y="4690872"/>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Keyboarder, Mouser, Windower, Playwrighter, firmware agents, Blenderer, Unrealer: visible while they act</a:t>
            </a:r>
          </a:p>
        </p:txBody>
      </p:sp>
      <p:cxnSp>
        <p:nvCxnSpPr>
          <p:cNvPr id="30" name="Connector 2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2" name="TextBox 3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RETRIEVAL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Grounded in your project, and only its text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Hybrid retrieval combines FAISS vectors with BM25 keywords, extracts metadata, budgets the context and falls back gracefully when a chain cannot retrieve.</a:t>
            </a:r>
          </a:p>
        </p:txBody>
      </p:sp>
      <p:sp>
        <p:nvSpPr>
          <p:cNvPr id="8" name="Rounded Rectangle 7"/>
          <p:cNvSpPr/>
          <p:nvPr/>
        </p:nvSpPr>
        <p:spPr>
          <a:xfrm>
            <a:off x="566928" y="226771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1   </a:t>
            </a:r>
            <a:r>
              <a:rPr sz="1600" b="0" i="0">
                <a:solidFill>
                  <a:srgbClr val="F7F2E8"/>
                </a:solidFill>
                <a:latin typeface="Segoe UI Semibold"/>
              </a:rPr>
              <a:t>Extension</a:t>
            </a:r>
          </a:p>
        </p:txBody>
      </p:sp>
      <p:sp>
        <p:nvSpPr>
          <p:cNvPr id="10" name="TextBox 9"/>
          <p:cNvSpPr txBox="1"/>
          <p:nvPr/>
        </p:nvSpPr>
        <p:spPr>
          <a:xfrm>
            <a:off x="731520"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binary suffix, no I/O</a:t>
            </a:r>
          </a:p>
        </p:txBody>
      </p:sp>
      <p:cxnSp>
        <p:nvCxnSpPr>
          <p:cNvPr id="11" name="Connector 10"/>
          <p:cNvCxnSpPr/>
          <p:nvPr/>
        </p:nvCxnSpPr>
        <p:spPr>
          <a:xfrm>
            <a:off x="3134791"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9111" y="2267712"/>
            <a:ext cx="2531287" cy="1143000"/>
          </a:xfrm>
          <a:prstGeom prst="roundRect">
            <a:avLst>
              <a:gd name="adj" fmla="val 9600"/>
            </a:avLst>
          </a:prstGeom>
          <a:solidFill>
            <a:srgbClr val="121A1D"/>
          </a:solidFill>
          <a:ln w="1778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73703"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E2B462"/>
                </a:solidFill>
                <a:latin typeface="Palatino Linotype"/>
              </a:rPr>
              <a:t>2   </a:t>
            </a:r>
            <a:r>
              <a:rPr sz="1600" b="0" i="0">
                <a:solidFill>
                  <a:srgbClr val="F7F2E8"/>
                </a:solidFill>
                <a:latin typeface="Segoe UI Semibold"/>
              </a:rPr>
              <a:t>Sample</a:t>
            </a:r>
          </a:p>
        </p:txBody>
      </p:sp>
      <p:sp>
        <p:nvSpPr>
          <p:cNvPr id="14" name="TextBox 13"/>
          <p:cNvSpPr txBox="1"/>
          <p:nvPr/>
        </p:nvSpPr>
        <p:spPr>
          <a:xfrm>
            <a:off x="3573703"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8 KiB read</a:t>
            </a:r>
          </a:p>
        </p:txBody>
      </p:sp>
      <p:cxnSp>
        <p:nvCxnSpPr>
          <p:cNvPr id="15" name="Connector 14"/>
          <p:cNvCxnSpPr/>
          <p:nvPr/>
        </p:nvCxnSpPr>
        <p:spPr>
          <a:xfrm>
            <a:off x="5976975"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51295"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15887"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3   </a:t>
            </a:r>
            <a:r>
              <a:rPr sz="1600" b="0" i="0">
                <a:solidFill>
                  <a:srgbClr val="F7F2E8"/>
                </a:solidFill>
                <a:latin typeface="Segoe UI Semibold"/>
              </a:rPr>
              <a:t>Empty</a:t>
            </a:r>
          </a:p>
        </p:txBody>
      </p:sp>
      <p:sp>
        <p:nvSpPr>
          <p:cNvPr id="18" name="TextBox 17"/>
          <p:cNvSpPr txBox="1"/>
          <p:nvPr/>
        </p:nvSpPr>
        <p:spPr>
          <a:xfrm>
            <a:off x="6415887"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Nothing to embed</a:t>
            </a:r>
          </a:p>
        </p:txBody>
      </p:sp>
      <p:cxnSp>
        <p:nvCxnSpPr>
          <p:cNvPr id="19" name="Connector 18"/>
          <p:cNvCxnSpPr/>
          <p:nvPr/>
        </p:nvCxnSpPr>
        <p:spPr>
          <a:xfrm>
            <a:off x="8819159"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093479"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58071"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4   </a:t>
            </a:r>
            <a:r>
              <a:rPr sz="1600" b="0" i="0">
                <a:solidFill>
                  <a:srgbClr val="F7F2E8"/>
                </a:solidFill>
                <a:latin typeface="Segoe UI Semibold"/>
              </a:rPr>
              <a:t>BOM</a:t>
            </a:r>
          </a:p>
        </p:txBody>
      </p:sp>
      <p:sp>
        <p:nvSpPr>
          <p:cNvPr id="22" name="TextBox 21"/>
          <p:cNvSpPr txBox="1"/>
          <p:nvPr/>
        </p:nvSpPr>
        <p:spPr>
          <a:xfrm>
            <a:off x="9258071"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UTF-8/16/32 is text</a:t>
            </a:r>
          </a:p>
        </p:txBody>
      </p:sp>
      <p:sp>
        <p:nvSpPr>
          <p:cNvPr id="23" name="Rounded Rectangle 22"/>
          <p:cNvSpPr/>
          <p:nvPr/>
        </p:nvSpPr>
        <p:spPr>
          <a:xfrm>
            <a:off x="566928"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31520"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5   </a:t>
            </a:r>
            <a:r>
              <a:rPr sz="1600" b="0" i="0">
                <a:solidFill>
                  <a:srgbClr val="F7F2E8"/>
                </a:solidFill>
                <a:latin typeface="Segoe UI Semibold"/>
              </a:rPr>
              <a:t>Signature</a:t>
            </a:r>
          </a:p>
        </p:txBody>
      </p:sp>
      <p:sp>
        <p:nvSpPr>
          <p:cNvPr id="25" name="TextBox 24"/>
          <p:cNvSpPr txBox="1"/>
          <p:nvPr/>
        </p:nvSpPr>
        <p:spPr>
          <a:xfrm>
            <a:off x="731520"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45 magic numbers</a:t>
            </a:r>
          </a:p>
        </p:txBody>
      </p:sp>
      <p:cxnSp>
        <p:nvCxnSpPr>
          <p:cNvPr id="26" name="Connector 25"/>
          <p:cNvCxnSpPr/>
          <p:nvPr/>
        </p:nvCxnSpPr>
        <p:spPr>
          <a:xfrm>
            <a:off x="3134791"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409111"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573703"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6   </a:t>
            </a:r>
            <a:r>
              <a:rPr sz="1600" b="0" i="0">
                <a:solidFill>
                  <a:srgbClr val="F7F2E8"/>
                </a:solidFill>
                <a:latin typeface="Segoe UI Semibold"/>
              </a:rPr>
              <a:t>NUL byte</a:t>
            </a:r>
          </a:p>
        </p:txBody>
      </p:sp>
      <p:sp>
        <p:nvSpPr>
          <p:cNvPr id="29" name="TextBox 28"/>
          <p:cNvSpPr txBox="1"/>
          <p:nvPr/>
        </p:nvSpPr>
        <p:spPr>
          <a:xfrm>
            <a:off x="3573703"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Classic binary test</a:t>
            </a:r>
          </a:p>
        </p:txBody>
      </p:sp>
      <p:cxnSp>
        <p:nvCxnSpPr>
          <p:cNvPr id="30" name="Connector 29"/>
          <p:cNvCxnSpPr/>
          <p:nvPr/>
        </p:nvCxnSpPr>
        <p:spPr>
          <a:xfrm>
            <a:off x="5976975"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251295"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15887"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7   </a:t>
            </a:r>
            <a:r>
              <a:rPr sz="1600" b="0" i="0">
                <a:solidFill>
                  <a:srgbClr val="F7F2E8"/>
                </a:solidFill>
                <a:latin typeface="Segoe UI Semibold"/>
              </a:rPr>
              <a:t>Control ratio</a:t>
            </a:r>
          </a:p>
        </p:txBody>
      </p:sp>
      <p:sp>
        <p:nvSpPr>
          <p:cNvPr id="33" name="TextBox 32"/>
          <p:cNvSpPr txBox="1"/>
          <p:nvPr/>
        </p:nvSpPr>
        <p:spPr>
          <a:xfrm>
            <a:off x="6415887"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Non-text byte share</a:t>
            </a:r>
          </a:p>
        </p:txBody>
      </p:sp>
      <p:cxnSp>
        <p:nvCxnSpPr>
          <p:cNvPr id="34" name="Connector 33"/>
          <p:cNvCxnSpPr/>
          <p:nvPr/>
        </p:nvCxnSpPr>
        <p:spPr>
          <a:xfrm>
            <a:off x="8819159"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093479"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258071"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8   </a:t>
            </a:r>
            <a:r>
              <a:rPr sz="1600" b="0" i="0">
                <a:solidFill>
                  <a:srgbClr val="F7F2E8"/>
                </a:solidFill>
                <a:latin typeface="Segoe UI Semibold"/>
              </a:rPr>
              <a:t>UTF-8</a:t>
            </a:r>
          </a:p>
        </p:txBody>
      </p:sp>
      <p:sp>
        <p:nvSpPr>
          <p:cNvPr id="37" name="TextBox 36"/>
          <p:cNvSpPr txBox="1"/>
          <p:nvPr/>
        </p:nvSpPr>
        <p:spPr>
          <a:xfrm>
            <a:off x="9258071"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Undecodable and dirty</a:t>
            </a:r>
          </a:p>
        </p:txBody>
      </p:sp>
      <p:sp>
        <p:nvSpPr>
          <p:cNvPr id="38" name="TextBox 37"/>
          <p:cNvSpPr txBox="1"/>
          <p:nvPr/>
        </p:nvSpPr>
        <p:spPr>
          <a:xfrm>
            <a:off x="566928" y="5696712"/>
            <a:ext cx="11057839" cy="457200"/>
          </a:xfrm>
          <a:prstGeom prst="rect">
            <a:avLst/>
          </a:prstGeom>
          <a:noFill/>
        </p:spPr>
        <p:txBody>
          <a:bodyPr wrap="square" lIns="45720" rIns="45720" tIns="27432" bIns="27432" anchor="t">
            <a:noAutofit/>
          </a:bodyPr>
          <a:lstStyle/>
          <a:p>
            <a:pPr algn="l">
              <a:lnSpc>
                <a:spcPct val="100000"/>
              </a:lnSpc>
            </a:pPr>
            <a:r>
              <a:rPr sz="1250" b="0" i="1">
                <a:solidFill>
                  <a:srgbClr val="A7B2B0"/>
                </a:solidFill>
                <a:latin typeface="Segoe UI"/>
              </a:rPr>
              <a:t>Copper stages can drop a binary file; jade stages can only keep a file as text. Any doubt keeps the file, and every omission is logged under </a:t>
            </a:r>
            <a:r>
              <a:rPr sz="1150" b="0" i="0">
                <a:solidFill>
                  <a:srgbClr val="E2B462"/>
                </a:solidFill>
                <a:latin typeface="Consolas"/>
              </a:rPr>
              <a:t>--- [BINARY-GUARD]</a:t>
            </a:r>
            <a:r>
              <a:rPr sz="1250" b="0" i="1">
                <a:solidFill>
                  <a:srgbClr val="A7B2B0"/>
                </a:solidFill>
                <a:latin typeface="Segoe UI"/>
              </a:rPr>
              <a: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FLOW COMPILER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compiler for the canvas and the chat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Canvas snapshots and chat-generated drafts compile through the same Agent Contract registry before any file reaches the session pool.</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Contracts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Connection slots, Parametrizer fields, secret paths, lifecycle flags.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Compiles the live canvas in write mode before any agent runs.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Validate</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dry run that previews the compiled configuration.</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Create Flow</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Chat drafts pass the same normalizer and redaction.</a:t>
            </a:r>
          </a:p>
        </p:txBody>
      </p:sp>
      <p:sp>
        <p:nvSpPr>
          <p:cNvPr id="24" name="Rounded Rectangle 23"/>
          <p:cNvSpPr/>
          <p:nvPr/>
        </p:nvSpPr>
        <p:spPr>
          <a:xfrm>
            <a:off x="6144768" y="2084831"/>
            <a:ext cx="5479999" cy="4114800"/>
          </a:xfrm>
          <a:prstGeom prst="roundRect">
            <a:avLst>
              <a:gd name="adj" fmla="val 2666"/>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345936" y="224942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565392" y="224942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6784848" y="224942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373368" y="2468879"/>
            <a:ext cx="5022799" cy="3602736"/>
          </a:xfrm>
          <a:prstGeom prst="rect">
            <a:avLst/>
          </a:prstGeom>
          <a:noFill/>
        </p:spPr>
        <p:txBody>
          <a:bodyPr wrap="none" lIns="45720" rIns="45720" tIns="27432" bIns="27432" anchor="t">
            <a:noAutofit/>
          </a:bodyPr>
          <a:lstStyle/>
          <a:p>
            <a:pPr algn="l">
              <a:lnSpc>
                <a:spcPct val="100000"/>
              </a:lnSpc>
            </a:pPr>
            <a:r>
              <a:rPr sz="1300" b="0" i="0">
                <a:solidFill>
                  <a:srgbClr val="E2B462"/>
                </a:solidFill>
                <a:latin typeface="Consolas"/>
              </a:rPr>
              <a:t>INI_SECTION_APIRER&lt;&lt;&lt;</a:t>
            </a:r>
          </a:p>
          <a:p>
            <a:pPr algn="l">
              <a:lnSpc>
                <a:spcPct val="100000"/>
              </a:lnSpc>
            </a:pPr>
            <a:r>
              <a:rPr sz="1300" b="0" i="0">
                <a:solidFill>
                  <a:srgbClr val="ECE7DC"/>
                </a:solidFill>
                <a:latin typeface="Consolas"/>
              </a:rPr>
              <a:t>url: https://example.org/status</a:t>
            </a:r>
          </a:p>
          <a:p>
            <a:pPr algn="l">
              <a:lnSpc>
                <a:spcPct val="100000"/>
              </a:lnSpc>
            </a:pPr>
            <a:r>
              <a:rPr sz="1300" b="0" i="0">
                <a:solidFill>
                  <a:srgbClr val="ECE7DC"/>
                </a:solidFill>
                <a:latin typeface="Consolas"/>
              </a:rPr>
              <a:t>status: 200</a:t>
            </a:r>
          </a:p>
          <a:p>
            <a:pPr algn="l">
              <a:lnSpc>
                <a:spcPct val="100000"/>
              </a:lnSpc>
            </a:pPr>
            <a:r>
              <a:rPr sz="1300" b="0" i="0">
                <a:solidFill>
                  <a:srgbClr val="ECE7DC"/>
                </a:solidFill>
                <a:latin typeface="Consolas"/>
              </a:rPr>
              <a:t> </a:t>
            </a:r>
          </a:p>
          <a:p>
            <a:pPr algn="l">
              <a:lnSpc>
                <a:spcPct val="100000"/>
              </a:lnSpc>
            </a:pPr>
            <a:r>
              <a:rPr sz="1300" b="0" i="0">
                <a:solidFill>
                  <a:srgbClr val="ECE7DC"/>
                </a:solidFill>
                <a:latin typeface="Consolas"/>
              </a:rPr>
              <a:t>{"service": "ok"}</a:t>
            </a:r>
          </a:p>
          <a:p>
            <a:pPr algn="l">
              <a:lnSpc>
                <a:spcPct val="100000"/>
              </a:lnSpc>
            </a:pPr>
            <a:r>
              <a:rPr sz="1300" b="0" i="0">
                <a:solidFill>
                  <a:srgbClr val="E2B462"/>
                </a:solidFill>
                <a:latin typeface="Consolas"/>
              </a:rPr>
              <a:t>&gt;&gt;&gt;END_SECTION_APIRER</a:t>
            </a:r>
          </a:p>
        </p:txBody>
      </p:sp>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RELIABILITY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Built to keep running</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Small, deliberate mechanisms keep the core alive under the conditions that used to stop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Console shield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log file is written first; console output goes through a bounded queue, so clicking the console cannot freeze her. Since v1.76.0 lines are coloured by level.</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Orphan reaper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Three tiers sweep dead descendants and orphaned console hosts after tools, after answers and at shutdown, without ever raising into the chat.</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Per-user log lines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carry a five-character tag such as [a3] so concurrent users and turns never blur.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Clean Ctrl+C</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signal handler only sets an event; a worker cleans up, a watchdog guarantees exit, and a second Ctrl+C exits at once.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Configurable port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django_port</a:t>
            </a:r>
            <a:r>
              <a:rPr sz="1300" b="0" i="0">
                <a:solidFill>
                  <a:srgbClr val="A7B2B0"/>
                </a:solidFill>
                <a:latin typeface="Segoe UI"/>
              </a:rPr>
              <a:t> moves the web port with no rebuild and falls back to 8000 on any bad value.</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and Templates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files live under the application's Temp folder; scaffolded projects default to its Templates folder.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050" b="0" i="0">
                <a:solidFill>
                  <a:srgbClr val="F7F2E8"/>
                </a:solidFill>
                <a:latin typeface="Palatino Linotype"/>
              </a:rPr>
              <a:t>Where You Work With Her</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chat, the two canvases, the catalog and the dialogs that operate everything else.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CHAT PAGE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Conversation with modes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page is where you talk to her. Up to eight toolbar switches decide how each request runs.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SWITCH</a:t>
            </a:r>
          </a:p>
        </p:txBody>
      </p:sp>
      <p:sp>
        <p:nvSpPr>
          <p:cNvPr id="11" name="TextBox 10"/>
          <p:cNvSpPr txBox="1"/>
          <p:nvPr/>
        </p:nvSpPr>
        <p:spPr>
          <a:xfrm>
            <a:off x="3293961" y="2121408"/>
            <a:ext cx="825765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IT DOES</a:t>
            </a:r>
          </a:p>
        </p:txBody>
      </p:sp>
      <p:sp>
        <p:nvSpPr>
          <p:cNvPr id="12" name="TextBox 11"/>
          <p:cNvSpPr txBox="1"/>
          <p:nvPr/>
        </p:nvSpPr>
        <p:spPr>
          <a:xfrm>
            <a:off x="640080" y="250545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Multi-Turn</a:t>
            </a:r>
          </a:p>
        </p:txBody>
      </p:sp>
      <p:sp>
        <p:nvSpPr>
          <p:cNvPr id="13" name="TextBox 12"/>
          <p:cNvSpPr txBox="1"/>
          <p:nvPr/>
        </p:nvSpPr>
        <p:spPr>
          <a:xfrm>
            <a:off x="3293961" y="250545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Planned, tool-calling operator mode; unchecked means direct one-shot answers.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Exec Report</a:t>
            </a:r>
          </a:p>
        </p:txBody>
      </p:sp>
      <p:sp>
        <p:nvSpPr>
          <p:cNvPr id="16" name="TextBox 15"/>
          <p:cNvSpPr txBox="1"/>
          <p:nvPr/>
        </p:nvSpPr>
        <p:spPr>
          <a:xfrm>
            <a:off x="3293961" y="288036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Appends per-agent execution tables; available while Multi-Turn is on.</a:t>
            </a:r>
          </a:p>
        </p:txBody>
      </p:sp>
      <p:sp>
        <p:nvSpPr>
          <p:cNvPr id="17" name="TextBox 16"/>
          <p:cNvSpPr txBox="1"/>
          <p:nvPr/>
        </p:nvSpPr>
        <p:spPr>
          <a:xfrm>
            <a:off x="640080" y="325526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a:t>
            </a:r>
          </a:p>
        </p:txBody>
      </p:sp>
      <p:sp>
        <p:nvSpPr>
          <p:cNvPr id="18" name="TextBox 17"/>
          <p:cNvSpPr txBox="1"/>
          <p:nvPr/>
        </p:nvSpPr>
        <p:spPr>
          <a:xfrm>
            <a:off x="3293961" y="325526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Adds the twelve ACPX and Skill tools to the bound surface; off by default.</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Ask Execs</a:t>
            </a:r>
          </a:p>
        </p:txBody>
      </p:sp>
      <p:sp>
        <p:nvSpPr>
          <p:cNvPr id="21" name="TextBox 20"/>
          <p:cNvSpPr txBox="1"/>
          <p:nvPr/>
        </p:nvSpPr>
        <p:spPr>
          <a:xfrm>
            <a:off x="3293961" y="3630168"/>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Proceed/Deny before each risky tool; a Deny stops the chain.</a:t>
            </a:r>
          </a:p>
        </p:txBody>
      </p:sp>
      <p:sp>
        <p:nvSpPr>
          <p:cNvPr id="22" name="TextBox 21"/>
          <p:cNvSpPr txBox="1"/>
          <p:nvPr/>
        </p:nvSpPr>
        <p:spPr>
          <a:xfrm>
            <a:off x="640080" y="4005072"/>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Step-by-Step</a:t>
            </a:r>
          </a:p>
        </p:txBody>
      </p:sp>
      <p:sp>
        <p:nvSpPr>
          <p:cNvPr id="23" name="TextBox 22"/>
          <p:cNvSpPr txBox="1"/>
          <p:nvPr/>
        </p:nvSpPr>
        <p:spPr>
          <a:xfrm>
            <a:off x="3293961" y="4005072"/>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One concrete action at a time, waiting for your reply before the next.</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Internet</a:t>
            </a:r>
          </a:p>
        </p:txBody>
      </p:sp>
      <p:sp>
        <p:nvSpPr>
          <p:cNvPr id="26" name="TextBox 25"/>
          <p:cNvSpPr txBox="1"/>
          <p:nvPr/>
        </p:nvSpPr>
        <p:spPr>
          <a:xfrm>
            <a:off x="3293961" y="437997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Allows a web search to add context to the answer.</a:t>
            </a:r>
          </a:p>
        </p:txBody>
      </p:sp>
      <p:sp>
        <p:nvSpPr>
          <p:cNvPr id="27" name="TextBox 26"/>
          <p:cNvSpPr txBox="1"/>
          <p:nvPr/>
        </p:nvSpPr>
        <p:spPr>
          <a:xfrm>
            <a:off x="640080" y="475488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Compact mode</a:t>
            </a:r>
          </a:p>
        </p:txBody>
      </p:sp>
      <p:sp>
        <p:nvSpPr>
          <p:cNvPr id="28" name="TextBox 27"/>
          <p:cNvSpPr txBox="1"/>
          <p:nvPr/>
        </p:nvSpPr>
        <p:spPr>
          <a:xfrm>
            <a:off x="3293961" y="475488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Binds only the rows you tick; locked on when the model cannot hold all.</a:t>
            </a:r>
          </a:p>
        </p:txBody>
      </p:sp>
      <p:sp>
        <p:nvSpPr>
          <p:cNvPr id="29" name="Rectangle 28"/>
          <p:cNvSpPr/>
          <p:nvPr/>
        </p:nvSpPr>
        <p:spPr>
          <a:xfrm>
            <a:off x="585216" y="50932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12978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Self-modify</a:t>
            </a:r>
          </a:p>
        </p:txBody>
      </p:sp>
      <p:sp>
        <p:nvSpPr>
          <p:cNvPr id="31" name="TextBox 30"/>
          <p:cNvSpPr txBox="1"/>
          <p:nvPr/>
        </p:nvSpPr>
        <p:spPr>
          <a:xfrm>
            <a:off x="3293961" y="512978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Sends her self-knowledge; only in self-modify builds, locked off if too big.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MESSAGE BOX</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More room to write, or more room to read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the divider above the message box. With her avatar undocked, the box can shrink to its buttons.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Drag or type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Pointer, arrows, Shift+arrows, Home and End move the divider.</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Undocked</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message box can shrink to its own action buttons.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Docked</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Her portrait keeps its room above the buttons.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Small windows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box scrolls itself; dialogs stay inside the window.</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CHAT 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Drop a message from the conversation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message card has Drop beside Copy, for your prompts and Tlamatini's answers.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Choose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Drop sits beside Copy on both user and assistant message cards.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Confirm</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Cancel starts focused. Red Drop confirms; Escape and close cancel.</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Remove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Delete the saved message from chat history. Its paired prompt or answer stays.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Continue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next request reads the updated history without a reconnect.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MEMORY AND EFFECTS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remains after Drop</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Deleting a chat card changes future conversation context. Separate saved notes and completed work remain.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History</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request reloads a window of up to eight newest database rows.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Saved notes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External MCP memory is separate. Ask her to forget its note too.</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messages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paired answer or prompt stays and may repeat the same information.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Completed work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Files and sent messages remain. Save a needed flow before dropping its card.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DIRECT VOICE INPUT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Speak beside Send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microphone captures first; no model tool-selection step stands between the click and recording.</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Click</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Direct Whisperer start; the host microphone opens only for a recording.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Listen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samples drive the in-chat indicator and the configured silence gate.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Recognize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Local faster-whisper or the explicitly configured cloud speech engine.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Send or review</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Submit once with current modes, or review the editable draft and press Send yourself.</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Config ends with Mic</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Choose automatic Send or an editable draft, using the same dialog style as the rest of Tlamatini.</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Input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Configured/default/listed host device, refresh and software gain from 0 to 300%.</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Sound gate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Silence 0.3-20 seconds, cap 5-600 seconds, adaptive or manual sensitivity.</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Recognition</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Language, English translation, capture rate/channels, local beam size and VAD.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Guardrails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settings before capture; removed or ambiguous saved devices cannot silently change inputs.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INTERNAL SERVICE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main console, no extra window</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Developer visibility requirements do not become additional product windows.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UI ownership</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composer displays recording and transcription; no second console.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Model/template inheritance plus validated, per-recording Mic capture overrides.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Boundary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direct button is input, not a wrapped tool or an Exec Report row.</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Release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Ship consumer/runtime/settings modules, carried validator and worker, Mic JS/CSS and template.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VERIFICATION SCOPE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source behavior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Dated source checks are evidence, not a claim that an older installer contains the change.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Current source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108 voice regressions, 42 theme tests and real worker metadata/lifecycle probes.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Browser evidence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62 headed checks with controlled transport; separate from live ASR.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Cold model loading, provider latency and hardware vary; no zero-latency promise.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Detailed guide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configuration, protocol and evidence.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NAVIGATION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menu bar, reorganized in v1.70.0</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new Panels menu opens the two canvases, and every configuration dialog lives under Config.</a:t>
            </a:r>
          </a:p>
        </p:txBody>
      </p:sp>
      <p:sp>
        <p:nvSpPr>
          <p:cNvPr id="8" name="Rounded Rectangle 7"/>
          <p:cNvSpPr/>
          <p:nvPr/>
        </p:nvSpPr>
        <p:spPr>
          <a:xfrm>
            <a:off x="566928" y="2084831"/>
            <a:ext cx="11057839" cy="4069080"/>
          </a:xfrm>
          <a:prstGeom prst="roundRect">
            <a:avLst>
              <a:gd name="adj" fmla="val 179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06526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MENU</a:t>
            </a:r>
          </a:p>
        </p:txBody>
      </p:sp>
      <p:sp>
        <p:nvSpPr>
          <p:cNvPr id="11" name="TextBox 10"/>
          <p:cNvSpPr txBox="1"/>
          <p:nvPr/>
        </p:nvSpPr>
        <p:spPr>
          <a:xfrm>
            <a:off x="2851647" y="2121408"/>
            <a:ext cx="869996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YOU FIND THERE</a:t>
            </a:r>
          </a:p>
        </p:txBody>
      </p:sp>
      <p:sp>
        <p:nvSpPr>
          <p:cNvPr id="12" name="TextBox 11"/>
          <p:cNvSpPr txBox="1"/>
          <p:nvPr/>
        </p:nvSpPr>
        <p:spPr>
          <a:xfrm>
            <a:off x="640080" y="2505456"/>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Open · Save</a:t>
            </a:r>
          </a:p>
        </p:txBody>
      </p:sp>
      <p:sp>
        <p:nvSpPr>
          <p:cNvPr id="13" name="TextBox 12"/>
          <p:cNvSpPr txBox="1"/>
          <p:nvPr/>
        </p:nvSpPr>
        <p:spPr>
          <a:xfrm>
            <a:off x="2851647" y="2505456"/>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file into the canvas or save its contents.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Context</a:t>
            </a:r>
          </a:p>
        </p:txBody>
      </p:sp>
      <p:sp>
        <p:nvSpPr>
          <p:cNvPr id="16" name="TextBox 15"/>
          <p:cNvSpPr txBox="1"/>
          <p:nvPr/>
        </p:nvSpPr>
        <p:spPr>
          <a:xfrm>
            <a:off x="2851647" y="288036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directory or file as context, and set file-type omissions.</a:t>
            </a:r>
          </a:p>
        </p:txBody>
      </p:sp>
      <p:sp>
        <p:nvSpPr>
          <p:cNvPr id="17" name="TextBox 16"/>
          <p:cNvSpPr txBox="1"/>
          <p:nvPr/>
        </p:nvSpPr>
        <p:spPr>
          <a:xfrm>
            <a:off x="640080" y="3255264"/>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Panels</a:t>
            </a:r>
          </a:p>
        </p:txBody>
      </p:sp>
      <p:sp>
        <p:nvSpPr>
          <p:cNvPr id="18" name="TextBox 17"/>
          <p:cNvSpPr txBox="1"/>
          <p:nvPr/>
        </p:nvSpPr>
        <p:spPr>
          <a:xfrm>
            <a:off x="2851647" y="3255264"/>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Agentic Control Panel, Prompt Flow Panel and, for staff, the Admin Panel. It stays usable while she is busy.</a:t>
            </a:r>
          </a:p>
        </p:txBody>
      </p:sp>
      <p:sp>
        <p:nvSpPr>
          <p:cNvPr id="19" name="Rectangle 18"/>
          <p:cNvSpPr/>
          <p:nvPr/>
        </p:nvSpPr>
        <p:spPr>
          <a:xfrm>
            <a:off x="585216" y="3822191"/>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858768"/>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ACPX-Skills</a:t>
            </a:r>
          </a:p>
        </p:txBody>
      </p:sp>
      <p:sp>
        <p:nvSpPr>
          <p:cNvPr id="21" name="TextBox 20"/>
          <p:cNvSpPr txBox="1"/>
          <p:nvPr/>
        </p:nvSpPr>
        <p:spPr>
          <a:xfrm>
            <a:off x="2851647" y="3858768"/>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Browse, configure, diagnose and reload the skill catalog.</a:t>
            </a:r>
          </a:p>
        </p:txBody>
      </p:sp>
      <p:sp>
        <p:nvSpPr>
          <p:cNvPr id="22" name="TextBox 21"/>
          <p:cNvSpPr txBox="1"/>
          <p:nvPr/>
        </p:nvSpPr>
        <p:spPr>
          <a:xfrm>
            <a:off x="640080" y="4233672"/>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External</a:t>
            </a:r>
          </a:p>
        </p:txBody>
      </p:sp>
      <p:sp>
        <p:nvSpPr>
          <p:cNvPr id="23" name="TextBox 22"/>
          <p:cNvSpPr txBox="1"/>
          <p:nvPr/>
        </p:nvSpPr>
        <p:spPr>
          <a:xfrm>
            <a:off x="2851647" y="4233672"/>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External MCPs dialog: catalog, activation and runtime readiness.</a:t>
            </a:r>
          </a:p>
        </p:txBody>
      </p:sp>
      <p:sp>
        <p:nvSpPr>
          <p:cNvPr id="24" name="Rectangle 23"/>
          <p:cNvSpPr/>
          <p:nvPr/>
        </p:nvSpPr>
        <p:spPr>
          <a:xfrm>
            <a:off x="585216" y="4572000"/>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608576"/>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Config</a:t>
            </a:r>
          </a:p>
        </p:txBody>
      </p:sp>
      <p:sp>
        <p:nvSpPr>
          <p:cNvPr id="26" name="TextBox 25"/>
          <p:cNvSpPr txBox="1"/>
          <p:nvPr/>
        </p:nvSpPr>
        <p:spPr>
          <a:xfrm>
            <a:off x="2851647" y="4608576"/>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Configure MCPs, Configure Agents, Models, URLs, Contacts, Access Keys Wizard, Voice, then Mic (dictation behavior and capture preferences).</a:t>
            </a:r>
          </a:p>
        </p:txBody>
      </p:sp>
      <p:sp>
        <p:nvSpPr>
          <p:cNvPr id="27" name="TextBox 26"/>
          <p:cNvSpPr txBox="1"/>
          <p:nvPr/>
        </p:nvSpPr>
        <p:spPr>
          <a:xfrm>
            <a:off x="640080" y="521208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DB</a:t>
            </a:r>
          </a:p>
        </p:txBody>
      </p:sp>
      <p:sp>
        <p:nvSpPr>
          <p:cNvPr id="28" name="TextBox 27"/>
          <p:cNvSpPr txBox="1"/>
          <p:nvPr/>
        </p:nvSpPr>
        <p:spPr>
          <a:xfrm>
            <a:off x="2851647" y="521208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WAL-safe database backup and staged replacement.</a:t>
            </a:r>
          </a:p>
        </p:txBody>
      </p:sp>
      <p:sp>
        <p:nvSpPr>
          <p:cNvPr id="29" name="Rectangle 28"/>
          <p:cNvSpPr/>
          <p:nvPr/>
        </p:nvSpPr>
        <p:spPr>
          <a:xfrm>
            <a:off x="585216" y="5550408"/>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586984"/>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Reconnect · About</a:t>
            </a:r>
          </a:p>
        </p:txBody>
      </p:sp>
      <p:sp>
        <p:nvSpPr>
          <p:cNvPr id="31" name="TextBox 30"/>
          <p:cNvSpPr txBox="1"/>
          <p:nvPr/>
        </p:nvSpPr>
        <p:spPr>
          <a:xfrm>
            <a:off x="2851647" y="5586984"/>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Rebuild the chat connection; version, author credits and Check for updates. Since v1.78.0, About also opens Usage, even while she is busy.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ABOUT → USAGE · NEW IN v1.78.0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usage while she works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ABOUT USAGE follows the shared dialog theme and remains available during a long answer.</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Cloud credits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Reported balance, monthly usage, allowance and refill weeks/date.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Chat activity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Your measured calls, input/output tokens and daily trends.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Models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Recorded model activity and peak UTC dates; server inventory alongside it.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While busy</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and refresh without interrupting the model request.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Normal size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Under 60% client area; ordinary typography and clear buttons.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Accessible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Keyboard tabs, chart tooltips, focus trap and normal Escape/Close behavior.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ACCOUNT DATA</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Different scopes, clearly identified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Monthly credits, rolling cloud usage and recorded local activity answer different questions.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Monthly balance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Actual included and purchased credits from /api/balance.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Rolling history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7/30-day cloud spend and tokens; separate from the billing period.</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Local model graphs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Measured Tlamatini main-chat activity, not website-wide history.</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Refresh</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Healthy data is cached 60 s; a brief outage is retried after 15 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Missing data</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Explain unavailable or stale values; no guessed balance or token count.</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References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docs.ollama.com/api/balance and /api/cloud-usage; docs/usage-dashboard.md.</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ADAPTIVE LAYOUT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Report what the account supplies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response shape selects the layout; a plan label is not a credit entitlement.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Monthly</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Returned allowance, balance, purchased credits and reset period.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Legacy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Remaining session/weekly percentages; no guessed dollar conversion.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Purchased only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the reported purchased balance; no invented included quota.</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Free or zero</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Report actual data and omit percentages when allowance is zero.</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Team</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Shared credit balance is distinct from member-scoped usage.</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Unlimited label</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Never interpreted as unlimited cloud credits.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AGENTIC CONTROL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Design agent workflows visually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any of the 89 agent types onto the canvas, connect output triangles to input triangles, configure each node, validate, and press Start.</a:t>
            </a:r>
          </a:p>
        </p:txBody>
      </p:sp>
      <p:sp>
        <p:nvSpPr>
          <p:cNvPr id="8" name="Rounded Rectangle 7"/>
          <p:cNvSpPr/>
          <p:nvPr/>
        </p:nvSpPr>
        <p:spPr>
          <a:xfrm>
            <a:off x="566928" y="2084831"/>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469392"/>
          </a:xfrm>
          <a:prstGeom prst="rect">
            <a:avLst/>
          </a:prstGeom>
          <a:noFill/>
        </p:spPr>
        <p:txBody>
          <a:bodyPr wrap="square" lIns="45720" rIns="45720" tIns="27432" bIns="27432" anchor="ctr">
            <a:noAutofit/>
          </a:bodyPr>
          <a:lstStyle/>
          <a:p>
            <a:pPr algn="l">
              <a:lnSpc>
                <a:spcPct val="100000"/>
              </a:lnSpc>
            </a:pPr>
            <a:r>
              <a:rPr sz="1550" b="0" i="0">
                <a:solidFill>
                  <a:srgbClr val="F7F2E8"/>
                </a:solidFill>
                <a:latin typeface="Segoe UI Semibold"/>
              </a:rPr>
              <a:t>Undo and Redo</a:t>
            </a:r>
          </a:p>
        </p:txBody>
      </p:sp>
      <p:sp>
        <p:nvSpPr>
          <p:cNvPr id="11" name="TextBox 10"/>
          <p:cNvSpPr txBox="1"/>
          <p:nvPr/>
        </p:nvSpPr>
        <p:spPr>
          <a:xfrm>
            <a:off x="2670048" y="2139696"/>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Up to 1,024 steps, configuration included.</a:t>
            </a:r>
          </a:p>
        </p:txBody>
      </p:sp>
      <p:sp>
        <p:nvSpPr>
          <p:cNvPr id="12" name="Rounded Rectangle 11"/>
          <p:cNvSpPr/>
          <p:nvPr/>
        </p:nvSpPr>
        <p:spPr>
          <a:xfrm>
            <a:off x="566928" y="2791968"/>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Duplicate</a:t>
            </a:r>
          </a:p>
        </p:txBody>
      </p:sp>
      <p:sp>
        <p:nvSpPr>
          <p:cNvPr id="15" name="TextBox 14"/>
          <p:cNvSpPr txBox="1"/>
          <p:nvPr/>
        </p:nvSpPr>
        <p:spPr>
          <a:xfrm>
            <a:off x="2670048" y="2846832"/>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Copies settings and internal connections.</a:t>
            </a:r>
          </a:p>
        </p:txBody>
      </p:sp>
      <p:sp>
        <p:nvSpPr>
          <p:cNvPr id="16" name="Rounded Rectangle 15"/>
          <p:cNvSpPr/>
          <p:nvPr/>
        </p:nvSpPr>
        <p:spPr>
          <a:xfrm>
            <a:off x="566928" y="3499103"/>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Zoom</a:t>
            </a:r>
          </a:p>
        </p:txBody>
      </p:sp>
      <p:sp>
        <p:nvSpPr>
          <p:cNvPr id="19" name="TextBox 18"/>
          <p:cNvSpPr txBox="1"/>
          <p:nvPr/>
        </p:nvSpPr>
        <p:spPr>
          <a:xfrm>
            <a:off x="2670048" y="3553967"/>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25 to 200 percent, and Fit.</a:t>
            </a:r>
          </a:p>
        </p:txBody>
      </p:sp>
      <p:sp>
        <p:nvSpPr>
          <p:cNvPr id="20" name="Rounded Rectangle 19"/>
          <p:cNvSpPr/>
          <p:nvPr/>
        </p:nvSpPr>
        <p:spPr>
          <a:xfrm>
            <a:off x="566928" y="4206240"/>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 search</a:t>
            </a:r>
          </a:p>
        </p:txBody>
      </p:sp>
      <p:sp>
        <p:nvSpPr>
          <p:cNvPr id="23" name="TextBox 22"/>
          <p:cNvSpPr txBox="1"/>
          <p:nvPr/>
        </p:nvSpPr>
        <p:spPr>
          <a:xfrm>
            <a:off x="2670048" y="4261103"/>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Filters the 89 agent types by name.</a:t>
            </a:r>
          </a:p>
        </p:txBody>
      </p:sp>
      <p:sp>
        <p:nvSpPr>
          <p:cNvPr id="24" name="Rounded Rectangle 23"/>
          <p:cNvSpPr/>
          <p:nvPr/>
        </p:nvSpPr>
        <p:spPr>
          <a:xfrm>
            <a:off x="566928" y="4913376"/>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Starters</a:t>
            </a:r>
          </a:p>
        </p:txBody>
      </p:sp>
      <p:sp>
        <p:nvSpPr>
          <p:cNvPr id="27" name="TextBox 26"/>
          <p:cNvSpPr txBox="1"/>
          <p:nvPr/>
        </p:nvSpPr>
        <p:spPr>
          <a:xfrm>
            <a:off x="2670048" y="4968239"/>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Locates each Starter on a large canvas.</a:t>
            </a:r>
          </a:p>
        </p:txBody>
      </p:sp>
      <p:sp>
        <p:nvSpPr>
          <p:cNvPr id="28" name="Rounded Rectangle 27"/>
          <p:cNvSpPr/>
          <p:nvPr/>
        </p:nvSpPr>
        <p:spPr>
          <a:xfrm>
            <a:off x="566928" y="5620512"/>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Help</a:t>
            </a:r>
          </a:p>
        </p:txBody>
      </p:sp>
      <p:sp>
        <p:nvSpPr>
          <p:cNvPr id="31" name="TextBox 30"/>
          <p:cNvSpPr txBox="1"/>
          <p:nvPr/>
        </p:nvSpPr>
        <p:spPr>
          <a:xfrm>
            <a:off x="2670048" y="5675375"/>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Explains every gesture; • marks unsaved changes.</a:t>
            </a:r>
          </a:p>
        </p:txBody>
      </p:sp>
      <p:sp>
        <p:nvSpPr>
          <p:cNvPr id="32" name="Rounded Rectangle 31"/>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Agents run as separate, log-emitting processes that talk through their </a:t>
            </a:r>
            <a:r>
              <a:rPr sz="1250" b="0" i="0">
                <a:solidFill>
                  <a:srgbClr val="E2B462"/>
                </a:solidFill>
                <a:latin typeface="Consolas"/>
              </a:rPr>
              <a:t>config.yaml</a:t>
            </a:r>
            <a:r>
              <a:rPr sz="1350" b="0" i="0">
                <a:solidFill>
                  <a:srgbClr val="ECE7DC"/>
                </a:solidFill>
                <a:latin typeface="Segoe UI"/>
              </a:rPr>
              <a:t> files, with a live LED for each. Flows can be paused, resumed and stopped, and saved or loaded as </a:t>
            </a:r>
            <a:r>
              <a:rPr sz="1250" b="0" i="0">
                <a:solidFill>
                  <a:srgbClr val="E2B462"/>
                </a:solidFill>
                <a:latin typeface="Consolas"/>
              </a:rPr>
              <a:t>.flw</a:t>
            </a:r>
            <a:r>
              <a:rPr sz="1350" b="0" i="0">
                <a:solidFill>
                  <a:srgbClr val="ECE7DC"/>
                </a:solidFill>
                <a:latin typeface="Segoe UI"/>
              </a:rPr>
              <a:t> files. FlowCreator can design a flow from a sentence, and FlowHypervisor watches a running flow and raises an alert when something looks wrong.</a:t>
            </a:r>
          </a:p>
          <a:p>
            <a:pPr algn="l">
              <a:lnSpc>
                <a:spcPct val="100000"/>
              </a:lnSpc>
              <a:spcBef>
                <a:spcPts val="1000"/>
              </a:spcBef>
            </a:pPr>
            <a:r>
              <a:rPr sz="1350" b="0" i="0">
                <a:solidFill>
                  <a:srgbClr val="ECE7DC"/>
                </a:solidFill>
                <a:latin typeface="Segoe UI"/>
              </a:rPr>
              <a:t>Since v1.70.0 the canvas is a real editor. Duplicate copies agents together with their saved settings and the connections between them; Undo also restores an agent's configuration. Editing locks while a flow runs, so a flow is never changed underneath its own processes.</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Draw a conversation, then press Play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Prompt Flow Panel turns a chain of prompts into a diagram of seven operations plus static review notes, saved as a portable </a:t>
            </a:r>
            <a:r>
              <a:rPr sz="1350" b="0" i="0">
                <a:solidFill>
                  <a:srgbClr val="E2B462"/>
                </a:solidFill>
                <a:latin typeface="Consolas"/>
              </a:rPr>
              <a:t>.fpmt</a:t>
            </a:r>
            <a:r>
              <a:rPr sz="1450" b="0" i="0">
                <a:solidFill>
                  <a:srgbClr val="A7B2B0"/>
                </a:solidFill>
                <a:latin typeface="Segoe UI Semilight"/>
              </a:rPr>
              <a:t> file and played against your configured models.</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749808"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755648"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Prompt</a:t>
            </a:r>
          </a:p>
        </p:txBody>
      </p:sp>
      <p:sp>
        <p:nvSpPr>
          <p:cNvPr id="11" name="TextBox 10"/>
          <p:cNvSpPr txBox="1"/>
          <p:nvPr/>
        </p:nvSpPr>
        <p:spPr>
          <a:xfrm>
            <a:off x="749808"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its text to the model; Multi-Turn and ACPX can be enabled.</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3569131"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163491" y="2322576"/>
            <a:ext cx="219456" cy="219456"/>
          </a:xfrm>
          <a:prstGeom prst="ellipse">
            <a:avLst/>
          </a:prstGeom>
          <a:solidFill>
            <a:srgbClr val="121A1D"/>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74971"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Programmed Prompt</a:t>
            </a:r>
          </a:p>
        </p:txBody>
      </p:sp>
      <p:sp>
        <p:nvSpPr>
          <p:cNvPr id="16" name="TextBox 15"/>
          <p:cNvSpPr txBox="1"/>
          <p:nvPr/>
        </p:nvSpPr>
        <p:spPr>
          <a:xfrm>
            <a:off x="3569131"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Waits for a scheduled time or a delay, then sends.</a:t>
            </a:r>
          </a:p>
        </p:txBody>
      </p:sp>
      <p:sp>
        <p:nvSpPr>
          <p:cNvPr id="17" name="Rounded Rectangle 16"/>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iamond 17"/>
          <p:cNvSpPr/>
          <p:nvPr/>
        </p:nvSpPr>
        <p:spPr>
          <a:xfrm>
            <a:off x="6388455" y="2267712"/>
            <a:ext cx="868680" cy="548640"/>
          </a:xfrm>
          <a:prstGeom prst="diamond">
            <a:avLst/>
          </a:prstGeom>
          <a:solidFill>
            <a:srgbClr val="E2B462">
              <a:alpha val="25000"/>
            </a:srgbClr>
          </a:solidFill>
          <a:ln w="952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94295"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Decision</a:t>
            </a:r>
          </a:p>
        </p:txBody>
      </p:sp>
      <p:sp>
        <p:nvSpPr>
          <p:cNvPr id="20" name="TextBox 19"/>
          <p:cNvSpPr txBox="1"/>
          <p:nvPr/>
        </p:nvSpPr>
        <p:spPr>
          <a:xfrm>
            <a:off x="6388455"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Takes Yes or No from the last answer, or asks you.</a:t>
            </a:r>
          </a:p>
        </p:txBody>
      </p:sp>
      <p:sp>
        <p:nvSpPr>
          <p:cNvPr id="21" name="Rounded Rectangle 20"/>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sosceles Triangle 21"/>
          <p:cNvSpPr/>
          <p:nvPr/>
        </p:nvSpPr>
        <p:spPr>
          <a:xfrm>
            <a:off x="9207779" y="2267712"/>
            <a:ext cx="868680" cy="548640"/>
          </a:xfrm>
          <a:prstGeom prst="triangl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213619"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Feed embeddings</a:t>
            </a:r>
          </a:p>
        </p:txBody>
      </p:sp>
      <p:sp>
        <p:nvSpPr>
          <p:cNvPr id="24" name="TextBox 23"/>
          <p:cNvSpPr txBox="1"/>
          <p:nvPr/>
        </p:nvSpPr>
        <p:spPr>
          <a:xfrm>
            <a:off x="9207779"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Adds reference text to this run's retrieval context.</a:t>
            </a:r>
          </a:p>
        </p:txBody>
      </p:sp>
      <p:sp>
        <p:nvSpPr>
          <p:cNvPr id="25" name="Rounded Rectangle 24"/>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Merge 25"/>
          <p:cNvSpPr/>
          <p:nvPr/>
        </p:nvSpPr>
        <p:spPr>
          <a:xfrm>
            <a:off x="749808" y="4434840"/>
            <a:ext cx="868680" cy="548640"/>
          </a:xfrm>
          <a:prstGeom prst="flowChartMerg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755648"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Flush embeddings</a:t>
            </a:r>
          </a:p>
        </p:txBody>
      </p:sp>
      <p:sp>
        <p:nvSpPr>
          <p:cNvPr id="28" name="TextBox 27"/>
          <p:cNvSpPr txBox="1"/>
          <p:nvPr/>
        </p:nvSpPr>
        <p:spPr>
          <a:xfrm>
            <a:off x="749808"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retrieval context.</a:t>
            </a:r>
          </a:p>
        </p:txBody>
      </p:sp>
      <p:sp>
        <p:nvSpPr>
          <p:cNvPr id="29" name="Rounded Rectangle 28"/>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rapezoid 29"/>
          <p:cNvSpPr/>
          <p:nvPr/>
        </p:nvSpPr>
        <p:spPr>
          <a:xfrm>
            <a:off x="3569131" y="4434840"/>
            <a:ext cx="868680" cy="548640"/>
          </a:xfrm>
          <a:prstGeom prst="trapezoid">
            <a:avLst/>
          </a:prstGeom>
          <a:solidFill>
            <a:srgbClr val="C98457">
              <a:alpha val="25000"/>
            </a:srgbClr>
          </a:solidFill>
          <a:ln w="952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74971"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 History</a:t>
            </a:r>
          </a:p>
        </p:txBody>
      </p:sp>
      <p:sp>
        <p:nvSpPr>
          <p:cNvPr id="32" name="TextBox 31"/>
          <p:cNvSpPr txBox="1"/>
          <p:nvPr/>
        </p:nvSpPr>
        <p:spPr>
          <a:xfrm>
            <a:off x="3569131"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conversation and last output.</a:t>
            </a:r>
          </a:p>
        </p:txBody>
      </p:sp>
      <p:sp>
        <p:nvSpPr>
          <p:cNvPr id="33" name="Rounded Rectangle 32"/>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Freeform 33"/>
          <p:cNvSpPr/>
          <p:nvPr/>
        </p:nvSpPr>
        <p:spPr>
          <a:xfrm>
            <a:off x="6603339" y="4434840"/>
            <a:ext cx="438912" cy="548640"/>
          </a:xfrm>
          <a:custGeom>
            <a:avLst/>
            <a:gdLst/>
            <a:ahLst/>
            <a:cxnLst/>
            <a:rect l="l" t="t" r="r" b="b"/>
            <a:pathLst>
              <a:path w="438912" h="548640">
                <a:moveTo>
                  <a:pt x="0" y="0"/>
                </a:moveTo>
                <a:lnTo>
                  <a:pt x="219456" y="155265"/>
                </a:lnTo>
                <a:lnTo>
                  <a:pt x="438912" y="0"/>
                </a:lnTo>
                <a:lnTo>
                  <a:pt x="438912" y="384048"/>
                </a:lnTo>
                <a:lnTo>
                  <a:pt x="219456" y="548640"/>
                </a:lnTo>
                <a:lnTo>
                  <a:pt x="0" y="384048"/>
                </a:lnTo>
                <a:close/>
              </a:path>
            </a:pathLst>
          </a:custGeom>
          <a:solidFill>
            <a:srgbClr val="D25CD6">
              <a:alpha val="25000"/>
            </a:srgbClr>
          </a:solidFill>
          <a:ln w="9525">
            <a:solidFill>
              <a:srgbClr val="D25C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94295"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User Input</a:t>
            </a:r>
          </a:p>
        </p:txBody>
      </p:sp>
      <p:sp>
        <p:nvSpPr>
          <p:cNvPr id="36" name="TextBox 35"/>
          <p:cNvSpPr txBox="1"/>
          <p:nvPr/>
        </p:nvSpPr>
        <p:spPr>
          <a:xfrm>
            <a:off x="6388455"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Stops to ask you something; your reply joins the run.</a:t>
            </a:r>
          </a:p>
        </p:txBody>
      </p:sp>
      <p:sp>
        <p:nvSpPr>
          <p:cNvPr id="37" name="Rounded Rectangle 36"/>
          <p:cNvSpPr/>
          <p:nvPr/>
        </p:nvSpPr>
        <p:spPr>
          <a:xfrm>
            <a:off x="9024899"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ular Callout 37"/>
          <p:cNvSpPr/>
          <p:nvPr/>
        </p:nvSpPr>
        <p:spPr>
          <a:xfrm>
            <a:off x="9207779" y="4434840"/>
            <a:ext cx="868680" cy="548640"/>
          </a:xfrm>
          <a:prstGeom prst="wedgeRoundRectCallout">
            <a:avLst/>
          </a:prstGeom>
          <a:solidFill>
            <a:srgbClr val="D9576B">
              <a:alpha val="25000"/>
            </a:srgbClr>
          </a:solidFill>
          <a:ln w="9525">
            <a:solidFill>
              <a:srgbClr val="D957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213619" y="4398264"/>
            <a:ext cx="1301419" cy="62179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User Commentary</a:t>
            </a:r>
          </a:p>
        </p:txBody>
      </p:sp>
      <p:sp>
        <p:nvSpPr>
          <p:cNvPr id="40" name="TextBox 39"/>
          <p:cNvSpPr txBox="1"/>
          <p:nvPr/>
        </p:nvSpPr>
        <p:spPr>
          <a:xfrm>
            <a:off x="9207779"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static speech-bubble note for reviewers; it never runs.</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Playback that stays in its own lane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Validate checks the diagram, Play runs it, and every run keeps its own conversation, embeddings and cancellation identity, so it never disturbs your chat.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JSON </a:t>
            </a:r>
            <a:r>
              <a:rPr sz="1200" b="0" i="0">
                <a:solidFill>
                  <a:srgbClr val="E2B462"/>
                </a:solidFill>
                <a:latin typeface="Consolas"/>
              </a:rPr>
              <a:t>tlamatini-prompting-flow</a:t>
            </a:r>
            <a:r>
              <a:rPr sz="1300" b="0" i="0">
                <a:solidFill>
                  <a:srgbClr val="A7B2B0"/>
                </a:solidFill>
                <a:latin typeface="Segoe UI"/>
              </a:rPr>
              <a:t>, version 2; version 1 files migrate.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 MiB, 500 assets, 1,000 connections.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Isolation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Empty history and embeddings at every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Validation</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Checked in the browser and again on the server.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Not .pmt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Plain-text system prompts keep .pmt and are refused.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Drafts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Kept per user in browser storage.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STATIC REVIEW NOTES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Writing and formatting a commentary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User Commentary is a review note on the canvas. User Input is the operation that pauses playback for a reply, using the notched figure.</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Write in place</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Double-click or Enter edits the bubble. No configuration dialog or numeric dimensions.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Mixed styles</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Floating toolbar: font, size, text color, bold, italic and underline for each passage.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Selection or caret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Format selected text or subsequent typing; outside editing, format the whole note.</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sizing</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Drag any edge/corner, even while writing. Fit text removes spare height. No internal scrollbars.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Finish or restore</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Done/Ctrl+Enter saves; Cancel/Escape restores text, styles and geometry. Editor and flow Undo/Redo.</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PORTABLE FLOW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Comments survive save, open and draft recovery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2 .fpmt files retain independent notes with their full text, formatting and geometry.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Version 2</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Literal text and allowlisted runs preserve mixed formatting.</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Older files</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Plain v2 notes normalize. Version 1 reply steps become User Input with IDs, edges and settings intact.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Static isolation</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ports, Start or execution steps. Text stays literal and never enters context or history.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Recovery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Independent notes retain text, styles and geometry. Opening never plays the flow; draft key stays compatible.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OPENING FLOW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right editor, from chat or Windows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October 4 source changes: .flw opens agents; .fpmt opens prompting flows. Opening never runs them.</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From chat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either flow in its editor and keep the chat document.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From Windows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Start once or reuse the running app; return through login.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Preserve work</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before replacement; confirm unsaved changes.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automatic run</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Opening prepares the diagram. Play remains a user action.</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WINDOWS FILE TYPES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Register, repair and remove both formats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Per-user associations, installation ownership and Windows default-app choices.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Register both types with names, icons and the correct editor destinations.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Administer</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Inspect Status, register or remove one type, or open Default Apps.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Update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Repair owned entries without undoing the user's opt-out.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Uninstall</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Remove owned registrations; keep other apps and user documents.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WINDOWS LIFECYCLE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Remove the application and its owned workers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Confirmation, installation ownership, retryable errors and preserved user content.</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Installer entry points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Resolve the installation directory inside PowerShell script bodies.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Owned workers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 this installation's agents and surviving descendants after confirmation.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Honest retry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Retain removal support until success; report locked files and registry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Preserve user work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Keep agents and nonempty content; notify the shell without restarting Explorer.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LOCAL RELEASE VALIDATION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Repair the boundary, then repeat the real operation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4 repairs, now carried by v1.76.0, have separate source, frozen, package and visual evidence.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user paths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Installer, login, Admin, chat, both panels and Windows file opening.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File fidelity</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Mixed styles, geometry and rendered text checked across save/open cycles.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boundaries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 MCP endpoints, agent defaults, mappings and identifier types.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Explicit 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Provider failure and blocked native launch remain visible in the verdict.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 OUTPUT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More room for the canvas or the log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the horizontal divider above Run output to give it 5% to 95% of the available pane height.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5% to 95%</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Share of canvas/output height, excluding headers, status and divider. Initial share: 20%.</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Stable content</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Independent scrolling. Canvas zoom and text sizes stay unchanged.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Keyboard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Up/Down: 1 point; Shift: 5. Home: 5%; End: 95%. Escape ends the drag.</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Remembered layout</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Collapse/reopen and window resizing retain the ratio. Saved per user, outside flow files and Undo/Redo.</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CATALOG OF PROMPTS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Ready-made prompts, grouped by purpose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Catalog of Prompts opens with 16 sections, each beginning with a guided Step-by-Step wizard and growing from simple to advanced.</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Sections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16, beginning with VOICE COMMANDS.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Openers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section starts with a guided Step-by-Step wizard.</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Badges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Derived from the prompt text; a click sets the modes.</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Grammar</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 you ]], {{ runtime }}, &lt; report slot &gt;.</a:t>
            </a:r>
          </a:p>
        </p:txBody>
      </p:sp>
      <p:sp>
        <p:nvSpPr>
          <p:cNvPr id="24" name="Rounded Rectangle 23"/>
          <p:cNvSpPr/>
          <p:nvPr/>
        </p:nvSpPr>
        <p:spPr>
          <a:xfrm>
            <a:off x="6144768" y="2084831"/>
            <a:ext cx="5479999" cy="1554479"/>
          </a:xfrm>
          <a:prstGeom prst="roundRect">
            <a:avLst>
              <a:gd name="adj" fmla="val 47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840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MARK</a:t>
            </a:r>
          </a:p>
        </p:txBody>
      </p:sp>
      <p:sp>
        <p:nvSpPr>
          <p:cNvPr id="27" name="TextBox 26"/>
          <p:cNvSpPr txBox="1"/>
          <p:nvPr/>
        </p:nvSpPr>
        <p:spPr>
          <a:xfrm>
            <a:off x="72043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FILLED BY</a:t>
            </a:r>
          </a:p>
        </p:txBody>
      </p:sp>
      <p:sp>
        <p:nvSpPr>
          <p:cNvPr id="28" name="TextBox 27"/>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9" name="TextBox 28"/>
          <p:cNvSpPr txBox="1"/>
          <p:nvPr/>
        </p:nvSpPr>
        <p:spPr>
          <a:xfrm>
            <a:off x="6217920" y="2505456"/>
            <a:ext cx="840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0" name="TextBox 29"/>
          <p:cNvSpPr txBox="1"/>
          <p:nvPr/>
        </p:nvSpPr>
        <p:spPr>
          <a:xfrm>
            <a:off x="72043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You</a:t>
            </a:r>
          </a:p>
        </p:txBody>
      </p:sp>
      <p:sp>
        <p:nvSpPr>
          <p:cNvPr id="31" name="TextBox 30"/>
          <p:cNvSpPr txBox="1"/>
          <p:nvPr/>
        </p:nvSpPr>
        <p:spPr>
          <a:xfrm>
            <a:off x="8409919" y="2505456"/>
            <a:ext cx="31416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you provide, collected at the top with a safe default.</a:t>
            </a:r>
          </a:p>
        </p:txBody>
      </p:sp>
      <p:sp>
        <p:nvSpPr>
          <p:cNvPr id="32" name="Rectangle 31"/>
          <p:cNvSpPr/>
          <p:nvPr/>
        </p:nvSpPr>
        <p:spPr>
          <a:xfrm>
            <a:off x="6163056" y="2980944"/>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4" name="TextBox 33"/>
          <p:cNvSpPr txBox="1"/>
          <p:nvPr/>
        </p:nvSpPr>
        <p:spPr>
          <a:xfrm>
            <a:off x="7204319" y="3017520"/>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Tlamatini</a:t>
            </a:r>
          </a:p>
        </p:txBody>
      </p:sp>
      <p:sp>
        <p:nvSpPr>
          <p:cNvPr id="35" name="TextBox 34"/>
          <p:cNvSpPr txBox="1"/>
          <p:nvPr/>
        </p:nvSpPr>
        <p:spPr>
          <a:xfrm>
            <a:off x="8409919" y="3017520"/>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she fills at run time.</a:t>
            </a:r>
          </a:p>
        </p:txBody>
      </p:sp>
      <p:sp>
        <p:nvSpPr>
          <p:cNvPr id="36" name="TextBox 35"/>
          <p:cNvSpPr txBox="1"/>
          <p:nvPr/>
        </p:nvSpPr>
        <p:spPr>
          <a:xfrm>
            <a:off x="6217920" y="3346703"/>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&lt; … &gt;</a:t>
            </a:r>
          </a:p>
        </p:txBody>
      </p:sp>
      <p:sp>
        <p:nvSpPr>
          <p:cNvPr id="37" name="TextBox 36"/>
          <p:cNvSpPr txBox="1"/>
          <p:nvPr/>
        </p:nvSpPr>
        <p:spPr>
          <a:xfrm>
            <a:off x="7204319" y="3346703"/>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 slot</a:t>
            </a:r>
          </a:p>
        </p:txBody>
      </p:sp>
      <p:sp>
        <p:nvSpPr>
          <p:cNvPr id="38" name="TextBox 37"/>
          <p:cNvSpPr txBox="1"/>
          <p:nvPr/>
        </p:nvSpPr>
        <p:spPr>
          <a:xfrm>
            <a:off x="8409919" y="334670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Where an answer is printed; never an input.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PDF CANVAS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a PDF, then hand her the whole document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a PDF beside the chat in a vendored Mozilla PDF.js viewer, then use it as context.</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reading</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Byte ranges from your disk; nothing uploaded, no model called.</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Viewer</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Mozilla PDF.js 6.3.289, vendored under Apache-2.0; no CDN.</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 as context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Text only by default; images only when you tick the box.</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progress</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Four progress rows, a real Cancel, failures reported.</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Passwords</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Used in memory only; never stored or logged.</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 </a:t>
            </a:r>
            <a:r>
              <a:rPr sz="1100" b="0" i="0" spc="240">
                <a:solidFill>
                  <a:srgbClr val="C98457"/>
                </a:solidFill>
                <a:latin typeface="Segoe UI Symbol"/>
              </a:rPr>
              <a:t>▸</a:t>
            </a:r>
            <a:r>
              <a:rPr sz="1100" b="0" i="0" spc="240">
                <a:solidFill>
                  <a:srgbClr val="C98457"/>
                </a:solidFill>
                <a:latin typeface="Segoe UI Semibold"/>
              </a:rPr>
              <a:t> MODELS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choice in one place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Models dialog exposes 38 model, engine and voice settings for the core services and 21 model-backed agents, in six searchable categories.</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Settings</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38 model, engine and voice choices.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Agents</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21 model-backed agents configured centrally.</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Inheritance</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 follows the global choice; literals override.</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Save</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Keeps unrelated settings, downloads nothing, then auto-tunes each model.</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Listed by the configured Ollama servers, asked with their token.</a:t>
            </a:r>
          </a:p>
        </p:txBody>
      </p:sp>
      <p:graphicFrame>
        <p:nvGraphicFramePr>
          <p:cNvPr id="28" name="Chart 27"/>
          <p:cNvGraphicFramePr>
            <a:graphicFrameLocks noGrp="1"/>
          </p:cNvGraphicFramePr>
          <p:nvPr/>
        </p:nvGraphicFramePr>
        <p:xfrm>
          <a:off x="6144768" y="2084831"/>
          <a:ext cx="5479999" cy="4114800"/>
        </p:xfrm>
        <a:graphic>
          <a:graphicData uri="http://schemas.openxmlformats.org/drawingml/2006/chart">
            <c:chart xmlns:c="http://schemas.openxmlformats.org/drawingml/2006/chart" r:id="rId4"/>
          </a:graphicData>
        </a:graphic>
      </p:graphicFrame>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Everything else, without editing files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Configuration, credentials, databases and updates are handled from the browser.</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Access Keys Wizard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guided place for provider keys; blank fields keep what is set.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Names resolve to addresses, phones and @usernames for messaging agents.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DB menu</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WAL-safe backup, and a verified database staged for the next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a:t>
            </a:r>
            <a:r>
              <a:rPr sz="1600" b="0" i="0">
                <a:solidFill>
                  <a:srgbClr val="F7F2E8"/>
                </a:solidFill>
                <a:latin typeface="Segoe UI Symbol"/>
              </a:rPr>
              <a:t>▸</a:t>
            </a:r>
            <a:r>
              <a:rPr sz="1600" b="0" i="0">
                <a:solidFill>
                  <a:srgbClr val="F7F2E8"/>
                </a:solidFill>
                <a:latin typeface="Segoe UI Semibold"/>
              </a:rPr>
              <a:t> MCPs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Search the catalog, activate up to five servers, install runtimes.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ACPX-Skills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Browse, enable, diagnose and reload skills.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Check for updates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Stage the latest published release and swap it in safely.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dismissal rule everywhere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Escape means exactly what a dialog's </a:t>
            </a:r>
            <a:r>
              <a:rPr sz="2600" b="0" i="0">
                <a:solidFill>
                  <a:srgbClr val="F7F2E8"/>
                </a:solidFill>
                <a:latin typeface="Segoe UI Symbol"/>
              </a:rPr>
              <a:t>✕</a:t>
            </a:r>
            <a:r>
              <a:rPr sz="2600" b="0" i="0">
                <a:solidFill>
                  <a:srgbClr val="F7F2E8"/>
                </a:solidFill>
                <a:latin typeface="Segoe UI Light"/>
              </a:rPr>
              <a:t> means, and an outside click never dismisses anything. A downloading updater is the single dialog that refuses to close.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“Everything else, without editing files”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25CD6"/>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The Bestiary</a:t>
            </a:r>
          </a:p>
        </p:txBody>
      </p:sp>
      <p:sp>
        <p:nvSpPr>
          <p:cNvPr id="6" name="Rectangle 5"/>
          <p:cNvSpPr/>
          <p:nvPr/>
        </p:nvSpPr>
        <p:spPr>
          <a:xfrm>
            <a:off x="841248" y="4315968"/>
            <a:ext cx="100584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89 agent types in twelve families. Each is a plain-Python program you can read, audit and change.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89 agents, twelve families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follows one skeleton: a template directory, a </a:t>
            </a:r>
            <a:r>
              <a:rPr sz="1350" b="0" i="0">
                <a:solidFill>
                  <a:srgbClr val="E2B462"/>
                </a:solidFill>
                <a:latin typeface="Consolas"/>
              </a:rPr>
              <a:t>config.yaml</a:t>
            </a:r>
            <a:r>
              <a:rPr sz="1450" b="0" i="0">
                <a:solidFill>
                  <a:srgbClr val="A7B2B0"/>
                </a:solidFill>
                <a:latin typeface="Segoe UI Semilight"/>
              </a:rPr>
              <a:t>, a session-scoped pool copy, PID and log files, and explicit source and target wiring.</a:t>
            </a:r>
          </a:p>
        </p:txBody>
      </p:sp>
      <p:sp>
        <p:nvSpPr>
          <p:cNvPr id="8" name="Rounded Rectangle 7"/>
          <p:cNvSpPr/>
          <p:nvPr/>
        </p:nvSpPr>
        <p:spPr>
          <a:xfrm>
            <a:off x="566928"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66928" y="219456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13232"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11" name="TextBox 10"/>
          <p:cNvSpPr txBox="1"/>
          <p:nvPr/>
        </p:nvSpPr>
        <p:spPr>
          <a:xfrm>
            <a:off x="1527048"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Flow control</a:t>
            </a:r>
          </a:p>
        </p:txBody>
      </p:sp>
      <p:sp>
        <p:nvSpPr>
          <p:cNvPr id="12" name="TextBox 11"/>
          <p:cNvSpPr txBox="1"/>
          <p:nvPr/>
        </p:nvSpPr>
        <p:spPr>
          <a:xfrm>
            <a:off x="1527048"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Begin, pause, schedule and end a flow.</a:t>
            </a:r>
          </a:p>
        </p:txBody>
      </p:sp>
      <p:sp>
        <p:nvSpPr>
          <p:cNvPr id="13" name="Rounded Rectangle 12"/>
          <p:cNvSpPr/>
          <p:nvPr/>
        </p:nvSpPr>
        <p:spPr>
          <a:xfrm>
            <a:off x="4313834"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13834" y="219456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460138"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16" name="TextBox 15"/>
          <p:cNvSpPr txBox="1"/>
          <p:nvPr/>
        </p:nvSpPr>
        <p:spPr>
          <a:xfrm>
            <a:off x="5273954"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Routing and logic</a:t>
            </a:r>
          </a:p>
        </p:txBody>
      </p:sp>
      <p:sp>
        <p:nvSpPr>
          <p:cNvPr id="17" name="TextBox 16"/>
          <p:cNvSpPr txBox="1"/>
          <p:nvPr/>
        </p:nvSpPr>
        <p:spPr>
          <a:xfrm>
            <a:off x="5273954" y="2530601"/>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Decide where the flow goes next.</a:t>
            </a:r>
          </a:p>
        </p:txBody>
      </p:sp>
      <p:sp>
        <p:nvSpPr>
          <p:cNvPr id="18" name="Rounded Rectangle 17"/>
          <p:cNvSpPr/>
          <p:nvPr/>
        </p:nvSpPr>
        <p:spPr>
          <a:xfrm>
            <a:off x="8060740"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60740" y="219456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07044"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11</a:t>
            </a:r>
          </a:p>
        </p:txBody>
      </p:sp>
      <p:sp>
        <p:nvSpPr>
          <p:cNvPr id="21" name="TextBox 20"/>
          <p:cNvSpPr txBox="1"/>
          <p:nvPr/>
        </p:nvSpPr>
        <p:spPr>
          <a:xfrm>
            <a:off x="9020860" y="2157984"/>
            <a:ext cx="2512466" cy="372618"/>
          </a:xfrm>
          <a:prstGeom prst="rect">
            <a:avLst/>
          </a:prstGeom>
          <a:noFill/>
        </p:spPr>
        <p:txBody>
          <a:bodyPr wrap="square" lIns="45720" rIns="45720" tIns="27432" bIns="27432" anchor="b">
            <a:noAutofit/>
          </a:bodyPr>
          <a:lstStyle/>
          <a:p>
            <a:pPr algn="l">
              <a:lnSpc>
                <a:spcPct val="100000"/>
              </a:lnSpc>
            </a:pPr>
            <a:r>
              <a:rPr sz="1300" b="0" i="0">
                <a:solidFill>
                  <a:srgbClr val="E2B462"/>
                </a:solidFill>
                <a:latin typeface="Segoe UI Semibold"/>
              </a:rPr>
              <a:t>Orchestration and intelligence</a:t>
            </a:r>
          </a:p>
        </p:txBody>
      </p:sp>
      <p:sp>
        <p:nvSpPr>
          <p:cNvPr id="22" name="TextBox 21"/>
          <p:cNvSpPr txBox="1"/>
          <p:nvPr/>
        </p:nvSpPr>
        <p:spPr>
          <a:xfrm>
            <a:off x="9020860"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 connect, supervise and reason.</a:t>
            </a:r>
          </a:p>
        </p:txBody>
      </p:sp>
      <p:sp>
        <p:nvSpPr>
          <p:cNvPr id="23" name="Rounded Rectangle 22"/>
          <p:cNvSpPr/>
          <p:nvPr/>
        </p:nvSpPr>
        <p:spPr>
          <a:xfrm>
            <a:off x="566928"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66928" y="326898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13232"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13</a:t>
            </a:r>
          </a:p>
        </p:txBody>
      </p:sp>
      <p:sp>
        <p:nvSpPr>
          <p:cNvPr id="26" name="TextBox 25"/>
          <p:cNvSpPr txBox="1"/>
          <p:nvPr/>
        </p:nvSpPr>
        <p:spPr>
          <a:xfrm>
            <a:off x="1527048"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Code, files and shell</a:t>
            </a:r>
          </a:p>
        </p:txBody>
      </p:sp>
      <p:sp>
        <p:nvSpPr>
          <p:cNvPr id="27" name="TextBox 26"/>
          <p:cNvSpPr txBox="1"/>
          <p:nvPr/>
        </p:nvSpPr>
        <p:spPr>
          <a:xfrm>
            <a:off x="1527048"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Find, read, change and run.</a:t>
            </a:r>
          </a:p>
        </p:txBody>
      </p:sp>
      <p:sp>
        <p:nvSpPr>
          <p:cNvPr id="28" name="Rounded Rectangle 27"/>
          <p:cNvSpPr/>
          <p:nvPr/>
        </p:nvSpPr>
        <p:spPr>
          <a:xfrm>
            <a:off x="4313834"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313834" y="326898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460138"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3</a:t>
            </a:r>
          </a:p>
        </p:txBody>
      </p:sp>
      <p:sp>
        <p:nvSpPr>
          <p:cNvPr id="31" name="TextBox 30"/>
          <p:cNvSpPr txBox="1"/>
          <p:nvPr/>
        </p:nvSpPr>
        <p:spPr>
          <a:xfrm>
            <a:off x="5273954"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Documents</a:t>
            </a:r>
          </a:p>
        </p:txBody>
      </p:sp>
      <p:sp>
        <p:nvSpPr>
          <p:cNvPr id="32" name="TextBox 31"/>
          <p:cNvSpPr txBox="1"/>
          <p:nvPr/>
        </p:nvSpPr>
        <p:spPr>
          <a:xfrm>
            <a:off x="5273954"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Compose, typeset and present.</a:t>
            </a:r>
          </a:p>
        </p:txBody>
      </p:sp>
      <p:sp>
        <p:nvSpPr>
          <p:cNvPr id="33" name="Rounded Rectangle 32"/>
          <p:cNvSpPr/>
          <p:nvPr/>
        </p:nvSpPr>
        <p:spPr>
          <a:xfrm>
            <a:off x="8060740"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060740" y="326898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207044"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36" name="TextBox 35"/>
          <p:cNvSpPr txBox="1"/>
          <p:nvPr/>
        </p:nvSpPr>
        <p:spPr>
          <a:xfrm>
            <a:off x="9020860"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Web, data and APIs</a:t>
            </a:r>
          </a:p>
        </p:txBody>
      </p:sp>
      <p:sp>
        <p:nvSpPr>
          <p:cNvPr id="37" name="TextBox 36"/>
          <p:cNvSpPr txBox="1"/>
          <p:nvPr/>
        </p:nvSpPr>
        <p:spPr>
          <a:xfrm>
            <a:off x="9020860"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Search, browse, call and measure.</a:t>
            </a:r>
          </a:p>
        </p:txBody>
      </p:sp>
      <p:sp>
        <p:nvSpPr>
          <p:cNvPr id="38" name="Rounded Rectangle 37"/>
          <p:cNvSpPr/>
          <p:nvPr/>
        </p:nvSpPr>
        <p:spPr>
          <a:xfrm>
            <a:off x="566928"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66928" y="434340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13232"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41" name="TextBox 40"/>
          <p:cNvSpPr txBox="1"/>
          <p:nvPr/>
        </p:nvSpPr>
        <p:spPr>
          <a:xfrm>
            <a:off x="1527048"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DevOps and infrastructure</a:t>
            </a:r>
          </a:p>
        </p:txBody>
      </p:sp>
      <p:sp>
        <p:nvSpPr>
          <p:cNvPr id="42" name="TextBox 41"/>
          <p:cNvSpPr txBox="1"/>
          <p:nvPr/>
        </p:nvSpPr>
        <p:spPr>
          <a:xfrm>
            <a:off x="1527048" y="4679442"/>
            <a:ext cx="2512466" cy="372618"/>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Containers, clusters, pipelines and hosts.</a:t>
            </a:r>
          </a:p>
        </p:txBody>
      </p:sp>
      <p:sp>
        <p:nvSpPr>
          <p:cNvPr id="43" name="Rounded Rectangle 42"/>
          <p:cNvSpPr/>
          <p:nvPr/>
        </p:nvSpPr>
        <p:spPr>
          <a:xfrm>
            <a:off x="4313834"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4313834" y="434340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460138"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8</a:t>
            </a:r>
          </a:p>
        </p:txBody>
      </p:sp>
      <p:sp>
        <p:nvSpPr>
          <p:cNvPr id="46" name="TextBox 45"/>
          <p:cNvSpPr txBox="1"/>
          <p:nvPr/>
        </p:nvSpPr>
        <p:spPr>
          <a:xfrm>
            <a:off x="5273954"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Quality and security</a:t>
            </a:r>
          </a:p>
        </p:txBody>
      </p:sp>
      <p:sp>
        <p:nvSpPr>
          <p:cNvPr id="47" name="TextBox 46"/>
          <p:cNvSpPr txBox="1"/>
          <p:nvPr/>
        </p:nvSpPr>
        <p:spPr>
          <a:xfrm>
            <a:off x="5273954"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Review, analyze, assess and protect.</a:t>
            </a:r>
          </a:p>
        </p:txBody>
      </p:sp>
      <p:sp>
        <p:nvSpPr>
          <p:cNvPr id="48" name="Rounded Rectangle 47"/>
          <p:cNvSpPr/>
          <p:nvPr/>
        </p:nvSpPr>
        <p:spPr>
          <a:xfrm>
            <a:off x="8060740"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8060740" y="434340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207044"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51" name="TextBox 50"/>
          <p:cNvSpPr txBox="1"/>
          <p:nvPr/>
        </p:nvSpPr>
        <p:spPr>
          <a:xfrm>
            <a:off x="9020860"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E2B462"/>
                </a:solidFill>
                <a:latin typeface="Segoe UI Semibold"/>
              </a:rPr>
              <a:t>Firmware and engines</a:t>
            </a:r>
          </a:p>
        </p:txBody>
      </p:sp>
      <p:sp>
        <p:nvSpPr>
          <p:cNvPr id="52" name="TextBox 51"/>
          <p:cNvSpPr txBox="1"/>
          <p:nvPr/>
        </p:nvSpPr>
        <p:spPr>
          <a:xfrm>
            <a:off x="9020860"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Real boards and live editors.</a:t>
            </a:r>
          </a:p>
        </p:txBody>
      </p:sp>
      <p:sp>
        <p:nvSpPr>
          <p:cNvPr id="53" name="Rounded Rectangle 52"/>
          <p:cNvSpPr/>
          <p:nvPr/>
        </p:nvSpPr>
        <p:spPr>
          <a:xfrm>
            <a:off x="566928"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566928" y="541782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713232"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5</a:t>
            </a:r>
          </a:p>
        </p:txBody>
      </p:sp>
      <p:sp>
        <p:nvSpPr>
          <p:cNvPr id="56" name="TextBox 55"/>
          <p:cNvSpPr txBox="1"/>
          <p:nvPr/>
        </p:nvSpPr>
        <p:spPr>
          <a:xfrm>
            <a:off x="1527048"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Desktop and capture</a:t>
            </a:r>
          </a:p>
        </p:txBody>
      </p:sp>
      <p:sp>
        <p:nvSpPr>
          <p:cNvPr id="57" name="TextBox 56"/>
          <p:cNvSpPr txBox="1"/>
          <p:nvPr/>
        </p:nvSpPr>
        <p:spPr>
          <a:xfrm>
            <a:off x="1527048" y="5753862"/>
            <a:ext cx="2512466" cy="372618"/>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See the screen, move the pointer, type.</a:t>
            </a:r>
          </a:p>
        </p:txBody>
      </p:sp>
      <p:sp>
        <p:nvSpPr>
          <p:cNvPr id="58" name="Rounded Rectangle 57"/>
          <p:cNvSpPr/>
          <p:nvPr/>
        </p:nvSpPr>
        <p:spPr>
          <a:xfrm>
            <a:off x="4313834"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4313834" y="541782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460138"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61" name="TextBox 60"/>
          <p:cNvSpPr txBox="1"/>
          <p:nvPr/>
        </p:nvSpPr>
        <p:spPr>
          <a:xfrm>
            <a:off x="5273954"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Voice, audio and vision</a:t>
            </a:r>
          </a:p>
        </p:txBody>
      </p:sp>
      <p:sp>
        <p:nvSpPr>
          <p:cNvPr id="62" name="TextBox 61"/>
          <p:cNvSpPr txBox="1"/>
          <p:nvPr/>
        </p:nvSpPr>
        <p:spPr>
          <a:xfrm>
            <a:off x="5273954"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Hear, speak, play and look.</a:t>
            </a:r>
          </a:p>
        </p:txBody>
      </p:sp>
      <p:sp>
        <p:nvSpPr>
          <p:cNvPr id="63" name="Rounded Rectangle 62"/>
          <p:cNvSpPr/>
          <p:nvPr/>
        </p:nvSpPr>
        <p:spPr>
          <a:xfrm>
            <a:off x="8060740"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8060740" y="541782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8207044"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10</a:t>
            </a:r>
          </a:p>
        </p:txBody>
      </p:sp>
      <p:sp>
        <p:nvSpPr>
          <p:cNvPr id="66" name="TextBox 65"/>
          <p:cNvSpPr txBox="1"/>
          <p:nvPr/>
        </p:nvSpPr>
        <p:spPr>
          <a:xfrm>
            <a:off x="9020860"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Messaging and monitoring</a:t>
            </a:r>
          </a:p>
        </p:txBody>
      </p:sp>
      <p:sp>
        <p:nvSpPr>
          <p:cNvPr id="67" name="TextBox 66"/>
          <p:cNvSpPr txBox="1"/>
          <p:nvPr/>
        </p:nvSpPr>
        <p:spPr>
          <a:xfrm>
            <a:off x="9020860"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Reach people and watch systems.</a:t>
            </a:r>
          </a:p>
        </p:txBody>
      </p:sp>
      <p:cxnSp>
        <p:nvCxnSpPr>
          <p:cNvPr id="68" name="Connector 6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70" name="TextBox 6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Flow control</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Begin, pause, schedule and end a flow.</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Starter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The entry point of every flow; launches its targets when you press Start.</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Ender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Ends a flow gracefully: kills its targets, then starts backups and cleaners.</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Stopper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Watches logs for a pattern and stops exactly those source agents.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Cleaner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Post-run janitor that removes the logs and PID files of finished agents.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Sleeper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Waits a configured number of milliseconds, then starts its targets.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Croner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daily clock trigger that starts its targets at a configured HH:MM.</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Routing and logic</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Decide where the flow goes next.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Raiser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Fires its targets the moment a pattern appears in a watched log.</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Forker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Automatic A/B router: whichever of two patterns appears first picks the path.</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Asker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Asks you in the chat to choose Path A or Path B: a human in the loop.</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Counter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persistent tally that routes below, or at and above, a threshold.</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AND</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once both sources have matched.</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as soon as either source matches.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Barrier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N-input fan-in that releases once every configured source has arrived.</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11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Orchestration and intelligence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Design, connect, supervise and reason.</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Parametrizer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Maps one agent's structured output into the next agent's configuration.</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FlowCreator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Designs a complete, validated .flw workflow from a plain objective.</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FlowHypervisor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A model watchdog that reads a running flow: OK or ATTENTION NEEDED.</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FlowBacker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Backs up a session's logs and configurations before clean-up.</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Webhook and folder-drop ingress that turns outside events into triggers.</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 Relayer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Relays GitHub and GitLab webhooks into Gatewayer.</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Node Manager</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Infrastructure registry: discovers nodes, probes heartbeats and capabilities.</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Prompter</a:t>
            </a:r>
          </a:p>
        </p:txBody>
      </p:sp>
      <p:sp>
        <p:nvSpPr>
          <p:cNvPr id="39" name="TextBox 38"/>
          <p:cNvSpPr txBox="1"/>
          <p:nvPr/>
        </p:nvSpPr>
        <p:spPr>
          <a:xfrm>
            <a:off x="9152915" y="4125468"/>
            <a:ext cx="2343835" cy="537971"/>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Sends one prompt to a model and logs a structured answer.</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Summarizer</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Summarizes text once, or watches logs and fires on a detected event.</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ACPXer</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Runs one external coding-agent CLI turn on the canvas and captures its answer.</a:t>
            </a:r>
          </a:p>
        </p:txBody>
      </p:sp>
      <p:sp>
        <p:nvSpPr>
          <p:cNvPr id="48" name="Rounded Rectangle 47"/>
          <p:cNvSpPr/>
          <p:nvPr/>
        </p:nvSpPr>
        <p:spPr>
          <a:xfrm>
            <a:off x="6205575"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6370167"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33591"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MCP Doctor</a:t>
            </a:r>
          </a:p>
        </p:txBody>
      </p:sp>
      <p:sp>
        <p:nvSpPr>
          <p:cNvPr id="51" name="TextBox 50"/>
          <p:cNvSpPr txBox="1"/>
          <p:nvPr/>
        </p:nvSpPr>
        <p:spPr>
          <a:xfrm>
            <a:off x="6333591"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Diagnoses an external MCP server on paper, before any live connection.</a:t>
            </a:r>
          </a:p>
        </p:txBody>
      </p:sp>
      <p:cxnSp>
        <p:nvCxnSpPr>
          <p:cNvPr id="52" name="Connector 5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4" name="TextBox 5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(1/2)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Executer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a shell command, optionally in its own visible console.</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Pythonxer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inline Python behind a compile() and Ruff correctness gate.</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Editor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Byte-exact find-and-replace in one file; refuses an ambiguous match.</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Grepper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Encoding-aware regex search, plus verbatim reads of a line range.</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Globber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Finds files by glob pattern, newest first.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File-Creator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Creates a file with exact content, including a base64 channel.</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Mover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Moves or copies files by glob pattern.</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(2/2)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Deleter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Deletes by glob inside a guarded working directory.</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File-Interpreter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Reads DOCX, PPTX, XLSX, PDF and more, optionally summarizing them.</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File-Extractor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Extracts raw text from PDF, DOCX and similar documents.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De-Compresser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Compresses or decompresses .zip, .7z, .gz and tar archives.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J-Decompiler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Decompiles JAR and WAR archives with the bundled jd-cli.</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Gitter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git operations and custom git commands.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Compose, typeset and present.</a:t>
            </a:r>
          </a:p>
        </p:txBody>
      </p:sp>
      <p:sp>
        <p:nvSpPr>
          <p:cNvPr id="8" name="Rounded Rectangle 7"/>
          <p:cNvSpPr/>
          <p:nvPr/>
        </p:nvSpPr>
        <p:spPr>
          <a:xfrm>
            <a:off x="566928"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PDFer</a:t>
            </a:r>
          </a:p>
        </p:txBody>
      </p:sp>
      <p:sp>
        <p:nvSpPr>
          <p:cNvPr id="11" name="TextBox 10"/>
          <p:cNvSpPr txBox="1"/>
          <p:nvPr/>
        </p:nvSpPr>
        <p:spPr>
          <a:xfrm>
            <a:off x="694944"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Composes PDFs from text, Markdown, HTML and images: 24 styles, 20 themes.</a:t>
            </a:r>
          </a:p>
        </p:txBody>
      </p:sp>
      <p:sp>
        <p:nvSpPr>
          <p:cNvPr id="12" name="Rounded Rectangle 11"/>
          <p:cNvSpPr/>
          <p:nvPr/>
        </p:nvSpPr>
        <p:spPr>
          <a:xfrm>
            <a:off x="4326026"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PPTXer</a:t>
            </a:r>
          </a:p>
        </p:txBody>
      </p:sp>
      <p:sp>
        <p:nvSpPr>
          <p:cNvPr id="15" name="TextBox 14"/>
          <p:cNvSpPr txBox="1"/>
          <p:nvPr/>
        </p:nvSpPr>
        <p:spPr>
          <a:xfrm>
            <a:off x="4454042"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Builds editable PowerPoint decks whose text is measured, never truncated.</a:t>
            </a:r>
          </a:p>
        </p:txBody>
      </p:sp>
      <p:sp>
        <p:nvSpPr>
          <p:cNvPr id="16" name="Rounded Rectangle 15"/>
          <p:cNvSpPr/>
          <p:nvPr/>
        </p:nvSpPr>
        <p:spPr>
          <a:xfrm>
            <a:off x="8085124"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LaTeXer</a:t>
            </a:r>
          </a:p>
        </p:txBody>
      </p:sp>
      <p:sp>
        <p:nvSpPr>
          <p:cNvPr id="19" name="TextBox 18"/>
          <p:cNvSpPr txBox="1"/>
          <p:nvPr/>
        </p:nvSpPr>
        <p:spPr>
          <a:xfrm>
            <a:off x="8213140"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Typesets LaTeX projects, with a self-healing eight-rung repair ladder.</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data and APIs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Search, browse, call and measure.</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Googler</a:t>
            </a:r>
          </a:p>
        </p:txBody>
      </p:sp>
      <p:sp>
        <p:nvSpPr>
          <p:cNvPr id="11" name="TextBox 10"/>
          <p:cNvSpPr txBox="1"/>
          <p:nvPr/>
        </p:nvSpPr>
        <p:spPr>
          <a:xfrm>
            <a:off x="694944"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Resilient two-tier web search with a structured Google-dork builder.</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Crawler</a:t>
            </a:r>
          </a:p>
        </p:txBody>
      </p:sp>
      <p:sp>
        <p:nvSpPr>
          <p:cNvPr id="15" name="TextBox 14"/>
          <p:cNvSpPr txBox="1"/>
          <p:nvPr/>
        </p:nvSpPr>
        <p:spPr>
          <a:xfrm>
            <a:off x="3514267"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Fetches a page raw or as text and analyzes it with a model.</a:t>
            </a:r>
          </a:p>
        </p:txBody>
      </p:sp>
      <p:sp>
        <p:nvSpPr>
          <p:cNvPr id="16" name="Rounded Rectangle 15"/>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Playwrighter</a:t>
            </a:r>
          </a:p>
        </p:txBody>
      </p:sp>
      <p:sp>
        <p:nvSpPr>
          <p:cNvPr id="19" name="TextBox 18"/>
          <p:cNvSpPr txBox="1"/>
          <p:nvPr/>
        </p:nvSpPr>
        <p:spPr>
          <a:xfrm>
            <a:off x="6333591"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Drives a real browser through scripted steps: log in, fill, click, extract.</a:t>
            </a:r>
          </a:p>
        </p:txBody>
      </p:sp>
      <p:sp>
        <p:nvSpPr>
          <p:cNvPr id="20" name="Rounded Rectangle 19"/>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Apirer</a:t>
            </a:r>
          </a:p>
        </p:txBody>
      </p:sp>
      <p:sp>
        <p:nvSpPr>
          <p:cNvPr id="23" name="TextBox 22"/>
          <p:cNvSpPr txBox="1"/>
          <p:nvPr/>
        </p:nvSpPr>
        <p:spPr>
          <a:xfrm>
            <a:off x="9152915"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Calls REST APIs with any method, headers, body and timeout.</a:t>
            </a:r>
          </a:p>
        </p:txBody>
      </p:sp>
      <p:sp>
        <p:nvSpPr>
          <p:cNvPr id="24" name="Rounded Rectangle 23"/>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SQLer</a:t>
            </a:r>
          </a:p>
        </p:txBody>
      </p:sp>
      <p:sp>
        <p:nvSpPr>
          <p:cNvPr id="27" name="TextBox 26"/>
          <p:cNvSpPr txBox="1"/>
          <p:nvPr/>
        </p:nvSpPr>
        <p:spPr>
          <a:xfrm>
            <a:off x="694944"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Microsoft SQL Server with a ready cursor.</a:t>
            </a:r>
          </a:p>
        </p:txBody>
      </p:sp>
      <p:sp>
        <p:nvSpPr>
          <p:cNvPr id="28" name="Rounded Rectangle 27"/>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Mongoxer</a:t>
            </a:r>
          </a:p>
        </p:txBody>
      </p:sp>
      <p:sp>
        <p:nvSpPr>
          <p:cNvPr id="31" name="TextBox 30"/>
          <p:cNvSpPr txBox="1"/>
          <p:nvPr/>
        </p:nvSpPr>
        <p:spPr>
          <a:xfrm>
            <a:off x="3514267"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MongoDB with a ready database handle.</a:t>
            </a:r>
          </a:p>
        </p:txBody>
      </p:sp>
      <p:sp>
        <p:nvSpPr>
          <p:cNvPr id="32" name="Rounded Rectangle 31"/>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68884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NetSpeed-Calculator</a:t>
            </a:r>
          </a:p>
        </p:txBody>
      </p:sp>
      <p:sp>
        <p:nvSpPr>
          <p:cNvPr id="35" name="TextBox 34"/>
          <p:cNvSpPr txBox="1"/>
          <p:nvPr/>
        </p:nvSpPr>
        <p:spPr>
          <a:xfrm>
            <a:off x="6333591" y="5160264"/>
            <a:ext cx="2343835" cy="947927"/>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a:rPr>
              <a:t>Measures your connection with confidence intervals and bufferbloat.</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DevOps and infrastructure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Containers, clusters, pipelines and hosts.</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Dockerer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Docker and docker-compose front-end.</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Kuberneter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kubectl front-end with a structured, truthful result.</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Jenkinser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Triggers Jenkins jobs, handling the CSRF crumb.</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SSHer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a command on a remote host over SSH.</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SCPer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Sends or receives files over SCP.</a:t>
            </a:r>
          </a:p>
        </p:txBody>
      </p:sp>
      <p:sp>
        <p:nvSpPr>
          <p:cNvPr id="28" name="Rounded Rectangle 27"/>
          <p:cNvSpPr/>
          <p:nvPr/>
        </p:nvSpPr>
        <p:spPr>
          <a:xfrm>
            <a:off x="8085124"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PSer</a:t>
            </a:r>
          </a:p>
        </p:txBody>
      </p:sp>
      <p:sp>
        <p:nvSpPr>
          <p:cNvPr id="31" name="TextBox 30"/>
          <p:cNvSpPr txBox="1"/>
          <p:nvPr/>
        </p:nvSpPr>
        <p:spPr>
          <a:xfrm>
            <a:off x="8213140"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Finds a running process from a fuzzy name with a model's help.</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8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Quality and security</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Review, analyze, assess and protect.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Reviewer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Model-driven review of a git diff with an APPROVE or REQUEST_CHANGES verdict.</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Analyzer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Deterministic static analysis: bandit, semgrep, ruff, eslint, gitleaks, pip-audit.</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Kalier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Authorized Kali Linux tooling through MCP-Kali-Server.</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Discoverer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The ProjectDiscovery recon suite on a private, self-installing Go toolchain.</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Nmapper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local, use-only nmap bridge; unprivileged connect scan by default.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Kyber-KeyGen</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Generates CRYSTALS-Kyber post-quantum key pairs.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Kyber-Cipher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Encrypts with Kyber post-quantum cryptography.</a:t>
            </a:r>
          </a:p>
        </p:txBody>
      </p:sp>
      <p:sp>
        <p:nvSpPr>
          <p:cNvPr id="36" name="Rounded Rectangle 35"/>
          <p:cNvSpPr/>
          <p:nvPr/>
        </p:nvSpPr>
        <p:spPr>
          <a:xfrm>
            <a:off x="9024899"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Kyber-DeCipher</a:t>
            </a:r>
          </a:p>
        </p:txBody>
      </p:sp>
      <p:sp>
        <p:nvSpPr>
          <p:cNvPr id="39" name="TextBox 38"/>
          <p:cNvSpPr txBox="1"/>
          <p:nvPr/>
        </p:nvSpPr>
        <p:spPr>
          <a:xfrm>
            <a:off x="9152915"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Decrypts Kyber-protected data.</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Firmware and engines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Real boards and live editors.</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STM32er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STM32 firmware from Blue Pill to H7: build, flash, observe, fail-safe.</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ESP32er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ESP32 firmware through PlatformIO, from a template that compiles at once.</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Arduiner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Arduino firmware through arduino-cli, with cores installed automatically.</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ESPHomer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ESPHome smart-home devices from YAML, no C++ required.</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Unrealer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a live Unreal Engine 5 editor: 53 commands in nine categories.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Blenderer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Blender over the official Blender MCP add-on socket.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5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Desktop and capture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See the screen, move the pointer, type.</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Mouser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Moves and clicks in explicitly declared coordinate spaces.</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Keyboarder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 Unicode into a verified foreground window.</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Windower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Focuses, tiles, resizes, lists and closes windows by title.</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Shoter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Whole-desktop screenshots with published capture geometry.</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Camcorder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Webcam photo or video at the camera's native resolution.</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Voice, audio and vision</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Hear, speak, play and look.</a:t>
            </a:r>
          </a:p>
        </p:txBody>
      </p:sp>
      <p:sp>
        <p:nvSpPr>
          <p:cNvPr id="8" name="Rounded Rectangle 7"/>
          <p:cNvSpPr/>
          <p:nvPr/>
        </p:nvSpPr>
        <p:spPr>
          <a:xfrm>
            <a:off x="566928"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Recorder</a:t>
            </a:r>
          </a:p>
        </p:txBody>
      </p:sp>
      <p:sp>
        <p:nvSpPr>
          <p:cNvPr id="11" name="TextBox 10"/>
          <p:cNvSpPr txBox="1"/>
          <p:nvPr/>
        </p:nvSpPr>
        <p:spPr>
          <a:xfrm>
            <a:off x="694944"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Microphone capture to WAV at the device's native sample rate.</a:t>
            </a:r>
          </a:p>
        </p:txBody>
      </p:sp>
      <p:sp>
        <p:nvSpPr>
          <p:cNvPr id="12" name="Rounded Rectangle 11"/>
          <p:cNvSpPr/>
          <p:nvPr/>
        </p:nvSpPr>
        <p:spPr>
          <a:xfrm>
            <a:off x="3386251"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Whisperer</a:t>
            </a:r>
          </a:p>
        </p:txBody>
      </p:sp>
      <p:sp>
        <p:nvSpPr>
          <p:cNvPr id="15" name="TextBox 14"/>
          <p:cNvSpPr txBox="1"/>
          <p:nvPr/>
        </p:nvSpPr>
        <p:spPr>
          <a:xfrm>
            <a:off x="3514267"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Speech to text that keeps listening until you stop talking.</a:t>
            </a:r>
          </a:p>
        </p:txBody>
      </p:sp>
      <p:sp>
        <p:nvSpPr>
          <p:cNvPr id="16" name="Rounded Rectangle 15"/>
          <p:cNvSpPr/>
          <p:nvPr/>
        </p:nvSpPr>
        <p:spPr>
          <a:xfrm>
            <a:off x="6205575"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Talker</a:t>
            </a:r>
          </a:p>
        </p:txBody>
      </p:sp>
      <p:sp>
        <p:nvSpPr>
          <p:cNvPr id="19" name="TextBox 18"/>
          <p:cNvSpPr txBox="1"/>
          <p:nvPr/>
        </p:nvSpPr>
        <p:spPr>
          <a:xfrm>
            <a:off x="6333591"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Text to speech, always in Tlamatini's female voice.</a:t>
            </a:r>
          </a:p>
        </p:txBody>
      </p:sp>
      <p:sp>
        <p:nvSpPr>
          <p:cNvPr id="20" name="Rounded Rectangle 19"/>
          <p:cNvSpPr/>
          <p:nvPr/>
        </p:nvSpPr>
        <p:spPr>
          <a:xfrm>
            <a:off x="9024899"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AudioPlayer</a:t>
            </a:r>
          </a:p>
        </p:txBody>
      </p:sp>
      <p:sp>
        <p:nvSpPr>
          <p:cNvPr id="23" name="TextBox 22"/>
          <p:cNvSpPr txBox="1"/>
          <p:nvPr/>
        </p:nvSpPr>
        <p:spPr>
          <a:xfrm>
            <a:off x="9152915"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audio files with volume, truncate and loop control.</a:t>
            </a:r>
          </a:p>
        </p:txBody>
      </p:sp>
      <p:sp>
        <p:nvSpPr>
          <p:cNvPr id="24" name="Rounded Rectangle 23"/>
          <p:cNvSpPr/>
          <p:nvPr/>
        </p:nvSpPr>
        <p:spPr>
          <a:xfrm>
            <a:off x="566928"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VideoPlayer</a:t>
            </a:r>
          </a:p>
        </p:txBody>
      </p:sp>
      <p:sp>
        <p:nvSpPr>
          <p:cNvPr id="27" name="TextBox 26"/>
          <p:cNvSpPr txBox="1"/>
          <p:nvPr/>
        </p:nvSpPr>
        <p:spPr>
          <a:xfrm>
            <a:off x="694944"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video with its audio on a chosen display.</a:t>
            </a:r>
          </a:p>
        </p:txBody>
      </p:sp>
      <p:sp>
        <p:nvSpPr>
          <p:cNvPr id="28" name="Rounded Rectangle 27"/>
          <p:cNvSpPr/>
          <p:nvPr/>
        </p:nvSpPr>
        <p:spPr>
          <a:xfrm>
            <a:off x="3386251"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Image-Interpreter</a:t>
            </a:r>
          </a:p>
        </p:txBody>
      </p:sp>
      <p:sp>
        <p:nvSpPr>
          <p:cNvPr id="31" name="TextBox 30"/>
          <p:cNvSpPr txBox="1"/>
          <p:nvPr/>
        </p:nvSpPr>
        <p:spPr>
          <a:xfrm>
            <a:off x="3514267"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 vision models in parallel, merged by a third into one report.</a:t>
            </a:r>
          </a:p>
        </p:txBody>
      </p:sp>
      <p:sp>
        <p:nvSpPr>
          <p:cNvPr id="32" name="Rounded Rectangle 31"/>
          <p:cNvSpPr/>
          <p:nvPr/>
        </p:nvSpPr>
        <p:spPr>
          <a:xfrm>
            <a:off x="6205575"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Video-Analyzer</a:t>
            </a:r>
          </a:p>
        </p:txBody>
      </p:sp>
      <p:sp>
        <p:nvSpPr>
          <p:cNvPr id="35" name="TextBox 34"/>
          <p:cNvSpPr txBox="1"/>
          <p:nvPr/>
        </p:nvSpPr>
        <p:spPr>
          <a:xfrm>
            <a:off x="6333591"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Rules on robot motion, transcribes audio tracks, or summarizes a video.</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10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Messaging and monitoring</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Reach people and watch systems.</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Notifier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Shows an in-browser notification, optionally with a sound.</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Emailer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Sends email over SMTP.</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RecMailer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Watches an IMAP mailbox for new messages.</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Telegrammer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Telegram as the bot or as your own account.</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Whatsapper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WhatsApp through Meta's Cloud API, or explicitly from your own number.</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Zavuerer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SMS, WhatsApp, Telegram, email and voice through one Zavu key.</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TeleTlamatini</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Brings the full Tlamatini chat, Multi-Turn included, into Telegram.</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551383"/>
          </a:xfrm>
          <a:prstGeom prst="rect">
            <a:avLst/>
          </a:prstGeom>
          <a:noFill/>
        </p:spPr>
        <p:txBody>
          <a:bodyPr wrap="square" lIns="45720" rIns="45720" tIns="27432" bIns="27432" anchor="t">
            <a:noAutofit/>
          </a:bodyPr>
          <a:lstStyle/>
          <a:p>
            <a:pPr algn="l">
              <a:lnSpc>
                <a:spcPct val="100000"/>
              </a:lnSpc>
            </a:pPr>
            <a:r>
              <a:rPr sz="1550" b="1" i="0">
                <a:solidFill>
                  <a:srgbClr val="F7F2E8"/>
                </a:solidFill>
                <a:latin typeface="Palatino Linotype"/>
              </a:rPr>
              <a:t>Instant Messaging Doctor</a:t>
            </a:r>
          </a:p>
        </p:txBody>
      </p:sp>
      <p:sp>
        <p:nvSpPr>
          <p:cNvPr id="39" name="TextBox 38"/>
          <p:cNvSpPr txBox="1"/>
          <p:nvPr/>
        </p:nvSpPr>
        <p:spPr>
          <a:xfrm>
            <a:off x="9152915" y="4300423"/>
            <a:ext cx="2343835" cy="363016"/>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Diagnoses and safely repairs Telegram and WhatsApp readiness.</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Monitor-Log</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log monitor.</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 Netstat</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network-port monitor.</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46D2E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Deep Capabilities</a:t>
            </a:r>
          </a:p>
        </p:txBody>
      </p:sp>
      <p:sp>
        <p:nvSpPr>
          <p:cNvPr id="6" name="Rectangle 5"/>
          <p:cNvSpPr/>
          <p:nvPr/>
        </p:nvSpPr>
        <p:spPr>
          <a:xfrm>
            <a:off x="841248" y="4315968"/>
            <a:ext cx="100584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subsystems that give her reach: other agents, other servers, documents, boards, engines and senses.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ACPX</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Other coding agents as her children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ACPX spawns external coding-agent CLIs as out-of-process children, talks to them over stdin and stdout, keeps an NDJSON transcript of every turn, and brokers it all to the model as twelve tools.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Peers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14 CLIs, including Claude Code, Codex, Gemini, Cursor and Qwen.</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Twelve tools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Spawn, send, wait, relay, transcript, status, kill, doctor, skills.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refusal returns ok: false with a named code.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No shell</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Shims are rewritten so long prompts are never cut.</a:t>
            </a:r>
          </a:p>
        </p:txBody>
      </p:sp>
      <p:sp>
        <p:nvSpPr>
          <p:cNvPr id="24" name="Rounded Rectangle 23"/>
          <p:cNvSpPr/>
          <p:nvPr/>
        </p:nvSpPr>
        <p:spPr>
          <a:xfrm>
            <a:off x="6144768" y="2084831"/>
            <a:ext cx="5479999" cy="3456431"/>
          </a:xfrm>
          <a:prstGeom prst="roundRect">
            <a:avLst>
              <a:gd name="adj" fmla="val 21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2155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NON-DELIVERY CODE</a:t>
            </a:r>
          </a:p>
        </p:txBody>
      </p:sp>
      <p:sp>
        <p:nvSpPr>
          <p:cNvPr id="27" name="TextBox 26"/>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8" name="TextBox 27"/>
          <p:cNvSpPr txBox="1"/>
          <p:nvPr/>
        </p:nvSpPr>
        <p:spPr>
          <a:xfrm>
            <a:off x="6217920" y="2505456"/>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PERMISSION_BLOCKED</a:t>
            </a:r>
          </a:p>
        </p:txBody>
      </p:sp>
      <p:sp>
        <p:nvSpPr>
          <p:cNvPr id="29" name="TextBox 28"/>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child stopped at its own permission prompt.</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AUTH_FAILED · CONFIG_INVALID</a:t>
            </a:r>
          </a:p>
        </p:txBody>
      </p:sp>
      <p:sp>
        <p:nvSpPr>
          <p:cNvPr id="32" name="TextBox 31"/>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 could not authenticate, or refused its own config.</a:t>
            </a:r>
          </a:p>
        </p:txBody>
      </p:sp>
      <p:sp>
        <p:nvSpPr>
          <p:cNvPr id="33" name="TextBox 32"/>
          <p:cNvSpPr txBox="1"/>
          <p:nvPr/>
        </p:nvSpPr>
        <p:spPr>
          <a:xfrm>
            <a:off x="6217920" y="3529584"/>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NO_CREDIT · USAGE_LIMIT</a:t>
            </a:r>
          </a:p>
        </p:txBody>
      </p:sp>
      <p:sp>
        <p:nvSpPr>
          <p:cNvPr id="34" name="TextBox 33"/>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 credit, or a plan or rate limit was reached.</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UPSTREAM_ERROR</a:t>
            </a:r>
          </a:p>
        </p:txBody>
      </p:sp>
      <p:sp>
        <p:nvSpPr>
          <p:cNvPr id="37" name="TextBox 36"/>
          <p:cNvSpPr txBox="1"/>
          <p:nvPr/>
        </p:nvSpPr>
        <p:spPr>
          <a:xfrm>
            <a:off x="8519519" y="4041648"/>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model provider returned a server-side error.</a:t>
            </a:r>
          </a:p>
        </p:txBody>
      </p:sp>
      <p:sp>
        <p:nvSpPr>
          <p:cNvPr id="38" name="TextBox 37"/>
          <p:cNvSpPr txBox="1"/>
          <p:nvPr/>
        </p:nvSpPr>
        <p:spPr>
          <a:xfrm>
            <a:off x="6217920" y="4553712"/>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NO_OUTPUT · CHILD_ERROR</a:t>
            </a:r>
          </a:p>
        </p:txBody>
      </p:sp>
      <p:sp>
        <p:nvSpPr>
          <p:cNvPr id="39" name="TextBox 38"/>
          <p:cNvSpPr txBox="1"/>
          <p:nvPr/>
        </p:nvSpPr>
        <p:spPr>
          <a:xfrm>
            <a:off x="8519519" y="4553712"/>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Nothing legible came back, or it failed without an answer.</a:t>
            </a:r>
          </a:p>
        </p:txBody>
      </p:sp>
      <p:sp>
        <p:nvSpPr>
          <p:cNvPr id="40" name="Rectangle 39"/>
          <p:cNvSpPr/>
          <p:nvPr/>
        </p:nvSpPr>
        <p:spPr>
          <a:xfrm>
            <a:off x="6163056" y="5029199"/>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217920" y="5065775"/>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WORKSPACE_NOT_TRUSTED</a:t>
            </a:r>
          </a:p>
        </p:txBody>
      </p:sp>
      <p:sp>
        <p:nvSpPr>
          <p:cNvPr id="42" name="TextBox 41"/>
          <p:cNvSpPr txBox="1"/>
          <p:nvPr/>
        </p:nvSpPr>
        <p:spPr>
          <a:xfrm>
            <a:off x="8519519" y="5065775"/>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Its working folder is untrusted, so permissions were ignored.</a:t>
            </a:r>
          </a:p>
        </p:txBody>
      </p:sp>
      <p:cxnSp>
        <p:nvCxnSpPr>
          <p:cNvPr id="43" name="Connector 4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5" name="TextBox 4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EXTERNAL MCPS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universal MCP client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Connect Tlamatini to any MCP server declared in a JSON catalog and use its tools at once, with no code written for the server.</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Transports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stdio, streamable HTTP, SSE and WebSocket.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supervisors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Status, reconnect, doctor, runtimes, import, list, call, activate, wait.</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runtimes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Node and uv provisioned per user, no admin, no PATH change.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Defaults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Memory and Sequential Thinking, inactive until you choose.</a:t>
            </a:r>
          </a:p>
        </p:txBody>
      </p:sp>
      <p:sp>
        <p:nvSpPr>
          <p:cNvPr id="24" name="Rounded Rectangle 23"/>
          <p:cNvSpPr/>
          <p:nvPr/>
        </p:nvSpPr>
        <p:spPr>
          <a:xfrm>
            <a:off x="6144768" y="2084831"/>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27648" y="2103120"/>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Classify</a:t>
            </a:r>
          </a:p>
        </p:txBody>
      </p:sp>
      <p:sp>
        <p:nvSpPr>
          <p:cNvPr id="26" name="Rounded Rectangle 25"/>
          <p:cNvSpPr/>
          <p:nvPr/>
        </p:nvSpPr>
        <p:spPr>
          <a:xfrm>
            <a:off x="6144768" y="262302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327648" y="264130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Import</a:t>
            </a:r>
          </a:p>
        </p:txBody>
      </p:sp>
      <p:sp>
        <p:nvSpPr>
          <p:cNvPr id="28" name="Rounded Rectangle 27"/>
          <p:cNvSpPr/>
          <p:nvPr/>
        </p:nvSpPr>
        <p:spPr>
          <a:xfrm>
            <a:off x="6144768" y="316121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317949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Doctor</a:t>
            </a:r>
          </a:p>
        </p:txBody>
      </p:sp>
      <p:sp>
        <p:nvSpPr>
          <p:cNvPr id="30" name="Rounded Rectangle 29"/>
          <p:cNvSpPr/>
          <p:nvPr/>
        </p:nvSpPr>
        <p:spPr>
          <a:xfrm>
            <a:off x="6144768" y="369940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371768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Activate</a:t>
            </a:r>
          </a:p>
        </p:txBody>
      </p:sp>
      <p:sp>
        <p:nvSpPr>
          <p:cNvPr id="32" name="Rounded Rectangle 31"/>
          <p:cNvSpPr/>
          <p:nvPr/>
        </p:nvSpPr>
        <p:spPr>
          <a:xfrm>
            <a:off x="6144768" y="423759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425587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Wait</a:t>
            </a:r>
          </a:p>
        </p:txBody>
      </p:sp>
      <p:sp>
        <p:nvSpPr>
          <p:cNvPr id="34" name="Rounded Rectangle 33"/>
          <p:cNvSpPr/>
          <p:nvPr/>
        </p:nvSpPr>
        <p:spPr>
          <a:xfrm>
            <a:off x="6144768" y="477578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479406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6   </a:t>
            </a:r>
            <a:r>
              <a:rPr sz="1500" b="0" i="0">
                <a:solidFill>
                  <a:srgbClr val="F7F2E8"/>
                </a:solidFill>
                <a:latin typeface="Segoe UI Semibold"/>
              </a:rPr>
              <a:t>List</a:t>
            </a:r>
          </a:p>
        </p:txBody>
      </p:sp>
      <p:sp>
        <p:nvSpPr>
          <p:cNvPr id="36" name="Rounded Rectangle 35"/>
          <p:cNvSpPr/>
          <p:nvPr/>
        </p:nvSpPr>
        <p:spPr>
          <a:xfrm>
            <a:off x="6144768" y="5313970"/>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533225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7   </a:t>
            </a:r>
            <a:r>
              <a:rPr sz="1500" b="0" i="0">
                <a:solidFill>
                  <a:srgbClr val="090E10"/>
                </a:solidFill>
                <a:latin typeface="Segoe UI Semibold"/>
              </a:rPr>
              <a:t>Call</a:t>
            </a:r>
          </a:p>
        </p:txBody>
      </p:sp>
      <p:sp>
        <p:nvSpPr>
          <p:cNvPr id="38" name="TextBox 37"/>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The adding-external-mcp skill: one guarded onboarding sequence.</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Procedures, handed over complete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29 </a:t>
            </a:r>
            <a:r>
              <a:rPr sz="1350" b="0" i="0">
                <a:solidFill>
                  <a:srgbClr val="E2B462"/>
                </a:solidFill>
                <a:latin typeface="Consolas"/>
              </a:rPr>
              <a:t>SKILL.md</a:t>
            </a:r>
            <a:r>
              <a:rPr sz="1450" b="0" i="0">
                <a:solidFill>
                  <a:srgbClr val="A7B2B0"/>
                </a:solidFill>
                <a:latin typeface="Segoe UI Semilight"/>
              </a:rPr>
              <a:t> packages are loaded at start-up and offered to the model through </a:t>
            </a:r>
            <a:r>
              <a:rPr sz="1350" b="0" i="0">
                <a:solidFill>
                  <a:srgbClr val="E2B462"/>
                </a:solidFill>
                <a:latin typeface="Consolas"/>
              </a:rPr>
              <a:t>list_skills</a:t>
            </a:r>
            <a:r>
              <a:rPr sz="1450" b="0" i="0">
                <a:solidFill>
                  <a:srgbClr val="A7B2B0"/>
                </a:solidFill>
                <a:latin typeface="Segoe UI Semilight"/>
              </a:rPr>
              <a:t> and </a:t>
            </a:r>
            <a:r>
              <a:rPr sz="1350" b="0" i="0">
                <a:solidFill>
                  <a:srgbClr val="E2B462"/>
                </a:solidFill>
                <a:latin typeface="Consolas"/>
              </a:rPr>
              <a:t>invoke_skill</a:t>
            </a:r>
            <a:r>
              <a:rPr sz="1450" b="0" i="0">
                <a:solidFill>
                  <a:srgbClr val="A7B2B0"/>
                </a:solidFill>
                <a:latin typeface="Segoe UI Semilight"/>
              </a:rPr>
              <a: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29 packages, validated by one shared routine.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Handoff</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invoke_skill returns the full procedure and the outputs still owed.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enforcement</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It states what is enforced and what is declared policy.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Administered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Browse, Configure, Diagnostics and Reload from the menu.</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Credentials stay inside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An input marked sensitive, or named like a credential, is redacted from every audit event and from the returned result: no prefix, no length, no hash.</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“Procedures, handed over complete”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Compose, present, typeset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agents produce documents, each with its own craft, and none of them calls a file clean just because it was created.</a:t>
            </a:r>
          </a:p>
        </p:txBody>
      </p:sp>
      <p:sp>
        <p:nvSpPr>
          <p:cNvPr id="8" name="Rounded Rectangle 7"/>
          <p:cNvSpPr/>
          <p:nvPr/>
        </p:nvSpPr>
        <p:spPr>
          <a:xfrm>
            <a:off x="566928" y="2084831"/>
            <a:ext cx="11057839" cy="3108960"/>
          </a:xfrm>
          <a:prstGeom prst="roundRect">
            <a:avLst>
              <a:gd name="adj" fmla="val 235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CRAFT</a:t>
            </a:r>
          </a:p>
        </p:txBody>
      </p:sp>
      <p:sp>
        <p:nvSpPr>
          <p:cNvPr id="12" name="TextBox 11"/>
          <p:cNvSpPr txBox="1"/>
          <p:nvPr/>
        </p:nvSpPr>
        <p:spPr>
          <a:xfrm>
            <a:off x="4842058" y="2121408"/>
            <a:ext cx="670955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SIGNATURE FEATURES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PDFer</a:t>
            </a:r>
          </a:p>
        </p:txBody>
      </p:sp>
      <p:sp>
        <p:nvSpPr>
          <p:cNvPr id="14" name="TextBox 13"/>
          <p:cNvSpPr txBox="1"/>
          <p:nvPr/>
        </p:nvSpPr>
        <p:spPr>
          <a:xfrm>
            <a:off x="2188177" y="2505456"/>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Composes PDFs from text, Markdown, HTML and images</a:t>
            </a:r>
          </a:p>
        </p:txBody>
      </p:sp>
      <p:sp>
        <p:nvSpPr>
          <p:cNvPr id="15" name="TextBox 14"/>
          <p:cNvSpPr txBox="1"/>
          <p:nvPr/>
        </p:nvSpPr>
        <p:spPr>
          <a:xfrm>
            <a:off x="4842058" y="2505456"/>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24 visual styles in five families over 20 content themes; measured tables and covers; a layout audit that reopens the file and checks overlap, off-page text, blank pages and contrast.</a:t>
            </a:r>
          </a:p>
        </p:txBody>
      </p:sp>
      <p:sp>
        <p:nvSpPr>
          <p:cNvPr id="16" name="Rectangle 15"/>
          <p:cNvSpPr/>
          <p:nvPr/>
        </p:nvSpPr>
        <p:spPr>
          <a:xfrm>
            <a:off x="585216" y="3300984"/>
            <a:ext cx="11021263" cy="8321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PPTXer</a:t>
            </a:r>
          </a:p>
        </p:txBody>
      </p:sp>
      <p:sp>
        <p:nvSpPr>
          <p:cNvPr id="18" name="TextBox 17"/>
          <p:cNvSpPr txBox="1"/>
          <p:nvPr/>
        </p:nvSpPr>
        <p:spPr>
          <a:xfrm>
            <a:off x="2188177" y="3337560"/>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Builds editable PowerPoint decks</a:t>
            </a:r>
          </a:p>
        </p:txBody>
      </p:sp>
      <p:sp>
        <p:nvSpPr>
          <p:cNvPr id="19" name="TextBox 18"/>
          <p:cNvSpPr txBox="1"/>
          <p:nvPr/>
        </p:nvSpPr>
        <p:spPr>
          <a:xfrm>
            <a:off x="4842058" y="3337560"/>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36 named treatments and 17 font pairings; text measured before it is placed, so long content continues onto a new slide; native PowerPoint verification when installed.</a:t>
            </a:r>
          </a:p>
        </p:txBody>
      </p:sp>
      <p:sp>
        <p:nvSpPr>
          <p:cNvPr id="20" name="TextBox 19"/>
          <p:cNvSpPr txBox="1"/>
          <p:nvPr/>
        </p:nvSpPr>
        <p:spPr>
          <a:xfrm>
            <a:off x="640080" y="4169663"/>
            <a:ext cx="1401793" cy="987551"/>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LaTeXer</a:t>
            </a:r>
          </a:p>
        </p:txBody>
      </p:sp>
      <p:sp>
        <p:nvSpPr>
          <p:cNvPr id="21" name="TextBox 20"/>
          <p:cNvSpPr txBox="1"/>
          <p:nvPr/>
        </p:nvSpPr>
        <p:spPr>
          <a:xfrm>
            <a:off x="2188177" y="4169663"/>
            <a:ext cx="2507577" cy="987551"/>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Typesets real LaTeX</a:t>
            </a:r>
          </a:p>
        </p:txBody>
      </p:sp>
      <p:sp>
        <p:nvSpPr>
          <p:cNvPr id="22" name="TextBox 21"/>
          <p:cNvSpPr txBox="1"/>
          <p:nvPr/>
        </p:nvSpPr>
        <p:spPr>
          <a:xfrm>
            <a:off x="4842058" y="4169663"/>
            <a:ext cx="6709556" cy="987551"/>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Eight templates and 30 signature styles; whole-project builds with bibliography and index convergence; readable diagnostics; an eight-rung repair ladder; a mostly-cut build delivered as </a:t>
            </a:r>
            <a:r>
              <a:rPr sz="1400" b="0" i="0">
                <a:solidFill>
                  <a:srgbClr val="E2B462"/>
                </a:solidFill>
                <a:latin typeface="Consolas"/>
              </a:rPr>
              <a:t>&lt;name&gt;.DEGRADED.pdf</a:t>
            </a:r>
            <a:r>
              <a:rPr sz="1500" b="0" i="0">
                <a:solidFill>
                  <a:srgbClr val="A7B2B0"/>
                </a:solidFill>
                <a:latin typeface="Segoe UI"/>
              </a:rPr>
              <a:t>; MiKTeX recommended.</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Created is not verified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saved file only proves it exists. Read PDFer's </a:t>
            </a:r>
            <a:r>
              <a:rPr sz="2400" b="0" i="0">
                <a:solidFill>
                  <a:srgbClr val="E2B462"/>
                </a:solidFill>
                <a:latin typeface="Consolas"/>
              </a:rPr>
              <a:t>layout_clean</a:t>
            </a:r>
            <a:r>
              <a:rPr sz="2600" b="0" i="0">
                <a:solidFill>
                  <a:srgbClr val="F7F2E8"/>
                </a:solidFill>
                <a:latin typeface="Segoe UI Light"/>
              </a:rPr>
              <a:t>, PPTXer's </a:t>
            </a:r>
            <a:r>
              <a:rPr sz="2400" b="0" i="0">
                <a:solidFill>
                  <a:srgbClr val="E2B462"/>
                </a:solidFill>
                <a:latin typeface="Consolas"/>
              </a:rPr>
              <a:t>ground_truth</a:t>
            </a:r>
            <a:r>
              <a:rPr sz="2600" b="0" i="0">
                <a:solidFill>
                  <a:srgbClr val="F7F2E8"/>
                </a:solidFill>
                <a:latin typeface="Segoe UI Light"/>
              </a:rPr>
              <a:t>, or LaTeXer's </a:t>
            </a:r>
            <a:r>
              <a:rPr sz="2400" b="0" i="0">
                <a:solidFill>
                  <a:srgbClr val="E2B462"/>
                </a:solidFill>
                <a:latin typeface="Consolas"/>
              </a:rPr>
              <a:t>status</a:t>
            </a:r>
            <a:r>
              <a:rPr sz="2600" b="0" i="0">
                <a:solidFill>
                  <a:srgbClr val="F7F2E8"/>
                </a:solidFill>
                <a:latin typeface="Segoe UI Light"/>
              </a:rPr>
              <a:t> before calling a document clean.</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“Compose, present, typeset”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LATEXER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repair ladder that protects your words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When a build fails, LaTeXer climbs eight rungs in a fixed order, each tried only if the one before produced no PDF.</a:t>
            </a:r>
          </a:p>
        </p:txBody>
      </p:sp>
      <p:sp>
        <p:nvSpPr>
          <p:cNvPr id="8" name="Rounded Rectangle 7"/>
          <p:cNvSpPr/>
          <p:nvPr/>
        </p:nvSpPr>
        <p:spPr>
          <a:xfrm>
            <a:off x="877824"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lint</a:t>
            </a:r>
          </a:p>
        </p:txBody>
      </p:sp>
      <p:sp>
        <p:nvSpPr>
          <p:cNvPr id="12" name="TextBox 11"/>
          <p:cNvSpPr txBox="1"/>
          <p:nvPr/>
        </p:nvSpPr>
        <p:spPr>
          <a:xfrm>
            <a:off x="2944368"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Static structural repair before any compiler runs.</a:t>
            </a:r>
          </a:p>
        </p:txBody>
      </p:sp>
      <p:sp>
        <p:nvSpPr>
          <p:cNvPr id="13" name="Rounded Rectangle 12"/>
          <p:cNvSpPr/>
          <p:nvPr/>
        </p:nvSpPr>
        <p:spPr>
          <a:xfrm>
            <a:off x="877824"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preamble</a:t>
            </a:r>
          </a:p>
        </p:txBody>
      </p:sp>
      <p:sp>
        <p:nvSpPr>
          <p:cNvPr id="17" name="TextBox 16"/>
          <p:cNvSpPr txBox="1"/>
          <p:nvPr/>
        </p:nvSpPr>
        <p:spPr>
          <a:xfrm>
            <a:off x="2944368"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Infer packages from the commands actually used.</a:t>
            </a:r>
          </a:p>
        </p:txBody>
      </p:sp>
      <p:sp>
        <p:nvSpPr>
          <p:cNvPr id="18" name="Rounded Rectangle 17"/>
          <p:cNvSpPr/>
          <p:nvPr/>
        </p:nvSpPr>
        <p:spPr>
          <a:xfrm>
            <a:off x="877824"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rules</a:t>
            </a:r>
          </a:p>
        </p:txBody>
      </p:sp>
      <p:sp>
        <p:nvSpPr>
          <p:cNvPr id="22" name="TextBox 21"/>
          <p:cNvSpPr txBox="1"/>
          <p:nvPr/>
        </p:nvSpPr>
        <p:spPr>
          <a:xfrm>
            <a:off x="2944368"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Deterministic rewrites of known-bad constructs.</a:t>
            </a:r>
          </a:p>
        </p:txBody>
      </p:sp>
      <p:sp>
        <p:nvSpPr>
          <p:cNvPr id="23" name="Rounded Rectangle 22"/>
          <p:cNvSpPr/>
          <p:nvPr/>
        </p:nvSpPr>
        <p:spPr>
          <a:xfrm>
            <a:off x="877824"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566928"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1133856"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log-directed</a:t>
            </a:r>
          </a:p>
        </p:txBody>
      </p:sp>
      <p:sp>
        <p:nvSpPr>
          <p:cNvPr id="27" name="TextBox 26"/>
          <p:cNvSpPr txBox="1"/>
          <p:nvPr/>
        </p:nvSpPr>
        <p:spPr>
          <a:xfrm>
            <a:off x="2944368"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Compile, read the real error, fix that line.</a:t>
            </a:r>
          </a:p>
        </p:txBody>
      </p:sp>
      <p:sp>
        <p:nvSpPr>
          <p:cNvPr id="28" name="Rounded Rectangle 27"/>
          <p:cNvSpPr/>
          <p:nvPr/>
        </p:nvSpPr>
        <p:spPr>
          <a:xfrm>
            <a:off x="6589623"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acquire</a:t>
            </a:r>
          </a:p>
        </p:txBody>
      </p:sp>
      <p:sp>
        <p:nvSpPr>
          <p:cNvPr id="32" name="TextBox 31"/>
          <p:cNvSpPr txBox="1"/>
          <p:nvPr/>
        </p:nvSpPr>
        <p:spPr>
          <a:xfrm>
            <a:off x="8656167"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Install a package that is genuinely missing.</a:t>
            </a:r>
          </a:p>
        </p:txBody>
      </p:sp>
      <p:sp>
        <p:nvSpPr>
          <p:cNvPr id="33" name="Rounded Rectangle 32"/>
          <p:cNvSpPr/>
          <p:nvPr/>
        </p:nvSpPr>
        <p:spPr>
          <a:xfrm>
            <a:off x="6589623"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engine swap</a:t>
            </a:r>
          </a:p>
        </p:txBody>
      </p:sp>
      <p:sp>
        <p:nvSpPr>
          <p:cNvPr id="37" name="TextBox 36"/>
          <p:cNvSpPr txBox="1"/>
          <p:nvPr/>
        </p:nvSpPr>
        <p:spPr>
          <a:xfrm>
            <a:off x="8656167"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Retry with XeLaTeX or LuaLaTeX.</a:t>
            </a:r>
          </a:p>
        </p:txBody>
      </p:sp>
      <p:sp>
        <p:nvSpPr>
          <p:cNvPr id="38" name="Rounded Rectangle 37"/>
          <p:cNvSpPr/>
          <p:nvPr/>
        </p:nvSpPr>
        <p:spPr>
          <a:xfrm>
            <a:off x="6589623"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6278727"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78727"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7</a:t>
            </a:r>
          </a:p>
        </p:txBody>
      </p:sp>
      <p:sp>
        <p:nvSpPr>
          <p:cNvPr id="41" name="TextBox 40"/>
          <p:cNvSpPr txBox="1"/>
          <p:nvPr/>
        </p:nvSpPr>
        <p:spPr>
          <a:xfrm>
            <a:off x="6845655"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model</a:t>
            </a:r>
          </a:p>
        </p:txBody>
      </p:sp>
      <p:sp>
        <p:nvSpPr>
          <p:cNvPr id="42" name="TextBox 41"/>
          <p:cNvSpPr txBox="1"/>
          <p:nvPr/>
        </p:nvSpPr>
        <p:spPr>
          <a:xfrm>
            <a:off x="8656167"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Ask a model; its answer re-enters at rung 1.</a:t>
            </a:r>
          </a:p>
        </p:txBody>
      </p:sp>
      <p:sp>
        <p:nvSpPr>
          <p:cNvPr id="43" name="Rounded Rectangle 42"/>
          <p:cNvSpPr/>
          <p:nvPr/>
        </p:nvSpPr>
        <p:spPr>
          <a:xfrm>
            <a:off x="6589623"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278727"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278727"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8</a:t>
            </a:r>
          </a:p>
        </p:txBody>
      </p:sp>
      <p:sp>
        <p:nvSpPr>
          <p:cNvPr id="46" name="TextBox 45"/>
          <p:cNvSpPr txBox="1"/>
          <p:nvPr/>
        </p:nvSpPr>
        <p:spPr>
          <a:xfrm>
            <a:off x="6845655"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bisect</a:t>
            </a:r>
          </a:p>
        </p:txBody>
      </p:sp>
      <p:sp>
        <p:nvSpPr>
          <p:cNvPr id="47" name="TextBox 46"/>
          <p:cNvSpPr txBox="1"/>
          <p:nvPr/>
        </p:nvSpPr>
        <p:spPr>
          <a:xfrm>
            <a:off x="8656167"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set the failing block aside, and say so.</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boards, fail-safe by design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Four agents take firmware from scaffold to a running board, and each refuses rather than flash something that cannot be right.</a:t>
            </a:r>
          </a:p>
        </p:txBody>
      </p:sp>
      <p:sp>
        <p:nvSpPr>
          <p:cNvPr id="8" name="Rounded Rectangle 7"/>
          <p:cNvSpPr/>
          <p:nvPr/>
        </p:nvSpPr>
        <p:spPr>
          <a:xfrm>
            <a:off x="566928" y="2084831"/>
            <a:ext cx="11057839" cy="3026664"/>
          </a:xfrm>
          <a:prstGeom prst="roundRect">
            <a:avLst>
              <a:gd name="adj" fmla="val 24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TOOLCHAIN</a:t>
            </a:r>
          </a:p>
        </p:txBody>
      </p:sp>
      <p:sp>
        <p:nvSpPr>
          <p:cNvPr id="12" name="TextBox 11"/>
          <p:cNvSpPr txBox="1"/>
          <p:nvPr/>
        </p:nvSpPr>
        <p:spPr>
          <a:xfrm>
            <a:off x="5063215" y="2121408"/>
            <a:ext cx="648839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HIGHLIGHTS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STM32er</a:t>
            </a:r>
          </a:p>
        </p:txBody>
      </p:sp>
      <p:sp>
        <p:nvSpPr>
          <p:cNvPr id="14" name="TextBox 13"/>
          <p:cNvSpPr txBox="1"/>
          <p:nvPr/>
        </p:nvSpPr>
        <p:spPr>
          <a:xfrm>
            <a:off x="2188177" y="2505456"/>
            <a:ext cx="2728734"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ststm32 and the STM32 Template Project MCP</a:t>
            </a:r>
          </a:p>
        </p:txBody>
      </p:sp>
      <p:sp>
        <p:nvSpPr>
          <p:cNvPr id="15" name="TextBox 14"/>
          <p:cNvSpPr txBox="1"/>
          <p:nvPr/>
        </p:nvSpPr>
        <p:spPr>
          <a:xfrm>
            <a:off x="5063215" y="2505456"/>
            <a:ext cx="6488399"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Blue Pill through F7, G, L, H7, U5 and WB; zero-config bootstrap; ST-LINK probe checks; newest silicon refused cleanly until its native backend exists.</a:t>
            </a:r>
          </a:p>
        </p:txBody>
      </p:sp>
      <p:sp>
        <p:nvSpPr>
          <p:cNvPr id="16" name="Rectangle 15"/>
          <p:cNvSpPr/>
          <p:nvPr/>
        </p:nvSpPr>
        <p:spPr>
          <a:xfrm>
            <a:off x="585216" y="33009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ESP32er</a:t>
            </a:r>
          </a:p>
        </p:txBody>
      </p:sp>
      <p:sp>
        <p:nvSpPr>
          <p:cNvPr id="18" name="TextBox 17"/>
          <p:cNvSpPr txBox="1"/>
          <p:nvPr/>
        </p:nvSpPr>
        <p:spPr>
          <a:xfrm>
            <a:off x="2188177" y="33375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Core, called directly</a:t>
            </a:r>
          </a:p>
        </p:txBody>
      </p:sp>
      <p:sp>
        <p:nvSpPr>
          <p:cNvPr id="19" name="TextBox 18"/>
          <p:cNvSpPr txBox="1"/>
          <p:nvPr/>
        </p:nvSpPr>
        <p:spPr>
          <a:xfrm>
            <a:off x="5063215" y="3337560"/>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Copies a blink-and-print template so a new project compiles at once; serial-aware preflight.</a:t>
            </a:r>
          </a:p>
        </p:txBody>
      </p:sp>
      <p:sp>
        <p:nvSpPr>
          <p:cNvPr id="20" name="TextBox 19"/>
          <p:cNvSpPr txBox="1"/>
          <p:nvPr/>
        </p:nvSpPr>
        <p:spPr>
          <a:xfrm>
            <a:off x="640080" y="3941063"/>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Arduiner</a:t>
            </a:r>
          </a:p>
        </p:txBody>
      </p:sp>
      <p:sp>
        <p:nvSpPr>
          <p:cNvPr id="21" name="TextBox 20"/>
          <p:cNvSpPr txBox="1"/>
          <p:nvPr/>
        </p:nvSpPr>
        <p:spPr>
          <a:xfrm>
            <a:off x="2188177" y="3941063"/>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arduino-cli, downloaded on demand</a:t>
            </a:r>
          </a:p>
        </p:txBody>
      </p:sp>
      <p:sp>
        <p:nvSpPr>
          <p:cNvPr id="22" name="TextBox 21"/>
          <p:cNvSpPr txBox="1"/>
          <p:nvPr/>
        </p:nvSpPr>
        <p:spPr>
          <a:xfrm>
            <a:off x="5063215" y="3941063"/>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board is chosen by its FQBN; the board's core is installed automatically.</a:t>
            </a:r>
          </a:p>
        </p:txBody>
      </p:sp>
      <p:sp>
        <p:nvSpPr>
          <p:cNvPr id="23" name="Rectangle 22"/>
          <p:cNvSpPr/>
          <p:nvPr/>
        </p:nvSpPr>
        <p:spPr>
          <a:xfrm>
            <a:off x="585216" y="4507992"/>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544568"/>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ESPHomer</a:t>
            </a:r>
          </a:p>
        </p:txBody>
      </p:sp>
      <p:sp>
        <p:nvSpPr>
          <p:cNvPr id="25" name="TextBox 24"/>
          <p:cNvSpPr txBox="1"/>
          <p:nvPr/>
        </p:nvSpPr>
        <p:spPr>
          <a:xfrm>
            <a:off x="2188177" y="45445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esphome CLI</a:t>
            </a:r>
          </a:p>
        </p:txBody>
      </p:sp>
      <p:sp>
        <p:nvSpPr>
          <p:cNvPr id="26" name="TextBox 25"/>
          <p:cNvSpPr txBox="1"/>
          <p:nvPr/>
        </p:nvSpPr>
        <p:spPr>
          <a:xfrm>
            <a:off x="5063215" y="4544568"/>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Smart-home devices from YAML; headless config generator; USB first flash, OTA after.</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Authorized hardware only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Flash, erase, reset and upload change a real attached device. STM32er drives mission-critical robot firmware, which is why its preflight fails safe.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“Real boards, fail-safe by design”</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CREATIVE ENGINES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Unreal Engine and Blender, live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Two agents drive running editors over their own sockets, from chat or from the canvas.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Talks to the Unreal MCP plugin over TCP: 53 commands in nine categories — editor, Blueprint, nodes, project, UMG, system, level, asset and material.</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Tlamatini's Unreal fork</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XaihtUnrealEngineMCP ships the full surface plus a scaffolder for a ready-to-build UE 5.8 C++ project with a Visual Studio 2026 solution.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Blenderer</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Speaks the official Blender MCP add-on's code-execution protocol on its local socket, with a rich action catalog so most tasks need no hand-written Python.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Chainable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return structured blocks, so Parametrizer can carry a result into the next step and a Forker can branch on it.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SECURITY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Assessment for authorized targets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Offensive and defensive tooling is part of the catalog, always limited to systems you own or are explicitly authorized to test.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Kalier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Kali Linux tools through MCP-Kali-Server: nmap, gobuster, nikto, sqlmap and more.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Discoverer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subfinder, httpx, naabu, katana, nuclei and vulnx on a private Go toolchain.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Nmapper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Uses the nmap you installed; never bundles it; connect scan needs no admin.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Analyzer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bandit, semgrep, ruff, eslint, gitleaks and pip-audit, deterministically.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Reviewer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senior-engineer review of a diff, with a verdict a flow can branch on.</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Kyber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Post-quantum key generation, encryption and decryption.</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BLUE-HAT TOOLKIT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Windows defence, operated by a human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a:t>
            </a:r>
            <a:r>
              <a:rPr sz="1350" b="0" i="0">
                <a:solidFill>
                  <a:srgbClr val="E2B462"/>
                </a:solidFill>
                <a:latin typeface="Consolas"/>
              </a:rPr>
              <a:t>security/</a:t>
            </a:r>
            <a:r>
              <a:rPr sz="1450" b="0" i="0">
                <a:solidFill>
                  <a:srgbClr val="A7B2B0"/>
                </a:solidFill>
                <a:latin typeface="Segoe UI Semilight"/>
              </a:rPr>
              <a:t> toolkit is an administrator-run monitoring and response kit, not a chat tool: a person launches it, reads its evidence and decides.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Operator-run</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launches it and owns every policy change.</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families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Defender, logons, network, processes, persistence, ransomware, accounts.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Detect first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Baseline with -DetectOnly before arming.</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Trade-offs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Exclusions and Audit-mode rules are recorded and explained.</a:t>
            </a:r>
          </a:p>
        </p:txBody>
      </p:sp>
      <p:sp>
        <p:nvSpPr>
          <p:cNvPr id="24" name="Rounded Rectangle 23"/>
          <p:cNvSpPr/>
          <p:nvPr/>
        </p:nvSpPr>
        <p:spPr>
          <a:xfrm>
            <a:off x="6144768" y="2084831"/>
            <a:ext cx="5479999" cy="2432303"/>
          </a:xfrm>
          <a:prstGeom prst="roundRect">
            <a:avLst>
              <a:gd name="adj" fmla="val 30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1388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MODE</a:t>
            </a:r>
          </a:p>
        </p:txBody>
      </p:sp>
      <p:sp>
        <p:nvSpPr>
          <p:cNvPr id="27" name="TextBox 26"/>
          <p:cNvSpPr txBox="1"/>
          <p:nvPr/>
        </p:nvSpPr>
        <p:spPr>
          <a:xfrm>
            <a:off x="7752319" y="2121408"/>
            <a:ext cx="379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BEHAVIOUR</a:t>
            </a:r>
          </a:p>
        </p:txBody>
      </p:sp>
      <p:sp>
        <p:nvSpPr>
          <p:cNvPr id="28" name="TextBox 27"/>
          <p:cNvSpPr txBox="1"/>
          <p:nvPr/>
        </p:nvSpPr>
        <p:spPr>
          <a:xfrm>
            <a:off x="6217920" y="2505456"/>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-DetectOnly</a:t>
            </a:r>
          </a:p>
        </p:txBody>
      </p:sp>
      <p:sp>
        <p:nvSpPr>
          <p:cNvPr id="29" name="TextBox 28"/>
          <p:cNvSpPr txBox="1"/>
          <p:nvPr/>
        </p:nvSpPr>
        <p:spPr>
          <a:xfrm>
            <a:off x="7752319" y="2505456"/>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Reports what it would block or stop; the safe first run.</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default</a:t>
            </a:r>
          </a:p>
        </p:txBody>
      </p:sp>
      <p:sp>
        <p:nvSpPr>
          <p:cNvPr id="32" name="TextBox 31"/>
          <p:cNvSpPr txBox="1"/>
          <p:nvPr/>
        </p:nvSpPr>
        <p:spPr>
          <a:xfrm>
            <a:off x="7752319" y="3017520"/>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One armed sweep; may block an attacking IP and stop known attacker tools.</a:t>
            </a:r>
          </a:p>
        </p:txBody>
      </p:sp>
      <p:sp>
        <p:nvSpPr>
          <p:cNvPr id="33" name="TextBox 32"/>
          <p:cNvSpPr txBox="1"/>
          <p:nvPr/>
        </p:nvSpPr>
        <p:spPr>
          <a:xfrm>
            <a:off x="6217920" y="3529584"/>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-Watch</a:t>
            </a:r>
          </a:p>
        </p:txBody>
      </p:sp>
      <p:sp>
        <p:nvSpPr>
          <p:cNvPr id="34" name="TextBox 33"/>
          <p:cNvSpPr txBox="1"/>
          <p:nvPr/>
        </p:nvSpPr>
        <p:spPr>
          <a:xfrm>
            <a:off x="7752319" y="3529584"/>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Continuous sweeps until Ctrl+C, every 60 seconds by default.</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-Aggressive</a:t>
            </a:r>
          </a:p>
        </p:txBody>
      </p:sp>
      <p:sp>
        <p:nvSpPr>
          <p:cNvPr id="37" name="TextBox 36"/>
          <p:cNvSpPr txBox="1"/>
          <p:nvPr/>
        </p:nvSpPr>
        <p:spPr>
          <a:xfrm>
            <a:off x="7752319" y="4041648"/>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Also stops dual-use tools outside Tlamatini's paths; incidents only.</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VOICE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listens until you stop, and answers in her voice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Direct chat dictation, workflow Whisperer, Talker and catalog commands have distinct voice contracts.</a:t>
            </a:r>
          </a:p>
        </p:txBody>
      </p:sp>
      <p:sp>
        <p:nvSpPr>
          <p:cNvPr id="8" name="Rounded Rectangle 7"/>
          <p:cNvSpPr/>
          <p:nvPr/>
        </p:nvSpPr>
        <p:spPr>
          <a:xfrm>
            <a:off x="566928" y="2084831"/>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Sound gate</a:t>
            </a:r>
          </a:p>
        </p:txBody>
      </p:sp>
      <p:sp>
        <p:nvSpPr>
          <p:cNvPr id="11" name="TextBox 10"/>
          <p:cNvSpPr txBox="1"/>
          <p:nvPr/>
        </p:nvSpPr>
        <p:spPr>
          <a:xfrm>
            <a:off x="3767328" y="2139696"/>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Records while you talk; stops after 3.5 s of silence.</a:t>
            </a:r>
          </a:p>
        </p:txBody>
      </p:sp>
      <p:sp>
        <p:nvSpPr>
          <p:cNvPr id="12" name="Rounded Rectangle 11"/>
          <p:cNvSpPr/>
          <p:nvPr/>
        </p:nvSpPr>
        <p:spPr>
          <a:xfrm>
            <a:off x="566928" y="2791968"/>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Workflow duration</a:t>
            </a:r>
          </a:p>
        </p:txBody>
      </p:sp>
      <p:sp>
        <p:nvSpPr>
          <p:cNvPr id="15" name="TextBox 14"/>
          <p:cNvSpPr txBox="1"/>
          <p:nvPr/>
        </p:nvSpPr>
        <p:spPr>
          <a:xfrm>
            <a:off x="3767328" y="2846832"/>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Standalone/workflow recording can use an explicit fixed duration.</a:t>
            </a:r>
          </a:p>
        </p:txBody>
      </p:sp>
      <p:sp>
        <p:nvSpPr>
          <p:cNvPr id="16" name="Rounded Rectangle 15"/>
          <p:cNvSpPr/>
          <p:nvPr/>
        </p:nvSpPr>
        <p:spPr>
          <a:xfrm>
            <a:off x="566928" y="3499103"/>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Local first</a:t>
            </a:r>
          </a:p>
        </p:txBody>
      </p:sp>
      <p:sp>
        <p:nvSpPr>
          <p:cNvPr id="19" name="TextBox 18"/>
          <p:cNvSpPr txBox="1"/>
          <p:nvPr/>
        </p:nvSpPr>
        <p:spPr>
          <a:xfrm>
            <a:off x="3767328" y="3553967"/>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faster-whisper on GPU or CPU, or a cloud provider.</a:t>
            </a:r>
          </a:p>
        </p:txBody>
      </p:sp>
      <p:sp>
        <p:nvSpPr>
          <p:cNvPr id="20" name="Rounded Rectangle 19"/>
          <p:cNvSpPr/>
          <p:nvPr/>
        </p:nvSpPr>
        <p:spPr>
          <a:xfrm>
            <a:off x="566928" y="4206240"/>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Her voice</a:t>
            </a:r>
          </a:p>
        </p:txBody>
      </p:sp>
      <p:sp>
        <p:nvSpPr>
          <p:cNvPr id="23" name="TextBox 22"/>
          <p:cNvSpPr txBox="1"/>
          <p:nvPr/>
        </p:nvSpPr>
        <p:spPr>
          <a:xfrm>
            <a:off x="3767328" y="4261103"/>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Female only: tara, leah, jess, mia or zoe.</a:t>
            </a:r>
          </a:p>
        </p:txBody>
      </p:sp>
      <p:sp>
        <p:nvSpPr>
          <p:cNvPr id="24" name="Rounded Rectangle 23"/>
          <p:cNvSpPr/>
          <p:nvPr/>
        </p:nvSpPr>
        <p:spPr>
          <a:xfrm>
            <a:off x="566928" y="4913376"/>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microphone</a:t>
            </a:r>
          </a:p>
        </p:txBody>
      </p:sp>
      <p:sp>
        <p:nvSpPr>
          <p:cNvPr id="27" name="TextBox 26"/>
          <p:cNvSpPr txBox="1"/>
          <p:nvPr/>
        </p:nvSpPr>
        <p:spPr>
          <a:xfrm>
            <a:off x="3767328" y="4968239"/>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Gate, recognize, then send or keep an editable draft; no extra console.</a:t>
            </a:r>
          </a:p>
        </p:txBody>
      </p:sp>
      <p:sp>
        <p:nvSpPr>
          <p:cNvPr id="28" name="Rounded Rectangle 27"/>
          <p:cNvSpPr/>
          <p:nvPr/>
        </p:nvSpPr>
        <p:spPr>
          <a:xfrm>
            <a:off x="566928" y="5620512"/>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 commands</a:t>
            </a:r>
          </a:p>
        </p:txBody>
      </p:sp>
      <p:sp>
        <p:nvSpPr>
          <p:cNvPr id="31" name="TextBox 30"/>
          <p:cNvSpPr txBox="1"/>
          <p:nvPr/>
        </p:nvSpPr>
        <p:spPr>
          <a:xfrm>
            <a:off x="3767328" y="5675375"/>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Model-mediated cards can request readback before acting.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VISION AND VIDEO</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Eyes that report their limits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Image and video analysis combine independent observers, so one model's guess is never presented as fact.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Image-Interpreter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vision models read each image in parallel on their own connections; a third merges both. A comma-separated list reads several images.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robotics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deterministic motion gate plus two vision models; PASS only when both agree.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transcription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Timestamped speech from chosen audio tracks, locally.</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summary</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Speech plus sampled visual evidence: scenes, text, facts, decisions and limits.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Capture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Shoter, Camcorder and Recorder save to your known folders with exact names.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Paste to chat</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screenshot pasted into the chat becomes a path she can analyze.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DESKTOP AND BROWSER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Precise hands on a real desktop</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Desktop agents state their coordinate spaces and their evidence, because a click that lands in the wrong place is worse than no click.</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Mouser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Coordinates are declared: physical screen, desktop, normalized, window or screenshot.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Shoter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Publishes the exact captured rectangle, image size and monitor geometry.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Binds each keystroke to a verified window and stops on focus loss.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 is not acceptance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input_sent</a:t>
            </a:r>
            <a:r>
              <a:rPr sz="1300" b="0" i="0">
                <a:solidFill>
                  <a:srgbClr val="A7B2B0"/>
                </a:solidFill>
                <a:latin typeface="Segoe UI"/>
              </a:rPr>
              <a:t> proves delivery only; interrupted input is inspected before any replay.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Playwrighter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real browser through declared steps, with a hold-open knob to watch.</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Windower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Focus, move, resize, tile, pin and close windows by title.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SEARCH</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Three search tiers, one time budget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search tool and pool agent use the same Googler implementation, with a default 120-second budget and explicit outcomes.</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0</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Six hedged HTTP routes; relevance checked before acceptance.</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1</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Eight browser routes in health-ledger order; persistent Chrome profile.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2</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Clearly attributed open knowledge sources when search routes fail.</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Bounded work</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120-second default, cancellation and named failure outcomes.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Dork contract</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Explicit engines skip fallback tiers; links_only delivers URLs.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READING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the requested page, report what happened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Crawler starts with the supplied page, bounds its work and keeps refusal pages away from the model.</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Page first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the seed URL by default; range crawling is explicit.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Budgets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Defaults: 25 pages, 900 seconds overall, 45 seconds per download.</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Truthful outcome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Refusals never become source content; no analysis is reported plainly.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safety net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Below 25% of a 200+ character fallback: recover and disclose.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NETWORK MEASUREMENT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Speed measured with its error bar</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NetSpeed-Calculator publishes a speed with a confidence interval and measures latency under load.</a:t>
            </a:r>
          </a:p>
        </p:txBody>
      </p:sp>
      <p:sp>
        <p:nvSpPr>
          <p:cNvPr id="8" name="Rounded Rectangle 7"/>
          <p:cNvSpPr/>
          <p:nvPr/>
        </p:nvSpPr>
        <p:spPr>
          <a:xfrm>
            <a:off x="566928" y="2084831"/>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Throughput</a:t>
            </a:r>
          </a:p>
        </p:txBody>
      </p:sp>
      <p:sp>
        <p:nvSpPr>
          <p:cNvPr id="11" name="TextBox 10"/>
          <p:cNvSpPr txBox="1"/>
          <p:nvPr/>
        </p:nvSpPr>
        <p:spPr>
          <a:xfrm>
            <a:off x="3767328" y="2139696"/>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Parallel streams, Student-t intervals, random-effects fusion.</a:t>
            </a:r>
          </a:p>
        </p:txBody>
      </p:sp>
      <p:sp>
        <p:nvSpPr>
          <p:cNvPr id="12" name="Rounded Rectangle 11"/>
          <p:cNvSpPr/>
          <p:nvPr/>
        </p:nvSpPr>
        <p:spPr>
          <a:xfrm>
            <a:off x="566928" y="3499103"/>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Bufferbloat</a:t>
            </a:r>
          </a:p>
        </p:txBody>
      </p:sp>
      <p:sp>
        <p:nvSpPr>
          <p:cNvPr id="15" name="TextBox 14"/>
          <p:cNvSpPr txBox="1"/>
          <p:nvPr/>
        </p:nvSpPr>
        <p:spPr>
          <a:xfrm>
            <a:off x="3767328" y="3553967"/>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Latency under load, graded A+ to F.</a:t>
            </a:r>
          </a:p>
        </p:txBody>
      </p:sp>
      <p:sp>
        <p:nvSpPr>
          <p:cNvPr id="16" name="Rounded Rectangle 15"/>
          <p:cNvSpPr/>
          <p:nvPr/>
        </p:nvSpPr>
        <p:spPr>
          <a:xfrm>
            <a:off x="566928" y="4913376"/>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Metered</a:t>
            </a:r>
          </a:p>
        </p:txBody>
      </p:sp>
      <p:sp>
        <p:nvSpPr>
          <p:cNvPr id="19" name="TextBox 18"/>
          <p:cNvSpPr txBox="1"/>
          <p:nvPr/>
        </p:nvSpPr>
        <p:spPr>
          <a:xfrm>
            <a:off x="3767328" y="4968239"/>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About 100 to 200 MB per full run; it asks first.</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MESSAGING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Reaching people deliberately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Messaging agents use official surfaces by default and make every unofficial route an explicit choice.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Telegrammer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as the bot or as your own account; “send it as me” picks yours.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Whatsapper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Meta's official Cloud API by default; your own number only when you say so.</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Zavuerer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Zavu key for SMS, WhatsApp, Telegram, email and voice, with smart routing.</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TeleTlamatini</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full chat in Telegram, on a dedicated account.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Instant Messaging Doctor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Checks tokens, contacts, templates and policy windows.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contact name resolves to the real address when a message is sent.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9576B"/>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Promises She Keeps</a:t>
            </a:r>
          </a:p>
        </p:txBody>
      </p:sp>
      <p:sp>
        <p:nvSpPr>
          <p:cNvPr id="6" name="Rectangle 5"/>
          <p:cNvSpPr/>
          <p:nvPr/>
        </p:nvSpPr>
        <p:spPr>
          <a:xfrm>
            <a:off x="841248" y="4315968"/>
            <a:ext cx="100584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Honesty, consent, safety and control, written into the code rather than into a brochure.</a:t>
            </a:r>
          </a:p>
        </p:txBody>
      </p:sp>
      <p:sp>
        <p:nvSpPr>
          <p:cNvPr id="8" name="Diamond 7"/>
          <p:cNvSpPr/>
          <p:nvPr/>
        </p:nvSpPr>
        <p:spPr>
          <a:xfrm>
            <a:off x="82296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Truth over comfort</a:t>
            </a:r>
          </a:p>
        </p:txBody>
      </p:sp>
      <p:sp>
        <p:nvSpPr>
          <p:cNvPr id="10" name="Diamond 9"/>
          <p:cNvSpPr/>
          <p:nvPr/>
        </p:nvSpPr>
        <p:spPr>
          <a:xfrm>
            <a:off x="82296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Fail open or fail safe, on purpose</a:t>
            </a:r>
          </a:p>
        </p:txBody>
      </p:sp>
      <p:sp>
        <p:nvSpPr>
          <p:cNvPr id="12" name="Diamond 11"/>
          <p:cNvSpPr/>
          <p:nvPr/>
        </p:nvSpPr>
        <p:spPr>
          <a:xfrm>
            <a:off x="822960" y="588873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agents, your jurisdiction</a:t>
            </a:r>
          </a:p>
        </p:txBody>
      </p:sp>
      <p:sp>
        <p:nvSpPr>
          <p:cNvPr id="14" name="Diamond 13"/>
          <p:cNvSpPr/>
          <p:nvPr/>
        </p:nvSpPr>
        <p:spPr>
          <a:xfrm>
            <a:off x="420624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data, handled carefully</a:t>
            </a:r>
          </a:p>
        </p:txBody>
      </p:sp>
      <p:sp>
        <p:nvSpPr>
          <p:cNvPr id="16" name="Diamond 15"/>
          <p:cNvSpPr/>
          <p:nvPr/>
        </p:nvSpPr>
        <p:spPr>
          <a:xfrm>
            <a:off x="420624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Nothing runs where nobody can see it</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HONESTY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Truth over comfort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Where a system can be confidently wrong, Tlamatini is built to say what she knows and what she does not.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Self-report first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agent's typed result outranks a one-bit exit code.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is red</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compromised deliverable is never painted green.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Silence is named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Skipped files, dead transfers and refusals carry a reason.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 is narrated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Retries are shown live and summarized in the answer.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Created is not clean</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Documents report their audits before being called finished.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is not accepted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Desktop input evidence is kept distinct from success.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FAILURE MODES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Fail open or fail safe, on purpose</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guard chooses its failure direction deliberately, by asking which mistake would hurt you more.</a:t>
            </a:r>
          </a:p>
        </p:txBody>
      </p:sp>
      <p:sp>
        <p:nvSpPr>
          <p:cNvPr id="8" name="Rounded Rectangle 7"/>
          <p:cNvSpPr/>
          <p:nvPr/>
        </p:nvSpPr>
        <p:spPr>
          <a:xfrm>
            <a:off x="566928" y="2084831"/>
            <a:ext cx="11057839" cy="4056887"/>
          </a:xfrm>
          <a:prstGeom prst="roundRect">
            <a:avLst>
              <a:gd name="adj" fmla="val 1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17104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MECHANISM</a:t>
            </a:r>
          </a:p>
        </p:txBody>
      </p:sp>
      <p:sp>
        <p:nvSpPr>
          <p:cNvPr id="11" name="TextBox 10"/>
          <p:cNvSpPr txBox="1"/>
          <p:nvPr/>
        </p:nvSpPr>
        <p:spPr>
          <a:xfrm>
            <a:off x="3957431"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DIRECTION</a:t>
            </a:r>
          </a:p>
        </p:txBody>
      </p:sp>
      <p:sp>
        <p:nvSpPr>
          <p:cNvPr id="12" name="TextBox 11"/>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WHY</a:t>
            </a:r>
          </a:p>
        </p:txBody>
      </p:sp>
      <p:sp>
        <p:nvSpPr>
          <p:cNvPr id="13" name="TextBox 12"/>
          <p:cNvSpPr txBox="1"/>
          <p:nvPr/>
        </p:nvSpPr>
        <p:spPr>
          <a:xfrm>
            <a:off x="640080" y="2505456"/>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Binary-content guard</a:t>
            </a:r>
          </a:p>
        </p:txBody>
      </p:sp>
      <p:sp>
        <p:nvSpPr>
          <p:cNvPr id="14" name="TextBox 13"/>
          <p:cNvSpPr txBox="1"/>
          <p:nvPr/>
        </p:nvSpPr>
        <p:spPr>
          <a:xfrm>
            <a:off x="3957431" y="2505456"/>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15" name="TextBox 14"/>
          <p:cNvSpPr txBox="1"/>
          <p:nvPr/>
        </p:nvSpPr>
        <p:spPr>
          <a:xfrm>
            <a:off x="5726686" y="2505456"/>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Dropping real context is worse than embedding one odd file.</a:t>
            </a:r>
          </a:p>
        </p:txBody>
      </p:sp>
      <p:sp>
        <p:nvSpPr>
          <p:cNvPr id="16" name="Rectangle 15"/>
          <p:cNvSpPr/>
          <p:nvPr/>
        </p:nvSpPr>
        <p:spPr>
          <a:xfrm>
            <a:off x="585216" y="2836164"/>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72740"/>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Verdict parsing</a:t>
            </a:r>
          </a:p>
        </p:txBody>
      </p:sp>
      <p:sp>
        <p:nvSpPr>
          <p:cNvPr id="18" name="TextBox 17"/>
          <p:cNvSpPr txBox="1"/>
          <p:nvPr/>
        </p:nvSpPr>
        <p:spPr>
          <a:xfrm>
            <a:off x="3957431" y="2872740"/>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19" name="TextBox 18"/>
          <p:cNvSpPr txBox="1"/>
          <p:nvPr/>
        </p:nvSpPr>
        <p:spPr>
          <a:xfrm>
            <a:off x="5726686" y="2872740"/>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parse error falls through to the next rule; it never raises.</a:t>
            </a:r>
          </a:p>
        </p:txBody>
      </p:sp>
      <p:sp>
        <p:nvSpPr>
          <p:cNvPr id="20" name="TextBox 19"/>
          <p:cNvSpPr txBox="1"/>
          <p:nvPr/>
        </p:nvSpPr>
        <p:spPr>
          <a:xfrm>
            <a:off x="640080" y="3240023"/>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Port and console settings</a:t>
            </a:r>
          </a:p>
        </p:txBody>
      </p:sp>
      <p:sp>
        <p:nvSpPr>
          <p:cNvPr id="21" name="TextBox 20"/>
          <p:cNvSpPr txBox="1"/>
          <p:nvPr/>
        </p:nvSpPr>
        <p:spPr>
          <a:xfrm>
            <a:off x="3957431" y="324002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2" name="TextBox 21"/>
          <p:cNvSpPr txBox="1"/>
          <p:nvPr/>
        </p:nvSpPr>
        <p:spPr>
          <a:xfrm>
            <a:off x="5726686" y="3240023"/>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typo must never stop the server from starting.</a:t>
            </a:r>
          </a:p>
        </p:txBody>
      </p:sp>
      <p:sp>
        <p:nvSpPr>
          <p:cNvPr id="23" name="Rectangle 22"/>
          <p:cNvSpPr/>
          <p:nvPr/>
        </p:nvSpPr>
        <p:spPr>
          <a:xfrm>
            <a:off x="585216" y="3570731"/>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07307"/>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Runtime provisioner</a:t>
            </a:r>
          </a:p>
        </p:txBody>
      </p:sp>
      <p:sp>
        <p:nvSpPr>
          <p:cNvPr id="25" name="TextBox 24"/>
          <p:cNvSpPr txBox="1"/>
          <p:nvPr/>
        </p:nvSpPr>
        <p:spPr>
          <a:xfrm>
            <a:off x="3957431" y="360730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6" name="TextBox 25"/>
          <p:cNvSpPr txBox="1"/>
          <p:nvPr/>
        </p:nvSpPr>
        <p:spPr>
          <a:xfrm>
            <a:off x="5726686" y="3607307"/>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failed download never blocks start-up.</a:t>
            </a:r>
          </a:p>
        </p:txBody>
      </p:sp>
      <p:sp>
        <p:nvSpPr>
          <p:cNvPr id="27" name="TextBox 26"/>
          <p:cNvSpPr txBox="1"/>
          <p:nvPr/>
        </p:nvSpPr>
        <p:spPr>
          <a:xfrm>
            <a:off x="640080" y="3974591"/>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Compact-mode fitter</a:t>
            </a:r>
          </a:p>
        </p:txBody>
      </p:sp>
      <p:sp>
        <p:nvSpPr>
          <p:cNvPr id="28" name="TextBox 27"/>
          <p:cNvSpPr txBox="1"/>
          <p:nvPr/>
        </p:nvSpPr>
        <p:spPr>
          <a:xfrm>
            <a:off x="3957431" y="397459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9" name="TextBox 28"/>
          <p:cNvSpPr txBox="1"/>
          <p:nvPr/>
        </p:nvSpPr>
        <p:spPr>
          <a:xfrm>
            <a:off x="5726686" y="3974591"/>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Any doubt sends the complete request, exactly as before.</a:t>
            </a:r>
          </a:p>
        </p:txBody>
      </p:sp>
      <p:sp>
        <p:nvSpPr>
          <p:cNvPr id="30" name="Rectangle 29"/>
          <p:cNvSpPr/>
          <p:nvPr/>
        </p:nvSpPr>
        <p:spPr>
          <a:xfrm>
            <a:off x="585216" y="4305299"/>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41875"/>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Ask Execs</a:t>
            </a:r>
          </a:p>
        </p:txBody>
      </p:sp>
      <p:sp>
        <p:nvSpPr>
          <p:cNvPr id="32" name="TextBox 31"/>
          <p:cNvSpPr txBox="1"/>
          <p:nvPr/>
        </p:nvSpPr>
        <p:spPr>
          <a:xfrm>
            <a:off x="3957431" y="4341875"/>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33" name="TextBox 32"/>
          <p:cNvSpPr txBox="1"/>
          <p:nvPr/>
        </p:nvSpPr>
        <p:spPr>
          <a:xfrm>
            <a:off x="5726686" y="4341875"/>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Any doubt resolves to Deny.</a:t>
            </a:r>
          </a:p>
        </p:txBody>
      </p:sp>
      <p:sp>
        <p:nvSpPr>
          <p:cNvPr id="34" name="TextBox 33"/>
          <p:cNvSpPr txBox="1"/>
          <p:nvPr/>
        </p:nvSpPr>
        <p:spPr>
          <a:xfrm>
            <a:off x="640080" y="4709159"/>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Database copies</a:t>
            </a:r>
          </a:p>
        </p:txBody>
      </p:sp>
      <p:sp>
        <p:nvSpPr>
          <p:cNvPr id="35" name="TextBox 34"/>
          <p:cNvSpPr txBox="1"/>
          <p:nvPr/>
        </p:nvSpPr>
        <p:spPr>
          <a:xfrm>
            <a:off x="3957431" y="4709159"/>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36" name="TextBox 35"/>
          <p:cNvSpPr txBox="1"/>
          <p:nvPr/>
        </p:nvSpPr>
        <p:spPr>
          <a:xfrm>
            <a:off x="5726686" y="4709159"/>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 unclear or unchecked copy is reported as a failure.</a:t>
            </a:r>
          </a:p>
        </p:txBody>
      </p:sp>
      <p:sp>
        <p:nvSpPr>
          <p:cNvPr id="37" name="Rectangle 36"/>
          <p:cNvSpPr/>
          <p:nvPr/>
        </p:nvSpPr>
        <p:spPr>
          <a:xfrm>
            <a:off x="585216" y="5039867"/>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076443"/>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LaTeXer bisect guard</a:t>
            </a:r>
          </a:p>
        </p:txBody>
      </p:sp>
      <p:sp>
        <p:nvSpPr>
          <p:cNvPr id="39" name="TextBox 38"/>
          <p:cNvSpPr txBox="1"/>
          <p:nvPr/>
        </p:nvSpPr>
        <p:spPr>
          <a:xfrm>
            <a:off x="3957431" y="507644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0" name="TextBox 39"/>
          <p:cNvSpPr txBox="1"/>
          <p:nvPr/>
        </p:nvSpPr>
        <p:spPr>
          <a:xfrm>
            <a:off x="5726686" y="5076443"/>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When in doubt, protect the author's content.</a:t>
            </a:r>
          </a:p>
        </p:txBody>
      </p:sp>
      <p:sp>
        <p:nvSpPr>
          <p:cNvPr id="41" name="TextBox 40"/>
          <p:cNvSpPr txBox="1"/>
          <p:nvPr/>
        </p:nvSpPr>
        <p:spPr>
          <a:xfrm>
            <a:off x="640080" y="5443727"/>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Firmware preflights</a:t>
            </a:r>
          </a:p>
        </p:txBody>
      </p:sp>
      <p:sp>
        <p:nvSpPr>
          <p:cNvPr id="42" name="TextBox 41"/>
          <p:cNvSpPr txBox="1"/>
          <p:nvPr/>
        </p:nvSpPr>
        <p:spPr>
          <a:xfrm>
            <a:off x="3957431" y="544372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3" name="TextBox 42"/>
          <p:cNvSpPr txBox="1"/>
          <p:nvPr/>
        </p:nvSpPr>
        <p:spPr>
          <a:xfrm>
            <a:off x="5726686" y="5443727"/>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Refuse rather than build or flash the wrong target.</a:t>
            </a:r>
          </a:p>
        </p:txBody>
      </p:sp>
      <p:sp>
        <p:nvSpPr>
          <p:cNvPr id="44" name="Rectangle 43"/>
          <p:cNvSpPr/>
          <p:nvPr/>
        </p:nvSpPr>
        <p:spPr>
          <a:xfrm>
            <a:off x="585216" y="5774435"/>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811011"/>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Deleter</a:t>
            </a:r>
          </a:p>
        </p:txBody>
      </p:sp>
      <p:sp>
        <p:nvSpPr>
          <p:cNvPr id="46" name="TextBox 45"/>
          <p:cNvSpPr txBox="1"/>
          <p:nvPr/>
        </p:nvSpPr>
        <p:spPr>
          <a:xfrm>
            <a:off x="3957431" y="581101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7" name="TextBox 46"/>
          <p:cNvSpPr txBox="1"/>
          <p:nvPr/>
        </p:nvSpPr>
        <p:spPr>
          <a:xfrm>
            <a:off x="5726686" y="5811011"/>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Refuses protected folders, repository roots and drive roots.</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RESPONSIBILITY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agents, your jurisdiction</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is a plain-Python program so you can read, audit, edit, restrict or disable it. That transparency is a means of control, not a warranty of safety.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Readable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is plain Python you can audit and change.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decision</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choose whether, where and how an agent runs.</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scope</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authorize every file, target, machine and device.</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responsibility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Running an agent accepts its consequences.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DATA SAFETY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data, handled carefully</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Databases, secrets and scratch files each have one well-defined path.</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WAL-safe database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Backups read through the write-ahead log with SQLite's online backup API and are verified with quick_check.</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Staged replacement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new database waits in DB/ToLoad; the old one is archived with its sidecars before Django starts.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Secrets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secret fields are redacted from exported .flw files and public builds.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Private contacts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Public builds and source snapshots carry no contact data.</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Scratch files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Temporary files stay inside the application's own Temp folder.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Passwords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PDF passwords live in memory only.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TESTED IN THE OPEN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Nothing runs where nobody can see it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Tlamatini's development rule is that every test, build and diagnostic runs visibly, on a real desktop, where its creator can watch each step.</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Visible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Headed browsers and foreground consoles only.</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Photographed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Whole-desktop evidence taken by the Shoter agent.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Stale or timed-out results are never counted as passes.</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Drift guards</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Tests read the real source to stop silent drift.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Install, Configure, Run</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fresh Windows machine to a working assistant, and from source to a signed-off release.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GET STARTED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steps to a working Tlamatini</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itself is free. The only purchase is an Ollama plan, bought directly from Ollama.</a:t>
            </a:r>
          </a:p>
        </p:txBody>
      </p:sp>
      <p:sp>
        <p:nvSpPr>
          <p:cNvPr id="8" name="Rounded Rectangle 7"/>
          <p:cNvSpPr/>
          <p:nvPr/>
        </p:nvSpPr>
        <p:spPr>
          <a:xfrm>
            <a:off x="566928"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Install</a:t>
            </a:r>
          </a:p>
        </p:txBody>
      </p:sp>
      <p:sp>
        <p:nvSpPr>
          <p:cNvPr id="12" name="TextBox 11"/>
          <p:cNvSpPr txBox="1"/>
          <p:nvPr/>
        </p:nvSpPr>
        <p:spPr>
          <a:xfrm>
            <a:off x="694944"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Run the release installer, which bundles Python 3.12.10, or clone the source.</a:t>
            </a:r>
          </a:p>
        </p:txBody>
      </p:sp>
      <p:cxnSp>
        <p:nvCxnSpPr>
          <p:cNvPr id="13" name="Connector 12"/>
          <p:cNvCxnSpPr/>
          <p:nvPr/>
        </p:nvCxnSpPr>
        <p:spPr>
          <a:xfrm>
            <a:off x="256635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40675"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296869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96869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425891"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Ollama</a:t>
            </a:r>
          </a:p>
        </p:txBody>
      </p:sp>
      <p:sp>
        <p:nvSpPr>
          <p:cNvPr id="18" name="TextBox 17"/>
          <p:cNvSpPr txBox="1"/>
          <p:nvPr/>
        </p:nvSpPr>
        <p:spPr>
          <a:xfrm>
            <a:off x="2968691"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 Ollama for Windows.</a:t>
            </a:r>
          </a:p>
        </p:txBody>
      </p:sp>
      <p:cxnSp>
        <p:nvCxnSpPr>
          <p:cNvPr id="19" name="Connector 18"/>
          <p:cNvCxnSpPr/>
          <p:nvPr/>
        </p:nvCxnSpPr>
        <p:spPr>
          <a:xfrm>
            <a:off x="4840102"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14422"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5242438"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42438"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5699638"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 plan</a:t>
            </a:r>
          </a:p>
        </p:txBody>
      </p:sp>
      <p:sp>
        <p:nvSpPr>
          <p:cNvPr id="24" name="TextBox 23"/>
          <p:cNvSpPr txBox="1"/>
          <p:nvPr/>
        </p:nvSpPr>
        <p:spPr>
          <a:xfrm>
            <a:off x="5242438"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Activate Ollama Pro or higher, then run </a:t>
            </a:r>
            <a:r>
              <a:rPr sz="1200" b="0" i="0">
                <a:solidFill>
                  <a:srgbClr val="E2B462"/>
                </a:solidFill>
                <a:latin typeface="Consolas"/>
              </a:rPr>
              <a:t>ollama signin</a:t>
            </a:r>
            <a:r>
              <a:rPr sz="1300" b="0" i="0">
                <a:solidFill>
                  <a:srgbClr val="A7B2B0"/>
                </a:solidFill>
                <a:latin typeface="Segoe UI"/>
              </a:rPr>
              <a:t>.</a:t>
            </a:r>
          </a:p>
        </p:txBody>
      </p:sp>
      <p:cxnSp>
        <p:nvCxnSpPr>
          <p:cNvPr id="25" name="Connector 24"/>
          <p:cNvCxnSpPr/>
          <p:nvPr/>
        </p:nvCxnSpPr>
        <p:spPr>
          <a:xfrm>
            <a:off x="711384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88169"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751618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51618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7973385"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Models</a:t>
            </a:r>
          </a:p>
        </p:txBody>
      </p:sp>
      <p:sp>
        <p:nvSpPr>
          <p:cNvPr id="30" name="TextBox 29"/>
          <p:cNvSpPr txBox="1"/>
          <p:nvPr/>
        </p:nvSpPr>
        <p:spPr>
          <a:xfrm>
            <a:off x="7516185"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Pull nomic-embed-text and the cloud models Tlamatini uses.</a:t>
            </a:r>
          </a:p>
        </p:txBody>
      </p:sp>
      <p:cxnSp>
        <p:nvCxnSpPr>
          <p:cNvPr id="31" name="Connector 30"/>
          <p:cNvCxnSpPr/>
          <p:nvPr/>
        </p:nvCxnSpPr>
        <p:spPr>
          <a:xfrm>
            <a:off x="9387596"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661916"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9789932"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789932"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5" name="TextBox 34"/>
          <p:cNvSpPr txBox="1"/>
          <p:nvPr/>
        </p:nvSpPr>
        <p:spPr>
          <a:xfrm>
            <a:off x="10247132"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Configure</a:t>
            </a:r>
          </a:p>
        </p:txBody>
      </p:sp>
      <p:sp>
        <p:nvSpPr>
          <p:cNvPr id="36" name="TextBox 35"/>
          <p:cNvSpPr txBox="1"/>
          <p:nvPr/>
        </p:nvSpPr>
        <p:spPr>
          <a:xfrm>
            <a:off x="9789932"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Config </a:t>
            </a:r>
            <a:r>
              <a:rPr sz="1300" b="0" i="0">
                <a:solidFill>
                  <a:srgbClr val="A7B2B0"/>
                </a:solidFill>
                <a:latin typeface="Segoe UI Symbol"/>
              </a:rPr>
              <a:t>▸</a:t>
            </a:r>
            <a:r>
              <a:rPr sz="1300" b="0" i="0">
                <a:solidFill>
                  <a:srgbClr val="A7B2B0"/>
                </a:solidFill>
                <a:latin typeface="Segoe UI"/>
              </a:rPr>
              <a:t> Models and the Access Keys Wizard, then tick Multi-Turn.</a:t>
            </a:r>
          </a:p>
        </p:txBody>
      </p:sp>
      <p:sp>
        <p:nvSpPr>
          <p:cNvPr id="37" name="Rounded Rectangle 36"/>
          <p:cNvSpPr/>
          <p:nvPr/>
        </p:nvSpPr>
        <p:spPr>
          <a:xfrm>
            <a:off x="566928" y="4187952"/>
            <a:ext cx="11057839" cy="2011680"/>
          </a:xfrm>
          <a:prstGeom prst="roundRect">
            <a:avLst>
              <a:gd name="adj" fmla="val 5454"/>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768096" y="435254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987552" y="435254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1207007" y="435254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95528" y="4572000"/>
            <a:ext cx="10600639" cy="1499616"/>
          </a:xfrm>
          <a:prstGeom prst="rect">
            <a:avLst/>
          </a:prstGeom>
          <a:noFill/>
        </p:spPr>
        <p:txBody>
          <a:bodyPr wrap="none" lIns="45720" rIns="45720" tIns="27432" bIns="27432" anchor="t">
            <a:noAutofit/>
          </a:bodyPr>
          <a:lstStyle/>
          <a:p>
            <a:pPr algn="l">
              <a:lnSpc>
                <a:spcPct val="100000"/>
              </a:lnSpc>
            </a:pPr>
            <a:r>
              <a:rPr sz="1300" b="0" i="0">
                <a:solidFill>
                  <a:srgbClr val="ECE7DC"/>
                </a:solidFill>
                <a:latin typeface="Consolas"/>
              </a:rPr>
              <a:t>git clone https://github.com/XAIHT/Tlamatini.git</a:t>
            </a:r>
          </a:p>
          <a:p>
            <a:pPr algn="l">
              <a:lnSpc>
                <a:spcPct val="100000"/>
              </a:lnSpc>
            </a:pPr>
            <a:r>
              <a:rPr sz="1300" b="0" i="0">
                <a:solidFill>
                  <a:srgbClr val="ECE7DC"/>
                </a:solidFill>
                <a:latin typeface="Consolas"/>
              </a:rPr>
              <a:t>cd Tlamatini</a:t>
            </a:r>
          </a:p>
          <a:p>
            <a:pPr algn="l">
              <a:lnSpc>
                <a:spcPct val="100000"/>
              </a:lnSpc>
            </a:pPr>
            <a:r>
              <a:rPr sz="1300" b="0" i="0">
                <a:solidFill>
                  <a:srgbClr val="ECE7DC"/>
                </a:solidFill>
                <a:latin typeface="Consolas"/>
              </a:rPr>
              <a:t>python -m venv venv &amp;&amp; venv\Scripts\activate</a:t>
            </a:r>
          </a:p>
          <a:p>
            <a:pPr algn="l">
              <a:lnSpc>
                <a:spcPct val="100000"/>
              </a:lnSpc>
            </a:pPr>
            <a:r>
              <a:rPr sz="1300" b="0" i="0">
                <a:solidFill>
                  <a:srgbClr val="ECE7DC"/>
                </a:solidFill>
                <a:latin typeface="Consolas"/>
              </a:rPr>
              <a:t>pip install -r requirements.txt</a:t>
            </a:r>
          </a:p>
          <a:p>
            <a:pPr algn="l">
              <a:lnSpc>
                <a:spcPct val="100000"/>
              </a:lnSpc>
            </a:pPr>
            <a:r>
              <a:rPr sz="1300" b="0" i="0">
                <a:solidFill>
                  <a:srgbClr val="ECE7DC"/>
                </a:solidFill>
                <a:latin typeface="Consolas"/>
              </a:rPr>
              <a:t>python Tlamatini/manage.py migrate</a:t>
            </a:r>
          </a:p>
          <a:p>
            <a:pPr algn="l">
              <a:lnSpc>
                <a:spcPct val="100000"/>
              </a:lnSpc>
            </a:pPr>
            <a:r>
              <a:rPr sz="1300" b="0" i="0">
                <a:solidFill>
                  <a:srgbClr val="ECE7DC"/>
                </a:solidFill>
                <a:latin typeface="Consolas"/>
              </a:rPr>
              <a:t>python Tlamatini/manage.py runserver --noreload</a:t>
            </a:r>
          </a:p>
          <a:p>
            <a:pPr algn="l">
              <a:lnSpc>
                <a:spcPct val="100000"/>
              </a:lnSpc>
            </a:pPr>
            <a:r>
              <a:rPr sz="1300" b="0" i="0">
                <a:solidFill>
                  <a:srgbClr val="A7B2B0"/>
                </a:solidFill>
                <a:latin typeface="Consolas"/>
              </a:rPr>
              <a:t># open http://127.0.0.1:8000/   (default login: user / changeme)</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DEPENDENCY COVERAGE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referenced Python library is accounted for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1 static coverage check includes all 89 agents, build helpers, optional imports and tests.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Coverage guard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scripts/check_requirements_coverage.py checks source and build inventories.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Verification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October 1: no missing declarations, syntax errors or unreviewed dynamic imports.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Earlier evidence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September 27: main/ESPHome dry runs and temporary-environment dependency smoke checks passed.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Static coverage and selective smoke tests do not certify a clean installation or frozen build.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RUNTIME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Two modes and their service ports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runs either from source or as a frozen executable built by PyInstaller. Only path resolution differs, and </a:t>
            </a:r>
            <a:r>
              <a:rPr sz="1350" b="0" i="0">
                <a:solidFill>
                  <a:srgbClr val="E2B462"/>
                </a:solidFill>
                <a:latin typeface="Consolas"/>
              </a:rPr>
              <a:t>CONFIG_PATH</a:t>
            </a:r>
            <a:r>
              <a:rPr sz="1450" b="0" i="0">
                <a:solidFill>
                  <a:srgbClr val="A7B2B0"/>
                </a:solidFill>
                <a:latin typeface="Segoe UI Semilight"/>
              </a:rPr>
              <a:t> overrides the configuration location in both.</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Source</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 from the repository with manage.py.</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Frozen</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PyInstaller executable with its own Python.</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Always from source; optional in a build; a switch sends it.</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Ports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Defaults: 8000, 8765 and 50051; configure clients and servers together.</a:t>
            </a:r>
          </a:p>
        </p:txBody>
      </p:sp>
      <p:sp>
        <p:nvSpPr>
          <p:cNvPr id="24" name="Rounded Rectangle 23"/>
          <p:cNvSpPr/>
          <p:nvPr/>
        </p:nvSpPr>
        <p:spPr>
          <a:xfrm>
            <a:off x="6144768" y="2084831"/>
            <a:ext cx="5479999" cy="1920239"/>
          </a:xfrm>
          <a:prstGeom prst="roundRect">
            <a:avLst>
              <a:gd name="adj" fmla="val 38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949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a:t>
            </a:r>
          </a:p>
        </p:txBody>
      </p:sp>
      <p:sp>
        <p:nvSpPr>
          <p:cNvPr id="27" name="TextBox 26"/>
          <p:cNvSpPr txBox="1"/>
          <p:nvPr/>
        </p:nvSpPr>
        <p:spPr>
          <a:xfrm>
            <a:off x="73139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PROTOCOL</a:t>
            </a:r>
          </a:p>
        </p:txBody>
      </p:sp>
      <p:sp>
        <p:nvSpPr>
          <p:cNvPr id="28" name="TextBox 27"/>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SERVICE</a:t>
            </a:r>
          </a:p>
        </p:txBody>
      </p:sp>
      <p:sp>
        <p:nvSpPr>
          <p:cNvPr id="29" name="TextBox 28"/>
          <p:cNvSpPr txBox="1"/>
          <p:nvPr/>
        </p:nvSpPr>
        <p:spPr>
          <a:xfrm>
            <a:off x="6217920" y="2505456"/>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8000 (default)</a:t>
            </a:r>
          </a:p>
        </p:txBody>
      </p:sp>
      <p:sp>
        <p:nvSpPr>
          <p:cNvPr id="30" name="TextBox 29"/>
          <p:cNvSpPr txBox="1"/>
          <p:nvPr/>
        </p:nvSpPr>
        <p:spPr>
          <a:xfrm>
            <a:off x="73139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HTTP + WebSocket</a:t>
            </a:r>
          </a:p>
        </p:txBody>
      </p:sp>
      <p:sp>
        <p:nvSpPr>
          <p:cNvPr id="31" name="TextBox 30"/>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 interface and chat; change it with django_port.</a:t>
            </a:r>
          </a:p>
        </p:txBody>
      </p:sp>
      <p:sp>
        <p:nvSpPr>
          <p:cNvPr id="32" name="Rectangle 31"/>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8765 (default)</a:t>
            </a:r>
          </a:p>
        </p:txBody>
      </p:sp>
      <p:sp>
        <p:nvSpPr>
          <p:cNvPr id="34" name="TextBox 33"/>
          <p:cNvSpPr txBox="1"/>
          <p:nvPr/>
        </p:nvSpPr>
        <p:spPr>
          <a:xfrm>
            <a:off x="7313919" y="3017520"/>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WebSocket</a:t>
            </a:r>
          </a:p>
        </p:txBody>
      </p:sp>
      <p:sp>
        <p:nvSpPr>
          <p:cNvPr id="35" name="TextBox 34"/>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System-Metrics MCP; match server port and client URI.</a:t>
            </a:r>
          </a:p>
        </p:txBody>
      </p:sp>
      <p:sp>
        <p:nvSpPr>
          <p:cNvPr id="36" name="TextBox 35"/>
          <p:cNvSpPr txBox="1"/>
          <p:nvPr/>
        </p:nvSpPr>
        <p:spPr>
          <a:xfrm>
            <a:off x="6217920" y="3529584"/>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50051 (default)</a:t>
            </a:r>
          </a:p>
        </p:txBody>
      </p:sp>
      <p:sp>
        <p:nvSpPr>
          <p:cNvPr id="37" name="TextBox 36"/>
          <p:cNvSpPr txBox="1"/>
          <p:nvPr/>
        </p:nvSpPr>
        <p:spPr>
          <a:xfrm>
            <a:off x="7313919" y="3529584"/>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gRPC</a:t>
            </a:r>
          </a:p>
        </p:txBody>
      </p:sp>
      <p:sp>
        <p:nvSpPr>
          <p:cNvPr id="38" name="TextBox 37"/>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Files-Search MCP; match server port and client URI.</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  (1/2)</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django_port</a:t>
            </a:r>
          </a:p>
        </p:txBody>
      </p:sp>
      <p:sp>
        <p:nvSpPr>
          <p:cNvPr id="14" name="TextBox 13"/>
          <p:cNvSpPr txBox="1"/>
          <p:nvPr/>
        </p:nvSpPr>
        <p:spPr>
          <a:xfrm>
            <a:off x="4731480" y="2505456"/>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8000</a:t>
            </a:r>
          </a:p>
        </p:txBody>
      </p:sp>
      <p:sp>
        <p:nvSpPr>
          <p:cNvPr id="15" name="TextBox 14"/>
          <p:cNvSpPr txBox="1"/>
          <p:nvPr/>
        </p:nvSpPr>
        <p:spPr>
          <a:xfrm>
            <a:off x="6500734" y="2505456"/>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Web port for every launch path; fails open to 8000.</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unified_agent_max_iterations</a:t>
            </a:r>
          </a:p>
        </p:txBody>
      </p:sp>
      <p:sp>
        <p:nvSpPr>
          <p:cNvPr id="18" name="TextBox 17"/>
          <p:cNvSpPr txBox="1"/>
          <p:nvPr/>
        </p:nvSpPr>
        <p:spPr>
          <a:xfrm>
            <a:off x="4731480" y="281177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4096</a:t>
            </a:r>
          </a:p>
        </p:txBody>
      </p:sp>
      <p:sp>
        <p:nvSpPr>
          <p:cNvPr id="19" name="TextBox 18"/>
          <p:cNvSpPr txBox="1"/>
          <p:nvPr/>
        </p:nvSpPr>
        <p:spPr>
          <a:xfrm>
            <a:off x="6500734" y="281177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Upper bound on Multi-Turn tool-loop turns.</a:t>
            </a:r>
          </a:p>
        </p:txBody>
      </p:sp>
      <p:sp>
        <p:nvSpPr>
          <p:cNvPr id="20" name="TextBox 19"/>
          <p:cNvSpPr txBox="1"/>
          <p:nvPr/>
        </p:nvSpPr>
        <p:spPr>
          <a:xfrm>
            <a:off x="640080" y="3118103"/>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unified_agent_llm_step_timeout_seconds</a:t>
            </a:r>
          </a:p>
        </p:txBody>
      </p:sp>
      <p:sp>
        <p:nvSpPr>
          <p:cNvPr id="21" name="TextBox 20"/>
          <p:cNvSpPr txBox="1"/>
          <p:nvPr/>
        </p:nvSpPr>
        <p:spPr>
          <a:xfrm>
            <a:off x="4731480" y="3118103"/>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900</a:t>
            </a:r>
          </a:p>
        </p:txBody>
      </p:sp>
      <p:sp>
        <p:nvSpPr>
          <p:cNvPr id="22" name="TextBox 21"/>
          <p:cNvSpPr txBox="1"/>
          <p:nvPr/>
        </p:nvSpPr>
        <p:spPr>
          <a:xfrm>
            <a:off x="6500734" y="3118103"/>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Watchdog for one model attempt.</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llm_client_timeout_seconds</a:t>
            </a:r>
          </a:p>
        </p:txBody>
      </p:sp>
      <p:sp>
        <p:nvSpPr>
          <p:cNvPr id="25" name="TextBox 24"/>
          <p:cNvSpPr txBox="1"/>
          <p:nvPr/>
        </p:nvSpPr>
        <p:spPr>
          <a:xfrm>
            <a:off x="4731480" y="3424427"/>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600</a:t>
            </a:r>
          </a:p>
        </p:txBody>
      </p:sp>
      <p:sp>
        <p:nvSpPr>
          <p:cNvPr id="26" name="TextBox 25"/>
          <p:cNvSpPr txBox="1"/>
          <p:nvPr/>
        </p:nvSpPr>
        <p:spPr>
          <a:xfrm>
            <a:off x="6500734" y="3424427"/>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How long one model call may take.</a:t>
            </a:r>
          </a:p>
        </p:txBody>
      </p:sp>
      <p:sp>
        <p:nvSpPr>
          <p:cNvPr id="27" name="TextBox 26"/>
          <p:cNvSpPr txBox="1"/>
          <p:nvPr/>
        </p:nvSpPr>
        <p:spPr>
          <a:xfrm>
            <a:off x="640080" y="3730751"/>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model_brain</a:t>
            </a:r>
          </a:p>
        </p:txBody>
      </p:sp>
      <p:sp>
        <p:nvSpPr>
          <p:cNvPr id="28" name="TextBox 27"/>
          <p:cNvSpPr txBox="1"/>
          <p:nvPr/>
        </p:nvSpPr>
        <p:spPr>
          <a:xfrm>
            <a:off x="4731480" y="3730751"/>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auto</a:t>
            </a:r>
          </a:p>
        </p:txBody>
      </p:sp>
      <p:sp>
        <p:nvSpPr>
          <p:cNvPr id="29" name="TextBox 28"/>
          <p:cNvSpPr txBox="1"/>
          <p:nvPr/>
        </p:nvSpPr>
        <p:spPr>
          <a:xfrm>
            <a:off x="6500734" y="3730751"/>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Tunes each model from formal sources; off restores the legacy sampler.</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ollama_repeat_penalty</a:t>
            </a:r>
          </a:p>
        </p:txBody>
      </p:sp>
      <p:sp>
        <p:nvSpPr>
          <p:cNvPr id="32" name="TextBox 31"/>
          <p:cNvSpPr txBox="1"/>
          <p:nvPr/>
        </p:nvSpPr>
        <p:spPr>
          <a:xfrm>
            <a:off x="4731480" y="4037075"/>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1.2</a:t>
            </a:r>
          </a:p>
        </p:txBody>
      </p:sp>
      <p:sp>
        <p:nvSpPr>
          <p:cNvPr id="33" name="TextBox 32"/>
          <p:cNvSpPr txBox="1"/>
          <p:nvPr/>
        </p:nvSpPr>
        <p:spPr>
          <a:xfrm>
            <a:off x="6500734" y="4037075"/>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Legacy sampler, sent only when model_brain is off.</a:t>
            </a:r>
          </a:p>
        </p:txBody>
      </p:sp>
      <p:sp>
        <p:nvSpPr>
          <p:cNvPr id="34" name="TextBox 33"/>
          <p:cNvSpPr txBox="1"/>
          <p:nvPr/>
        </p:nvSpPr>
        <p:spPr>
          <a:xfrm>
            <a:off x="640080" y="434339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ollama_num_ctx</a:t>
            </a:r>
          </a:p>
        </p:txBody>
      </p:sp>
      <p:sp>
        <p:nvSpPr>
          <p:cNvPr id="35" name="TextBox 34"/>
          <p:cNvSpPr txBox="1"/>
          <p:nvPr/>
        </p:nvSpPr>
        <p:spPr>
          <a:xfrm>
            <a:off x="4731480" y="434339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1048576</a:t>
            </a:r>
          </a:p>
        </p:txBody>
      </p:sp>
      <p:sp>
        <p:nvSpPr>
          <p:cNvPr id="36" name="TextBox 35"/>
          <p:cNvSpPr txBox="1"/>
          <p:nvPr/>
        </p:nvSpPr>
        <p:spPr>
          <a:xfrm>
            <a:off x="6500734" y="434339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Legacy requested window; the brain clamps it to the real one.</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context_sidecar_llm_timeout_seconds</a:t>
            </a:r>
          </a:p>
        </p:txBody>
      </p:sp>
      <p:sp>
        <p:nvSpPr>
          <p:cNvPr id="39" name="TextBox 38"/>
          <p:cNvSpPr txBox="1"/>
          <p:nvPr/>
        </p:nvSpPr>
        <p:spPr>
          <a:xfrm>
            <a:off x="4731480" y="4649723"/>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60</a:t>
            </a:r>
          </a:p>
        </p:txBody>
      </p:sp>
      <p:sp>
        <p:nvSpPr>
          <p:cNvPr id="40" name="TextBox 39"/>
          <p:cNvSpPr txBox="1"/>
          <p:nvPr/>
        </p:nvSpPr>
        <p:spPr>
          <a:xfrm>
            <a:off x="6500734" y="4649723"/>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Time limit on the context helpers' own model calls.</a:t>
            </a:r>
          </a:p>
        </p:txBody>
      </p:sp>
      <p:sp>
        <p:nvSpPr>
          <p:cNvPr id="41" name="TextBox 40"/>
          <p:cNvSpPr txBox="1"/>
          <p:nvPr/>
        </p:nvSpPr>
        <p:spPr>
          <a:xfrm>
            <a:off x="640080" y="4956047"/>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context_compact_mode</a:t>
            </a:r>
          </a:p>
        </p:txBody>
      </p:sp>
      <p:sp>
        <p:nvSpPr>
          <p:cNvPr id="42" name="TextBox 41"/>
          <p:cNvSpPr txBox="1"/>
          <p:nvPr/>
        </p:nvSpPr>
        <p:spPr>
          <a:xfrm>
            <a:off x="4731480" y="4956047"/>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auto</a:t>
            </a:r>
          </a:p>
        </p:txBody>
      </p:sp>
      <p:sp>
        <p:nvSpPr>
          <p:cNvPr id="43" name="TextBox 42"/>
          <p:cNvSpPr txBox="1"/>
          <p:nvPr/>
        </p:nvSpPr>
        <p:spPr>
          <a:xfrm>
            <a:off x="6500734" y="4956047"/>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Compact mode locks on for models that cannot hold everything.</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binary_context_detection</a:t>
            </a:r>
          </a:p>
        </p:txBody>
      </p:sp>
      <p:sp>
        <p:nvSpPr>
          <p:cNvPr id="46" name="TextBox 45"/>
          <p:cNvSpPr txBox="1"/>
          <p:nvPr/>
        </p:nvSpPr>
        <p:spPr>
          <a:xfrm>
            <a:off x="4731480" y="5262371"/>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true</a:t>
            </a:r>
          </a:p>
        </p:txBody>
      </p:sp>
      <p:sp>
        <p:nvSpPr>
          <p:cNvPr id="47" name="TextBox 46"/>
          <p:cNvSpPr txBox="1"/>
          <p:nvPr/>
        </p:nvSpPr>
        <p:spPr>
          <a:xfrm>
            <a:off x="6500734" y="5262371"/>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Screens files by content before embedding.</a:t>
            </a:r>
          </a:p>
        </p:txBody>
      </p:sp>
      <p:sp>
        <p:nvSpPr>
          <p:cNvPr id="48" name="TextBox 47"/>
          <p:cNvSpPr txBox="1"/>
          <p:nvPr/>
        </p:nvSpPr>
        <p:spPr>
          <a:xfrm>
            <a:off x="640080" y="5568695"/>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console_quick_edit</a:t>
            </a:r>
          </a:p>
        </p:txBody>
      </p:sp>
      <p:sp>
        <p:nvSpPr>
          <p:cNvPr id="49" name="TextBox 48"/>
          <p:cNvSpPr txBox="1"/>
          <p:nvPr/>
        </p:nvSpPr>
        <p:spPr>
          <a:xfrm>
            <a:off x="4731480" y="5568695"/>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false</a:t>
            </a:r>
          </a:p>
        </p:txBody>
      </p:sp>
      <p:sp>
        <p:nvSpPr>
          <p:cNvPr id="50" name="TextBox 49"/>
          <p:cNvSpPr txBox="1"/>
          <p:nvPr/>
        </p:nvSpPr>
        <p:spPr>
          <a:xfrm>
            <a:off x="6500734" y="5568695"/>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Keeps a click from pausing a frozen console.</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console_colors</a:t>
            </a:r>
          </a:p>
        </p:txBody>
      </p:sp>
      <p:sp>
        <p:nvSpPr>
          <p:cNvPr id="53" name="TextBox 52"/>
          <p:cNvSpPr txBox="1"/>
          <p:nvPr/>
        </p:nvSpPr>
        <p:spPr>
          <a:xfrm>
            <a:off x="4731480" y="587501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true</a:t>
            </a:r>
          </a:p>
        </p:txBody>
      </p:sp>
      <p:sp>
        <p:nvSpPr>
          <p:cNvPr id="54" name="TextBox 53"/>
          <p:cNvSpPr txBox="1"/>
          <p:nvPr/>
        </p:nvSpPr>
        <p:spPr>
          <a:xfrm>
            <a:off x="6500734" y="587501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Colours console lines by level; the log stays plain text.</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  (2/2)</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758952"/>
          </a:xfrm>
          <a:prstGeom prst="roundRect">
            <a:avLst>
              <a:gd name="adj" fmla="val 963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runtime_autoprovision</a:t>
            </a:r>
          </a:p>
        </p:txBody>
      </p:sp>
      <p:sp>
        <p:nvSpPr>
          <p:cNvPr id="14" name="TextBox 13"/>
          <p:cNvSpPr txBox="1"/>
          <p:nvPr/>
        </p:nvSpPr>
        <p:spPr>
          <a:xfrm>
            <a:off x="4731480" y="2505456"/>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true</a:t>
            </a:r>
          </a:p>
        </p:txBody>
      </p:sp>
      <p:sp>
        <p:nvSpPr>
          <p:cNvPr id="15" name="TextBox 14"/>
          <p:cNvSpPr txBox="1"/>
          <p:nvPr/>
        </p:nvSpPr>
        <p:spPr>
          <a:xfrm>
            <a:off x="6500734" y="2505456"/>
            <a:ext cx="505088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Lets MCP servers provision Node or uv privately.</a:t>
            </a:r>
          </a:p>
        </p:txBody>
      </p:sp>
      <p:cxnSp>
        <p:nvCxnSpPr>
          <p:cNvPr id="16" name="Connector 1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8" name="TextBox 1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not chosen by taste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The legacy sampler comes from repeated trials on real workloads, and one fast run never justifies a change. The Model Brain now tunes each model from formal sources.</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“The settings that matter most”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AND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From source tree to installer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build scripts produce a standalone Windows release, and the build proves what it ships before it packages anything.</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Bundle</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Static files, templates, agents, skills and both Pythons.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Carriage proof</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Aborts if a required fail-open module is missing.</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Runtime gates</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runtime and model loader runs frozen.</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Receipt</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SHA-256 for every payload file and all required root helpers, checked before use.</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Ceiling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Under 1,990,000,000 bytes, nothing dropped to fit.</a:t>
            </a:r>
          </a:p>
        </p:txBody>
      </p:sp>
      <p:sp>
        <p:nvSpPr>
          <p:cNvPr id="28" name="Rounded Rectangle 27"/>
          <p:cNvSpPr/>
          <p:nvPr/>
        </p:nvSpPr>
        <p:spPr>
          <a:xfrm>
            <a:off x="6144768" y="2084831"/>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2103120"/>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build.py</a:t>
            </a:r>
          </a:p>
        </p:txBody>
      </p:sp>
      <p:sp>
        <p:nvSpPr>
          <p:cNvPr id="30" name="Rounded Rectangle 29"/>
          <p:cNvSpPr/>
          <p:nvPr/>
        </p:nvSpPr>
        <p:spPr>
          <a:xfrm>
            <a:off x="6144768" y="2712719"/>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2731007"/>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Frozen checks</a:t>
            </a:r>
          </a:p>
        </p:txBody>
      </p:sp>
      <p:sp>
        <p:nvSpPr>
          <p:cNvPr id="32" name="Rounded Rectangle 31"/>
          <p:cNvSpPr/>
          <p:nvPr/>
        </p:nvSpPr>
        <p:spPr>
          <a:xfrm>
            <a:off x="6144768" y="3340608"/>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3358896"/>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Uninstaller</a:t>
            </a:r>
          </a:p>
        </p:txBody>
      </p:sp>
      <p:sp>
        <p:nvSpPr>
          <p:cNvPr id="34" name="Rounded Rectangle 33"/>
          <p:cNvSpPr/>
          <p:nvPr/>
        </p:nvSpPr>
        <p:spPr>
          <a:xfrm>
            <a:off x="6144768" y="3968496"/>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3986783"/>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Installer</a:t>
            </a:r>
          </a:p>
        </p:txBody>
      </p:sp>
      <p:sp>
        <p:nvSpPr>
          <p:cNvPr id="36" name="Rounded Rectangle 35"/>
          <p:cNvSpPr/>
          <p:nvPr/>
        </p:nvSpPr>
        <p:spPr>
          <a:xfrm>
            <a:off x="6144768" y="4596384"/>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4614671"/>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pkg.zip</a:t>
            </a:r>
          </a:p>
        </p:txBody>
      </p:sp>
      <p:sp>
        <p:nvSpPr>
          <p:cNvPr id="38" name="Rounded Rectangle 37"/>
          <p:cNvSpPr/>
          <p:nvPr/>
        </p:nvSpPr>
        <p:spPr>
          <a:xfrm>
            <a:off x="6144768" y="5224272"/>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7648" y="5242559"/>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6   </a:t>
            </a:r>
            <a:r>
              <a:rPr sz="1500" b="0" i="0">
                <a:solidFill>
                  <a:srgbClr val="090E10"/>
                </a:solidFill>
                <a:latin typeface="Segoe UI Semibold"/>
              </a:rPr>
              <a:t>Release</a:t>
            </a:r>
          </a:p>
        </p:txBody>
      </p:sp>
      <p:sp>
        <p:nvSpPr>
          <p:cNvPr id="40" name="TextBox 39"/>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Every stage verifies the one before it.</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REPAIR · SEPTEMBER 27</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inventory ships every required helper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September 27 repair, carried since v1.72.1, ships the Whisperer settings helper without weakening package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carrier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Copy and verification share ROOT_SOURCES; a new required helper needs no second list.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Worker import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Carry chat_voice_settings.py at the installation root as well as compiling the Django module.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Integrity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Reject missing, edited or unmanifested files, including otherwise consistent incomplete receipts.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Rebuild inputs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Mirrored self-update/self-modify sweeps include the shared inventory and report omitted Git checks.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RECORDED VERIFICATION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Packaging evidence and its limits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September 27 file-level checks establish carriage and integrity; a full installer is a separate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Focused suite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146 tests recorded: 145 passed, one skipped; file-only harness exited successfully.</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files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mapped source destination matched; the staged worker resolved its settings helper.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Snapshot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Recorded audit: 1,579 files, 11 redacted, 778 runtime inputs covered, zero copy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docs/build-root-assets-verification.md records scope, skipped checks and local transcripts.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SELF-UPDATE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Updating herself without losing you</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About </a:t>
            </a:r>
            <a:r>
              <a:rPr sz="1450" b="0" i="0">
                <a:solidFill>
                  <a:srgbClr val="A7B2B0"/>
                </a:solidFill>
                <a:latin typeface="Segoe UI Symbol"/>
              </a:rPr>
              <a:t>▸</a:t>
            </a:r>
            <a:r>
              <a:rPr sz="1450" b="0" i="0">
                <a:solidFill>
                  <a:srgbClr val="A7B2B0"/>
                </a:solidFill>
                <a:latin typeface="Segoe UI Semilight"/>
              </a:rPr>
              <a:t> Check for updates fetches the latest published release, stages it, and hands the locked-file swap to an external script.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 releases</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Only releases published on GitHub are offered.</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Preserved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Configuration, database, contacts, catalogs, content.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Migrated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Your database receives new migrations on the next launch.</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Verified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Receipts are checked before anything is replaced.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VERSIONING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number, from one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follows Semantic Versioning, with annotated Git tags as the single source of truth.</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SemVer</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MAJOR.MINOR.PATCH from annotated Git tags.</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One resolver</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version.py, the About window and /agent/version/.</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Base tag only</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.devN, +gSHA or .dirty suffix.</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Override</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TLAMATINI_VERSION documents a release ahead of its tag.</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150" b="0" i="0">
                <a:solidFill>
                  <a:srgbClr val="F7F2E8"/>
                </a:solidFill>
                <a:latin typeface="Palatino Linotype"/>
              </a:rPr>
              <a:t>Version and Release Status</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Version v1.78.0, the current release, published on GitHub.</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v1.78.0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Usage: credits and activity, while she works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10; the Usage commit lands one commit after the tag. The published v1.78.0 zip carries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220 tests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18 Usage plus 202 existing regressions passed on October 10.</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24 browser checks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Visible live Pro comparisons plus clearly synthetic edge cases.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27 Usage tests and 12 visible checks; outages retried after 15 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During a request</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Usage opened/refreshed while a real model answer completed.</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 the release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published zip's files match the latest October 10 commit.</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Privacy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Account observations and authenticated screenshots stay out of this dossier.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v1.78.0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Undock her, and the message box shrinks to fit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Two commits after the v1.78.0 tag, and carried by the published zip: the input area resizes once she floats.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Shrinks to fit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Undocked, the input area can shrink to its buttons; no 30% floor.</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Dock again</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Docking restores room for her portrait above the buttons.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Arrows, Shift+arrows, Home, End and double-click on the divider.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Short windows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composer scrolls inside itself; chat history stays visible.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Narrow screens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640-pixel workspace pans; the page and dialogs stay anchored.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18 composer and 38 viewport checks passed, visibly, on October 10.</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v1.78.0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repaired one of her own agents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Image-Interpreter now reads a comma-separated list of images, a change credited to Tlamatini herself.</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Several images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Comma-separated paths are resolved one by one and merged.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duplicates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Repeated paths are removed; the original order is kept.</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Commas in names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single existing file is never split at its comma.</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Honest warning</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entry that resolves to nothing is logged, not hidden.</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Self-repair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commit credits Tlamatini's-AutoBot, her own self-modify work.</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 v1.78.0</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tag points to this commit; no dedicated test yet.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v1.77.0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speaks to you, by name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October 9; v1.78.0 replaced it as the Latest release on October 10.</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First person</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Fixed chat lines say “I” and use your name.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source</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fixed line lives in agent/constants.py.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Old wording kept</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Matchers accept both, so old histories still read.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Templates kept</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Uninstalling keeps the projects in Templates/.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erased</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goes; folders holding your files stay.</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Rebuilt uninstaller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reinstall carries the fix; an in-app update does not.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v1.76.0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Model Brain tunes every model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8; the Model Brain commit lands on main one commit after the tag. The published v1.76.0 release was built from main and carries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Model Brain</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Per-model settings from cited sources; Auto-tuning shows each one.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Reasoning kept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Thinking models keep their train of thought between tool calls.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Coloured console</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coloured by level; the log file stays plain text.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Truthful refusal</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PDF refused for a second account says why and how to fix it.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Quiet tabs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pages on two models no longer re-measure each other.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25 of 25 and 20 of 20 visible checks on October 8.</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v1.76.0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 and files that tell the truth</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October 7 and 8: LaTeXer, Mover and the document agents report what really happened.</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PDFs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Success only when the delivered file exists and is not empty.</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Layout findings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Text past the margin is reported, never called clean.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name</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mostly-cut build never wears the name you asked for.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Region repair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Large documents: the lines around the error are repaired first.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Mover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Destinations are merged, never erased; failures are reported.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Protected folders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Finished files survive Controlled Folder Access.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5 AND 8</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Smaller fixes that keep the chat moving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after the v1.75.0 tag and carried by the v1.76.0 tag.</a:t>
            </a:r>
          </a:p>
        </p:txBody>
      </p:sp>
      <p:sp>
        <p:nvSpPr>
          <p:cNvPr id="8" name="Rounded Rectangle 7"/>
          <p:cNvSpPr/>
          <p:nvPr/>
        </p:nvSpPr>
        <p:spPr>
          <a:xfrm>
            <a:off x="566928"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helpers</a:t>
            </a:r>
          </a:p>
        </p:txBody>
      </p:sp>
      <p:sp>
        <p:nvSpPr>
          <p:cNvPr id="11" name="TextBox 10"/>
          <p:cNvSpPr txBox="1"/>
          <p:nvPr/>
        </p:nvSpPr>
        <p:spPr>
          <a:xfrm>
            <a:off x="694944" y="2657855"/>
            <a:ext cx="3295802" cy="3450336"/>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Their own model calls stop at a time limit or on Cancel.</a:t>
            </a:r>
          </a:p>
        </p:txBody>
      </p:sp>
      <p:sp>
        <p:nvSpPr>
          <p:cNvPr id="12" name="Rounded Rectangle 11"/>
          <p:cNvSpPr/>
          <p:nvPr/>
        </p:nvSpPr>
        <p:spPr>
          <a:xfrm>
            <a:off x="4319930"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Uninstaller</a:t>
            </a:r>
          </a:p>
        </p:txBody>
      </p:sp>
      <p:sp>
        <p:nvSpPr>
          <p:cNvPr id="15" name="TextBox 14"/>
          <p:cNvSpPr txBox="1"/>
          <p:nvPr/>
        </p:nvSpPr>
        <p:spPr>
          <a:xfrm>
            <a:off x="4447946" y="2657855"/>
            <a:ext cx="3295802" cy="3450336"/>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held Uninstaller.exe is moved aside and removed after exit.</a:t>
            </a:r>
          </a:p>
        </p:txBody>
      </p:sp>
      <p:sp>
        <p:nvSpPr>
          <p:cNvPr id="16" name="Rounded Rectangle 15"/>
          <p:cNvSpPr/>
          <p:nvPr/>
        </p:nvSpPr>
        <p:spPr>
          <a:xfrm>
            <a:off x="8072932"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File-Creator</a:t>
            </a:r>
          </a:p>
        </p:txBody>
      </p:sp>
      <p:sp>
        <p:nvSpPr>
          <p:cNvPr id="19" name="TextBox 18"/>
          <p:cNvSpPr txBox="1"/>
          <p:nvPr/>
        </p:nvSpPr>
        <p:spPr>
          <a:xfrm>
            <a:off x="8200948" y="2657855"/>
            <a:ext cx="3295802" cy="3450336"/>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append: true</a:t>
            </a:r>
            <a:r>
              <a:rPr sz="1300" b="0" i="0">
                <a:solidFill>
                  <a:srgbClr val="A7B2B0"/>
                </a:solidFill>
                <a:latin typeface="Segoe UI"/>
              </a:rPr>
              <a:t> adds to a file instead of overwriting it.</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4</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Graphical notes and resizable Run output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to main on October 4 and carried by the v1.76.0 tag; local executables were rebuilt to validate them.</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Rich notes</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Selected text keeps its own fonts, sizes, colors and emphasis.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editing</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Floating tools and all-border resizing. No commentary dialog.</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 output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5% to 95% height. Independent scrolling with content sizes preserved.</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File fidelity</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Three mixed-style notes rendered identically across three save/open cycles.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Delivery</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Committed October 4 and carried by v1.76.0; builds were validated separately.</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3</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Four stop sequences and a clearer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on main after the v1.75.0 tag and carried by the v1.76.0 tag.</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Four stop sequences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Ollama request; a failed summary never fails the answer.</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Input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step that asks you: same mechanism, new figure.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Commentary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static review note; it never runs and never reaches the model.</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Version 2 files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Version 1 flows migrate on open; identifiers and links are kept.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October 3 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430 unit tests; 9 of 9 visible Chrome checkpoints.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v1.75.0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Compact mode and Self-modify become switches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3: Compact mode is a toolbar switch; the Self-modify switch followed and ships in v1.76.0.</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 switch</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the rows you tick; locked on when the model cannot hold everything.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Prices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Configure row shows the tokens it adds to each request.</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Her self-knowledge on or off; locked off when it does not fit.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57/57 and 28/28 visible checks; 473 unit tests.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v1.74.0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Compact mode and readable tables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 every request is fitted to the model it is sent to.</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Fitted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Full when the model can hold the request; Compact when it cannot.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 proof</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37/37 visible checks on a local qwen2.5, about 8.1K tokens, no cuts.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 proof</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large cloud model read every request complete: about 103K tokens.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Readable tables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Cells below 3:1 contrast are recoloured, for every model.</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v1.73.1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Model lists from the server you configured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 Config </a:t>
            </a:r>
            <a:r>
              <a:rPr sz="1450" b="0" i="0">
                <a:solidFill>
                  <a:srgbClr val="A7B2B0"/>
                </a:solidFill>
                <a:latin typeface="Segoe UI Symbol"/>
              </a:rPr>
              <a:t>▸</a:t>
            </a:r>
            <a:r>
              <a:rPr sz="1450" b="0" i="0">
                <a:solidFill>
                  <a:srgbClr val="A7B2B0"/>
                </a:solidFill>
                <a:latin typeface="Segoe UI Semilight"/>
              </a:rPr>
              <a:t> Models asks the configured Ollama servers, with their token.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Fresh address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from config.json on every call, never fixed at page load.</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Token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configured server is asked with the chat's own bearer token.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Clear errors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server reports its status; a 401 points at the token.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Start-up</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GPU warm-up sends the token too: no 401 at every start.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card removed from future context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30: Drop throughout chat, with confirmation and history updates.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Owned rows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Server deletion is scoped to the signed-in user's conversation.</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Tabs and gauge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Confirmed ids remove saved cards across tabs and refresh the context estimate.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Rephrases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Prompt cleanup removes following rephrase copies and keeps the answer.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 guard</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active answer blocks Drop on that connection. Other tabs have separate runs.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v1.72.4</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pages that cannot vanish in silence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29: no web page loses its text without saying so.</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silent loss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stack of open tags replaces a counter in both agents.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Safety net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plain reading takes over when a parse keeps too little.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Bounded defaults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v1.72.2: search and crawl budgets, cancellation and explicit outcomes.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Refusals named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CAPTCHA or bot wall comes back as blocked, never as content.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Visible lips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v1.72.3: her lips open and close clearly, without gaping.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context gauge that tells the truth</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28: the ring beside the message box shows Ollama's own count.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tokens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Ollama's prompt_eval_count, paired to its own request.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Exact in both modes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 at-rest prediction + the question + the Multi-Turn plan.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Main chain only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Out-of-band calls never reach the ring; each user sees their own.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Less waste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question is sent once; the one-shot placeholder line is gone.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visible lab passed 60 of 60 checks against tlamatini.log.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121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Direct dictation and dependency coverage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These September 27 changes were tagged v1.72.0 and published on September 28.</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guide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README.md and BookOfTlamatini.md explain Mic settings, recording, cancellation and both modes.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contract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ownership, protocol, configuration and limits.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Dependencies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docs/dependency-coverage-audit.md records declarations, isolation and verification.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Published as v1.72.0 and carried by v1.72.1, with the root-asset carrier repair.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122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v1.70.0: the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1.70.0 is about designing conversations and editing flows with the same ease.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Seven operations, </a:t>
            </a:r>
            <a:r>
              <a:rPr sz="1200" b="0" i="0">
                <a:solidFill>
                  <a:srgbClr val="E2B462"/>
                </a:solidFill>
                <a:latin typeface="Consolas"/>
              </a:rPr>
              <a:t>.fpmt</a:t>
            </a:r>
            <a:r>
              <a:rPr sz="1300" b="0" i="0">
                <a:solidFill>
                  <a:srgbClr val="A7B2B0"/>
                </a:solidFill>
                <a:latin typeface="Segoe UI"/>
              </a:rPr>
              <a:t> files, validated playback, isolated runs.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Panels and Config</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canvases live under Panels; every Configure dialog under Config.</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 real editor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Undo and Redo, Duplicate with settings, zoom, Fit, agent search, Help.</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Shared mechanics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canvases connect, drag, select and zoom the same way.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Busy-safe menus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Panels stays usable while she answers; one path re-arms the menus.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line carried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context meter, Context Governor and context gauge of v1.65.</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123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 line arrived 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Recent tags, oldest first, read from Git.</a:t>
            </a:r>
          </a:p>
        </p:txBody>
      </p:sp>
      <p:cxnSp>
        <p:nvCxnSpPr>
          <p:cNvPr id="8" name="Connector 7"/>
          <p:cNvCxnSpPr/>
          <p:nvPr/>
        </p:nvCxnSpPr>
        <p:spPr>
          <a:xfrm>
            <a:off x="1956816"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9" name="Diamond 8"/>
          <p:cNvSpPr/>
          <p:nvPr/>
        </p:nvSpPr>
        <p:spPr>
          <a:xfrm>
            <a:off x="1883664"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2026-09-27</a:t>
            </a:r>
          </a:p>
        </p:txBody>
      </p:sp>
      <p:sp>
        <p:nvSpPr>
          <p:cNvPr id="11" name="TextBox 10"/>
          <p:cNvSpPr txBox="1"/>
          <p:nvPr/>
        </p:nvSpPr>
        <p:spPr>
          <a:xfrm>
            <a:off x="2139696"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v1.72.0</a:t>
            </a:r>
          </a:p>
        </p:txBody>
      </p:sp>
      <p:sp>
        <p:nvSpPr>
          <p:cNvPr id="12" name="TextBox 11"/>
          <p:cNvSpPr txBox="1"/>
          <p:nvPr/>
        </p:nvSpPr>
        <p:spPr>
          <a:xfrm>
            <a:off x="3310128" y="21031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Implementing a fancy fancy microphone to Whisperer in a cero latency direct implementation into Tlamatini's Chat, and added configuration parameters.</a:t>
            </a:r>
          </a:p>
        </p:txBody>
      </p:sp>
      <p:cxnSp>
        <p:nvCxnSpPr>
          <p:cNvPr id="13" name="Connector 12"/>
          <p:cNvCxnSpPr/>
          <p:nvPr/>
        </p:nvCxnSpPr>
        <p:spPr>
          <a:xfrm>
            <a:off x="1956816"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1883664"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2026-09-28</a:t>
            </a:r>
          </a:p>
        </p:txBody>
      </p:sp>
      <p:sp>
        <p:nvSpPr>
          <p:cNvPr id="16" name="TextBox 15"/>
          <p:cNvSpPr txBox="1"/>
          <p:nvPr/>
        </p:nvSpPr>
        <p:spPr>
          <a:xfrm>
            <a:off x="2139696"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v1.72.1</a:t>
            </a:r>
          </a:p>
        </p:txBody>
      </p:sp>
      <p:sp>
        <p:nvSpPr>
          <p:cNvPr id="17" name="TextBox 16"/>
          <p:cNvSpPr txBox="1"/>
          <p:nvPr/>
        </p:nvSpPr>
        <p:spPr>
          <a:xfrm>
            <a:off x="3310128" y="27889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v1.72.1 Improving gauge meter measurement under one-shot chain.</a:t>
            </a:r>
          </a:p>
        </p:txBody>
      </p:sp>
      <p:cxnSp>
        <p:nvCxnSpPr>
          <p:cNvPr id="18" name="Connector 17"/>
          <p:cNvCxnSpPr/>
          <p:nvPr/>
        </p:nvCxnSpPr>
        <p:spPr>
          <a:xfrm>
            <a:off x="1956816"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9" name="Diamond 18"/>
          <p:cNvSpPr/>
          <p:nvPr/>
        </p:nvSpPr>
        <p:spPr>
          <a:xfrm>
            <a:off x="1883664"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21" name="TextBox 20"/>
          <p:cNvSpPr txBox="1"/>
          <p:nvPr/>
        </p:nvSpPr>
        <p:spPr>
          <a:xfrm>
            <a:off x="2139696"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v1.72.2</a:t>
            </a:r>
          </a:p>
        </p:txBody>
      </p:sp>
      <p:sp>
        <p:nvSpPr>
          <p:cNvPr id="22" name="TextBox 21"/>
          <p:cNvSpPr txBox="1"/>
          <p:nvPr/>
        </p:nvSpPr>
        <p:spPr>
          <a:xfrm>
            <a:off x="3310128" y="34747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v1.72.2 Improving avoidance of blocking/hanging on Googler and Crawler agents.</a:t>
            </a:r>
          </a:p>
        </p:txBody>
      </p:sp>
      <p:cxnSp>
        <p:nvCxnSpPr>
          <p:cNvPr id="23" name="Connector 22"/>
          <p:cNvCxnSpPr/>
          <p:nvPr/>
        </p:nvCxnSpPr>
        <p:spPr>
          <a:xfrm>
            <a:off x="1956816"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1883664"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26" name="TextBox 25"/>
          <p:cNvSpPr txBox="1"/>
          <p:nvPr/>
        </p:nvSpPr>
        <p:spPr>
          <a:xfrm>
            <a:off x="2139696"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v1.72.3</a:t>
            </a:r>
          </a:p>
        </p:txBody>
      </p:sp>
      <p:sp>
        <p:nvSpPr>
          <p:cNvPr id="27" name="TextBox 26"/>
          <p:cNvSpPr txBox="1"/>
          <p:nvPr/>
        </p:nvSpPr>
        <p:spPr>
          <a:xfrm>
            <a:off x="3310128" y="41605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v1.72.3 Avatar lips movement improved.</a:t>
            </a:r>
          </a:p>
        </p:txBody>
      </p:sp>
      <p:cxnSp>
        <p:nvCxnSpPr>
          <p:cNvPr id="28" name="Connector 27"/>
          <p:cNvCxnSpPr/>
          <p:nvPr/>
        </p:nvCxnSpPr>
        <p:spPr>
          <a:xfrm>
            <a:off x="1956816"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9" name="Diamond 28"/>
          <p:cNvSpPr/>
          <p:nvPr/>
        </p:nvSpPr>
        <p:spPr>
          <a:xfrm>
            <a:off x="1883664"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66928"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31" name="TextBox 30"/>
          <p:cNvSpPr txBox="1"/>
          <p:nvPr/>
        </p:nvSpPr>
        <p:spPr>
          <a:xfrm>
            <a:off x="2139696"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v1.72.4</a:t>
            </a:r>
          </a:p>
        </p:txBody>
      </p:sp>
      <p:sp>
        <p:nvSpPr>
          <p:cNvPr id="32" name="TextBox 31"/>
          <p:cNvSpPr txBox="1"/>
          <p:nvPr/>
        </p:nvSpPr>
        <p:spPr>
          <a:xfrm>
            <a:off x="3310128" y="4846319"/>
            <a:ext cx="2557119" cy="649224"/>
          </a:xfrm>
          <a:prstGeom prst="rect">
            <a:avLst/>
          </a:prstGeom>
          <a:noFill/>
        </p:spPr>
        <p:txBody>
          <a:bodyPr wrap="square" lIns="45720" rIns="45720" tIns="27432" bIns="27432" anchor="ctr">
            <a:noAutofit/>
          </a:bodyPr>
          <a:lstStyle/>
          <a:p>
            <a:pPr algn="l">
              <a:lnSpc>
                <a:spcPct val="100000"/>
              </a:lnSpc>
            </a:pPr>
            <a:r>
              <a:rPr sz="1000" b="0" i="0">
                <a:solidFill>
                  <a:srgbClr val="A7B2B0"/>
                </a:solidFill>
                <a:latin typeface="Segoe UI"/>
              </a:rPr>
              <a:t>Release v1.72.4 Making HTML text extraction unable to lose a page in silence, in Crawler and Googler, by Claude.</a:t>
            </a:r>
          </a:p>
        </p:txBody>
      </p:sp>
      <p:sp>
        <p:nvSpPr>
          <p:cNvPr id="33" name="Diamond 32"/>
          <p:cNvSpPr/>
          <p:nvPr/>
        </p:nvSpPr>
        <p:spPr>
          <a:xfrm>
            <a:off x="1883664" y="5783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66928"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2026-09-30</a:t>
            </a:r>
          </a:p>
        </p:txBody>
      </p:sp>
      <p:sp>
        <p:nvSpPr>
          <p:cNvPr id="35" name="TextBox 34"/>
          <p:cNvSpPr txBox="1"/>
          <p:nvPr/>
        </p:nvSpPr>
        <p:spPr>
          <a:xfrm>
            <a:off x="2139696"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v1.73.0</a:t>
            </a:r>
          </a:p>
        </p:txBody>
      </p:sp>
      <p:sp>
        <p:nvSpPr>
          <p:cNvPr id="36" name="TextBox 35"/>
          <p:cNvSpPr txBox="1"/>
          <p:nvPr/>
        </p:nvSpPr>
        <p:spPr>
          <a:xfrm>
            <a:off x="3310128" y="5532119"/>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v1.73.0 Implemented the Drop button, which erases one message from the chat AND from the history the model reads, by angelahack1.</a:t>
            </a:r>
          </a:p>
        </p:txBody>
      </p:sp>
      <p:cxnSp>
        <p:nvCxnSpPr>
          <p:cNvPr id="37" name="Connector 36"/>
          <p:cNvCxnSpPr/>
          <p:nvPr/>
        </p:nvCxnSpPr>
        <p:spPr>
          <a:xfrm>
            <a:off x="7714335"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38" name="Diamond 37"/>
          <p:cNvSpPr/>
          <p:nvPr/>
        </p:nvSpPr>
        <p:spPr>
          <a:xfrm>
            <a:off x="7641183"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4447"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2026-10-01</a:t>
            </a:r>
          </a:p>
        </p:txBody>
      </p:sp>
      <p:sp>
        <p:nvSpPr>
          <p:cNvPr id="40" name="TextBox 39"/>
          <p:cNvSpPr txBox="1"/>
          <p:nvPr/>
        </p:nvSpPr>
        <p:spPr>
          <a:xfrm>
            <a:off x="7897215"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v1.73.1</a:t>
            </a:r>
          </a:p>
        </p:txBody>
      </p:sp>
      <p:sp>
        <p:nvSpPr>
          <p:cNvPr id="41" name="TextBox 40"/>
          <p:cNvSpPr txBox="1"/>
          <p:nvPr/>
        </p:nvSpPr>
        <p:spPr>
          <a:xfrm>
            <a:off x="9067647" y="2103120"/>
            <a:ext cx="2557119" cy="649224"/>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Release v1.73.1 Making Config &gt; Models ask the configured Ollama with its token, not the browser's local one.</a:t>
            </a:r>
          </a:p>
        </p:txBody>
      </p:sp>
      <p:cxnSp>
        <p:nvCxnSpPr>
          <p:cNvPr id="42" name="Connector 41"/>
          <p:cNvCxnSpPr/>
          <p:nvPr/>
        </p:nvCxnSpPr>
        <p:spPr>
          <a:xfrm>
            <a:off x="7714335"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3" name="Diamond 42"/>
          <p:cNvSpPr/>
          <p:nvPr/>
        </p:nvSpPr>
        <p:spPr>
          <a:xfrm>
            <a:off x="7641183"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324447"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2026-10-01</a:t>
            </a:r>
          </a:p>
        </p:txBody>
      </p:sp>
      <p:sp>
        <p:nvSpPr>
          <p:cNvPr id="45" name="TextBox 44"/>
          <p:cNvSpPr txBox="1"/>
          <p:nvPr/>
        </p:nvSpPr>
        <p:spPr>
          <a:xfrm>
            <a:off x="7897215"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v1.74.0</a:t>
            </a:r>
          </a:p>
        </p:txBody>
      </p:sp>
      <p:sp>
        <p:nvSpPr>
          <p:cNvPr id="46" name="TextBox 45"/>
          <p:cNvSpPr txBox="1"/>
          <p:nvPr/>
        </p:nvSpPr>
        <p:spPr>
          <a:xfrm>
            <a:off x="9067647" y="27889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v1.74.0 Making every request fit the model it is sent to: Compact mode for small models, the complete context for big ones, and readable answer tables.</a:t>
            </a:r>
          </a:p>
        </p:txBody>
      </p:sp>
      <p:cxnSp>
        <p:nvCxnSpPr>
          <p:cNvPr id="47" name="Connector 46"/>
          <p:cNvCxnSpPr/>
          <p:nvPr/>
        </p:nvCxnSpPr>
        <p:spPr>
          <a:xfrm>
            <a:off x="7714335"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8" name="Diamond 47"/>
          <p:cNvSpPr/>
          <p:nvPr/>
        </p:nvSpPr>
        <p:spPr>
          <a:xfrm>
            <a:off x="7641183"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324447"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2026-10-03</a:t>
            </a:r>
          </a:p>
        </p:txBody>
      </p:sp>
      <p:sp>
        <p:nvSpPr>
          <p:cNvPr id="50" name="TextBox 49"/>
          <p:cNvSpPr txBox="1"/>
          <p:nvPr/>
        </p:nvSpPr>
        <p:spPr>
          <a:xfrm>
            <a:off x="7897215"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v1.75.0</a:t>
            </a:r>
          </a:p>
        </p:txBody>
      </p:sp>
      <p:sp>
        <p:nvSpPr>
          <p:cNvPr id="51" name="TextBox 50"/>
          <p:cNvSpPr txBox="1"/>
          <p:nvPr/>
        </p:nvSpPr>
        <p:spPr>
          <a:xfrm>
            <a:off x="9067647" y="34747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v1.75.0 Making Compact mode a real checkbox: it unticks the real Configure rows, locks ON for a small model, prices every row, and warns when a request is cut.</a:t>
            </a:r>
          </a:p>
        </p:txBody>
      </p:sp>
      <p:cxnSp>
        <p:nvCxnSpPr>
          <p:cNvPr id="52" name="Connector 51"/>
          <p:cNvCxnSpPr/>
          <p:nvPr/>
        </p:nvCxnSpPr>
        <p:spPr>
          <a:xfrm>
            <a:off x="7714335"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7641183"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24447"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2026-10-08</a:t>
            </a:r>
          </a:p>
        </p:txBody>
      </p:sp>
      <p:sp>
        <p:nvSpPr>
          <p:cNvPr id="55" name="TextBox 54"/>
          <p:cNvSpPr txBox="1"/>
          <p:nvPr/>
        </p:nvSpPr>
        <p:spPr>
          <a:xfrm>
            <a:off x="7897215"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v1.76.0</a:t>
            </a:r>
          </a:p>
        </p:txBody>
      </p:sp>
      <p:sp>
        <p:nvSpPr>
          <p:cNvPr id="56" name="TextBox 55"/>
          <p:cNvSpPr txBox="1"/>
          <p:nvPr/>
        </p:nvSpPr>
        <p:spPr>
          <a:xfrm>
            <a:off x="9067647" y="4160519"/>
            <a:ext cx="2557119" cy="649224"/>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Release v1.76.0 Implementin the Model Brain tunning system (comes into action everytime user config any model.</a:t>
            </a:r>
          </a:p>
        </p:txBody>
      </p:sp>
      <p:cxnSp>
        <p:nvCxnSpPr>
          <p:cNvPr id="57" name="Connector 56"/>
          <p:cNvCxnSpPr/>
          <p:nvPr/>
        </p:nvCxnSpPr>
        <p:spPr>
          <a:xfrm>
            <a:off x="7714335"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7641183"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6324447"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2026-10-09</a:t>
            </a:r>
          </a:p>
        </p:txBody>
      </p:sp>
      <p:sp>
        <p:nvSpPr>
          <p:cNvPr id="60" name="TextBox 59"/>
          <p:cNvSpPr txBox="1"/>
          <p:nvPr/>
        </p:nvSpPr>
        <p:spPr>
          <a:xfrm>
            <a:off x="7897215"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v1.77.0</a:t>
            </a:r>
          </a:p>
        </p:txBody>
      </p:sp>
      <p:sp>
        <p:nvSpPr>
          <p:cNvPr id="61" name="TextBox 60"/>
          <p:cNvSpPr txBox="1"/>
          <p:nvPr/>
        </p:nvSpPr>
        <p:spPr>
          <a:xfrm>
            <a:off x="9067647" y="4846319"/>
            <a:ext cx="2557119" cy="649224"/>
          </a:xfrm>
          <a:prstGeom prst="rect">
            <a:avLst/>
          </a:prstGeom>
          <a:noFill/>
        </p:spPr>
        <p:txBody>
          <a:bodyPr wrap="square" lIns="45720" rIns="45720" tIns="27432" bIns="27432" anchor="ctr">
            <a:noAutofit/>
          </a:bodyPr>
          <a:lstStyle/>
          <a:p>
            <a:pPr algn="l">
              <a:lnSpc>
                <a:spcPct val="100000"/>
              </a:lnSpc>
            </a:pPr>
            <a:r>
              <a:rPr sz="750" b="0" i="0">
                <a:solidFill>
                  <a:srgbClr val="A7B2B0"/>
                </a:solidFill>
                <a:latin typeface="Segoe UI"/>
              </a:rPr>
              <a:t>Release v1.77.0 Making Tlamatini speak every fixed chat line in the first person and to the user by name, with the word matchers, the avatar and the Telegram bridge updated to recognise both the new and the old wording.</a:t>
            </a:r>
          </a:p>
        </p:txBody>
      </p:sp>
      <p:sp>
        <p:nvSpPr>
          <p:cNvPr id="62" name="Diamond 61"/>
          <p:cNvSpPr/>
          <p:nvPr/>
        </p:nvSpPr>
        <p:spPr>
          <a:xfrm>
            <a:off x="7641183" y="5783579"/>
            <a:ext cx="146304" cy="14630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6324447"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2026-10-10</a:t>
            </a:r>
          </a:p>
        </p:txBody>
      </p:sp>
      <p:sp>
        <p:nvSpPr>
          <p:cNvPr id="64" name="TextBox 63"/>
          <p:cNvSpPr txBox="1"/>
          <p:nvPr/>
        </p:nvSpPr>
        <p:spPr>
          <a:xfrm>
            <a:off x="7897215"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E2B462"/>
                </a:solidFill>
                <a:latin typeface="Palatino Linotype"/>
              </a:rPr>
              <a:t>v1.78.0</a:t>
            </a:r>
          </a:p>
        </p:txBody>
      </p:sp>
      <p:sp>
        <p:nvSpPr>
          <p:cNvPr id="65" name="TextBox 64"/>
          <p:cNvSpPr txBox="1"/>
          <p:nvPr/>
        </p:nvSpPr>
        <p:spPr>
          <a:xfrm>
            <a:off x="9067647" y="55321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v1.78.0 Implementing the About -&gt; Usage dialog.</a:t>
            </a:r>
          </a:p>
        </p:txBody>
      </p:sp>
      <p:cxnSp>
        <p:nvCxnSpPr>
          <p:cNvPr id="66" name="Connector 6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68" name="TextBox 6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124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RELEASE IDENTITY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Tag, commit and publication, stated plainly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tag is not a release, and a commit after a tag is not a new tag. This dossier keeps the three apart.</a:t>
            </a:r>
          </a:p>
        </p:txBody>
      </p:sp>
      <p:sp>
        <p:nvSpPr>
          <p:cNvPr id="8" name="Rounded Rectangle 7"/>
          <p:cNvSpPr/>
          <p:nvPr/>
        </p:nvSpPr>
        <p:spPr>
          <a:xfrm>
            <a:off x="566928" y="2084831"/>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The tag</a:t>
            </a:r>
          </a:p>
        </p:txBody>
      </p:sp>
      <p:sp>
        <p:nvSpPr>
          <p:cNvPr id="11" name="TextBox 10"/>
          <p:cNvSpPr txBox="1"/>
          <p:nvPr/>
        </p:nvSpPr>
        <p:spPr>
          <a:xfrm>
            <a:off x="2670048" y="2139696"/>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v1.78.0 resolves to </a:t>
            </a:r>
            <a:r>
              <a:rPr sz="1300" b="0" i="0">
                <a:solidFill>
                  <a:srgbClr val="E2B462"/>
                </a:solidFill>
                <a:latin typeface="Consolas"/>
              </a:rPr>
              <a:t>0e6fc72d</a:t>
            </a:r>
            <a:r>
              <a:rPr sz="1400" b="0" i="0">
                <a:solidFill>
                  <a:srgbClr val="A7B2B0"/>
                </a:solidFill>
                <a:latin typeface="Segoe UI"/>
              </a:rPr>
              <a:t>, created 2026-10-10.</a:t>
            </a:r>
          </a:p>
        </p:txBody>
      </p:sp>
      <p:sp>
        <p:nvSpPr>
          <p:cNvPr id="12" name="Rounded Rectangle 11"/>
          <p:cNvSpPr/>
          <p:nvPr/>
        </p:nvSpPr>
        <p:spPr>
          <a:xfrm>
            <a:off x="566928" y="3499103"/>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Since the tag</a:t>
            </a:r>
          </a:p>
        </p:txBody>
      </p:sp>
      <p:sp>
        <p:nvSpPr>
          <p:cNvPr id="15" name="TextBox 14"/>
          <p:cNvSpPr txBox="1"/>
          <p:nvPr/>
        </p:nvSpPr>
        <p:spPr>
          <a:xfrm>
            <a:off x="2670048" y="3553967"/>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 newer commit(s); a build of main still reports 1.78.0.</a:t>
            </a:r>
          </a:p>
        </p:txBody>
      </p:sp>
      <p:sp>
        <p:nvSpPr>
          <p:cNvPr id="16" name="Rounded Rectangle 15"/>
          <p:cNvSpPr/>
          <p:nvPr/>
        </p:nvSpPr>
        <p:spPr>
          <a:xfrm>
            <a:off x="566928" y="4913376"/>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a:t>
            </a:r>
          </a:p>
        </p:txBody>
      </p:sp>
      <p:sp>
        <p:nvSpPr>
          <p:cNvPr id="19" name="TextBox 18"/>
          <p:cNvSpPr txBox="1"/>
          <p:nvPr/>
        </p:nvSpPr>
        <p:spPr>
          <a:xfrm>
            <a:off x="2670048" y="4968239"/>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The newest release on GitHub is v1.78.0.</a:t>
            </a:r>
          </a:p>
        </p:txBody>
      </p:sp>
      <p:sp>
        <p:nvSpPr>
          <p:cNvPr id="20" name="Rounded Rectangle 19"/>
          <p:cNvSpPr/>
          <p:nvPr/>
        </p:nvSpPr>
        <p:spPr>
          <a:xfrm>
            <a:off x="6144768" y="2084831"/>
            <a:ext cx="5479999" cy="2029967"/>
          </a:xfrm>
          <a:prstGeom prst="roundRect">
            <a:avLst>
              <a:gd name="adj" fmla="val 36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217920" y="2121408"/>
            <a:ext cx="2045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FACT</a:t>
            </a:r>
          </a:p>
        </p:txBody>
      </p:sp>
      <p:sp>
        <p:nvSpPr>
          <p:cNvPr id="23" name="TextBox 22"/>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24" name="TextBox 23"/>
          <p:cNvSpPr txBox="1"/>
          <p:nvPr/>
        </p:nvSpPr>
        <p:spPr>
          <a:xfrm>
            <a:off x="6217920" y="2505456"/>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Version</a:t>
            </a:r>
          </a:p>
        </p:txBody>
      </p:sp>
      <p:sp>
        <p:nvSpPr>
          <p:cNvPr id="25" name="TextBox 24"/>
          <p:cNvSpPr txBox="1"/>
          <p:nvPr/>
        </p:nvSpPr>
        <p:spPr>
          <a:xfrm>
            <a:off x="8409919" y="2505456"/>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1.78.0</a:t>
            </a:r>
          </a:p>
        </p:txBody>
      </p:sp>
      <p:sp>
        <p:nvSpPr>
          <p:cNvPr id="26" name="Rectangle 25"/>
          <p:cNvSpPr/>
          <p:nvPr/>
        </p:nvSpPr>
        <p:spPr>
          <a:xfrm>
            <a:off x="6163056" y="2798063"/>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17920" y="2834639"/>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Nearest tag</a:t>
            </a:r>
          </a:p>
        </p:txBody>
      </p:sp>
      <p:sp>
        <p:nvSpPr>
          <p:cNvPr id="28" name="TextBox 27"/>
          <p:cNvSpPr txBox="1"/>
          <p:nvPr/>
        </p:nvSpPr>
        <p:spPr>
          <a:xfrm>
            <a:off x="8409919" y="2834639"/>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v1.78.0 → 0e6fc72d (2026-10-10)</a:t>
            </a:r>
          </a:p>
        </p:txBody>
      </p:sp>
      <p:sp>
        <p:nvSpPr>
          <p:cNvPr id="29" name="TextBox 28"/>
          <p:cNvSpPr txBox="1"/>
          <p:nvPr/>
        </p:nvSpPr>
        <p:spPr>
          <a:xfrm>
            <a:off x="6217920" y="3163823"/>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Newest commit on main</a:t>
            </a:r>
          </a:p>
        </p:txBody>
      </p:sp>
      <p:sp>
        <p:nvSpPr>
          <p:cNvPr id="30" name="TextBox 29"/>
          <p:cNvSpPr txBox="1"/>
          <p:nvPr/>
        </p:nvSpPr>
        <p:spPr>
          <a:xfrm>
            <a:off x="8409919" y="316382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113eddc4 (2 commit(s) after the tag)</a:t>
            </a:r>
          </a:p>
        </p:txBody>
      </p:sp>
      <p:sp>
        <p:nvSpPr>
          <p:cNvPr id="31" name="Rectangle 30"/>
          <p:cNvSpPr/>
          <p:nvPr/>
        </p:nvSpPr>
        <p:spPr>
          <a:xfrm>
            <a:off x="6163056" y="3456431"/>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17920" y="3493007"/>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Tag on remote</a:t>
            </a:r>
          </a:p>
        </p:txBody>
      </p:sp>
      <p:sp>
        <p:nvSpPr>
          <p:cNvPr id="33" name="TextBox 32"/>
          <p:cNvSpPr txBox="1"/>
          <p:nvPr/>
        </p:nvSpPr>
        <p:spPr>
          <a:xfrm>
            <a:off x="8409919" y="3493007"/>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Yes</a:t>
            </a:r>
          </a:p>
        </p:txBody>
      </p:sp>
      <p:sp>
        <p:nvSpPr>
          <p:cNvPr id="34" name="TextBox 33"/>
          <p:cNvSpPr txBox="1"/>
          <p:nvPr/>
        </p:nvSpPr>
        <p:spPr>
          <a:xfrm>
            <a:off x="6217920" y="3822191"/>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Latest published release</a:t>
            </a:r>
          </a:p>
        </p:txBody>
      </p:sp>
      <p:sp>
        <p:nvSpPr>
          <p:cNvPr id="35" name="TextBox 34"/>
          <p:cNvSpPr txBox="1"/>
          <p:nvPr/>
        </p:nvSpPr>
        <p:spPr>
          <a:xfrm>
            <a:off x="8409919" y="3822191"/>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v1.78.0</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125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IX</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Repository Facts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source tree measured: files, languages, effective lines, the largest files and recent history.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IX</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126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Inspected commit</a:t>
            </a:r>
          </a:p>
        </p:txBody>
      </p:sp>
      <p:sp>
        <p:nvSpPr>
          <p:cNvPr id="13" name="TextBox 12"/>
          <p:cNvSpPr txBox="1"/>
          <p:nvPr/>
        </p:nvSpPr>
        <p:spPr>
          <a:xfrm>
            <a:off x="5726686" y="2505456"/>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113eddc4 · 2026-10-10 · branch main</a:t>
            </a:r>
          </a:p>
        </p:txBody>
      </p:sp>
      <p:sp>
        <p:nvSpPr>
          <p:cNvPr id="14" name="Rectangle 13"/>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1177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Version</a:t>
            </a:r>
          </a:p>
        </p:txBody>
      </p:sp>
      <p:sp>
        <p:nvSpPr>
          <p:cNvPr id="16" name="TextBox 15"/>
          <p:cNvSpPr txBox="1"/>
          <p:nvPr/>
        </p:nvSpPr>
        <p:spPr>
          <a:xfrm>
            <a:off x="5726686" y="281177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1.78.0</a:t>
            </a:r>
          </a:p>
        </p:txBody>
      </p:sp>
      <p:sp>
        <p:nvSpPr>
          <p:cNvPr id="17" name="TextBox 16"/>
          <p:cNvSpPr txBox="1"/>
          <p:nvPr/>
        </p:nvSpPr>
        <p:spPr>
          <a:xfrm>
            <a:off x="640080" y="311810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Tracked files</a:t>
            </a:r>
          </a:p>
        </p:txBody>
      </p:sp>
      <p:sp>
        <p:nvSpPr>
          <p:cNvPr id="18" name="TextBox 17"/>
          <p:cNvSpPr txBox="1"/>
          <p:nvPr/>
        </p:nvSpPr>
        <p:spPr>
          <a:xfrm>
            <a:off x="5726686" y="311810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1,688</a:t>
            </a:r>
          </a:p>
        </p:txBody>
      </p:sp>
      <p:sp>
        <p:nvSpPr>
          <p:cNvPr id="19" name="Rectangle 18"/>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42442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Unignored working-tree additions</a:t>
            </a:r>
          </a:p>
        </p:txBody>
      </p:sp>
      <p:sp>
        <p:nvSpPr>
          <p:cNvPr id="21" name="TextBox 20"/>
          <p:cNvSpPr txBox="1"/>
          <p:nvPr/>
        </p:nvSpPr>
        <p:spPr>
          <a:xfrm>
            <a:off x="5726686" y="342442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0</a:t>
            </a:r>
          </a:p>
        </p:txBody>
      </p:sp>
      <p:sp>
        <p:nvSpPr>
          <p:cNvPr id="22" name="TextBox 21"/>
          <p:cNvSpPr txBox="1"/>
          <p:nvPr/>
        </p:nvSpPr>
        <p:spPr>
          <a:xfrm>
            <a:off x="640080" y="373075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 files counted</a:t>
            </a:r>
          </a:p>
        </p:txBody>
      </p:sp>
      <p:sp>
        <p:nvSpPr>
          <p:cNvPr id="23" name="TextBox 22"/>
          <p:cNvSpPr txBox="1"/>
          <p:nvPr/>
        </p:nvSpPr>
        <p:spPr>
          <a:xfrm>
            <a:off x="5726686" y="373075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1,447</a:t>
            </a:r>
          </a:p>
        </p:txBody>
      </p:sp>
      <p:sp>
        <p:nvSpPr>
          <p:cNvPr id="24" name="Rectangle 23"/>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03707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 assets (counted, not measured)</a:t>
            </a:r>
          </a:p>
        </p:txBody>
      </p:sp>
      <p:sp>
        <p:nvSpPr>
          <p:cNvPr id="26" name="TextBox 25"/>
          <p:cNvSpPr txBox="1"/>
          <p:nvPr/>
        </p:nvSpPr>
        <p:spPr>
          <a:xfrm>
            <a:off x="5726686" y="403707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241</a:t>
            </a:r>
          </a:p>
        </p:txBody>
      </p:sp>
      <p:sp>
        <p:nvSpPr>
          <p:cNvPr id="27" name="TextBox 26"/>
          <p:cNvSpPr txBox="1"/>
          <p:nvPr/>
        </p:nvSpPr>
        <p:spPr>
          <a:xfrm>
            <a:off x="640080" y="434339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Physical text lines</a:t>
            </a:r>
          </a:p>
        </p:txBody>
      </p:sp>
      <p:sp>
        <p:nvSpPr>
          <p:cNvPr id="28" name="TextBox 27"/>
          <p:cNvSpPr txBox="1"/>
          <p:nvPr/>
        </p:nvSpPr>
        <p:spPr>
          <a:xfrm>
            <a:off x="5726686" y="434339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564,863</a:t>
            </a:r>
          </a:p>
        </p:txBody>
      </p:sp>
      <p:sp>
        <p:nvSpPr>
          <p:cNvPr id="29" name="Rectangle 28"/>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464972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Effective lines</a:t>
            </a:r>
          </a:p>
        </p:txBody>
      </p:sp>
      <p:sp>
        <p:nvSpPr>
          <p:cNvPr id="31" name="TextBox 30"/>
          <p:cNvSpPr txBox="1"/>
          <p:nvPr/>
        </p:nvSpPr>
        <p:spPr>
          <a:xfrm>
            <a:off x="5726686" y="464972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439,117</a:t>
            </a:r>
          </a:p>
        </p:txBody>
      </p:sp>
      <p:sp>
        <p:nvSpPr>
          <p:cNvPr id="32" name="TextBox 31"/>
          <p:cNvSpPr txBox="1"/>
          <p:nvPr/>
        </p:nvSpPr>
        <p:spPr>
          <a:xfrm>
            <a:off x="640080" y="495604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Workflow agent types</a:t>
            </a:r>
          </a:p>
        </p:txBody>
      </p:sp>
      <p:sp>
        <p:nvSpPr>
          <p:cNvPr id="33" name="TextBox 32"/>
          <p:cNvSpPr txBox="1"/>
          <p:nvPr/>
        </p:nvSpPr>
        <p:spPr>
          <a:xfrm>
            <a:off x="5726686" y="495604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89</a:t>
            </a:r>
          </a:p>
        </p:txBody>
      </p:sp>
      <p:sp>
        <p:nvSpPr>
          <p:cNvPr id="34" name="Rectangle 3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40080" y="526237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Wrapped chat-agent tools</a:t>
            </a:r>
          </a:p>
        </p:txBody>
      </p:sp>
      <p:sp>
        <p:nvSpPr>
          <p:cNvPr id="36" name="TextBox 35"/>
          <p:cNvSpPr txBox="1"/>
          <p:nvPr/>
        </p:nvSpPr>
        <p:spPr>
          <a:xfrm>
            <a:off x="5726686" y="526237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67</a:t>
            </a:r>
          </a:p>
        </p:txBody>
      </p:sp>
      <p:sp>
        <p:nvSpPr>
          <p:cNvPr id="37" name="TextBox 36"/>
          <p:cNvSpPr txBox="1"/>
          <p:nvPr/>
        </p:nvSpPr>
        <p:spPr>
          <a:xfrm>
            <a:off x="640080" y="556869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Built-in Multi-Turn tools</a:t>
            </a:r>
          </a:p>
        </p:txBody>
      </p:sp>
      <p:sp>
        <p:nvSpPr>
          <p:cNvPr id="38" name="TextBox 37"/>
          <p:cNvSpPr txBox="1"/>
          <p:nvPr/>
        </p:nvSpPr>
        <p:spPr>
          <a:xfrm>
            <a:off x="5726686" y="556869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109 = 20 core + 67 wrapped + 12 ACPX/Skill + 10 supervisors</a:t>
            </a:r>
          </a:p>
        </p:txBody>
      </p:sp>
      <p:sp>
        <p:nvSpPr>
          <p:cNvPr id="39" name="Rectangle 38"/>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40080" y="587501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Skills</a:t>
            </a:r>
          </a:p>
        </p:txBody>
      </p:sp>
      <p:sp>
        <p:nvSpPr>
          <p:cNvPr id="41" name="TextBox 40"/>
          <p:cNvSpPr txBox="1"/>
          <p:nvPr/>
        </p:nvSpPr>
        <p:spPr>
          <a:xfrm>
            <a:off x="5726686" y="587501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29</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127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 peers</a:t>
            </a:r>
          </a:p>
        </p:txBody>
      </p:sp>
      <p:sp>
        <p:nvSpPr>
          <p:cNvPr id="13" name="TextBox 12"/>
          <p:cNvSpPr txBox="1"/>
          <p:nvPr/>
        </p:nvSpPr>
        <p:spPr>
          <a:xfrm>
            <a:off x="5726686" y="250545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14</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Database migrations</a:t>
            </a:r>
          </a:p>
        </p:txBody>
      </p:sp>
      <p:sp>
        <p:nvSpPr>
          <p:cNvPr id="16" name="TextBox 15"/>
          <p:cNvSpPr txBox="1"/>
          <p:nvPr/>
        </p:nvSpPr>
        <p:spPr>
          <a:xfrm>
            <a:off x="5726686" y="288036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213</a:t>
            </a:r>
          </a:p>
        </p:txBody>
      </p:sp>
      <p:sp>
        <p:nvSpPr>
          <p:cNvPr id="17" name="TextBox 16"/>
          <p:cNvSpPr txBox="1"/>
          <p:nvPr/>
        </p:nvSpPr>
        <p:spPr>
          <a:xfrm>
            <a:off x="640080" y="3255264"/>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JavaScript modules · stylesheets · templates</a:t>
            </a:r>
          </a:p>
        </p:txBody>
      </p:sp>
      <p:sp>
        <p:nvSpPr>
          <p:cNvPr id="18" name="TextBox 17"/>
          <p:cNvSpPr txBox="1"/>
          <p:nvPr/>
        </p:nvSpPr>
        <p:spPr>
          <a:xfrm>
            <a:off x="5726686" y="325526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56 · 20 · 6</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Pinned Python requirements</a:t>
            </a:r>
          </a:p>
        </p:txBody>
      </p:sp>
      <p:sp>
        <p:nvSpPr>
          <p:cNvPr id="21" name="TextBox 20"/>
          <p:cNvSpPr txBox="1"/>
          <p:nvPr/>
        </p:nvSpPr>
        <p:spPr>
          <a:xfrm>
            <a:off x="5726686" y="363016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87</a:t>
            </a:r>
          </a:p>
        </p:txBody>
      </p:sp>
      <p:sp>
        <p:nvSpPr>
          <p:cNvPr id="22" name="TextBox 21"/>
          <p:cNvSpPr txBox="1"/>
          <p:nvPr/>
        </p:nvSpPr>
        <p:spPr>
          <a:xfrm>
            <a:off x="640080" y="4005072"/>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Catalog sections</a:t>
            </a:r>
          </a:p>
        </p:txBody>
      </p:sp>
      <p:sp>
        <p:nvSpPr>
          <p:cNvPr id="23" name="TextBox 22"/>
          <p:cNvSpPr txBox="1"/>
          <p:nvPr/>
        </p:nvSpPr>
        <p:spPr>
          <a:xfrm>
            <a:off x="5726686" y="4005072"/>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16</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Central model settings</a:t>
            </a:r>
          </a:p>
        </p:txBody>
      </p:sp>
      <p:sp>
        <p:nvSpPr>
          <p:cNvPr id="26" name="TextBox 25"/>
          <p:cNvSpPr txBox="1"/>
          <p:nvPr/>
        </p:nvSpPr>
        <p:spPr>
          <a:xfrm>
            <a:off x="5726686" y="437997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38 for 21 model-backed agents</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128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Effective lines by language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439,117 effective lines across 1,447 text files; 564,863 physical lines.</a:t>
            </a:r>
          </a:p>
        </p:txBody>
      </p:sp>
      <p:graphicFrame>
        <p:nvGraphicFramePr>
          <p:cNvPr id="8" name="Chart 7"/>
          <p:cNvGraphicFramePr>
            <a:graphicFrameLocks noGrp="1"/>
          </p:cNvGraphicFramePr>
          <p:nvPr/>
        </p:nvGraphicFramePr>
        <p:xfrm>
          <a:off x="566928" y="2084831"/>
          <a:ext cx="11057839" cy="4114800"/>
        </p:xfrm>
        <a:graphic>
          <a:graphicData uri="http://schemas.openxmlformats.org/drawingml/2006/chart">
            <c:chart xmlns:c="http://schemas.openxmlformats.org/drawingml/2006/chart" r:id="rId4"/>
          </a:graphicData>
        </a:graphic>
      </p:graphicFrame>
      <p:cxnSp>
        <p:nvCxnSpPr>
          <p:cNvPr id="9" name="Connector 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11" name="TextBox 1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129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Python</a:t>
            </a:r>
          </a:p>
        </p:txBody>
      </p:sp>
      <p:sp>
        <p:nvSpPr>
          <p:cNvPr id="16" name="TextBox 15"/>
          <p:cNvSpPr txBox="1"/>
          <p:nvPr/>
        </p:nvSpPr>
        <p:spPr>
          <a:xfrm>
            <a:off x="4399745" y="2505456"/>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829</a:t>
            </a:r>
          </a:p>
        </p:txBody>
      </p:sp>
      <p:sp>
        <p:nvSpPr>
          <p:cNvPr id="17" name="TextBox 16"/>
          <p:cNvSpPr txBox="1"/>
          <p:nvPr/>
        </p:nvSpPr>
        <p:spPr>
          <a:xfrm>
            <a:off x="5726686"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329,708</a:t>
            </a:r>
          </a:p>
        </p:txBody>
      </p:sp>
      <p:sp>
        <p:nvSpPr>
          <p:cNvPr id="18" name="TextBox 17"/>
          <p:cNvSpPr txBox="1"/>
          <p:nvPr/>
        </p:nvSpPr>
        <p:spPr>
          <a:xfrm>
            <a:off x="7717097"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233,500</a:t>
            </a:r>
          </a:p>
        </p:txBody>
      </p:sp>
      <p:sp>
        <p:nvSpPr>
          <p:cNvPr id="19" name="TextBox 18"/>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53.2%</a:t>
            </a:r>
          </a:p>
        </p:txBody>
      </p:sp>
      <p:sp>
        <p:nvSpPr>
          <p:cNvPr id="20" name="Rectangle 19"/>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1177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 module</a:t>
            </a:r>
          </a:p>
        </p:txBody>
      </p:sp>
      <p:sp>
        <p:nvSpPr>
          <p:cNvPr id="22" name="TextBox 21"/>
          <p:cNvSpPr txBox="1"/>
          <p:nvPr/>
        </p:nvSpPr>
        <p:spPr>
          <a:xfrm>
            <a:off x="4399745" y="281177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a:t>
            </a:r>
          </a:p>
        </p:txBody>
      </p:sp>
      <p:sp>
        <p:nvSpPr>
          <p:cNvPr id="23" name="TextBox 22"/>
          <p:cNvSpPr txBox="1"/>
          <p:nvPr/>
        </p:nvSpPr>
        <p:spPr>
          <a:xfrm>
            <a:off x="5726686"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103,847</a:t>
            </a:r>
          </a:p>
        </p:txBody>
      </p:sp>
      <p:sp>
        <p:nvSpPr>
          <p:cNvPr id="24" name="TextBox 23"/>
          <p:cNvSpPr txBox="1"/>
          <p:nvPr/>
        </p:nvSpPr>
        <p:spPr>
          <a:xfrm>
            <a:off x="7717097"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102,470</a:t>
            </a:r>
          </a:p>
        </p:txBody>
      </p:sp>
      <p:sp>
        <p:nvSpPr>
          <p:cNvPr id="25" name="TextBox 24"/>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23.3%</a:t>
            </a:r>
          </a:p>
        </p:txBody>
      </p:sp>
      <p:sp>
        <p:nvSpPr>
          <p:cNvPr id="26" name="TextBox 25"/>
          <p:cNvSpPr txBox="1"/>
          <p:nvPr/>
        </p:nvSpPr>
        <p:spPr>
          <a:xfrm>
            <a:off x="640080" y="311810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Markdown</a:t>
            </a:r>
          </a:p>
        </p:txBody>
      </p:sp>
      <p:sp>
        <p:nvSpPr>
          <p:cNvPr id="27" name="TextBox 26"/>
          <p:cNvSpPr txBox="1"/>
          <p:nvPr/>
        </p:nvSpPr>
        <p:spPr>
          <a:xfrm>
            <a:off x="4399745" y="311810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221</a:t>
            </a:r>
          </a:p>
        </p:txBody>
      </p:sp>
      <p:sp>
        <p:nvSpPr>
          <p:cNvPr id="28" name="TextBox 27"/>
          <p:cNvSpPr txBox="1"/>
          <p:nvPr/>
        </p:nvSpPr>
        <p:spPr>
          <a:xfrm>
            <a:off x="5726686"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47,021</a:t>
            </a:r>
          </a:p>
        </p:txBody>
      </p:sp>
      <p:sp>
        <p:nvSpPr>
          <p:cNvPr id="29" name="TextBox 28"/>
          <p:cNvSpPr txBox="1"/>
          <p:nvPr/>
        </p:nvSpPr>
        <p:spPr>
          <a:xfrm>
            <a:off x="7717097"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35,668</a:t>
            </a:r>
          </a:p>
        </p:txBody>
      </p:sp>
      <p:sp>
        <p:nvSpPr>
          <p:cNvPr id="30" name="TextBox 29"/>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8.1%</a:t>
            </a:r>
          </a:p>
        </p:txBody>
      </p:sp>
      <p:sp>
        <p:nvSpPr>
          <p:cNvPr id="31" name="Rectangle 30"/>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42442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a:t>
            </a:r>
          </a:p>
        </p:txBody>
      </p:sp>
      <p:sp>
        <p:nvSpPr>
          <p:cNvPr id="33" name="TextBox 32"/>
          <p:cNvSpPr txBox="1"/>
          <p:nvPr/>
        </p:nvSpPr>
        <p:spPr>
          <a:xfrm>
            <a:off x="4399745" y="342442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79</a:t>
            </a:r>
          </a:p>
        </p:txBody>
      </p:sp>
      <p:sp>
        <p:nvSpPr>
          <p:cNvPr id="34" name="TextBox 33"/>
          <p:cNvSpPr txBox="1"/>
          <p:nvPr/>
        </p:nvSpPr>
        <p:spPr>
          <a:xfrm>
            <a:off x="5726686"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32,828</a:t>
            </a:r>
          </a:p>
        </p:txBody>
      </p:sp>
      <p:sp>
        <p:nvSpPr>
          <p:cNvPr id="35" name="TextBox 34"/>
          <p:cNvSpPr txBox="1"/>
          <p:nvPr/>
        </p:nvSpPr>
        <p:spPr>
          <a:xfrm>
            <a:off x="7717097"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26,113</a:t>
            </a:r>
          </a:p>
        </p:txBody>
      </p:sp>
      <p:sp>
        <p:nvSpPr>
          <p:cNvPr id="36" name="TextBox 3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a:t>
            </a:r>
          </a:p>
        </p:txBody>
      </p:sp>
      <p:sp>
        <p:nvSpPr>
          <p:cNvPr id="37" name="TextBox 36"/>
          <p:cNvSpPr txBox="1"/>
          <p:nvPr/>
        </p:nvSpPr>
        <p:spPr>
          <a:xfrm>
            <a:off x="640080" y="373075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CSS</a:t>
            </a:r>
          </a:p>
        </p:txBody>
      </p:sp>
      <p:sp>
        <p:nvSpPr>
          <p:cNvPr id="38" name="TextBox 37"/>
          <p:cNvSpPr txBox="1"/>
          <p:nvPr/>
        </p:nvSpPr>
        <p:spPr>
          <a:xfrm>
            <a:off x="4399745" y="373075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a:t>
            </a:r>
          </a:p>
        </p:txBody>
      </p:sp>
      <p:sp>
        <p:nvSpPr>
          <p:cNvPr id="39" name="TextBox 38"/>
          <p:cNvSpPr txBox="1"/>
          <p:nvPr/>
        </p:nvSpPr>
        <p:spPr>
          <a:xfrm>
            <a:off x="5726686"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16,982</a:t>
            </a:r>
          </a:p>
        </p:txBody>
      </p:sp>
      <p:sp>
        <p:nvSpPr>
          <p:cNvPr id="40" name="TextBox 39"/>
          <p:cNvSpPr txBox="1"/>
          <p:nvPr/>
        </p:nvSpPr>
        <p:spPr>
          <a:xfrm>
            <a:off x="7717097"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13,629</a:t>
            </a:r>
          </a:p>
        </p:txBody>
      </p:sp>
      <p:sp>
        <p:nvSpPr>
          <p:cNvPr id="41" name="TextBox 40"/>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a:t>
            </a:r>
          </a:p>
        </p:txBody>
      </p:sp>
      <p:sp>
        <p:nvSpPr>
          <p:cNvPr id="42" name="Rectangle 41"/>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03707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Other text</a:t>
            </a:r>
          </a:p>
        </p:txBody>
      </p:sp>
      <p:sp>
        <p:nvSpPr>
          <p:cNvPr id="44" name="TextBox 43"/>
          <p:cNvSpPr txBox="1"/>
          <p:nvPr/>
        </p:nvSpPr>
        <p:spPr>
          <a:xfrm>
            <a:off x="4399745" y="403707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42</a:t>
            </a:r>
          </a:p>
        </p:txBody>
      </p:sp>
      <p:sp>
        <p:nvSpPr>
          <p:cNvPr id="45" name="TextBox 44"/>
          <p:cNvSpPr txBox="1"/>
          <p:nvPr/>
        </p:nvSpPr>
        <p:spPr>
          <a:xfrm>
            <a:off x="5726686"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11,683</a:t>
            </a:r>
          </a:p>
        </p:txBody>
      </p:sp>
      <p:sp>
        <p:nvSpPr>
          <p:cNvPr id="46" name="TextBox 45"/>
          <p:cNvSpPr txBox="1"/>
          <p:nvPr/>
        </p:nvSpPr>
        <p:spPr>
          <a:xfrm>
            <a:off x="7717097"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10,338</a:t>
            </a:r>
          </a:p>
        </p:txBody>
      </p:sp>
      <p:sp>
        <p:nvSpPr>
          <p:cNvPr id="47" name="TextBox 46"/>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a:t>
            </a:r>
          </a:p>
        </p:txBody>
      </p:sp>
      <p:sp>
        <p:nvSpPr>
          <p:cNvPr id="48" name="TextBox 47"/>
          <p:cNvSpPr txBox="1"/>
          <p:nvPr/>
        </p:nvSpPr>
        <p:spPr>
          <a:xfrm>
            <a:off x="640080" y="434339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JSON</a:t>
            </a:r>
          </a:p>
        </p:txBody>
      </p:sp>
      <p:sp>
        <p:nvSpPr>
          <p:cNvPr id="49" name="TextBox 48"/>
          <p:cNvSpPr txBox="1"/>
          <p:nvPr/>
        </p:nvSpPr>
        <p:spPr>
          <a:xfrm>
            <a:off x="4399745" y="434339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a:t>
            </a:r>
          </a:p>
        </p:txBody>
      </p:sp>
      <p:sp>
        <p:nvSpPr>
          <p:cNvPr id="50" name="TextBox 49"/>
          <p:cNvSpPr txBox="1"/>
          <p:nvPr/>
        </p:nvSpPr>
        <p:spPr>
          <a:xfrm>
            <a:off x="5726686"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6,392</a:t>
            </a:r>
          </a:p>
        </p:txBody>
      </p:sp>
      <p:sp>
        <p:nvSpPr>
          <p:cNvPr id="51" name="TextBox 50"/>
          <p:cNvSpPr txBox="1"/>
          <p:nvPr/>
        </p:nvSpPr>
        <p:spPr>
          <a:xfrm>
            <a:off x="7717097"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6,392</a:t>
            </a:r>
          </a:p>
        </p:txBody>
      </p:sp>
      <p:sp>
        <p:nvSpPr>
          <p:cNvPr id="52" name="TextBox 51"/>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a:t>
            </a:r>
          </a:p>
        </p:txBody>
      </p:sp>
      <p:sp>
        <p:nvSpPr>
          <p:cNvPr id="53" name="Rectangle 52"/>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464972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PowerShell</a:t>
            </a:r>
          </a:p>
        </p:txBody>
      </p:sp>
      <p:sp>
        <p:nvSpPr>
          <p:cNvPr id="55" name="TextBox 54"/>
          <p:cNvSpPr txBox="1"/>
          <p:nvPr/>
        </p:nvSpPr>
        <p:spPr>
          <a:xfrm>
            <a:off x="4399745" y="464972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20</a:t>
            </a:r>
          </a:p>
        </p:txBody>
      </p:sp>
      <p:sp>
        <p:nvSpPr>
          <p:cNvPr id="56" name="TextBox 55"/>
          <p:cNvSpPr txBox="1"/>
          <p:nvPr/>
        </p:nvSpPr>
        <p:spPr>
          <a:xfrm>
            <a:off x="5726686"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3,022</a:t>
            </a:r>
          </a:p>
        </p:txBody>
      </p:sp>
      <p:sp>
        <p:nvSpPr>
          <p:cNvPr id="57" name="TextBox 56"/>
          <p:cNvSpPr txBox="1"/>
          <p:nvPr/>
        </p:nvSpPr>
        <p:spPr>
          <a:xfrm>
            <a:off x="7717097"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2,357</a:t>
            </a:r>
          </a:p>
        </p:txBody>
      </p:sp>
      <p:sp>
        <p:nvSpPr>
          <p:cNvPr id="58" name="TextBox 57"/>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0.5%</a:t>
            </a:r>
          </a:p>
        </p:txBody>
      </p:sp>
      <p:sp>
        <p:nvSpPr>
          <p:cNvPr id="59" name="TextBox 58"/>
          <p:cNvSpPr txBox="1"/>
          <p:nvPr/>
        </p:nvSpPr>
        <p:spPr>
          <a:xfrm>
            <a:off x="640080" y="495604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YAML</a:t>
            </a:r>
          </a:p>
        </p:txBody>
      </p:sp>
      <p:sp>
        <p:nvSpPr>
          <p:cNvPr id="60" name="TextBox 59"/>
          <p:cNvSpPr txBox="1"/>
          <p:nvPr/>
        </p:nvSpPr>
        <p:spPr>
          <a:xfrm>
            <a:off x="4399745" y="495604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97</a:t>
            </a:r>
          </a:p>
        </p:txBody>
      </p:sp>
      <p:sp>
        <p:nvSpPr>
          <p:cNvPr id="61" name="TextBox 60"/>
          <p:cNvSpPr txBox="1"/>
          <p:nvPr/>
        </p:nvSpPr>
        <p:spPr>
          <a:xfrm>
            <a:off x="5726686"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6,278</a:t>
            </a:r>
          </a:p>
        </p:txBody>
      </p:sp>
      <p:sp>
        <p:nvSpPr>
          <p:cNvPr id="62" name="TextBox 61"/>
          <p:cNvSpPr txBox="1"/>
          <p:nvPr/>
        </p:nvSpPr>
        <p:spPr>
          <a:xfrm>
            <a:off x="7717097"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2,320</a:t>
            </a:r>
          </a:p>
        </p:txBody>
      </p:sp>
      <p:sp>
        <p:nvSpPr>
          <p:cNvPr id="63" name="TextBox 6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0.5%</a:t>
            </a:r>
          </a:p>
        </p:txBody>
      </p:sp>
      <p:sp>
        <p:nvSpPr>
          <p:cNvPr id="64" name="Rectangle 6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640080" y="526237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HTML</a:t>
            </a:r>
          </a:p>
        </p:txBody>
      </p:sp>
      <p:sp>
        <p:nvSpPr>
          <p:cNvPr id="66" name="TextBox 65"/>
          <p:cNvSpPr txBox="1"/>
          <p:nvPr/>
        </p:nvSpPr>
        <p:spPr>
          <a:xfrm>
            <a:off x="4399745" y="526237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7</a:t>
            </a:r>
          </a:p>
        </p:txBody>
      </p:sp>
      <p:sp>
        <p:nvSpPr>
          <p:cNvPr id="67" name="TextBox 66"/>
          <p:cNvSpPr txBox="1"/>
          <p:nvPr/>
        </p:nvSpPr>
        <p:spPr>
          <a:xfrm>
            <a:off x="5726686"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1,504</a:t>
            </a:r>
          </a:p>
        </p:txBody>
      </p:sp>
      <p:sp>
        <p:nvSpPr>
          <p:cNvPr id="68" name="TextBox 67"/>
          <p:cNvSpPr txBox="1"/>
          <p:nvPr/>
        </p:nvSpPr>
        <p:spPr>
          <a:xfrm>
            <a:off x="7717097"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1,446</a:t>
            </a:r>
          </a:p>
        </p:txBody>
      </p:sp>
      <p:sp>
        <p:nvSpPr>
          <p:cNvPr id="69" name="TextBox 68"/>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0" name="TextBox 69"/>
          <p:cNvSpPr txBox="1"/>
          <p:nvPr/>
        </p:nvSpPr>
        <p:spPr>
          <a:xfrm>
            <a:off x="640080" y="556869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Prompt template</a:t>
            </a:r>
          </a:p>
        </p:txBody>
      </p:sp>
      <p:sp>
        <p:nvSpPr>
          <p:cNvPr id="71" name="TextBox 70"/>
          <p:cNvSpPr txBox="1"/>
          <p:nvPr/>
        </p:nvSpPr>
        <p:spPr>
          <a:xfrm>
            <a:off x="4399745" y="556869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a:t>
            </a:r>
          </a:p>
        </p:txBody>
      </p:sp>
      <p:sp>
        <p:nvSpPr>
          <p:cNvPr id="72" name="TextBox 71"/>
          <p:cNvSpPr txBox="1"/>
          <p:nvPr/>
        </p:nvSpPr>
        <p:spPr>
          <a:xfrm>
            <a:off x="5726686"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1,532</a:t>
            </a:r>
          </a:p>
        </p:txBody>
      </p:sp>
      <p:sp>
        <p:nvSpPr>
          <p:cNvPr id="73" name="TextBox 72"/>
          <p:cNvSpPr txBox="1"/>
          <p:nvPr/>
        </p:nvSpPr>
        <p:spPr>
          <a:xfrm>
            <a:off x="7717097"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1,388</a:t>
            </a:r>
          </a:p>
        </p:txBody>
      </p:sp>
      <p:sp>
        <p:nvSpPr>
          <p:cNvPr id="74" name="TextBox 73"/>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5" name="Rectangle 74"/>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40080" y="587501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a:t>
            </a:r>
          </a:p>
        </p:txBody>
      </p:sp>
      <p:sp>
        <p:nvSpPr>
          <p:cNvPr id="77" name="TextBox 76"/>
          <p:cNvSpPr txBox="1"/>
          <p:nvPr/>
        </p:nvSpPr>
        <p:spPr>
          <a:xfrm>
            <a:off x="4399745" y="587501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a:t>
            </a:r>
          </a:p>
        </p:txBody>
      </p:sp>
      <p:sp>
        <p:nvSpPr>
          <p:cNvPr id="78" name="TextBox 77"/>
          <p:cNvSpPr txBox="1"/>
          <p:nvPr/>
        </p:nvSpPr>
        <p:spPr>
          <a:xfrm>
            <a:off x="5726686"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1,556</a:t>
            </a:r>
          </a:p>
        </p:txBody>
      </p:sp>
      <p:sp>
        <p:nvSpPr>
          <p:cNvPr id="79" name="TextBox 78"/>
          <p:cNvSpPr txBox="1"/>
          <p:nvPr/>
        </p:nvSpPr>
        <p:spPr>
          <a:xfrm>
            <a:off x="7717097"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1,229</a:t>
            </a:r>
          </a:p>
        </p:txBody>
      </p:sp>
      <p:sp>
        <p:nvSpPr>
          <p:cNvPr id="80" name="TextBox 79"/>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cxnSp>
        <p:nvCxnSpPr>
          <p:cNvPr id="81" name="Connector 8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83" name="TextBox 8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130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Batch</a:t>
            </a:r>
          </a:p>
        </p:txBody>
      </p:sp>
      <p:sp>
        <p:nvSpPr>
          <p:cNvPr id="16" name="TextBox 15"/>
          <p:cNvSpPr txBox="1"/>
          <p:nvPr/>
        </p:nvSpPr>
        <p:spPr>
          <a:xfrm>
            <a:off x="4399745" y="250545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17" name="TextBox 16"/>
          <p:cNvSpPr txBox="1"/>
          <p:nvPr/>
        </p:nvSpPr>
        <p:spPr>
          <a:xfrm>
            <a:off x="5726686"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1,027</a:t>
            </a:r>
          </a:p>
        </p:txBody>
      </p:sp>
      <p:sp>
        <p:nvSpPr>
          <p:cNvPr id="18" name="TextBox 17"/>
          <p:cNvSpPr txBox="1"/>
          <p:nvPr/>
        </p:nvSpPr>
        <p:spPr>
          <a:xfrm>
            <a:off x="7717097"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883</a:t>
            </a:r>
          </a:p>
        </p:txBody>
      </p:sp>
      <p:sp>
        <p:nvSpPr>
          <p:cNvPr id="19" name="TextBox 18"/>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0.2%</a:t>
            </a:r>
          </a:p>
        </p:txBody>
      </p:sp>
      <p:sp>
        <p:nvSpPr>
          <p:cNvPr id="20" name="Rectangle 19"/>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8036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 Flow</a:t>
            </a:r>
          </a:p>
        </p:txBody>
      </p:sp>
      <p:sp>
        <p:nvSpPr>
          <p:cNvPr id="22" name="TextBox 21"/>
          <p:cNvSpPr txBox="1"/>
          <p:nvPr/>
        </p:nvSpPr>
        <p:spPr>
          <a:xfrm>
            <a:off x="4399745" y="288036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23" name="TextBox 22"/>
          <p:cNvSpPr txBox="1"/>
          <p:nvPr/>
        </p:nvSpPr>
        <p:spPr>
          <a:xfrm>
            <a:off x="5726686"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24" name="TextBox 23"/>
          <p:cNvSpPr txBox="1"/>
          <p:nvPr/>
        </p:nvSpPr>
        <p:spPr>
          <a:xfrm>
            <a:off x="7717097"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25" name="TextBox 24"/>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0.2%</a:t>
            </a:r>
          </a:p>
        </p:txBody>
      </p:sp>
      <p:sp>
        <p:nvSpPr>
          <p:cNvPr id="26" name="TextBox 25"/>
          <p:cNvSpPr txBox="1"/>
          <p:nvPr/>
        </p:nvSpPr>
        <p:spPr>
          <a:xfrm>
            <a:off x="640080" y="325526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SVG</a:t>
            </a:r>
          </a:p>
        </p:txBody>
      </p:sp>
      <p:sp>
        <p:nvSpPr>
          <p:cNvPr id="27" name="TextBox 26"/>
          <p:cNvSpPr txBox="1"/>
          <p:nvPr/>
        </p:nvSpPr>
        <p:spPr>
          <a:xfrm>
            <a:off x="4399745" y="325526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82</a:t>
            </a:r>
          </a:p>
        </p:txBody>
      </p:sp>
      <p:sp>
        <p:nvSpPr>
          <p:cNvPr id="28" name="TextBox 27"/>
          <p:cNvSpPr txBox="1"/>
          <p:nvPr/>
        </p:nvSpPr>
        <p:spPr>
          <a:xfrm>
            <a:off x="5726686"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460</a:t>
            </a:r>
          </a:p>
        </p:txBody>
      </p:sp>
      <p:sp>
        <p:nvSpPr>
          <p:cNvPr id="29" name="TextBox 28"/>
          <p:cNvSpPr txBox="1"/>
          <p:nvPr/>
        </p:nvSpPr>
        <p:spPr>
          <a:xfrm>
            <a:off x="7717097"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443</a:t>
            </a:r>
          </a:p>
        </p:txBody>
      </p:sp>
      <p:sp>
        <p:nvSpPr>
          <p:cNvPr id="30" name="TextBox 29"/>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31" name="Rectangle 30"/>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630168"/>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
            </a:r>
          </a:p>
        </p:txBody>
      </p:sp>
      <p:sp>
        <p:nvSpPr>
          <p:cNvPr id="33" name="TextBox 32"/>
          <p:cNvSpPr txBox="1"/>
          <p:nvPr/>
        </p:nvSpPr>
        <p:spPr>
          <a:xfrm>
            <a:off x="4399745" y="3630168"/>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a:t>
            </a:r>
          </a:p>
        </p:txBody>
      </p:sp>
      <p:sp>
        <p:nvSpPr>
          <p:cNvPr id="34" name="TextBox 33"/>
          <p:cNvSpPr txBox="1"/>
          <p:nvPr/>
        </p:nvSpPr>
        <p:spPr>
          <a:xfrm>
            <a:off x="5726686"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87</a:t>
            </a:r>
          </a:p>
        </p:txBody>
      </p:sp>
      <p:sp>
        <p:nvSpPr>
          <p:cNvPr id="35" name="TextBox 34"/>
          <p:cNvSpPr txBox="1"/>
          <p:nvPr/>
        </p:nvSpPr>
        <p:spPr>
          <a:xfrm>
            <a:off x="7717097"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50</a:t>
            </a:r>
          </a:p>
        </p:txBody>
      </p:sp>
      <p:sp>
        <p:nvSpPr>
          <p:cNvPr id="36" name="TextBox 3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37" name="TextBox 36"/>
          <p:cNvSpPr txBox="1"/>
          <p:nvPr/>
        </p:nvSpPr>
        <p:spPr>
          <a:xfrm>
            <a:off x="640080" y="4005072"/>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Prompt flow</a:t>
            </a:r>
          </a:p>
        </p:txBody>
      </p:sp>
      <p:sp>
        <p:nvSpPr>
          <p:cNvPr id="38" name="TextBox 37"/>
          <p:cNvSpPr txBox="1"/>
          <p:nvPr/>
        </p:nvSpPr>
        <p:spPr>
          <a:xfrm>
            <a:off x="4399745" y="4005072"/>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39" name="TextBox 38"/>
          <p:cNvSpPr txBox="1"/>
          <p:nvPr/>
        </p:nvSpPr>
        <p:spPr>
          <a:xfrm>
            <a:off x="5726686"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a:t>
            </a:r>
          </a:p>
        </p:txBody>
      </p:sp>
      <p:sp>
        <p:nvSpPr>
          <p:cNvPr id="40" name="TextBox 39"/>
          <p:cNvSpPr txBox="1"/>
          <p:nvPr/>
        </p:nvSpPr>
        <p:spPr>
          <a:xfrm>
            <a:off x="7717097"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a:t>
            </a:r>
          </a:p>
        </p:txBody>
      </p:sp>
      <p:sp>
        <p:nvSpPr>
          <p:cNvPr id="41" name="TextBox 40"/>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2" name="Rectangle 41"/>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37997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Protocol Buffers</a:t>
            </a:r>
          </a:p>
        </p:txBody>
      </p:sp>
      <p:sp>
        <p:nvSpPr>
          <p:cNvPr id="44" name="TextBox 43"/>
          <p:cNvSpPr txBox="1"/>
          <p:nvPr/>
        </p:nvSpPr>
        <p:spPr>
          <a:xfrm>
            <a:off x="4399745" y="437997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45" name="TextBox 44"/>
          <p:cNvSpPr txBox="1"/>
          <p:nvPr/>
        </p:nvSpPr>
        <p:spPr>
          <a:xfrm>
            <a:off x="5726686"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33</a:t>
            </a:r>
          </a:p>
        </p:txBody>
      </p:sp>
      <p:sp>
        <p:nvSpPr>
          <p:cNvPr id="46" name="TextBox 45"/>
          <p:cNvSpPr txBox="1"/>
          <p:nvPr/>
        </p:nvSpPr>
        <p:spPr>
          <a:xfrm>
            <a:off x="7717097"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a:t>
            </a:r>
          </a:p>
        </p:txBody>
      </p:sp>
      <p:sp>
        <p:nvSpPr>
          <p:cNvPr id="47" name="TextBox 46"/>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8" name="TextBox 47"/>
          <p:cNvSpPr txBox="1"/>
          <p:nvPr/>
        </p:nvSpPr>
        <p:spPr>
          <a:xfrm>
            <a:off x="640080" y="475488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INI</a:t>
            </a:r>
          </a:p>
        </p:txBody>
      </p:sp>
      <p:sp>
        <p:nvSpPr>
          <p:cNvPr id="49" name="TextBox 48"/>
          <p:cNvSpPr txBox="1"/>
          <p:nvPr/>
        </p:nvSpPr>
        <p:spPr>
          <a:xfrm>
            <a:off x="4399745" y="475488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50" name="TextBox 49"/>
          <p:cNvSpPr txBox="1"/>
          <p:nvPr/>
        </p:nvSpPr>
        <p:spPr>
          <a:xfrm>
            <a:off x="5726686"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40</a:t>
            </a:r>
          </a:p>
        </p:txBody>
      </p:sp>
      <p:sp>
        <p:nvSpPr>
          <p:cNvPr id="51" name="TextBox 50"/>
          <p:cNvSpPr txBox="1"/>
          <p:nvPr/>
        </p:nvSpPr>
        <p:spPr>
          <a:xfrm>
            <a:off x="7717097"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a:t>
            </a:r>
          </a:p>
        </p:txBody>
      </p:sp>
      <p:sp>
        <p:nvSpPr>
          <p:cNvPr id="52" name="TextBox 51"/>
          <p:cNvSpPr txBox="1"/>
          <p:nvPr/>
        </p:nvSpPr>
        <p:spPr>
          <a:xfrm>
            <a:off x="9707508"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53" name="Rectangle 52"/>
          <p:cNvSpPr/>
          <p:nvPr/>
        </p:nvSpPr>
        <p:spPr>
          <a:xfrm>
            <a:off x="585216" y="5093208"/>
            <a:ext cx="11021263" cy="374904"/>
          </a:xfrm>
          <a:prstGeom prst="rect">
            <a:avLst/>
          </a:prstGeom>
          <a:solidFill>
            <a:srgbClr val="3BBE93">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512978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Total</a:t>
            </a:r>
          </a:p>
        </p:txBody>
      </p:sp>
      <p:sp>
        <p:nvSpPr>
          <p:cNvPr id="55" name="TextBox 54"/>
          <p:cNvSpPr txBox="1"/>
          <p:nvPr/>
        </p:nvSpPr>
        <p:spPr>
          <a:xfrm>
            <a:off x="4399745" y="512978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1,447</a:t>
            </a:r>
          </a:p>
        </p:txBody>
      </p:sp>
      <p:sp>
        <p:nvSpPr>
          <p:cNvPr id="56" name="TextBox 55"/>
          <p:cNvSpPr txBox="1"/>
          <p:nvPr/>
        </p:nvSpPr>
        <p:spPr>
          <a:xfrm>
            <a:off x="5726686"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564,863</a:t>
            </a:r>
          </a:p>
        </p:txBody>
      </p:sp>
      <p:sp>
        <p:nvSpPr>
          <p:cNvPr id="57" name="TextBox 56"/>
          <p:cNvSpPr txBox="1"/>
          <p:nvPr/>
        </p:nvSpPr>
        <p:spPr>
          <a:xfrm>
            <a:off x="7717097"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439,117</a:t>
            </a:r>
          </a:p>
        </p:txBody>
      </p:sp>
      <p:sp>
        <p:nvSpPr>
          <p:cNvPr id="58" name="TextBox 57"/>
          <p:cNvSpPr txBox="1"/>
          <p:nvPr/>
        </p:nvSpPr>
        <p:spPr>
          <a:xfrm>
            <a:off x="9707508"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100.0%</a:t>
            </a:r>
          </a:p>
        </p:txBody>
      </p:sp>
      <p:cxnSp>
        <p:nvCxnSpPr>
          <p:cNvPr id="59" name="Connector 5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61" name="TextBox 6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131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PROVENANCE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Authored and vendored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Third-party frontend libraries are vendored so the application needs no CDN at runtime; their lines are counted separately here so they are never mistaken for Tlamatini's own logic.</a:t>
            </a:r>
          </a:p>
        </p:txBody>
      </p:sp>
      <p:sp>
        <p:nvSpPr>
          <p:cNvPr id="8" name="Rounded Rectangle 7"/>
          <p:cNvSpPr/>
          <p:nvPr/>
        </p:nvSpPr>
        <p:spPr>
          <a:xfrm>
            <a:off x="566928" y="2084831"/>
            <a:ext cx="11057839" cy="1508760"/>
          </a:xfrm>
          <a:prstGeom prst="roundRect">
            <a:avLst>
              <a:gd name="adj" fmla="val 484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538261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PORTION</a:t>
            </a:r>
          </a:p>
        </p:txBody>
      </p:sp>
      <p:sp>
        <p:nvSpPr>
          <p:cNvPr id="11" name="TextBox 10"/>
          <p:cNvSpPr txBox="1"/>
          <p:nvPr/>
        </p:nvSpPr>
        <p:spPr>
          <a:xfrm>
            <a:off x="6168999" y="2121408"/>
            <a:ext cx="2065263"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8380567" y="2121408"/>
            <a:ext cx="317104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 LINES</a:t>
            </a:r>
          </a:p>
        </p:txBody>
      </p:sp>
      <p:sp>
        <p:nvSpPr>
          <p:cNvPr id="13" name="TextBox 12"/>
          <p:cNvSpPr txBox="1"/>
          <p:nvPr/>
        </p:nvSpPr>
        <p:spPr>
          <a:xfrm>
            <a:off x="640080" y="2505456"/>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Tlamatini-authored text (application, agents, docs, tests)</a:t>
            </a:r>
          </a:p>
        </p:txBody>
      </p:sp>
      <p:sp>
        <p:nvSpPr>
          <p:cNvPr id="14" name="TextBox 13"/>
          <p:cNvSpPr txBox="1"/>
          <p:nvPr/>
        </p:nvSpPr>
        <p:spPr>
          <a:xfrm>
            <a:off x="6168999" y="2505456"/>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1,316</a:t>
            </a:r>
          </a:p>
        </p:txBody>
      </p:sp>
      <p:sp>
        <p:nvSpPr>
          <p:cNvPr id="15" name="TextBox 14"/>
          <p:cNvSpPr txBox="1"/>
          <p:nvPr/>
        </p:nvSpPr>
        <p:spPr>
          <a:xfrm>
            <a:off x="8380567" y="2505456"/>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328,070</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Vendored frontend libraries (PDF.js, Bootstrap, jQuery …)</a:t>
            </a:r>
          </a:p>
        </p:txBody>
      </p:sp>
      <p:sp>
        <p:nvSpPr>
          <p:cNvPr id="18" name="TextBox 17"/>
          <p:cNvSpPr txBox="1"/>
          <p:nvPr/>
        </p:nvSpPr>
        <p:spPr>
          <a:xfrm>
            <a:off x="6168999" y="2880360"/>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131</a:t>
            </a:r>
          </a:p>
        </p:txBody>
      </p:sp>
      <p:sp>
        <p:nvSpPr>
          <p:cNvPr id="19" name="TextBox 18"/>
          <p:cNvSpPr txBox="1"/>
          <p:nvPr/>
        </p:nvSpPr>
        <p:spPr>
          <a:xfrm>
            <a:off x="8380567" y="2880360"/>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111,047</a:t>
            </a:r>
          </a:p>
        </p:txBody>
      </p:sp>
      <p:sp>
        <p:nvSpPr>
          <p:cNvPr id="20" name="TextBox 19"/>
          <p:cNvSpPr txBox="1"/>
          <p:nvPr/>
        </p:nvSpPr>
        <p:spPr>
          <a:xfrm>
            <a:off x="640080" y="3255264"/>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All text files</a:t>
            </a:r>
          </a:p>
        </p:txBody>
      </p:sp>
      <p:sp>
        <p:nvSpPr>
          <p:cNvPr id="21" name="TextBox 20"/>
          <p:cNvSpPr txBox="1"/>
          <p:nvPr/>
        </p:nvSpPr>
        <p:spPr>
          <a:xfrm>
            <a:off x="6168999" y="3255264"/>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1,447</a:t>
            </a:r>
          </a:p>
        </p:txBody>
      </p:sp>
      <p:sp>
        <p:nvSpPr>
          <p:cNvPr id="22" name="TextBox 21"/>
          <p:cNvSpPr txBox="1"/>
          <p:nvPr/>
        </p:nvSpPr>
        <p:spPr>
          <a:xfrm>
            <a:off x="8380567" y="3255264"/>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439,117</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132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Tlamatini/agent/views.py</a:t>
            </a:r>
          </a:p>
        </p:txBody>
      </p:sp>
      <p:sp>
        <p:nvSpPr>
          <p:cNvPr id="14" name="TextBox 13"/>
          <p:cNvSpPr txBox="1"/>
          <p:nvPr/>
        </p:nvSpPr>
        <p:spPr>
          <a:xfrm>
            <a:off x="7717097" y="2505456"/>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5" name="TextBox 14"/>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8,799</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Tlamatini/agent/tests.py</a:t>
            </a:r>
          </a:p>
        </p:txBody>
      </p:sp>
      <p:sp>
        <p:nvSpPr>
          <p:cNvPr id="18" name="TextBox 17"/>
          <p:cNvSpPr txBox="1"/>
          <p:nvPr/>
        </p:nvSpPr>
        <p:spPr>
          <a:xfrm>
            <a:off x="7717097" y="281177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9" name="TextBox 18"/>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5,965</a:t>
            </a:r>
          </a:p>
        </p:txBody>
      </p:sp>
      <p:sp>
        <p:nvSpPr>
          <p:cNvPr id="20" name="TextBox 19"/>
          <p:cNvSpPr txBox="1"/>
          <p:nvPr/>
        </p:nvSpPr>
        <p:spPr>
          <a:xfrm>
            <a:off x="640080" y="311810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Tlamatini/agent/agents/flowcreator/flow_catalog.json</a:t>
            </a:r>
          </a:p>
        </p:txBody>
      </p:sp>
      <p:sp>
        <p:nvSpPr>
          <p:cNvPr id="21" name="TextBox 20"/>
          <p:cNvSpPr txBox="1"/>
          <p:nvPr/>
        </p:nvSpPr>
        <p:spPr>
          <a:xfrm>
            <a:off x="7717097" y="311810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JSON</a:t>
            </a:r>
          </a:p>
        </p:txBody>
      </p:sp>
      <p:sp>
        <p:nvSpPr>
          <p:cNvPr id="22" name="TextBox 21"/>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5,212</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docs/claude/recent-fixes.md</a:t>
            </a:r>
          </a:p>
        </p:txBody>
      </p:sp>
      <p:sp>
        <p:nvSpPr>
          <p:cNvPr id="25" name="TextBox 24"/>
          <p:cNvSpPr txBox="1"/>
          <p:nvPr/>
        </p:nvSpPr>
        <p:spPr>
          <a:xfrm>
            <a:off x="7717097" y="342442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26" name="TextBox 2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3,919</a:t>
            </a:r>
          </a:p>
        </p:txBody>
      </p:sp>
      <p:sp>
        <p:nvSpPr>
          <p:cNvPr id="27" name="TextBox 26"/>
          <p:cNvSpPr txBox="1"/>
          <p:nvPr/>
        </p:nvSpPr>
        <p:spPr>
          <a:xfrm>
            <a:off x="640080" y="373075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Tlamatini/agent/agents/latexer/latexer.py</a:t>
            </a:r>
          </a:p>
        </p:txBody>
      </p:sp>
      <p:sp>
        <p:nvSpPr>
          <p:cNvPr id="28" name="TextBox 27"/>
          <p:cNvSpPr txBox="1"/>
          <p:nvPr/>
        </p:nvSpPr>
        <p:spPr>
          <a:xfrm>
            <a:off x="7717097" y="373075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29" name="TextBox 28"/>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3,763</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Tlamatini/agent/tools.py</a:t>
            </a:r>
          </a:p>
        </p:txBody>
      </p:sp>
      <p:sp>
        <p:nvSpPr>
          <p:cNvPr id="32" name="TextBox 31"/>
          <p:cNvSpPr txBox="1"/>
          <p:nvPr/>
        </p:nvSpPr>
        <p:spPr>
          <a:xfrm>
            <a:off x="7717097" y="403707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33" name="TextBox 32"/>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3,373</a:t>
            </a:r>
          </a:p>
        </p:txBody>
      </p:sp>
      <p:sp>
        <p:nvSpPr>
          <p:cNvPr id="34" name="TextBox 33"/>
          <p:cNvSpPr txBox="1"/>
          <p:nvPr/>
        </p:nvSpPr>
        <p:spPr>
          <a:xfrm>
            <a:off x="640080" y="434339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BookOfTlamatini.md</a:t>
            </a:r>
          </a:p>
        </p:txBody>
      </p:sp>
      <p:sp>
        <p:nvSpPr>
          <p:cNvPr id="35" name="TextBox 34"/>
          <p:cNvSpPr txBox="1"/>
          <p:nvPr/>
        </p:nvSpPr>
        <p:spPr>
          <a:xfrm>
            <a:off x="7717097" y="434339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36" name="TextBox 35"/>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3,191</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Tlamatini/agent/mcp_agent.py</a:t>
            </a:r>
          </a:p>
        </p:txBody>
      </p:sp>
      <p:sp>
        <p:nvSpPr>
          <p:cNvPr id="39" name="TextBox 38"/>
          <p:cNvSpPr txBox="1"/>
          <p:nvPr/>
        </p:nvSpPr>
        <p:spPr>
          <a:xfrm>
            <a:off x="7717097" y="464972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0" name="TextBox 39"/>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2,502</a:t>
            </a:r>
          </a:p>
        </p:txBody>
      </p:sp>
      <p:sp>
        <p:nvSpPr>
          <p:cNvPr id="41" name="TextBox 40"/>
          <p:cNvSpPr txBox="1"/>
          <p:nvPr/>
        </p:nvSpPr>
        <p:spPr>
          <a:xfrm>
            <a:off x="640080" y="495604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Tlamatini/agent/agents/flowcreator/agentic_skill.md</a:t>
            </a:r>
          </a:p>
        </p:txBody>
      </p:sp>
      <p:sp>
        <p:nvSpPr>
          <p:cNvPr id="42" name="TextBox 41"/>
          <p:cNvSpPr txBox="1"/>
          <p:nvPr/>
        </p:nvSpPr>
        <p:spPr>
          <a:xfrm>
            <a:off x="7717097" y="495604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43" name="TextBox 4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2,444</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Tlamatini/agent/chat_agent_registry.py</a:t>
            </a:r>
          </a:p>
        </p:txBody>
      </p:sp>
      <p:sp>
        <p:nvSpPr>
          <p:cNvPr id="46" name="TextBox 45"/>
          <p:cNvSpPr txBox="1"/>
          <p:nvPr/>
        </p:nvSpPr>
        <p:spPr>
          <a:xfrm>
            <a:off x="7717097" y="526237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7" name="TextBox 46"/>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2,164</a:t>
            </a:r>
          </a:p>
        </p:txBody>
      </p:sp>
      <p:sp>
        <p:nvSpPr>
          <p:cNvPr id="48" name="TextBox 47"/>
          <p:cNvSpPr txBox="1"/>
          <p:nvPr/>
        </p:nvSpPr>
        <p:spPr>
          <a:xfrm>
            <a:off x="640080" y="556869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Tlamatini/agent/external_mcp_manager.py</a:t>
            </a:r>
          </a:p>
        </p:txBody>
      </p:sp>
      <p:sp>
        <p:nvSpPr>
          <p:cNvPr id="49" name="TextBox 48"/>
          <p:cNvSpPr txBox="1"/>
          <p:nvPr/>
        </p:nvSpPr>
        <p:spPr>
          <a:xfrm>
            <a:off x="7717097" y="556869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50" name="TextBox 49"/>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2,144</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Tlamatini/agent/static/agent/css/agentic_control_panel.css</a:t>
            </a:r>
          </a:p>
        </p:txBody>
      </p:sp>
      <p:sp>
        <p:nvSpPr>
          <p:cNvPr id="53" name="TextBox 52"/>
          <p:cNvSpPr txBox="1"/>
          <p:nvPr/>
        </p:nvSpPr>
        <p:spPr>
          <a:xfrm>
            <a:off x="7717097" y="587501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CSS</a:t>
            </a:r>
          </a:p>
        </p:txBody>
      </p:sp>
      <p:sp>
        <p:nvSpPr>
          <p:cNvPr id="54" name="TextBox 53"/>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2,133</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133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Tlamatini/agent/doc_generation/dossier_content.py</a:t>
            </a:r>
          </a:p>
        </p:txBody>
      </p:sp>
      <p:sp>
        <p:nvSpPr>
          <p:cNvPr id="14" name="TextBox 13"/>
          <p:cNvSpPr txBox="1"/>
          <p:nvPr/>
        </p:nvSpPr>
        <p:spPr>
          <a:xfrm>
            <a:off x="7717097" y="250545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15" name="TextBox 14"/>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2,115</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Tlamatini/agent/static/agent/css/agent_page.css</a:t>
            </a:r>
          </a:p>
        </p:txBody>
      </p:sp>
      <p:sp>
        <p:nvSpPr>
          <p:cNvPr id="18" name="TextBox 17"/>
          <p:cNvSpPr txBox="1"/>
          <p:nvPr/>
        </p:nvSpPr>
        <p:spPr>
          <a:xfrm>
            <a:off x="7717097" y="2880360"/>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CSS</a:t>
            </a:r>
          </a:p>
        </p:txBody>
      </p:sp>
      <p:sp>
        <p:nvSpPr>
          <p:cNvPr id="19" name="TextBox 18"/>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2,021</a:t>
            </a:r>
          </a:p>
        </p:txBody>
      </p:sp>
      <p:sp>
        <p:nvSpPr>
          <p:cNvPr id="20" name="TextBox 19"/>
          <p:cNvSpPr txBox="1"/>
          <p:nvPr/>
        </p:nvSpPr>
        <p:spPr>
          <a:xfrm>
            <a:off x="640080" y="3255264"/>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Tlamatini/agent/static/agent/js/agent_page_chat.js</a:t>
            </a:r>
          </a:p>
        </p:txBody>
      </p:sp>
      <p:sp>
        <p:nvSpPr>
          <p:cNvPr id="21" name="TextBox 20"/>
          <p:cNvSpPr txBox="1"/>
          <p:nvPr/>
        </p:nvSpPr>
        <p:spPr>
          <a:xfrm>
            <a:off x="7717097" y="3255264"/>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22" name="TextBox 21"/>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2,021</a:t>
            </a:r>
          </a:p>
        </p:txBody>
      </p:sp>
      <p:sp>
        <p:nvSpPr>
          <p:cNvPr id="23" name="Rectangle 22"/>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30168"/>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Tlamatini/agent/agents/stm32er/stm32er.py</a:t>
            </a:r>
          </a:p>
        </p:txBody>
      </p:sp>
      <p:sp>
        <p:nvSpPr>
          <p:cNvPr id="25" name="TextBox 24"/>
          <p:cNvSpPr txBox="1"/>
          <p:nvPr/>
        </p:nvSpPr>
        <p:spPr>
          <a:xfrm>
            <a:off x="7717097" y="3630168"/>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26" name="TextBox 2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1,983</a:t>
            </a:r>
          </a:p>
        </p:txBody>
      </p:sp>
      <p:sp>
        <p:nvSpPr>
          <p:cNvPr id="27" name="TextBox 26"/>
          <p:cNvSpPr txBox="1"/>
          <p:nvPr/>
        </p:nvSpPr>
        <p:spPr>
          <a:xfrm>
            <a:off x="640080" y="4005072"/>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docs/changes/2026-10-04-commentary-graphical-redesign.patch</a:t>
            </a:r>
          </a:p>
        </p:txBody>
      </p:sp>
      <p:sp>
        <p:nvSpPr>
          <p:cNvPr id="28" name="TextBox 27"/>
          <p:cNvSpPr txBox="1"/>
          <p:nvPr/>
        </p:nvSpPr>
        <p:spPr>
          <a:xfrm>
            <a:off x="7717097" y="4005072"/>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Other text</a:t>
            </a:r>
          </a:p>
        </p:txBody>
      </p:sp>
      <p:sp>
        <p:nvSpPr>
          <p:cNvPr id="29" name="TextBox 28"/>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1,908</a:t>
            </a:r>
          </a:p>
        </p:txBody>
      </p:sp>
      <p:sp>
        <p:nvSpPr>
          <p:cNvPr id="30" name="Rectangle 29"/>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7997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Tlamatini/agent/consumers.py</a:t>
            </a:r>
          </a:p>
        </p:txBody>
      </p:sp>
      <p:sp>
        <p:nvSpPr>
          <p:cNvPr id="32" name="TextBox 31"/>
          <p:cNvSpPr txBox="1"/>
          <p:nvPr/>
        </p:nvSpPr>
        <p:spPr>
          <a:xfrm>
            <a:off x="7717097" y="437997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33" name="TextBox 32"/>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1,815</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134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4101083"/>
          </a:xfrm>
          <a:prstGeom prst="roundRect">
            <a:avLst>
              <a:gd name="adj" fmla="val 178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113eddc4</a:t>
            </a:r>
          </a:p>
        </p:txBody>
      </p:sp>
      <p:sp>
        <p:nvSpPr>
          <p:cNvPr id="14" name="TextBox 13"/>
          <p:cNvSpPr txBox="1"/>
          <p:nvPr/>
        </p:nvSpPr>
        <p:spPr>
          <a:xfrm>
            <a:off x="1967020" y="2505456"/>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2026-10-10</a:t>
            </a:r>
          </a:p>
        </p:txBody>
      </p:sp>
      <p:sp>
        <p:nvSpPr>
          <p:cNvPr id="15" name="TextBox 14"/>
          <p:cNvSpPr txBox="1"/>
          <p:nvPr/>
        </p:nvSpPr>
        <p:spPr>
          <a:xfrm>
            <a:off x="3515118" y="2505456"/>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Tlamatini's avatar undocking enables resizing the input chat area, and some additional little improvements, by angelahack1</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7460a147</a:t>
            </a:r>
          </a:p>
        </p:txBody>
      </p:sp>
      <p:sp>
        <p:nvSpPr>
          <p:cNvPr id="18" name="TextBox 17"/>
          <p:cNvSpPr txBox="1"/>
          <p:nvPr/>
        </p:nvSpPr>
        <p:spPr>
          <a:xfrm>
            <a:off x="1967020" y="2811779"/>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2026-10-10</a:t>
            </a:r>
          </a:p>
        </p:txBody>
      </p:sp>
      <p:sp>
        <p:nvSpPr>
          <p:cNvPr id="19" name="TextBox 18"/>
          <p:cNvSpPr txBox="1"/>
          <p:nvPr/>
        </p:nvSpPr>
        <p:spPr>
          <a:xfrm>
            <a:off x="3515118" y="2811779"/>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Implementing the About -&gt; Usage dialog, by angelahack1</a:t>
            </a:r>
          </a:p>
        </p:txBody>
      </p:sp>
      <p:sp>
        <p:nvSpPr>
          <p:cNvPr id="20" name="TextBox 19"/>
          <p:cNvSpPr txBox="1"/>
          <p:nvPr/>
        </p:nvSpPr>
        <p:spPr>
          <a:xfrm>
            <a:off x="640080" y="3118103"/>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0e6fc72d</a:t>
            </a:r>
          </a:p>
        </p:txBody>
      </p:sp>
      <p:sp>
        <p:nvSpPr>
          <p:cNvPr id="21" name="TextBox 20"/>
          <p:cNvSpPr txBox="1"/>
          <p:nvPr/>
        </p:nvSpPr>
        <p:spPr>
          <a:xfrm>
            <a:off x="1967020" y="3118103"/>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2026-10-09</a:t>
            </a:r>
          </a:p>
        </p:txBody>
      </p:sp>
      <p:sp>
        <p:nvSpPr>
          <p:cNvPr id="22" name="TextBox 21"/>
          <p:cNvSpPr txBox="1"/>
          <p:nvPr/>
        </p:nvSpPr>
        <p:spPr>
          <a:xfrm>
            <a:off x="3515118" y="3118103"/>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Tlamatini's self-repair Image-Interpreter, by Tlamatini's-AutoBot.</a:t>
            </a:r>
          </a:p>
        </p:txBody>
      </p:sp>
      <p:sp>
        <p:nvSpPr>
          <p:cNvPr id="23" name="Rectangle 22"/>
          <p:cNvSpPr/>
          <p:nvPr/>
        </p:nvSpPr>
        <p:spPr>
          <a:xfrm>
            <a:off x="585216" y="3387851"/>
            <a:ext cx="11021263" cy="4663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4535154b</a:t>
            </a:r>
          </a:p>
        </p:txBody>
      </p:sp>
      <p:sp>
        <p:nvSpPr>
          <p:cNvPr id="25" name="TextBox 24"/>
          <p:cNvSpPr txBox="1"/>
          <p:nvPr/>
        </p:nvSpPr>
        <p:spPr>
          <a:xfrm>
            <a:off x="1967020" y="3424427"/>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2026-10-09</a:t>
            </a:r>
          </a:p>
        </p:txBody>
      </p:sp>
      <p:sp>
        <p:nvSpPr>
          <p:cNvPr id="26" name="TextBox 25"/>
          <p:cNvSpPr txBox="1"/>
          <p:nvPr/>
        </p:nvSpPr>
        <p:spPr>
          <a:xfrm>
            <a:off x="3515118" y="3424427"/>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Labelling v1.77.0 as the CURRENT RELEASE on the PDF and PPTX covers, and saying "Git tag" and "version fallback" in CLAUDE.md, GEMINI.md and Tlamatini.md, by Claude</a:t>
            </a:r>
          </a:p>
        </p:txBody>
      </p:sp>
      <p:sp>
        <p:nvSpPr>
          <p:cNvPr id="27" name="TextBox 26"/>
          <p:cNvSpPr txBox="1"/>
          <p:nvPr/>
        </p:nvSpPr>
        <p:spPr>
          <a:xfrm>
            <a:off x="640080" y="3890772"/>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60503722</a:t>
            </a:r>
          </a:p>
        </p:txBody>
      </p:sp>
      <p:sp>
        <p:nvSpPr>
          <p:cNvPr id="28" name="TextBox 27"/>
          <p:cNvSpPr txBox="1"/>
          <p:nvPr/>
        </p:nvSpPr>
        <p:spPr>
          <a:xfrm>
            <a:off x="1967020" y="3890772"/>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2026-10-09</a:t>
            </a:r>
          </a:p>
        </p:txBody>
      </p:sp>
      <p:sp>
        <p:nvSpPr>
          <p:cNvPr id="29" name="TextBox 28"/>
          <p:cNvSpPr txBox="1"/>
          <p:nvPr/>
        </p:nvSpPr>
        <p:spPr>
          <a:xfrm>
            <a:off x="3515118" y="3890772"/>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Making the PDF and PPTX say plainly that v1.77.0 is the current release, published on GitHub, without the "source tag" wording, and making the native PowerPoint check always measure the deck just written, by Claude</a:t>
            </a:r>
          </a:p>
        </p:txBody>
      </p:sp>
      <p:sp>
        <p:nvSpPr>
          <p:cNvPr id="30" name="Rectangle 29"/>
          <p:cNvSpPr/>
          <p:nvPr/>
        </p:nvSpPr>
        <p:spPr>
          <a:xfrm>
            <a:off x="585216" y="4320540"/>
            <a:ext cx="11021263" cy="4663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57116"/>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2807332a</a:t>
            </a:r>
          </a:p>
        </p:txBody>
      </p:sp>
      <p:sp>
        <p:nvSpPr>
          <p:cNvPr id="32" name="TextBox 31"/>
          <p:cNvSpPr txBox="1"/>
          <p:nvPr/>
        </p:nvSpPr>
        <p:spPr>
          <a:xfrm>
            <a:off x="1967020" y="4357116"/>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2026-10-09</a:t>
            </a:r>
          </a:p>
        </p:txBody>
      </p:sp>
      <p:sp>
        <p:nvSpPr>
          <p:cNvPr id="33" name="TextBox 32"/>
          <p:cNvSpPr txBox="1"/>
          <p:nvPr/>
        </p:nvSpPr>
        <p:spPr>
          <a:xfrm>
            <a:off x="3515118" y="4357116"/>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Making the PDF and PPTX dossier state v1.77.0 as the current release, with a TLAMATINI_RELEASE_TAG setting for dossiers made before the release is published, by Claude</a:t>
            </a:r>
          </a:p>
        </p:txBody>
      </p:sp>
      <p:sp>
        <p:nvSpPr>
          <p:cNvPr id="34" name="TextBox 33"/>
          <p:cNvSpPr txBox="1"/>
          <p:nvPr/>
        </p:nvSpPr>
        <p:spPr>
          <a:xfrm>
            <a:off x="640080" y="4823459"/>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a0338cb8</a:t>
            </a:r>
          </a:p>
        </p:txBody>
      </p:sp>
      <p:sp>
        <p:nvSpPr>
          <p:cNvPr id="35" name="TextBox 34"/>
          <p:cNvSpPr txBox="1"/>
          <p:nvPr/>
        </p:nvSpPr>
        <p:spPr>
          <a:xfrm>
            <a:off x="1967020" y="4823459"/>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2026-10-09</a:t>
            </a:r>
          </a:p>
        </p:txBody>
      </p:sp>
      <p:sp>
        <p:nvSpPr>
          <p:cNvPr id="36" name="TextBox 35"/>
          <p:cNvSpPr txBox="1"/>
          <p:nvPr/>
        </p:nvSpPr>
        <p:spPr>
          <a:xfrm>
            <a:off x="3515118" y="4823459"/>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Pointing the project's Tlamatini MCP server at this repository instead of the old C:\Development\Tlamatini copy, so the mcp__tlamatini__* tools run the definitive code, by Claude</a:t>
            </a:r>
          </a:p>
        </p:txBody>
      </p:sp>
      <p:sp>
        <p:nvSpPr>
          <p:cNvPr id="37" name="Rectangle 36"/>
          <p:cNvSpPr/>
          <p:nvPr/>
        </p:nvSpPr>
        <p:spPr>
          <a:xfrm>
            <a:off x="585216" y="5253227"/>
            <a:ext cx="11021263" cy="4663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289803"/>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860e1674</a:t>
            </a:r>
          </a:p>
        </p:txBody>
      </p:sp>
      <p:sp>
        <p:nvSpPr>
          <p:cNvPr id="39" name="TextBox 38"/>
          <p:cNvSpPr txBox="1"/>
          <p:nvPr/>
        </p:nvSpPr>
        <p:spPr>
          <a:xfrm>
            <a:off x="1967020" y="5289803"/>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2026-10-09</a:t>
            </a:r>
          </a:p>
        </p:txBody>
      </p:sp>
      <p:sp>
        <p:nvSpPr>
          <p:cNvPr id="40" name="TextBox 39"/>
          <p:cNvSpPr txBox="1"/>
          <p:nvPr/>
        </p:nvSpPr>
        <p:spPr>
          <a:xfrm>
            <a:off x="3515118" y="5289803"/>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Making Executer report its forked window truthfully: Windows Terminal's hidden helper is no longer mistaken for the console, and the false "another window station" message is gone, by Claude</a:t>
            </a:r>
          </a:p>
        </p:txBody>
      </p:sp>
      <p:sp>
        <p:nvSpPr>
          <p:cNvPr id="41" name="TextBox 40"/>
          <p:cNvSpPr txBox="1"/>
          <p:nvPr/>
        </p:nvSpPr>
        <p:spPr>
          <a:xfrm>
            <a:off x="640080" y="5756147"/>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1692af4b</a:t>
            </a:r>
          </a:p>
        </p:txBody>
      </p:sp>
      <p:sp>
        <p:nvSpPr>
          <p:cNvPr id="42" name="TextBox 41"/>
          <p:cNvSpPr txBox="1"/>
          <p:nvPr/>
        </p:nvSpPr>
        <p:spPr>
          <a:xfrm>
            <a:off x="1967020" y="5756147"/>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2026-10-09</a:t>
            </a:r>
          </a:p>
        </p:txBody>
      </p:sp>
      <p:sp>
        <p:nvSpPr>
          <p:cNvPr id="43" name="TextBox 42"/>
          <p:cNvSpPr txBox="1"/>
          <p:nvPr/>
        </p:nvSpPr>
        <p:spPr>
          <a:xfrm>
            <a:off x="3515118" y="5756147"/>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Marking v1.77.0 as published on GitHub on 2026-10-09 (marked Latest, delivered by self-update) everywhere in the markdown documentation, with v1.76.0 as the release it replaces, by Claude</a:t>
            </a:r>
          </a:p>
        </p:txBody>
      </p:sp>
      <p:cxnSp>
        <p:nvCxnSpPr>
          <p:cNvPr id="44" name="Connector 4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46" name="TextBox 4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135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2880360"/>
          </a:xfrm>
          <a:prstGeom prst="roundRect">
            <a:avLst>
              <a:gd name="adj" fmla="val 253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323b694d</a:t>
            </a:r>
          </a:p>
        </p:txBody>
      </p:sp>
      <p:sp>
        <p:nvSpPr>
          <p:cNvPr id="14" name="TextBox 13"/>
          <p:cNvSpPr txBox="1"/>
          <p:nvPr/>
        </p:nvSpPr>
        <p:spPr>
          <a:xfrm>
            <a:off x="196702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2026-10-09</a:t>
            </a:r>
          </a:p>
        </p:txBody>
      </p:sp>
      <p:sp>
        <p:nvSpPr>
          <p:cNvPr id="15" name="TextBox 14"/>
          <p:cNvSpPr txBox="1"/>
          <p:nvPr/>
        </p:nvSpPr>
        <p:spPr>
          <a:xfrm>
            <a:off x="3515118" y="2505456"/>
            <a:ext cx="803649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Sweeping the source and docs for v1.77.0: regenerating FlowCreator's catalog so it knows File-Creator append, marking the October 4 work as shipped in v1.76.0, and adding the v1.77.0 page to the PDF and PPTX dossier, by Claude</a:t>
            </a:r>
          </a:p>
        </p:txBody>
      </p:sp>
      <p:sp>
        <p:nvSpPr>
          <p:cNvPr id="16" name="Rectangle 15"/>
          <p:cNvSpPr/>
          <p:nvPr/>
        </p:nvSpPr>
        <p:spPr>
          <a:xfrm>
            <a:off x="585216" y="3300984"/>
            <a:ext cx="11021263" cy="8321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180636"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757a8233</a:t>
            </a:r>
          </a:p>
        </p:txBody>
      </p:sp>
      <p:sp>
        <p:nvSpPr>
          <p:cNvPr id="18" name="TextBox 17"/>
          <p:cNvSpPr txBox="1"/>
          <p:nvPr/>
        </p:nvSpPr>
        <p:spPr>
          <a:xfrm>
            <a:off x="1967020" y="3337560"/>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2026-10-09</a:t>
            </a:r>
          </a:p>
        </p:txBody>
      </p:sp>
      <p:sp>
        <p:nvSpPr>
          <p:cNvPr id="19" name="TextBox 18"/>
          <p:cNvSpPr txBox="1"/>
          <p:nvPr/>
        </p:nvSpPr>
        <p:spPr>
          <a:xfrm>
            <a:off x="3515118" y="3337560"/>
            <a:ext cx="803649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Bumping the markdown documentation to version 1.77.0 (tagged 2026-10-09: first-person chat lines and the uninstaller that keeps Templates/), with v1.76.0 kept as the latest published release until v1.77.0 is published, by Claude</a:t>
            </a:r>
          </a:p>
        </p:txBody>
      </p:sp>
      <p:sp>
        <p:nvSpPr>
          <p:cNvPr id="20" name="TextBox 19"/>
          <p:cNvSpPr txBox="1"/>
          <p:nvPr/>
        </p:nvSpPr>
        <p:spPr>
          <a:xfrm>
            <a:off x="640080" y="4169663"/>
            <a:ext cx="1180636"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052bfe0f</a:t>
            </a:r>
          </a:p>
        </p:txBody>
      </p:sp>
      <p:sp>
        <p:nvSpPr>
          <p:cNvPr id="21" name="TextBox 20"/>
          <p:cNvSpPr txBox="1"/>
          <p:nvPr/>
        </p:nvSpPr>
        <p:spPr>
          <a:xfrm>
            <a:off x="1967020" y="4169663"/>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2026-10-09</a:t>
            </a:r>
          </a:p>
        </p:txBody>
      </p:sp>
      <p:sp>
        <p:nvSpPr>
          <p:cNvPr id="22" name="TextBox 21"/>
          <p:cNvSpPr txBox="1"/>
          <p:nvPr/>
        </p:nvSpPr>
        <p:spPr>
          <a:xfrm>
            <a:off x="3515118" y="4169663"/>
            <a:ext cx="803649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Making Tlamatini speak every fixed chat line in the first person and to the user by name, with the word matchers, the avatar and the Telegram bridge updated to recognise both the new and the old wording</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136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METHOD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these numbers were produced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inventory is reproducible: run the generator again and the same tree yields the same counts.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Scope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Git-tracked file plus unignored working-tree additions; ignored build output, caches and runtime state are excluded.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only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Binary assets such as images, fonts and archives are counted as files, never as lines.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Python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Tokenized: comments, blank lines and module, class and function docstrings are excluded.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languages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Block and line comments are stripped, then non-blank lines are counted.</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private values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Configuration values, credentials and addresses are never reproduced.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Regenerate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python Tlamatini\agent\doc_generation\refresh_project_docs.py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137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APPENDIX</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A</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3950" b="0" i="0">
                <a:solidFill>
                  <a:srgbClr val="F7F2E8"/>
                </a:solidFill>
                <a:latin typeface="Palatino Linotype"/>
              </a:rPr>
              <a:t>The complete tracked file tree</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Every one of the 1,688 files Git tracks, drawn as a tree.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138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1,688 tracked files at commit 113eddc4;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Tlamatini/</a:t>
            </a:r>
          </a:p>
          <a:p>
            <a:pPr algn="l">
              <a:lnSpc>
                <a:spcPct val="100000"/>
              </a:lnSpc>
            </a:pPr>
            <a:r>
              <a:rPr sz="800" b="0" i="0">
                <a:solidFill>
                  <a:srgbClr val="ECE7DC"/>
                </a:solidFill>
                <a:latin typeface="Consolas"/>
              </a:rPr>
              <a:t>├── .gitattributes</a:t>
            </a:r>
          </a:p>
          <a:p>
            <a:pPr algn="l">
              <a:lnSpc>
                <a:spcPct val="100000"/>
              </a:lnSpc>
            </a:pPr>
            <a:r>
              <a:rPr sz="800" b="0" i="0">
                <a:solidFill>
                  <a:srgbClr val="ECE7DC"/>
                </a:solidFill>
                <a:latin typeface="Consolas"/>
              </a:rPr>
              <a:t>├── .gitignore</a:t>
            </a:r>
          </a:p>
          <a:p>
            <a:pPr algn="l">
              <a:lnSpc>
                <a:spcPct val="100000"/>
              </a:lnSpc>
            </a:pPr>
            <a:r>
              <a:rPr sz="800" b="0" i="0">
                <a:solidFill>
                  <a:srgbClr val="ECE7DC"/>
                </a:solidFill>
                <a:latin typeface="Consolas"/>
              </a:rPr>
              <a:t>├── .mcp.json</a:t>
            </a:r>
          </a:p>
          <a:p>
            <a:pPr algn="l">
              <a:lnSpc>
                <a:spcPct val="100000"/>
              </a:lnSpc>
            </a:pPr>
            <a:r>
              <a:rPr sz="800" b="0" i="0">
                <a:solidFill>
                  <a:srgbClr val="ECE7DC"/>
                </a:solidFill>
                <a:latin typeface="Consolas"/>
              </a:rPr>
              <a:t>├── _acpx_pipeline_demo_report.md</a:t>
            </a:r>
          </a:p>
          <a:p>
            <a:pPr algn="l">
              <a:lnSpc>
                <a:spcPct val="100000"/>
              </a:lnSpc>
            </a:pPr>
            <a:r>
              <a:rPr sz="800" b="0" i="0">
                <a:solidFill>
                  <a:srgbClr val="ECE7DC"/>
                </a:solidFill>
                <a:latin typeface="Consolas"/>
              </a:rPr>
              <a:t>├── ACPX.md</a:t>
            </a:r>
          </a:p>
          <a:p>
            <a:pPr algn="l">
              <a:lnSpc>
                <a:spcPct val="100000"/>
              </a:lnSpc>
            </a:pPr>
            <a:r>
              <a:rPr sz="800" b="0" i="0">
                <a:solidFill>
                  <a:srgbClr val="ECE7DC"/>
                </a:solidFill>
                <a:latin typeface="Consolas"/>
              </a:rPr>
              <a:t>├── AGENTS.md</a:t>
            </a:r>
          </a:p>
          <a:p>
            <a:pPr algn="l">
              <a:lnSpc>
                <a:spcPct val="100000"/>
              </a:lnSpc>
            </a:pPr>
            <a:r>
              <a:rPr sz="800" b="0" i="0">
                <a:solidFill>
                  <a:srgbClr val="ECE7DC"/>
                </a:solidFill>
                <a:latin typeface="Consolas"/>
              </a:rPr>
              <a:t>├── agents_descriptions.md</a:t>
            </a:r>
          </a:p>
          <a:p>
            <a:pPr algn="l">
              <a:lnSpc>
                <a:spcPct val="100000"/>
              </a:lnSpc>
            </a:pPr>
            <a:r>
              <a:rPr sz="800" b="0" i="0">
                <a:solidFill>
                  <a:srgbClr val="ECE7DC"/>
                </a:solidFill>
                <a:latin typeface="Consolas"/>
              </a:rPr>
              <a:t>├── apply_update.ps1</a:t>
            </a:r>
          </a:p>
          <a:p>
            <a:pPr algn="l">
              <a:lnSpc>
                <a:spcPct val="100000"/>
              </a:lnSpc>
            </a:pPr>
            <a:r>
              <a:rPr sz="800" b="0" i="0">
                <a:solidFill>
                  <a:srgbClr val="ECE7DC"/>
                </a:solidFill>
                <a:latin typeface="Consolas"/>
              </a:rPr>
              <a:t>├── audit_dependencies.py</a:t>
            </a:r>
          </a:p>
          <a:p>
            <a:pPr algn="l">
              <a:lnSpc>
                <a:spcPct val="100000"/>
              </a:lnSpc>
            </a:pPr>
            <a:r>
              <a:rPr sz="800" b="0" i="0">
                <a:solidFill>
                  <a:srgbClr val="ECE7DC"/>
                </a:solidFill>
                <a:latin typeface="Consolas"/>
              </a:rPr>
              <a:t>├── AvatarImprovementByClaude.md</a:t>
            </a:r>
          </a:p>
          <a:p>
            <a:pPr algn="l">
              <a:lnSpc>
                <a:spcPct val="100000"/>
              </a:lnSpc>
            </a:pPr>
            <a:r>
              <a:rPr sz="800" b="0" i="0">
                <a:solidFill>
                  <a:srgbClr val="ECE7DC"/>
                </a:solidFill>
                <a:latin typeface="Consolas"/>
              </a:rPr>
              <a:t>├── backup_db.py</a:t>
            </a:r>
          </a:p>
          <a:p>
            <a:pPr algn="l">
              <a:lnSpc>
                <a:spcPct val="100000"/>
              </a:lnSpc>
            </a:pPr>
            <a:r>
              <a:rPr sz="800" b="0" i="0">
                <a:solidFill>
                  <a:srgbClr val="ECE7DC"/>
                </a:solidFill>
                <a:latin typeface="Consolas"/>
              </a:rPr>
              <a:t>├── BookOfTlamatini.md</a:t>
            </a:r>
          </a:p>
          <a:p>
            <a:pPr algn="l">
              <a:lnSpc>
                <a:spcPct val="100000"/>
              </a:lnSpc>
            </a:pPr>
            <a:r>
              <a:rPr sz="800" b="0" i="0">
                <a:solidFill>
                  <a:srgbClr val="ECE7DC"/>
                </a:solidFill>
                <a:latin typeface="Consolas"/>
              </a:rPr>
              <a:t>├── build.py</a:t>
            </a:r>
          </a:p>
          <a:p>
            <a:pPr algn="l">
              <a:lnSpc>
                <a:spcPct val="100000"/>
              </a:lnSpc>
            </a:pPr>
            <a:r>
              <a:rPr sz="800" b="0" i="0">
                <a:solidFill>
                  <a:srgbClr val="ECE7DC"/>
                </a:solidFill>
                <a:latin typeface="Consolas"/>
              </a:rPr>
              <a:t>├── build_all.cmd</a:t>
            </a:r>
          </a:p>
          <a:p>
            <a:pPr algn="l">
              <a:lnSpc>
                <a:spcPct val="100000"/>
              </a:lnSpc>
            </a:pPr>
            <a:r>
              <a:rPr sz="800" b="0" i="0">
                <a:solidFill>
                  <a:srgbClr val="ECE7DC"/>
                </a:solidFill>
                <a:latin typeface="Consolas"/>
              </a:rPr>
              <a:t>├── build_complete_private_release.py</a:t>
            </a:r>
          </a:p>
          <a:p>
            <a:pPr algn="l">
              <a:lnSpc>
                <a:spcPct val="100000"/>
              </a:lnSpc>
            </a:pPr>
            <a:r>
              <a:rPr sz="800" b="0" i="0">
                <a:solidFill>
                  <a:srgbClr val="ECE7DC"/>
                </a:solidFill>
                <a:latin typeface="Consolas"/>
              </a:rPr>
              <a:t>├── build_complete_public_release.py</a:t>
            </a:r>
          </a:p>
          <a:p>
            <a:pPr algn="l">
              <a:lnSpc>
                <a:spcPct val="100000"/>
              </a:lnSpc>
            </a:pPr>
            <a:r>
              <a:rPr sz="800" b="0" i="0">
                <a:solidFill>
                  <a:srgbClr val="ECE7DC"/>
                </a:solidFill>
                <a:latin typeface="Consolas"/>
              </a:rPr>
              <a:t>├── build_installer.py</a:t>
            </a:r>
          </a:p>
          <a:p>
            <a:pPr algn="l">
              <a:lnSpc>
                <a:spcPct val="100000"/>
              </a:lnSpc>
            </a:pPr>
            <a:r>
              <a:rPr sz="800" b="0" i="0">
                <a:solidFill>
                  <a:srgbClr val="ECE7DC"/>
                </a:solidFill>
                <a:latin typeface="Consolas"/>
              </a:rPr>
              <a:t>├── build_runtime_assets.py</a:t>
            </a:r>
          </a:p>
          <a:p>
            <a:pPr algn="l">
              <a:lnSpc>
                <a:spcPct val="100000"/>
              </a:lnSpc>
            </a:pPr>
            <a:r>
              <a:rPr sz="800" b="0" i="0">
                <a:solidFill>
                  <a:srgbClr val="ECE7DC"/>
                </a:solidFill>
                <a:latin typeface="Consolas"/>
              </a:rPr>
              <a:t>├── build_uninstaller.py</a:t>
            </a:r>
          </a:p>
          <a:p>
            <a:pPr algn="l">
              <a:lnSpc>
                <a:spcPct val="100000"/>
              </a:lnSpc>
            </a:pPr>
            <a:r>
              <a:rPr sz="800" b="0" i="0">
                <a:solidFill>
                  <a:srgbClr val="ECE7DC"/>
                </a:solidFill>
                <a:latin typeface="Consolas"/>
              </a:rPr>
              <a:t>├── check_private_data.py</a:t>
            </a:r>
          </a:p>
          <a:p>
            <a:pPr algn="l">
              <a:lnSpc>
                <a:spcPct val="100000"/>
              </a:lnSpc>
            </a:pPr>
            <a:r>
              <a:rPr sz="800" b="0" i="0">
                <a:solidFill>
                  <a:srgbClr val="ECE7DC"/>
                </a:solidFill>
                <a:latin typeface="Consolas"/>
              </a:rPr>
              <a:t>├── Claude-Desktop-KALI-MCP-Session.md</a:t>
            </a:r>
          </a:p>
          <a:p>
            <a:pPr algn="l">
              <a:lnSpc>
                <a:spcPct val="100000"/>
              </a:lnSpc>
            </a:pPr>
            <a:r>
              <a:rPr sz="800" b="0" i="0">
                <a:solidFill>
                  <a:srgbClr val="ECE7DC"/>
                </a:solidFill>
                <a:latin typeface="Consolas"/>
              </a:rPr>
              <a:t>├── CLAUDE.md</a:t>
            </a:r>
          </a:p>
          <a:p>
            <a:pPr algn="l">
              <a:lnSpc>
                <a:spcPct val="100000"/>
              </a:lnSpc>
            </a:pPr>
            <a:r>
              <a:rPr sz="800" b="0" i="0">
                <a:solidFill>
                  <a:srgbClr val="ECE7DC"/>
                </a:solidFill>
                <a:latin typeface="Consolas"/>
              </a:rPr>
              <a:t>├── Codex2ClaudeRecommendations.md</a:t>
            </a:r>
          </a:p>
          <a:p>
            <a:pPr algn="l">
              <a:lnSpc>
                <a:spcPct val="100000"/>
              </a:lnSpc>
            </a:pPr>
            <a:r>
              <a:rPr sz="800" b="0" i="0">
                <a:solidFill>
                  <a:srgbClr val="ECE7DC"/>
                </a:solidFill>
                <a:latin typeface="Consolas"/>
              </a:rPr>
              <a:t>├── ConfigureModels.png</a:t>
            </a:r>
          </a:p>
          <a:p>
            <a:pPr algn="l">
              <a:lnSpc>
                <a:spcPct val="100000"/>
              </a:lnSpc>
            </a:pPr>
            <a:r>
              <a:rPr sz="800" b="0" i="0">
                <a:solidFill>
                  <a:srgbClr val="ECE7DC"/>
                </a:solidFill>
                <a:latin typeface="Consolas"/>
              </a:rPr>
              <a:t>├── copy_source_assets.py</a:t>
            </a:r>
          </a:p>
          <a:p>
            <a:pPr algn="l">
              <a:lnSpc>
                <a:spcPct val="100000"/>
              </a:lnSpc>
            </a:pPr>
            <a:r>
              <a:rPr sz="800" b="0" i="0">
                <a:solidFill>
                  <a:srgbClr val="ECE7DC"/>
                </a:solidFill>
                <a:latin typeface="Consolas"/>
              </a:rPr>
              <a:t>├── CreateShortcut.json</a:t>
            </a:r>
          </a:p>
          <a:p>
            <a:pPr algn="l">
              <a:lnSpc>
                <a:spcPct val="100000"/>
              </a:lnSpc>
            </a:pPr>
            <a:r>
              <a:rPr sz="800" b="0" i="0">
                <a:solidFill>
                  <a:srgbClr val="ECE7DC"/>
                </a:solidFill>
                <a:latin typeface="Consolas"/>
              </a:rPr>
              <a:t>├── CreateShortcut.ps1</a:t>
            </a:r>
          </a:p>
          <a:p>
            <a:pPr algn="l">
              <a:lnSpc>
                <a:spcPct val="100000"/>
              </a:lnSpc>
            </a:pPr>
            <a:r>
              <a:rPr sz="800" b="0" i="0">
                <a:solidFill>
                  <a:srgbClr val="ECE7DC"/>
                </a:solidFill>
                <a:latin typeface="Consolas"/>
              </a:rPr>
              <a:t>├── DesignOfIncludingMemoryMCPS.txt</a:t>
            </a:r>
          </a:p>
          <a:p>
            <a:pPr algn="l">
              <a:lnSpc>
                <a:spcPct val="100000"/>
              </a:lnSpc>
            </a:pPr>
            <a:r>
              <a:rPr sz="800" b="0" i="0">
                <a:solidFill>
                  <a:srgbClr val="ECE7DC"/>
                </a:solidFill>
                <a:latin typeface="Consolas"/>
              </a:rPr>
              <a:t>├── Discoverier-new-agent.md</a:t>
            </a:r>
          </a:p>
          <a:p>
            <a:pPr algn="l">
              <a:lnSpc>
                <a:spcPct val="100000"/>
              </a:lnSpc>
            </a:pPr>
            <a:r>
              <a:rPr sz="800" b="0" i="0">
                <a:solidFill>
                  <a:srgbClr val="ECE7DC"/>
                </a:solidFill>
                <a:latin typeface="Consolas"/>
              </a:rPr>
              <a:t>├── eslint.config.mjs</a:t>
            </a:r>
          </a:p>
          <a:p>
            <a:pPr algn="l">
              <a:lnSpc>
                <a:spcPct val="100000"/>
              </a:lnSpc>
            </a:pPr>
            <a:r>
              <a:rPr sz="800" b="0" i="0">
                <a:solidFill>
                  <a:srgbClr val="ECE7DC"/>
                </a:solidFill>
                <a:latin typeface="Consolas"/>
              </a:rPr>
              <a:t>├── example_of_prompt_to_make_de-compresser_agent.txt</a:t>
            </a:r>
          </a:p>
          <a:p>
            <a:pPr algn="l">
              <a:lnSpc>
                <a:spcPct val="100000"/>
              </a:lnSpc>
            </a:pPr>
            <a:r>
              <a:rPr sz="800" b="0" i="0">
                <a:solidFill>
                  <a:srgbClr val="ECE7DC"/>
                </a:solidFill>
                <a:latin typeface="Consolas"/>
              </a:rPr>
              <a:t>├── FirstFinalPlanToSpeedUp.md</a:t>
            </a:r>
          </a:p>
          <a:p>
            <a:pPr algn="l">
              <a:lnSpc>
                <a:spcPct val="100000"/>
              </a:lnSpc>
            </a:pPr>
            <a:r>
              <a:rPr sz="800" b="0" i="0">
                <a:solidFill>
                  <a:srgbClr val="ECE7DC"/>
                </a:solidFill>
                <a:latin typeface="Consolas"/>
              </a:rPr>
              <a:t>├── flow_file_associations.ps1</a:t>
            </a:r>
          </a:p>
          <a:p>
            <a:pPr algn="l">
              <a:lnSpc>
                <a:spcPct val="100000"/>
              </a:lnSpc>
            </a:pPr>
            <a:r>
              <a:rPr sz="800" b="0" i="0">
                <a:solidFill>
                  <a:srgbClr val="ECE7DC"/>
                </a:solidFill>
                <a:latin typeface="Consolas"/>
              </a:rPr>
              <a:t>├── freeingport8000.ps1</a:t>
            </a:r>
          </a:p>
          <a:p>
            <a:pPr algn="l">
              <a:lnSpc>
                <a:spcPct val="100000"/>
              </a:lnSpc>
            </a:pPr>
            <a:r>
              <a:rPr sz="800" b="0" i="0">
                <a:solidFill>
                  <a:srgbClr val="ECE7DC"/>
                </a:solidFill>
                <a:latin typeface="Consolas"/>
              </a:rPr>
              <a:t>├── GEMINI.md</a:t>
            </a:r>
          </a:p>
          <a:p>
            <a:pPr algn="l">
              <a:lnSpc>
                <a:spcPct val="100000"/>
              </a:lnSpc>
            </a:pPr>
            <a:r>
              <a:rPr sz="800" b="0" i="0">
                <a:solidFill>
                  <a:srgbClr val="ECE7DC"/>
                </a:solidFill>
                <a:latin typeface="Consolas"/>
              </a:rPr>
              <a:t>├── git_deny_go.py</a:t>
            </a:r>
          </a:p>
          <a:p>
            <a:pPr algn="l">
              <a:lnSpc>
                <a:spcPct val="100000"/>
              </a:lnSpc>
            </a:pPr>
            <a:r>
              <a:rPr sz="800" b="0" i="0">
                <a:solidFill>
                  <a:srgbClr val="ECE7DC"/>
                </a:solidFill>
                <a:latin typeface="Consolas"/>
              </a:rPr>
              <a:t>├── install.py</a:t>
            </a:r>
          </a:p>
          <a:p>
            <a:pPr algn="l">
              <a:lnSpc>
                <a:spcPct val="100000"/>
              </a:lnSpc>
            </a:pPr>
            <a:r>
              <a:rPr sz="800" b="0" i="0">
                <a:solidFill>
                  <a:srgbClr val="ECE7DC"/>
                </a:solidFill>
                <a:latin typeface="Consolas"/>
              </a:rPr>
              <a:t>├── KIMI.md</a:t>
            </a:r>
          </a:p>
          <a:p>
            <a:pPr algn="l">
              <a:lnSpc>
                <a:spcPct val="100000"/>
              </a:lnSpc>
            </a:pPr>
            <a:r>
              <a:rPr sz="800" b="0" i="0">
                <a:solidFill>
                  <a:srgbClr val="ECE7DC"/>
                </a:solidFill>
                <a:latin typeface="Consolas"/>
              </a:rPr>
              <a:t>├── latest-folding-context-session.md</a:t>
            </a:r>
          </a:p>
          <a:p>
            <a:pPr algn="l">
              <a:lnSpc>
                <a:spcPct val="100000"/>
              </a:lnSpc>
            </a:pPr>
            <a:r>
              <a:rPr sz="800" b="0" i="0">
                <a:solidFill>
                  <a:srgbClr val="ECE7DC"/>
                </a:solidFill>
                <a:latin typeface="Consolas"/>
              </a:rPr>
              <a:t>├── LICENSE</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MCPMemoriesFlowCreation.flw</a:t>
            </a:r>
          </a:p>
          <a:p>
            <a:pPr algn="l">
              <a:lnSpc>
                <a:spcPct val="100000"/>
              </a:lnSpc>
            </a:pPr>
            <a:r>
              <a:rPr sz="800" b="0" i="0">
                <a:solidFill>
                  <a:srgbClr val="ECE7DC"/>
                </a:solidFill>
                <a:latin typeface="Consolas"/>
              </a:rPr>
              <a:t>├── MessagingConnectorAssistant_Design.md</a:t>
            </a:r>
          </a:p>
          <a:p>
            <a:pPr algn="l">
              <a:lnSpc>
                <a:spcPct val="100000"/>
              </a:lnSpc>
            </a:pPr>
            <a:r>
              <a:rPr sz="800" b="0" i="0">
                <a:solidFill>
                  <a:srgbClr val="ECE7DC"/>
                </a:solidFill>
                <a:latin typeface="Consolas"/>
              </a:rPr>
              <a:t>├── ollama_credits.py</a:t>
            </a:r>
          </a:p>
          <a:p>
            <a:pPr algn="l">
              <a:lnSpc>
                <a:spcPct val="100000"/>
              </a:lnSpc>
            </a:pPr>
            <a:r>
              <a:rPr sz="800" b="0" i="0">
                <a:solidFill>
                  <a:srgbClr val="ECE7DC"/>
                </a:solidFill>
                <a:latin typeface="Consolas"/>
              </a:rPr>
              <a:t>├── OllamaPricing.png</a:t>
            </a:r>
          </a:p>
          <a:p>
            <a:pPr algn="l">
              <a:lnSpc>
                <a:spcPct val="100000"/>
              </a:lnSpc>
            </a:pPr>
            <a:r>
              <a:rPr sz="800" b="0" i="0">
                <a:solidFill>
                  <a:srgbClr val="ECE7DC"/>
                </a:solidFill>
                <a:latin typeface="Consolas"/>
              </a:rPr>
              <a:t>├── OOB_shift_reaper-and-NAMU-Design.pdf</a:t>
            </a:r>
          </a:p>
          <a:p>
            <a:pPr algn="l">
              <a:lnSpc>
                <a:spcPct val="100000"/>
              </a:lnSpc>
            </a:pPr>
            <a:r>
              <a:rPr sz="800" b="0" i="0">
                <a:solidFill>
                  <a:srgbClr val="ECE7DC"/>
                </a:solidFill>
                <a:latin typeface="Consolas"/>
              </a:rPr>
              <a:t>├── package.json</a:t>
            </a:r>
          </a:p>
          <a:p>
            <a:pPr algn="l">
              <a:lnSpc>
                <a:spcPct val="100000"/>
              </a:lnSpc>
            </a:pPr>
            <a:r>
              <a:rPr sz="800" b="0" i="0">
                <a:solidFill>
                  <a:srgbClr val="ECE7DC"/>
                </a:solidFill>
                <a:latin typeface="Consolas"/>
              </a:rPr>
              <a:t>├── PIVOT_CHANGES.md</a:t>
            </a:r>
          </a:p>
          <a:p>
            <a:pPr algn="l">
              <a:lnSpc>
                <a:spcPct val="100000"/>
              </a:lnSpc>
            </a:pPr>
            <a:r>
              <a:rPr sz="800" b="0" i="0">
                <a:solidFill>
                  <a:srgbClr val="ECE7DC"/>
                </a:solidFill>
                <a:latin typeface="Consolas"/>
              </a:rPr>
              <a:t>├── pnpm-lock.yaml</a:t>
            </a:r>
          </a:p>
          <a:p>
            <a:pPr algn="l">
              <a:lnSpc>
                <a:spcPct val="100000"/>
              </a:lnSpc>
            </a:pPr>
            <a:r>
              <a:rPr sz="800" b="0" i="0">
                <a:solidFill>
                  <a:srgbClr val="ECE7DC"/>
                </a:solidFill>
                <a:latin typeface="Consolas"/>
              </a:rPr>
              <a:t>├── preserved_user_state.json</a:t>
            </a:r>
          </a:p>
          <a:p>
            <a:pPr algn="l">
              <a:lnSpc>
                <a:spcPct val="100000"/>
              </a:lnSpc>
            </a:pPr>
            <a:r>
              <a:rPr sz="800" b="0" i="0">
                <a:solidFill>
                  <a:srgbClr val="ECE7DC"/>
                </a:solidFill>
                <a:latin typeface="Consolas"/>
              </a:rPr>
              <a:t>├── private_targets.example.json</a:t>
            </a:r>
          </a:p>
          <a:p>
            <a:pPr algn="l">
              <a:lnSpc>
                <a:spcPct val="100000"/>
              </a:lnSpc>
            </a:pPr>
            <a:r>
              <a:rPr sz="800" b="0" i="0">
                <a:solidFill>
                  <a:srgbClr val="ECE7DC"/>
                </a:solidFill>
                <a:latin typeface="Consolas"/>
              </a:rPr>
              <a:t>├── PromptDesigner.jpg</a:t>
            </a:r>
          </a:p>
          <a:p>
            <a:pPr algn="l">
              <a:lnSpc>
                <a:spcPct val="100000"/>
              </a:lnSpc>
            </a:pPr>
            <a:r>
              <a:rPr sz="800" b="0" i="0">
                <a:solidFill>
                  <a:srgbClr val="ECE7DC"/>
                </a:solidFill>
                <a:latin typeface="Consolas"/>
              </a:rPr>
              <a:t>├── README.md</a:t>
            </a:r>
          </a:p>
          <a:p>
            <a:pPr algn="l">
              <a:lnSpc>
                <a:spcPct val="100000"/>
              </a:lnSpc>
            </a:pPr>
            <a:r>
              <a:rPr sz="800" b="0" i="0">
                <a:solidFill>
                  <a:srgbClr val="ECE7DC"/>
                </a:solidFill>
                <a:latin typeface="Consolas"/>
              </a:rPr>
              <a:t>├── regen_secrets.py</a:t>
            </a:r>
          </a:p>
          <a:p>
            <a:pPr algn="l">
              <a:lnSpc>
                <a:spcPct val="100000"/>
              </a:lnSpc>
            </a:pPr>
            <a:r>
              <a:rPr sz="800" b="0" i="0">
                <a:solidFill>
                  <a:srgbClr val="ECE7DC"/>
                </a:solidFill>
                <a:latin typeface="Consolas"/>
              </a:rPr>
              <a:t>├── register_flw.ps1</a:t>
            </a:r>
          </a:p>
          <a:p>
            <a:pPr algn="l">
              <a:lnSpc>
                <a:spcPct val="100000"/>
              </a:lnSpc>
            </a:pPr>
            <a:r>
              <a:rPr sz="800" b="0" i="0">
                <a:solidFill>
                  <a:srgbClr val="ECE7DC"/>
                </a:solidFill>
                <a:latin typeface="Consolas"/>
              </a:rPr>
              <a:t>├── register_fpmt.ps1</a:t>
            </a:r>
          </a:p>
          <a:p>
            <a:pPr algn="l">
              <a:lnSpc>
                <a:spcPct val="100000"/>
              </a:lnSpc>
            </a:pPr>
            <a:r>
              <a:rPr sz="800" b="0" i="0">
                <a:solidFill>
                  <a:srgbClr val="ECE7DC"/>
                </a:solidFill>
                <a:latin typeface="Consolas"/>
              </a:rPr>
              <a:t>├── RemoveShortcut.ps1</a:t>
            </a:r>
          </a:p>
          <a:p>
            <a:pPr algn="l">
              <a:lnSpc>
                <a:spcPct val="100000"/>
              </a:lnSpc>
            </a:pPr>
            <a:r>
              <a:rPr sz="800" b="0" i="0">
                <a:solidFill>
                  <a:srgbClr val="ECE7DC"/>
                </a:solidFill>
                <a:latin typeface="Consolas"/>
              </a:rPr>
              <a:t>├── requirements-esphome.txt</a:t>
            </a:r>
          </a:p>
          <a:p>
            <a:pPr algn="l">
              <a:lnSpc>
                <a:spcPct val="100000"/>
              </a:lnSpc>
            </a:pPr>
            <a:r>
              <a:rPr sz="800" b="0" i="0">
                <a:solidFill>
                  <a:srgbClr val="ECE7DC"/>
                </a:solidFill>
                <a:latin typeface="Consolas"/>
              </a:rPr>
              <a:t>├── requirements.txt</a:t>
            </a:r>
          </a:p>
          <a:p>
            <a:pPr algn="l">
              <a:lnSpc>
                <a:spcPct val="100000"/>
              </a:lnSpc>
            </a:pPr>
            <a:r>
              <a:rPr sz="800" b="0" i="0">
                <a:solidFill>
                  <a:srgbClr val="ECE7DC"/>
                </a:solidFill>
                <a:latin typeface="Consolas"/>
              </a:rPr>
              <a:t>├── test-reloaded-session.md</a:t>
            </a:r>
          </a:p>
          <a:p>
            <a:pPr algn="l">
              <a:lnSpc>
                <a:spcPct val="100000"/>
              </a:lnSpc>
            </a:pPr>
            <a:r>
              <a:rPr sz="800" b="0" i="0">
                <a:solidFill>
                  <a:srgbClr val="ECE7DC"/>
                </a:solidFill>
                <a:latin typeface="Consolas"/>
              </a:rPr>
              <a:t>├── test_author_banner.py</a:t>
            </a:r>
          </a:p>
          <a:p>
            <a:pPr algn="l">
              <a:lnSpc>
                <a:spcPct val="100000"/>
              </a:lnSpc>
            </a:pPr>
            <a:r>
              <a:rPr sz="800" b="0" i="0">
                <a:solidFill>
                  <a:srgbClr val="ECE7DC"/>
                </a:solidFill>
                <a:latin typeface="Consolas"/>
              </a:rPr>
              <a:t>├── test_check_private_data.py</a:t>
            </a:r>
          </a:p>
          <a:p>
            <a:pPr algn="l">
              <a:lnSpc>
                <a:spcPct val="100000"/>
              </a:lnSpc>
            </a:pPr>
            <a:r>
              <a:rPr sz="800" b="0" i="0">
                <a:solidFill>
                  <a:srgbClr val="ECE7DC"/>
                </a:solidFill>
                <a:latin typeface="Consolas"/>
              </a:rPr>
              <a:t>├── test_perf_3x_visual.py</a:t>
            </a:r>
          </a:p>
          <a:p>
            <a:pPr algn="l">
              <a:lnSpc>
                <a:spcPct val="100000"/>
              </a:lnSpc>
            </a:pPr>
            <a:r>
              <a:rPr sz="800" b="0" i="0">
                <a:solidFill>
                  <a:srgbClr val="ECE7DC"/>
                </a:solidFill>
                <a:latin typeface="Consolas"/>
              </a:rPr>
              <a:t>├── test_private_data_guard.py</a:t>
            </a:r>
          </a:p>
          <a:p>
            <a:pPr algn="l">
              <a:lnSpc>
                <a:spcPct val="100000"/>
              </a:lnSpc>
            </a:pPr>
            <a:r>
              <a:rPr sz="800" b="0" i="0">
                <a:solidFill>
                  <a:srgbClr val="ECE7DC"/>
                </a:solidFill>
                <a:latin typeface="Consolas"/>
              </a:rPr>
              <a:t>├── TestsVisiblesAndVisibleExecutionFromClaude2Codex.md</a:t>
            </a:r>
          </a:p>
          <a:p>
            <a:pPr algn="l">
              <a:lnSpc>
                <a:spcPct val="100000"/>
              </a:lnSpc>
            </a:pPr>
            <a:r>
              <a:rPr sz="800" b="0" i="0">
                <a:solidFill>
                  <a:srgbClr val="ECE7DC"/>
                </a:solidFill>
                <a:latin typeface="Consolas"/>
              </a:rPr>
              <a:t>├── Tlamatini-Kali-Setup.md</a:t>
            </a:r>
          </a:p>
          <a:p>
            <a:pPr algn="l">
              <a:lnSpc>
                <a:spcPct val="100000"/>
              </a:lnSpc>
            </a:pPr>
            <a:r>
              <a:rPr sz="800" b="0" i="0">
                <a:solidFill>
                  <a:srgbClr val="ECE7DC"/>
                </a:solidFill>
                <a:latin typeface="Consolas"/>
              </a:rPr>
              <a:t>├── Tlamatini.ico</a:t>
            </a:r>
          </a:p>
          <a:p>
            <a:pPr algn="l">
              <a:lnSpc>
                <a:spcPct val="100000"/>
              </a:lnSpc>
            </a:pPr>
            <a:r>
              <a:rPr sz="800" b="0" i="0">
                <a:solidFill>
                  <a:srgbClr val="ECE7DC"/>
                </a:solidFill>
                <a:latin typeface="Consolas"/>
              </a:rPr>
              <a:t>├── Tlamatini.jpg</a:t>
            </a:r>
          </a:p>
          <a:p>
            <a:pPr algn="l">
              <a:lnSpc>
                <a:spcPct val="100000"/>
              </a:lnSpc>
            </a:pPr>
            <a:r>
              <a:rPr sz="800" b="0" i="0">
                <a:solidFill>
                  <a:srgbClr val="ECE7DC"/>
                </a:solidFill>
                <a:latin typeface="Consolas"/>
              </a:rPr>
              <a:t>├── Tlamatini.ps1</a:t>
            </a:r>
          </a:p>
          <a:p>
            <a:pPr algn="l">
              <a:lnSpc>
                <a:spcPct val="100000"/>
              </a:lnSpc>
            </a:pPr>
            <a:r>
              <a:rPr sz="800" b="0" i="0">
                <a:solidFill>
                  <a:srgbClr val="ECE7DC"/>
                </a:solidFill>
                <a:latin typeface="Consolas"/>
              </a:rPr>
              <a:t>├── tlamatini_acpx.py</a:t>
            </a:r>
          </a:p>
          <a:p>
            <a:pPr algn="l">
              <a:lnSpc>
                <a:spcPct val="100000"/>
              </a:lnSpc>
            </a:pPr>
            <a:r>
              <a:rPr sz="800" b="0" i="0">
                <a:solidFill>
                  <a:srgbClr val="ECE7DC"/>
                </a:solidFill>
                <a:latin typeface="Consolas"/>
              </a:rPr>
              <a:t>├── tlamatini_app_summary.pdf</a:t>
            </a:r>
          </a:p>
          <a:p>
            <a:pPr algn="l">
              <a:lnSpc>
                <a:spcPct val="100000"/>
              </a:lnSpc>
            </a:pPr>
            <a:r>
              <a:rPr sz="800" b="0" i="0">
                <a:solidFill>
                  <a:srgbClr val="ECE7DC"/>
                </a:solidFill>
                <a:latin typeface="Consolas"/>
              </a:rPr>
              <a:t>├── Tlamatini_eXtended_Artificial_Intelligence_Humanly_T</a:t>
            </a:r>
          </a:p>
          <a:p>
            <a:pPr algn="l">
              <a:lnSpc>
                <a:spcPct val="100000"/>
              </a:lnSpc>
            </a:pPr>
            <a:r>
              <a:rPr sz="800" b="0" i="0">
                <a:solidFill>
                  <a:srgbClr val="ECE7DC"/>
                </a:solidFill>
                <a:latin typeface="Consolas"/>
              </a:rPr>
              <a:t>│     » empered.pptx</a:t>
            </a:r>
          </a:p>
          <a:p>
            <a:pPr algn="l">
              <a:lnSpc>
                <a:spcPct val="100000"/>
              </a:lnSpc>
            </a:pPr>
            <a:r>
              <a:rPr sz="800" b="0" i="0">
                <a:solidFill>
                  <a:srgbClr val="ECE7DC"/>
                </a:solidFill>
                <a:latin typeface="Consolas"/>
              </a:rPr>
              <a:t>├── TLAMATINI_MCP.md</a:t>
            </a:r>
          </a:p>
          <a:p>
            <a:pPr algn="l">
              <a:lnSpc>
                <a:spcPct val="100000"/>
              </a:lnSpc>
            </a:pPr>
            <a:r>
              <a:rPr sz="800" b="0" i="0">
                <a:solidFill>
                  <a:srgbClr val="ECE7DC"/>
                </a:solidFill>
                <a:latin typeface="Consolas"/>
              </a:rPr>
              <a:t>├── tlamatini_mcp_server.py</a:t>
            </a:r>
          </a:p>
          <a:p>
            <a:pPr algn="l">
              <a:lnSpc>
                <a:spcPct val="100000"/>
              </a:lnSpc>
            </a:pPr>
            <a:r>
              <a:rPr sz="800" b="0" i="0">
                <a:solidFill>
                  <a:srgbClr val="ECE7DC"/>
                </a:solidFill>
                <a:latin typeface="Consolas"/>
              </a:rPr>
              <a:t>├── uncommit-keys.bat</a:t>
            </a:r>
          </a:p>
          <a:p>
            <a:pPr algn="l">
              <a:lnSpc>
                <a:spcPct val="100000"/>
              </a:lnSpc>
            </a:pPr>
            <a:r>
              <a:rPr sz="800" b="0" i="0">
                <a:solidFill>
                  <a:srgbClr val="ECE7DC"/>
                </a:solidFill>
                <a:latin typeface="Consolas"/>
              </a:rPr>
              <a:t>├── uninstall.py</a:t>
            </a:r>
          </a:p>
          <a:p>
            <a:pPr algn="l">
              <a:lnSpc>
                <a:spcPct val="100000"/>
              </a:lnSpc>
            </a:pPr>
            <a:r>
              <a:rPr sz="800" b="0" i="0">
                <a:solidFill>
                  <a:srgbClr val="ECE7DC"/>
                </a:solidFill>
                <a:latin typeface="Consolas"/>
              </a:rPr>
              <a:t>├── uninstall_processes.py</a:t>
            </a:r>
          </a:p>
          <a:p>
            <a:pPr algn="l">
              <a:lnSpc>
                <a:spcPct val="100000"/>
              </a:lnSpc>
            </a:pPr>
            <a:r>
              <a:rPr sz="800" b="0" i="0">
                <a:solidFill>
                  <a:srgbClr val="ECE7DC"/>
                </a:solidFill>
                <a:latin typeface="Consolas"/>
              </a:rPr>
              <a:t>├── unregister_flw.ps1</a:t>
            </a:r>
          </a:p>
          <a:p>
            <a:pPr algn="l">
              <a:lnSpc>
                <a:spcPct val="100000"/>
              </a:lnSpc>
            </a:pPr>
            <a:r>
              <a:rPr sz="800" b="0" i="0">
                <a:solidFill>
                  <a:srgbClr val="ECE7DC"/>
                </a:solidFill>
                <a:latin typeface="Consolas"/>
              </a:rPr>
              <a:t>├── unregister_fpmt.ps1</a:t>
            </a:r>
          </a:p>
          <a:p>
            <a:pPr algn="l">
              <a:lnSpc>
                <a:spcPct val="100000"/>
              </a:lnSpc>
            </a:pPr>
            <a:r>
              <a:rPr sz="800" b="0" i="0">
                <a:solidFill>
                  <a:srgbClr val="ECE7DC"/>
                </a:solidFill>
                <a:latin typeface="Consolas"/>
              </a:rPr>
              <a:t>├── VERSIONING.md</a:t>
            </a:r>
          </a:p>
          <a:p>
            <a:pPr algn="l">
              <a:lnSpc>
                <a:spcPct val="100000"/>
              </a:lnSpc>
            </a:pPr>
            <a:r>
              <a:rPr sz="800" b="0" i="0">
                <a:solidFill>
                  <a:srgbClr val="ECE7DC"/>
                </a:solidFill>
                <a:latin typeface="Consolas"/>
              </a:rPr>
              <a:t>├── versioning.py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.claude/</a:t>
            </a:r>
          </a:p>
          <a:p>
            <a:pPr algn="l">
              <a:lnSpc>
                <a:spcPct val="100000"/>
              </a:lnSpc>
            </a:pPr>
            <a:r>
              <a:rPr sz="800" b="0" i="0">
                <a:solidFill>
                  <a:srgbClr val="ECE7DC"/>
                </a:solidFill>
                <a:latin typeface="Consolas"/>
              </a:rPr>
              <a:t>│   ├── settings.json</a:t>
            </a:r>
          </a:p>
          <a:p>
            <a:pPr algn="l">
              <a:lnSpc>
                <a:spcPct val="100000"/>
              </a:lnSpc>
            </a:pPr>
            <a:r>
              <a:rPr sz="800" b="0" i="0">
                <a:solidFill>
                  <a:srgbClr val="3BBE93"/>
                </a:solidFill>
                <a:latin typeface="Consolas"/>
              </a:rPr>
              <a:t>│   ├── hooks/</a:t>
            </a:r>
          </a:p>
          <a:p>
            <a:pPr algn="l">
              <a:lnSpc>
                <a:spcPct val="100000"/>
              </a:lnSpc>
            </a:pPr>
            <a:r>
              <a:rPr sz="800" b="0" i="0">
                <a:solidFill>
                  <a:srgbClr val="ECE7DC"/>
                </a:solidFill>
                <a:latin typeface="Consolas"/>
              </a:rPr>
              <a:t>│   │   ├── announce_skills.py</a:t>
            </a:r>
          </a:p>
          <a:p>
            <a:pPr algn="l">
              <a:lnSpc>
                <a:spcPct val="100000"/>
              </a:lnSpc>
            </a:pPr>
            <a:r>
              <a:rPr sz="800" b="0" i="0">
                <a:solidFill>
                  <a:srgbClr val="ECE7DC"/>
                </a:solidFill>
                <a:latin typeface="Consolas"/>
              </a:rPr>
              <a:t>│   │   └── test_announce_skills.py</a:t>
            </a:r>
          </a:p>
          <a:p>
            <a:pPr algn="l">
              <a:lnSpc>
                <a:spcPct val="100000"/>
              </a:lnSpc>
            </a:pPr>
            <a:r>
              <a:rPr sz="800" b="0" i="0">
                <a:solidFill>
                  <a:srgbClr val="3BBE93"/>
                </a:solidFill>
                <a:latin typeface="Consolas"/>
              </a:rPr>
              <a:t>│   ├── memory/</a:t>
            </a:r>
          </a:p>
          <a:p>
            <a:pPr algn="l">
              <a:lnSpc>
                <a:spcPct val="100000"/>
              </a:lnSpc>
            </a:pPr>
            <a:r>
              <a:rPr sz="800" b="0" i="0">
                <a:solidFill>
                  <a:srgbClr val="ECE7DC"/>
                </a:solidFill>
                <a:latin typeface="Consolas"/>
              </a:rPr>
              <a:t>│   │   ├── feedback_agent_naming_conventions.md</a:t>
            </a:r>
          </a:p>
          <a:p>
            <a:pPr algn="l">
              <a:lnSpc>
                <a:spcPct val="100000"/>
              </a:lnSpc>
            </a:pPr>
            <a:r>
              <a:rPr sz="800" b="0" i="0">
                <a:solidFill>
                  <a:srgbClr val="ECE7DC"/>
                </a:solidFill>
                <a:latin typeface="Consolas"/>
              </a:rPr>
              <a:t>│   │   ├── feedback_developer_product_boundary.md</a:t>
            </a:r>
          </a:p>
          <a:p>
            <a:pPr algn="l">
              <a:lnSpc>
                <a:spcPct val="100000"/>
              </a:lnSpc>
            </a:pPr>
            <a:r>
              <a:rPr sz="800" b="0" i="0">
                <a:solidFill>
                  <a:srgbClr val="ECE7DC"/>
                </a:solidFill>
                <a:latin typeface="Consolas"/>
              </a:rPr>
              <a:t>│   │   ├── feedback_dont_overbuild_exec_safety.md</a:t>
            </a:r>
          </a:p>
          <a:p>
            <a:pPr algn="l">
              <a:lnSpc>
                <a:spcPct val="100000"/>
              </a:lnSpc>
            </a:pPr>
            <a:r>
              <a:rPr sz="800" b="0" i="0">
                <a:solidFill>
                  <a:srgbClr val="ECE7DC"/>
                </a:solidFill>
                <a:latin typeface="Consolas"/>
              </a:rPr>
              <a:t>│   │   ├── feedback_forbidden_headless_visible_tests.md</a:t>
            </a:r>
          </a:p>
          <a:p>
            <a:pPr algn="l">
              <a:lnSpc>
                <a:spcPct val="100000"/>
              </a:lnSpc>
            </a:pPr>
            <a:r>
              <a:rPr sz="800" b="0" i="0">
                <a:solidFill>
                  <a:srgbClr val="ECE7DC"/>
                </a:solidFill>
                <a:latin typeface="Consolas"/>
              </a:rPr>
              <a:t>│   │   ├── feedback_foreground_visible_windows.md</a:t>
            </a:r>
          </a:p>
          <a:p>
            <a:pPr algn="l">
              <a:lnSpc>
                <a:spcPct val="100000"/>
              </a:lnSpc>
            </a:pPr>
            <a:r>
              <a:rPr sz="800" b="0" i="0">
                <a:solidFill>
                  <a:srgbClr val="ECE7DC"/>
                </a:solidFill>
                <a:latin typeface="Consolas"/>
              </a:rPr>
              <a:t>│   │   ├── feedback_hard_real_scenario_tests.md</a:t>
            </a:r>
          </a:p>
          <a:p>
            <a:pPr algn="l">
              <a:lnSpc>
                <a:spcPct val="100000"/>
              </a:lnSpc>
            </a:pPr>
            <a:r>
              <a:rPr sz="800" b="0" i="0">
                <a:solidFill>
                  <a:srgbClr val="ECE7DC"/>
                </a:solidFill>
                <a:latin typeface="Consolas"/>
              </a:rPr>
              <a:t>│   │   ├── feedback_main_branch_only.md</a:t>
            </a:r>
          </a:p>
          <a:p>
            <a:pPr algn="l">
              <a:lnSpc>
                <a:spcPct val="100000"/>
              </a:lnSpc>
            </a:pPr>
            <a:r>
              <a:rPr sz="800" b="0" i="0">
                <a:solidFill>
                  <a:srgbClr val="ECE7DC"/>
                </a:solidFill>
                <a:latin typeface="Consolas"/>
              </a:rPr>
              <a:t>│   │   ├── feedback_package_json_version_bump.md</a:t>
            </a:r>
          </a:p>
          <a:p>
            <a:pPr algn="l">
              <a:lnSpc>
                <a:spcPct val="100000"/>
              </a:lnSpc>
            </a:pPr>
            <a:r>
              <a:rPr sz="800" b="0" i="0">
                <a:solidFill>
                  <a:srgbClr val="ECE7DC"/>
                </a:solidFill>
                <a:latin typeface="Consolas"/>
              </a:rPr>
              <a:t>│   │   ├── feedback_run_tlamatini_agents_visible.md</a:t>
            </a:r>
          </a:p>
          <a:p>
            <a:pPr algn="l">
              <a:lnSpc>
                <a:spcPct val="100000"/>
              </a:lnSpc>
            </a:pPr>
            <a:r>
              <a:rPr sz="800" b="0" i="0">
                <a:solidFill>
                  <a:srgbClr val="ECE7DC"/>
                </a:solidFill>
                <a:latin typeface="Consolas"/>
              </a:rPr>
              <a:t>│   │   ├── feedback_state_constraints_upfront.md</a:t>
            </a:r>
          </a:p>
          <a:p>
            <a:pPr algn="l">
              <a:lnSpc>
                <a:spcPct val="100000"/>
              </a:lnSpc>
            </a:pPr>
            <a:r>
              <a:rPr sz="800" b="0" i="0">
                <a:solidFill>
                  <a:srgbClr val="ECE7DC"/>
                </a:solidFill>
                <a:latin typeface="Consolas"/>
              </a:rPr>
              <a:t>│   │   ├── feedback_track_changes_pivot_file.md</a:t>
            </a:r>
          </a:p>
          <a:p>
            <a:pPr algn="l">
              <a:lnSpc>
                <a:spcPct val="100000"/>
              </a:lnSpc>
            </a:pPr>
            <a:r>
              <a:rPr sz="800" b="0" i="0">
                <a:solidFill>
                  <a:srgbClr val="ECE7DC"/>
                </a:solidFill>
                <a:latin typeface="Consolas"/>
              </a:rPr>
              <a:t>│   │   ├── feedback_update_agent_docs.md</a:t>
            </a:r>
          </a:p>
          <a:p>
            <a:pPr algn="l">
              <a:lnSpc>
                <a:spcPct val="100000"/>
              </a:lnSpc>
            </a:pPr>
            <a:r>
              <a:rPr sz="800" b="0" i="0">
                <a:solidFill>
                  <a:srgbClr val="ECE7DC"/>
                </a:solidFill>
                <a:latin typeface="Consolas"/>
              </a:rPr>
              <a:t>│   │   ├── feedback_user_owns_git.md</a:t>
            </a:r>
          </a:p>
          <a:p>
            <a:pPr algn="l">
              <a:lnSpc>
                <a:spcPct val="100000"/>
              </a:lnSpc>
            </a:pPr>
            <a:r>
              <a:rPr sz="800" b="0" i="0">
                <a:solidFill>
                  <a:srgbClr val="ECE7DC"/>
                </a:solidFill>
                <a:latin typeface="Consolas"/>
              </a:rPr>
              <a:t>│   │   ├── MEMORY.md</a:t>
            </a:r>
          </a:p>
          <a:p>
            <a:pPr algn="l">
              <a:lnSpc>
                <a:spcPct val="100000"/>
              </a:lnSpc>
            </a:pPr>
            <a:r>
              <a:rPr sz="800" b="0" i="0">
                <a:solidFill>
                  <a:srgbClr val="ECE7DC"/>
                </a:solidFill>
                <a:latin typeface="Consolas"/>
              </a:rPr>
              <a:t>│   │   ├── project_acpx_oneshot_prompt.md</a:t>
            </a:r>
          </a:p>
          <a:p>
            <a:pPr algn="l">
              <a:lnSpc>
                <a:spcPct val="100000"/>
              </a:lnSpc>
            </a:pPr>
            <a:r>
              <a:rPr sz="800" b="0" i="0">
                <a:solidFill>
                  <a:srgbClr val="ECE7DC"/>
                </a:solidFill>
                <a:latin typeface="Consolas"/>
              </a:rPr>
              <a:t>│   │   ├── project_acpx_skills_menu.md</a:t>
            </a:r>
          </a:p>
          <a:p>
            <a:pPr algn="l">
              <a:lnSpc>
                <a:spcPct val="100000"/>
              </a:lnSpc>
            </a:pPr>
            <a:r>
              <a:rPr sz="800" b="0" i="0">
                <a:solidFill>
                  <a:srgbClr val="ECE7DC"/>
                </a:solidFill>
                <a:latin typeface="Consolas"/>
              </a:rPr>
              <a:t>│   │   ├── project_acpx_toggle_skills.md</a:t>
            </a:r>
          </a:p>
          <a:p>
            <a:pPr algn="l">
              <a:lnSpc>
                <a:spcPct val="100000"/>
              </a:lnSpc>
            </a:pPr>
            <a:r>
              <a:rPr sz="800" b="0" i="0">
                <a:solidFill>
                  <a:srgbClr val="ECE7DC"/>
                </a:solidFill>
                <a:latin typeface="Consolas"/>
              </a:rPr>
              <a:t>│   │   ├── project_acpxer_added.md</a:t>
            </a:r>
          </a:p>
          <a:p>
            <a:pPr algn="l">
              <a:lnSpc>
                <a:spcPct val="100000"/>
              </a:lnSpc>
            </a:pPr>
            <a:r>
              <a:rPr sz="800" b="0" i="0">
                <a:solidFill>
                  <a:srgbClr val="ECE7DC"/>
                </a:solidFill>
                <a:latin typeface="Consolas"/>
              </a:rPr>
              <a:t>│   │   ├── project_agent_table_wiped_on_boot.md</a:t>
            </a:r>
          </a:p>
          <a:p>
            <a:pPr algn="l">
              <a:lnSpc>
                <a:spcPct val="100000"/>
              </a:lnSpc>
            </a:pPr>
            <a:r>
              <a:rPr sz="800" b="0" i="0">
                <a:solidFill>
                  <a:srgbClr val="ECE7DC"/>
                </a:solidFill>
                <a:latin typeface="Consolas"/>
              </a:rPr>
              <a:t>│   │   ├── project_arduiner_agent.md</a:t>
            </a:r>
          </a:p>
          <a:p>
            <a:pPr algn="l">
              <a:lnSpc>
                <a:spcPct val="100000"/>
              </a:lnSpc>
            </a:pPr>
            <a:r>
              <a:rPr sz="800" b="0" i="0">
                <a:solidFill>
                  <a:srgbClr val="ECE7DC"/>
                </a:solidFill>
                <a:latin typeface="Consolas"/>
              </a:rPr>
              <a:t>│   │   ├── project_ask_execs_feature.md</a:t>
            </a:r>
          </a:p>
          <a:p>
            <a:pPr algn="l">
              <a:lnSpc>
                <a:spcPct val="100000"/>
              </a:lnSpc>
            </a:pPr>
            <a:r>
              <a:rPr sz="800" b="0" i="0">
                <a:solidFill>
                  <a:srgbClr val="ECE7DC"/>
                </a:solidFill>
                <a:latin typeface="Consolas"/>
              </a:rPr>
              <a:t>│   │   ├── project_audioplayer_agent.md</a:t>
            </a:r>
          </a:p>
          <a:p>
            <a:pPr algn="l">
              <a:lnSpc>
                <a:spcPct val="100000"/>
              </a:lnSpc>
            </a:pPr>
            <a:r>
              <a:rPr sz="800" b="0" i="0">
                <a:solidFill>
                  <a:srgbClr val="ECE7DC"/>
                </a:solidFill>
                <a:latin typeface="Consolas"/>
              </a:rPr>
              <a:t>│   │   ├── project_build_concurrency_guard.md</a:t>
            </a:r>
          </a:p>
          <a:p>
            <a:pPr algn="l">
              <a:lnSpc>
                <a:spcPct val="100000"/>
              </a:lnSpc>
            </a:pPr>
            <a:r>
              <a:rPr sz="800" b="0" i="0">
                <a:solidFill>
                  <a:srgbClr val="ECE7DC"/>
                </a:solidFill>
                <a:latin typeface="Consolas"/>
              </a:rPr>
              <a:t>│   │   ├── project_build_tests_and_installer_enterkey.m</a:t>
            </a:r>
          </a:p>
          <a:p>
            <a:pPr algn="l">
              <a:lnSpc>
                <a:spcPct val="100000"/>
              </a:lnSpc>
            </a:pPr>
            <a:r>
              <a:rPr sz="800" b="0" i="0">
                <a:solidFill>
                  <a:srgbClr val="ECE7DC"/>
                </a:solidFill>
                <a:latin typeface="Consolas"/>
              </a:rPr>
              <a:t>│   │   │     » d</a:t>
            </a:r>
          </a:p>
          <a:p>
            <a:pPr algn="l">
              <a:lnSpc>
                <a:spcPct val="100000"/>
              </a:lnSpc>
            </a:pPr>
            <a:r>
              <a:rPr sz="800" b="0" i="0">
                <a:solidFill>
                  <a:srgbClr val="ECE7DC"/>
                </a:solidFill>
                <a:latin typeface="Consolas"/>
              </a:rPr>
              <a:t>│   │   ├── project_camcorder_agent.md</a:t>
            </a:r>
          </a:p>
          <a:p>
            <a:pPr algn="l">
              <a:lnSpc>
                <a:spcPct val="100000"/>
              </a:lnSpc>
            </a:pPr>
            <a:r>
              <a:rPr sz="800" b="0" i="0">
                <a:solidFill>
                  <a:srgbClr val="ECE7DC"/>
                </a:solidFill>
                <a:latin typeface="Consolas"/>
              </a:rPr>
              <a:t>│   │   ├── project_carried_python_for_agents.md</a:t>
            </a:r>
          </a:p>
          <a:p>
            <a:pPr algn="l">
              <a:lnSpc>
                <a:spcPct val="100000"/>
              </a:lnSpc>
            </a:pPr>
            <a:r>
              <a:rPr sz="800" b="0" i="0">
                <a:solidFill>
                  <a:srgbClr val="ECE7DC"/>
                </a:solidFill>
                <a:latin typeface="Consolas"/>
              </a:rPr>
              <a:t>│   │   ├── project_conjunction_parser_fix.md</a:t>
            </a:r>
          </a:p>
          <a:p>
            <a:pPr algn="l">
              <a:lnSpc>
                <a:spcPct val="100000"/>
              </a:lnSpc>
            </a:pPr>
            <a:r>
              <a:rPr sz="800" b="0" i="0">
                <a:solidFill>
                  <a:srgbClr val="ECE7DC"/>
                </a:solidFill>
                <a:latin typeface="Consolas"/>
              </a:rPr>
              <a:t>│   │   ├── project_daily_chat_test_skill.md</a:t>
            </a:r>
          </a:p>
          <a:p>
            <a:pPr algn="l">
              <a:lnSpc>
                <a:spcPct val="100000"/>
              </a:lnSpc>
            </a:pPr>
            <a:r>
              <a:rPr sz="800" b="0" i="0">
                <a:solidFill>
                  <a:srgbClr val="ECE7DC"/>
                </a:solidFill>
                <a:latin typeface="Consolas"/>
              </a:rPr>
              <a:t>│   │   ├── project_desktop_ui_lifecycle.md</a:t>
            </a:r>
          </a:p>
          <a:p>
            <a:pPr algn="l">
              <a:lnSpc>
                <a:spcPct val="100000"/>
              </a:lnSpc>
            </a:pPr>
            <a:r>
              <a:rPr sz="800" b="0" i="0">
                <a:solidFill>
                  <a:srgbClr val="ECE7DC"/>
                </a:solidFill>
                <a:latin typeface="Consolas"/>
              </a:rPr>
              <a:t>│   │   ├── project_director_virtuoso_demo_prompts.md</a:t>
            </a:r>
          </a:p>
          <a:p>
            <a:pPr algn="l">
              <a:lnSpc>
                <a:spcPct val="100000"/>
              </a:lnSpc>
            </a:pPr>
            <a:r>
              <a:rPr sz="800" b="0" i="0">
                <a:solidFill>
                  <a:srgbClr val="ECE7DC"/>
                </a:solidFill>
                <a:latin typeface="Consolas"/>
              </a:rPr>
              <a:t>│   │   ├── project_doc_refresh_2026_05_06.md</a:t>
            </a:r>
          </a:p>
          <a:p>
            <a:pPr algn="l">
              <a:lnSpc>
                <a:spcPct val="100000"/>
              </a:lnSpc>
            </a:pPr>
            <a:r>
              <a:rPr sz="800" b="0" i="0">
                <a:solidFill>
                  <a:srgbClr val="ECE7DC"/>
                </a:solidFill>
                <a:latin typeface="Consolas"/>
              </a:rPr>
              <a:t>│   │   ├── project_doc_refresh_2026_05_08.md</a:t>
            </a:r>
          </a:p>
          <a:p>
            <a:pPr algn="l">
              <a:lnSpc>
                <a:spcPct val="100000"/>
              </a:lnSpc>
            </a:pPr>
            <a:r>
              <a:rPr sz="800" b="0" i="0">
                <a:solidFill>
                  <a:srgbClr val="ECE7DC"/>
                </a:solidFill>
                <a:latin typeface="Consolas"/>
              </a:rPr>
              <a:t>│   │   ├── project_doc_refresh_2026_05_09.md</a:t>
            </a:r>
          </a:p>
          <a:p>
            <a:pPr algn="l">
              <a:lnSpc>
                <a:spcPct val="100000"/>
              </a:lnSpc>
            </a:pPr>
            <a:r>
              <a:rPr sz="800" b="0" i="0">
                <a:solidFill>
                  <a:srgbClr val="ECE7DC"/>
                </a:solidFill>
                <a:latin typeface="Consolas"/>
              </a:rPr>
              <a:t>│   │   ├── project_eight_fixes_2026_05_07.md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139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2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1,688 tracked files at commit 113eddc4;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project_emailer_recmailer_oneshot.md</a:t>
            </a:r>
          </a:p>
          <a:p>
            <a:pPr algn="l">
              <a:lnSpc>
                <a:spcPct val="100000"/>
              </a:lnSpc>
            </a:pPr>
            <a:r>
              <a:rPr sz="800" b="0" i="0">
                <a:solidFill>
                  <a:srgbClr val="ECE7DC"/>
                </a:solidFill>
                <a:latin typeface="Consolas"/>
              </a:rPr>
              <a:t>│   │   ├── project_embedding_memory_guard.md</a:t>
            </a:r>
          </a:p>
          <a:p>
            <a:pPr algn="l">
              <a:lnSpc>
                <a:spcPct val="100000"/>
              </a:lnSpc>
            </a:pPr>
            <a:r>
              <a:rPr sz="800" b="0" i="0">
                <a:solidFill>
                  <a:srgbClr val="ECE7DC"/>
                </a:solidFill>
                <a:latin typeface="Consolas"/>
              </a:rPr>
              <a:t>│   │   ├── project_esp32er_agent.md</a:t>
            </a:r>
          </a:p>
          <a:p>
            <a:pPr algn="l">
              <a:lnSpc>
                <a:spcPct val="100000"/>
              </a:lnSpc>
            </a:pPr>
            <a:r>
              <a:rPr sz="800" b="0" i="0">
                <a:solidFill>
                  <a:srgbClr val="ECE7DC"/>
                </a:solidFill>
                <a:latin typeface="Consolas"/>
              </a:rPr>
              <a:t>│   │   ├── project_execute_command_bounded_fix.md</a:t>
            </a:r>
          </a:p>
          <a:p>
            <a:pPr algn="l">
              <a:lnSpc>
                <a:spcPct val="100000"/>
              </a:lnSpc>
            </a:pPr>
            <a:r>
              <a:rPr sz="800" b="0" i="0">
                <a:solidFill>
                  <a:srgbClr val="ECE7DC"/>
                </a:solidFill>
                <a:latin typeface="Consolas"/>
              </a:rPr>
              <a:t>│   │   ├── project_execute_file_foreground_fix.md</a:t>
            </a:r>
          </a:p>
          <a:p>
            <a:pPr algn="l">
              <a:lnSpc>
                <a:spcPct val="100000"/>
              </a:lnSpc>
            </a:pPr>
            <a:r>
              <a:rPr sz="800" b="0" i="0">
                <a:solidFill>
                  <a:srgbClr val="ECE7DC"/>
                </a:solidFill>
                <a:latin typeface="Consolas"/>
              </a:rPr>
              <a:t>│   │   ├── project_external_exec_safety_layer.md</a:t>
            </a:r>
          </a:p>
          <a:p>
            <a:pPr algn="l">
              <a:lnSpc>
                <a:spcPct val="100000"/>
              </a:lnSpc>
            </a:pPr>
            <a:r>
              <a:rPr sz="800" b="0" i="0">
                <a:solidFill>
                  <a:srgbClr val="ECE7DC"/>
                </a:solidFill>
                <a:latin typeface="Consolas"/>
              </a:rPr>
              <a:t>│   │   ├── project_flow_compiler_dialog_wins.md</a:t>
            </a:r>
          </a:p>
          <a:p>
            <a:pPr algn="l">
              <a:lnSpc>
                <a:spcPct val="100000"/>
              </a:lnSpc>
            </a:pPr>
            <a:r>
              <a:rPr sz="800" b="0" i="0">
                <a:solidFill>
                  <a:srgbClr val="ECE7DC"/>
                </a:solidFill>
                <a:latin typeface="Consolas"/>
              </a:rPr>
              <a:t>│   │   ├── project_ghost_distinfo_dependency_audit.md</a:t>
            </a:r>
          </a:p>
          <a:p>
            <a:pPr algn="l">
              <a:lnSpc>
                <a:spcPct val="100000"/>
              </a:lnSpc>
            </a:pPr>
            <a:r>
              <a:rPr sz="800" b="0" i="0">
                <a:solidFill>
                  <a:srgbClr val="ECE7DC"/>
                </a:solidFill>
                <a:latin typeface="Consolas"/>
              </a:rPr>
              <a:t>│   │   ├── project_kalier_agent.md</a:t>
            </a:r>
          </a:p>
          <a:p>
            <a:pPr algn="l">
              <a:lnSpc>
                <a:spcPct val="100000"/>
              </a:lnSpc>
            </a:pPr>
            <a:r>
              <a:rPr sz="800" b="0" i="0">
                <a:solidFill>
                  <a:srgbClr val="ECE7DC"/>
                </a:solidFill>
                <a:latin typeface="Consolas"/>
              </a:rPr>
              <a:t>│   │   ├── project_keyboarder_wrapped_2026_05_07.md</a:t>
            </a:r>
          </a:p>
          <a:p>
            <a:pPr algn="l">
              <a:lnSpc>
                <a:spcPct val="100000"/>
              </a:lnSpc>
            </a:pPr>
            <a:r>
              <a:rPr sz="800" b="0" i="0">
                <a:solidFill>
                  <a:srgbClr val="ECE7DC"/>
                </a:solidFill>
                <a:latin typeface="Consolas"/>
              </a:rPr>
              <a:t>│   │   ├── project_latexer_agent.md</a:t>
            </a:r>
          </a:p>
          <a:p>
            <a:pPr algn="l">
              <a:lnSpc>
                <a:spcPct val="100000"/>
              </a:lnSpc>
            </a:pPr>
            <a:r>
              <a:rPr sz="800" b="0" i="0">
                <a:solidFill>
                  <a:srgbClr val="ECE7DC"/>
                </a:solidFill>
                <a:latin typeface="Consolas"/>
              </a:rPr>
              <a:t>│   │   ├── project_living_canvas_dropped.md</a:t>
            </a:r>
          </a:p>
          <a:p>
            <a:pPr algn="l">
              <a:lnSpc>
                <a:spcPct val="100000"/>
              </a:lnSpc>
            </a:pPr>
            <a:r>
              <a:rPr sz="800" b="0" i="0">
                <a:solidFill>
                  <a:srgbClr val="ECE7DC"/>
                </a:solidFill>
                <a:latin typeface="Consolas"/>
              </a:rPr>
              <a:t>│   │   ├── project_mouser_wrapped_2026_05_07.md</a:t>
            </a:r>
          </a:p>
          <a:p>
            <a:pPr algn="l">
              <a:lnSpc>
                <a:spcPct val="100000"/>
              </a:lnSpc>
            </a:pPr>
            <a:r>
              <a:rPr sz="800" b="0" i="0">
                <a:solidFill>
                  <a:srgbClr val="ECE7DC"/>
                </a:solidFill>
                <a:latin typeface="Consolas"/>
              </a:rPr>
              <a:t>│   │   ├── project_native_picker_tcltk_fix.md</a:t>
            </a:r>
          </a:p>
          <a:p>
            <a:pPr algn="l">
              <a:lnSpc>
                <a:spcPct val="100000"/>
              </a:lnSpc>
            </a:pPr>
            <a:r>
              <a:rPr sz="800" b="0" i="0">
                <a:solidFill>
                  <a:srgbClr val="ECE7DC"/>
                </a:solidFill>
                <a:latin typeface="Consolas"/>
              </a:rPr>
              <a:t>│   │   ├── project_native_toast.md</a:t>
            </a:r>
          </a:p>
          <a:p>
            <a:pPr algn="l">
              <a:lnSpc>
                <a:spcPct val="100000"/>
              </a:lnSpc>
            </a:pPr>
            <a:r>
              <a:rPr sz="800" b="0" i="0">
                <a:solidFill>
                  <a:srgbClr val="ECE7DC"/>
                </a:solidFill>
                <a:latin typeface="Consolas"/>
              </a:rPr>
              <a:t>│   │   ├── project_netspeed_calculator_agent.md</a:t>
            </a:r>
          </a:p>
          <a:p>
            <a:pPr algn="l">
              <a:lnSpc>
                <a:spcPct val="100000"/>
              </a:lnSpc>
            </a:pPr>
            <a:r>
              <a:rPr sz="800" b="0" i="0">
                <a:solidFill>
                  <a:srgbClr val="ECE7DC"/>
                </a:solidFill>
                <a:latin typeface="Consolas"/>
              </a:rPr>
              <a:t>│   │   ├── project_numpy_pyinstaller.md</a:t>
            </a:r>
          </a:p>
          <a:p>
            <a:pPr algn="l">
              <a:lnSpc>
                <a:spcPct val="100000"/>
              </a:lnSpc>
            </a:pPr>
            <a:r>
              <a:rPr sz="800" b="0" i="0">
                <a:solidFill>
                  <a:srgbClr val="ECE7DC"/>
                </a:solidFill>
                <a:latin typeface="Consolas"/>
              </a:rPr>
              <a:t>│   │   ├── project_ollama_source_build_breaks_embedding</a:t>
            </a:r>
          </a:p>
          <a:p>
            <a:pPr algn="l">
              <a:lnSpc>
                <a:spcPct val="100000"/>
              </a:lnSpc>
            </a:pPr>
            <a:r>
              <a:rPr sz="800" b="0" i="0">
                <a:solidFill>
                  <a:srgbClr val="ECE7DC"/>
                </a:solidFill>
                <a:latin typeface="Consolas"/>
              </a:rPr>
              <a:t>│   │   │     » s.md</a:t>
            </a:r>
          </a:p>
          <a:p>
            <a:pPr algn="l">
              <a:lnSpc>
                <a:spcPct val="100000"/>
              </a:lnSpc>
            </a:pPr>
            <a:r>
              <a:rPr sz="800" b="0" i="0">
                <a:solidFill>
                  <a:srgbClr val="ECE7DC"/>
                </a:solidFill>
                <a:latin typeface="Consolas"/>
              </a:rPr>
              <a:t>│   │   ├── project_pdfer_agent.md</a:t>
            </a:r>
          </a:p>
          <a:p>
            <a:pPr algn="l">
              <a:lnSpc>
                <a:spcPct val="100000"/>
              </a:lnSpc>
            </a:pPr>
            <a:r>
              <a:rPr sz="800" b="0" i="0">
                <a:solidFill>
                  <a:srgbClr val="ECE7DC"/>
                </a:solidFill>
                <a:latin typeface="Consolas"/>
              </a:rPr>
              <a:t>│   │   ├── project_planner_followup.md</a:t>
            </a:r>
          </a:p>
          <a:p>
            <a:pPr algn="l">
              <a:lnSpc>
                <a:spcPct val="100000"/>
              </a:lnSpc>
            </a:pPr>
            <a:r>
              <a:rPr sz="800" b="0" i="0">
                <a:solidFill>
                  <a:srgbClr val="ECE7DC"/>
                </a:solidFill>
                <a:latin typeface="Consolas"/>
              </a:rPr>
              <a:t>│   │   ├── project_playwrighter_agent.md</a:t>
            </a:r>
          </a:p>
          <a:p>
            <a:pPr algn="l">
              <a:lnSpc>
                <a:spcPct val="100000"/>
              </a:lnSpc>
            </a:pPr>
            <a:r>
              <a:rPr sz="800" b="0" i="0">
                <a:solidFill>
                  <a:srgbClr val="ECE7DC"/>
                </a:solidFill>
                <a:latin typeface="Consolas"/>
              </a:rPr>
              <a:t>│   │   ├── project_playwrighter_hold_open.md</a:t>
            </a:r>
          </a:p>
          <a:p>
            <a:pPr algn="l">
              <a:lnSpc>
                <a:spcPct val="100000"/>
              </a:lnSpc>
            </a:pPr>
            <a:r>
              <a:rPr sz="800" b="0" i="0">
                <a:solidFill>
                  <a:srgbClr val="ECE7DC"/>
                </a:solidFill>
                <a:latin typeface="Consolas"/>
              </a:rPr>
              <a:t>│   │   ├── project_prompt_catalog_mode_badges.md</a:t>
            </a:r>
          </a:p>
          <a:p>
            <a:pPr algn="l">
              <a:lnSpc>
                <a:spcPct val="100000"/>
              </a:lnSpc>
            </a:pPr>
            <a:r>
              <a:rPr sz="800" b="0" i="0">
                <a:solidFill>
                  <a:srgbClr val="ECE7DC"/>
                </a:solidFill>
                <a:latin typeface="Consolas"/>
              </a:rPr>
              <a:t>│   │   ├── project_prompt_flow_commentary_input.md</a:t>
            </a:r>
          </a:p>
          <a:p>
            <a:pPr algn="l">
              <a:lnSpc>
                <a:spcPct val="100000"/>
              </a:lnSpc>
            </a:pPr>
            <a:r>
              <a:rPr sz="800" b="0" i="0">
                <a:solidFill>
                  <a:srgbClr val="ECE7DC"/>
                </a:solidFill>
                <a:latin typeface="Consolas"/>
              </a:rPr>
              <a:t>│   │   ├── project_pythonxer_forkbomb_fix.md</a:t>
            </a:r>
          </a:p>
          <a:p>
            <a:pPr algn="l">
              <a:lnSpc>
                <a:spcPct val="100000"/>
              </a:lnSpc>
            </a:pPr>
            <a:r>
              <a:rPr sz="800" b="0" i="0">
                <a:solidFill>
                  <a:srgbClr val="ECE7DC"/>
                </a:solidFill>
                <a:latin typeface="Consolas"/>
              </a:rPr>
              <a:t>│   │   ├── project_pythonxer_strict_ruff_gate.md</a:t>
            </a:r>
          </a:p>
          <a:p>
            <a:pPr algn="l">
              <a:lnSpc>
                <a:spcPct val="100000"/>
              </a:lnSpc>
            </a:pPr>
            <a:r>
              <a:rPr sz="800" b="0" i="0">
                <a:solidFill>
                  <a:srgbClr val="ECE7DC"/>
                </a:solidFill>
                <a:latin typeface="Consolas"/>
              </a:rPr>
              <a:t>│   │   ├── project_quote_apostrophe_fix_2026_05_07.md</a:t>
            </a:r>
          </a:p>
          <a:p>
            <a:pPr algn="l">
              <a:lnSpc>
                <a:spcPct val="100000"/>
              </a:lnSpc>
            </a:pPr>
            <a:r>
              <a:rPr sz="800" b="0" i="0">
                <a:solidFill>
                  <a:srgbClr val="ECE7DC"/>
                </a:solidFill>
                <a:latin typeface="Consolas"/>
              </a:rPr>
              <a:t>│   │   ├── project_reaper_console_window_fix.md</a:t>
            </a:r>
          </a:p>
          <a:p>
            <a:pPr algn="l">
              <a:lnSpc>
                <a:spcPct val="100000"/>
              </a:lnSpc>
            </a:pPr>
            <a:r>
              <a:rPr sz="800" b="0" i="0">
                <a:solidFill>
                  <a:srgbClr val="ECE7DC"/>
                </a:solidFill>
                <a:latin typeface="Consolas"/>
              </a:rPr>
              <a:t>│   │   ├── project_recorder_agent.md</a:t>
            </a:r>
          </a:p>
          <a:p>
            <a:pPr algn="l">
              <a:lnSpc>
                <a:spcPct val="100000"/>
              </a:lnSpc>
            </a:pPr>
            <a:r>
              <a:rPr sz="800" b="0" i="0">
                <a:solidFill>
                  <a:srgbClr val="ECE7DC"/>
                </a:solidFill>
                <a:latin typeface="Consolas"/>
              </a:rPr>
              <a:t>│   │   ├── project_reviewer_analyzer_agents.md</a:t>
            </a:r>
          </a:p>
          <a:p>
            <a:pPr algn="l">
              <a:lnSpc>
                <a:spcPct val="100000"/>
              </a:lnSpc>
            </a:pPr>
            <a:r>
              <a:rPr sz="800" b="0" i="0">
                <a:solidFill>
                  <a:srgbClr val="ECE7DC"/>
                </a:solidFill>
                <a:latin typeface="Consolas"/>
              </a:rPr>
              <a:t>│   │   ├── project_reviewer_analyzer_demo_prompts.md</a:t>
            </a:r>
          </a:p>
          <a:p>
            <a:pPr algn="l">
              <a:lnSpc>
                <a:spcPct val="100000"/>
              </a:lnSpc>
            </a:pPr>
            <a:r>
              <a:rPr sz="800" b="0" i="0">
                <a:solidFill>
                  <a:srgbClr val="ECE7DC"/>
                </a:solidFill>
                <a:latin typeface="Consolas"/>
              </a:rPr>
              <a:t>│   │   ├── project_reviewer_committed_secrets_falsepos.</a:t>
            </a:r>
          </a:p>
          <a:p>
            <a:pPr algn="l">
              <a:lnSpc>
                <a:spcPct val="100000"/>
              </a:lnSpc>
            </a:pPr>
            <a:r>
              <a:rPr sz="800" b="0" i="0">
                <a:solidFill>
                  <a:srgbClr val="ECE7DC"/>
                </a:solidFill>
                <a:latin typeface="Consolas"/>
              </a:rPr>
              <a:t>│   │   │     » md</a:t>
            </a:r>
          </a:p>
          <a:p>
            <a:pPr algn="l">
              <a:lnSpc>
                <a:spcPct val="100000"/>
              </a:lnSpc>
            </a:pPr>
            <a:r>
              <a:rPr sz="800" b="0" i="0">
                <a:solidFill>
                  <a:srgbClr val="ECE7DC"/>
                </a:solidFill>
                <a:latin typeface="Consolas"/>
              </a:rPr>
              <a:t>│   │   ├── project_secret_leak_recovery.md</a:t>
            </a:r>
          </a:p>
          <a:p>
            <a:pPr algn="l">
              <a:lnSpc>
                <a:spcPct val="100000"/>
              </a:lnSpc>
            </a:pPr>
            <a:r>
              <a:rPr sz="800" b="0" i="0">
                <a:solidFill>
                  <a:srgbClr val="ECE7DC"/>
                </a:solidFill>
                <a:latin typeface="Consolas"/>
              </a:rPr>
              <a:t>│   │   ├── project_stm32er_agent.md</a:t>
            </a:r>
          </a:p>
          <a:p>
            <a:pPr algn="l">
              <a:lnSpc>
                <a:spcPct val="100000"/>
              </a:lnSpc>
            </a:pPr>
            <a:r>
              <a:rPr sz="800" b="0" i="0">
                <a:solidFill>
                  <a:srgbClr val="ECE7DC"/>
                </a:solidFill>
                <a:latin typeface="Consolas"/>
              </a:rPr>
              <a:t>│   │   ├── project_stm32er_bootstrap_preflight.md</a:t>
            </a:r>
          </a:p>
          <a:p>
            <a:pPr algn="l">
              <a:lnSpc>
                <a:spcPct val="100000"/>
              </a:lnSpc>
            </a:pPr>
            <a:r>
              <a:rPr sz="800" b="0" i="0">
                <a:solidFill>
                  <a:srgbClr val="ECE7DC"/>
                </a:solidFill>
                <a:latin typeface="Consolas"/>
              </a:rPr>
              <a:t>│   │   ├── project_stm32er_demo_prompts.md</a:t>
            </a:r>
          </a:p>
          <a:p>
            <a:pPr algn="l">
              <a:lnSpc>
                <a:spcPct val="100000"/>
              </a:lnSpc>
            </a:pPr>
            <a:r>
              <a:rPr sz="800" b="0" i="0">
                <a:solidFill>
                  <a:srgbClr val="ECE7DC"/>
                </a:solidFill>
                <a:latin typeface="Consolas"/>
              </a:rPr>
              <a:t>│   │   ├── project_stm32er_docs_libs_parametrizer.md</a:t>
            </a:r>
          </a:p>
          <a:p>
            <a:pPr algn="l">
              <a:lnSpc>
                <a:spcPct val="100000"/>
              </a:lnSpc>
            </a:pPr>
            <a:r>
              <a:rPr sz="800" b="0" i="0">
                <a:solidFill>
                  <a:srgbClr val="ECE7DC"/>
                </a:solidFill>
                <a:latin typeface="Consolas"/>
              </a:rPr>
              <a:t>│   │   ├── project_stm32er_hil_serial_proof_fix.md</a:t>
            </a:r>
          </a:p>
          <a:p>
            <a:pPr algn="l">
              <a:lnSpc>
                <a:spcPct val="100000"/>
              </a:lnSpc>
            </a:pPr>
            <a:r>
              <a:rPr sz="800" b="0" i="0">
                <a:solidFill>
                  <a:srgbClr val="ECE7DC"/>
                </a:solidFill>
                <a:latin typeface="Consolas"/>
              </a:rPr>
              <a:t>│   │   ├── project_stm32er_tests.md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project_summarizer_oneshot_mode.md</a:t>
            </a:r>
          </a:p>
          <a:p>
            <a:pPr algn="l">
              <a:lnSpc>
                <a:spcPct val="100000"/>
              </a:lnSpc>
            </a:pPr>
            <a:r>
              <a:rPr sz="800" b="0" i="0">
                <a:solidFill>
                  <a:srgbClr val="ECE7DC"/>
                </a:solidFill>
                <a:latin typeface="Consolas"/>
              </a:rPr>
              <a:t>│   │   ├── project_taskbar_flash_attention.md</a:t>
            </a:r>
          </a:p>
          <a:p>
            <a:pPr algn="l">
              <a:lnSpc>
                <a:spcPct val="100000"/>
              </a:lnSpc>
            </a:pPr>
            <a:r>
              <a:rPr sz="800" b="0" i="0">
                <a:solidFill>
                  <a:srgbClr val="ECE7DC"/>
                </a:solidFill>
                <a:latin typeface="Consolas"/>
              </a:rPr>
              <a:t>│   │   ├── project_teletlamatini_acpx.md</a:t>
            </a:r>
          </a:p>
          <a:p>
            <a:pPr algn="l">
              <a:lnSpc>
                <a:spcPct val="100000"/>
              </a:lnSpc>
            </a:pPr>
            <a:r>
              <a:rPr sz="800" b="0" i="0">
                <a:solidFill>
                  <a:srgbClr val="ECE7DC"/>
                </a:solidFill>
                <a:latin typeface="Consolas"/>
              </a:rPr>
              <a:t>│   │   ├── project_temp_templates_policy.md</a:t>
            </a:r>
          </a:p>
          <a:p>
            <a:pPr algn="l">
              <a:lnSpc>
                <a:spcPct val="100000"/>
              </a:lnSpc>
            </a:pPr>
            <a:r>
              <a:rPr sz="800" b="0" i="0">
                <a:solidFill>
                  <a:srgbClr val="ECE7DC"/>
                </a:solidFill>
                <a:latin typeface="Consolas"/>
              </a:rPr>
              <a:t>│   │   ├── project_unity_mcp_declined.md</a:t>
            </a:r>
          </a:p>
          <a:p>
            <a:pPr algn="l">
              <a:lnSpc>
                <a:spcPct val="100000"/>
              </a:lnSpc>
            </a:pPr>
            <a:r>
              <a:rPr sz="800" b="0" i="0">
                <a:solidFill>
                  <a:srgbClr val="ECE7DC"/>
                </a:solidFill>
                <a:latin typeface="Consolas"/>
              </a:rPr>
              <a:t>│   │   ├── project_unrealer_expanded_surface.md</a:t>
            </a:r>
          </a:p>
          <a:p>
            <a:pPr algn="l">
              <a:lnSpc>
                <a:spcPct val="100000"/>
              </a:lnSpc>
            </a:pPr>
            <a:r>
              <a:rPr sz="800" b="0" i="0">
                <a:solidFill>
                  <a:srgbClr val="ECE7DC"/>
                </a:solidFill>
                <a:latin typeface="Consolas"/>
              </a:rPr>
              <a:t>│   │   ├── project_versioning_2026_05_15.md</a:t>
            </a:r>
          </a:p>
          <a:p>
            <a:pPr algn="l">
              <a:lnSpc>
                <a:spcPct val="100000"/>
              </a:lnSpc>
            </a:pPr>
            <a:r>
              <a:rPr sz="800" b="0" i="0">
                <a:solidFill>
                  <a:srgbClr val="ECE7DC"/>
                </a:solidFill>
                <a:latin typeface="Consolas"/>
              </a:rPr>
              <a:t>│   │   ├── project_videoplayer_agent.md</a:t>
            </a:r>
          </a:p>
          <a:p>
            <a:pPr algn="l">
              <a:lnSpc>
                <a:spcPct val="100000"/>
              </a:lnSpc>
            </a:pPr>
            <a:r>
              <a:rPr sz="800" b="0" i="0">
                <a:solidFill>
                  <a:srgbClr val="ECE7DC"/>
                </a:solidFill>
                <a:latin typeface="Consolas"/>
              </a:rPr>
              <a:t>│   │   ├── project_windower_agent.md</a:t>
            </a:r>
          </a:p>
          <a:p>
            <a:pPr algn="l">
              <a:lnSpc>
                <a:spcPct val="100000"/>
              </a:lnSpc>
            </a:pPr>
            <a:r>
              <a:rPr sz="800" b="0" i="0">
                <a:solidFill>
                  <a:srgbClr val="ECE7DC"/>
                </a:solidFill>
                <a:latin typeface="Consolas"/>
              </a:rPr>
              <a:t>│   │   └── user_profile.md</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_peek.py</a:t>
            </a:r>
          </a:p>
          <a:p>
            <a:pPr algn="l">
              <a:lnSpc>
                <a:spcPct val="100000"/>
              </a:lnSpc>
            </a:pPr>
            <a:r>
              <a:rPr sz="800" b="0" i="0">
                <a:solidFill>
                  <a:srgbClr val="ECE7DC"/>
                </a:solidFill>
                <a:latin typeface="Consolas"/>
              </a:rPr>
              <a:t>│       │       ├── _stage.ps1</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compact_mode_visible.py</a:t>
            </a:r>
          </a:p>
          <a:p>
            <a:pPr algn="l">
              <a:lnSpc>
                <a:spcPct val="100000"/>
              </a:lnSpc>
            </a:pPr>
            <a:r>
              <a:rPr sz="800" b="0" i="0">
                <a:solidFill>
                  <a:srgbClr val="ECE7DC"/>
                </a:solidFill>
                <a:latin typeface="Consolas"/>
              </a:rPr>
              <a:t>│       │       ├── compact_pingpong_visible.py</a:t>
            </a:r>
          </a:p>
          <a:p>
            <a:pPr algn="l">
              <a:lnSpc>
                <a:spcPct val="100000"/>
              </a:lnSpc>
            </a:pPr>
            <a:r>
              <a:rPr sz="800" b="0" i="0">
                <a:solidFill>
                  <a:srgbClr val="ECE7DC"/>
                </a:solidFill>
                <a:latin typeface="Consolas"/>
              </a:rPr>
              <a:t>│       │       ├── compact_switch_visible.py</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context_gauge_100.py</a:t>
            </a:r>
          </a:p>
          <a:p>
            <a:pPr algn="l">
              <a:lnSpc>
                <a:spcPct val="100000"/>
              </a:lnSpc>
            </a:pPr>
            <a:r>
              <a:rPr sz="800" b="0" i="0">
                <a:solidFill>
                  <a:srgbClr val="ECE7DC"/>
                </a:solidFill>
                <a:latin typeface="Consolas"/>
              </a:rPr>
              <a:t>│       │       ├── context_gauge_real_lab.py</a:t>
            </a:r>
          </a:p>
          <a:p>
            <a:pPr algn="l">
              <a:lnSpc>
                <a:spcPct val="100000"/>
              </a:lnSpc>
            </a:pPr>
            <a:r>
              <a:rPr sz="800" b="0" i="0">
                <a:solidFill>
                  <a:srgbClr val="ECE7DC"/>
                </a:solidFill>
                <a:latin typeface="Consolas"/>
              </a:rPr>
              <a:t>│       │       ├── context_gauge_visible.py</a:t>
            </a:r>
          </a:p>
          <a:p>
            <a:pPr algn="l">
              <a:lnSpc>
                <a:spcPct val="100000"/>
              </a:lnSpc>
            </a:pPr>
            <a:r>
              <a:rPr sz="800" b="0" i="0">
                <a:solidFill>
                  <a:srgbClr val="ECE7DC"/>
                </a:solidFill>
                <a:latin typeface="Consolas"/>
              </a:rPr>
              <a:t>│       │       ├── context_restore_spinner_visible.py</a:t>
            </a:r>
          </a:p>
          <a:p>
            <a:pPr algn="l">
              <a:lnSpc>
                <a:spcPct val="100000"/>
              </a:lnSpc>
            </a:pPr>
            <a:r>
              <a:rPr sz="800" b="0" i="0">
                <a:solidFill>
                  <a:srgbClr val="ECE7DC"/>
                </a:solidFill>
                <a:latin typeface="Consolas"/>
              </a:rPr>
              <a:t>│       │       ├── cyber_watchdog_test.py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deepseek_remote_chat_visible.py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drop_message_visible.py</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full_mode_visible.py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grepper_lines_visible.py</a:t>
            </a:r>
          </a:p>
          <a:p>
            <a:pPr algn="l">
              <a:lnSpc>
                <a:spcPct val="100000"/>
              </a:lnSpc>
            </a:pPr>
            <a:r>
              <a:rPr sz="800" b="0" i="0">
                <a:solidFill>
                  <a:srgbClr val="ECE7DC"/>
                </a:solidFill>
                <a:latin typeface="Consolas"/>
              </a:rPr>
              <a:t>│       │       ├── grepper_login_probe.py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model_brain_visible.py</a:t>
            </a:r>
          </a:p>
          <a:p>
            <a:pPr algn="l">
              <a:lnSpc>
                <a:spcPct val="100000"/>
              </a:lnSpc>
            </a:pPr>
            <a:r>
              <a:rPr sz="800" b="0" i="0">
                <a:solidFill>
                  <a:srgbClr val="ECE7DC"/>
                </a:solidFill>
                <a:latin typeface="Consolas"/>
              </a:rPr>
              <a:t>│       │       ├── monitor.py</a:t>
            </a:r>
          </a:p>
          <a:p>
            <a:pPr algn="l">
              <a:lnSpc>
                <a:spcPct val="100000"/>
              </a:lnSpc>
            </a:pPr>
            <a:r>
              <a:rPr sz="800" b="0" i="0">
                <a:solidFill>
                  <a:srgbClr val="ECE7DC"/>
                </a:solidFill>
                <a:latin typeface="Consolas"/>
              </a:rPr>
              <a:t>│       │       ├── ollama_remote_catalog_visible.py</a:t>
            </a:r>
          </a:p>
          <a:p>
            <a:pPr algn="l">
              <a:lnSpc>
                <a:spcPct val="100000"/>
              </a:lnSpc>
            </a:pPr>
            <a:r>
              <a:rPr sz="800" b="0" i="0">
                <a:solidFill>
                  <a:srgbClr val="ECE7DC"/>
                </a:solidFill>
                <a:latin typeface="Consolas"/>
              </a:rPr>
              <a:t>│       │       ├── pdf_context_visible.py</a:t>
            </a:r>
          </a:p>
          <a:p>
            <a:pPr algn="l">
              <a:lnSpc>
                <a:spcPct val="100000"/>
              </a:lnSpc>
            </a:pPr>
            <a:r>
              <a:rPr sz="800" b="0" i="0">
                <a:solidFill>
                  <a:srgbClr val="ECE7DC"/>
                </a:solidFill>
                <a:latin typeface="Consolas"/>
              </a:rPr>
              <a:t>│       │       ├── pdfer_nuance_visible.py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pptxer_visible.py</a:t>
            </a:r>
          </a:p>
          <a:p>
            <a:pPr algn="l">
              <a:lnSpc>
                <a:spcPct val="100000"/>
              </a:lnSpc>
            </a:pPr>
            <a:r>
              <a:rPr sz="800" b="0" i="0">
                <a:solidFill>
                  <a:srgbClr val="ECE7DC"/>
                </a:solidFill>
                <a:latin typeface="Consolas"/>
              </a:rPr>
              <a:t>│       │       ├── preflight.py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self_modify_visible.py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stop_sequence_visible.py</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uninstaller_visible.py</a:t>
            </a:r>
          </a:p>
          <a:p>
            <a:pPr algn="l">
              <a:lnSpc>
                <a:spcPct val="100000"/>
              </a:lnSpc>
            </a:pPr>
            <a:r>
              <a:rPr sz="800" b="0" i="0">
                <a:solidFill>
                  <a:srgbClr val="ECE7DC"/>
                </a:solidFill>
                <a:latin typeface="Consolas"/>
              </a:rPr>
              <a:t>│       │       ├── voice_commands_visible.py</a:t>
            </a:r>
          </a:p>
          <a:p>
            <a:pPr algn="l">
              <a:lnSpc>
                <a:spcPct val="100000"/>
              </a:lnSpc>
            </a:pPr>
            <a:r>
              <a:rPr sz="800" b="0" i="0">
                <a:solidFill>
                  <a:srgbClr val="ECE7DC"/>
                </a:solidFill>
                <a:latin typeface="Consolas"/>
              </a:rPr>
              <a:t>│       │       ├── window-test-screen.py</a:t>
            </a:r>
          </a:p>
          <a:p>
            <a:pPr algn="l">
              <a:lnSpc>
                <a:spcPct val="100000"/>
              </a:lnSpc>
            </a:pPr>
            <a:r>
              <a:rPr sz="800" b="0" i="0">
                <a:solidFill>
                  <a:srgbClr val="ECE7DC"/>
                </a:solidFill>
                <a:latin typeface="Consolas"/>
              </a:rPr>
              <a:t>│       │       ├── windower_focus.py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140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3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1,688 tracked files at commit 113eddc4;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.codex/</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full-project-pdf-dossier/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overlap-safe-pptx-dossier/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tlamatini-release-validation/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agents/</a:t>
            </a:r>
          </a:p>
          <a:p>
            <a:pPr algn="l">
              <a:lnSpc>
                <a:spcPct val="100000"/>
              </a:lnSpc>
            </a:pPr>
            <a:r>
              <a:rPr sz="800" b="0" i="0">
                <a:solidFill>
                  <a:srgbClr val="ECE7DC"/>
                </a:solidFill>
                <a:latin typeface="Consolas"/>
              </a:rPr>
              <a:t>│           │   └── openai.yaml</a:t>
            </a:r>
          </a:p>
          <a:p>
            <a:pPr algn="l">
              <a:lnSpc>
                <a:spcPct val="100000"/>
              </a:lnSpc>
            </a:pPr>
            <a:r>
              <a:rPr sz="800" b="0" i="0">
                <a:solidFill>
                  <a:srgbClr val="3BBE93"/>
                </a:solidFill>
                <a:latin typeface="Consolas"/>
              </a:rPr>
              <a:t>│           └── references/</a:t>
            </a:r>
          </a:p>
          <a:p>
            <a:pPr algn="l">
              <a:lnSpc>
                <a:spcPct val="100000"/>
              </a:lnSpc>
            </a:pPr>
            <a:r>
              <a:rPr sz="800" b="0" i="0">
                <a:solidFill>
                  <a:srgbClr val="ECE7DC"/>
                </a:solidFill>
                <a:latin typeface="Consolas"/>
              </a:rPr>
              <a:t>│               └── acceptance-matrix.md</a:t>
            </a:r>
          </a:p>
          <a:p>
            <a:pPr algn="l">
              <a:lnSpc>
                <a:spcPct val="100000"/>
              </a:lnSpc>
            </a:pPr>
            <a:r>
              <a:rPr sz="800" b="0" i="0">
                <a:solidFill>
                  <a:srgbClr val="3BBE93"/>
                </a:solidFill>
                <a:latin typeface="Consolas"/>
              </a:rPr>
              <a:t>├── .gemini/</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dialog_policy_visible.py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.github/</a:t>
            </a:r>
          </a:p>
          <a:p>
            <a:pPr algn="l">
              <a:lnSpc>
                <a:spcPct val="100000"/>
              </a:lnSpc>
            </a:pPr>
            <a:r>
              <a:rPr sz="800" b="0" i="0">
                <a:solidFill>
                  <a:srgbClr val="3BBE93"/>
                </a:solidFill>
                <a:latin typeface="Consolas"/>
              </a:rPr>
              <a:t>│   └── workflows/</a:t>
            </a:r>
          </a:p>
          <a:p>
            <a:pPr algn="l">
              <a:lnSpc>
                <a:spcPct val="100000"/>
              </a:lnSpc>
            </a:pPr>
            <a:r>
              <a:rPr sz="800" b="0" i="0">
                <a:solidFill>
                  <a:srgbClr val="ECE7DC"/>
                </a:solidFill>
                <a:latin typeface="Consolas"/>
              </a:rPr>
              <a:t>│       └── name-guard.yml</a:t>
            </a:r>
          </a:p>
          <a:p>
            <a:pPr algn="l">
              <a:lnSpc>
                <a:spcPct val="100000"/>
              </a:lnSpc>
            </a:pPr>
            <a:r>
              <a:rPr sz="800" b="0" i="0">
                <a:solidFill>
                  <a:srgbClr val="3BBE93"/>
                </a:solidFill>
                <a:latin typeface="Consolas"/>
              </a:rPr>
              <a:t>├── .scanning/</a:t>
            </a:r>
          </a:p>
          <a:p>
            <a:pPr algn="l">
              <a:lnSpc>
                <a:spcPct val="100000"/>
              </a:lnSpc>
            </a:pPr>
            <a:r>
              <a:rPr sz="800" b="0" i="0">
                <a:solidFill>
                  <a:srgbClr val="ECE7DC"/>
                </a:solidFill>
                <a:latin typeface="Consolas"/>
              </a:rPr>
              <a:t>│   └── finding-policy.json</a:t>
            </a:r>
          </a:p>
          <a:p>
            <a:pPr algn="l">
              <a:lnSpc>
                <a:spcPct val="100000"/>
              </a:lnSpc>
            </a:pPr>
            <a:r>
              <a:rPr sz="800" b="0" i="0">
                <a:solidFill>
                  <a:srgbClr val="3BBE93"/>
                </a:solidFill>
                <a:latin typeface="Consolas"/>
              </a:rPr>
              <a:t>├── AuxTests/</a:t>
            </a:r>
          </a:p>
          <a:p>
            <a:pPr algn="l">
              <a:lnSpc>
                <a:spcPct val="100000"/>
              </a:lnSpc>
            </a:pPr>
            <a:r>
              <a:rPr sz="800" b="0" i="0">
                <a:solidFill>
                  <a:srgbClr val="ECE7DC"/>
                </a:solidFill>
                <a:latin typeface="Consolas"/>
              </a:rPr>
              <a:t>│   └── mypdf2.py</a:t>
            </a:r>
          </a:p>
          <a:p>
            <a:pPr algn="l">
              <a:lnSpc>
                <a:spcPct val="100000"/>
              </a:lnSpc>
            </a:pPr>
            <a:r>
              <a:rPr sz="800" b="0" i="0">
                <a:solidFill>
                  <a:srgbClr val="3BBE93"/>
                </a:solidFill>
                <a:latin typeface="Consolas"/>
              </a:rPr>
              <a:t>├── demo_flows/</a:t>
            </a:r>
          </a:p>
          <a:p>
            <a:pPr algn="l">
              <a:lnSpc>
                <a:spcPct val="100000"/>
              </a:lnSpc>
            </a:pPr>
            <a:r>
              <a:rPr sz="800" b="0" i="0">
                <a:solidFill>
                  <a:srgbClr val="ECE7DC"/>
                </a:solidFill>
                <a:latin typeface="Consolas"/>
              </a:rPr>
              <a:t>│   ├── demo1_globber_to_parametrizer_to_zavuerer.flw</a:t>
            </a:r>
          </a:p>
          <a:p>
            <a:pPr algn="l">
              <a:lnSpc>
                <a:spcPct val="100000"/>
              </a:lnSpc>
            </a:pPr>
            <a:r>
              <a:rPr sz="800" b="0" i="0">
                <a:solidFill>
                  <a:srgbClr val="ECE7DC"/>
                </a:solidFill>
                <a:latin typeface="Consolas"/>
              </a:rPr>
              <a:t>│   ├── demo2_apirer_to_parametrizer_to_zavuerer.flw</a:t>
            </a:r>
          </a:p>
          <a:p>
            <a:pPr algn="l">
              <a:lnSpc>
                <a:spcPct val="100000"/>
              </a:lnSpc>
            </a:pPr>
            <a:r>
              <a:rPr sz="800" b="0" i="0">
                <a:solidFill>
                  <a:srgbClr val="ECE7DC"/>
                </a:solidFill>
                <a:latin typeface="Consolas"/>
              </a:rPr>
              <a:t>│   └── demo3_zavuerer_health_to_parametrizer_to_filecre</a:t>
            </a:r>
          </a:p>
          <a:p>
            <a:pPr algn="l">
              <a:lnSpc>
                <a:spcPct val="100000"/>
              </a:lnSpc>
            </a:pPr>
            <a:r>
              <a:rPr sz="800" b="0" i="0">
                <a:solidFill>
                  <a:srgbClr val="ECE7DC"/>
                </a:solidFill>
                <a:latin typeface="Consolas"/>
              </a:rPr>
              <a:t>│         » ator.flw</a:t>
            </a:r>
          </a:p>
          <a:p>
            <a:pPr algn="l">
              <a:lnSpc>
                <a:spcPct val="100000"/>
              </a:lnSpc>
            </a:pPr>
            <a:r>
              <a:rPr sz="800" b="0" i="0">
                <a:solidFill>
                  <a:srgbClr val="3BBE93"/>
                </a:solidFill>
                <a:latin typeface="Consolas"/>
              </a:rPr>
              <a:t>├── docs/</a:t>
            </a:r>
          </a:p>
          <a:p>
            <a:pPr algn="l">
              <a:lnSpc>
                <a:spcPct val="100000"/>
              </a:lnSpc>
            </a:pPr>
            <a:r>
              <a:rPr sz="800" b="0" i="0">
                <a:solidFill>
                  <a:srgbClr val="ECE7DC"/>
                </a:solidFill>
                <a:latin typeface="Consolas"/>
              </a:rPr>
              <a:t>│   ├── agent-coverage.md</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build-root-assets-verification.md</a:t>
            </a:r>
          </a:p>
          <a:p>
            <a:pPr algn="l">
              <a:lnSpc>
                <a:spcPct val="100000"/>
              </a:lnSpc>
            </a:pPr>
            <a:r>
              <a:rPr sz="800" b="0" i="0">
                <a:solidFill>
                  <a:srgbClr val="ECE7DC"/>
                </a:solidFill>
                <a:latin typeface="Consolas"/>
              </a:rPr>
              <a:t>│   ├── chat-microphone-design.md</a:t>
            </a:r>
          </a:p>
          <a:p>
            <a:pPr algn="l">
              <a:lnSpc>
                <a:spcPct val="100000"/>
              </a:lnSpc>
            </a:pPr>
            <a:r>
              <a:rPr sz="800" b="0" i="0">
                <a:solidFill>
                  <a:srgbClr val="ECE7DC"/>
                </a:solidFill>
                <a:latin typeface="Consolas"/>
              </a:rPr>
              <a:t>│   ├── companion-app-discovery.md</a:t>
            </a:r>
          </a:p>
          <a:p>
            <a:pPr algn="l">
              <a:lnSpc>
                <a:spcPct val="100000"/>
              </a:lnSpc>
            </a:pPr>
            <a:r>
              <a:rPr sz="800" b="0" i="0">
                <a:solidFill>
                  <a:srgbClr val="ECE7DC"/>
                </a:solidFill>
                <a:latin typeface="Consolas"/>
              </a:rPr>
              <a:t>│   ├── dependency-coverage-audit.md</a:t>
            </a:r>
          </a:p>
          <a:p>
            <a:pPr algn="l">
              <a:lnSpc>
                <a:spcPct val="100000"/>
              </a:lnSpc>
            </a:pPr>
            <a:r>
              <a:rPr sz="800" b="0" i="0">
                <a:solidFill>
                  <a:srgbClr val="ECE7DC"/>
                </a:solidFill>
                <a:latin typeface="Consolas"/>
              </a:rPr>
              <a:t>│   ├── desktop-input-and-flow-contracts.md</a:t>
            </a:r>
          </a:p>
          <a:p>
            <a:pPr algn="l">
              <a:lnSpc>
                <a:spcPct val="100000"/>
              </a:lnSpc>
            </a:pPr>
            <a:r>
              <a:rPr sz="800" b="0" i="0">
                <a:solidFill>
                  <a:srgbClr val="ECE7DC"/>
                </a:solidFill>
                <a:latin typeface="Consolas"/>
              </a:rPr>
              <a:t>│   ├── external_mcp_bulletproof_architecture.md</a:t>
            </a:r>
          </a:p>
          <a:p>
            <a:pPr algn="l">
              <a:lnSpc>
                <a:spcPct val="100000"/>
              </a:lnSpc>
            </a:pPr>
            <a:r>
              <a:rPr sz="800" b="0" i="0">
                <a:solidFill>
                  <a:srgbClr val="ECE7DC"/>
                </a:solidFill>
                <a:latin typeface="Consolas"/>
              </a:rPr>
              <a:t>│   ├── GUI-Manager-design.md</a:t>
            </a:r>
          </a:p>
          <a:p>
            <a:pPr algn="l">
              <a:lnSpc>
                <a:spcPct val="100000"/>
              </a:lnSpc>
            </a:pPr>
            <a:r>
              <a:rPr sz="800" b="0" i="0">
                <a:solidFill>
                  <a:srgbClr val="ECE7DC"/>
                </a:solidFill>
                <a:latin typeface="Consolas"/>
              </a:rPr>
              <a:t>│   ├── model-configuration-verification.md</a:t>
            </a:r>
          </a:p>
          <a:p>
            <a:pPr algn="l">
              <a:lnSpc>
                <a:spcPct val="100000"/>
              </a:lnSpc>
            </a:pPr>
            <a:r>
              <a:rPr sz="800" b="0" i="0">
                <a:solidFill>
                  <a:srgbClr val="ECE7DC"/>
                </a:solidFill>
                <a:latin typeface="Consolas"/>
              </a:rPr>
              <a:t>│   ├── model_configuration.md</a:t>
            </a:r>
          </a:p>
          <a:p>
            <a:pPr algn="l">
              <a:lnSpc>
                <a:spcPct val="100000"/>
              </a:lnSpc>
            </a:pPr>
            <a:r>
              <a:rPr sz="800" b="0" i="0">
                <a:solidFill>
                  <a:srgbClr val="ECE7DC"/>
                </a:solidFill>
                <a:latin typeface="Consolas"/>
              </a:rPr>
              <a:t>│   ├── pdf-canvas.md</a:t>
            </a:r>
          </a:p>
          <a:p>
            <a:pPr algn="l">
              <a:lnSpc>
                <a:spcPct val="100000"/>
              </a:lnSpc>
            </a:pPr>
            <a:r>
              <a:rPr sz="800" b="0" i="0">
                <a:solidFill>
                  <a:srgbClr val="ECE7DC"/>
                </a:solidFill>
                <a:latin typeface="Consolas"/>
              </a:rPr>
              <a:t>│   ├── prompting-flow-designer.md</a:t>
            </a:r>
          </a:p>
          <a:p>
            <a:pPr algn="l">
              <a:lnSpc>
                <a:spcPct val="100000"/>
              </a:lnSpc>
            </a:pPr>
            <a:r>
              <a:rPr sz="800" b="0" i="0">
                <a:solidFill>
                  <a:srgbClr val="ECE7DC"/>
                </a:solidFill>
                <a:latin typeface="Consolas"/>
              </a:rPr>
              <a:t>│   ├── self-management-carriage.md</a:t>
            </a:r>
          </a:p>
          <a:p>
            <a:pPr algn="l">
              <a:lnSpc>
                <a:spcPct val="100000"/>
              </a:lnSpc>
            </a:pPr>
            <a:r>
              <a:rPr sz="800" b="0" i="0">
                <a:solidFill>
                  <a:srgbClr val="ECE7DC"/>
                </a:solidFill>
                <a:latin typeface="Consolas"/>
              </a:rPr>
              <a:t>│   ├── stm32er_all_families_proposal.md</a:t>
            </a:r>
          </a:p>
          <a:p>
            <a:pPr algn="l">
              <a:lnSpc>
                <a:spcPct val="100000"/>
              </a:lnSpc>
            </a:pPr>
            <a:r>
              <a:rPr sz="800" b="0" i="0">
                <a:solidFill>
                  <a:srgbClr val="ECE7DC"/>
                </a:solidFill>
                <a:latin typeface="Consolas"/>
              </a:rPr>
              <a:t>│   ├── usage-dashboard.md</a:t>
            </a:r>
          </a:p>
          <a:p>
            <a:pPr algn="l">
              <a:lnSpc>
                <a:spcPct val="100000"/>
              </a:lnSpc>
            </a:pPr>
            <a:r>
              <a:rPr sz="800" b="0" i="0">
                <a:solidFill>
                  <a:srgbClr val="ECE7DC"/>
                </a:solidFill>
                <a:latin typeface="Consolas"/>
              </a:rPr>
              <a:t>│   ├── visual-analysis-errors.md</a:t>
            </a:r>
          </a:p>
          <a:p>
            <a:pPr algn="l">
              <a:lnSpc>
                <a:spcPct val="100000"/>
              </a:lnSpc>
            </a:pPr>
            <a:r>
              <a:rPr sz="800" b="0" i="0">
                <a:solidFill>
                  <a:srgbClr val="ECE7DC"/>
                </a:solidFill>
                <a:latin typeface="Consolas"/>
              </a:rPr>
              <a:t>│   ├── windows-flow-files.md</a:t>
            </a:r>
          </a:p>
          <a:p>
            <a:pPr algn="l">
              <a:lnSpc>
                <a:spcPct val="100000"/>
              </a:lnSpc>
            </a:pPr>
            <a:r>
              <a:rPr sz="800" b="0" i="0">
                <a:solidFill>
                  <a:srgbClr val="3BBE93"/>
                </a:solidFill>
                <a:latin typeface="Consolas"/>
              </a:rPr>
              <a:t>│   ├── changes/</a:t>
            </a:r>
          </a:p>
          <a:p>
            <a:pPr algn="l">
              <a:lnSpc>
                <a:spcPct val="100000"/>
              </a:lnSpc>
            </a:pPr>
            <a:r>
              <a:rPr sz="800" b="0" i="0">
                <a:solidFill>
                  <a:srgbClr val="ECE7DC"/>
                </a:solidFill>
                <a:latin typeface="Consolas"/>
              </a:rPr>
              <a:t>│   │   ├── 2026-10-03-prompt-commentary-input.md</a:t>
            </a:r>
          </a:p>
          <a:p>
            <a:pPr algn="l">
              <a:lnSpc>
                <a:spcPct val="100000"/>
              </a:lnSpc>
            </a:pPr>
            <a:r>
              <a:rPr sz="800" b="0" i="0">
                <a:solidFill>
                  <a:srgbClr val="ECE7DC"/>
                </a:solidFill>
                <a:latin typeface="Consolas"/>
              </a:rPr>
              <a:t>│   │   ├── 2026-10-03-prompt-commentary-input.patch</a:t>
            </a:r>
          </a:p>
          <a:p>
            <a:pPr algn="l">
              <a:lnSpc>
                <a:spcPct val="100000"/>
              </a:lnSpc>
            </a:pPr>
            <a:r>
              <a:rPr sz="800" b="0" i="0">
                <a:solidFill>
                  <a:srgbClr val="ECE7DC"/>
                </a:solidFill>
                <a:latin typeface="Consolas"/>
              </a:rPr>
              <a:t>│   │   ├── 2026-10-03-prompt-flow-documentation.md</a:t>
            </a:r>
          </a:p>
          <a:p>
            <a:pPr algn="l">
              <a:lnSpc>
                <a:spcPct val="100000"/>
              </a:lnSpc>
            </a:pPr>
            <a:r>
              <a:rPr sz="800" b="0" i="0">
                <a:solidFill>
                  <a:srgbClr val="ECE7DC"/>
                </a:solidFill>
                <a:latin typeface="Consolas"/>
              </a:rPr>
              <a:t>│   │   ├── 2026-10-03-prompt-flow-documentation.patch</a:t>
            </a:r>
          </a:p>
          <a:p>
            <a:pPr algn="l">
              <a:lnSpc>
                <a:spcPct val="100000"/>
              </a:lnSpc>
            </a:pPr>
            <a:r>
              <a:rPr sz="800" b="0" i="0">
                <a:solidFill>
                  <a:srgbClr val="ECE7DC"/>
                </a:solidFill>
                <a:latin typeface="Consolas"/>
              </a:rPr>
              <a:t>│   │   ├── 2026-10-04-commentary-graphical-redesign.md</a:t>
            </a:r>
          </a:p>
          <a:p>
            <a:pPr algn="l">
              <a:lnSpc>
                <a:spcPct val="100000"/>
              </a:lnSpc>
            </a:pPr>
            <a:r>
              <a:rPr sz="800" b="0" i="0">
                <a:solidFill>
                  <a:srgbClr val="ECE7DC"/>
                </a:solidFill>
                <a:latin typeface="Consolas"/>
              </a:rPr>
              <a:t>│   │   ├── 2026-10-04-commentary-graphical-redesign.pat</a:t>
            </a:r>
          </a:p>
          <a:p>
            <a:pPr algn="l">
              <a:lnSpc>
                <a:spcPct val="100000"/>
              </a:lnSpc>
            </a:pPr>
            <a:r>
              <a:rPr sz="800" b="0" i="0">
                <a:solidFill>
                  <a:srgbClr val="ECE7DC"/>
                </a:solidFill>
                <a:latin typeface="Consolas"/>
              </a:rPr>
              <a:t>│   │   │     » ch</a:t>
            </a:r>
          </a:p>
          <a:p>
            <a:pPr algn="l">
              <a:lnSpc>
                <a:spcPct val="100000"/>
              </a:lnSpc>
            </a:pPr>
            <a:r>
              <a:rPr sz="800" b="0" i="0">
                <a:solidFill>
                  <a:srgbClr val="ECE7DC"/>
                </a:solidFill>
                <a:latin typeface="Consolas"/>
              </a:rPr>
              <a:t>│   │   ├── 2026-10-04-prompt-flow-documentation.md</a:t>
            </a:r>
          </a:p>
          <a:p>
            <a:pPr algn="l">
              <a:lnSpc>
                <a:spcPct val="100000"/>
              </a:lnSpc>
            </a:pPr>
            <a:r>
              <a:rPr sz="800" b="0" i="0">
                <a:solidFill>
                  <a:srgbClr val="ECE7DC"/>
                </a:solidFill>
                <a:latin typeface="Consolas"/>
              </a:rPr>
              <a:t>│   │   ├── 2026-10-04-release-validation.md</a:t>
            </a:r>
          </a:p>
          <a:p>
            <a:pPr algn="l">
              <a:lnSpc>
                <a:spcPct val="100000"/>
              </a:lnSpc>
            </a:pPr>
            <a:r>
              <a:rPr sz="800" b="0" i="0">
                <a:solidFill>
                  <a:srgbClr val="ECE7DC"/>
                </a:solidFill>
                <a:latin typeface="Consolas"/>
              </a:rPr>
              <a:t>│   │   ├── 2026-10-04-run-output-resize.md</a:t>
            </a:r>
          </a:p>
          <a:p>
            <a:pPr algn="l">
              <a:lnSpc>
                <a:spcPct val="100000"/>
              </a:lnSpc>
            </a:pPr>
            <a:r>
              <a:rPr sz="800" b="0" i="0">
                <a:solidFill>
                  <a:srgbClr val="ECE7DC"/>
                </a:solidFill>
                <a:latin typeface="Consolas"/>
              </a:rPr>
              <a:t>│   │   ├── 2026-10-04-run-output-resize.patch</a:t>
            </a:r>
          </a:p>
          <a:p>
            <a:pPr algn="l">
              <a:lnSpc>
                <a:spcPct val="100000"/>
              </a:lnSpc>
            </a:pPr>
            <a:r>
              <a:rPr sz="800" b="0" i="0">
                <a:solidFill>
                  <a:srgbClr val="ECE7DC"/>
                </a:solidFill>
                <a:latin typeface="Consolas"/>
              </a:rPr>
              <a:t>│   │   ├── 2026-10-04-windows-flow-files.md</a:t>
            </a:r>
          </a:p>
          <a:p>
            <a:pPr algn="l">
              <a:lnSpc>
                <a:spcPct val="100000"/>
              </a:lnSpc>
            </a:pPr>
            <a:r>
              <a:rPr sz="800" b="0" i="0">
                <a:solidFill>
                  <a:srgbClr val="ECE7DC"/>
                </a:solidFill>
                <a:latin typeface="Consolas"/>
              </a:rPr>
              <a:t>│   │   ├── 2026-10-07-latexer-verification.md</a:t>
            </a:r>
          </a:p>
          <a:p>
            <a:pPr algn="l">
              <a:lnSpc>
                <a:spcPct val="100000"/>
              </a:lnSpc>
            </a:pPr>
            <a:r>
              <a:rPr sz="800" b="0" i="0">
                <a:solidFill>
                  <a:srgbClr val="ECE7DC"/>
                </a:solidFill>
                <a:latin typeface="Consolas"/>
              </a:rPr>
              <a:t>│   │   ├── 2026-10-07-pdf-mover-incident.md</a:t>
            </a:r>
          </a:p>
          <a:p>
            <a:pPr algn="l">
              <a:lnSpc>
                <a:spcPct val="100000"/>
              </a:lnSpc>
            </a:pPr>
            <a:r>
              <a:rPr sz="800" b="0" i="0">
                <a:solidFill>
                  <a:srgbClr val="ECE7DC"/>
                </a:solidFill>
                <a:latin typeface="Consolas"/>
              </a:rPr>
              <a:t>│   │   ├── 2026-10-07-windows-access-verification.md</a:t>
            </a:r>
          </a:p>
          <a:p>
            <a:pPr algn="l">
              <a:lnSpc>
                <a:spcPct val="100000"/>
              </a:lnSpc>
            </a:pPr>
            <a:r>
              <a:rPr sz="800" b="0" i="0">
                <a:solidFill>
                  <a:srgbClr val="ECE7DC"/>
                </a:solidFill>
                <a:latin typeface="Consolas"/>
              </a:rPr>
              <a:t>│   │   └── 2026-10-10-composer-resize.md</a:t>
            </a:r>
          </a:p>
          <a:p>
            <a:pPr algn="l">
              <a:lnSpc>
                <a:spcPct val="100000"/>
              </a:lnSpc>
            </a:pPr>
            <a:r>
              <a:rPr sz="800" b="0" i="0">
                <a:solidFill>
                  <a:srgbClr val="3BBE93"/>
                </a:solidFill>
                <a:latin typeface="Consolas"/>
              </a:rPr>
              <a:t>│   ├── claude/</a:t>
            </a:r>
          </a:p>
          <a:p>
            <a:pPr algn="l">
              <a:lnSpc>
                <a:spcPct val="100000"/>
              </a:lnSpc>
            </a:pPr>
            <a:r>
              <a:rPr sz="800" b="0" i="0">
                <a:solidFill>
                  <a:srgbClr val="ECE7DC"/>
                </a:solidFill>
                <a:latin typeface="Consolas"/>
              </a:rPr>
              <a:t>│   │   ├── acpx.md</a:t>
            </a:r>
          </a:p>
          <a:p>
            <a:pPr algn="l">
              <a:lnSpc>
                <a:spcPct val="100000"/>
              </a:lnSpc>
            </a:pPr>
            <a:r>
              <a:rPr sz="800" b="0" i="0">
                <a:solidFill>
                  <a:srgbClr val="ECE7DC"/>
                </a:solidFill>
                <a:latin typeface="Consolas"/>
              </a:rPr>
              <a:t>│   │   ├── agents.md</a:t>
            </a:r>
          </a:p>
          <a:p>
            <a:pPr algn="l">
              <a:lnSpc>
                <a:spcPct val="100000"/>
              </a:lnSpc>
            </a:pPr>
            <a:r>
              <a:rPr sz="800" b="0" i="0">
                <a:solidFill>
                  <a:srgbClr val="ECE7DC"/>
                </a:solidFill>
                <a:latin typeface="Consolas"/>
              </a:rPr>
              <a:t>│   │   ├── architecture.md</a:t>
            </a:r>
          </a:p>
          <a:p>
            <a:pPr algn="l">
              <a:lnSpc>
                <a:spcPct val="100000"/>
              </a:lnSpc>
            </a:pPr>
            <a:r>
              <a:rPr sz="800" b="0" i="0">
                <a:solidFill>
                  <a:srgbClr val="ECE7DC"/>
                </a:solidFill>
                <a:latin typeface="Consolas"/>
              </a:rPr>
              <a:t>│   │   ├── exec-report.md</a:t>
            </a:r>
          </a:p>
          <a:p>
            <a:pPr algn="l">
              <a:lnSpc>
                <a:spcPct val="100000"/>
              </a:lnSpc>
            </a:pPr>
            <a:r>
              <a:rPr sz="800" b="0" i="0">
                <a:solidFill>
                  <a:srgbClr val="ECE7DC"/>
                </a:solidFill>
                <a:latin typeface="Consolas"/>
              </a:rPr>
              <a:t>│   │   ├── frontend.md</a:t>
            </a:r>
          </a:p>
          <a:p>
            <a:pPr algn="l">
              <a:lnSpc>
                <a:spcPct val="100000"/>
              </a:lnSpc>
            </a:pPr>
            <a:r>
              <a:rPr sz="800" b="0" i="0">
                <a:solidFill>
                  <a:srgbClr val="ECE7DC"/>
                </a:solidFill>
                <a:latin typeface="Consolas"/>
              </a:rPr>
              <a:t>│   │   ├── gotchas.md</a:t>
            </a:r>
          </a:p>
          <a:p>
            <a:pPr algn="l">
              <a:lnSpc>
                <a:spcPct val="100000"/>
              </a:lnSpc>
            </a:pPr>
            <a:r>
              <a:rPr sz="800" b="0" i="0">
                <a:solidFill>
                  <a:srgbClr val="ECE7DC"/>
                </a:solidFill>
                <a:latin typeface="Consolas"/>
              </a:rPr>
              <a:t>│   │   ├── INDEX.md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141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4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1,688 tracked files at commit 113eddc4;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mcp-tools.md</a:t>
            </a:r>
          </a:p>
          <a:p>
            <a:pPr algn="l">
              <a:lnSpc>
                <a:spcPct val="100000"/>
              </a:lnSpc>
            </a:pPr>
            <a:r>
              <a:rPr sz="800" b="0" i="0">
                <a:solidFill>
                  <a:srgbClr val="ECE7DC"/>
                </a:solidFill>
                <a:latin typeface="Consolas"/>
              </a:rPr>
              <a:t>│   │   ├── multi-turn.md</a:t>
            </a:r>
          </a:p>
          <a:p>
            <a:pPr algn="l">
              <a:lnSpc>
                <a:spcPct val="100000"/>
              </a:lnSpc>
            </a:pPr>
            <a:r>
              <a:rPr sz="800" b="0" i="0">
                <a:solidFill>
                  <a:srgbClr val="ECE7DC"/>
                </a:solidFill>
                <a:latin typeface="Consolas"/>
              </a:rPr>
              <a:t>│   │   └── recent-fixes.md</a:t>
            </a:r>
          </a:p>
          <a:p>
            <a:pPr algn="l">
              <a:lnSpc>
                <a:spcPct val="100000"/>
              </a:lnSpc>
            </a:pPr>
            <a:r>
              <a:rPr sz="800" b="0" i="0">
                <a:solidFill>
                  <a:srgbClr val="3BBE93"/>
                </a:solidFill>
                <a:latin typeface="Consolas"/>
              </a:rPr>
              <a:t>│   └── examples/</a:t>
            </a:r>
          </a:p>
          <a:p>
            <a:pPr algn="l">
              <a:lnSpc>
                <a:spcPct val="100000"/>
              </a:lnSpc>
            </a:pPr>
            <a:r>
              <a:rPr sz="800" b="0" i="0">
                <a:solidFill>
                  <a:srgbClr val="ECE7DC"/>
                </a:solidFill>
                <a:latin typeface="Consolas"/>
              </a:rPr>
              <a:t>│       └── prompting-kickoff.fpmt</a:t>
            </a:r>
          </a:p>
          <a:p>
            <a:pPr algn="l">
              <a:lnSpc>
                <a:spcPct val="100000"/>
              </a:lnSpc>
            </a:pPr>
            <a:r>
              <a:rPr sz="800" b="0" i="0">
                <a:solidFill>
                  <a:srgbClr val="3BBE93"/>
                </a:solidFill>
                <a:latin typeface="Consolas"/>
              </a:rPr>
              <a:t>├── pyinstaller_hooks/</a:t>
            </a:r>
          </a:p>
          <a:p>
            <a:pPr algn="l">
              <a:lnSpc>
                <a:spcPct val="100000"/>
              </a:lnSpc>
            </a:pPr>
            <a:r>
              <a:rPr sz="800" b="0" i="0">
                <a:solidFill>
                  <a:srgbClr val="ECE7DC"/>
                </a:solidFill>
                <a:latin typeface="Consolas"/>
              </a:rPr>
              <a:t>│   ├── hook-numpy.py</a:t>
            </a:r>
          </a:p>
          <a:p>
            <a:pPr algn="l">
              <a:lnSpc>
                <a:spcPct val="100000"/>
              </a:lnSpc>
            </a:pPr>
            <a:r>
              <a:rPr sz="800" b="0" i="0">
                <a:solidFill>
                  <a:srgbClr val="ECE7DC"/>
                </a:solidFill>
                <a:latin typeface="Consolas"/>
              </a:rPr>
              <a:t>│   ├── hook-pymupdf.py</a:t>
            </a:r>
          </a:p>
          <a:p>
            <a:pPr algn="l">
              <a:lnSpc>
                <a:spcPct val="100000"/>
              </a:lnSpc>
            </a:pPr>
            <a:r>
              <a:rPr sz="800" b="0" i="0">
                <a:solidFill>
                  <a:srgbClr val="ECE7DC"/>
                </a:solidFill>
                <a:latin typeface="Consolas"/>
              </a:rPr>
              <a:t>│   └── hook-torch.py</a:t>
            </a:r>
          </a:p>
          <a:p>
            <a:pPr algn="l">
              <a:lnSpc>
                <a:spcPct val="100000"/>
              </a:lnSpc>
            </a:pPr>
            <a:r>
              <a:rPr sz="800" b="0" i="0">
                <a:solidFill>
                  <a:srgbClr val="3BBE93"/>
                </a:solidFill>
                <a:latin typeface="Consolas"/>
              </a:rPr>
              <a:t>├── scripts/</a:t>
            </a:r>
          </a:p>
          <a:p>
            <a:pPr algn="l">
              <a:lnSpc>
                <a:spcPct val="100000"/>
              </a:lnSpc>
            </a:pPr>
            <a:r>
              <a:rPr sz="800" b="0" i="0">
                <a:solidFill>
                  <a:srgbClr val="ECE7DC"/>
                </a:solidFill>
                <a:latin typeface="Consolas"/>
              </a:rPr>
              <a:t>│   ├── acp_editor_visible.py</a:t>
            </a:r>
          </a:p>
          <a:p>
            <a:pPr algn="l">
              <a:lnSpc>
                <a:spcPct val="100000"/>
              </a:lnSpc>
            </a:pPr>
            <a:r>
              <a:rPr sz="800" b="0" i="0">
                <a:solidFill>
                  <a:srgbClr val="ECE7DC"/>
                </a:solidFill>
                <a:latin typeface="Consolas"/>
              </a:rPr>
              <a:t>│   ├── chat_composer_resize_checks.py</a:t>
            </a:r>
          </a:p>
          <a:p>
            <a:pPr algn="l">
              <a:lnSpc>
                <a:spcPct val="100000"/>
              </a:lnSpc>
            </a:pPr>
            <a:r>
              <a:rPr sz="800" b="0" i="0">
                <a:solidFill>
                  <a:srgbClr val="ECE7DC"/>
                </a:solidFill>
                <a:latin typeface="Consolas"/>
              </a:rPr>
              <a:t>│   ├── chat_composer_resize_visible.py</a:t>
            </a:r>
          </a:p>
          <a:p>
            <a:pPr algn="l">
              <a:lnSpc>
                <a:spcPct val="100000"/>
              </a:lnSpc>
            </a:pPr>
            <a:r>
              <a:rPr sz="800" b="0" i="0">
                <a:solidFill>
                  <a:srgbClr val="ECE7DC"/>
                </a:solidFill>
                <a:latin typeface="Consolas"/>
              </a:rPr>
              <a:t>│   ├── chat_composer_visible_window.py</a:t>
            </a:r>
          </a:p>
          <a:p>
            <a:pPr algn="l">
              <a:lnSpc>
                <a:spcPct val="100000"/>
              </a:lnSpc>
            </a:pPr>
            <a:r>
              <a:rPr sz="800" b="0" i="0">
                <a:solidFill>
                  <a:srgbClr val="ECE7DC"/>
                </a:solidFill>
                <a:latin typeface="Consolas"/>
              </a:rPr>
              <a:t>│   ├── chat_microphone_visible.py</a:t>
            </a:r>
          </a:p>
          <a:p>
            <a:pPr algn="l">
              <a:lnSpc>
                <a:spcPct val="100000"/>
              </a:lnSpc>
            </a:pPr>
            <a:r>
              <a:rPr sz="800" b="0" i="0">
                <a:solidFill>
                  <a:srgbClr val="ECE7DC"/>
                </a:solidFill>
                <a:latin typeface="Consolas"/>
              </a:rPr>
              <a:t>│   ├── chat_viewport_visible_checks.py</a:t>
            </a:r>
          </a:p>
          <a:p>
            <a:pPr algn="l">
              <a:lnSpc>
                <a:spcPct val="100000"/>
              </a:lnSpc>
            </a:pPr>
            <a:r>
              <a:rPr sz="800" b="0" i="0">
                <a:solidFill>
                  <a:srgbClr val="ECE7DC"/>
                </a:solidFill>
                <a:latin typeface="Consolas"/>
              </a:rPr>
              <a:t>│   ├── check_js_parse.mjs</a:t>
            </a:r>
          </a:p>
          <a:p>
            <a:pPr algn="l">
              <a:lnSpc>
                <a:spcPct val="100000"/>
              </a:lnSpc>
            </a:pPr>
            <a:r>
              <a:rPr sz="800" b="0" i="0">
                <a:solidFill>
                  <a:srgbClr val="ECE7DC"/>
                </a:solidFill>
                <a:latin typeface="Consolas"/>
              </a:rPr>
              <a:t>│   ├── check_requirements_coverage.py</a:t>
            </a:r>
          </a:p>
          <a:p>
            <a:pPr algn="l">
              <a:lnSpc>
                <a:spcPct val="100000"/>
              </a:lnSpc>
            </a:pPr>
            <a:r>
              <a:rPr sz="800" b="0" i="0">
                <a:solidFill>
                  <a:srgbClr val="ECE7DC"/>
                </a:solidFill>
                <a:latin typeface="Consolas"/>
              </a:rPr>
              <a:t>│   ├── dossier_visual_walkthrough_visible.py</a:t>
            </a:r>
          </a:p>
          <a:p>
            <a:pPr algn="l">
              <a:lnSpc>
                <a:spcPct val="100000"/>
              </a:lnSpc>
            </a:pPr>
            <a:r>
              <a:rPr sz="800" b="0" i="0">
                <a:solidFill>
                  <a:srgbClr val="ECE7DC"/>
                </a:solidFill>
                <a:latin typeface="Consolas"/>
              </a:rPr>
              <a:t>│   ├── flow_canvas_mechanics_visible.py</a:t>
            </a:r>
          </a:p>
          <a:p>
            <a:pPr algn="l">
              <a:lnSpc>
                <a:spcPct val="100000"/>
              </a:lnSpc>
            </a:pPr>
            <a:r>
              <a:rPr sz="800" b="0" i="0">
                <a:solidFill>
                  <a:srgbClr val="ECE7DC"/>
                </a:solidFill>
                <a:latin typeface="Consolas"/>
              </a:rPr>
              <a:t>│   ├── flow_file_associations_test.ps1</a:t>
            </a:r>
          </a:p>
          <a:p>
            <a:pPr algn="l">
              <a:lnSpc>
                <a:spcPct val="100000"/>
              </a:lnSpc>
            </a:pPr>
            <a:r>
              <a:rPr sz="800" b="0" i="0">
                <a:solidFill>
                  <a:srgbClr val="ECE7DC"/>
                </a:solidFill>
                <a:latin typeface="Consolas"/>
              </a:rPr>
              <a:t>│   ├── flow_files_visible.py</a:t>
            </a:r>
          </a:p>
          <a:p>
            <a:pPr algn="l">
              <a:lnSpc>
                <a:spcPct val="100000"/>
              </a:lnSpc>
            </a:pPr>
            <a:r>
              <a:rPr sz="800" b="0" i="0">
                <a:solidFill>
                  <a:srgbClr val="ECE7DC"/>
                </a:solidFill>
                <a:latin typeface="Consolas"/>
              </a:rPr>
              <a:t>│   ├── installed_panels_visible.py</a:t>
            </a:r>
          </a:p>
          <a:p>
            <a:pPr algn="l">
              <a:lnSpc>
                <a:spcPct val="100000"/>
              </a:lnSpc>
            </a:pPr>
            <a:r>
              <a:rPr sz="800" b="0" i="0">
                <a:solidFill>
                  <a:srgbClr val="ECE7DC"/>
                </a:solidFill>
                <a:latin typeface="Consolas"/>
              </a:rPr>
              <a:t>│   ├── menu_browser_checks.py</a:t>
            </a:r>
          </a:p>
          <a:p>
            <a:pPr algn="l">
              <a:lnSpc>
                <a:spcPct val="100000"/>
              </a:lnSpc>
            </a:pPr>
            <a:r>
              <a:rPr sz="800" b="0" i="0">
                <a:solidFill>
                  <a:srgbClr val="ECE7DC"/>
                </a:solidFill>
                <a:latin typeface="Consolas"/>
              </a:rPr>
              <a:t>│   ├── menu_live_checks.py</a:t>
            </a:r>
          </a:p>
          <a:p>
            <a:pPr algn="l">
              <a:lnSpc>
                <a:spcPct val="100000"/>
              </a:lnSpc>
            </a:pPr>
            <a:r>
              <a:rPr sz="800" b="0" i="0">
                <a:solidFill>
                  <a:srgbClr val="ECE7DC"/>
                </a:solidFill>
                <a:latin typeface="Consolas"/>
              </a:rPr>
              <a:t>│   ├── menu_reference_graph.mjs</a:t>
            </a:r>
          </a:p>
          <a:p>
            <a:pPr algn="l">
              <a:lnSpc>
                <a:spcPct val="100000"/>
              </a:lnSpc>
            </a:pPr>
            <a:r>
              <a:rPr sz="800" b="0" i="0">
                <a:solidFill>
                  <a:srgbClr val="ECE7DC"/>
                </a:solidFill>
                <a:latin typeface="Consolas"/>
              </a:rPr>
              <a:t>│   ├── panel_search_title_visible.py</a:t>
            </a:r>
          </a:p>
          <a:p>
            <a:pPr algn="l">
              <a:lnSpc>
                <a:spcPct val="100000"/>
              </a:lnSpc>
            </a:pPr>
            <a:r>
              <a:rPr sz="800" b="0" i="0">
                <a:solidFill>
                  <a:srgbClr val="ECE7DC"/>
                </a:solidFill>
                <a:latin typeface="Consolas"/>
              </a:rPr>
              <a:t>│   ├── pptxer_visibility_gallery.py</a:t>
            </a:r>
          </a:p>
          <a:p>
            <a:pPr algn="l">
              <a:lnSpc>
                <a:spcPct val="100000"/>
              </a:lnSpc>
            </a:pPr>
            <a:r>
              <a:rPr sz="800" b="0" i="0">
                <a:solidFill>
                  <a:srgbClr val="ECE7DC"/>
                </a:solidFill>
                <a:latin typeface="Consolas"/>
              </a:rPr>
              <a:t>│   ├── prompt_flow_commentary_visible.py</a:t>
            </a:r>
          </a:p>
          <a:p>
            <a:pPr algn="l">
              <a:lnSpc>
                <a:spcPct val="100000"/>
              </a:lnSpc>
            </a:pPr>
            <a:r>
              <a:rPr sz="800" b="0" i="0">
                <a:solidFill>
                  <a:srgbClr val="ECE7DC"/>
                </a:solidFill>
                <a:latin typeface="Consolas"/>
              </a:rPr>
              <a:t>│   ├── prompt_flow_connections_visible.py</a:t>
            </a:r>
          </a:p>
          <a:p>
            <a:pPr algn="l">
              <a:lnSpc>
                <a:spcPct val="100000"/>
              </a:lnSpc>
            </a:pPr>
            <a:r>
              <a:rPr sz="800" b="0" i="0">
                <a:solidFill>
                  <a:srgbClr val="ECE7DC"/>
                </a:solidFill>
                <a:latin typeface="Consolas"/>
              </a:rPr>
              <a:t>│   ├── prompt_flow_extension_visible.py</a:t>
            </a:r>
          </a:p>
          <a:p>
            <a:pPr algn="l">
              <a:lnSpc>
                <a:spcPct val="100000"/>
              </a:lnSpc>
            </a:pPr>
            <a:r>
              <a:rPr sz="800" b="0" i="0">
                <a:solidFill>
                  <a:srgbClr val="ECE7DC"/>
                </a:solidFill>
                <a:latin typeface="Consolas"/>
              </a:rPr>
              <a:t>│   ├── prompt_flow_output_resize_visible.py</a:t>
            </a:r>
          </a:p>
          <a:p>
            <a:pPr algn="l">
              <a:lnSpc>
                <a:spcPct val="100000"/>
              </a:lnSpc>
            </a:pPr>
            <a:r>
              <a:rPr sz="800" b="0" i="0">
                <a:solidFill>
                  <a:srgbClr val="ECE7DC"/>
                </a:solidFill>
                <a:latin typeface="Consolas"/>
              </a:rPr>
              <a:t>│   ├── prompt_flow_selection_visible.py</a:t>
            </a:r>
          </a:p>
          <a:p>
            <a:pPr algn="l">
              <a:lnSpc>
                <a:spcPct val="100000"/>
              </a:lnSpc>
            </a:pPr>
            <a:r>
              <a:rPr sz="800" b="0" i="0">
                <a:solidFill>
                  <a:srgbClr val="ECE7DC"/>
                </a:solidFill>
                <a:latin typeface="Consolas"/>
              </a:rPr>
              <a:t>│   ├── release_acp_editor_checks.py</a:t>
            </a:r>
          </a:p>
          <a:p>
            <a:pPr algn="l">
              <a:lnSpc>
                <a:spcPct val="100000"/>
              </a:lnSpc>
            </a:pPr>
            <a:r>
              <a:rPr sz="800" b="0" i="0">
                <a:solidFill>
                  <a:srgbClr val="ECE7DC"/>
                </a:solidFill>
                <a:latin typeface="Consolas"/>
              </a:rPr>
              <a:t>│   ├── release_acp_runtime_checks.py</a:t>
            </a:r>
          </a:p>
          <a:p>
            <a:pPr algn="l">
              <a:lnSpc>
                <a:spcPct val="100000"/>
              </a:lnSpc>
            </a:pPr>
            <a:r>
              <a:rPr sz="800" b="0" i="0">
                <a:solidFill>
                  <a:srgbClr val="ECE7DC"/>
                </a:solidFill>
                <a:latin typeface="Consolas"/>
              </a:rPr>
              <a:t>│   ├── release_agent_catalog_checks.py</a:t>
            </a:r>
          </a:p>
          <a:p>
            <a:pPr algn="l">
              <a:lnSpc>
                <a:spcPct val="100000"/>
              </a:lnSpc>
            </a:pPr>
            <a:r>
              <a:rPr sz="800" b="0" i="0">
                <a:solidFill>
                  <a:srgbClr val="ECE7DC"/>
                </a:solidFill>
                <a:latin typeface="Consolas"/>
              </a:rPr>
              <a:t>│   ├── release_auth_checks.py</a:t>
            </a:r>
          </a:p>
          <a:p>
            <a:pPr algn="l">
              <a:lnSpc>
                <a:spcPct val="100000"/>
              </a:lnSpc>
            </a:pPr>
            <a:r>
              <a:rPr sz="800" b="0" i="0">
                <a:solidFill>
                  <a:srgbClr val="ECE7DC"/>
                </a:solidFill>
                <a:latin typeface="Consolas"/>
              </a:rPr>
              <a:t>│   ├── release_commentary_checks.py</a:t>
            </a:r>
          </a:p>
          <a:p>
            <a:pPr algn="l">
              <a:lnSpc>
                <a:spcPct val="100000"/>
              </a:lnSpc>
            </a:pPr>
            <a:r>
              <a:rPr sz="800" b="0" i="0">
                <a:solidFill>
                  <a:srgbClr val="ECE7DC"/>
                </a:solidFill>
                <a:latin typeface="Consolas"/>
              </a:rPr>
              <a:t>│   ├── release_extended_checks.py</a:t>
            </a:r>
          </a:p>
          <a:p>
            <a:pPr algn="l">
              <a:lnSpc>
                <a:spcPct val="100000"/>
              </a:lnSpc>
            </a:pPr>
            <a:r>
              <a:rPr sz="800" b="0" i="0">
                <a:solidFill>
                  <a:srgbClr val="ECE7DC"/>
                </a:solidFill>
                <a:latin typeface="Consolas"/>
              </a:rPr>
              <a:t>│   ├── release_local_agent_checks.py</a:t>
            </a:r>
          </a:p>
          <a:p>
            <a:pPr algn="l">
              <a:lnSpc>
                <a:spcPct val="100000"/>
              </a:lnSpc>
            </a:pPr>
            <a:r>
              <a:rPr sz="800" b="0" i="0">
                <a:solidFill>
                  <a:srgbClr val="ECE7DC"/>
                </a:solidFill>
                <a:latin typeface="Consolas"/>
              </a:rPr>
              <a:t>│   ├── release_mcp_checks.py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release_output_resize_checks.py</a:t>
            </a:r>
          </a:p>
          <a:p>
            <a:pPr algn="l">
              <a:lnSpc>
                <a:spcPct val="100000"/>
              </a:lnSpc>
            </a:pPr>
            <a:r>
              <a:rPr sz="800" b="0" i="0">
                <a:solidFill>
                  <a:srgbClr val="ECE7DC"/>
                </a:solidFill>
                <a:latin typeface="Consolas"/>
              </a:rPr>
              <a:t>│   ├── release_prompt_runtime_checks.py</a:t>
            </a:r>
          </a:p>
          <a:p>
            <a:pPr algn="l">
              <a:lnSpc>
                <a:spcPct val="100000"/>
              </a:lnSpc>
            </a:pPr>
            <a:r>
              <a:rPr sz="800" b="0" i="0">
                <a:solidFill>
                  <a:srgbClr val="ECE7DC"/>
                </a:solidFill>
                <a:latin typeface="Consolas"/>
              </a:rPr>
              <a:t>│   ├── release_shell_file_checks.py</a:t>
            </a:r>
          </a:p>
          <a:p>
            <a:pPr algn="l">
              <a:lnSpc>
                <a:spcPct val="100000"/>
              </a:lnSpc>
            </a:pPr>
            <a:r>
              <a:rPr sz="800" b="0" i="0">
                <a:solidFill>
                  <a:srgbClr val="ECE7DC"/>
                </a:solidFill>
                <a:latin typeface="Consolas"/>
              </a:rPr>
              <a:t>│   ├── run_menu_state_checks.py</a:t>
            </a:r>
          </a:p>
          <a:p>
            <a:pPr algn="l">
              <a:lnSpc>
                <a:spcPct val="100000"/>
              </a:lnSpc>
            </a:pPr>
            <a:r>
              <a:rPr sz="800" b="0" i="0">
                <a:solidFill>
                  <a:srgbClr val="ECE7DC"/>
                </a:solidFill>
                <a:latin typeface="Consolas"/>
              </a:rPr>
              <a:t>│   ├── skill_inventory.py</a:t>
            </a:r>
          </a:p>
          <a:p>
            <a:pPr algn="l">
              <a:lnSpc>
                <a:spcPct val="100000"/>
              </a:lnSpc>
            </a:pPr>
            <a:r>
              <a:rPr sz="800" b="0" i="0">
                <a:solidFill>
                  <a:srgbClr val="ECE7DC"/>
                </a:solidFill>
                <a:latin typeface="Consolas"/>
              </a:rPr>
              <a:t>│   ├── sync_assistant_skills.py</a:t>
            </a:r>
          </a:p>
          <a:p>
            <a:pPr algn="l">
              <a:lnSpc>
                <a:spcPct val="100000"/>
              </a:lnSpc>
            </a:pPr>
            <a:r>
              <a:rPr sz="800" b="0" i="0">
                <a:solidFill>
                  <a:srgbClr val="ECE7DC"/>
                </a:solidFill>
                <a:latin typeface="Consolas"/>
              </a:rPr>
              <a:t>│   ├── tlamatini_clean_install.ps1</a:t>
            </a:r>
          </a:p>
          <a:p>
            <a:pPr algn="l">
              <a:lnSpc>
                <a:spcPct val="100000"/>
              </a:lnSpc>
            </a:pPr>
            <a:r>
              <a:rPr sz="800" b="0" i="0">
                <a:solidFill>
                  <a:srgbClr val="ECE7DC"/>
                </a:solidFill>
                <a:latin typeface="Consolas"/>
              </a:rPr>
              <a:t>│   ├── update_flow_catalog.py</a:t>
            </a:r>
          </a:p>
          <a:p>
            <a:pPr algn="l">
              <a:lnSpc>
                <a:spcPct val="100000"/>
              </a:lnSpc>
            </a:pPr>
            <a:r>
              <a:rPr sz="800" b="0" i="0">
                <a:solidFill>
                  <a:srgbClr val="ECE7DC"/>
                </a:solidFill>
                <a:latin typeface="Consolas"/>
              </a:rPr>
              <a:t>│   ├── usage_dashboard_browser_checks.py</a:t>
            </a:r>
          </a:p>
          <a:p>
            <a:pPr algn="l">
              <a:lnSpc>
                <a:spcPct val="100000"/>
              </a:lnSpc>
            </a:pPr>
            <a:r>
              <a:rPr sz="800" b="0" i="0">
                <a:solidFill>
                  <a:srgbClr val="ECE7DC"/>
                </a:solidFill>
                <a:latin typeface="Consolas"/>
              </a:rPr>
              <a:t>│   ├── usage_dashboard_fixture_checks.py</a:t>
            </a:r>
          </a:p>
          <a:p>
            <a:pPr algn="l">
              <a:lnSpc>
                <a:spcPct val="100000"/>
              </a:lnSpc>
            </a:pPr>
            <a:r>
              <a:rPr sz="800" b="0" i="0">
                <a:solidFill>
                  <a:srgbClr val="ECE7DC"/>
                </a:solidFill>
                <a:latin typeface="Consolas"/>
              </a:rPr>
              <a:t>│   ├── usage_dashboard_visible.py</a:t>
            </a:r>
          </a:p>
          <a:p>
            <a:pPr algn="l">
              <a:lnSpc>
                <a:spcPct val="100000"/>
              </a:lnSpc>
            </a:pPr>
            <a:r>
              <a:rPr sz="800" b="0" i="0">
                <a:solidFill>
                  <a:srgbClr val="ECE7DC"/>
                </a:solidFill>
                <a:latin typeface="Consolas"/>
              </a:rPr>
              <a:t>│   ├── vendor_frontend.py</a:t>
            </a:r>
          </a:p>
          <a:p>
            <a:pPr algn="l">
              <a:lnSpc>
                <a:spcPct val="100000"/>
              </a:lnSpc>
            </a:pPr>
            <a:r>
              <a:rPr sz="800" b="0" i="0">
                <a:solidFill>
                  <a:srgbClr val="ECE7DC"/>
                </a:solidFill>
                <a:latin typeface="Consolas"/>
              </a:rPr>
              <a:t>│   ├── vendor_pdfjs.py</a:t>
            </a:r>
          </a:p>
          <a:p>
            <a:pPr algn="l">
              <a:lnSpc>
                <a:spcPct val="100000"/>
              </a:lnSpc>
            </a:pPr>
            <a:r>
              <a:rPr sz="800" b="0" i="0">
                <a:solidFill>
                  <a:srgbClr val="ECE7DC"/>
                </a:solidFill>
                <a:latin typeface="Consolas"/>
              </a:rPr>
              <a:t>│   ├── verify_latexer_styles.py</a:t>
            </a:r>
          </a:p>
          <a:p>
            <a:pPr algn="l">
              <a:lnSpc>
                <a:spcPct val="100000"/>
              </a:lnSpc>
            </a:pPr>
            <a:r>
              <a:rPr sz="800" b="0" i="0">
                <a:solidFill>
                  <a:srgbClr val="ECE7DC"/>
                </a:solidFill>
                <a:latin typeface="Consolas"/>
              </a:rPr>
              <a:t>│   ├── verify_pdfer_styles.py</a:t>
            </a:r>
          </a:p>
          <a:p>
            <a:pPr algn="l">
              <a:lnSpc>
                <a:spcPct val="100000"/>
              </a:lnSpc>
            </a:pPr>
            <a:r>
              <a:rPr sz="800" b="0" i="0">
                <a:solidFill>
                  <a:srgbClr val="ECE7DC"/>
                </a:solidFill>
                <a:latin typeface="Consolas"/>
              </a:rPr>
              <a:t>│   ├── verify_pptxer_layout.py</a:t>
            </a:r>
          </a:p>
          <a:p>
            <a:pPr algn="l">
              <a:lnSpc>
                <a:spcPct val="100000"/>
              </a:lnSpc>
            </a:pPr>
            <a:r>
              <a:rPr sz="800" b="0" i="0">
                <a:solidFill>
                  <a:srgbClr val="ECE7DC"/>
                </a:solidFill>
                <a:latin typeface="Consolas"/>
              </a:rPr>
              <a:t>│   ├── verify_pptxer_styles.py</a:t>
            </a:r>
          </a:p>
          <a:p>
            <a:pPr algn="l">
              <a:lnSpc>
                <a:spcPct val="100000"/>
              </a:lnSpc>
            </a:pPr>
            <a:r>
              <a:rPr sz="800" b="0" i="0">
                <a:solidFill>
                  <a:srgbClr val="ECE7DC"/>
                </a:solidFill>
                <a:latin typeface="Consolas"/>
              </a:rPr>
              <a:t>│   └── visual_fatal_dialog_visible.py</a:t>
            </a:r>
          </a:p>
          <a:p>
            <a:pPr algn="l">
              <a:lnSpc>
                <a:spcPct val="100000"/>
              </a:lnSpc>
            </a:pPr>
            <a:r>
              <a:rPr sz="800" b="0" i="0">
                <a:solidFill>
                  <a:srgbClr val="3BBE93"/>
                </a:solidFill>
                <a:latin typeface="Consolas"/>
              </a:rPr>
              <a:t>├── security/</a:t>
            </a:r>
          </a:p>
          <a:p>
            <a:pPr algn="l">
              <a:lnSpc>
                <a:spcPct val="100000"/>
              </a:lnSpc>
            </a:pPr>
            <a:r>
              <a:rPr sz="800" b="0" i="0">
                <a:solidFill>
                  <a:srgbClr val="ECE7DC"/>
                </a:solidFill>
                <a:latin typeface="Consolas"/>
              </a:rPr>
              <a:t>│   ├── automated_tests_of_security_assets.py</a:t>
            </a:r>
          </a:p>
          <a:p>
            <a:pPr algn="l">
              <a:lnSpc>
                <a:spcPct val="100000"/>
              </a:lnSpc>
            </a:pPr>
            <a:r>
              <a:rPr sz="800" b="0" i="0">
                <a:solidFill>
                  <a:srgbClr val="ECE7DC"/>
                </a:solidFill>
                <a:latin typeface="Consolas"/>
              </a:rPr>
              <a:t>│   ├── enable_tlamatini_v2.bat</a:t>
            </a:r>
          </a:p>
          <a:p>
            <a:pPr algn="l">
              <a:lnSpc>
                <a:spcPct val="100000"/>
              </a:lnSpc>
            </a:pPr>
            <a:r>
              <a:rPr sz="800" b="0" i="0">
                <a:solidFill>
                  <a:srgbClr val="ECE7DC"/>
                </a:solidFill>
                <a:latin typeface="Consolas"/>
              </a:rPr>
              <a:t>│   ├── README.md</a:t>
            </a:r>
          </a:p>
          <a:p>
            <a:pPr algn="l">
              <a:lnSpc>
                <a:spcPct val="100000"/>
              </a:lnSpc>
            </a:pPr>
            <a:r>
              <a:rPr sz="800" b="0" i="0">
                <a:solidFill>
                  <a:srgbClr val="ECE7DC"/>
                </a:solidFill>
                <a:latin typeface="Consolas"/>
              </a:rPr>
              <a:t>│   ├── run_defender.bat</a:t>
            </a:r>
          </a:p>
          <a:p>
            <a:pPr algn="l">
              <a:lnSpc>
                <a:spcPct val="100000"/>
              </a:lnSpc>
            </a:pPr>
            <a:r>
              <a:rPr sz="800" b="0" i="0">
                <a:solidFill>
                  <a:srgbClr val="ECE7DC"/>
                </a:solidFill>
                <a:latin typeface="Consolas"/>
              </a:rPr>
              <a:t>│   ├── sync_enable_launcher.py</a:t>
            </a:r>
          </a:p>
          <a:p>
            <a:pPr algn="l">
              <a:lnSpc>
                <a:spcPct val="100000"/>
              </a:lnSpc>
            </a:pPr>
            <a:r>
              <a:rPr sz="800" b="0" i="0">
                <a:solidFill>
                  <a:srgbClr val="ECE7DC"/>
                </a:solidFill>
                <a:latin typeface="Consolas"/>
              </a:rPr>
              <a:t>│   ├── test_security_syntax.ps1</a:t>
            </a:r>
          </a:p>
          <a:p>
            <a:pPr algn="l">
              <a:lnSpc>
                <a:spcPct val="100000"/>
              </a:lnSpc>
            </a:pPr>
            <a:r>
              <a:rPr sz="800" b="0" i="0">
                <a:solidFill>
                  <a:srgbClr val="ECE7DC"/>
                </a:solidFill>
                <a:latin typeface="Consolas"/>
              </a:rPr>
              <a:t>│   ├── test_windows_access.ps1</a:t>
            </a:r>
          </a:p>
          <a:p>
            <a:pPr algn="l">
              <a:lnSpc>
                <a:spcPct val="100000"/>
              </a:lnSpc>
            </a:pPr>
            <a:r>
              <a:rPr sz="800" b="0" i="0">
                <a:solidFill>
                  <a:srgbClr val="ECE7DC"/>
                </a:solidFill>
                <a:latin typeface="Consolas"/>
              </a:rPr>
              <a:t>│   ├── tlamatini_defender.ps1</a:t>
            </a:r>
          </a:p>
          <a:p>
            <a:pPr algn="l">
              <a:lnSpc>
                <a:spcPct val="100000"/>
              </a:lnSpc>
            </a:pPr>
            <a:r>
              <a:rPr sz="800" b="0" i="0">
                <a:solidFill>
                  <a:srgbClr val="ECE7DC"/>
                </a:solidFill>
                <a:latin typeface="Consolas"/>
              </a:rPr>
              <a:t>│   ├── tlamatini_whitelist_v2.ps1</a:t>
            </a:r>
          </a:p>
          <a:p>
            <a:pPr algn="l">
              <a:lnSpc>
                <a:spcPct val="100000"/>
              </a:lnSpc>
            </a:pPr>
            <a:r>
              <a:rPr sz="800" b="0" i="0">
                <a:solidFill>
                  <a:srgbClr val="ECE7DC"/>
                </a:solidFill>
                <a:latin typeface="Consolas"/>
              </a:rPr>
              <a:t>│   ├── verify_agent_execution.py</a:t>
            </a:r>
          </a:p>
          <a:p>
            <a:pPr algn="l">
              <a:lnSpc>
                <a:spcPct val="100000"/>
              </a:lnSpc>
            </a:pPr>
            <a:r>
              <a:rPr sz="800" b="0" i="0">
                <a:solidFill>
                  <a:srgbClr val="ECE7DC"/>
                </a:solidFill>
                <a:latin typeface="Consolas"/>
              </a:rPr>
              <a:t>│   └── windows_access_helpers.ps1</a:t>
            </a:r>
          </a:p>
          <a:p>
            <a:pPr algn="l">
              <a:lnSpc>
                <a:spcPct val="100000"/>
              </a:lnSpc>
            </a:pPr>
            <a:r>
              <a:rPr sz="800" b="0" i="0">
                <a:solidFill>
                  <a:srgbClr val="3BBE93"/>
                </a:solidFill>
                <a:latin typeface="Consolas"/>
              </a:rPr>
              <a:t>├── Tests/</a:t>
            </a:r>
          </a:p>
          <a:p>
            <a:pPr algn="l">
              <a:lnSpc>
                <a:spcPct val="100000"/>
              </a:lnSpc>
            </a:pPr>
            <a:r>
              <a:rPr sz="800" b="0" i="0">
                <a:solidFill>
                  <a:srgbClr val="ECE7DC"/>
                </a:solidFill>
                <a:latin typeface="Consolas"/>
              </a:rPr>
              <a:t>│   ├── run_avatar_tests.py</a:t>
            </a:r>
          </a:p>
          <a:p>
            <a:pPr algn="l">
              <a:lnSpc>
                <a:spcPct val="100000"/>
              </a:lnSpc>
            </a:pPr>
            <a:r>
              <a:rPr sz="800" b="0" i="0">
                <a:solidFill>
                  <a:srgbClr val="ECE7DC"/>
                </a:solidFill>
                <a:latin typeface="Consolas"/>
              </a:rPr>
              <a:t>│   ├── run_presence_tests.ps1</a:t>
            </a:r>
          </a:p>
          <a:p>
            <a:pPr algn="l">
              <a:lnSpc>
                <a:spcPct val="100000"/>
              </a:lnSpc>
            </a:pPr>
            <a:r>
              <a:rPr sz="800" b="0" i="0">
                <a:solidFill>
                  <a:srgbClr val="ECE7DC"/>
                </a:solidFill>
                <a:latin typeface="Consolas"/>
              </a:rPr>
              <a:t>│   ├── test_about_window_name_visible.py</a:t>
            </a:r>
          </a:p>
          <a:p>
            <a:pPr algn="l">
              <a:lnSpc>
                <a:spcPct val="100000"/>
              </a:lnSpc>
            </a:pPr>
            <a:r>
              <a:rPr sz="800" b="0" i="0">
                <a:solidFill>
                  <a:srgbClr val="ECE7DC"/>
                </a:solidFill>
                <a:latin typeface="Consolas"/>
              </a:rPr>
              <a:t>│   ├── test_avatar_animation.cjs</a:t>
            </a:r>
          </a:p>
          <a:p>
            <a:pPr algn="l">
              <a:lnSpc>
                <a:spcPct val="100000"/>
              </a:lnSpc>
            </a:pPr>
            <a:r>
              <a:rPr sz="800" b="0" i="0">
                <a:solidFill>
                  <a:srgbClr val="ECE7DC"/>
                </a:solidFill>
                <a:latin typeface="Consolas"/>
              </a:rPr>
              <a:t>│   ├── test_avatar_collectstatic.py</a:t>
            </a:r>
          </a:p>
          <a:p>
            <a:pPr algn="l">
              <a:lnSpc>
                <a:spcPct val="100000"/>
              </a:lnSpc>
            </a:pPr>
            <a:r>
              <a:rPr sz="800" b="0" i="0">
                <a:solidFill>
                  <a:srgbClr val="ECE7DC"/>
                </a:solidFill>
                <a:latin typeface="Consolas"/>
              </a:rPr>
              <a:t>│   ├── test_avatar_presence_visible.py</a:t>
            </a:r>
          </a:p>
          <a:p>
            <a:pPr algn="l">
              <a:lnSpc>
                <a:spcPct val="100000"/>
              </a:lnSpc>
            </a:pPr>
            <a:r>
              <a:rPr sz="800" b="0" i="0">
                <a:solidFill>
                  <a:srgbClr val="ECE7DC"/>
                </a:solidFill>
                <a:latin typeface="Consolas"/>
              </a:rPr>
              <a:t>│   ├── test_avatar_visible.cjs</a:t>
            </a:r>
          </a:p>
          <a:p>
            <a:pPr algn="l">
              <a:lnSpc>
                <a:spcPct val="100000"/>
              </a:lnSpc>
            </a:pPr>
            <a:r>
              <a:rPr sz="800" b="0" i="0">
                <a:solidFill>
                  <a:srgbClr val="ECE7DC"/>
                </a:solidFill>
                <a:latin typeface="Consolas"/>
              </a:rPr>
              <a:t>│   ├── test_pdf_canvas_assets.py</a:t>
            </a:r>
          </a:p>
          <a:p>
            <a:pPr algn="l">
              <a:lnSpc>
                <a:spcPct val="100000"/>
              </a:lnSpc>
            </a:pPr>
            <a:r>
              <a:rPr sz="800" b="0" i="0">
                <a:solidFill>
                  <a:srgbClr val="ECE7DC"/>
                </a:solidFill>
                <a:latin typeface="Consolas"/>
              </a:rPr>
              <a:t>│   ├── test_pdf_canvas_browser.py</a:t>
            </a:r>
          </a:p>
          <a:p>
            <a:pPr algn="l">
              <a:lnSpc>
                <a:spcPct val="100000"/>
              </a:lnSpc>
            </a:pPr>
            <a:r>
              <a:rPr sz="800" b="0" i="0">
                <a:solidFill>
                  <a:srgbClr val="ECE7DC"/>
                </a:solidFill>
                <a:latin typeface="Consolas"/>
              </a:rPr>
              <a:t>│   ├── test_perf_3x_visual.py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test_requirements_coverage.py</a:t>
            </a:r>
          </a:p>
          <a:p>
            <a:pPr algn="l">
              <a:lnSpc>
                <a:spcPct val="100000"/>
              </a:lnSpc>
            </a:pPr>
            <a:r>
              <a:rPr sz="800" b="0" i="0">
                <a:solidFill>
                  <a:srgbClr val="3BBE93"/>
                </a:solidFill>
                <a:latin typeface="Consolas"/>
              </a:rPr>
              <a:t>│   └── avatar_dev_server/</a:t>
            </a:r>
          </a:p>
          <a:p>
            <a:pPr algn="l">
              <a:lnSpc>
                <a:spcPct val="100000"/>
              </a:lnSpc>
            </a:pPr>
            <a:r>
              <a:rPr sz="800" b="0" i="0">
                <a:solidFill>
                  <a:srgbClr val="ECE7DC"/>
                </a:solidFill>
                <a:latin typeface="Consolas"/>
              </a:rPr>
              <a:t>│       ├── dev_settings.py</a:t>
            </a:r>
          </a:p>
          <a:p>
            <a:pPr algn="l">
              <a:lnSpc>
                <a:spcPct val="100000"/>
              </a:lnSpc>
            </a:pPr>
            <a:r>
              <a:rPr sz="800" b="0" i="0">
                <a:solidFill>
                  <a:srgbClr val="ECE7DC"/>
                </a:solidFill>
                <a:latin typeface="Consolas"/>
              </a:rPr>
              <a:t>│       └── development_test.py</a:t>
            </a:r>
          </a:p>
          <a:p>
            <a:pPr algn="l">
              <a:lnSpc>
                <a:spcPct val="100000"/>
              </a:lnSpc>
            </a:pPr>
            <a:r>
              <a:rPr sz="800" b="0" i="0">
                <a:solidFill>
                  <a:srgbClr val="3BBE93"/>
                </a:solidFill>
                <a:latin typeface="Consolas"/>
              </a:rPr>
              <a:t>└── Tlamatini/</a:t>
            </a:r>
          </a:p>
          <a:p>
            <a:pPr algn="l">
              <a:lnSpc>
                <a:spcPct val="100000"/>
              </a:lnSpc>
            </a:pPr>
            <a:r>
              <a:rPr sz="800" b="0" i="0">
                <a:solidFill>
                  <a:srgbClr val="ECE7DC"/>
                </a:solidFill>
                <a:latin typeface="Consolas"/>
              </a:rPr>
              <a:t>    ├── cat_art.py</a:t>
            </a:r>
          </a:p>
          <a:p>
            <a:pPr algn="l">
              <a:lnSpc>
                <a:spcPct val="100000"/>
              </a:lnSpc>
            </a:pPr>
            <a:r>
              <a:rPr sz="800" b="0" i="0">
                <a:solidFill>
                  <a:srgbClr val="ECE7DC"/>
                </a:solidFill>
                <a:latin typeface="Consolas"/>
              </a:rPr>
              <a:t>    ├── manage.py</a:t>
            </a:r>
          </a:p>
          <a:p>
            <a:pPr algn="l">
              <a:lnSpc>
                <a:spcPct val="100000"/>
              </a:lnSpc>
            </a:pPr>
            <a:r>
              <a:rPr sz="800" b="0" i="0">
                <a:solidFill>
                  <a:srgbClr val="3BBE93"/>
                </a:solidFill>
                <a:latin typeface="Consolas"/>
              </a:rPr>
              <a:t>    ├── .agents/</a:t>
            </a:r>
          </a:p>
          <a:p>
            <a:pPr algn="l">
              <a:lnSpc>
                <a:spcPct val="100000"/>
              </a:lnSpc>
            </a:pPr>
            <a:r>
              <a:rPr sz="800" b="0" i="0">
                <a:solidFill>
                  <a:srgbClr val="3BBE93"/>
                </a:solidFill>
                <a:latin typeface="Consolas"/>
              </a:rPr>
              <a:t>    │   └── workflows/</a:t>
            </a:r>
          </a:p>
          <a:p>
            <a:pPr algn="l">
              <a:lnSpc>
                <a:spcPct val="100000"/>
              </a:lnSpc>
            </a:pPr>
            <a:r>
              <a:rPr sz="800" b="0" i="0">
                <a:solidFill>
                  <a:srgbClr val="ECE7DC"/>
                </a:solidFill>
                <a:latin typeface="Consolas"/>
              </a:rPr>
              <a:t>    │       └── create_new_agent.md</a:t>
            </a:r>
          </a:p>
          <a:p>
            <a:pPr algn="l">
              <a:lnSpc>
                <a:spcPct val="100000"/>
              </a:lnSpc>
            </a:pPr>
            <a:r>
              <a:rPr sz="800" b="0" i="0">
                <a:solidFill>
                  <a:srgbClr val="3BBE93"/>
                </a:solidFill>
                <a:latin typeface="Consolas"/>
              </a:rPr>
              <a:t>    ├── .mcps/</a:t>
            </a:r>
          </a:p>
          <a:p>
            <a:pPr algn="l">
              <a:lnSpc>
                <a:spcPct val="100000"/>
              </a:lnSpc>
            </a:pPr>
            <a:r>
              <a:rPr sz="800" b="0" i="0">
                <a:solidFill>
                  <a:srgbClr val="ECE7DC"/>
                </a:solidFill>
                <a:latin typeface="Consolas"/>
              </a:rPr>
              <a:t>    │   └── create_new_mcp.md</a:t>
            </a:r>
          </a:p>
          <a:p>
            <a:pPr algn="l">
              <a:lnSpc>
                <a:spcPct val="100000"/>
              </a:lnSpc>
            </a:pPr>
            <a:r>
              <a:rPr sz="800" b="0" i="0">
                <a:solidFill>
                  <a:srgbClr val="3BBE93"/>
                </a:solidFill>
                <a:latin typeface="Consolas"/>
              </a:rPr>
              <a:t>    ├── .skills/</a:t>
            </a:r>
          </a:p>
          <a:p>
            <a:pPr algn="l">
              <a:lnSpc>
                <a:spcPct val="100000"/>
              </a:lnSpc>
            </a:pPr>
            <a:r>
              <a:rPr sz="800" b="0" i="0">
                <a:solidFill>
                  <a:srgbClr val="ECE7DC"/>
                </a:solidFill>
                <a:latin typeface="Consolas"/>
              </a:rPr>
              <a:t>    │   └── create_new_skill.md</a:t>
            </a:r>
          </a:p>
          <a:p>
            <a:pPr algn="l">
              <a:lnSpc>
                <a:spcPct val="100000"/>
              </a:lnSpc>
            </a:pPr>
            <a:r>
              <a:rPr sz="800" b="0" i="0">
                <a:solidFill>
                  <a:srgbClr val="3BBE93"/>
                </a:solidFill>
                <a:latin typeface="Consolas"/>
              </a:rPr>
              <a:t>    ├── agent/</a:t>
            </a:r>
          </a:p>
          <a:p>
            <a:pPr algn="l">
              <a:lnSpc>
                <a:spcPct val="100000"/>
              </a:lnSpc>
            </a:pPr>
            <a:r>
              <a:rPr sz="800" b="0" i="0">
                <a:solidFill>
                  <a:srgbClr val="ECE7DC"/>
                </a:solidFill>
                <a:latin typeface="Consolas"/>
              </a:rPr>
              <a:t>    │   ├── __init__.py</a:t>
            </a:r>
          </a:p>
          <a:p>
            <a:pPr algn="l">
              <a:lnSpc>
                <a:spcPct val="100000"/>
              </a:lnSpc>
            </a:pPr>
            <a:r>
              <a:rPr sz="800" b="0" i="0">
                <a:solidFill>
                  <a:srgbClr val="ECE7DC"/>
                </a:solidFill>
                <a:latin typeface="Consolas"/>
              </a:rPr>
              <a:t>    │   ├── access_key_wizard.py</a:t>
            </a:r>
          </a:p>
          <a:p>
            <a:pPr algn="l">
              <a:lnSpc>
                <a:spcPct val="100000"/>
              </a:lnSpc>
            </a:pPr>
            <a:r>
              <a:rPr sz="800" b="0" i="0">
                <a:solidFill>
                  <a:srgbClr val="ECE7DC"/>
                </a:solidFill>
                <a:latin typeface="Consolas"/>
              </a:rPr>
              <a:t>    │   ├── admin.py</a:t>
            </a:r>
          </a:p>
          <a:p>
            <a:pPr algn="l">
              <a:lnSpc>
                <a:spcPct val="100000"/>
              </a:lnSpc>
            </a:pPr>
            <a:r>
              <a:rPr sz="800" b="0" i="0">
                <a:solidFill>
                  <a:srgbClr val="ECE7DC"/>
                </a:solidFill>
                <a:latin typeface="Consolas"/>
              </a:rPr>
              <a:t>    │   ├── agent_manifest.py</a:t>
            </a:r>
          </a:p>
          <a:p>
            <a:pPr algn="l">
              <a:lnSpc>
                <a:spcPct val="100000"/>
              </a:lnSpc>
            </a:pPr>
            <a:r>
              <a:rPr sz="800" b="0" i="0">
                <a:solidFill>
                  <a:srgbClr val="ECE7DC"/>
                </a:solidFill>
                <a:latin typeface="Consolas"/>
              </a:rPr>
              <a:t>    │   ├── agent_verdict.py</a:t>
            </a:r>
          </a:p>
          <a:p>
            <a:pPr algn="l">
              <a:lnSpc>
                <a:spcPct val="100000"/>
              </a:lnSpc>
            </a:pPr>
            <a:r>
              <a:rPr sz="800" b="0" i="0">
                <a:solidFill>
                  <a:srgbClr val="ECE7DC"/>
                </a:solidFill>
                <a:latin typeface="Consolas"/>
              </a:rPr>
              <a:t>    │   ├── apps.py</a:t>
            </a:r>
          </a:p>
          <a:p>
            <a:pPr algn="l">
              <a:lnSpc>
                <a:spcPct val="100000"/>
              </a:lnSpc>
            </a:pPr>
            <a:r>
              <a:rPr sz="800" b="0" i="0">
                <a:solidFill>
                  <a:srgbClr val="ECE7DC"/>
                </a:solidFill>
                <a:latin typeface="Consolas"/>
              </a:rPr>
              <a:t>    │   ├── cancellation.py</a:t>
            </a:r>
          </a:p>
          <a:p>
            <a:pPr algn="l">
              <a:lnSpc>
                <a:spcPct val="100000"/>
              </a:lnSpc>
            </a:pPr>
            <a:r>
              <a:rPr sz="800" b="0" i="0">
                <a:solidFill>
                  <a:srgbClr val="ECE7DC"/>
                </a:solidFill>
                <a:latin typeface="Consolas"/>
              </a:rPr>
              <a:t>    │   ├── capability_registry.py</a:t>
            </a:r>
          </a:p>
          <a:p>
            <a:pPr algn="l">
              <a:lnSpc>
                <a:spcPct val="100000"/>
              </a:lnSpc>
            </a:pPr>
            <a:r>
              <a:rPr sz="800" b="0" i="0">
                <a:solidFill>
                  <a:srgbClr val="ECE7DC"/>
                </a:solidFill>
                <a:latin typeface="Consolas"/>
              </a:rPr>
              <a:t>    │   ├── chain_files_search_lcel.py</a:t>
            </a:r>
          </a:p>
          <a:p>
            <a:pPr algn="l">
              <a:lnSpc>
                <a:spcPct val="100000"/>
              </a:lnSpc>
            </a:pPr>
            <a:r>
              <a:rPr sz="800" b="0" i="0">
                <a:solidFill>
                  <a:srgbClr val="ECE7DC"/>
                </a:solidFill>
                <a:latin typeface="Consolas"/>
              </a:rPr>
              <a:t>    │   ├── chain_system_lcel.py</a:t>
            </a:r>
          </a:p>
          <a:p>
            <a:pPr algn="l">
              <a:lnSpc>
                <a:spcPct val="100000"/>
              </a:lnSpc>
            </a:pPr>
            <a:r>
              <a:rPr sz="800" b="0" i="0">
                <a:solidFill>
                  <a:srgbClr val="ECE7DC"/>
                </a:solidFill>
                <a:latin typeface="Consolas"/>
              </a:rPr>
              <a:t>    │   ├── chat_agent_registry.py</a:t>
            </a:r>
          </a:p>
          <a:p>
            <a:pPr algn="l">
              <a:lnSpc>
                <a:spcPct val="100000"/>
              </a:lnSpc>
            </a:pPr>
            <a:r>
              <a:rPr sz="800" b="0" i="0">
                <a:solidFill>
                  <a:srgbClr val="ECE7DC"/>
                </a:solidFill>
                <a:latin typeface="Consolas"/>
              </a:rPr>
              <a:t>    │   ├── chat_agent_runtime.py</a:t>
            </a:r>
          </a:p>
          <a:p>
            <a:pPr algn="l">
              <a:lnSpc>
                <a:spcPct val="100000"/>
              </a:lnSpc>
            </a:pPr>
            <a:r>
              <a:rPr sz="800" b="0" i="0">
                <a:solidFill>
                  <a:srgbClr val="ECE7DC"/>
                </a:solidFill>
                <a:latin typeface="Consolas"/>
              </a:rPr>
              <a:t>    │   ├── chat_history_loader.py</a:t>
            </a:r>
          </a:p>
          <a:p>
            <a:pPr algn="l">
              <a:lnSpc>
                <a:spcPct val="100000"/>
              </a:lnSpc>
            </a:pPr>
            <a:r>
              <a:rPr sz="800" b="0" i="0">
                <a:solidFill>
                  <a:srgbClr val="ECE7DC"/>
                </a:solidFill>
                <a:latin typeface="Consolas"/>
              </a:rPr>
              <a:t>    │   ├── chat_voice_consumer.py</a:t>
            </a:r>
          </a:p>
          <a:p>
            <a:pPr algn="l">
              <a:lnSpc>
                <a:spcPct val="100000"/>
              </a:lnSpc>
            </a:pPr>
            <a:r>
              <a:rPr sz="800" b="0" i="0">
                <a:solidFill>
                  <a:srgbClr val="ECE7DC"/>
                </a:solidFill>
                <a:latin typeface="Consolas"/>
              </a:rPr>
              <a:t>    │   ├── chat_voice_runtime.py</a:t>
            </a:r>
          </a:p>
          <a:p>
            <a:pPr algn="l">
              <a:lnSpc>
                <a:spcPct val="100000"/>
              </a:lnSpc>
            </a:pPr>
            <a:r>
              <a:rPr sz="800" b="0" i="0">
                <a:solidFill>
                  <a:srgbClr val="ECE7DC"/>
                </a:solidFill>
                <a:latin typeface="Consolas"/>
              </a:rPr>
              <a:t>    │   ├── chat_voice_settings.py</a:t>
            </a:r>
          </a:p>
          <a:p>
            <a:pPr algn="l">
              <a:lnSpc>
                <a:spcPct val="100000"/>
              </a:lnSpc>
            </a:pPr>
            <a:r>
              <a:rPr sz="800" b="0" i="0">
                <a:solidFill>
                  <a:srgbClr val="ECE7DC"/>
                </a:solidFill>
                <a:latin typeface="Consolas"/>
              </a:rPr>
              <a:t>    │   ├── command_togen_pb2.txt</a:t>
            </a:r>
          </a:p>
          <a:p>
            <a:pPr algn="l">
              <a:lnSpc>
                <a:spcPct val="100000"/>
              </a:lnSpc>
            </a:pPr>
            <a:r>
              <a:rPr sz="800" b="0" i="0">
                <a:solidFill>
                  <a:srgbClr val="ECE7DC"/>
                </a:solidFill>
                <a:latin typeface="Consolas"/>
              </a:rPr>
              <a:t>    │   ├── command_watchdog.py</a:t>
            </a:r>
          </a:p>
          <a:p>
            <a:pPr algn="l">
              <a:lnSpc>
                <a:spcPct val="100000"/>
              </a:lnSpc>
            </a:pPr>
            <a:r>
              <a:rPr sz="800" b="0" i="0">
                <a:solidFill>
                  <a:srgbClr val="ECE7DC"/>
                </a:solidFill>
                <a:latin typeface="Consolas"/>
              </a:rPr>
              <a:t>    │   ├── compact_mode.py</a:t>
            </a:r>
          </a:p>
          <a:p>
            <a:pPr algn="l">
              <a:lnSpc>
                <a:spcPct val="100000"/>
              </a:lnSpc>
            </a:pPr>
            <a:r>
              <a:rPr sz="800" b="0" i="0">
                <a:solidFill>
                  <a:srgbClr val="ECE7DC"/>
                </a:solidFill>
                <a:latin typeface="Consolas"/>
              </a:rPr>
              <a:t>    │   ├── config.json</a:t>
            </a:r>
          </a:p>
          <a:p>
            <a:pPr algn="l">
              <a:lnSpc>
                <a:spcPct val="100000"/>
              </a:lnSpc>
            </a:pPr>
            <a:r>
              <a:rPr sz="800" b="0" i="0">
                <a:solidFill>
                  <a:srgbClr val="ECE7DC"/>
                </a:solidFill>
                <a:latin typeface="Consolas"/>
              </a:rPr>
              <a:t>    │   ├── config_loader.py</a:t>
            </a:r>
          </a:p>
          <a:p>
            <a:pPr algn="l">
              <a:lnSpc>
                <a:spcPct val="100000"/>
              </a:lnSpc>
            </a:pPr>
            <a:r>
              <a:rPr sz="800" b="0" i="0">
                <a:solidFill>
                  <a:srgbClr val="ECE7DC"/>
                </a:solidFill>
                <a:latin typeface="Consolas"/>
              </a:rPr>
              <a:t>    │   ├── constants.py</a:t>
            </a:r>
          </a:p>
          <a:p>
            <a:pPr algn="l">
              <a:lnSpc>
                <a:spcPct val="100000"/>
              </a:lnSpc>
            </a:pPr>
            <a:r>
              <a:rPr sz="800" b="0" i="0">
                <a:solidFill>
                  <a:srgbClr val="ECE7DC"/>
                </a:solidFill>
                <a:latin typeface="Consolas"/>
              </a:rPr>
              <a:t>    │   ├── consumers.py</a:t>
            </a:r>
          </a:p>
          <a:p>
            <a:pPr algn="l">
              <a:lnSpc>
                <a:spcPct val="100000"/>
              </a:lnSpc>
            </a:pPr>
            <a:r>
              <a:rPr sz="800" b="0" i="0">
                <a:solidFill>
                  <a:srgbClr val="ECE7DC"/>
                </a:solidFill>
                <a:latin typeface="Consolas"/>
              </a:rPr>
              <a:t>    │   ├── contacts.py</a:t>
            </a:r>
          </a:p>
          <a:p>
            <a:pPr algn="l">
              <a:lnSpc>
                <a:spcPct val="100000"/>
              </a:lnSpc>
            </a:pPr>
            <a:r>
              <a:rPr sz="800" b="0" i="0">
                <a:solidFill>
                  <a:srgbClr val="ECE7DC"/>
                </a:solidFill>
                <a:latin typeface="Consolas"/>
              </a:rPr>
              <a:t>    │   ├── context_baseline.py</a:t>
            </a:r>
          </a:p>
          <a:p>
            <a:pPr algn="l">
              <a:lnSpc>
                <a:spcPct val="100000"/>
              </a:lnSpc>
            </a:pPr>
            <a:r>
              <a:rPr sz="800" b="0" i="0">
                <a:solidFill>
                  <a:srgbClr val="ECE7DC"/>
                </a:solidFill>
                <a:latin typeface="Consolas"/>
              </a:rPr>
              <a:t>    │   ├── context_fitter.py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142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5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1,688 tracked files at commit 113eddc4;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context_governor.py</a:t>
            </a:r>
          </a:p>
          <a:p>
            <a:pPr algn="l">
              <a:lnSpc>
                <a:spcPct val="100000"/>
              </a:lnSpc>
            </a:pPr>
            <a:r>
              <a:rPr sz="800" b="0" i="0">
                <a:solidFill>
                  <a:srgbClr val="ECE7DC"/>
                </a:solidFill>
                <a:latin typeface="Consolas"/>
              </a:rPr>
              <a:t>    │   ├── context_sidecar_timeout.py</a:t>
            </a:r>
          </a:p>
          <a:p>
            <a:pPr algn="l">
              <a:lnSpc>
                <a:spcPct val="100000"/>
              </a:lnSpc>
            </a:pPr>
            <a:r>
              <a:rPr sz="800" b="0" i="0">
                <a:solidFill>
                  <a:srgbClr val="ECE7DC"/>
                </a:solidFill>
                <a:latin typeface="Consolas"/>
              </a:rPr>
              <a:t>    │   ├── embedding_memory_guard.py</a:t>
            </a:r>
          </a:p>
          <a:p>
            <a:pPr algn="l">
              <a:lnSpc>
                <a:spcPct val="100000"/>
              </a:lnSpc>
            </a:pPr>
            <a:r>
              <a:rPr sz="800" b="0" i="0">
                <a:solidFill>
                  <a:srgbClr val="ECE7DC"/>
                </a:solidFill>
                <a:latin typeface="Consolas"/>
              </a:rPr>
              <a:t>    │   ├── exec_permission.py</a:t>
            </a:r>
          </a:p>
          <a:p>
            <a:pPr algn="l">
              <a:lnSpc>
                <a:spcPct val="100000"/>
              </a:lnSpc>
            </a:pPr>
            <a:r>
              <a:rPr sz="800" b="0" i="0">
                <a:solidFill>
                  <a:srgbClr val="ECE7DC"/>
                </a:solidFill>
                <a:latin typeface="Consolas"/>
              </a:rPr>
              <a:t>    │   ├── external_mcp_defaults.py</a:t>
            </a:r>
          </a:p>
          <a:p>
            <a:pPr algn="l">
              <a:lnSpc>
                <a:spcPct val="100000"/>
              </a:lnSpc>
            </a:pPr>
            <a:r>
              <a:rPr sz="800" b="0" i="0">
                <a:solidFill>
                  <a:srgbClr val="ECE7DC"/>
                </a:solidFill>
                <a:latin typeface="Consolas"/>
              </a:rPr>
              <a:t>    │   ├── external_mcp_manager.py</a:t>
            </a:r>
          </a:p>
          <a:p>
            <a:pPr algn="l">
              <a:lnSpc>
                <a:spcPct val="100000"/>
              </a:lnSpc>
            </a:pPr>
            <a:r>
              <a:rPr sz="800" b="0" i="0">
                <a:solidFill>
                  <a:srgbClr val="ECE7DC"/>
                </a:solidFill>
                <a:latin typeface="Consolas"/>
              </a:rPr>
              <a:t>    │   ├── external_mcps.json</a:t>
            </a:r>
          </a:p>
          <a:p>
            <a:pPr algn="l">
              <a:lnSpc>
                <a:spcPct val="100000"/>
              </a:lnSpc>
            </a:pPr>
            <a:r>
              <a:rPr sz="800" b="0" i="0">
                <a:solidFill>
                  <a:srgbClr val="ECE7DC"/>
                </a:solidFill>
                <a:latin typeface="Consolas"/>
              </a:rPr>
              <a:t>    │   ├── filesearch.proto</a:t>
            </a:r>
          </a:p>
          <a:p>
            <a:pPr algn="l">
              <a:lnSpc>
                <a:spcPct val="100000"/>
              </a:lnSpc>
            </a:pPr>
            <a:r>
              <a:rPr sz="800" b="0" i="0">
                <a:solidFill>
                  <a:srgbClr val="ECE7DC"/>
                </a:solidFill>
                <a:latin typeface="Consolas"/>
              </a:rPr>
              <a:t>    │   ├── filesearch_pb2.py</a:t>
            </a:r>
          </a:p>
          <a:p>
            <a:pPr algn="l">
              <a:lnSpc>
                <a:spcPct val="100000"/>
              </a:lnSpc>
            </a:pPr>
            <a:r>
              <a:rPr sz="800" b="0" i="0">
                <a:solidFill>
                  <a:srgbClr val="ECE7DC"/>
                </a:solidFill>
                <a:latin typeface="Consolas"/>
              </a:rPr>
              <a:t>    │   ├── filesearch_pb2_grpc.py</a:t>
            </a:r>
          </a:p>
          <a:p>
            <a:pPr algn="l">
              <a:lnSpc>
                <a:spcPct val="100000"/>
              </a:lnSpc>
            </a:pPr>
            <a:r>
              <a:rPr sz="800" b="0" i="0">
                <a:solidFill>
                  <a:srgbClr val="ECE7DC"/>
                </a:solidFill>
                <a:latin typeface="Consolas"/>
              </a:rPr>
              <a:t>    │   ├── flow_file_open.py</a:t>
            </a:r>
          </a:p>
          <a:p>
            <a:pPr algn="l">
              <a:lnSpc>
                <a:spcPct val="100000"/>
              </a:lnSpc>
            </a:pPr>
            <a:r>
              <a:rPr sz="800" b="0" i="0">
                <a:solidFill>
                  <a:srgbClr val="ECE7DC"/>
                </a:solidFill>
                <a:latin typeface="Consolas"/>
              </a:rPr>
              <a:t>    │   ├── flow_file_views.py</a:t>
            </a:r>
          </a:p>
          <a:p>
            <a:pPr algn="l">
              <a:lnSpc>
                <a:spcPct val="100000"/>
              </a:lnSpc>
            </a:pPr>
            <a:r>
              <a:rPr sz="800" b="0" i="0">
                <a:solidFill>
                  <a:srgbClr val="ECE7DC"/>
                </a:solidFill>
                <a:latin typeface="Consolas"/>
              </a:rPr>
              <a:t>    │   ├── global_execution_planner.py</a:t>
            </a:r>
          </a:p>
          <a:p>
            <a:pPr algn="l">
              <a:lnSpc>
                <a:spcPct val="100000"/>
              </a:lnSpc>
            </a:pPr>
            <a:r>
              <a:rPr sz="800" b="0" i="0">
                <a:solidFill>
                  <a:srgbClr val="ECE7DC"/>
                </a:solidFill>
                <a:latin typeface="Consolas"/>
              </a:rPr>
              <a:t>    │   ├── global_state.py</a:t>
            </a:r>
          </a:p>
          <a:p>
            <a:pPr algn="l">
              <a:lnSpc>
                <a:spcPct val="100000"/>
              </a:lnSpc>
            </a:pPr>
            <a:r>
              <a:rPr sz="800" b="0" i="0">
                <a:solidFill>
                  <a:srgbClr val="ECE7DC"/>
                </a:solidFill>
                <a:latin typeface="Consolas"/>
              </a:rPr>
              <a:t>    │   ├── gpu_perf.py</a:t>
            </a:r>
          </a:p>
          <a:p>
            <a:pPr algn="l">
              <a:lnSpc>
                <a:spcPct val="100000"/>
              </a:lnSpc>
            </a:pPr>
            <a:r>
              <a:rPr sz="800" b="0" i="0">
                <a:solidFill>
                  <a:srgbClr val="ECE7DC"/>
                </a:solidFill>
                <a:latin typeface="Consolas"/>
              </a:rPr>
              <a:t>    │   ├── inet_determiner.py</a:t>
            </a:r>
          </a:p>
          <a:p>
            <a:pPr algn="l">
              <a:lnSpc>
                <a:spcPct val="100000"/>
              </a:lnSpc>
            </a:pPr>
            <a:r>
              <a:rPr sz="800" b="0" i="0">
                <a:solidFill>
                  <a:srgbClr val="ECE7DC"/>
                </a:solidFill>
                <a:latin typeface="Consolas"/>
              </a:rPr>
              <a:t>    │   ├── llm_timing.py</a:t>
            </a:r>
          </a:p>
          <a:p>
            <a:pPr algn="l">
              <a:lnSpc>
                <a:spcPct val="100000"/>
              </a:lnSpc>
            </a:pPr>
            <a:r>
              <a:rPr sz="800" b="0" i="0">
                <a:solidFill>
                  <a:srgbClr val="ECE7DC"/>
                </a:solidFill>
                <a:latin typeface="Consolas"/>
              </a:rPr>
              <a:t>    │   ├── local_toolcall_parser.py</a:t>
            </a:r>
          </a:p>
          <a:p>
            <a:pPr algn="l">
              <a:lnSpc>
                <a:spcPct val="100000"/>
              </a:lnSpc>
            </a:pPr>
            <a:r>
              <a:rPr sz="800" b="0" i="0">
                <a:solidFill>
                  <a:srgbClr val="ECE7DC"/>
                </a:solidFill>
                <a:latin typeface="Consolas"/>
              </a:rPr>
              <a:t>    │   ├── log_identity.py</a:t>
            </a:r>
          </a:p>
          <a:p>
            <a:pPr algn="l">
              <a:lnSpc>
                <a:spcPct val="100000"/>
              </a:lnSpc>
            </a:pPr>
            <a:r>
              <a:rPr sz="800" b="0" i="0">
                <a:solidFill>
                  <a:srgbClr val="ECE7DC"/>
                </a:solidFill>
                <a:latin typeface="Consolas"/>
              </a:rPr>
              <a:t>    │   ├── mcp_agent.py</a:t>
            </a:r>
          </a:p>
          <a:p>
            <a:pPr algn="l">
              <a:lnSpc>
                <a:spcPct val="100000"/>
              </a:lnSpc>
            </a:pPr>
            <a:r>
              <a:rPr sz="800" b="0" i="0">
                <a:solidFill>
                  <a:srgbClr val="ECE7DC"/>
                </a:solidFill>
                <a:latin typeface="Consolas"/>
              </a:rPr>
              <a:t>    │   ├── mcp_files_search_client.py</a:t>
            </a:r>
          </a:p>
          <a:p>
            <a:pPr algn="l">
              <a:lnSpc>
                <a:spcPct val="100000"/>
              </a:lnSpc>
            </a:pPr>
            <a:r>
              <a:rPr sz="800" b="0" i="0">
                <a:solidFill>
                  <a:srgbClr val="ECE7DC"/>
                </a:solidFill>
                <a:latin typeface="Consolas"/>
              </a:rPr>
              <a:t>    │   ├── mcp_files_search_server.py</a:t>
            </a:r>
          </a:p>
          <a:p>
            <a:pPr algn="l">
              <a:lnSpc>
                <a:spcPct val="100000"/>
              </a:lnSpc>
            </a:pPr>
            <a:r>
              <a:rPr sz="800" b="0" i="0">
                <a:solidFill>
                  <a:srgbClr val="ECE7DC"/>
                </a:solidFill>
                <a:latin typeface="Consolas"/>
              </a:rPr>
              <a:t>    │   ├── mcp_system_client.py</a:t>
            </a:r>
          </a:p>
          <a:p>
            <a:pPr algn="l">
              <a:lnSpc>
                <a:spcPct val="100000"/>
              </a:lnSpc>
            </a:pPr>
            <a:r>
              <a:rPr sz="800" b="0" i="0">
                <a:solidFill>
                  <a:srgbClr val="ECE7DC"/>
                </a:solidFill>
                <a:latin typeface="Consolas"/>
              </a:rPr>
              <a:t>    │   ├── mcp_system_server.py</a:t>
            </a:r>
          </a:p>
          <a:p>
            <a:pPr algn="l">
              <a:lnSpc>
                <a:spcPct val="100000"/>
              </a:lnSpc>
            </a:pPr>
            <a:r>
              <a:rPr sz="800" b="0" i="0">
                <a:solidFill>
                  <a:srgbClr val="ECE7DC"/>
                </a:solidFill>
                <a:latin typeface="Consolas"/>
              </a:rPr>
              <a:t>    │   ├── model_brain.py</a:t>
            </a:r>
          </a:p>
          <a:p>
            <a:pPr algn="l">
              <a:lnSpc>
                <a:spcPct val="100000"/>
              </a:lnSpc>
            </a:pPr>
            <a:r>
              <a:rPr sz="800" b="0" i="0">
                <a:solidFill>
                  <a:srgbClr val="ECE7DC"/>
                </a:solidFill>
                <a:latin typeface="Consolas"/>
              </a:rPr>
              <a:t>    │   ├── model_brain_chat.py</a:t>
            </a:r>
          </a:p>
          <a:p>
            <a:pPr algn="l">
              <a:lnSpc>
                <a:spcPct val="100000"/>
              </a:lnSpc>
            </a:pPr>
            <a:r>
              <a:rPr sz="800" b="0" i="0">
                <a:solidFill>
                  <a:srgbClr val="ECE7DC"/>
                </a:solidFill>
                <a:latin typeface="Consolas"/>
              </a:rPr>
              <a:t>    │   ├── model_brain_views.py</a:t>
            </a:r>
          </a:p>
          <a:p>
            <a:pPr algn="l">
              <a:lnSpc>
                <a:spcPct val="100000"/>
              </a:lnSpc>
            </a:pPr>
            <a:r>
              <a:rPr sz="800" b="0" i="0">
                <a:solidFill>
                  <a:srgbClr val="ECE7DC"/>
                </a:solidFill>
                <a:latin typeface="Consolas"/>
              </a:rPr>
              <a:t>    │   ├── model_profiles.json</a:t>
            </a:r>
          </a:p>
          <a:p>
            <a:pPr algn="l">
              <a:lnSpc>
                <a:spcPct val="100000"/>
              </a:lnSpc>
            </a:pPr>
            <a:r>
              <a:rPr sz="800" b="0" i="0">
                <a:solidFill>
                  <a:srgbClr val="ECE7DC"/>
                </a:solidFill>
                <a:latin typeface="Consolas"/>
              </a:rPr>
              <a:t>    │   ├── models.py</a:t>
            </a:r>
          </a:p>
          <a:p>
            <a:pPr algn="l">
              <a:lnSpc>
                <a:spcPct val="100000"/>
              </a:lnSpc>
            </a:pPr>
            <a:r>
              <a:rPr sz="800" b="0" i="0">
                <a:solidFill>
                  <a:srgbClr val="ECE7DC"/>
                </a:solidFill>
                <a:latin typeface="Consolas"/>
              </a:rPr>
              <a:t>    │   ├── native_dialogs.py</a:t>
            </a:r>
          </a:p>
          <a:p>
            <a:pPr algn="l">
              <a:lnSpc>
                <a:spcPct val="100000"/>
              </a:lnSpc>
            </a:pPr>
            <a:r>
              <a:rPr sz="800" b="0" i="0">
                <a:solidFill>
                  <a:srgbClr val="ECE7DC"/>
                </a:solidFill>
                <a:latin typeface="Consolas"/>
              </a:rPr>
              <a:t>    │   ├── ollama_stop.py</a:t>
            </a:r>
          </a:p>
          <a:p>
            <a:pPr algn="l">
              <a:lnSpc>
                <a:spcPct val="100000"/>
              </a:lnSpc>
            </a:pPr>
            <a:r>
              <a:rPr sz="800" b="0" i="0">
                <a:solidFill>
                  <a:srgbClr val="ECE7DC"/>
                </a:solidFill>
                <a:latin typeface="Consolas"/>
              </a:rPr>
              <a:t>    │   ├── orphan_reaper.py</a:t>
            </a:r>
          </a:p>
          <a:p>
            <a:pPr algn="l">
              <a:lnSpc>
                <a:spcPct val="100000"/>
              </a:lnSpc>
            </a:pPr>
            <a:r>
              <a:rPr sz="800" b="0" i="0">
                <a:solidFill>
                  <a:srgbClr val="ECE7DC"/>
                </a:solidFill>
                <a:latin typeface="Consolas"/>
              </a:rPr>
              <a:t>    │   ├── path_guard.py</a:t>
            </a:r>
          </a:p>
          <a:p>
            <a:pPr algn="l">
              <a:lnSpc>
                <a:spcPct val="100000"/>
              </a:lnSpc>
            </a:pPr>
            <a:r>
              <a:rPr sz="800" b="0" i="0">
                <a:solidFill>
                  <a:srgbClr val="ECE7DC"/>
                </a:solidFill>
                <a:latin typeface="Consolas"/>
              </a:rPr>
              <a:t>    │   ├── pdf_context.py</a:t>
            </a:r>
          </a:p>
          <a:p>
            <a:pPr algn="l">
              <a:lnSpc>
                <a:spcPct val="100000"/>
              </a:lnSpc>
            </a:pPr>
            <a:r>
              <a:rPr sz="800" b="0" i="0">
                <a:solidFill>
                  <a:srgbClr val="ECE7DC"/>
                </a:solidFill>
                <a:latin typeface="Consolas"/>
              </a:rPr>
              <a:t>    │   ├── pdf_context_jobs.py</a:t>
            </a:r>
          </a:p>
          <a:p>
            <a:pPr algn="l">
              <a:lnSpc>
                <a:spcPct val="100000"/>
              </a:lnSpc>
            </a:pPr>
            <a:r>
              <a:rPr sz="800" b="0" i="0">
                <a:solidFill>
                  <a:srgbClr val="ECE7DC"/>
                </a:solidFill>
                <a:latin typeface="Consolas"/>
              </a:rPr>
              <a:t>    │   ├── pdf_context_views.py</a:t>
            </a:r>
          </a:p>
          <a:p>
            <a:pPr algn="l">
              <a:lnSpc>
                <a:spcPct val="100000"/>
              </a:lnSpc>
            </a:pPr>
            <a:r>
              <a:rPr sz="800" b="0" i="0">
                <a:solidFill>
                  <a:srgbClr val="ECE7DC"/>
                </a:solidFill>
                <a:latin typeface="Consolas"/>
              </a:rPr>
              <a:t>    │   ├── pdf_image_analysis.py</a:t>
            </a:r>
          </a:p>
          <a:p>
            <a:pPr algn="l">
              <a:lnSpc>
                <a:spcPct val="100000"/>
              </a:lnSpc>
            </a:pPr>
            <a:r>
              <a:rPr sz="800" b="0" i="0">
                <a:solidFill>
                  <a:srgbClr val="ECE7DC"/>
                </a:solidFill>
                <a:latin typeface="Consolas"/>
              </a:rPr>
              <a:t>    │   ├── prompt.pmt</a:t>
            </a:r>
          </a:p>
          <a:p>
            <a:pPr algn="l">
              <a:lnSpc>
                <a:spcPct val="100000"/>
              </a:lnSpc>
            </a:pPr>
            <a:r>
              <a:rPr sz="800" b="0" i="0">
                <a:solidFill>
                  <a:srgbClr val="ECE7DC"/>
                </a:solidFill>
                <a:latin typeface="Consolas"/>
              </a:rPr>
              <a:t>    │   ├── prompt_flow_panel_consumer.py</a:t>
            </a:r>
          </a:p>
          <a:p>
            <a:pPr algn="l">
              <a:lnSpc>
                <a:spcPct val="100000"/>
              </a:lnSpc>
            </a:pPr>
            <a:r>
              <a:rPr sz="800" b="0" i="0">
                <a:solidFill>
                  <a:srgbClr val="ECE7DC"/>
                </a:solidFill>
                <a:latin typeface="Consolas"/>
              </a:rPr>
              <a:t>    │   ├── prompt_flow_panel_runtime.py</a:t>
            </a:r>
          </a:p>
          <a:p>
            <a:pPr algn="l">
              <a:lnSpc>
                <a:spcPct val="100000"/>
              </a:lnSpc>
            </a:pPr>
            <a:r>
              <a:rPr sz="800" b="0" i="0">
                <a:solidFill>
                  <a:srgbClr val="ECE7DC"/>
                </a:solidFill>
                <a:latin typeface="Consolas"/>
              </a:rPr>
              <a:t>    │   ├── rag_enhancements.py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routing.py</a:t>
            </a:r>
          </a:p>
          <a:p>
            <a:pPr algn="l">
              <a:lnSpc>
                <a:spcPct val="100000"/>
              </a:lnSpc>
            </a:pPr>
            <a:r>
              <a:rPr sz="800" b="0" i="0">
                <a:solidFill>
                  <a:srgbClr val="ECE7DC"/>
                </a:solidFill>
                <a:latin typeface="Consolas"/>
              </a:rPr>
              <a:t>    │   ├── run_db_wal_tests.ps1</a:t>
            </a:r>
          </a:p>
          <a:p>
            <a:pPr algn="l">
              <a:lnSpc>
                <a:spcPct val="100000"/>
              </a:lnSpc>
            </a:pPr>
            <a:r>
              <a:rPr sz="800" b="0" i="0">
                <a:solidFill>
                  <a:srgbClr val="ECE7DC"/>
                </a:solidFill>
                <a:latin typeface="Consolas"/>
              </a:rPr>
              <a:t>    │   ├── runtime_provisioner.py</a:t>
            </a:r>
          </a:p>
          <a:p>
            <a:pPr algn="l">
              <a:lnSpc>
                <a:spcPct val="100000"/>
              </a:lnSpc>
            </a:pPr>
            <a:r>
              <a:rPr sz="800" b="0" i="0">
                <a:solidFill>
                  <a:srgbClr val="ECE7DC"/>
                </a:solidFill>
                <a:latin typeface="Consolas"/>
              </a:rPr>
              <a:t>    │   ├── self_healing.py</a:t>
            </a:r>
          </a:p>
          <a:p>
            <a:pPr algn="l">
              <a:lnSpc>
                <a:spcPct val="100000"/>
              </a:lnSpc>
            </a:pPr>
            <a:r>
              <a:rPr sz="800" b="0" i="0">
                <a:solidFill>
                  <a:srgbClr val="ECE7DC"/>
                </a:solidFill>
                <a:latin typeface="Consolas"/>
              </a:rPr>
              <a:t>    │   ├── self_update.py</a:t>
            </a:r>
          </a:p>
          <a:p>
            <a:pPr algn="l">
              <a:lnSpc>
                <a:spcPct val="100000"/>
              </a:lnSpc>
            </a:pPr>
            <a:r>
              <a:rPr sz="800" b="0" i="0">
                <a:solidFill>
                  <a:srgbClr val="ECE7DC"/>
                </a:solidFill>
                <a:latin typeface="Consolas"/>
              </a:rPr>
              <a:t>    │   ├── sqlite_copy.py</a:t>
            </a:r>
          </a:p>
          <a:p>
            <a:pPr algn="l">
              <a:lnSpc>
                <a:spcPct val="100000"/>
              </a:lnSpc>
            </a:pPr>
            <a:r>
              <a:rPr sz="800" b="0" i="0">
                <a:solidFill>
                  <a:srgbClr val="ECE7DC"/>
                </a:solidFill>
                <a:latin typeface="Consolas"/>
              </a:rPr>
              <a:t>    │   ├── test_access_key_wizard.py</a:t>
            </a:r>
          </a:p>
          <a:p>
            <a:pPr algn="l">
              <a:lnSpc>
                <a:spcPct val="100000"/>
              </a:lnSpc>
            </a:pPr>
            <a:r>
              <a:rPr sz="800" b="0" i="0">
                <a:solidFill>
                  <a:srgbClr val="ECE7DC"/>
                </a:solidFill>
                <a:latin typeface="Consolas"/>
              </a:rPr>
              <a:t>    │   ├── test_agent_display_names.py</a:t>
            </a:r>
          </a:p>
          <a:p>
            <a:pPr algn="l">
              <a:lnSpc>
                <a:spcPct val="100000"/>
              </a:lnSpc>
            </a:pPr>
            <a:r>
              <a:rPr sz="800" b="0" i="0">
                <a:solidFill>
                  <a:srgbClr val="ECE7DC"/>
                </a:solidFill>
                <a:latin typeface="Consolas"/>
              </a:rPr>
              <a:t>    │   ├── test_agent_manifest.py</a:t>
            </a:r>
          </a:p>
          <a:p>
            <a:pPr algn="l">
              <a:lnSpc>
                <a:spcPct val="100000"/>
              </a:lnSpc>
            </a:pPr>
            <a:r>
              <a:rPr sz="800" b="0" i="0">
                <a:solidFill>
                  <a:srgbClr val="ECE7DC"/>
                </a:solidFill>
                <a:latin typeface="Consolas"/>
              </a:rPr>
              <a:t>    │   ├── test_agent_verdict.py</a:t>
            </a:r>
          </a:p>
          <a:p>
            <a:pPr algn="l">
              <a:lnSpc>
                <a:spcPct val="100000"/>
              </a:lnSpc>
            </a:pPr>
            <a:r>
              <a:rPr sz="800" b="0" i="0">
                <a:solidFill>
                  <a:srgbClr val="ECE7DC"/>
                </a:solidFill>
                <a:latin typeface="Consolas"/>
              </a:rPr>
              <a:t>    │   ├── test_agents_see_hidden_dirs.py</a:t>
            </a:r>
          </a:p>
          <a:p>
            <a:pPr algn="l">
              <a:lnSpc>
                <a:spcPct val="100000"/>
              </a:lnSpc>
            </a:pPr>
            <a:r>
              <a:rPr sz="800" b="0" i="0">
                <a:solidFill>
                  <a:srgbClr val="ECE7DC"/>
                </a:solidFill>
                <a:latin typeface="Consolas"/>
              </a:rPr>
              <a:t>    │   ├── test_arduiner_agent.py</a:t>
            </a:r>
          </a:p>
          <a:p>
            <a:pPr algn="l">
              <a:lnSpc>
                <a:spcPct val="100000"/>
              </a:lnSpc>
            </a:pPr>
            <a:r>
              <a:rPr sz="800" b="0" i="0">
                <a:solidFill>
                  <a:srgbClr val="ECE7DC"/>
                </a:solidFill>
                <a:latin typeface="Consolas"/>
              </a:rPr>
              <a:t>    │   ├── test_ask_execs_allowlist.py</a:t>
            </a:r>
          </a:p>
          <a:p>
            <a:pPr algn="l">
              <a:lnSpc>
                <a:spcPct val="100000"/>
              </a:lnSpc>
            </a:pPr>
            <a:r>
              <a:rPr sz="800" b="0" i="0">
                <a:solidFill>
                  <a:srgbClr val="ECE7DC"/>
                </a:solidFill>
                <a:latin typeface="Consolas"/>
              </a:rPr>
              <a:t>    │   ├── test_audioplayer_agent.py</a:t>
            </a:r>
          </a:p>
          <a:p>
            <a:pPr algn="l">
              <a:lnSpc>
                <a:spcPct val="100000"/>
              </a:lnSpc>
            </a:pPr>
            <a:r>
              <a:rPr sz="800" b="0" i="0">
                <a:solidFill>
                  <a:srgbClr val="ECE7DC"/>
                </a:solidFill>
                <a:latin typeface="Consolas"/>
              </a:rPr>
              <a:t>    │   ├── test_binary_guard.py</a:t>
            </a:r>
          </a:p>
          <a:p>
            <a:pPr algn="l">
              <a:lnSpc>
                <a:spcPct val="100000"/>
              </a:lnSpc>
            </a:pPr>
            <a:r>
              <a:rPr sz="800" b="0" i="0">
                <a:solidFill>
                  <a:srgbClr val="ECE7DC"/>
                </a:solidFill>
                <a:latin typeface="Consolas"/>
              </a:rPr>
              <a:t>    │   ├── test_blenderer_agent.py</a:t>
            </a:r>
          </a:p>
          <a:p>
            <a:pPr algn="l">
              <a:lnSpc>
                <a:spcPct val="100000"/>
              </a:lnSpc>
            </a:pPr>
            <a:r>
              <a:rPr sz="800" b="0" i="0">
                <a:solidFill>
                  <a:srgbClr val="ECE7DC"/>
                </a:solidFill>
                <a:latin typeface="Consolas"/>
              </a:rPr>
              <a:t>    │   ├── test_build_pip_quiet.py</a:t>
            </a:r>
          </a:p>
          <a:p>
            <a:pPr algn="l">
              <a:lnSpc>
                <a:spcPct val="100000"/>
              </a:lnSpc>
            </a:pPr>
            <a:r>
              <a:rPr sz="800" b="0" i="0">
                <a:solidFill>
                  <a:srgbClr val="ECE7DC"/>
                </a:solidFill>
                <a:latin typeface="Consolas"/>
              </a:rPr>
              <a:t>    │   ├── test_build_root_assets.py</a:t>
            </a:r>
          </a:p>
          <a:p>
            <a:pPr algn="l">
              <a:lnSpc>
                <a:spcPct val="100000"/>
              </a:lnSpc>
            </a:pPr>
            <a:r>
              <a:rPr sz="800" b="0" i="0">
                <a:solidFill>
                  <a:srgbClr val="ECE7DC"/>
                </a:solidFill>
                <a:latin typeface="Consolas"/>
              </a:rPr>
              <a:t>    │   ├── test_build_scripts.py</a:t>
            </a:r>
          </a:p>
          <a:p>
            <a:pPr algn="l">
              <a:lnSpc>
                <a:spcPct val="100000"/>
              </a:lnSpc>
            </a:pPr>
            <a:r>
              <a:rPr sz="800" b="0" i="0">
                <a:solidFill>
                  <a:srgbClr val="ECE7DC"/>
                </a:solidFill>
                <a:latin typeface="Consolas"/>
              </a:rPr>
              <a:t>    │   ├── test_camcorder_agent.py</a:t>
            </a:r>
          </a:p>
          <a:p>
            <a:pPr algn="l">
              <a:lnSpc>
                <a:spcPct val="100000"/>
              </a:lnSpc>
            </a:pPr>
            <a:r>
              <a:rPr sz="800" b="0" i="0">
                <a:solidFill>
                  <a:srgbClr val="ECE7DC"/>
                </a:solidFill>
                <a:latin typeface="Consolas"/>
              </a:rPr>
              <a:t>    │   ├── test_cancellation.py</a:t>
            </a:r>
          </a:p>
          <a:p>
            <a:pPr algn="l">
              <a:lnSpc>
                <a:spcPct val="100000"/>
              </a:lnSpc>
            </a:pPr>
            <a:r>
              <a:rPr sz="800" b="0" i="0">
                <a:solidFill>
                  <a:srgbClr val="ECE7DC"/>
                </a:solidFill>
                <a:latin typeface="Consolas"/>
              </a:rPr>
              <a:t>    │   ├── test_chain_readiness.py</a:t>
            </a:r>
          </a:p>
          <a:p>
            <a:pPr algn="l">
              <a:lnSpc>
                <a:spcPct val="100000"/>
              </a:lnSpc>
            </a:pPr>
            <a:r>
              <a:rPr sz="800" b="0" i="0">
                <a:solidFill>
                  <a:srgbClr val="ECE7DC"/>
                </a:solidFill>
                <a:latin typeface="Consolas"/>
              </a:rPr>
              <a:t>    │   ├── test_chat_agent_run_wait.py</a:t>
            </a:r>
          </a:p>
          <a:p>
            <a:pPr algn="l">
              <a:lnSpc>
                <a:spcPct val="100000"/>
              </a:lnSpc>
            </a:pPr>
            <a:r>
              <a:rPr sz="800" b="0" i="0">
                <a:solidFill>
                  <a:srgbClr val="ECE7DC"/>
                </a:solidFill>
                <a:latin typeface="Consolas"/>
              </a:rPr>
              <a:t>    │   ├── test_chat_bridge_bots.py</a:t>
            </a:r>
          </a:p>
          <a:p>
            <a:pPr algn="l">
              <a:lnSpc>
                <a:spcPct val="100000"/>
              </a:lnSpc>
            </a:pPr>
            <a:r>
              <a:rPr sz="800" b="0" i="0">
                <a:solidFill>
                  <a:srgbClr val="ECE7DC"/>
                </a:solidFill>
                <a:latin typeface="Consolas"/>
              </a:rPr>
              <a:t>    │   ├── test_chat_history_window.py</a:t>
            </a:r>
          </a:p>
          <a:p>
            <a:pPr algn="l">
              <a:lnSpc>
                <a:spcPct val="100000"/>
              </a:lnSpc>
            </a:pPr>
            <a:r>
              <a:rPr sz="800" b="0" i="0">
                <a:solidFill>
                  <a:srgbClr val="ECE7DC"/>
                </a:solidFill>
                <a:latin typeface="Consolas"/>
              </a:rPr>
              <a:t>    │   ├── test_chat_voice.py</a:t>
            </a:r>
          </a:p>
          <a:p>
            <a:pPr algn="l">
              <a:lnSpc>
                <a:spcPct val="100000"/>
              </a:lnSpc>
            </a:pPr>
            <a:r>
              <a:rPr sz="800" b="0" i="0">
                <a:solidFill>
                  <a:srgbClr val="ECE7DC"/>
                </a:solidFill>
                <a:latin typeface="Consolas"/>
              </a:rPr>
              <a:t>    │   ├── test_checkbox_bulk_toggle.py</a:t>
            </a:r>
          </a:p>
          <a:p>
            <a:pPr algn="l">
              <a:lnSpc>
                <a:spcPct val="100000"/>
              </a:lnSpc>
            </a:pPr>
            <a:r>
              <a:rPr sz="800" b="0" i="0">
                <a:solidFill>
                  <a:srgbClr val="ECE7DC"/>
                </a:solidFill>
                <a:latin typeface="Consolas"/>
              </a:rPr>
              <a:t>    │   ├── test_command_watchdog.py</a:t>
            </a:r>
          </a:p>
          <a:p>
            <a:pPr algn="l">
              <a:lnSpc>
                <a:spcPct val="100000"/>
              </a:lnSpc>
            </a:pPr>
            <a:r>
              <a:rPr sz="800" b="0" i="0">
                <a:solidFill>
                  <a:srgbClr val="ECE7DC"/>
                </a:solidFill>
                <a:latin typeface="Consolas"/>
              </a:rPr>
              <a:t>    │   ├── test_compact_mode_pingpong.py</a:t>
            </a:r>
          </a:p>
          <a:p>
            <a:pPr algn="l">
              <a:lnSpc>
                <a:spcPct val="100000"/>
              </a:lnSpc>
            </a:pPr>
            <a:r>
              <a:rPr sz="800" b="0" i="0">
                <a:solidFill>
                  <a:srgbClr val="ECE7DC"/>
                </a:solidFill>
                <a:latin typeface="Consolas"/>
              </a:rPr>
              <a:t>    │   ├── test_compact_mode_switch.py</a:t>
            </a:r>
          </a:p>
          <a:p>
            <a:pPr algn="l">
              <a:lnSpc>
                <a:spcPct val="100000"/>
              </a:lnSpc>
            </a:pPr>
            <a:r>
              <a:rPr sz="800" b="0" i="0">
                <a:solidFill>
                  <a:srgbClr val="ECE7DC"/>
                </a:solidFill>
                <a:latin typeface="Consolas"/>
              </a:rPr>
              <a:t>    │   ├── test_console_colors.py</a:t>
            </a:r>
          </a:p>
          <a:p>
            <a:pPr algn="l">
              <a:lnSpc>
                <a:spcPct val="100000"/>
              </a:lnSpc>
            </a:pPr>
            <a:r>
              <a:rPr sz="800" b="0" i="0">
                <a:solidFill>
                  <a:srgbClr val="ECE7DC"/>
                </a:solidFill>
                <a:latin typeface="Consolas"/>
              </a:rPr>
              <a:t>    │   ├── test_console_shield.py</a:t>
            </a:r>
          </a:p>
          <a:p>
            <a:pPr algn="l">
              <a:lnSpc>
                <a:spcPct val="100000"/>
              </a:lnSpc>
            </a:pPr>
            <a:r>
              <a:rPr sz="800" b="0" i="0">
                <a:solidFill>
                  <a:srgbClr val="ECE7DC"/>
                </a:solidFill>
                <a:latin typeface="Consolas"/>
              </a:rPr>
              <a:t>    │   ├── test_contacts.py</a:t>
            </a:r>
          </a:p>
          <a:p>
            <a:pPr algn="l">
              <a:lnSpc>
                <a:spcPct val="100000"/>
              </a:lnSpc>
            </a:pPr>
            <a:r>
              <a:rPr sz="800" b="0" i="0">
                <a:solidFill>
                  <a:srgbClr val="ECE7DC"/>
                </a:solidFill>
                <a:latin typeface="Consolas"/>
              </a:rPr>
              <a:t>    │   ├── test_context_governor.py</a:t>
            </a:r>
          </a:p>
          <a:p>
            <a:pPr algn="l">
              <a:lnSpc>
                <a:spcPct val="100000"/>
              </a:lnSpc>
            </a:pPr>
            <a:r>
              <a:rPr sz="800" b="0" i="0">
                <a:solidFill>
                  <a:srgbClr val="ECE7DC"/>
                </a:solidFill>
                <a:latin typeface="Consolas"/>
              </a:rPr>
              <a:t>    │   ├── test_context_real_tokens.py</a:t>
            </a:r>
          </a:p>
          <a:p>
            <a:pPr algn="l">
              <a:lnSpc>
                <a:spcPct val="100000"/>
              </a:lnSpc>
            </a:pPr>
            <a:r>
              <a:rPr sz="800" b="0" i="0">
                <a:solidFill>
                  <a:srgbClr val="ECE7DC"/>
                </a:solidFill>
                <a:latin typeface="Consolas"/>
              </a:rPr>
              <a:t>    │   ├── test_context_restore_spinner.py</a:t>
            </a:r>
          </a:p>
          <a:p>
            <a:pPr algn="l">
              <a:lnSpc>
                <a:spcPct val="100000"/>
              </a:lnSpc>
            </a:pPr>
            <a:r>
              <a:rPr sz="800" b="0" i="0">
                <a:solidFill>
                  <a:srgbClr val="ECE7DC"/>
                </a:solidFill>
                <a:latin typeface="Consolas"/>
              </a:rPr>
              <a:t>    │   ├── test_context_sidecar_timeout.py</a:t>
            </a:r>
          </a:p>
          <a:p>
            <a:pPr algn="l">
              <a:lnSpc>
                <a:spcPct val="100000"/>
              </a:lnSpc>
            </a:pPr>
            <a:r>
              <a:rPr sz="800" b="0" i="0">
                <a:solidFill>
                  <a:srgbClr val="ECE7DC"/>
                </a:solidFill>
                <a:latin typeface="Consolas"/>
              </a:rPr>
              <a:t>    │   ├── test_crawler_agent.py</a:t>
            </a:r>
          </a:p>
          <a:p>
            <a:pPr algn="l">
              <a:lnSpc>
                <a:spcPct val="100000"/>
              </a:lnSpc>
            </a:pPr>
            <a:r>
              <a:rPr sz="800" b="0" i="0">
                <a:solidFill>
                  <a:srgbClr val="ECE7DC"/>
                </a:solidFill>
                <a:latin typeface="Consolas"/>
              </a:rPr>
              <a:t>    │   ├── test_crawler_resilience.py</a:t>
            </a:r>
          </a:p>
          <a:p>
            <a:pPr algn="l">
              <a:lnSpc>
                <a:spcPct val="100000"/>
              </a:lnSpc>
            </a:pPr>
            <a:r>
              <a:rPr sz="800" b="0" i="0">
                <a:solidFill>
                  <a:srgbClr val="ECE7DC"/>
                </a:solidFill>
                <a:latin typeface="Consolas"/>
              </a:rPr>
              <a:t>    │   ├── test_createsuperuser_wizard.py</a:t>
            </a:r>
          </a:p>
          <a:p>
            <a:pPr algn="l">
              <a:lnSpc>
                <a:spcPct val="100000"/>
              </a:lnSpc>
            </a:pPr>
            <a:r>
              <a:rPr sz="800" b="0" i="0">
                <a:solidFill>
                  <a:srgbClr val="ECE7DC"/>
                </a:solidFill>
                <a:latin typeface="Consolas"/>
              </a:rPr>
              <a:t>    │   ├── test_ctrl_c_shutdown.py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test_db_backup_restore_wal.py</a:t>
            </a:r>
          </a:p>
          <a:p>
            <a:pPr algn="l">
              <a:lnSpc>
                <a:spcPct val="100000"/>
              </a:lnSpc>
            </a:pPr>
            <a:r>
              <a:rPr sz="800" b="0" i="0">
                <a:solidFill>
                  <a:srgbClr val="ECE7DC"/>
                </a:solidFill>
                <a:latin typeface="Consolas"/>
              </a:rPr>
              <a:t>    │   ├── test_db_backup_safety.py</a:t>
            </a:r>
          </a:p>
          <a:p>
            <a:pPr algn="l">
              <a:lnSpc>
                <a:spcPct val="100000"/>
              </a:lnSpc>
            </a:pPr>
            <a:r>
              <a:rPr sz="800" b="0" i="0">
                <a:solidFill>
                  <a:srgbClr val="ECE7DC"/>
                </a:solidFill>
                <a:latin typeface="Consolas"/>
              </a:rPr>
              <a:t>    │   ├── test_de_compresser.py</a:t>
            </a:r>
          </a:p>
          <a:p>
            <a:pPr algn="l">
              <a:lnSpc>
                <a:spcPct val="100000"/>
              </a:lnSpc>
            </a:pPr>
            <a:r>
              <a:rPr sz="800" b="0" i="0">
                <a:solidFill>
                  <a:srgbClr val="ECE7DC"/>
                </a:solidFill>
                <a:latin typeface="Consolas"/>
              </a:rPr>
              <a:t>    │   ├── test_deep_research_prompt.py</a:t>
            </a:r>
          </a:p>
          <a:p>
            <a:pPr algn="l">
              <a:lnSpc>
                <a:spcPct val="100000"/>
              </a:lnSpc>
            </a:pPr>
            <a:r>
              <a:rPr sz="800" b="0" i="0">
                <a:solidFill>
                  <a:srgbClr val="ECE7DC"/>
                </a:solidFill>
                <a:latin typeface="Consolas"/>
              </a:rPr>
              <a:t>    │   ├── test_deleter_safety.py</a:t>
            </a:r>
          </a:p>
          <a:p>
            <a:pPr algn="l">
              <a:lnSpc>
                <a:spcPct val="100000"/>
              </a:lnSpc>
            </a:pPr>
            <a:r>
              <a:rPr sz="800" b="0" i="0">
                <a:solidFill>
                  <a:srgbClr val="ECE7DC"/>
                </a:solidFill>
                <a:latin typeface="Consolas"/>
              </a:rPr>
              <a:t>    │   ├── test_desktop_input_agents.py</a:t>
            </a:r>
          </a:p>
          <a:p>
            <a:pPr algn="l">
              <a:lnSpc>
                <a:spcPct val="100000"/>
              </a:lnSpc>
            </a:pPr>
            <a:r>
              <a:rPr sz="800" b="0" i="0">
                <a:solidFill>
                  <a:srgbClr val="ECE7DC"/>
                </a:solidFill>
                <a:latin typeface="Consolas"/>
              </a:rPr>
              <a:t>    │   ├── test_dialog_dismissal_policy.py</a:t>
            </a:r>
          </a:p>
          <a:p>
            <a:pPr algn="l">
              <a:lnSpc>
                <a:spcPct val="100000"/>
              </a:lnSpc>
            </a:pPr>
            <a:r>
              <a:rPr sz="800" b="0" i="0">
                <a:solidFill>
                  <a:srgbClr val="ECE7DC"/>
                </a:solidFill>
                <a:latin typeface="Consolas"/>
              </a:rPr>
              <a:t>    │   ├── test_dialog_theme.py</a:t>
            </a:r>
          </a:p>
          <a:p>
            <a:pPr algn="l">
              <a:lnSpc>
                <a:spcPct val="100000"/>
              </a:lnSpc>
            </a:pPr>
            <a:r>
              <a:rPr sz="800" b="0" i="0">
                <a:solidFill>
                  <a:srgbClr val="ECE7DC"/>
                </a:solidFill>
                <a:latin typeface="Consolas"/>
              </a:rPr>
              <a:t>    │   ├── test_discoverer_agent.py</a:t>
            </a:r>
          </a:p>
          <a:p>
            <a:pPr algn="l">
              <a:lnSpc>
                <a:spcPct val="100000"/>
              </a:lnSpc>
            </a:pPr>
            <a:r>
              <a:rPr sz="800" b="0" i="0">
                <a:solidFill>
                  <a:srgbClr val="ECE7DC"/>
                </a:solidFill>
                <a:latin typeface="Consolas"/>
              </a:rPr>
              <a:t>    │   ├── test_discoverer_thousand.py</a:t>
            </a:r>
          </a:p>
          <a:p>
            <a:pPr algn="l">
              <a:lnSpc>
                <a:spcPct val="100000"/>
              </a:lnSpc>
            </a:pPr>
            <a:r>
              <a:rPr sz="800" b="0" i="0">
                <a:solidFill>
                  <a:srgbClr val="ECE7DC"/>
                </a:solidFill>
                <a:latin typeface="Consolas"/>
              </a:rPr>
              <a:t>    │   ├── test_django_port_config.py</a:t>
            </a:r>
          </a:p>
          <a:p>
            <a:pPr algn="l">
              <a:lnSpc>
                <a:spcPct val="100000"/>
              </a:lnSpc>
            </a:pPr>
            <a:r>
              <a:rPr sz="800" b="0" i="0">
                <a:solidFill>
                  <a:srgbClr val="ECE7DC"/>
                </a:solidFill>
                <a:latin typeface="Consolas"/>
              </a:rPr>
              <a:t>    │   ├── test_drop_message.py</a:t>
            </a:r>
          </a:p>
          <a:p>
            <a:pPr algn="l">
              <a:lnSpc>
                <a:spcPct val="100000"/>
              </a:lnSpc>
            </a:pPr>
            <a:r>
              <a:rPr sz="800" b="0" i="0">
                <a:solidFill>
                  <a:srgbClr val="ECE7DC"/>
                </a:solidFill>
                <a:latin typeface="Consolas"/>
              </a:rPr>
              <a:t>    │   ├── test_editor_agent.py</a:t>
            </a:r>
          </a:p>
          <a:p>
            <a:pPr algn="l">
              <a:lnSpc>
                <a:spcPct val="100000"/>
              </a:lnSpc>
            </a:pPr>
            <a:r>
              <a:rPr sz="800" b="0" i="0">
                <a:solidFill>
                  <a:srgbClr val="ECE7DC"/>
                </a:solidFill>
                <a:latin typeface="Consolas"/>
              </a:rPr>
              <a:t>    │   ├── test_embedding_memory_guard.py</a:t>
            </a:r>
          </a:p>
          <a:p>
            <a:pPr algn="l">
              <a:lnSpc>
                <a:spcPct val="100000"/>
              </a:lnSpc>
            </a:pPr>
            <a:r>
              <a:rPr sz="800" b="0" i="0">
                <a:solidFill>
                  <a:srgbClr val="ECE7DC"/>
                </a:solidFill>
                <a:latin typeface="Consolas"/>
              </a:rPr>
              <a:t>    │   ├── test_esp32er_agent.py</a:t>
            </a:r>
          </a:p>
          <a:p>
            <a:pPr algn="l">
              <a:lnSpc>
                <a:spcPct val="100000"/>
              </a:lnSpc>
            </a:pPr>
            <a:r>
              <a:rPr sz="800" b="0" i="0">
                <a:solidFill>
                  <a:srgbClr val="ECE7DC"/>
                </a:solidFill>
                <a:latin typeface="Consolas"/>
              </a:rPr>
              <a:t>    │   ├── test_esphomer_agent.py</a:t>
            </a:r>
          </a:p>
          <a:p>
            <a:pPr algn="l">
              <a:lnSpc>
                <a:spcPct val="100000"/>
              </a:lnSpc>
            </a:pPr>
            <a:r>
              <a:rPr sz="800" b="0" i="0">
                <a:solidFill>
                  <a:srgbClr val="ECE7DC"/>
                </a:solidFill>
                <a:latin typeface="Consolas"/>
              </a:rPr>
              <a:t>    │   ├── test_exec_report_verdict.py</a:t>
            </a:r>
          </a:p>
          <a:p>
            <a:pPr algn="l">
              <a:lnSpc>
                <a:spcPct val="100000"/>
              </a:lnSpc>
            </a:pPr>
            <a:r>
              <a:rPr sz="800" b="0" i="0">
                <a:solidFill>
                  <a:srgbClr val="ECE7DC"/>
                </a:solidFill>
                <a:latin typeface="Consolas"/>
              </a:rPr>
              <a:t>    │   ├── test_execute_command_bounded.py</a:t>
            </a:r>
          </a:p>
          <a:p>
            <a:pPr algn="l">
              <a:lnSpc>
                <a:spcPct val="100000"/>
              </a:lnSpc>
            </a:pPr>
            <a:r>
              <a:rPr sz="800" b="0" i="0">
                <a:solidFill>
                  <a:srgbClr val="ECE7DC"/>
                </a:solidFill>
                <a:latin typeface="Consolas"/>
              </a:rPr>
              <a:t>    │   ├── test_executer_window_report.py</a:t>
            </a:r>
          </a:p>
          <a:p>
            <a:pPr algn="l">
              <a:lnSpc>
                <a:spcPct val="100000"/>
              </a:lnSpc>
            </a:pPr>
            <a:r>
              <a:rPr sz="800" b="0" i="0">
                <a:solidFill>
                  <a:srgbClr val="ECE7DC"/>
                </a:solidFill>
                <a:latin typeface="Consolas"/>
              </a:rPr>
              <a:t>    │   ├── test_external_mcp_add_flow.py</a:t>
            </a:r>
          </a:p>
          <a:p>
            <a:pPr algn="l">
              <a:lnSpc>
                <a:spcPct val="100000"/>
              </a:lnSpc>
            </a:pPr>
            <a:r>
              <a:rPr sz="800" b="0" i="0">
                <a:solidFill>
                  <a:srgbClr val="ECE7DC"/>
                </a:solidFill>
                <a:latin typeface="Consolas"/>
              </a:rPr>
              <a:t>    │   ├── test_external_mcp_e2e.py</a:t>
            </a:r>
          </a:p>
          <a:p>
            <a:pPr algn="l">
              <a:lnSpc>
                <a:spcPct val="100000"/>
              </a:lnSpc>
            </a:pPr>
            <a:r>
              <a:rPr sz="800" b="0" i="0">
                <a:solidFill>
                  <a:srgbClr val="ECE7DC"/>
                </a:solidFill>
                <a:latin typeface="Consolas"/>
              </a:rPr>
              <a:t>    │   ├── test_external_mcp_transports.py</a:t>
            </a:r>
          </a:p>
          <a:p>
            <a:pPr algn="l">
              <a:lnSpc>
                <a:spcPct val="100000"/>
              </a:lnSpc>
            </a:pPr>
            <a:r>
              <a:rPr sz="800" b="0" i="0">
                <a:solidFill>
                  <a:srgbClr val="ECE7DC"/>
                </a:solidFill>
                <a:latin typeface="Consolas"/>
              </a:rPr>
              <a:t>    │   ├── test_external_mcp_universal.py</a:t>
            </a:r>
          </a:p>
          <a:p>
            <a:pPr algn="l">
              <a:lnSpc>
                <a:spcPct val="100000"/>
              </a:lnSpc>
            </a:pPr>
            <a:r>
              <a:rPr sz="800" b="0" i="0">
                <a:solidFill>
                  <a:srgbClr val="ECE7DC"/>
                </a:solidFill>
                <a:latin typeface="Consolas"/>
              </a:rPr>
              <a:t>    │   ├── test_file_creator_append.py</a:t>
            </a:r>
          </a:p>
          <a:p>
            <a:pPr algn="l">
              <a:lnSpc>
                <a:spcPct val="100000"/>
              </a:lnSpc>
            </a:pPr>
            <a:r>
              <a:rPr sz="800" b="0" i="0">
                <a:solidFill>
                  <a:srgbClr val="ECE7DC"/>
                </a:solidFill>
                <a:latin typeface="Consolas"/>
              </a:rPr>
              <a:t>    │   ├── test_file_extractor_reader.py</a:t>
            </a:r>
          </a:p>
          <a:p>
            <a:pPr algn="l">
              <a:lnSpc>
                <a:spcPct val="100000"/>
              </a:lnSpc>
            </a:pPr>
            <a:r>
              <a:rPr sz="800" b="0" i="0">
                <a:solidFill>
                  <a:srgbClr val="ECE7DC"/>
                </a:solidFill>
                <a:latin typeface="Consolas"/>
              </a:rPr>
              <a:t>    │   ├── test_flow_contracts.py</a:t>
            </a:r>
          </a:p>
          <a:p>
            <a:pPr algn="l">
              <a:lnSpc>
                <a:spcPct val="100000"/>
              </a:lnSpc>
            </a:pPr>
            <a:r>
              <a:rPr sz="800" b="0" i="0">
                <a:solidFill>
                  <a:srgbClr val="ECE7DC"/>
                </a:solidFill>
                <a:latin typeface="Consolas"/>
              </a:rPr>
              <a:t>    │   ├── test_flow_file_open.py</a:t>
            </a:r>
          </a:p>
          <a:p>
            <a:pPr algn="l">
              <a:lnSpc>
                <a:spcPct val="100000"/>
              </a:lnSpc>
            </a:pPr>
            <a:r>
              <a:rPr sz="800" b="0" i="0">
                <a:solidFill>
                  <a:srgbClr val="ECE7DC"/>
                </a:solidFill>
                <a:latin typeface="Consolas"/>
              </a:rPr>
              <a:t>    │   ├── test_flow_file_views.py</a:t>
            </a:r>
          </a:p>
          <a:p>
            <a:pPr algn="l">
              <a:lnSpc>
                <a:spcPct val="100000"/>
              </a:lnSpc>
            </a:pPr>
            <a:r>
              <a:rPr sz="800" b="0" i="0">
                <a:solidFill>
                  <a:srgbClr val="ECE7DC"/>
                </a:solidFill>
                <a:latin typeface="Consolas"/>
              </a:rPr>
              <a:t>    │   ├── test_flow_knowledge.py</a:t>
            </a:r>
          </a:p>
          <a:p>
            <a:pPr algn="l">
              <a:lnSpc>
                <a:spcPct val="100000"/>
              </a:lnSpc>
            </a:pPr>
            <a:r>
              <a:rPr sz="800" b="0" i="0">
                <a:solidFill>
                  <a:srgbClr val="ECE7DC"/>
                </a:solidFill>
                <a:latin typeface="Consolas"/>
              </a:rPr>
              <a:t>    │   ├── test_frontend_mutable_state.py</a:t>
            </a:r>
          </a:p>
          <a:p>
            <a:pPr algn="l">
              <a:lnSpc>
                <a:spcPct val="100000"/>
              </a:lnSpc>
            </a:pPr>
            <a:r>
              <a:rPr sz="800" b="0" i="0">
                <a:solidFill>
                  <a:srgbClr val="ECE7DC"/>
                </a:solidFill>
                <a:latin typeface="Consolas"/>
              </a:rPr>
              <a:t>    │   ├── test_gitter_custom_command.py</a:t>
            </a:r>
          </a:p>
          <a:p>
            <a:pPr algn="l">
              <a:lnSpc>
                <a:spcPct val="100000"/>
              </a:lnSpc>
            </a:pPr>
            <a:r>
              <a:rPr sz="800" b="0" i="0">
                <a:solidFill>
                  <a:srgbClr val="ECE7DC"/>
                </a:solidFill>
                <a:latin typeface="Consolas"/>
              </a:rPr>
              <a:t>    │   ├── test_globber_agent.py</a:t>
            </a:r>
          </a:p>
          <a:p>
            <a:pPr algn="l">
              <a:lnSpc>
                <a:spcPct val="100000"/>
              </a:lnSpc>
            </a:pPr>
            <a:r>
              <a:rPr sz="800" b="0" i="0">
                <a:solidFill>
                  <a:srgbClr val="ECE7DC"/>
                </a:solidFill>
                <a:latin typeface="Consolas"/>
              </a:rPr>
              <a:t>    │   ├── test_googler_agent.py</a:t>
            </a:r>
          </a:p>
          <a:p>
            <a:pPr algn="l">
              <a:lnSpc>
                <a:spcPct val="100000"/>
              </a:lnSpc>
            </a:pPr>
            <a:r>
              <a:rPr sz="800" b="0" i="0">
                <a:solidFill>
                  <a:srgbClr val="ECE7DC"/>
                </a:solidFill>
                <a:latin typeface="Consolas"/>
              </a:rPr>
              <a:t>    │   ├── test_googler_dorks.py</a:t>
            </a:r>
          </a:p>
          <a:p>
            <a:pPr algn="l">
              <a:lnSpc>
                <a:spcPct val="100000"/>
              </a:lnSpc>
            </a:pPr>
            <a:r>
              <a:rPr sz="800" b="0" i="0">
                <a:solidFill>
                  <a:srgbClr val="ECE7DC"/>
                </a:solidFill>
                <a:latin typeface="Consolas"/>
              </a:rPr>
              <a:t>    │   ├── test_googler_resilience.py</a:t>
            </a:r>
          </a:p>
          <a:p>
            <a:pPr algn="l">
              <a:lnSpc>
                <a:spcPct val="100000"/>
              </a:lnSpc>
            </a:pPr>
            <a:r>
              <a:rPr sz="800" b="0" i="0">
                <a:solidFill>
                  <a:srgbClr val="ECE7DC"/>
                </a:solidFill>
                <a:latin typeface="Consolas"/>
              </a:rPr>
              <a:t>    │   ├── test_grepper_agent.py</a:t>
            </a:r>
          </a:p>
          <a:p>
            <a:pPr algn="l">
              <a:lnSpc>
                <a:spcPct val="100000"/>
              </a:lnSpc>
            </a:pPr>
            <a:r>
              <a:rPr sz="800" b="0" i="0">
                <a:solidFill>
                  <a:srgbClr val="ECE7DC"/>
                </a:solidFill>
                <a:latin typeface="Consolas"/>
              </a:rPr>
              <a:t>    │   ├── test_grepper_encodings.py</a:t>
            </a:r>
          </a:p>
          <a:p>
            <a:pPr algn="l">
              <a:lnSpc>
                <a:spcPct val="100000"/>
              </a:lnSpc>
            </a:pPr>
            <a:r>
              <a:rPr sz="800" b="0" i="0">
                <a:solidFill>
                  <a:srgbClr val="ECE7DC"/>
                </a:solidFill>
                <a:latin typeface="Consolas"/>
              </a:rPr>
              <a:t>    │   ├── test_grepper_lines_mode.py</a:t>
            </a:r>
          </a:p>
          <a:p>
            <a:pPr algn="l">
              <a:lnSpc>
                <a:spcPct val="100000"/>
              </a:lnSpc>
            </a:pPr>
            <a:r>
              <a:rPr sz="800" b="0" i="0">
                <a:solidFill>
                  <a:srgbClr val="ECE7DC"/>
                </a:solidFill>
                <a:latin typeface="Consolas"/>
              </a:rPr>
              <a:t>    │   ├── test_image_interpreter_agent.py</a:t>
            </a:r>
          </a:p>
          <a:p>
            <a:pPr algn="l">
              <a:lnSpc>
                <a:spcPct val="100000"/>
              </a:lnSpc>
            </a:pPr>
            <a:r>
              <a:rPr sz="800" b="0" i="0">
                <a:solidFill>
                  <a:srgbClr val="ECE7DC"/>
                </a:solidFill>
                <a:latin typeface="Consolas"/>
              </a:rPr>
              <a:t>    │   ├── test_instant_messaging_doctor.py</a:t>
            </a:r>
          </a:p>
          <a:p>
            <a:pPr algn="l">
              <a:lnSpc>
                <a:spcPct val="100000"/>
              </a:lnSpc>
            </a:pPr>
            <a:r>
              <a:rPr sz="800" b="0" i="0">
                <a:solidFill>
                  <a:srgbClr val="ECE7DC"/>
                </a:solidFill>
                <a:latin typeface="Consolas"/>
              </a:rPr>
              <a:t>    │   ├── test_j_decompiler_agent.py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143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6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1,688 tracked files at commit 113eddc4;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test_js_gates.py</a:t>
            </a:r>
          </a:p>
          <a:p>
            <a:pPr algn="l">
              <a:lnSpc>
                <a:spcPct val="100000"/>
              </a:lnSpc>
            </a:pPr>
            <a:r>
              <a:rPr sz="800" b="0" i="0">
                <a:solidFill>
                  <a:srgbClr val="ECE7DC"/>
                </a:solidFill>
                <a:latin typeface="Consolas"/>
              </a:rPr>
              <a:t>    │   ├── test_kalier_agent.py</a:t>
            </a:r>
          </a:p>
          <a:p>
            <a:pPr algn="l">
              <a:lnSpc>
                <a:spcPct val="100000"/>
              </a:lnSpc>
            </a:pPr>
            <a:r>
              <a:rPr sz="800" b="0" i="0">
                <a:solidFill>
                  <a:srgbClr val="ECE7DC"/>
                </a:solidFill>
                <a:latin typeface="Consolas"/>
              </a:rPr>
              <a:t>    │   ├── test_latexer_agent.py</a:t>
            </a:r>
          </a:p>
          <a:p>
            <a:pPr algn="l">
              <a:lnSpc>
                <a:spcPct val="100000"/>
              </a:lnSpc>
            </a:pPr>
            <a:r>
              <a:rPr sz="800" b="0" i="0">
                <a:solidFill>
                  <a:srgbClr val="ECE7DC"/>
                </a:solidFill>
                <a:latin typeface="Consolas"/>
              </a:rPr>
              <a:t>    │   ├── test_latexer_delivery_truth.py</a:t>
            </a:r>
          </a:p>
          <a:p>
            <a:pPr algn="l">
              <a:lnSpc>
                <a:spcPct val="100000"/>
              </a:lnSpc>
            </a:pPr>
            <a:r>
              <a:rPr sz="800" b="0" i="0">
                <a:solidFill>
                  <a:srgbClr val="ECE7DC"/>
                </a:solidFill>
                <a:latin typeface="Consolas"/>
              </a:rPr>
              <a:t>    │   ├── test_latexer_layout_truth.py</a:t>
            </a:r>
          </a:p>
          <a:p>
            <a:pPr algn="l">
              <a:lnSpc>
                <a:spcPct val="100000"/>
              </a:lnSpc>
            </a:pPr>
            <a:r>
              <a:rPr sz="800" b="0" i="0">
                <a:solidFill>
                  <a:srgbClr val="ECE7DC"/>
                </a:solidFill>
                <a:latin typeface="Consolas"/>
              </a:rPr>
              <a:t>    │   ├── test_latexer_major_removal_and_window_repair</a:t>
            </a:r>
          </a:p>
          <a:p>
            <a:pPr algn="l">
              <a:lnSpc>
                <a:spcPct val="100000"/>
              </a:lnSpc>
            </a:pPr>
            <a:r>
              <a:rPr sz="800" b="0" i="0">
                <a:solidFill>
                  <a:srgbClr val="ECE7DC"/>
                </a:solidFill>
                <a:latin typeface="Consolas"/>
              </a:rPr>
              <a:t>    │   │     » .py</a:t>
            </a:r>
          </a:p>
          <a:p>
            <a:pPr algn="l">
              <a:lnSpc>
                <a:spcPct val="100000"/>
              </a:lnSpc>
            </a:pPr>
            <a:r>
              <a:rPr sz="800" b="0" i="0">
                <a:solidFill>
                  <a:srgbClr val="ECE7DC"/>
                </a:solidFill>
                <a:latin typeface="Consolas"/>
              </a:rPr>
              <a:t>    │   ├── test_latexer_model_repair_truth.py</a:t>
            </a:r>
          </a:p>
          <a:p>
            <a:pPr algn="l">
              <a:lnSpc>
                <a:spcPct val="100000"/>
              </a:lnSpc>
            </a:pPr>
            <a:r>
              <a:rPr sz="800" b="0" i="0">
                <a:solidFill>
                  <a:srgbClr val="ECE7DC"/>
                </a:solidFill>
                <a:latin typeface="Consolas"/>
              </a:rPr>
              <a:t>    │   ├── test_latexer_repair_ladder.py</a:t>
            </a:r>
          </a:p>
          <a:p>
            <a:pPr algn="l">
              <a:lnSpc>
                <a:spcPct val="100000"/>
              </a:lnSpc>
            </a:pPr>
            <a:r>
              <a:rPr sz="800" b="0" i="0">
                <a:solidFill>
                  <a:srgbClr val="ECE7DC"/>
                </a:solidFill>
                <a:latin typeface="Consolas"/>
              </a:rPr>
              <a:t>    │   ├── test_latexer_styles.py</a:t>
            </a:r>
          </a:p>
          <a:p>
            <a:pPr algn="l">
              <a:lnSpc>
                <a:spcPct val="100000"/>
              </a:lnSpc>
            </a:pPr>
            <a:r>
              <a:rPr sz="800" b="0" i="0">
                <a:solidFill>
                  <a:srgbClr val="ECE7DC"/>
                </a:solidFill>
                <a:latin typeface="Consolas"/>
              </a:rPr>
              <a:t>    │   ├── test_latexer_suite.py</a:t>
            </a:r>
          </a:p>
          <a:p>
            <a:pPr algn="l">
              <a:lnSpc>
                <a:spcPct val="100000"/>
              </a:lnSpc>
            </a:pPr>
            <a:r>
              <a:rPr sz="800" b="0" i="0">
                <a:solidFill>
                  <a:srgbClr val="ECE7DC"/>
                </a:solidFill>
                <a:latin typeface="Consolas"/>
              </a:rPr>
              <a:t>    │   ├── test_latexer_verbatim_channel.py</a:t>
            </a:r>
          </a:p>
          <a:p>
            <a:pPr algn="l">
              <a:lnSpc>
                <a:spcPct val="100000"/>
              </a:lnSpc>
            </a:pPr>
            <a:r>
              <a:rPr sz="800" b="0" i="0">
                <a:solidFill>
                  <a:srgbClr val="ECE7DC"/>
                </a:solidFill>
                <a:latin typeface="Consolas"/>
              </a:rPr>
              <a:t>    │   ├── test_log_identity.py</a:t>
            </a:r>
          </a:p>
          <a:p>
            <a:pPr algn="l">
              <a:lnSpc>
                <a:spcPct val="100000"/>
              </a:lnSpc>
            </a:pPr>
            <a:r>
              <a:rPr sz="800" b="0" i="0">
                <a:solidFill>
                  <a:srgbClr val="ECE7DC"/>
                </a:solidFill>
                <a:latin typeface="Consolas"/>
              </a:rPr>
              <a:t>    │   ├── test_mcp_configured_endpoints.py</a:t>
            </a:r>
          </a:p>
          <a:p>
            <a:pPr algn="l">
              <a:lnSpc>
                <a:spcPct val="100000"/>
              </a:lnSpc>
            </a:pPr>
            <a:r>
              <a:rPr sz="800" b="0" i="0">
                <a:solidFill>
                  <a:srgbClr val="ECE7DC"/>
                </a:solidFill>
                <a:latin typeface="Consolas"/>
              </a:rPr>
              <a:t>    │   ├── test_model_brain.py</a:t>
            </a:r>
          </a:p>
          <a:p>
            <a:pPr algn="l">
              <a:lnSpc>
                <a:spcPct val="100000"/>
              </a:lnSpc>
            </a:pPr>
            <a:r>
              <a:rPr sz="800" b="0" i="0">
                <a:solidFill>
                  <a:srgbClr val="ECE7DC"/>
                </a:solidFill>
                <a:latin typeface="Consolas"/>
              </a:rPr>
              <a:t>    │   ├── test_model_capacity.py</a:t>
            </a:r>
          </a:p>
          <a:p>
            <a:pPr algn="l">
              <a:lnSpc>
                <a:spcPct val="100000"/>
              </a:lnSpc>
            </a:pPr>
            <a:r>
              <a:rPr sz="800" b="0" i="0">
                <a:solidFill>
                  <a:srgbClr val="ECE7DC"/>
                </a:solidFill>
                <a:latin typeface="Consolas"/>
              </a:rPr>
              <a:t>    │   ├── test_model_settings.py</a:t>
            </a:r>
          </a:p>
          <a:p>
            <a:pPr algn="l">
              <a:lnSpc>
                <a:spcPct val="100000"/>
              </a:lnSpc>
            </a:pPr>
            <a:r>
              <a:rPr sz="800" b="0" i="0">
                <a:solidFill>
                  <a:srgbClr val="ECE7DC"/>
                </a:solidFill>
                <a:latin typeface="Consolas"/>
              </a:rPr>
              <a:t>    │   ├── test_mover_file_safety.py</a:t>
            </a:r>
          </a:p>
          <a:p>
            <a:pPr algn="l">
              <a:lnSpc>
                <a:spcPct val="100000"/>
              </a:lnSpc>
            </a:pPr>
            <a:r>
              <a:rPr sz="800" b="0" i="0">
                <a:solidFill>
                  <a:srgbClr val="ECE7DC"/>
                </a:solidFill>
                <a:latin typeface="Consolas"/>
              </a:rPr>
              <a:t>    │   ├── test_native_dialogs.py</a:t>
            </a:r>
          </a:p>
          <a:p>
            <a:pPr algn="l">
              <a:lnSpc>
                <a:spcPct val="100000"/>
              </a:lnSpc>
            </a:pPr>
            <a:r>
              <a:rPr sz="800" b="0" i="0">
                <a:solidFill>
                  <a:srgbClr val="ECE7DC"/>
                </a:solidFill>
                <a:latin typeface="Consolas"/>
              </a:rPr>
              <a:t>    │   ├── test_netspeed_calculator_agent.py</a:t>
            </a:r>
          </a:p>
          <a:p>
            <a:pPr algn="l">
              <a:lnSpc>
                <a:spcPct val="100000"/>
              </a:lnSpc>
            </a:pPr>
            <a:r>
              <a:rPr sz="800" b="0" i="0">
                <a:solidFill>
                  <a:srgbClr val="ECE7DC"/>
                </a:solidFill>
                <a:latin typeface="Consolas"/>
              </a:rPr>
              <a:t>    │   ├── test_nmapper_agent.py</a:t>
            </a:r>
          </a:p>
          <a:p>
            <a:pPr algn="l">
              <a:lnSpc>
                <a:spcPct val="100000"/>
              </a:lnSpc>
            </a:pPr>
            <a:r>
              <a:rPr sz="800" b="0" i="0">
                <a:solidFill>
                  <a:srgbClr val="ECE7DC"/>
                </a:solidFill>
                <a:latin typeface="Consolas"/>
              </a:rPr>
              <a:t>    │   ├── test_no_audio_in_tests.py</a:t>
            </a:r>
          </a:p>
          <a:p>
            <a:pPr algn="l">
              <a:lnSpc>
                <a:spcPct val="100000"/>
              </a:lnSpc>
            </a:pPr>
            <a:r>
              <a:rPr sz="800" b="0" i="0">
                <a:solidFill>
                  <a:srgbClr val="ECE7DC"/>
                </a:solidFill>
                <a:latin typeface="Consolas"/>
              </a:rPr>
              <a:t>    │   ├── test_ollama_catalog_from_server.py</a:t>
            </a:r>
          </a:p>
          <a:p>
            <a:pPr algn="l">
              <a:lnSpc>
                <a:spcPct val="100000"/>
              </a:lnSpc>
            </a:pPr>
            <a:r>
              <a:rPr sz="800" b="0" i="0">
                <a:solidFill>
                  <a:srgbClr val="ECE7DC"/>
                </a:solidFill>
                <a:latin typeface="Consolas"/>
              </a:rPr>
              <a:t>    │   ├── test_ollama_stop_limit.py</a:t>
            </a:r>
          </a:p>
          <a:p>
            <a:pPr algn="l">
              <a:lnSpc>
                <a:spcPct val="100000"/>
              </a:lnSpc>
            </a:pPr>
            <a:r>
              <a:rPr sz="800" b="0" i="0">
                <a:solidFill>
                  <a:srgbClr val="ECE7DC"/>
                </a:solidFill>
                <a:latin typeface="Consolas"/>
              </a:rPr>
              <a:t>    │   ├── test_orphan_reaper.py</a:t>
            </a:r>
          </a:p>
          <a:p>
            <a:pPr algn="l">
              <a:lnSpc>
                <a:spcPct val="100000"/>
              </a:lnSpc>
            </a:pPr>
            <a:r>
              <a:rPr sz="800" b="0" i="0">
                <a:solidFill>
                  <a:srgbClr val="ECE7DC"/>
                </a:solidFill>
                <a:latin typeface="Consolas"/>
              </a:rPr>
              <a:t>    │   ├── test_parametrizer_mcp_doctor.py</a:t>
            </a:r>
          </a:p>
          <a:p>
            <a:pPr algn="l">
              <a:lnSpc>
                <a:spcPct val="100000"/>
              </a:lnSpc>
            </a:pPr>
            <a:r>
              <a:rPr sz="800" b="0" i="0">
                <a:solidFill>
                  <a:srgbClr val="ECE7DC"/>
                </a:solidFill>
                <a:latin typeface="Consolas"/>
              </a:rPr>
              <a:t>    │   ├── test_password_quoting.py</a:t>
            </a:r>
          </a:p>
          <a:p>
            <a:pPr algn="l">
              <a:lnSpc>
                <a:spcPct val="100000"/>
              </a:lnSpc>
            </a:pPr>
            <a:r>
              <a:rPr sz="800" b="0" i="0">
                <a:solidFill>
                  <a:srgbClr val="ECE7DC"/>
                </a:solidFill>
                <a:latin typeface="Consolas"/>
              </a:rPr>
              <a:t>    │   ├── test_pdf_context.py</a:t>
            </a:r>
          </a:p>
          <a:p>
            <a:pPr algn="l">
              <a:lnSpc>
                <a:spcPct val="100000"/>
              </a:lnSpc>
            </a:pPr>
            <a:r>
              <a:rPr sz="800" b="0" i="0">
                <a:solidFill>
                  <a:srgbClr val="ECE7DC"/>
                </a:solidFill>
                <a:latin typeface="Consolas"/>
              </a:rPr>
              <a:t>    │   ├── test_pdfer_agent.py</a:t>
            </a:r>
          </a:p>
          <a:p>
            <a:pPr algn="l">
              <a:lnSpc>
                <a:spcPct val="100000"/>
              </a:lnSpc>
            </a:pPr>
            <a:r>
              <a:rPr sz="800" b="0" i="0">
                <a:solidFill>
                  <a:srgbClr val="ECE7DC"/>
                </a:solidFill>
                <a:latin typeface="Consolas"/>
              </a:rPr>
              <a:t>    │   ├── test_pdfer_nuance_layout.py</a:t>
            </a:r>
          </a:p>
          <a:p>
            <a:pPr algn="l">
              <a:lnSpc>
                <a:spcPct val="100000"/>
              </a:lnSpc>
            </a:pPr>
            <a:r>
              <a:rPr sz="800" b="0" i="0">
                <a:solidFill>
                  <a:srgbClr val="ECE7DC"/>
                </a:solidFill>
                <a:latin typeface="Consolas"/>
              </a:rPr>
              <a:t>    │   ├── test_pdfer_styles.py</a:t>
            </a:r>
          </a:p>
          <a:p>
            <a:pPr algn="l">
              <a:lnSpc>
                <a:spcPct val="100000"/>
              </a:lnSpc>
            </a:pPr>
            <a:r>
              <a:rPr sz="800" b="0" i="0">
                <a:solidFill>
                  <a:srgbClr val="ECE7DC"/>
                </a:solidFill>
                <a:latin typeface="Consolas"/>
              </a:rPr>
              <a:t>    │   ├── test_playwrighter_agent.py</a:t>
            </a:r>
          </a:p>
          <a:p>
            <a:pPr algn="l">
              <a:lnSpc>
                <a:spcPct val="100000"/>
              </a:lnSpc>
            </a:pPr>
            <a:r>
              <a:rPr sz="800" b="0" i="0">
                <a:solidFill>
                  <a:srgbClr val="ECE7DC"/>
                </a:solidFill>
                <a:latin typeface="Consolas"/>
              </a:rPr>
              <a:t>    │   ├── test_pptxer_agent.py</a:t>
            </a:r>
          </a:p>
          <a:p>
            <a:pPr algn="l">
              <a:lnSpc>
                <a:spcPct val="100000"/>
              </a:lnSpc>
            </a:pPr>
            <a:r>
              <a:rPr sz="800" b="0" i="0">
                <a:solidFill>
                  <a:srgbClr val="ECE7DC"/>
                </a:solidFill>
                <a:latin typeface="Consolas"/>
              </a:rPr>
              <a:t>    │   ├── test_pptxer_styles.py</a:t>
            </a:r>
          </a:p>
          <a:p>
            <a:pPr algn="l">
              <a:lnSpc>
                <a:spcPct val="100000"/>
              </a:lnSpc>
            </a:pPr>
            <a:r>
              <a:rPr sz="800" b="0" i="0">
                <a:solidFill>
                  <a:srgbClr val="ECE7DC"/>
                </a:solidFill>
                <a:latin typeface="Consolas"/>
              </a:rPr>
              <a:t>    │   ├── test_pptxer_visibility.py</a:t>
            </a:r>
          </a:p>
          <a:p>
            <a:pPr algn="l">
              <a:lnSpc>
                <a:spcPct val="100000"/>
              </a:lnSpc>
            </a:pPr>
            <a:r>
              <a:rPr sz="800" b="0" i="0">
                <a:solidFill>
                  <a:srgbClr val="ECE7DC"/>
                </a:solidFill>
                <a:latin typeface="Consolas"/>
              </a:rPr>
              <a:t>    │   ├── test_preserved_user_state.py</a:t>
            </a:r>
          </a:p>
          <a:p>
            <a:pPr algn="l">
              <a:lnSpc>
                <a:spcPct val="100000"/>
              </a:lnSpc>
            </a:pPr>
            <a:r>
              <a:rPr sz="800" b="0" i="0">
                <a:solidFill>
                  <a:srgbClr val="ECE7DC"/>
                </a:solidFill>
                <a:latin typeface="Consolas"/>
              </a:rPr>
              <a:t>    │   ├── test_program_name_collisions.py</a:t>
            </a:r>
          </a:p>
          <a:p>
            <a:pPr algn="l">
              <a:lnSpc>
                <a:spcPct val="100000"/>
              </a:lnSpc>
            </a:pPr>
            <a:r>
              <a:rPr sz="800" b="0" i="0">
                <a:solidFill>
                  <a:srgbClr val="ECE7DC"/>
                </a:solidFill>
                <a:latin typeface="Consolas"/>
              </a:rPr>
              <a:t>    │   ├── test_prompt_catalog_contiguous.py</a:t>
            </a:r>
          </a:p>
          <a:p>
            <a:pPr algn="l">
              <a:lnSpc>
                <a:spcPct val="100000"/>
              </a:lnSpc>
            </a:pPr>
            <a:r>
              <a:rPr sz="800" b="0" i="0">
                <a:solidFill>
                  <a:srgbClr val="ECE7DC"/>
                </a:solidFill>
                <a:latin typeface="Consolas"/>
              </a:rPr>
              <a:t>    │   ├── test_prompt_flow_panel.py</a:t>
            </a:r>
          </a:p>
          <a:p>
            <a:pPr algn="l">
              <a:lnSpc>
                <a:spcPct val="100000"/>
              </a:lnSpc>
            </a:pPr>
            <a:r>
              <a:rPr sz="800" b="0" i="0">
                <a:solidFill>
                  <a:srgbClr val="ECE7DC"/>
                </a:solidFill>
                <a:latin typeface="Consolas"/>
              </a:rPr>
              <a:t>    │   ├── test_prompt_flow_panel_carriage.py</a:t>
            </a:r>
          </a:p>
          <a:p>
            <a:pPr algn="l">
              <a:lnSpc>
                <a:spcPct val="100000"/>
              </a:lnSpc>
            </a:pPr>
            <a:r>
              <a:rPr sz="800" b="0" i="0">
                <a:solidFill>
                  <a:srgbClr val="ECE7DC"/>
                </a:solidFill>
                <a:latin typeface="Consolas"/>
              </a:rPr>
              <a:t>    │   ├── test_prompt_flow_panel_runtime.py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test_prompt_flow_panel_websocket.py</a:t>
            </a:r>
          </a:p>
          <a:p>
            <a:pPr algn="l">
              <a:lnSpc>
                <a:spcPct val="100000"/>
              </a:lnSpc>
            </a:pPr>
            <a:r>
              <a:rPr sz="800" b="0" i="0">
                <a:solidFill>
                  <a:srgbClr val="ECE7DC"/>
                </a:solidFill>
                <a:latin typeface="Consolas"/>
              </a:rPr>
              <a:t>    │   ├── test_prompt_shape_sentences.py</a:t>
            </a:r>
          </a:p>
          <a:p>
            <a:pPr algn="l">
              <a:lnSpc>
                <a:spcPct val="100000"/>
              </a:lnSpc>
            </a:pPr>
            <a:r>
              <a:rPr sz="800" b="0" i="0">
                <a:solidFill>
                  <a:srgbClr val="ECE7DC"/>
                </a:solidFill>
                <a:latin typeface="Consolas"/>
              </a:rPr>
              <a:t>    │   ├── test_public_release_targets.py</a:t>
            </a:r>
          </a:p>
          <a:p>
            <a:pPr algn="l">
              <a:lnSpc>
                <a:spcPct val="100000"/>
              </a:lnSpc>
            </a:pPr>
            <a:r>
              <a:rPr sz="800" b="0" i="0">
                <a:solidFill>
                  <a:srgbClr val="ECE7DC"/>
                </a:solidFill>
                <a:latin typeface="Consolas"/>
              </a:rPr>
              <a:t>    │   ├── test_recorder_agent.py</a:t>
            </a:r>
          </a:p>
          <a:p>
            <a:pPr algn="l">
              <a:lnSpc>
                <a:spcPct val="100000"/>
              </a:lnSpc>
            </a:pPr>
            <a:r>
              <a:rPr sz="800" b="0" i="0">
                <a:solidFill>
                  <a:srgbClr val="ECE7DC"/>
                </a:solidFill>
                <a:latin typeface="Consolas"/>
              </a:rPr>
              <a:t>    │   ├── test_runtime_provisioner.py</a:t>
            </a:r>
          </a:p>
          <a:p>
            <a:pPr algn="l">
              <a:lnSpc>
                <a:spcPct val="100000"/>
              </a:lnSpc>
            </a:pPr>
            <a:r>
              <a:rPr sz="800" b="0" i="0">
                <a:solidFill>
                  <a:srgbClr val="ECE7DC"/>
                </a:solidFill>
                <a:latin typeface="Consolas"/>
              </a:rPr>
              <a:t>    │   ├── test_security_assets_carriage.py</a:t>
            </a:r>
          </a:p>
          <a:p>
            <a:pPr algn="l">
              <a:lnSpc>
                <a:spcPct val="100000"/>
              </a:lnSpc>
            </a:pPr>
            <a:r>
              <a:rPr sz="800" b="0" i="0">
                <a:solidFill>
                  <a:srgbClr val="ECE7DC"/>
                </a:solidFill>
                <a:latin typeface="Consolas"/>
              </a:rPr>
              <a:t>    │   ├── test_self_healing.py</a:t>
            </a:r>
          </a:p>
          <a:p>
            <a:pPr algn="l">
              <a:lnSpc>
                <a:spcPct val="100000"/>
              </a:lnSpc>
            </a:pPr>
            <a:r>
              <a:rPr sz="800" b="0" i="0">
                <a:solidFill>
                  <a:srgbClr val="ECE7DC"/>
                </a:solidFill>
                <a:latin typeface="Consolas"/>
              </a:rPr>
              <a:t>    │   ├── test_self_knowledge_is_current.py</a:t>
            </a:r>
          </a:p>
          <a:p>
            <a:pPr algn="l">
              <a:lnSpc>
                <a:spcPct val="100000"/>
              </a:lnSpc>
            </a:pPr>
            <a:r>
              <a:rPr sz="800" b="0" i="0">
                <a:solidFill>
                  <a:srgbClr val="ECE7DC"/>
                </a:solidFill>
                <a:latin typeface="Consolas"/>
              </a:rPr>
              <a:t>    │   ├── test_self_modify_gate.py</a:t>
            </a:r>
          </a:p>
          <a:p>
            <a:pPr algn="l">
              <a:lnSpc>
                <a:spcPct val="100000"/>
              </a:lnSpc>
            </a:pPr>
            <a:r>
              <a:rPr sz="800" b="0" i="0">
                <a:solidFill>
                  <a:srgbClr val="ECE7DC"/>
                </a:solidFill>
                <a:latin typeface="Consolas"/>
              </a:rPr>
              <a:t>    │   ├── test_self_modify_switch.py</a:t>
            </a:r>
          </a:p>
          <a:p>
            <a:pPr algn="l">
              <a:lnSpc>
                <a:spcPct val="100000"/>
              </a:lnSpc>
            </a:pPr>
            <a:r>
              <a:rPr sz="800" b="0" i="0">
                <a:solidFill>
                  <a:srgbClr val="ECE7DC"/>
                </a:solidFill>
                <a:latin typeface="Consolas"/>
              </a:rPr>
              <a:t>    │   ├── test_self_update.py</a:t>
            </a:r>
          </a:p>
          <a:p>
            <a:pPr algn="l">
              <a:lnSpc>
                <a:spcPct val="100000"/>
              </a:lnSpc>
            </a:pPr>
            <a:r>
              <a:rPr sz="800" b="0" i="0">
                <a:solidFill>
                  <a:srgbClr val="ECE7DC"/>
                </a:solidFill>
                <a:latin typeface="Consolas"/>
              </a:rPr>
              <a:t>    │   ├── test_shoter_takes_screenshots.py</a:t>
            </a:r>
          </a:p>
          <a:p>
            <a:pPr algn="l">
              <a:lnSpc>
                <a:spcPct val="100000"/>
              </a:lnSpc>
            </a:pPr>
            <a:r>
              <a:rPr sz="800" b="0" i="0">
                <a:solidFill>
                  <a:srgbClr val="ECE7DC"/>
                </a:solidFill>
                <a:latin typeface="Consolas"/>
              </a:rPr>
              <a:t>    │   ├── test_sqlite_wal_mode.py</a:t>
            </a:r>
          </a:p>
          <a:p>
            <a:pPr algn="l">
              <a:lnSpc>
                <a:spcPct val="100000"/>
              </a:lnSpc>
            </a:pPr>
            <a:r>
              <a:rPr sz="800" b="0" i="0">
                <a:solidFill>
                  <a:srgbClr val="ECE7DC"/>
                </a:solidFill>
                <a:latin typeface="Consolas"/>
              </a:rPr>
              <a:t>    │   ├── test_status_vocabulary.py</a:t>
            </a:r>
          </a:p>
          <a:p>
            <a:pPr algn="l">
              <a:lnSpc>
                <a:spcPct val="100000"/>
              </a:lnSpc>
            </a:pPr>
            <a:r>
              <a:rPr sz="800" b="0" i="0">
                <a:solidFill>
                  <a:srgbClr val="ECE7DC"/>
                </a:solidFill>
                <a:latin typeface="Consolas"/>
              </a:rPr>
              <a:t>    │   ├── test_step_by_step_mode.py</a:t>
            </a:r>
          </a:p>
          <a:p>
            <a:pPr algn="l">
              <a:lnSpc>
                <a:spcPct val="100000"/>
              </a:lnSpc>
            </a:pPr>
            <a:r>
              <a:rPr sz="800" b="0" i="0">
                <a:solidFill>
                  <a:srgbClr val="ECE7DC"/>
                </a:solidFill>
                <a:latin typeface="Consolas"/>
              </a:rPr>
              <a:t>    │   ├── test_stm32er_agent.py</a:t>
            </a:r>
          </a:p>
          <a:p>
            <a:pPr algn="l">
              <a:lnSpc>
                <a:spcPct val="100000"/>
              </a:lnSpc>
            </a:pPr>
            <a:r>
              <a:rPr sz="800" b="0" i="0">
                <a:solidFill>
                  <a:srgbClr val="ECE7DC"/>
                </a:solidFill>
                <a:latin typeface="Consolas"/>
              </a:rPr>
              <a:t>    │   ├── test_talker_agent.py</a:t>
            </a:r>
          </a:p>
          <a:p>
            <a:pPr algn="l">
              <a:lnSpc>
                <a:spcPct val="100000"/>
              </a:lnSpc>
            </a:pPr>
            <a:r>
              <a:rPr sz="800" b="0" i="0">
                <a:solidFill>
                  <a:srgbClr val="ECE7DC"/>
                </a:solidFill>
                <a:latin typeface="Consolas"/>
              </a:rPr>
              <a:t>    │   ├── test_telegrammer_identity.py</a:t>
            </a:r>
          </a:p>
          <a:p>
            <a:pPr algn="l">
              <a:lnSpc>
                <a:spcPct val="100000"/>
              </a:lnSpc>
            </a:pPr>
            <a:r>
              <a:rPr sz="800" b="0" i="0">
                <a:solidFill>
                  <a:srgbClr val="ECE7DC"/>
                </a:solidFill>
                <a:latin typeface="Consolas"/>
              </a:rPr>
              <a:t>    │   ├── test_temp_dir_policy.py</a:t>
            </a:r>
          </a:p>
          <a:p>
            <a:pPr algn="l">
              <a:lnSpc>
                <a:spcPct val="100000"/>
              </a:lnSpc>
            </a:pPr>
            <a:r>
              <a:rPr sz="800" b="0" i="0">
                <a:solidFill>
                  <a:srgbClr val="ECE7DC"/>
                </a:solidFill>
                <a:latin typeface="Consolas"/>
              </a:rPr>
              <a:t>    │   ├── test_tool_failure_recovery.py</a:t>
            </a:r>
          </a:p>
          <a:p>
            <a:pPr algn="l">
              <a:lnSpc>
                <a:spcPct val="100000"/>
              </a:lnSpc>
            </a:pPr>
            <a:r>
              <a:rPr sz="800" b="0" i="0">
                <a:solidFill>
                  <a:srgbClr val="ECE7DC"/>
                </a:solidFill>
                <a:latin typeface="Consolas"/>
              </a:rPr>
              <a:t>    │   ├── test_uninstall_processes.py</a:t>
            </a:r>
          </a:p>
          <a:p>
            <a:pPr algn="l">
              <a:lnSpc>
                <a:spcPct val="100000"/>
              </a:lnSpc>
            </a:pPr>
            <a:r>
              <a:rPr sz="800" b="0" i="0">
                <a:solidFill>
                  <a:srgbClr val="ECE7DC"/>
                </a:solidFill>
                <a:latin typeface="Consolas"/>
              </a:rPr>
              <a:t>    │   ├── test_uninstaller_lifecycle.py</a:t>
            </a:r>
          </a:p>
          <a:p>
            <a:pPr algn="l">
              <a:lnSpc>
                <a:spcPct val="100000"/>
              </a:lnSpc>
            </a:pPr>
            <a:r>
              <a:rPr sz="800" b="0" i="0">
                <a:solidFill>
                  <a:srgbClr val="ECE7DC"/>
                </a:solidFill>
                <a:latin typeface="Consolas"/>
              </a:rPr>
              <a:t>    │   ├── test_uninstaller_mechanics.py</a:t>
            </a:r>
          </a:p>
          <a:p>
            <a:pPr algn="l">
              <a:lnSpc>
                <a:spcPct val="100000"/>
              </a:lnSpc>
            </a:pPr>
            <a:r>
              <a:rPr sz="800" b="0" i="0">
                <a:solidFill>
                  <a:srgbClr val="ECE7DC"/>
                </a:solidFill>
                <a:latin typeface="Consolas"/>
              </a:rPr>
              <a:t>    │   ├── test_unrealer_agent.py</a:t>
            </a:r>
          </a:p>
          <a:p>
            <a:pPr algn="l">
              <a:lnSpc>
                <a:spcPct val="100000"/>
              </a:lnSpc>
            </a:pPr>
            <a:r>
              <a:rPr sz="800" b="0" i="0">
                <a:solidFill>
                  <a:srgbClr val="ECE7DC"/>
                </a:solidFill>
                <a:latin typeface="Consolas"/>
              </a:rPr>
              <a:t>    │   ├── test_usage.py</a:t>
            </a:r>
          </a:p>
          <a:p>
            <a:pPr algn="l">
              <a:lnSpc>
                <a:spcPct val="100000"/>
              </a:lnSpc>
            </a:pPr>
            <a:r>
              <a:rPr sz="800" b="0" i="0">
                <a:solidFill>
                  <a:srgbClr val="ECE7DC"/>
                </a:solidFill>
                <a:latin typeface="Consolas"/>
              </a:rPr>
              <a:t>    │   ├── test_version_guard.py</a:t>
            </a:r>
          </a:p>
          <a:p>
            <a:pPr algn="l">
              <a:lnSpc>
                <a:spcPct val="100000"/>
              </a:lnSpc>
            </a:pPr>
            <a:r>
              <a:rPr sz="800" b="0" i="0">
                <a:solidFill>
                  <a:srgbClr val="ECE7DC"/>
                </a:solidFill>
                <a:latin typeface="Consolas"/>
              </a:rPr>
              <a:t>    │   ├── test_video_analyzer_agent.py</a:t>
            </a:r>
          </a:p>
          <a:p>
            <a:pPr algn="l">
              <a:lnSpc>
                <a:spcPct val="100000"/>
              </a:lnSpc>
            </a:pPr>
            <a:r>
              <a:rPr sz="800" b="0" i="0">
                <a:solidFill>
                  <a:srgbClr val="ECE7DC"/>
                </a:solidFill>
                <a:latin typeface="Consolas"/>
              </a:rPr>
              <a:t>    │   ├── test_video_analyzer_content.py</a:t>
            </a:r>
          </a:p>
          <a:p>
            <a:pPr algn="l">
              <a:lnSpc>
                <a:spcPct val="100000"/>
              </a:lnSpc>
            </a:pPr>
            <a:r>
              <a:rPr sz="800" b="0" i="0">
                <a:solidFill>
                  <a:srgbClr val="ECE7DC"/>
                </a:solidFill>
                <a:latin typeface="Consolas"/>
              </a:rPr>
              <a:t>    │   ├── test_videoplayer_agent.py</a:t>
            </a:r>
          </a:p>
          <a:p>
            <a:pPr algn="l">
              <a:lnSpc>
                <a:spcPct val="100000"/>
              </a:lnSpc>
            </a:pPr>
            <a:r>
              <a:rPr sz="800" b="0" i="0">
                <a:solidFill>
                  <a:srgbClr val="ECE7DC"/>
                </a:solidFill>
                <a:latin typeface="Consolas"/>
              </a:rPr>
              <a:t>    │   ├── test_visual_fatal_errors.py</a:t>
            </a:r>
          </a:p>
          <a:p>
            <a:pPr algn="l">
              <a:lnSpc>
                <a:spcPct val="100000"/>
              </a:lnSpc>
            </a:pPr>
            <a:r>
              <a:rPr sz="800" b="0" i="0">
                <a:solidFill>
                  <a:srgbClr val="ECE7DC"/>
                </a:solidFill>
                <a:latin typeface="Consolas"/>
              </a:rPr>
              <a:t>    │   ├── test_voice_commands_catalog.py</a:t>
            </a:r>
          </a:p>
          <a:p>
            <a:pPr algn="l">
              <a:lnSpc>
                <a:spcPct val="100000"/>
              </a:lnSpc>
            </a:pPr>
            <a:r>
              <a:rPr sz="800" b="0" i="0">
                <a:solidFill>
                  <a:srgbClr val="ECE7DC"/>
                </a:solidFill>
                <a:latin typeface="Consolas"/>
              </a:rPr>
              <a:t>    │   ├── test_watchdog_foreground_exemption.py</a:t>
            </a:r>
          </a:p>
          <a:p>
            <a:pPr algn="l">
              <a:lnSpc>
                <a:spcPct val="100000"/>
              </a:lnSpc>
            </a:pPr>
            <a:r>
              <a:rPr sz="800" b="0" i="0">
                <a:solidFill>
                  <a:srgbClr val="ECE7DC"/>
                </a:solidFill>
                <a:latin typeface="Consolas"/>
              </a:rPr>
              <a:t>    │   ├── test_web_process_stays_lean.py</a:t>
            </a:r>
          </a:p>
          <a:p>
            <a:pPr algn="l">
              <a:lnSpc>
                <a:spcPct val="100000"/>
              </a:lnSpc>
            </a:pPr>
            <a:r>
              <a:rPr sz="800" b="0" i="0">
                <a:solidFill>
                  <a:srgbClr val="ECE7DC"/>
                </a:solidFill>
                <a:latin typeface="Consolas"/>
              </a:rPr>
              <a:t>    │   ├── test_whatsapper_identity.py</a:t>
            </a:r>
          </a:p>
          <a:p>
            <a:pPr algn="l">
              <a:lnSpc>
                <a:spcPct val="100000"/>
              </a:lnSpc>
            </a:pPr>
            <a:r>
              <a:rPr sz="800" b="0" i="0">
                <a:solidFill>
                  <a:srgbClr val="ECE7DC"/>
                </a:solidFill>
                <a:latin typeface="Consolas"/>
              </a:rPr>
              <a:t>    │   ├── test_whisperer_agent.py</a:t>
            </a:r>
          </a:p>
          <a:p>
            <a:pPr algn="l">
              <a:lnSpc>
                <a:spcPct val="100000"/>
              </a:lnSpc>
            </a:pPr>
            <a:r>
              <a:rPr sz="800" b="0" i="0">
                <a:solidFill>
                  <a:srgbClr val="ECE7DC"/>
                </a:solidFill>
                <a:latin typeface="Consolas"/>
              </a:rPr>
              <a:t>    │   ├── test_win_shim.py</a:t>
            </a:r>
          </a:p>
          <a:p>
            <a:pPr algn="l">
              <a:lnSpc>
                <a:spcPct val="100000"/>
              </a:lnSpc>
            </a:pPr>
            <a:r>
              <a:rPr sz="800" b="0" i="0">
                <a:solidFill>
                  <a:srgbClr val="ECE7DC"/>
                </a:solidFill>
                <a:latin typeface="Consolas"/>
              </a:rPr>
              <a:t>    │   ├── test_windower_agent.py</a:t>
            </a:r>
          </a:p>
          <a:p>
            <a:pPr algn="l">
              <a:lnSpc>
                <a:spcPct val="100000"/>
              </a:lnSpc>
            </a:pPr>
            <a:r>
              <a:rPr sz="800" b="0" i="0">
                <a:solidFill>
                  <a:srgbClr val="ECE7DC"/>
                </a:solidFill>
                <a:latin typeface="Consolas"/>
              </a:rPr>
              <a:t>    │   ├── test_windows_app_registration.py</a:t>
            </a:r>
          </a:p>
          <a:p>
            <a:pPr algn="l">
              <a:lnSpc>
                <a:spcPct val="100000"/>
              </a:lnSpc>
            </a:pPr>
            <a:r>
              <a:rPr sz="800" b="0" i="0">
                <a:solidFill>
                  <a:srgbClr val="ECE7DC"/>
                </a:solidFill>
                <a:latin typeface="Consolas"/>
              </a:rPr>
              <a:t>    │   ├── test_zavuerer_agent.py</a:t>
            </a:r>
          </a:p>
          <a:p>
            <a:pPr algn="l">
              <a:lnSpc>
                <a:spcPct val="100000"/>
              </a:lnSpc>
            </a:pPr>
            <a:r>
              <a:rPr sz="800" b="0" i="0">
                <a:solidFill>
                  <a:srgbClr val="ECE7DC"/>
                </a:solidFill>
                <a:latin typeface="Consolas"/>
              </a:rPr>
              <a:t>    │   ├── tests.py</a:t>
            </a:r>
          </a:p>
          <a:p>
            <a:pPr algn="l">
              <a:lnSpc>
                <a:spcPct val="100000"/>
              </a:lnSpc>
            </a:pPr>
            <a:r>
              <a:rPr sz="800" b="0" i="0">
                <a:solidFill>
                  <a:srgbClr val="ECE7DC"/>
                </a:solidFill>
                <a:latin typeface="Consolas"/>
              </a:rPr>
              <a:t>    │   ├── tests_perf_3x.py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Tlamatini.md</a:t>
            </a:r>
          </a:p>
          <a:p>
            <a:pPr algn="l">
              <a:lnSpc>
                <a:spcPct val="100000"/>
              </a:lnSpc>
            </a:pPr>
            <a:r>
              <a:rPr sz="800" b="0" i="0">
                <a:solidFill>
                  <a:srgbClr val="ECE7DC"/>
                </a:solidFill>
                <a:latin typeface="Consolas"/>
              </a:rPr>
              <a:t>    │   ├── tools.py</a:t>
            </a:r>
          </a:p>
          <a:p>
            <a:pPr algn="l">
              <a:lnSpc>
                <a:spcPct val="100000"/>
              </a:lnSpc>
            </a:pPr>
            <a:r>
              <a:rPr sz="800" b="0" i="0">
                <a:solidFill>
                  <a:srgbClr val="ECE7DC"/>
                </a:solidFill>
                <a:latin typeface="Consolas"/>
              </a:rPr>
              <a:t>    │   ├── urls.py</a:t>
            </a:r>
          </a:p>
          <a:p>
            <a:pPr algn="l">
              <a:lnSpc>
                <a:spcPct val="100000"/>
              </a:lnSpc>
            </a:pPr>
            <a:r>
              <a:rPr sz="800" b="0" i="0">
                <a:solidFill>
                  <a:srgbClr val="ECE7DC"/>
                </a:solidFill>
                <a:latin typeface="Consolas"/>
              </a:rPr>
              <a:t>    │   ├── usage_provider.py</a:t>
            </a:r>
          </a:p>
          <a:p>
            <a:pPr algn="l">
              <a:lnSpc>
                <a:spcPct val="100000"/>
              </a:lnSpc>
            </a:pPr>
            <a:r>
              <a:rPr sz="800" b="0" i="0">
                <a:solidFill>
                  <a:srgbClr val="ECE7DC"/>
                </a:solidFill>
                <a:latin typeface="Consolas"/>
              </a:rPr>
              <a:t>    │   ├── usage_tracking.py</a:t>
            </a:r>
          </a:p>
          <a:p>
            <a:pPr algn="l">
              <a:lnSpc>
                <a:spcPct val="100000"/>
              </a:lnSpc>
            </a:pPr>
            <a:r>
              <a:rPr sz="800" b="0" i="0">
                <a:solidFill>
                  <a:srgbClr val="ECE7DC"/>
                </a:solidFill>
                <a:latin typeface="Consolas"/>
              </a:rPr>
              <a:t>    │   ├── usage_views.py</a:t>
            </a:r>
          </a:p>
          <a:p>
            <a:pPr algn="l">
              <a:lnSpc>
                <a:spcPct val="100000"/>
              </a:lnSpc>
            </a:pPr>
            <a:r>
              <a:rPr sz="800" b="0" i="0">
                <a:solidFill>
                  <a:srgbClr val="ECE7DC"/>
                </a:solidFill>
                <a:latin typeface="Consolas"/>
              </a:rPr>
              <a:t>    │   ├── version.py</a:t>
            </a:r>
          </a:p>
          <a:p>
            <a:pPr algn="l">
              <a:lnSpc>
                <a:spcPct val="100000"/>
              </a:lnSpc>
            </a:pPr>
            <a:r>
              <a:rPr sz="800" b="0" i="0">
                <a:solidFill>
                  <a:srgbClr val="ECE7DC"/>
                </a:solidFill>
                <a:latin typeface="Consolas"/>
              </a:rPr>
              <a:t>    │   ├── views.py</a:t>
            </a:r>
          </a:p>
          <a:p>
            <a:pPr algn="l">
              <a:lnSpc>
                <a:spcPct val="100000"/>
              </a:lnSpc>
            </a:pPr>
            <a:r>
              <a:rPr sz="800" b="0" i="0">
                <a:solidFill>
                  <a:srgbClr val="ECE7DC"/>
                </a:solidFill>
                <a:latin typeface="Consolas"/>
              </a:rPr>
              <a:t>    │   ├── visual_error_reporting.py</a:t>
            </a:r>
          </a:p>
          <a:p>
            <a:pPr algn="l">
              <a:lnSpc>
                <a:spcPct val="100000"/>
              </a:lnSpc>
            </a:pPr>
            <a:r>
              <a:rPr sz="800" b="0" i="0">
                <a:solidFill>
                  <a:srgbClr val="ECE7DC"/>
                </a:solidFill>
                <a:latin typeface="Consolas"/>
              </a:rPr>
              <a:t>    │   ├── web_search_llm.py</a:t>
            </a:r>
          </a:p>
          <a:p>
            <a:pPr algn="l">
              <a:lnSpc>
                <a:spcPct val="100000"/>
              </a:lnSpc>
            </a:pPr>
            <a:r>
              <a:rPr sz="800" b="0" i="0">
                <a:solidFill>
                  <a:srgbClr val="ECE7DC"/>
                </a:solidFill>
                <a:latin typeface="Consolas"/>
              </a:rPr>
              <a:t>    │   ├── win_shim.py</a:t>
            </a:r>
          </a:p>
          <a:p>
            <a:pPr algn="l">
              <a:lnSpc>
                <a:spcPct val="100000"/>
              </a:lnSpc>
            </a:pPr>
            <a:r>
              <a:rPr sz="800" b="0" i="0">
                <a:solidFill>
                  <a:srgbClr val="ECE7DC"/>
                </a:solidFill>
                <a:latin typeface="Consolas"/>
              </a:rPr>
              <a:t>    │   ├── window_flash.py</a:t>
            </a:r>
          </a:p>
          <a:p>
            <a:pPr algn="l">
              <a:lnSpc>
                <a:spcPct val="100000"/>
              </a:lnSpc>
            </a:pPr>
            <a:r>
              <a:rPr sz="800" b="0" i="0">
                <a:solidFill>
                  <a:srgbClr val="ECE7DC"/>
                </a:solidFill>
                <a:latin typeface="Consolas"/>
              </a:rPr>
              <a:t>    │   ├── windows_app_registration.py</a:t>
            </a:r>
          </a:p>
          <a:p>
            <a:pPr algn="l">
              <a:lnSpc>
                <a:spcPct val="100000"/>
              </a:lnSpc>
            </a:pPr>
            <a:r>
              <a:rPr sz="800" b="0" i="0">
                <a:solidFill>
                  <a:srgbClr val="3BBE93"/>
                </a:solidFill>
                <a:latin typeface="Consolas"/>
              </a:rPr>
              <a:t>    │   ├── acpx/</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agent_registry.py</a:t>
            </a:r>
          </a:p>
          <a:p>
            <a:pPr algn="l">
              <a:lnSpc>
                <a:spcPct val="100000"/>
              </a:lnSpc>
            </a:pPr>
            <a:r>
              <a:rPr sz="800" b="0" i="0">
                <a:solidFill>
                  <a:srgbClr val="ECE7DC"/>
                </a:solidFill>
                <a:latin typeface="Consolas"/>
              </a:rPr>
              <a:t>    │   │   ├── child_health.py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permissions.py</a:t>
            </a:r>
          </a:p>
          <a:p>
            <a:pPr algn="l">
              <a:lnSpc>
                <a:spcPct val="100000"/>
              </a:lnSpc>
            </a:pPr>
            <a:r>
              <a:rPr sz="800" b="0" i="0">
                <a:solidFill>
                  <a:srgbClr val="ECE7DC"/>
                </a:solidFill>
                <a:latin typeface="Consolas"/>
              </a:rPr>
              <a:t>    │   │   ├── runtime.py</a:t>
            </a:r>
          </a:p>
          <a:p>
            <a:pPr algn="l">
              <a:lnSpc>
                <a:spcPct val="100000"/>
              </a:lnSpc>
            </a:pPr>
            <a:r>
              <a:rPr sz="800" b="0" i="0">
                <a:solidFill>
                  <a:srgbClr val="ECE7DC"/>
                </a:solidFill>
                <a:latin typeface="Consolas"/>
              </a:rPr>
              <a:t>    │   │   ├── service.py</a:t>
            </a:r>
          </a:p>
          <a:p>
            <a:pPr algn="l">
              <a:lnSpc>
                <a:spcPct val="100000"/>
              </a:lnSpc>
            </a:pPr>
            <a:r>
              <a:rPr sz="800" b="0" i="0">
                <a:solidFill>
                  <a:srgbClr val="ECE7DC"/>
                </a:solidFill>
                <a:latin typeface="Consolas"/>
              </a:rPr>
              <a:t>    │   │   ├── session_store.py</a:t>
            </a:r>
          </a:p>
          <a:p>
            <a:pPr algn="l">
              <a:lnSpc>
                <a:spcPct val="100000"/>
              </a:lnSpc>
            </a:pPr>
            <a:r>
              <a:rPr sz="800" b="0" i="0">
                <a:solidFill>
                  <a:srgbClr val="ECE7DC"/>
                </a:solidFill>
                <a:latin typeface="Consolas"/>
              </a:rPr>
              <a:t>    │   │   ├── tests.py</a:t>
            </a:r>
          </a:p>
          <a:p>
            <a:pPr algn="l">
              <a:lnSpc>
                <a:spcPct val="100000"/>
              </a:lnSpc>
            </a:pPr>
            <a:r>
              <a:rPr sz="800" b="0" i="0">
                <a:solidFill>
                  <a:srgbClr val="ECE7DC"/>
                </a:solidFill>
                <a:latin typeface="Consolas"/>
              </a:rPr>
              <a:t>    │   │   ├── tools.py</a:t>
            </a:r>
          </a:p>
          <a:p>
            <a:pPr algn="l">
              <a:lnSpc>
                <a:spcPct val="100000"/>
              </a:lnSpc>
            </a:pPr>
            <a:r>
              <a:rPr sz="800" b="0" i="0">
                <a:solidFill>
                  <a:srgbClr val="ECE7DC"/>
                </a:solidFill>
                <a:latin typeface="Consolas"/>
              </a:rPr>
              <a:t>    │   │   └── windows_spawn.py</a:t>
            </a:r>
          </a:p>
          <a:p>
            <a:pPr algn="l">
              <a:lnSpc>
                <a:spcPct val="100000"/>
              </a:lnSpc>
            </a:pPr>
            <a:r>
              <a:rPr sz="800" b="0" i="0">
                <a:solidFill>
                  <a:srgbClr val="3BBE93"/>
                </a:solidFill>
                <a:latin typeface="Consolas"/>
              </a:rPr>
              <a:t>    │   ├── agents/</a:t>
            </a:r>
          </a:p>
          <a:p>
            <a:pPr algn="l">
              <a:lnSpc>
                <a:spcPct val="100000"/>
              </a:lnSpc>
            </a:pPr>
            <a:r>
              <a:rPr sz="800" b="0" i="0">
                <a:solidFill>
                  <a:srgbClr val="ECE7DC"/>
                </a:solidFill>
                <a:latin typeface="Consolas"/>
              </a:rPr>
              <a:t>    │   │   ├── model_settings.py</a:t>
            </a:r>
          </a:p>
          <a:p>
            <a:pPr algn="l">
              <a:lnSpc>
                <a:spcPct val="100000"/>
              </a:lnSpc>
            </a:pPr>
            <a:r>
              <a:rPr sz="800" b="0" i="0">
                <a:solidFill>
                  <a:srgbClr val="ECE7DC"/>
                </a:solidFill>
                <a:latin typeface="Consolas"/>
              </a:rPr>
              <a:t>    │   │   ├── visual_errors.py</a:t>
            </a:r>
          </a:p>
          <a:p>
            <a:pPr algn="l">
              <a:lnSpc>
                <a:spcPct val="100000"/>
              </a:lnSpc>
            </a:pPr>
            <a:r>
              <a:rPr sz="800" b="0" i="0">
                <a:solidFill>
                  <a:srgbClr val="3BBE93"/>
                </a:solidFill>
                <a:latin typeface="Consolas"/>
              </a:rPr>
              <a:t>    │   │   ├── acpxer/</a:t>
            </a:r>
          </a:p>
          <a:p>
            <a:pPr algn="l">
              <a:lnSpc>
                <a:spcPct val="100000"/>
              </a:lnSpc>
            </a:pPr>
            <a:r>
              <a:rPr sz="800" b="0" i="0">
                <a:solidFill>
                  <a:srgbClr val="ECE7DC"/>
                </a:solidFill>
                <a:latin typeface="Consolas"/>
              </a:rPr>
              <a:t>    │   │   │   ├── acpxer.py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analyzer/</a:t>
            </a:r>
          </a:p>
          <a:p>
            <a:pPr algn="l">
              <a:lnSpc>
                <a:spcPct val="100000"/>
              </a:lnSpc>
            </a:pPr>
            <a:r>
              <a:rPr sz="800" b="0" i="0">
                <a:solidFill>
                  <a:srgbClr val="ECE7DC"/>
                </a:solidFill>
                <a:latin typeface="Consolas"/>
              </a:rPr>
              <a:t>    │   │   │   ├── analyzer.py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and/</a:t>
            </a:r>
          </a:p>
          <a:p>
            <a:pPr algn="l">
              <a:lnSpc>
                <a:spcPct val="100000"/>
              </a:lnSpc>
            </a:pPr>
            <a:r>
              <a:rPr sz="800" b="0" i="0">
                <a:solidFill>
                  <a:srgbClr val="ECE7DC"/>
                </a:solidFill>
                <a:latin typeface="Consolas"/>
              </a:rPr>
              <a:t>    │   │   │   ├── and.py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apirer/</a:t>
            </a:r>
          </a:p>
          <a:p>
            <a:pPr algn="l">
              <a:lnSpc>
                <a:spcPct val="100000"/>
              </a:lnSpc>
            </a:pPr>
            <a:r>
              <a:rPr sz="800" b="0" i="0">
                <a:solidFill>
                  <a:srgbClr val="ECE7DC"/>
                </a:solidFill>
                <a:latin typeface="Consolas"/>
              </a:rPr>
              <a:t>    │   │   │   ├── apirer.py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arduiner/</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144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7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1,688 tracked files at commit 113eddc4;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arduiner.py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 ArduinoTemplateProject/</a:t>
            </a:r>
          </a:p>
          <a:p>
            <a:pPr algn="l">
              <a:lnSpc>
                <a:spcPct val="100000"/>
              </a:lnSpc>
            </a:pPr>
            <a:r>
              <a:rPr sz="800" b="0" i="0">
                <a:solidFill>
                  <a:srgbClr val="ECE7DC"/>
                </a:solidFill>
                <a:latin typeface="Consolas"/>
              </a:rPr>
              <a:t>    │   │   │       ├── ArduinoTemplateProject.ino</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sketch.yaml</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Heartbeat.cpp</a:t>
            </a:r>
          </a:p>
          <a:p>
            <a:pPr algn="l">
              <a:lnSpc>
                <a:spcPct val="100000"/>
              </a:lnSpc>
            </a:pPr>
            <a:r>
              <a:rPr sz="800" b="0" i="0">
                <a:solidFill>
                  <a:srgbClr val="ECE7DC"/>
                </a:solidFill>
                <a:latin typeface="Consolas"/>
              </a:rPr>
              <a:t>    │   │   │           └── Heartbeat.h</a:t>
            </a:r>
          </a:p>
          <a:p>
            <a:pPr algn="l">
              <a:lnSpc>
                <a:spcPct val="100000"/>
              </a:lnSpc>
            </a:pPr>
            <a:r>
              <a:rPr sz="800" b="0" i="0">
                <a:solidFill>
                  <a:srgbClr val="3BBE93"/>
                </a:solidFill>
                <a:latin typeface="Consolas"/>
              </a:rPr>
              <a:t>    │   │   ├── asker/</a:t>
            </a:r>
          </a:p>
          <a:p>
            <a:pPr algn="l">
              <a:lnSpc>
                <a:spcPct val="100000"/>
              </a:lnSpc>
            </a:pPr>
            <a:r>
              <a:rPr sz="800" b="0" i="0">
                <a:solidFill>
                  <a:srgbClr val="ECE7DC"/>
                </a:solidFill>
                <a:latin typeface="Consolas"/>
              </a:rPr>
              <a:t>    │   │   │   ├── asker.py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audioplayer/</a:t>
            </a:r>
          </a:p>
          <a:p>
            <a:pPr algn="l">
              <a:lnSpc>
                <a:spcPct val="100000"/>
              </a:lnSpc>
            </a:pPr>
            <a:r>
              <a:rPr sz="800" b="0" i="0">
                <a:solidFill>
                  <a:srgbClr val="ECE7DC"/>
                </a:solidFill>
                <a:latin typeface="Consolas"/>
              </a:rPr>
              <a:t>    │   │   │   ├── audioplayer.py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barrier/</a:t>
            </a:r>
          </a:p>
          <a:p>
            <a:pPr algn="l">
              <a:lnSpc>
                <a:spcPct val="100000"/>
              </a:lnSpc>
            </a:pPr>
            <a:r>
              <a:rPr sz="800" b="0" i="0">
                <a:solidFill>
                  <a:srgbClr val="ECE7DC"/>
                </a:solidFill>
                <a:latin typeface="Consolas"/>
              </a:rPr>
              <a:t>    │   │   │   ├── barrier.py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test_barrier.py</a:t>
            </a:r>
          </a:p>
          <a:p>
            <a:pPr algn="l">
              <a:lnSpc>
                <a:spcPct val="100000"/>
              </a:lnSpc>
            </a:pPr>
            <a:r>
              <a:rPr sz="800" b="0" i="0">
                <a:solidFill>
                  <a:srgbClr val="3BBE93"/>
                </a:solidFill>
                <a:latin typeface="Consolas"/>
              </a:rPr>
              <a:t>    │   │   ├── blenderer/</a:t>
            </a:r>
          </a:p>
          <a:p>
            <a:pPr algn="l">
              <a:lnSpc>
                <a:spcPct val="100000"/>
              </a:lnSpc>
            </a:pPr>
            <a:r>
              <a:rPr sz="800" b="0" i="0">
                <a:solidFill>
                  <a:srgbClr val="ECE7DC"/>
                </a:solidFill>
                <a:latin typeface="Consolas"/>
              </a:rPr>
              <a:t>    │   │   │   ├── blenderer.py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camcorder/</a:t>
            </a:r>
          </a:p>
          <a:p>
            <a:pPr algn="l">
              <a:lnSpc>
                <a:spcPct val="100000"/>
              </a:lnSpc>
            </a:pPr>
            <a:r>
              <a:rPr sz="800" b="0" i="0">
                <a:solidFill>
                  <a:srgbClr val="ECE7DC"/>
                </a:solidFill>
                <a:latin typeface="Consolas"/>
              </a:rPr>
              <a:t>    │   │   │   ├── camcorder.py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cleaner/</a:t>
            </a:r>
          </a:p>
          <a:p>
            <a:pPr algn="l">
              <a:lnSpc>
                <a:spcPct val="100000"/>
              </a:lnSpc>
            </a:pPr>
            <a:r>
              <a:rPr sz="800" b="0" i="0">
                <a:solidFill>
                  <a:srgbClr val="ECE7DC"/>
                </a:solidFill>
                <a:latin typeface="Consolas"/>
              </a:rPr>
              <a:t>    │   │   │   ├── __init__.py</a:t>
            </a:r>
          </a:p>
          <a:p>
            <a:pPr algn="l">
              <a:lnSpc>
                <a:spcPct val="100000"/>
              </a:lnSpc>
            </a:pPr>
            <a:r>
              <a:rPr sz="800" b="0" i="0">
                <a:solidFill>
                  <a:srgbClr val="ECE7DC"/>
                </a:solidFill>
                <a:latin typeface="Consolas"/>
              </a:rPr>
              <a:t>    │   │   │   ├── cleaner.py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counter/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counter.py</a:t>
            </a:r>
          </a:p>
          <a:p>
            <a:pPr algn="l">
              <a:lnSpc>
                <a:spcPct val="100000"/>
              </a:lnSpc>
            </a:pPr>
            <a:r>
              <a:rPr sz="800" b="0" i="0">
                <a:solidFill>
                  <a:srgbClr val="3BBE93"/>
                </a:solidFill>
                <a:latin typeface="Consolas"/>
              </a:rPr>
              <a:t>    │   │   ├── crawler/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crawler.py</a:t>
            </a:r>
          </a:p>
          <a:p>
            <a:pPr algn="l">
              <a:lnSpc>
                <a:spcPct val="100000"/>
              </a:lnSpc>
            </a:pPr>
            <a:r>
              <a:rPr sz="800" b="0" i="0">
                <a:solidFill>
                  <a:srgbClr val="3BBE93"/>
                </a:solidFill>
                <a:latin typeface="Consolas"/>
              </a:rPr>
              <a:t>    │   │   ├── croner/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croner.py</a:t>
            </a:r>
          </a:p>
          <a:p>
            <a:pPr algn="l">
              <a:lnSpc>
                <a:spcPct val="100000"/>
              </a:lnSpc>
            </a:pPr>
            <a:r>
              <a:rPr sz="800" b="0" i="0">
                <a:solidFill>
                  <a:srgbClr val="3BBE93"/>
                </a:solidFill>
                <a:latin typeface="Consolas"/>
              </a:rPr>
              <a:t>    │   │   ├── de_compresser/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de_compresser.py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deleter/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deleter.py</a:t>
            </a:r>
          </a:p>
          <a:p>
            <a:pPr algn="l">
              <a:lnSpc>
                <a:spcPct val="100000"/>
              </a:lnSpc>
            </a:pPr>
            <a:r>
              <a:rPr sz="800" b="0" i="0">
                <a:solidFill>
                  <a:srgbClr val="3BBE93"/>
                </a:solidFill>
                <a:latin typeface="Consolas"/>
              </a:rPr>
              <a:t>    │   │   ├── discoverer/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discoverer.py</a:t>
            </a:r>
          </a:p>
          <a:p>
            <a:pPr algn="l">
              <a:lnSpc>
                <a:spcPct val="100000"/>
              </a:lnSpc>
            </a:pPr>
            <a:r>
              <a:rPr sz="800" b="0" i="0">
                <a:solidFill>
                  <a:srgbClr val="3BBE93"/>
                </a:solidFill>
                <a:latin typeface="Consolas"/>
              </a:rPr>
              <a:t>    │   │   ├── dockerer/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dockerer.py</a:t>
            </a:r>
          </a:p>
          <a:p>
            <a:pPr algn="l">
              <a:lnSpc>
                <a:spcPct val="100000"/>
              </a:lnSpc>
            </a:pPr>
            <a:r>
              <a:rPr sz="800" b="0" i="0">
                <a:solidFill>
                  <a:srgbClr val="3BBE93"/>
                </a:solidFill>
                <a:latin typeface="Consolas"/>
              </a:rPr>
              <a:t>    │   │   ├── editor/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editor.py</a:t>
            </a:r>
          </a:p>
          <a:p>
            <a:pPr algn="l">
              <a:lnSpc>
                <a:spcPct val="100000"/>
              </a:lnSpc>
            </a:pPr>
            <a:r>
              <a:rPr sz="800" b="0" i="0">
                <a:solidFill>
                  <a:srgbClr val="3BBE93"/>
                </a:solidFill>
                <a:latin typeface="Consolas"/>
              </a:rPr>
              <a:t>    │   │   ├── emailer/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emailer.py</a:t>
            </a:r>
          </a:p>
          <a:p>
            <a:pPr algn="l">
              <a:lnSpc>
                <a:spcPct val="100000"/>
              </a:lnSpc>
            </a:pPr>
            <a:r>
              <a:rPr sz="800" b="0" i="0">
                <a:solidFill>
                  <a:srgbClr val="3BBE93"/>
                </a:solidFill>
                <a:latin typeface="Consolas"/>
              </a:rPr>
              <a:t>    │   │   ├── ender/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ender.py</a:t>
            </a:r>
          </a:p>
          <a:p>
            <a:pPr algn="l">
              <a:lnSpc>
                <a:spcPct val="100000"/>
              </a:lnSpc>
            </a:pPr>
            <a:r>
              <a:rPr sz="800" b="0" i="0">
                <a:solidFill>
                  <a:srgbClr val="3BBE93"/>
                </a:solidFill>
                <a:latin typeface="Consolas"/>
              </a:rPr>
              <a:t>    │   │   ├── esp32er/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esp32er.py</a:t>
            </a:r>
          </a:p>
          <a:p>
            <a:pPr algn="l">
              <a:lnSpc>
                <a:spcPct val="100000"/>
              </a:lnSpc>
            </a:pPr>
            <a:r>
              <a:rPr sz="800" b="0" i="0">
                <a:solidFill>
                  <a:srgbClr val="3BBE93"/>
                </a:solidFill>
                <a:latin typeface="Consolas"/>
              </a:rPr>
              <a:t>    │   │   │   └── ESP32TemplateProject/</a:t>
            </a:r>
          </a:p>
          <a:p>
            <a:pPr algn="l">
              <a:lnSpc>
                <a:spcPct val="100000"/>
              </a:lnSpc>
            </a:pPr>
            <a:r>
              <a:rPr sz="800" b="0" i="0">
                <a:solidFill>
                  <a:srgbClr val="ECE7DC"/>
                </a:solidFill>
                <a:latin typeface="Consolas"/>
              </a:rPr>
              <a:t>    │   │   │       ├── platformio.ini</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 include/</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lib/</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 main.cpp</a:t>
            </a:r>
          </a:p>
          <a:p>
            <a:pPr algn="l">
              <a:lnSpc>
                <a:spcPct val="100000"/>
              </a:lnSpc>
            </a:pPr>
            <a:r>
              <a:rPr sz="800" b="0" i="0">
                <a:solidFill>
                  <a:srgbClr val="3BBE93"/>
                </a:solidFill>
                <a:latin typeface="Consolas"/>
              </a:rPr>
              <a:t>    │   │   │       └── test/</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esphomer/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esphomer.py</a:t>
            </a:r>
          </a:p>
          <a:p>
            <a:pPr algn="l">
              <a:lnSpc>
                <a:spcPct val="100000"/>
              </a:lnSpc>
            </a:pPr>
            <a:r>
              <a:rPr sz="800" b="0" i="0">
                <a:solidFill>
                  <a:srgbClr val="3BBE93"/>
                </a:solidFill>
                <a:latin typeface="Consolas"/>
              </a:rPr>
              <a:t>    │   │   │   └── ESPHomeTemplateProject/</a:t>
            </a:r>
          </a:p>
          <a:p>
            <a:pPr algn="l">
              <a:lnSpc>
                <a:spcPct val="100000"/>
              </a:lnSpc>
            </a:pPr>
            <a:r>
              <a:rPr sz="800" b="0" i="0">
                <a:solidFill>
                  <a:srgbClr val="ECE7DC"/>
                </a:solidFill>
                <a:latin typeface="Consolas"/>
              </a:rPr>
              <a:t>    │   │   │       ├── .gitignore</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secrets.yaml.example</a:t>
            </a:r>
          </a:p>
          <a:p>
            <a:pPr algn="l">
              <a:lnSpc>
                <a:spcPct val="100000"/>
              </a:lnSpc>
            </a:pPr>
            <a:r>
              <a:rPr sz="800" b="0" i="0">
                <a:solidFill>
                  <a:srgbClr val="ECE7DC"/>
                </a:solidFill>
                <a:latin typeface="Consolas"/>
              </a:rPr>
              <a:t>    │   │   │       ├── tlamatini-light.yaml</a:t>
            </a:r>
          </a:p>
          <a:p>
            <a:pPr algn="l">
              <a:lnSpc>
                <a:spcPct val="100000"/>
              </a:lnSpc>
            </a:pPr>
            <a:r>
              <a:rPr sz="800" b="0" i="0">
                <a:solidFill>
                  <a:srgbClr val="ECE7DC"/>
                </a:solidFill>
                <a:latin typeface="Consolas"/>
              </a:rPr>
              <a:t>    │   │   │       ├── tlamatini-sensor.yaml</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 common/</a:t>
            </a:r>
          </a:p>
          <a:p>
            <a:pPr algn="l">
              <a:lnSpc>
                <a:spcPct val="100000"/>
              </a:lnSpc>
            </a:pPr>
            <a:r>
              <a:rPr sz="800" b="0" i="0">
                <a:solidFill>
                  <a:srgbClr val="ECE7DC"/>
                </a:solidFill>
                <a:latin typeface="Consolas"/>
              </a:rPr>
              <a:t>    │   │   │           └── base.yaml</a:t>
            </a:r>
          </a:p>
          <a:p>
            <a:pPr algn="l">
              <a:lnSpc>
                <a:spcPct val="100000"/>
              </a:lnSpc>
            </a:pPr>
            <a:r>
              <a:rPr sz="800" b="0" i="0">
                <a:solidFill>
                  <a:srgbClr val="3BBE93"/>
                </a:solidFill>
                <a:latin typeface="Consolas"/>
              </a:rPr>
              <a:t>    │   │   ├── executer/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executer.py</a:t>
            </a:r>
          </a:p>
          <a:p>
            <a:pPr algn="l">
              <a:lnSpc>
                <a:spcPct val="100000"/>
              </a:lnSpc>
            </a:pPr>
            <a:r>
              <a:rPr sz="800" b="0" i="0">
                <a:solidFill>
                  <a:srgbClr val="3BBE93"/>
                </a:solidFill>
                <a:latin typeface="Consolas"/>
              </a:rPr>
              <a:t>    │   │   ├── file_creator/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file_creator.py</a:t>
            </a:r>
          </a:p>
          <a:p>
            <a:pPr algn="l">
              <a:lnSpc>
                <a:spcPct val="100000"/>
              </a:lnSpc>
            </a:pPr>
            <a:r>
              <a:rPr sz="800" b="0" i="0">
                <a:solidFill>
                  <a:srgbClr val="3BBE93"/>
                </a:solidFill>
                <a:latin typeface="Consolas"/>
              </a:rPr>
              <a:t>    │   │   ├── file_extractor/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file_extractor.py</a:t>
            </a:r>
          </a:p>
          <a:p>
            <a:pPr algn="l">
              <a:lnSpc>
                <a:spcPct val="100000"/>
              </a:lnSpc>
            </a:pPr>
            <a:r>
              <a:rPr sz="800" b="0" i="0">
                <a:solidFill>
                  <a:srgbClr val="3BBE93"/>
                </a:solidFill>
                <a:latin typeface="Consolas"/>
              </a:rPr>
              <a:t>    │   │   ├── file_interpreter/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file_interpreter.py</a:t>
            </a:r>
          </a:p>
          <a:p>
            <a:pPr algn="l">
              <a:lnSpc>
                <a:spcPct val="100000"/>
              </a:lnSpc>
            </a:pPr>
            <a:r>
              <a:rPr sz="800" b="0" i="0">
                <a:solidFill>
                  <a:srgbClr val="3BBE93"/>
                </a:solidFill>
                <a:latin typeface="Consolas"/>
              </a:rPr>
              <a:t>    │   │   ├── flowbacker/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flowbacker.py</a:t>
            </a:r>
          </a:p>
          <a:p>
            <a:pPr algn="l">
              <a:lnSpc>
                <a:spcPct val="100000"/>
              </a:lnSpc>
            </a:pPr>
            <a:r>
              <a:rPr sz="800" b="0" i="0">
                <a:solidFill>
                  <a:srgbClr val="3BBE93"/>
                </a:solidFill>
                <a:latin typeface="Consolas"/>
              </a:rPr>
              <a:t>    │   │   ├── flowcreator/</a:t>
            </a:r>
          </a:p>
          <a:p>
            <a:pPr algn="l">
              <a:lnSpc>
                <a:spcPct val="100000"/>
              </a:lnSpc>
            </a:pPr>
            <a:r>
              <a:rPr sz="800" b="0" i="0">
                <a:solidFill>
                  <a:srgbClr val="ECE7DC"/>
                </a:solidFill>
                <a:latin typeface="Consolas"/>
              </a:rPr>
              <a:t>    │   │   │   ├── agentic_skill.md</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flow_catalog.json</a:t>
            </a:r>
          </a:p>
          <a:p>
            <a:pPr algn="l">
              <a:lnSpc>
                <a:spcPct val="100000"/>
              </a:lnSpc>
            </a:pPr>
            <a:r>
              <a:rPr sz="800" b="0" i="0">
                <a:solidFill>
                  <a:srgbClr val="ECE7DC"/>
                </a:solidFill>
                <a:latin typeface="Consolas"/>
              </a:rPr>
              <a:t>    │   │   │   ├── flow_knowledge.py</a:t>
            </a:r>
          </a:p>
          <a:p>
            <a:pPr algn="l">
              <a:lnSpc>
                <a:spcPct val="100000"/>
              </a:lnSpc>
            </a:pPr>
            <a:r>
              <a:rPr sz="800" b="0" i="0">
                <a:solidFill>
                  <a:srgbClr val="ECE7DC"/>
                </a:solidFill>
                <a:latin typeface="Consolas"/>
              </a:rPr>
              <a:t>    │   │   │   ├── flowcreator.py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flowhypervisor/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flowhypervisor.py</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monitoring-prompt.pmt</a:t>
            </a:r>
          </a:p>
          <a:p>
            <a:pPr algn="l">
              <a:lnSpc>
                <a:spcPct val="100000"/>
              </a:lnSpc>
            </a:pPr>
            <a:r>
              <a:rPr sz="800" b="0" i="0">
                <a:solidFill>
                  <a:srgbClr val="3BBE93"/>
                </a:solidFill>
                <a:latin typeface="Consolas"/>
              </a:rPr>
              <a:t>    │   │   ├── forker/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forker.py</a:t>
            </a:r>
          </a:p>
          <a:p>
            <a:pPr algn="l">
              <a:lnSpc>
                <a:spcPct val="100000"/>
              </a:lnSpc>
            </a:pPr>
            <a:r>
              <a:rPr sz="800" b="0" i="0">
                <a:solidFill>
                  <a:srgbClr val="3BBE93"/>
                </a:solidFill>
                <a:latin typeface="Consolas"/>
              </a:rPr>
              <a:t>    │   │   ├── gateway_relayer/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gateway_relayer.md</a:t>
            </a:r>
          </a:p>
          <a:p>
            <a:pPr algn="l">
              <a:lnSpc>
                <a:spcPct val="100000"/>
              </a:lnSpc>
            </a:pPr>
            <a:r>
              <a:rPr sz="800" b="0" i="0">
                <a:solidFill>
                  <a:srgbClr val="ECE7DC"/>
                </a:solidFill>
                <a:latin typeface="Consolas"/>
              </a:rPr>
              <a:t>    │   │   │   └── gateway_relayer.py</a:t>
            </a:r>
          </a:p>
          <a:p>
            <a:pPr algn="l">
              <a:lnSpc>
                <a:spcPct val="100000"/>
              </a:lnSpc>
            </a:pPr>
            <a:r>
              <a:rPr sz="800" b="0" i="0">
                <a:solidFill>
                  <a:srgbClr val="3BBE93"/>
                </a:solidFill>
                <a:latin typeface="Consolas"/>
              </a:rPr>
              <a:t>    │   │   ├── gatewayer/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gatewayer.md</a:t>
            </a:r>
          </a:p>
          <a:p>
            <a:pPr algn="l">
              <a:lnSpc>
                <a:spcPct val="100000"/>
              </a:lnSpc>
            </a:pPr>
            <a:r>
              <a:rPr sz="800" b="0" i="0">
                <a:solidFill>
                  <a:srgbClr val="ECE7DC"/>
                </a:solidFill>
                <a:latin typeface="Consolas"/>
              </a:rPr>
              <a:t>    │   │   │   ├── gatewayer.py</a:t>
            </a:r>
          </a:p>
          <a:p>
            <a:pPr algn="l">
              <a:lnSpc>
                <a:spcPct val="100000"/>
              </a:lnSpc>
            </a:pPr>
            <a:r>
              <a:rPr sz="800" b="0" i="0">
                <a:solidFill>
                  <a:srgbClr val="ECE7DC"/>
                </a:solidFill>
                <a:latin typeface="Consolas"/>
              </a:rPr>
              <a:t>    │   │   │   └── gatewayer_explanation.md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145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8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1,688 tracked files at commit 113eddc4;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gitter/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gitter.py</a:t>
            </a:r>
          </a:p>
          <a:p>
            <a:pPr algn="l">
              <a:lnSpc>
                <a:spcPct val="100000"/>
              </a:lnSpc>
            </a:pPr>
            <a:r>
              <a:rPr sz="800" b="0" i="0">
                <a:solidFill>
                  <a:srgbClr val="3BBE93"/>
                </a:solidFill>
                <a:latin typeface="Consolas"/>
              </a:rPr>
              <a:t>    │   │   ├── globber/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globber.py</a:t>
            </a:r>
          </a:p>
          <a:p>
            <a:pPr algn="l">
              <a:lnSpc>
                <a:spcPct val="100000"/>
              </a:lnSpc>
            </a:pPr>
            <a:r>
              <a:rPr sz="800" b="0" i="0">
                <a:solidFill>
                  <a:srgbClr val="3BBE93"/>
                </a:solidFill>
                <a:latin typeface="Consolas"/>
              </a:rPr>
              <a:t>    │   │   ├── googler/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googler.py</a:t>
            </a:r>
          </a:p>
          <a:p>
            <a:pPr algn="l">
              <a:lnSpc>
                <a:spcPct val="100000"/>
              </a:lnSpc>
            </a:pPr>
            <a:r>
              <a:rPr sz="800" b="0" i="0">
                <a:solidFill>
                  <a:srgbClr val="ECE7DC"/>
                </a:solidFill>
                <a:latin typeface="Consolas"/>
              </a:rPr>
              <a:t>    │   │   │   └── googler_engines.py</a:t>
            </a:r>
          </a:p>
          <a:p>
            <a:pPr algn="l">
              <a:lnSpc>
                <a:spcPct val="100000"/>
              </a:lnSpc>
            </a:pPr>
            <a:r>
              <a:rPr sz="800" b="0" i="0">
                <a:solidFill>
                  <a:srgbClr val="3BBE93"/>
                </a:solidFill>
                <a:latin typeface="Consolas"/>
              </a:rPr>
              <a:t>    │   │   ├── grepper/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grepper.py</a:t>
            </a:r>
          </a:p>
          <a:p>
            <a:pPr algn="l">
              <a:lnSpc>
                <a:spcPct val="100000"/>
              </a:lnSpc>
            </a:pPr>
            <a:r>
              <a:rPr sz="800" b="0" i="0">
                <a:solidFill>
                  <a:srgbClr val="3BBE93"/>
                </a:solidFill>
                <a:latin typeface="Consolas"/>
              </a:rPr>
              <a:t>    │   │   ├── image_interpreter/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image_interpreter.py</a:t>
            </a:r>
          </a:p>
          <a:p>
            <a:pPr algn="l">
              <a:lnSpc>
                <a:spcPct val="100000"/>
              </a:lnSpc>
            </a:pPr>
            <a:r>
              <a:rPr sz="800" b="0" i="0">
                <a:solidFill>
                  <a:srgbClr val="3BBE93"/>
                </a:solidFill>
                <a:latin typeface="Consolas"/>
              </a:rPr>
              <a:t>    │   │   ├── instant_messaging_doctor/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instant_messaging_doctor.py</a:t>
            </a:r>
          </a:p>
          <a:p>
            <a:pPr algn="l">
              <a:lnSpc>
                <a:spcPct val="100000"/>
              </a:lnSpc>
            </a:pPr>
            <a:r>
              <a:rPr sz="800" b="0" i="0">
                <a:solidFill>
                  <a:srgbClr val="3BBE93"/>
                </a:solidFill>
                <a:latin typeface="Consolas"/>
              </a:rPr>
              <a:t>    │   │   ├── j_decompiler/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j_decompiler.py</a:t>
            </a:r>
          </a:p>
          <a:p>
            <a:pPr algn="l">
              <a:lnSpc>
                <a:spcPct val="100000"/>
              </a:lnSpc>
            </a:pPr>
            <a:r>
              <a:rPr sz="800" b="0" i="0">
                <a:solidFill>
                  <a:srgbClr val="3BBE93"/>
                </a:solidFill>
                <a:latin typeface="Consolas"/>
              </a:rPr>
              <a:t>    │   │   ├── jenkinser/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jenkinser.py</a:t>
            </a:r>
          </a:p>
          <a:p>
            <a:pPr algn="l">
              <a:lnSpc>
                <a:spcPct val="100000"/>
              </a:lnSpc>
            </a:pPr>
            <a:r>
              <a:rPr sz="800" b="0" i="0">
                <a:solidFill>
                  <a:srgbClr val="3BBE93"/>
                </a:solidFill>
                <a:latin typeface="Consolas"/>
              </a:rPr>
              <a:t>    │   │   ├── kalier/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kalier.py</a:t>
            </a:r>
          </a:p>
          <a:p>
            <a:pPr algn="l">
              <a:lnSpc>
                <a:spcPct val="100000"/>
              </a:lnSpc>
            </a:pPr>
            <a:r>
              <a:rPr sz="800" b="0" i="0">
                <a:solidFill>
                  <a:srgbClr val="3BBE93"/>
                </a:solidFill>
                <a:latin typeface="Consolas"/>
              </a:rPr>
              <a:t>    │   │   ├── keyboarder/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keyboarder.py</a:t>
            </a:r>
          </a:p>
          <a:p>
            <a:pPr algn="l">
              <a:lnSpc>
                <a:spcPct val="100000"/>
              </a:lnSpc>
            </a:pPr>
            <a:r>
              <a:rPr sz="800" b="0" i="0">
                <a:solidFill>
                  <a:srgbClr val="ECE7DC"/>
                </a:solidFill>
                <a:latin typeface="Consolas"/>
              </a:rPr>
              <a:t>    │   │   │   └── keyboarder_input.py</a:t>
            </a:r>
          </a:p>
          <a:p>
            <a:pPr algn="l">
              <a:lnSpc>
                <a:spcPct val="100000"/>
              </a:lnSpc>
            </a:pPr>
            <a:r>
              <a:rPr sz="800" b="0" i="0">
                <a:solidFill>
                  <a:srgbClr val="3BBE93"/>
                </a:solidFill>
                <a:latin typeface="Consolas"/>
              </a:rPr>
              <a:t>    │   │   ├── kuberneter/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kuberneter.py</a:t>
            </a:r>
          </a:p>
          <a:p>
            <a:pPr algn="l">
              <a:lnSpc>
                <a:spcPct val="100000"/>
              </a:lnSpc>
            </a:pPr>
            <a:r>
              <a:rPr sz="800" b="0" i="0">
                <a:solidFill>
                  <a:srgbClr val="3BBE93"/>
                </a:solidFill>
                <a:latin typeface="Consolas"/>
              </a:rPr>
              <a:t>    │   │   ├── kyber_cipher/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kyber_cipher.py</a:t>
            </a:r>
          </a:p>
          <a:p>
            <a:pPr algn="l">
              <a:lnSpc>
                <a:spcPct val="100000"/>
              </a:lnSpc>
            </a:pPr>
            <a:r>
              <a:rPr sz="800" b="0" i="0">
                <a:solidFill>
                  <a:srgbClr val="3BBE93"/>
                </a:solidFill>
                <a:latin typeface="Consolas"/>
              </a:rPr>
              <a:t>    │   │   ├── kyber_decipher/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kyber_decipher.py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kyber_keygen/</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kyber_keygen.py</a:t>
            </a:r>
          </a:p>
          <a:p>
            <a:pPr algn="l">
              <a:lnSpc>
                <a:spcPct val="100000"/>
              </a:lnSpc>
            </a:pPr>
            <a:r>
              <a:rPr sz="800" b="0" i="0">
                <a:solidFill>
                  <a:srgbClr val="3BBE93"/>
                </a:solidFill>
                <a:latin typeface="Consolas"/>
              </a:rPr>
              <a:t>    │   │   ├── latexer/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latexer.py</a:t>
            </a:r>
          </a:p>
          <a:p>
            <a:pPr algn="l">
              <a:lnSpc>
                <a:spcPct val="100000"/>
              </a:lnSpc>
            </a:pPr>
            <a:r>
              <a:rPr sz="800" b="0" i="0">
                <a:solidFill>
                  <a:srgbClr val="ECE7DC"/>
                </a:solidFill>
                <a:latin typeface="Consolas"/>
              </a:rPr>
              <a:t>    │   │   │   ├── latexer_artwork.py</a:t>
            </a:r>
          </a:p>
          <a:p>
            <a:pPr algn="l">
              <a:lnSpc>
                <a:spcPct val="100000"/>
              </a:lnSpc>
            </a:pPr>
            <a:r>
              <a:rPr sz="800" b="0" i="0">
                <a:solidFill>
                  <a:srgbClr val="ECE7DC"/>
                </a:solidFill>
                <a:latin typeface="Consolas"/>
              </a:rPr>
              <a:t>    │   │   │   ├── latexer_design.py</a:t>
            </a:r>
          </a:p>
          <a:p>
            <a:pPr algn="l">
              <a:lnSpc>
                <a:spcPct val="100000"/>
              </a:lnSpc>
            </a:pPr>
            <a:r>
              <a:rPr sz="800" b="0" i="0">
                <a:solidFill>
                  <a:srgbClr val="ECE7DC"/>
                </a:solidFill>
                <a:latin typeface="Consolas"/>
              </a:rPr>
              <a:t>    │   │   │   ├── latexer_styles.py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mcp_doctor/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mcp_doctor.py</a:t>
            </a:r>
          </a:p>
          <a:p>
            <a:pPr algn="l">
              <a:lnSpc>
                <a:spcPct val="100000"/>
              </a:lnSpc>
            </a:pPr>
            <a:r>
              <a:rPr sz="800" b="0" i="0">
                <a:solidFill>
                  <a:srgbClr val="3BBE93"/>
                </a:solidFill>
                <a:latin typeface="Consolas"/>
              </a:rPr>
              <a:t>    │   │   ├── mongoxer/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mongoxer.py</a:t>
            </a:r>
          </a:p>
          <a:p>
            <a:pPr algn="l">
              <a:lnSpc>
                <a:spcPct val="100000"/>
              </a:lnSpc>
            </a:pPr>
            <a:r>
              <a:rPr sz="800" b="0" i="0">
                <a:solidFill>
                  <a:srgbClr val="3BBE93"/>
                </a:solidFill>
                <a:latin typeface="Consolas"/>
              </a:rPr>
              <a:t>    │   │   ├── monitor_log/</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monitor_log.py</a:t>
            </a:r>
          </a:p>
          <a:p>
            <a:pPr algn="l">
              <a:lnSpc>
                <a:spcPct val="100000"/>
              </a:lnSpc>
            </a:pPr>
            <a:r>
              <a:rPr sz="800" b="0" i="0">
                <a:solidFill>
                  <a:srgbClr val="3BBE93"/>
                </a:solidFill>
                <a:latin typeface="Consolas"/>
              </a:rPr>
              <a:t>    │   │   ├── monitor_netstat/</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monitor_netstat.py</a:t>
            </a:r>
          </a:p>
          <a:p>
            <a:pPr algn="l">
              <a:lnSpc>
                <a:spcPct val="100000"/>
              </a:lnSpc>
            </a:pPr>
            <a:r>
              <a:rPr sz="800" b="0" i="0">
                <a:solidFill>
                  <a:srgbClr val="3BBE93"/>
                </a:solidFill>
                <a:latin typeface="Consolas"/>
              </a:rPr>
              <a:t>    │   │   ├── mouser/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mouser.py</a:t>
            </a:r>
          </a:p>
          <a:p>
            <a:pPr algn="l">
              <a:lnSpc>
                <a:spcPct val="100000"/>
              </a:lnSpc>
            </a:pPr>
            <a:r>
              <a:rPr sz="800" b="0" i="0">
                <a:solidFill>
                  <a:srgbClr val="ECE7DC"/>
                </a:solidFill>
                <a:latin typeface="Consolas"/>
              </a:rPr>
              <a:t>    │   │   │   └── mouser_coordinates.py</a:t>
            </a:r>
          </a:p>
          <a:p>
            <a:pPr algn="l">
              <a:lnSpc>
                <a:spcPct val="100000"/>
              </a:lnSpc>
            </a:pPr>
            <a:r>
              <a:rPr sz="800" b="0" i="0">
                <a:solidFill>
                  <a:srgbClr val="3BBE93"/>
                </a:solidFill>
                <a:latin typeface="Consolas"/>
              </a:rPr>
              <a:t>    │   │   ├── mover/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mover.py</a:t>
            </a:r>
          </a:p>
          <a:p>
            <a:pPr algn="l">
              <a:lnSpc>
                <a:spcPct val="100000"/>
              </a:lnSpc>
            </a:pPr>
            <a:r>
              <a:rPr sz="800" b="0" i="0">
                <a:solidFill>
                  <a:srgbClr val="3BBE93"/>
                </a:solidFill>
                <a:latin typeface="Consolas"/>
              </a:rPr>
              <a:t>    │   │   ├── netspeed_calculator/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netspeed_calculator.py</a:t>
            </a:r>
          </a:p>
          <a:p>
            <a:pPr algn="l">
              <a:lnSpc>
                <a:spcPct val="100000"/>
              </a:lnSpc>
            </a:pPr>
            <a:r>
              <a:rPr sz="800" b="0" i="0">
                <a:solidFill>
                  <a:srgbClr val="3BBE93"/>
                </a:solidFill>
                <a:latin typeface="Consolas"/>
              </a:rPr>
              <a:t>    │   │   ├── nmapper/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nmapper.py</a:t>
            </a:r>
          </a:p>
          <a:p>
            <a:pPr algn="l">
              <a:lnSpc>
                <a:spcPct val="100000"/>
              </a:lnSpc>
            </a:pPr>
            <a:r>
              <a:rPr sz="800" b="0" i="0">
                <a:solidFill>
                  <a:srgbClr val="3BBE93"/>
                </a:solidFill>
                <a:latin typeface="Consolas"/>
              </a:rPr>
              <a:t>    │   │   ├── node_manager/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node_manager.md</a:t>
            </a:r>
          </a:p>
          <a:p>
            <a:pPr algn="l">
              <a:lnSpc>
                <a:spcPct val="100000"/>
              </a:lnSpc>
            </a:pPr>
            <a:r>
              <a:rPr sz="800" b="0" i="0">
                <a:solidFill>
                  <a:srgbClr val="ECE7DC"/>
                </a:solidFill>
                <a:latin typeface="Consolas"/>
              </a:rPr>
              <a:t>    │   │   │   ├── node_manager.py</a:t>
            </a:r>
          </a:p>
          <a:p>
            <a:pPr algn="l">
              <a:lnSpc>
                <a:spcPct val="100000"/>
              </a:lnSpc>
            </a:pPr>
            <a:r>
              <a:rPr sz="800" b="0" i="0">
                <a:solidFill>
                  <a:srgbClr val="ECE7DC"/>
                </a:solidFill>
                <a:latin typeface="Consolas"/>
              </a:rPr>
              <a:t>    │   │   │   ├── nodes_example.json</a:t>
            </a:r>
          </a:p>
          <a:p>
            <a:pPr algn="l">
              <a:lnSpc>
                <a:spcPct val="100000"/>
              </a:lnSpc>
            </a:pPr>
            <a:r>
              <a:rPr sz="800" b="0" i="0">
                <a:solidFill>
                  <a:srgbClr val="ECE7DC"/>
                </a:solidFill>
                <a:latin typeface="Consolas"/>
              </a:rPr>
              <a:t>    │   │   │   └── nodes_example.yaml</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notifier/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notifier.py</a:t>
            </a:r>
          </a:p>
          <a:p>
            <a:pPr algn="l">
              <a:lnSpc>
                <a:spcPct val="100000"/>
              </a:lnSpc>
            </a:pPr>
            <a:r>
              <a:rPr sz="800" b="0" i="0">
                <a:solidFill>
                  <a:srgbClr val="3BBE93"/>
                </a:solidFill>
                <a:latin typeface="Consolas"/>
              </a:rPr>
              <a:t>    │   │   ├── 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or.py</a:t>
            </a:r>
          </a:p>
          <a:p>
            <a:pPr algn="l">
              <a:lnSpc>
                <a:spcPct val="100000"/>
              </a:lnSpc>
            </a:pPr>
            <a:r>
              <a:rPr sz="800" b="0" i="0">
                <a:solidFill>
                  <a:srgbClr val="3BBE93"/>
                </a:solidFill>
                <a:latin typeface="Consolas"/>
              </a:rPr>
              <a:t>    │   │   ├── parametrizer/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parametrizer.py</a:t>
            </a:r>
          </a:p>
          <a:p>
            <a:pPr algn="l">
              <a:lnSpc>
                <a:spcPct val="100000"/>
              </a:lnSpc>
            </a:pPr>
            <a:r>
              <a:rPr sz="800" b="0" i="0">
                <a:solidFill>
                  <a:srgbClr val="3BBE93"/>
                </a:solidFill>
                <a:latin typeface="Consolas"/>
              </a:rPr>
              <a:t>    │   │   ├── pdfer/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pdfer.py</a:t>
            </a:r>
          </a:p>
          <a:p>
            <a:pPr algn="l">
              <a:lnSpc>
                <a:spcPct val="100000"/>
              </a:lnSpc>
            </a:pPr>
            <a:r>
              <a:rPr sz="800" b="0" i="0">
                <a:solidFill>
                  <a:srgbClr val="ECE7DC"/>
                </a:solidFill>
                <a:latin typeface="Consolas"/>
              </a:rPr>
              <a:t>    │   │   │   ├── pdfer_artwork.py</a:t>
            </a:r>
          </a:p>
          <a:p>
            <a:pPr algn="l">
              <a:lnSpc>
                <a:spcPct val="100000"/>
              </a:lnSpc>
            </a:pPr>
            <a:r>
              <a:rPr sz="800" b="0" i="0">
                <a:solidFill>
                  <a:srgbClr val="ECE7DC"/>
                </a:solidFill>
                <a:latin typeface="Consolas"/>
              </a:rPr>
              <a:t>    │   │   │   ├── pdfer_atelier.py</a:t>
            </a:r>
          </a:p>
          <a:p>
            <a:pPr algn="l">
              <a:lnSpc>
                <a:spcPct val="100000"/>
              </a:lnSpc>
            </a:pPr>
            <a:r>
              <a:rPr sz="800" b="0" i="0">
                <a:solidFill>
                  <a:srgbClr val="ECE7DC"/>
                </a:solidFill>
                <a:latin typeface="Consolas"/>
              </a:rPr>
              <a:t>    │   │   │   ├── pdfer_audit.py</a:t>
            </a:r>
          </a:p>
          <a:p>
            <a:pPr algn="l">
              <a:lnSpc>
                <a:spcPct val="100000"/>
              </a:lnSpc>
            </a:pPr>
            <a:r>
              <a:rPr sz="800" b="0" i="0">
                <a:solidFill>
                  <a:srgbClr val="ECE7DC"/>
                </a:solidFill>
                <a:latin typeface="Consolas"/>
              </a:rPr>
              <a:t>    │   │   │   ├── pdfer_color.py</a:t>
            </a:r>
          </a:p>
          <a:p>
            <a:pPr algn="l">
              <a:lnSpc>
                <a:spcPct val="100000"/>
              </a:lnSpc>
            </a:pPr>
            <a:r>
              <a:rPr sz="800" b="0" i="0">
                <a:solidFill>
                  <a:srgbClr val="ECE7DC"/>
                </a:solidFill>
                <a:latin typeface="Consolas"/>
              </a:rPr>
              <a:t>    │   │   │   ├── pdfer_consult.py</a:t>
            </a:r>
          </a:p>
          <a:p>
            <a:pPr algn="l">
              <a:lnSpc>
                <a:spcPct val="100000"/>
              </a:lnSpc>
            </a:pPr>
            <a:r>
              <a:rPr sz="800" b="0" i="0">
                <a:solidFill>
                  <a:srgbClr val="ECE7DC"/>
                </a:solidFill>
                <a:latin typeface="Consolas"/>
              </a:rPr>
              <a:t>    │   │   │   ├── pdfer_docmodel.py</a:t>
            </a:r>
          </a:p>
          <a:p>
            <a:pPr algn="l">
              <a:lnSpc>
                <a:spcPct val="100000"/>
              </a:lnSpc>
            </a:pPr>
            <a:r>
              <a:rPr sz="800" b="0" i="0">
                <a:solidFill>
                  <a:srgbClr val="ECE7DC"/>
                </a:solidFill>
                <a:latin typeface="Consolas"/>
              </a:rPr>
              <a:t>    │   │   │   ├── pdfer_nuance.py</a:t>
            </a:r>
          </a:p>
          <a:p>
            <a:pPr algn="l">
              <a:lnSpc>
                <a:spcPct val="100000"/>
              </a:lnSpc>
            </a:pPr>
            <a:r>
              <a:rPr sz="800" b="0" i="0">
                <a:solidFill>
                  <a:srgbClr val="ECE7DC"/>
                </a:solidFill>
                <a:latin typeface="Consolas"/>
              </a:rPr>
              <a:t>    │   │   │   ├── pdfer_ornament.py</a:t>
            </a:r>
          </a:p>
          <a:p>
            <a:pPr algn="l">
              <a:lnSpc>
                <a:spcPct val="100000"/>
              </a:lnSpc>
            </a:pPr>
            <a:r>
              <a:rPr sz="800" b="0" i="0">
                <a:solidFill>
                  <a:srgbClr val="ECE7DC"/>
                </a:solidFill>
                <a:latin typeface="Consolas"/>
              </a:rPr>
              <a:t>    │   │   │   ├── pdfer_styles.py</a:t>
            </a:r>
          </a:p>
          <a:p>
            <a:pPr algn="l">
              <a:lnSpc>
                <a:spcPct val="100000"/>
              </a:lnSpc>
            </a:pPr>
            <a:r>
              <a:rPr sz="800" b="0" i="0">
                <a:solidFill>
                  <a:srgbClr val="ECE7DC"/>
                </a:solidFill>
                <a:latin typeface="Consolas"/>
              </a:rPr>
              <a:t>    │   │   │   ├── pdfer_tables.py</a:t>
            </a:r>
          </a:p>
          <a:p>
            <a:pPr algn="l">
              <a:lnSpc>
                <a:spcPct val="100000"/>
              </a:lnSpc>
            </a:pPr>
            <a:r>
              <a:rPr sz="800" b="0" i="0">
                <a:solidFill>
                  <a:srgbClr val="ECE7DC"/>
                </a:solidFill>
                <a:latin typeface="Consolas"/>
              </a:rPr>
              <a:t>    │   │   │   ├── pdfer_theme.py</a:t>
            </a:r>
          </a:p>
          <a:p>
            <a:pPr algn="l">
              <a:lnSpc>
                <a:spcPct val="100000"/>
              </a:lnSpc>
            </a:pPr>
            <a:r>
              <a:rPr sz="800" b="0" i="0">
                <a:solidFill>
                  <a:srgbClr val="ECE7DC"/>
                </a:solidFill>
                <a:latin typeface="Consolas"/>
              </a:rPr>
              <a:t>    │   │   │   ├── pdfer_typography.py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playwrighter/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playwrighter.py</a:t>
            </a:r>
          </a:p>
          <a:p>
            <a:pPr algn="l">
              <a:lnSpc>
                <a:spcPct val="100000"/>
              </a:lnSpc>
            </a:pPr>
            <a:r>
              <a:rPr sz="800" b="0" i="0">
                <a:solidFill>
                  <a:srgbClr val="3BBE93"/>
                </a:solidFill>
                <a:latin typeface="Consolas"/>
              </a:rPr>
              <a:t>    │   │   ├── pptxer/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pptxer.py</a:t>
            </a:r>
          </a:p>
          <a:p>
            <a:pPr algn="l">
              <a:lnSpc>
                <a:spcPct val="100000"/>
              </a:lnSpc>
            </a:pPr>
            <a:r>
              <a:rPr sz="800" b="0" i="0">
                <a:solidFill>
                  <a:srgbClr val="ECE7DC"/>
                </a:solidFill>
                <a:latin typeface="Consolas"/>
              </a:rPr>
              <a:t>    │   │   │   ├── pptxer_audit.py</a:t>
            </a:r>
          </a:p>
          <a:p>
            <a:pPr algn="l">
              <a:lnSpc>
                <a:spcPct val="100000"/>
              </a:lnSpc>
            </a:pPr>
            <a:r>
              <a:rPr sz="800" b="0" i="0">
                <a:solidFill>
                  <a:srgbClr val="ECE7DC"/>
                </a:solidFill>
                <a:latin typeface="Consolas"/>
              </a:rPr>
              <a:t>    │   │   │   ├── pptxer_build.py</a:t>
            </a:r>
          </a:p>
          <a:p>
            <a:pPr algn="l">
              <a:lnSpc>
                <a:spcPct val="100000"/>
              </a:lnSpc>
            </a:pPr>
            <a:r>
              <a:rPr sz="800" b="0" i="0">
                <a:solidFill>
                  <a:srgbClr val="ECE7DC"/>
                </a:solidFill>
                <a:latin typeface="Consolas"/>
              </a:rPr>
              <a:t>    │   │   │   ├── pptxer_color.py</a:t>
            </a:r>
          </a:p>
          <a:p>
            <a:pPr algn="l">
              <a:lnSpc>
                <a:spcPct val="100000"/>
              </a:lnSpc>
            </a:pPr>
            <a:r>
              <a:rPr sz="800" b="0" i="0">
                <a:solidFill>
                  <a:srgbClr val="ECE7DC"/>
                </a:solidFill>
                <a:latin typeface="Consolas"/>
              </a:rPr>
              <a:t>    │   │   │   ├── pptxer_diagram.py</a:t>
            </a:r>
          </a:p>
          <a:p>
            <a:pPr algn="l">
              <a:lnSpc>
                <a:spcPct val="100000"/>
              </a:lnSpc>
            </a:pPr>
            <a:r>
              <a:rPr sz="800" b="0" i="0">
                <a:solidFill>
                  <a:srgbClr val="ECE7DC"/>
                </a:solidFill>
                <a:latin typeface="Consolas"/>
              </a:rPr>
              <a:t>    │   │   │   ├── pptxer_docmodel.py</a:t>
            </a:r>
          </a:p>
          <a:p>
            <a:pPr algn="l">
              <a:lnSpc>
                <a:spcPct val="100000"/>
              </a:lnSpc>
            </a:pPr>
            <a:r>
              <a:rPr sz="800" b="0" i="0">
                <a:solidFill>
                  <a:srgbClr val="ECE7DC"/>
                </a:solidFill>
                <a:latin typeface="Consolas"/>
              </a:rPr>
              <a:t>    │   │   │   ├── pptxer_draw.py</a:t>
            </a:r>
          </a:p>
          <a:p>
            <a:pPr algn="l">
              <a:lnSpc>
                <a:spcPct val="100000"/>
              </a:lnSpc>
            </a:pPr>
            <a:r>
              <a:rPr sz="800" b="0" i="0">
                <a:solidFill>
                  <a:srgbClr val="ECE7DC"/>
                </a:solidFill>
                <a:latin typeface="Consolas"/>
              </a:rPr>
              <a:t>    │   │   │   ├── pptxer_fonts.py</a:t>
            </a:r>
          </a:p>
          <a:p>
            <a:pPr algn="l">
              <a:lnSpc>
                <a:spcPct val="100000"/>
              </a:lnSpc>
            </a:pPr>
            <a:r>
              <a:rPr sz="800" b="0" i="0">
                <a:solidFill>
                  <a:srgbClr val="ECE7DC"/>
                </a:solidFill>
                <a:latin typeface="Consolas"/>
              </a:rPr>
              <a:t>    │   │   │   ├── pptxer_layout.py</a:t>
            </a:r>
          </a:p>
          <a:p>
            <a:pPr algn="l">
              <a:lnSpc>
                <a:spcPct val="100000"/>
              </a:lnSpc>
            </a:pPr>
            <a:r>
              <a:rPr sz="800" b="0" i="0">
                <a:solidFill>
                  <a:srgbClr val="ECE7DC"/>
                </a:solidFill>
                <a:latin typeface="Consolas"/>
              </a:rPr>
              <a:t>    │   │   │   ├── pptxer_media.py</a:t>
            </a:r>
          </a:p>
          <a:p>
            <a:pPr algn="l">
              <a:lnSpc>
                <a:spcPct val="100000"/>
              </a:lnSpc>
            </a:pPr>
            <a:r>
              <a:rPr sz="800" b="0" i="0">
                <a:solidFill>
                  <a:srgbClr val="ECE7DC"/>
                </a:solidFill>
                <a:latin typeface="Consolas"/>
              </a:rPr>
              <a:t>    │   │   │   ├── pptxer_nuance.py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146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9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1,688 tracked files at commit 113eddc4;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pptxer_render.py</a:t>
            </a:r>
          </a:p>
          <a:p>
            <a:pPr algn="l">
              <a:lnSpc>
                <a:spcPct val="100000"/>
              </a:lnSpc>
            </a:pPr>
            <a:r>
              <a:rPr sz="800" b="0" i="0">
                <a:solidFill>
                  <a:srgbClr val="ECE7DC"/>
                </a:solidFill>
                <a:latin typeface="Consolas"/>
              </a:rPr>
              <a:t>    │   │   │   ├── pptxer_theme.py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prompter/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prompter.py</a:t>
            </a:r>
          </a:p>
          <a:p>
            <a:pPr algn="l">
              <a:lnSpc>
                <a:spcPct val="100000"/>
              </a:lnSpc>
            </a:pPr>
            <a:r>
              <a:rPr sz="800" b="0" i="0">
                <a:solidFill>
                  <a:srgbClr val="3BBE93"/>
                </a:solidFill>
                <a:latin typeface="Consolas"/>
              </a:rPr>
              <a:t>    │   │   ├── pser/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pser.py</a:t>
            </a:r>
          </a:p>
          <a:p>
            <a:pPr algn="l">
              <a:lnSpc>
                <a:spcPct val="100000"/>
              </a:lnSpc>
            </a:pPr>
            <a:r>
              <a:rPr sz="800" b="0" i="0">
                <a:solidFill>
                  <a:srgbClr val="3BBE93"/>
                </a:solidFill>
                <a:latin typeface="Consolas"/>
              </a:rPr>
              <a:t>    │   │   ├── pythonxer/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pythonxer.py</a:t>
            </a:r>
          </a:p>
          <a:p>
            <a:pPr algn="l">
              <a:lnSpc>
                <a:spcPct val="100000"/>
              </a:lnSpc>
            </a:pPr>
            <a:r>
              <a:rPr sz="800" b="0" i="0">
                <a:solidFill>
                  <a:srgbClr val="3BBE93"/>
                </a:solidFill>
                <a:latin typeface="Consolas"/>
              </a:rPr>
              <a:t>    │   │   ├── raiser/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raiser.py</a:t>
            </a:r>
          </a:p>
          <a:p>
            <a:pPr algn="l">
              <a:lnSpc>
                <a:spcPct val="100000"/>
              </a:lnSpc>
            </a:pPr>
            <a:r>
              <a:rPr sz="800" b="0" i="0">
                <a:solidFill>
                  <a:srgbClr val="3BBE93"/>
                </a:solidFill>
                <a:latin typeface="Consolas"/>
              </a:rPr>
              <a:t>    │   │   ├── recmailer/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recmailer.py</a:t>
            </a:r>
          </a:p>
          <a:p>
            <a:pPr algn="l">
              <a:lnSpc>
                <a:spcPct val="100000"/>
              </a:lnSpc>
            </a:pPr>
            <a:r>
              <a:rPr sz="800" b="0" i="0">
                <a:solidFill>
                  <a:srgbClr val="3BBE93"/>
                </a:solidFill>
                <a:latin typeface="Consolas"/>
              </a:rPr>
              <a:t>    │   │   ├── recorder/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recorder.py</a:t>
            </a:r>
          </a:p>
          <a:p>
            <a:pPr algn="l">
              <a:lnSpc>
                <a:spcPct val="100000"/>
              </a:lnSpc>
            </a:pPr>
            <a:r>
              <a:rPr sz="800" b="0" i="0">
                <a:solidFill>
                  <a:srgbClr val="3BBE93"/>
                </a:solidFill>
                <a:latin typeface="Consolas"/>
              </a:rPr>
              <a:t>    │   │   ├── reviewer/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reviewer.py</a:t>
            </a:r>
          </a:p>
          <a:p>
            <a:pPr algn="l">
              <a:lnSpc>
                <a:spcPct val="100000"/>
              </a:lnSpc>
            </a:pPr>
            <a:r>
              <a:rPr sz="800" b="0" i="0">
                <a:solidFill>
                  <a:srgbClr val="3BBE93"/>
                </a:solidFill>
                <a:latin typeface="Consolas"/>
              </a:rPr>
              <a:t>    │   │   ├── scper/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scper.py</a:t>
            </a:r>
          </a:p>
          <a:p>
            <a:pPr algn="l">
              <a:lnSpc>
                <a:spcPct val="100000"/>
              </a:lnSpc>
            </a:pPr>
            <a:r>
              <a:rPr sz="800" b="0" i="0">
                <a:solidFill>
                  <a:srgbClr val="3BBE93"/>
                </a:solidFill>
                <a:latin typeface="Consolas"/>
              </a:rPr>
              <a:t>    │   │   ├── shoter/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shoter.py</a:t>
            </a:r>
          </a:p>
          <a:p>
            <a:pPr algn="l">
              <a:lnSpc>
                <a:spcPct val="100000"/>
              </a:lnSpc>
            </a:pPr>
            <a:r>
              <a:rPr sz="800" b="0" i="0">
                <a:solidFill>
                  <a:srgbClr val="3BBE93"/>
                </a:solidFill>
                <a:latin typeface="Consolas"/>
              </a:rPr>
              <a:t>    │   │   ├── sleeper/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sleeper.py</a:t>
            </a:r>
          </a:p>
          <a:p>
            <a:pPr algn="l">
              <a:lnSpc>
                <a:spcPct val="100000"/>
              </a:lnSpc>
            </a:pPr>
            <a:r>
              <a:rPr sz="800" b="0" i="0">
                <a:solidFill>
                  <a:srgbClr val="3BBE93"/>
                </a:solidFill>
                <a:latin typeface="Consolas"/>
              </a:rPr>
              <a:t>    │   │   ├── sqler/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sqler.py</a:t>
            </a:r>
          </a:p>
          <a:p>
            <a:pPr algn="l">
              <a:lnSpc>
                <a:spcPct val="100000"/>
              </a:lnSpc>
            </a:pPr>
            <a:r>
              <a:rPr sz="800" b="0" i="0">
                <a:solidFill>
                  <a:srgbClr val="3BBE93"/>
                </a:solidFill>
                <a:latin typeface="Consolas"/>
              </a:rPr>
              <a:t>    │   │   ├── ssher/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ssher.py</a:t>
            </a:r>
          </a:p>
          <a:p>
            <a:pPr algn="l">
              <a:lnSpc>
                <a:spcPct val="100000"/>
              </a:lnSpc>
            </a:pPr>
            <a:r>
              <a:rPr sz="800" b="0" i="0">
                <a:solidFill>
                  <a:srgbClr val="3BBE93"/>
                </a:solidFill>
                <a:latin typeface="Consolas"/>
              </a:rPr>
              <a:t>    │   │   ├── starter/</a:t>
            </a:r>
          </a:p>
          <a:p>
            <a:pPr algn="l">
              <a:lnSpc>
                <a:spcPct val="100000"/>
              </a:lnSpc>
            </a:pPr>
            <a:r>
              <a:rPr sz="800" b="0" i="0">
                <a:solidFill>
                  <a:srgbClr val="ECE7DC"/>
                </a:solidFill>
                <a:latin typeface="Consolas"/>
              </a:rPr>
              <a:t>    │   │   │   ├── config.yaml</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starter.py</a:t>
            </a:r>
          </a:p>
          <a:p>
            <a:pPr algn="l">
              <a:lnSpc>
                <a:spcPct val="100000"/>
              </a:lnSpc>
            </a:pPr>
            <a:r>
              <a:rPr sz="800" b="0" i="0">
                <a:solidFill>
                  <a:srgbClr val="3BBE93"/>
                </a:solidFill>
                <a:latin typeface="Consolas"/>
              </a:rPr>
              <a:t>    │   │   ├── stm32er/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stm32er.py</a:t>
            </a:r>
          </a:p>
          <a:p>
            <a:pPr algn="l">
              <a:lnSpc>
                <a:spcPct val="100000"/>
              </a:lnSpc>
            </a:pPr>
            <a:r>
              <a:rPr sz="800" b="0" i="0">
                <a:solidFill>
                  <a:srgbClr val="3BBE93"/>
                </a:solidFill>
                <a:latin typeface="Consolas"/>
              </a:rPr>
              <a:t>    │   │   ├── stopper/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stopper.py</a:t>
            </a:r>
          </a:p>
          <a:p>
            <a:pPr algn="l">
              <a:lnSpc>
                <a:spcPct val="100000"/>
              </a:lnSpc>
            </a:pPr>
            <a:r>
              <a:rPr sz="800" b="0" i="0">
                <a:solidFill>
                  <a:srgbClr val="3BBE93"/>
                </a:solidFill>
                <a:latin typeface="Consolas"/>
              </a:rPr>
              <a:t>    │   │   ├── summarizer/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summarizer.py</a:t>
            </a:r>
          </a:p>
          <a:p>
            <a:pPr algn="l">
              <a:lnSpc>
                <a:spcPct val="100000"/>
              </a:lnSpc>
            </a:pPr>
            <a:r>
              <a:rPr sz="800" b="0" i="0">
                <a:solidFill>
                  <a:srgbClr val="3BBE93"/>
                </a:solidFill>
                <a:latin typeface="Consolas"/>
              </a:rPr>
              <a:t>    │   │   ├── talker/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talker.py</a:t>
            </a:r>
          </a:p>
          <a:p>
            <a:pPr algn="l">
              <a:lnSpc>
                <a:spcPct val="100000"/>
              </a:lnSpc>
            </a:pPr>
            <a:r>
              <a:rPr sz="800" b="0" i="0">
                <a:solidFill>
                  <a:srgbClr val="3BBE93"/>
                </a:solidFill>
                <a:latin typeface="Consolas"/>
              </a:rPr>
              <a:t>    │   │   ├── telegrammer/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HOW_TO_GET_YOUR_TELEGRAM_ASSETS.md</a:t>
            </a:r>
          </a:p>
          <a:p>
            <a:pPr algn="l">
              <a:lnSpc>
                <a:spcPct val="100000"/>
              </a:lnSpc>
            </a:pPr>
            <a:r>
              <a:rPr sz="800" b="0" i="0">
                <a:solidFill>
                  <a:srgbClr val="ECE7DC"/>
                </a:solidFill>
                <a:latin typeface="Consolas"/>
              </a:rPr>
              <a:t>    │   │   │   ├── telegrammer.py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telegram_01_botfather_search.jpg</a:t>
            </a:r>
          </a:p>
          <a:p>
            <a:pPr algn="l">
              <a:lnSpc>
                <a:spcPct val="100000"/>
              </a:lnSpc>
            </a:pPr>
            <a:r>
              <a:rPr sz="800" b="0" i="0">
                <a:solidFill>
                  <a:srgbClr val="ECE7DC"/>
                </a:solidFill>
                <a:latin typeface="Consolas"/>
              </a:rPr>
              <a:t>    │   │   │       ├── telegram_02_newbot_token.jpg</a:t>
            </a:r>
          </a:p>
          <a:p>
            <a:pPr algn="l">
              <a:lnSpc>
                <a:spcPct val="100000"/>
              </a:lnSpc>
            </a:pPr>
            <a:r>
              <a:rPr sz="800" b="0" i="0">
                <a:solidFill>
                  <a:srgbClr val="ECE7DC"/>
                </a:solidFill>
                <a:latin typeface="Consolas"/>
              </a:rPr>
              <a:t>    │   │   │       ├── telegram_03_start_bot_getupdates</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telegram_04_tlamatini_contacts.j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teletlamatini/</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teletlamatini.py</a:t>
            </a:r>
          </a:p>
          <a:p>
            <a:pPr algn="l">
              <a:lnSpc>
                <a:spcPct val="100000"/>
              </a:lnSpc>
            </a:pPr>
            <a:r>
              <a:rPr sz="800" b="0" i="0">
                <a:solidFill>
                  <a:srgbClr val="3BBE93"/>
                </a:solidFill>
                <a:latin typeface="Consolas"/>
              </a:rPr>
              <a:t>    │   │   ├── unrealer/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unrealer.py</a:t>
            </a:r>
          </a:p>
          <a:p>
            <a:pPr algn="l">
              <a:lnSpc>
                <a:spcPct val="100000"/>
              </a:lnSpc>
            </a:pPr>
            <a:r>
              <a:rPr sz="800" b="0" i="0">
                <a:solidFill>
                  <a:srgbClr val="3BBE93"/>
                </a:solidFill>
                <a:latin typeface="Consolas"/>
              </a:rPr>
              <a:t>    │   │   ├── video_analyzer/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video_analyzer.py</a:t>
            </a:r>
          </a:p>
          <a:p>
            <a:pPr algn="l">
              <a:lnSpc>
                <a:spcPct val="100000"/>
              </a:lnSpc>
            </a:pPr>
            <a:r>
              <a:rPr sz="800" b="0" i="0">
                <a:solidFill>
                  <a:srgbClr val="ECE7DC"/>
                </a:solidFill>
                <a:latin typeface="Consolas"/>
              </a:rPr>
              <a:t>    │   │   │   └── video_content.py</a:t>
            </a:r>
          </a:p>
          <a:p>
            <a:pPr algn="l">
              <a:lnSpc>
                <a:spcPct val="100000"/>
              </a:lnSpc>
            </a:pPr>
            <a:r>
              <a:rPr sz="800" b="0" i="0">
                <a:solidFill>
                  <a:srgbClr val="3BBE93"/>
                </a:solidFill>
                <a:latin typeface="Consolas"/>
              </a:rPr>
              <a:t>    │   │   ├── videoplayer/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videoplayer.py</a:t>
            </a:r>
          </a:p>
          <a:p>
            <a:pPr algn="l">
              <a:lnSpc>
                <a:spcPct val="100000"/>
              </a:lnSpc>
            </a:pPr>
            <a:r>
              <a:rPr sz="800" b="0" i="0">
                <a:solidFill>
                  <a:srgbClr val="3BBE93"/>
                </a:solidFill>
                <a:latin typeface="Consolas"/>
              </a:rPr>
              <a:t>    │   │   ├── whatsapper/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HOW_TO_GET_YOUR_WHATSAPP_ASSETS.md</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whatsapper.py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whatsapp_01_meta_create_app.jpg</a:t>
            </a:r>
          </a:p>
          <a:p>
            <a:pPr algn="l">
              <a:lnSpc>
                <a:spcPct val="100000"/>
              </a:lnSpc>
            </a:pPr>
            <a:r>
              <a:rPr sz="800" b="0" i="0">
                <a:solidFill>
                  <a:srgbClr val="ECE7DC"/>
                </a:solidFill>
                <a:latin typeface="Consolas"/>
              </a:rPr>
              <a:t>    │   │   │       ├── whatsapp_02_api_setup_keys.jpg</a:t>
            </a:r>
          </a:p>
          <a:p>
            <a:pPr algn="l">
              <a:lnSpc>
                <a:spcPct val="100000"/>
              </a:lnSpc>
            </a:pPr>
            <a:r>
              <a:rPr sz="800" b="0" i="0">
                <a:solidFill>
                  <a:srgbClr val="ECE7DC"/>
                </a:solidFill>
                <a:latin typeface="Consolas"/>
              </a:rPr>
              <a:t>    │   │   │       ├── whatsapp_03_test_recipient_send.</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whatsapp_04_system_user_token.jp</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whatsapp_05_tlamatini_contacts.j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whisperer/</a:t>
            </a:r>
          </a:p>
          <a:p>
            <a:pPr algn="l">
              <a:lnSpc>
                <a:spcPct val="100000"/>
              </a:lnSpc>
            </a:pPr>
            <a:r>
              <a:rPr sz="800" b="0" i="0">
                <a:solidFill>
                  <a:srgbClr val="ECE7DC"/>
                </a:solidFill>
                <a:latin typeface="Consolas"/>
              </a:rPr>
              <a:t>    │   │   │   ├── chat_worker.py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whisperer.py</a:t>
            </a:r>
          </a:p>
          <a:p>
            <a:pPr algn="l">
              <a:lnSpc>
                <a:spcPct val="100000"/>
              </a:lnSpc>
            </a:pPr>
            <a:r>
              <a:rPr sz="800" b="0" i="0">
                <a:solidFill>
                  <a:srgbClr val="3BBE93"/>
                </a:solidFill>
                <a:latin typeface="Consolas"/>
              </a:rPr>
              <a:t>    │   │   ├── windower/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windower.py</a:t>
            </a:r>
          </a:p>
          <a:p>
            <a:pPr algn="l">
              <a:lnSpc>
                <a:spcPct val="100000"/>
              </a:lnSpc>
            </a:pPr>
            <a:r>
              <a:rPr sz="800" b="0" i="0">
                <a:solidFill>
                  <a:srgbClr val="3BBE93"/>
                </a:solidFill>
                <a:latin typeface="Consolas"/>
              </a:rPr>
              <a:t>    │   │   └── zavuerer/</a:t>
            </a:r>
          </a:p>
          <a:p>
            <a:pPr algn="l">
              <a:lnSpc>
                <a:spcPct val="100000"/>
              </a:lnSpc>
            </a:pPr>
            <a:r>
              <a:rPr sz="800" b="0" i="0">
                <a:solidFill>
                  <a:srgbClr val="ECE7DC"/>
                </a:solidFill>
                <a:latin typeface="Consolas"/>
              </a:rPr>
              <a:t>    │   │       ├── config.yaml</a:t>
            </a:r>
          </a:p>
          <a:p>
            <a:pPr algn="l">
              <a:lnSpc>
                <a:spcPct val="100000"/>
              </a:lnSpc>
            </a:pPr>
            <a:r>
              <a:rPr sz="800" b="0" i="0">
                <a:solidFill>
                  <a:srgbClr val="ECE7DC"/>
                </a:solidFill>
                <a:latin typeface="Consolas"/>
              </a:rPr>
              <a:t>    │   │       └── zavuerer.py</a:t>
            </a:r>
          </a:p>
          <a:p>
            <a:pPr algn="l">
              <a:lnSpc>
                <a:spcPct val="100000"/>
              </a:lnSpc>
            </a:pPr>
            <a:r>
              <a:rPr sz="800" b="0" i="0">
                <a:solidFill>
                  <a:srgbClr val="3BBE93"/>
                </a:solidFill>
                <a:latin typeface="Consolas"/>
              </a:rPr>
              <a:t>    │   ├── doc_generation/</a:t>
            </a:r>
          </a:p>
          <a:p>
            <a:pPr algn="l">
              <a:lnSpc>
                <a:spcPct val="100000"/>
              </a:lnSpc>
            </a:pPr>
            <a:r>
              <a:rPr sz="800" b="0" i="0">
                <a:solidFill>
                  <a:srgbClr val="ECE7DC"/>
                </a:solidFill>
                <a:latin typeface="Consolas"/>
              </a:rPr>
              <a:t>    │   │   ├── complete_project_docs.py</a:t>
            </a:r>
          </a:p>
          <a:p>
            <a:pPr algn="l">
              <a:lnSpc>
                <a:spcPct val="100000"/>
              </a:lnSpc>
            </a:pPr>
            <a:r>
              <a:rPr sz="800" b="0" i="0">
                <a:solidFill>
                  <a:srgbClr val="ECE7DC"/>
                </a:solidFill>
                <a:latin typeface="Consolas"/>
              </a:rPr>
              <a:t>    │   │   ├── dossier_content.py</a:t>
            </a:r>
          </a:p>
          <a:p>
            <a:pPr algn="l">
              <a:lnSpc>
                <a:spcPct val="100000"/>
              </a:lnSpc>
            </a:pPr>
            <a:r>
              <a:rPr sz="800" b="0" i="0">
                <a:solidFill>
                  <a:srgbClr val="ECE7DC"/>
                </a:solidFill>
                <a:latin typeface="Consolas"/>
              </a:rPr>
              <a:t>    │   │   ├── dossier_pdf.py</a:t>
            </a:r>
          </a:p>
          <a:p>
            <a:pPr algn="l">
              <a:lnSpc>
                <a:spcPct val="100000"/>
              </a:lnSpc>
            </a:pPr>
            <a:r>
              <a:rPr sz="800" b="0" i="0">
                <a:solidFill>
                  <a:srgbClr val="ECE7DC"/>
                </a:solidFill>
                <a:latin typeface="Consolas"/>
              </a:rPr>
              <a:t>    │   │   ├── dossier_pptx.py</a:t>
            </a:r>
          </a:p>
          <a:p>
            <a:pPr algn="l">
              <a:lnSpc>
                <a:spcPct val="100000"/>
              </a:lnSpc>
            </a:pPr>
            <a:r>
              <a:rPr sz="800" b="0" i="0">
                <a:solidFill>
                  <a:srgbClr val="ECE7DC"/>
                </a:solidFill>
                <a:latin typeface="Consolas"/>
              </a:rPr>
              <a:t>    │   │   ├── dossier_theme.py</a:t>
            </a:r>
          </a:p>
          <a:p>
            <a:pPr algn="l">
              <a:lnSpc>
                <a:spcPct val="100000"/>
              </a:lnSpc>
            </a:pPr>
            <a:r>
              <a:rPr sz="800" b="0" i="0">
                <a:solidFill>
                  <a:srgbClr val="ECE7DC"/>
                </a:solidFill>
                <a:latin typeface="Consolas"/>
              </a:rPr>
              <a:t>    │   │   ├── dossier_verify.py</a:t>
            </a:r>
          </a:p>
          <a:p>
            <a:pPr algn="l">
              <a:lnSpc>
                <a:spcPct val="100000"/>
              </a:lnSpc>
            </a:pPr>
            <a:r>
              <a:rPr sz="800" b="0" i="0">
                <a:solidFill>
                  <a:srgbClr val="ECE7DC"/>
                </a:solidFill>
                <a:latin typeface="Consolas"/>
              </a:rPr>
              <a:t>    │   │   ├── mardown_to_pdf.py</a:t>
            </a:r>
          </a:p>
          <a:p>
            <a:pPr algn="l">
              <a:lnSpc>
                <a:spcPct val="100000"/>
              </a:lnSpc>
            </a:pPr>
            <a:r>
              <a:rPr sz="800" b="0" i="0">
                <a:solidFill>
                  <a:srgbClr val="ECE7DC"/>
                </a:solidFill>
                <a:latin typeface="Consolas"/>
              </a:rPr>
              <a:t>    │   │   ├── refresh_project_docs.py</a:t>
            </a:r>
          </a:p>
          <a:p>
            <a:pPr algn="l">
              <a:lnSpc>
                <a:spcPct val="100000"/>
              </a:lnSpc>
            </a:pPr>
            <a:r>
              <a:rPr sz="800" b="0" i="0">
                <a:solidFill>
                  <a:srgbClr val="ECE7DC"/>
                </a:solidFill>
                <a:latin typeface="Consolas"/>
              </a:rPr>
              <a:t>    │   │   └── test_output.pdf</a:t>
            </a:r>
          </a:p>
          <a:p>
            <a:pPr algn="l">
              <a:lnSpc>
                <a:spcPct val="100000"/>
              </a:lnSpc>
            </a:pPr>
            <a:r>
              <a:rPr sz="800" b="0" i="0">
                <a:solidFill>
                  <a:srgbClr val="3BBE93"/>
                </a:solidFill>
                <a:latin typeface="Consolas"/>
              </a:rPr>
              <a:t>    │   ├── images/</a:t>
            </a:r>
          </a:p>
          <a:p>
            <a:pPr algn="l">
              <a:lnSpc>
                <a:spcPct val="100000"/>
              </a:lnSpc>
            </a:pPr>
            <a:r>
              <a:rPr sz="800" b="0" i="0">
                <a:solidFill>
                  <a:srgbClr val="ECE7DC"/>
                </a:solidFill>
                <a:latin typeface="Consolas"/>
              </a:rPr>
              <a:t>    │   │   ├── ACPXKeysConfigureWizard.jpg</a:t>
            </a:r>
          </a:p>
          <a:p>
            <a:pPr algn="l">
              <a:lnSpc>
                <a:spcPct val="100000"/>
              </a:lnSpc>
            </a:pPr>
            <a:r>
              <a:rPr sz="800" b="0" i="0">
                <a:solidFill>
                  <a:srgbClr val="ECE7DC"/>
                </a:solidFill>
                <a:latin typeface="Consolas"/>
              </a:rPr>
              <a:t>    │   │   ├── ConfigureModels.jpg</a:t>
            </a:r>
          </a:p>
          <a:p>
            <a:pPr algn="l">
              <a:lnSpc>
                <a:spcPct val="100000"/>
              </a:lnSpc>
            </a:pPr>
            <a:r>
              <a:rPr sz="800" b="0" i="0">
                <a:solidFill>
                  <a:srgbClr val="ECE7DC"/>
                </a:solidFill>
                <a:latin typeface="Consolas"/>
              </a:rPr>
              <a:t>    │   │   ├── MenuConfig.jpg</a:t>
            </a:r>
          </a:p>
          <a:p>
            <a:pPr algn="l">
              <a:lnSpc>
                <a:spcPct val="100000"/>
              </a:lnSpc>
            </a:pPr>
            <a:r>
              <a:rPr sz="800" b="0" i="0">
                <a:solidFill>
                  <a:srgbClr val="ECE7DC"/>
                </a:solidFill>
                <a:latin typeface="Consolas"/>
              </a:rPr>
              <a:t>    │   │   ├── mockup.jpg</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imaging/</a:t>
            </a:r>
          </a:p>
          <a:p>
            <a:pPr algn="l">
              <a:lnSpc>
                <a:spcPct val="100000"/>
              </a:lnSpc>
            </a:pPr>
            <a:r>
              <a:rPr sz="800" b="0" i="0">
                <a:solidFill>
                  <a:srgbClr val="ECE7DC"/>
                </a:solidFill>
                <a:latin typeface="Consolas"/>
              </a:rPr>
              <a:t>    │   │   ├── converter.py</a:t>
            </a:r>
          </a:p>
          <a:p>
            <a:pPr algn="l">
              <a:lnSpc>
                <a:spcPct val="100000"/>
              </a:lnSpc>
            </a:pPr>
            <a:r>
              <a:rPr sz="800" b="0" i="0">
                <a:solidFill>
                  <a:srgbClr val="ECE7DC"/>
                </a:solidFill>
                <a:latin typeface="Consolas"/>
              </a:rPr>
              <a:t>    │   │   ├── image_interpreter.py</a:t>
            </a:r>
          </a:p>
          <a:p>
            <a:pPr algn="l">
              <a:lnSpc>
                <a:spcPct val="100000"/>
              </a:lnSpc>
            </a:pPr>
            <a:r>
              <a:rPr sz="800" b="0" i="0">
                <a:solidFill>
                  <a:srgbClr val="ECE7DC"/>
                </a:solidFill>
                <a:latin typeface="Consolas"/>
              </a:rPr>
              <a:t>    │   │   └── screenshot.py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147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10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1,688 tracked files at commit 113eddc4;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management/</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 commands/</a:t>
            </a:r>
          </a:p>
          <a:p>
            <a:pPr algn="l">
              <a:lnSpc>
                <a:spcPct val="100000"/>
              </a:lnSpc>
            </a:pPr>
            <a:r>
              <a:rPr sz="800" b="0" i="0">
                <a:solidFill>
                  <a:srgbClr val="ECE7DC"/>
                </a:solidFill>
                <a:latin typeface="Consolas"/>
              </a:rPr>
              <a:t>    │   │       ├── acpx_lint.py</a:t>
            </a:r>
          </a:p>
          <a:p>
            <a:pPr algn="l">
              <a:lnSpc>
                <a:spcPct val="100000"/>
              </a:lnSpc>
            </a:pPr>
            <a:r>
              <a:rPr sz="800" b="0" i="0">
                <a:solidFill>
                  <a:srgbClr val="ECE7DC"/>
                </a:solidFill>
                <a:latin typeface="Consolas"/>
              </a:rPr>
              <a:t>    │   │       ├── check_agent_runtimes.py</a:t>
            </a:r>
          </a:p>
          <a:p>
            <a:pPr algn="l">
              <a:lnSpc>
                <a:spcPct val="100000"/>
              </a:lnSpc>
            </a:pPr>
            <a:r>
              <a:rPr sz="800" b="0" i="0">
                <a:solidFill>
                  <a:srgbClr val="ECE7DC"/>
                </a:solidFill>
                <a:latin typeface="Consolas"/>
              </a:rPr>
              <a:t>    │   │       ├── check_prompt_flow_panel.py</a:t>
            </a:r>
          </a:p>
          <a:p>
            <a:pPr algn="l">
              <a:lnSpc>
                <a:spcPct val="100000"/>
              </a:lnSpc>
            </a:pPr>
            <a:r>
              <a:rPr sz="800" b="0" i="0">
                <a:solidFill>
                  <a:srgbClr val="ECE7DC"/>
                </a:solidFill>
                <a:latin typeface="Consolas"/>
              </a:rPr>
              <a:t>    │   │       └── startserver.py</a:t>
            </a:r>
          </a:p>
          <a:p>
            <a:pPr algn="l">
              <a:lnSpc>
                <a:spcPct val="100000"/>
              </a:lnSpc>
            </a:pPr>
            <a:r>
              <a:rPr sz="800" b="0" i="0">
                <a:solidFill>
                  <a:srgbClr val="3BBE93"/>
                </a:solidFill>
                <a:latin typeface="Consolas"/>
              </a:rPr>
              <a:t>    │   ├── migrations/</a:t>
            </a:r>
          </a:p>
          <a:p>
            <a:pPr algn="l">
              <a:lnSpc>
                <a:spcPct val="100000"/>
              </a:lnSpc>
            </a:pPr>
            <a:r>
              <a:rPr sz="800" b="0" i="0">
                <a:solidFill>
                  <a:srgbClr val="ECE7DC"/>
                </a:solidFill>
                <a:latin typeface="Consolas"/>
              </a:rPr>
              <a:t>    │   │   ├── 0001_initial.py</a:t>
            </a:r>
          </a:p>
          <a:p>
            <a:pPr algn="l">
              <a:lnSpc>
                <a:spcPct val="100000"/>
              </a:lnSpc>
            </a:pPr>
            <a:r>
              <a:rPr sz="800" b="0" i="0">
                <a:solidFill>
                  <a:srgbClr val="ECE7DC"/>
                </a:solidFill>
                <a:latin typeface="Consolas"/>
              </a:rPr>
              <a:t>    │   │   ├── 0002_populate_db.py</a:t>
            </a:r>
          </a:p>
          <a:p>
            <a:pPr algn="l">
              <a:lnSpc>
                <a:spcPct val="100000"/>
              </a:lnSpc>
            </a:pPr>
            <a:r>
              <a:rPr sz="800" b="0" i="0">
                <a:solidFill>
                  <a:srgbClr val="ECE7DC"/>
                </a:solidFill>
                <a:latin typeface="Consolas"/>
              </a:rPr>
              <a:t>    │   │   ├── 0003_add_cleaner.py</a:t>
            </a:r>
          </a:p>
          <a:p>
            <a:pPr algn="l">
              <a:lnSpc>
                <a:spcPct val="100000"/>
              </a:lnSpc>
            </a:pPr>
            <a:r>
              <a:rPr sz="800" b="0" i="0">
                <a:solidFill>
                  <a:srgbClr val="ECE7DC"/>
                </a:solidFill>
                <a:latin typeface="Consolas"/>
              </a:rPr>
              <a:t>    │   │   ├── 0004_add_deleter.py</a:t>
            </a:r>
          </a:p>
          <a:p>
            <a:pPr algn="l">
              <a:lnSpc>
                <a:spcPct val="100000"/>
              </a:lnSpc>
            </a:pPr>
            <a:r>
              <a:rPr sz="800" b="0" i="0">
                <a:solidFill>
                  <a:srgbClr val="ECE7DC"/>
                </a:solidFill>
                <a:latin typeface="Consolas"/>
              </a:rPr>
              <a:t>    │   │   ├── 0005_add_executer.py</a:t>
            </a:r>
          </a:p>
          <a:p>
            <a:pPr algn="l">
              <a:lnSpc>
                <a:spcPct val="100000"/>
              </a:lnSpc>
            </a:pPr>
            <a:r>
              <a:rPr sz="800" b="0" i="0">
                <a:solidFill>
                  <a:srgbClr val="ECE7DC"/>
                </a:solidFill>
                <a:latin typeface="Consolas"/>
              </a:rPr>
              <a:t>    │   │   ├── 0006_add_notifier.py</a:t>
            </a:r>
          </a:p>
          <a:p>
            <a:pPr algn="l">
              <a:lnSpc>
                <a:spcPct val="100000"/>
              </a:lnSpc>
            </a:pPr>
            <a:r>
              <a:rPr sz="800" b="0" i="0">
                <a:solidFill>
                  <a:srgbClr val="ECE7DC"/>
                </a:solidFill>
                <a:latin typeface="Consolas"/>
              </a:rPr>
              <a:t>    │   │   ├── 0007_add_stopper.py</a:t>
            </a:r>
          </a:p>
          <a:p>
            <a:pPr algn="l">
              <a:lnSpc>
                <a:spcPct val="100000"/>
              </a:lnSpc>
            </a:pPr>
            <a:r>
              <a:rPr sz="800" b="0" i="0">
                <a:solidFill>
                  <a:srgbClr val="ECE7DC"/>
                </a:solidFill>
                <a:latin typeface="Consolas"/>
              </a:rPr>
              <a:t>    │   │   ├── 0008_add_recmailer.py</a:t>
            </a:r>
          </a:p>
          <a:p>
            <a:pPr algn="l">
              <a:lnSpc>
                <a:spcPct val="100000"/>
              </a:lnSpc>
            </a:pPr>
            <a:r>
              <a:rPr sz="800" b="0" i="0">
                <a:solidFill>
                  <a:srgbClr val="ECE7DC"/>
                </a:solidFill>
                <a:latin typeface="Consolas"/>
              </a:rPr>
              <a:t>    │   │   ├── 0009_add_whatsapper.py</a:t>
            </a:r>
          </a:p>
          <a:p>
            <a:pPr algn="l">
              <a:lnSpc>
                <a:spcPct val="100000"/>
              </a:lnSpc>
            </a:pPr>
            <a:r>
              <a:rPr sz="800" b="0" i="0">
                <a:solidFill>
                  <a:srgbClr val="ECE7DC"/>
                </a:solidFill>
                <a:latin typeface="Consolas"/>
              </a:rPr>
              <a:t>    │   │   ├── 0010_add_pythonxer.py</a:t>
            </a:r>
          </a:p>
          <a:p>
            <a:pPr algn="l">
              <a:lnSpc>
                <a:spcPct val="100000"/>
              </a:lnSpc>
            </a:pPr>
            <a:r>
              <a:rPr sz="800" b="0" i="0">
                <a:solidFill>
                  <a:srgbClr val="ECE7DC"/>
                </a:solidFill>
                <a:latin typeface="Consolas"/>
              </a:rPr>
              <a:t>    │   │   ├── 0011_add_asker.py</a:t>
            </a:r>
          </a:p>
          <a:p>
            <a:pPr algn="l">
              <a:lnSpc>
                <a:spcPct val="100000"/>
              </a:lnSpc>
            </a:pPr>
            <a:r>
              <a:rPr sz="800" b="0" i="0">
                <a:solidFill>
                  <a:srgbClr val="ECE7DC"/>
                </a:solidFill>
                <a:latin typeface="Consolas"/>
              </a:rPr>
              <a:t>    │   │   ├── 0012_repopulate_all_agents.py</a:t>
            </a:r>
          </a:p>
          <a:p>
            <a:pPr algn="l">
              <a:lnSpc>
                <a:spcPct val="100000"/>
              </a:lnSpc>
            </a:pPr>
            <a:r>
              <a:rPr sz="800" b="0" i="0">
                <a:solidFill>
                  <a:srgbClr val="ECE7DC"/>
                </a:solidFill>
                <a:latin typeface="Consolas"/>
              </a:rPr>
              <a:t>    │   │   ├── 0013_add_forker.py</a:t>
            </a:r>
          </a:p>
          <a:p>
            <a:pPr algn="l">
              <a:lnSpc>
                <a:spcPct val="100000"/>
              </a:lnSpc>
            </a:pPr>
            <a:r>
              <a:rPr sz="800" b="0" i="0">
                <a:solidFill>
                  <a:srgbClr val="ECE7DC"/>
                </a:solidFill>
                <a:latin typeface="Consolas"/>
              </a:rPr>
              <a:t>    │   │   ├── 0014_repopulate_all_agents.py</a:t>
            </a:r>
          </a:p>
          <a:p>
            <a:pPr algn="l">
              <a:lnSpc>
                <a:spcPct val="100000"/>
              </a:lnSpc>
            </a:pPr>
            <a:r>
              <a:rPr sz="800" b="0" i="0">
                <a:solidFill>
                  <a:srgbClr val="ECE7DC"/>
                </a:solidFill>
                <a:latin typeface="Consolas"/>
              </a:rPr>
              <a:t>    │   │   ├── 0015_add_shoter.py</a:t>
            </a:r>
          </a:p>
          <a:p>
            <a:pPr algn="l">
              <a:lnSpc>
                <a:spcPct val="100000"/>
              </a:lnSpc>
            </a:pPr>
            <a:r>
              <a:rPr sz="800" b="0" i="0">
                <a:solidFill>
                  <a:srgbClr val="ECE7DC"/>
                </a:solidFill>
                <a:latin typeface="Consolas"/>
              </a:rPr>
              <a:t>    │   │   ├── 0016_repopulate_all_agents.py</a:t>
            </a:r>
          </a:p>
          <a:p>
            <a:pPr algn="l">
              <a:lnSpc>
                <a:spcPct val="100000"/>
              </a:lnSpc>
            </a:pPr>
            <a:r>
              <a:rPr sz="800" b="0" i="0">
                <a:solidFill>
                  <a:srgbClr val="ECE7DC"/>
                </a:solidFill>
                <a:latin typeface="Consolas"/>
              </a:rPr>
              <a:t>    │   │   ├── 0017_add_ssher.py</a:t>
            </a:r>
          </a:p>
          <a:p>
            <a:pPr algn="l">
              <a:lnSpc>
                <a:spcPct val="100000"/>
              </a:lnSpc>
            </a:pPr>
            <a:r>
              <a:rPr sz="800" b="0" i="0">
                <a:solidFill>
                  <a:srgbClr val="ECE7DC"/>
                </a:solidFill>
                <a:latin typeface="Consolas"/>
              </a:rPr>
              <a:t>    │   │   ├── 0018_repopulate_all_agents.py</a:t>
            </a:r>
          </a:p>
          <a:p>
            <a:pPr algn="l">
              <a:lnSpc>
                <a:spcPct val="100000"/>
              </a:lnSpc>
            </a:pPr>
            <a:r>
              <a:rPr sz="800" b="0" i="0">
                <a:solidFill>
                  <a:srgbClr val="ECE7DC"/>
                </a:solidFill>
                <a:latin typeface="Consolas"/>
              </a:rPr>
              <a:t>    │   │   ├── 0019_add_scper.py</a:t>
            </a:r>
          </a:p>
          <a:p>
            <a:pPr algn="l">
              <a:lnSpc>
                <a:spcPct val="100000"/>
              </a:lnSpc>
            </a:pPr>
            <a:r>
              <a:rPr sz="800" b="0" i="0">
                <a:solidFill>
                  <a:srgbClr val="ECE7DC"/>
                </a:solidFill>
                <a:latin typeface="Consolas"/>
              </a:rPr>
              <a:t>    │   │   ├── 0020_repopulate_all_agents.py</a:t>
            </a:r>
          </a:p>
          <a:p>
            <a:pPr algn="l">
              <a:lnSpc>
                <a:spcPct val="100000"/>
              </a:lnSpc>
            </a:pPr>
            <a:r>
              <a:rPr sz="800" b="0" i="0">
                <a:solidFill>
                  <a:srgbClr val="ECE7DC"/>
                </a:solidFill>
                <a:latin typeface="Consolas"/>
              </a:rPr>
              <a:t>    │   │   ├── 0021_add_telegramrx.py</a:t>
            </a:r>
          </a:p>
          <a:p>
            <a:pPr algn="l">
              <a:lnSpc>
                <a:spcPct val="100000"/>
              </a:lnSpc>
            </a:pPr>
            <a:r>
              <a:rPr sz="800" b="0" i="0">
                <a:solidFill>
                  <a:srgbClr val="ECE7DC"/>
                </a:solidFill>
                <a:latin typeface="Consolas"/>
              </a:rPr>
              <a:t>    │   │   ├── 0022_repopulate_all_agents.py</a:t>
            </a:r>
          </a:p>
          <a:p>
            <a:pPr algn="l">
              <a:lnSpc>
                <a:spcPct val="100000"/>
              </a:lnSpc>
            </a:pPr>
            <a:r>
              <a:rPr sz="800" b="0" i="0">
                <a:solidFill>
                  <a:srgbClr val="ECE7DC"/>
                </a:solidFill>
                <a:latin typeface="Consolas"/>
              </a:rPr>
              <a:t>    │   │   ├── 0023_add_mongoxer.py</a:t>
            </a:r>
          </a:p>
          <a:p>
            <a:pPr algn="l">
              <a:lnSpc>
                <a:spcPct val="100000"/>
              </a:lnSpc>
            </a:pPr>
            <a:r>
              <a:rPr sz="800" b="0" i="0">
                <a:solidFill>
                  <a:srgbClr val="ECE7DC"/>
                </a:solidFill>
                <a:latin typeface="Consolas"/>
              </a:rPr>
              <a:t>    │   │   ├── 0024_repopulate_all_agents.py</a:t>
            </a:r>
          </a:p>
          <a:p>
            <a:pPr algn="l">
              <a:lnSpc>
                <a:spcPct val="100000"/>
              </a:lnSpc>
            </a:pPr>
            <a:r>
              <a:rPr sz="800" b="0" i="0">
                <a:solidFill>
                  <a:srgbClr val="ECE7DC"/>
                </a:solidFill>
                <a:latin typeface="Consolas"/>
              </a:rPr>
              <a:t>    │   │   ├── 0025_add_telegramer.py</a:t>
            </a:r>
          </a:p>
          <a:p>
            <a:pPr algn="l">
              <a:lnSpc>
                <a:spcPct val="100000"/>
              </a:lnSpc>
            </a:pPr>
            <a:r>
              <a:rPr sz="800" b="0" i="0">
                <a:solidFill>
                  <a:srgbClr val="ECE7DC"/>
                </a:solidFill>
                <a:latin typeface="Consolas"/>
              </a:rPr>
              <a:t>    │   │   ├── 0026_repopulate_all_agents.py</a:t>
            </a:r>
          </a:p>
          <a:p>
            <a:pPr algn="l">
              <a:lnSpc>
                <a:spcPct val="100000"/>
              </a:lnSpc>
            </a:pPr>
            <a:r>
              <a:rPr sz="800" b="0" i="0">
                <a:solidFill>
                  <a:srgbClr val="ECE7DC"/>
                </a:solidFill>
                <a:latin typeface="Consolas"/>
              </a:rPr>
              <a:t>    │   │   ├── 0027_add_sqler.py</a:t>
            </a:r>
          </a:p>
          <a:p>
            <a:pPr algn="l">
              <a:lnSpc>
                <a:spcPct val="100000"/>
              </a:lnSpc>
            </a:pPr>
            <a:r>
              <a:rPr sz="800" b="0" i="0">
                <a:solidFill>
                  <a:srgbClr val="ECE7DC"/>
                </a:solidFill>
                <a:latin typeface="Consolas"/>
              </a:rPr>
              <a:t>    │   │   ├── 0028_repopulate_all_agents.py</a:t>
            </a:r>
          </a:p>
          <a:p>
            <a:pPr algn="l">
              <a:lnSpc>
                <a:spcPct val="100000"/>
              </a:lnSpc>
            </a:pPr>
            <a:r>
              <a:rPr sz="800" b="0" i="0">
                <a:solidFill>
                  <a:srgbClr val="ECE7DC"/>
                </a:solidFill>
                <a:latin typeface="Consolas"/>
              </a:rPr>
              <a:t>    │   │   ├── 0029_add_prompter.py</a:t>
            </a:r>
          </a:p>
          <a:p>
            <a:pPr algn="l">
              <a:lnSpc>
                <a:spcPct val="100000"/>
              </a:lnSpc>
            </a:pPr>
            <a:r>
              <a:rPr sz="800" b="0" i="0">
                <a:solidFill>
                  <a:srgbClr val="ECE7DC"/>
                </a:solidFill>
                <a:latin typeface="Consolas"/>
              </a:rPr>
              <a:t>    │   │   ├── 0030_repopulate_all_agents.py</a:t>
            </a:r>
          </a:p>
          <a:p>
            <a:pPr algn="l">
              <a:lnSpc>
                <a:spcPct val="100000"/>
              </a:lnSpc>
            </a:pPr>
            <a:r>
              <a:rPr sz="800" b="0" i="0">
                <a:solidFill>
                  <a:srgbClr val="ECE7DC"/>
                </a:solidFill>
                <a:latin typeface="Consolas"/>
              </a:rPr>
              <a:t>    │   │   ├── 0031_add_flowcreator.py</a:t>
            </a:r>
          </a:p>
          <a:p>
            <a:pPr algn="l">
              <a:lnSpc>
                <a:spcPct val="100000"/>
              </a:lnSpc>
            </a:pPr>
            <a:r>
              <a:rPr sz="800" b="0" i="0">
                <a:solidFill>
                  <a:srgbClr val="ECE7DC"/>
                </a:solidFill>
                <a:latin typeface="Consolas"/>
              </a:rPr>
              <a:t>    │   │   ├── 0032_repopulate_all_agents.py</a:t>
            </a:r>
          </a:p>
          <a:p>
            <a:pPr algn="l">
              <a:lnSpc>
                <a:spcPct val="100000"/>
              </a:lnSpc>
            </a:pPr>
            <a:r>
              <a:rPr sz="800" b="0" i="0">
                <a:solidFill>
                  <a:srgbClr val="ECE7DC"/>
                </a:solidFill>
                <a:latin typeface="Consolas"/>
              </a:rPr>
              <a:t>    │   │   ├── 0033_add_gitter.py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0034_add_dockerer.py</a:t>
            </a:r>
          </a:p>
          <a:p>
            <a:pPr algn="l">
              <a:lnSpc>
                <a:spcPct val="100000"/>
              </a:lnSpc>
            </a:pPr>
            <a:r>
              <a:rPr sz="800" b="0" i="0">
                <a:solidFill>
                  <a:srgbClr val="ECE7DC"/>
                </a:solidFill>
                <a:latin typeface="Consolas"/>
              </a:rPr>
              <a:t>    │   │   ├── 0035_add_pser.py</a:t>
            </a:r>
          </a:p>
          <a:p>
            <a:pPr algn="l">
              <a:lnSpc>
                <a:spcPct val="100000"/>
              </a:lnSpc>
            </a:pPr>
            <a:r>
              <a:rPr sz="800" b="0" i="0">
                <a:solidFill>
                  <a:srgbClr val="ECE7DC"/>
                </a:solidFill>
                <a:latin typeface="Consolas"/>
              </a:rPr>
              <a:t>    │   │   ├── 0036_add_kuberneter.py</a:t>
            </a:r>
          </a:p>
          <a:p>
            <a:pPr algn="l">
              <a:lnSpc>
                <a:spcPct val="100000"/>
              </a:lnSpc>
            </a:pPr>
            <a:r>
              <a:rPr sz="800" b="0" i="0">
                <a:solidFill>
                  <a:srgbClr val="ECE7DC"/>
                </a:solidFill>
                <a:latin typeface="Consolas"/>
              </a:rPr>
              <a:t>    │   │   ├── 0037_add_apirer.py</a:t>
            </a:r>
          </a:p>
          <a:p>
            <a:pPr algn="l">
              <a:lnSpc>
                <a:spcPct val="100000"/>
              </a:lnSpc>
            </a:pPr>
            <a:r>
              <a:rPr sz="800" b="0" i="0">
                <a:solidFill>
                  <a:srgbClr val="ECE7DC"/>
                </a:solidFill>
                <a:latin typeface="Consolas"/>
              </a:rPr>
              <a:t>    │   │   ├── 0038_add_jenkinser.py</a:t>
            </a:r>
          </a:p>
          <a:p>
            <a:pPr algn="l">
              <a:lnSpc>
                <a:spcPct val="100000"/>
              </a:lnSpc>
            </a:pPr>
            <a:r>
              <a:rPr sz="800" b="0" i="0">
                <a:solidFill>
                  <a:srgbClr val="ECE7DC"/>
                </a:solidFill>
                <a:latin typeface="Consolas"/>
              </a:rPr>
              <a:t>    │   │   ├── 0039_add_crawler.py</a:t>
            </a:r>
          </a:p>
          <a:p>
            <a:pPr algn="l">
              <a:lnSpc>
                <a:spcPct val="100000"/>
              </a:lnSpc>
            </a:pPr>
            <a:r>
              <a:rPr sz="800" b="0" i="0">
                <a:solidFill>
                  <a:srgbClr val="ECE7DC"/>
                </a:solidFill>
                <a:latin typeface="Consolas"/>
              </a:rPr>
              <a:t>    │   │   ├── 0040_add_summarizer.py</a:t>
            </a:r>
          </a:p>
          <a:p>
            <a:pPr algn="l">
              <a:lnSpc>
                <a:spcPct val="100000"/>
              </a:lnSpc>
            </a:pPr>
            <a:r>
              <a:rPr sz="800" b="0" i="0">
                <a:solidFill>
                  <a:srgbClr val="ECE7DC"/>
                </a:solidFill>
                <a:latin typeface="Consolas"/>
              </a:rPr>
              <a:t>    │   │   ├── 0041_add_flowhypervisor.py</a:t>
            </a:r>
          </a:p>
          <a:p>
            <a:pPr algn="l">
              <a:lnSpc>
                <a:spcPct val="100000"/>
              </a:lnSpc>
            </a:pPr>
            <a:r>
              <a:rPr sz="800" b="0" i="0">
                <a:solidFill>
                  <a:srgbClr val="ECE7DC"/>
                </a:solidFill>
                <a:latin typeface="Consolas"/>
              </a:rPr>
              <a:t>    │   │   ├── 0042_add_mouser.py</a:t>
            </a:r>
          </a:p>
          <a:p>
            <a:pPr algn="l">
              <a:lnSpc>
                <a:spcPct val="100000"/>
              </a:lnSpc>
            </a:pPr>
            <a:r>
              <a:rPr sz="800" b="0" i="0">
                <a:solidFill>
                  <a:srgbClr val="ECE7DC"/>
                </a:solidFill>
                <a:latin typeface="Consolas"/>
              </a:rPr>
              <a:t>    │   │   ├── 0043_agentmessage_conversation_user.py</a:t>
            </a:r>
          </a:p>
          <a:p>
            <a:pPr algn="l">
              <a:lnSpc>
                <a:spcPct val="100000"/>
              </a:lnSpc>
            </a:pPr>
            <a:r>
              <a:rPr sz="800" b="0" i="0">
                <a:solidFill>
                  <a:srgbClr val="ECE7DC"/>
                </a:solidFill>
                <a:latin typeface="Consolas"/>
              </a:rPr>
              <a:t>    │   │   ├── 0044_add_counter.py</a:t>
            </a:r>
          </a:p>
          <a:p>
            <a:pPr algn="l">
              <a:lnSpc>
                <a:spcPct val="100000"/>
              </a:lnSpc>
            </a:pPr>
            <a:r>
              <a:rPr sz="800" b="0" i="0">
                <a:solidFill>
                  <a:srgbClr val="ECE7DC"/>
                </a:solidFill>
                <a:latin typeface="Consolas"/>
              </a:rPr>
              <a:t>    │   │   ├── 0045_add_file_interpreter.py</a:t>
            </a:r>
          </a:p>
          <a:p>
            <a:pPr algn="l">
              <a:lnSpc>
                <a:spcPct val="100000"/>
              </a:lnSpc>
            </a:pPr>
            <a:r>
              <a:rPr sz="800" b="0" i="0">
                <a:solidFill>
                  <a:srgbClr val="ECE7DC"/>
                </a:solidFill>
                <a:latin typeface="Consolas"/>
              </a:rPr>
              <a:t>    │   │   ├── 0046_add_image_interpreter.py</a:t>
            </a:r>
          </a:p>
          <a:p>
            <a:pPr algn="l">
              <a:lnSpc>
                <a:spcPct val="100000"/>
              </a:lnSpc>
            </a:pPr>
            <a:r>
              <a:rPr sz="800" b="0" i="0">
                <a:solidFill>
                  <a:srgbClr val="ECE7DC"/>
                </a:solidFill>
                <a:latin typeface="Consolas"/>
              </a:rPr>
              <a:t>    │   │   ├── 0047_add_gatewayer.py</a:t>
            </a:r>
          </a:p>
          <a:p>
            <a:pPr algn="l">
              <a:lnSpc>
                <a:spcPct val="100000"/>
              </a:lnSpc>
            </a:pPr>
            <a:r>
              <a:rPr sz="800" b="0" i="0">
                <a:solidFill>
                  <a:srgbClr val="ECE7DC"/>
                </a:solidFill>
                <a:latin typeface="Consolas"/>
              </a:rPr>
              <a:t>    │   │   ├── 0048_add_gateway_relayer.py</a:t>
            </a:r>
          </a:p>
          <a:p>
            <a:pPr algn="l">
              <a:lnSpc>
                <a:spcPct val="100000"/>
              </a:lnSpc>
            </a:pPr>
            <a:r>
              <a:rPr sz="800" b="0" i="0">
                <a:solidFill>
                  <a:srgbClr val="ECE7DC"/>
                </a:solidFill>
                <a:latin typeface="Consolas"/>
              </a:rPr>
              <a:t>    │   │   ├── 0049_add_node_manager.py</a:t>
            </a:r>
          </a:p>
          <a:p>
            <a:pPr algn="l">
              <a:lnSpc>
                <a:spcPct val="100000"/>
              </a:lnSpc>
            </a:pPr>
            <a:r>
              <a:rPr sz="800" b="0" i="0">
                <a:solidFill>
                  <a:srgbClr val="ECE7DC"/>
                </a:solidFill>
                <a:latin typeface="Consolas"/>
              </a:rPr>
              <a:t>    │   │   ├── 0050_add_file_creator.py</a:t>
            </a:r>
          </a:p>
          <a:p>
            <a:pPr algn="l">
              <a:lnSpc>
                <a:spcPct val="100000"/>
              </a:lnSpc>
            </a:pPr>
            <a:r>
              <a:rPr sz="800" b="0" i="0">
                <a:solidFill>
                  <a:srgbClr val="ECE7DC"/>
                </a:solidFill>
                <a:latin typeface="Consolas"/>
              </a:rPr>
              <a:t>    │   │   ├── 0051_add_file_extractor.py</a:t>
            </a:r>
          </a:p>
          <a:p>
            <a:pPr algn="l">
              <a:lnSpc>
                <a:spcPct val="100000"/>
              </a:lnSpc>
            </a:pPr>
            <a:r>
              <a:rPr sz="800" b="0" i="0">
                <a:solidFill>
                  <a:srgbClr val="ECE7DC"/>
                </a:solidFill>
                <a:latin typeface="Consolas"/>
              </a:rPr>
              <a:t>    │   │   ├── 0052_add_kyber_keygen.py</a:t>
            </a:r>
          </a:p>
          <a:p>
            <a:pPr algn="l">
              <a:lnSpc>
                <a:spcPct val="100000"/>
              </a:lnSpc>
            </a:pPr>
            <a:r>
              <a:rPr sz="800" b="0" i="0">
                <a:solidFill>
                  <a:srgbClr val="ECE7DC"/>
                </a:solidFill>
                <a:latin typeface="Consolas"/>
              </a:rPr>
              <a:t>    │   │   ├── 0053_add_kyber_cipher.py</a:t>
            </a:r>
          </a:p>
          <a:p>
            <a:pPr algn="l">
              <a:lnSpc>
                <a:spcPct val="100000"/>
              </a:lnSpc>
            </a:pPr>
            <a:r>
              <a:rPr sz="800" b="0" i="0">
                <a:solidFill>
                  <a:srgbClr val="ECE7DC"/>
                </a:solidFill>
                <a:latin typeface="Consolas"/>
              </a:rPr>
              <a:t>    │   │   ├── 0054_add_kyber_decipher.py</a:t>
            </a:r>
          </a:p>
          <a:p>
            <a:pPr algn="l">
              <a:lnSpc>
                <a:spcPct val="100000"/>
              </a:lnSpc>
            </a:pPr>
            <a:r>
              <a:rPr sz="800" b="0" i="0">
                <a:solidFill>
                  <a:srgbClr val="ECE7DC"/>
                </a:solidFill>
                <a:latin typeface="Consolas"/>
              </a:rPr>
              <a:t>    │   │   ├── 0055_fix_kyber_cipher_names.py</a:t>
            </a:r>
          </a:p>
          <a:p>
            <a:pPr algn="l">
              <a:lnSpc>
                <a:spcPct val="100000"/>
              </a:lnSpc>
            </a:pPr>
            <a:r>
              <a:rPr sz="800" b="0" i="0">
                <a:solidFill>
                  <a:srgbClr val="ECE7DC"/>
                </a:solidFill>
                <a:latin typeface="Consolas"/>
              </a:rPr>
              <a:t>    │   │   ├── 0056_add_parametrizer.py</a:t>
            </a:r>
          </a:p>
          <a:p>
            <a:pPr algn="l">
              <a:lnSpc>
                <a:spcPct val="100000"/>
              </a:lnSpc>
            </a:pPr>
            <a:r>
              <a:rPr sz="800" b="0" i="0">
                <a:solidFill>
                  <a:srgbClr val="ECE7DC"/>
                </a:solidFill>
                <a:latin typeface="Consolas"/>
              </a:rPr>
              <a:t>    │   │   ├── 0057_add_flowbacker.py</a:t>
            </a:r>
          </a:p>
          <a:p>
            <a:pPr algn="l">
              <a:lnSpc>
                <a:spcPct val="100000"/>
              </a:lnSpc>
            </a:pPr>
            <a:r>
              <a:rPr sz="800" b="0" i="0">
                <a:solidFill>
                  <a:srgbClr val="ECE7DC"/>
                </a:solidFill>
                <a:latin typeface="Consolas"/>
              </a:rPr>
              <a:t>    │   │   ├── 0058_add_barrier.py</a:t>
            </a:r>
          </a:p>
          <a:p>
            <a:pPr algn="l">
              <a:lnSpc>
                <a:spcPct val="100000"/>
              </a:lnSpc>
            </a:pPr>
            <a:r>
              <a:rPr sz="800" b="0" i="0">
                <a:solidFill>
                  <a:srgbClr val="ECE7DC"/>
                </a:solidFill>
                <a:latin typeface="Consolas"/>
              </a:rPr>
              <a:t>    │   │   ├── 0059_add_j_decompiler.py</a:t>
            </a:r>
          </a:p>
          <a:p>
            <a:pPr algn="l">
              <a:lnSpc>
                <a:spcPct val="100000"/>
              </a:lnSpc>
            </a:pPr>
            <a:r>
              <a:rPr sz="800" b="0" i="0">
                <a:solidFill>
                  <a:srgbClr val="ECE7DC"/>
                </a:solidFill>
                <a:latin typeface="Consolas"/>
              </a:rPr>
              <a:t>    │   │   ├── 0060_add_agent_parametrizer_tool.py</a:t>
            </a:r>
          </a:p>
          <a:p>
            <a:pPr algn="l">
              <a:lnSpc>
                <a:spcPct val="100000"/>
              </a:lnSpc>
            </a:pPr>
            <a:r>
              <a:rPr sz="800" b="0" i="0">
                <a:solidFill>
                  <a:srgbClr val="ECE7DC"/>
                </a:solidFill>
                <a:latin typeface="Consolas"/>
              </a:rPr>
              <a:t>    │   │   ├── 0061_add_agent_starter_tool.py</a:t>
            </a:r>
          </a:p>
          <a:p>
            <a:pPr algn="l">
              <a:lnSpc>
                <a:spcPct val="100000"/>
              </a:lnSpc>
            </a:pPr>
            <a:r>
              <a:rPr sz="800" b="0" i="0">
                <a:solidFill>
                  <a:srgbClr val="ECE7DC"/>
                </a:solidFill>
                <a:latin typeface="Consolas"/>
              </a:rPr>
              <a:t>    │   │   ├── 0062_sync_agent_control_tools_and_prompt</a:t>
            </a:r>
          </a:p>
          <a:p>
            <a:pPr algn="l">
              <a:lnSpc>
                <a:spcPct val="100000"/>
              </a:lnSpc>
            </a:pPr>
            <a:r>
              <a:rPr sz="800" b="0" i="0">
                <a:solidFill>
                  <a:srgbClr val="ECE7DC"/>
                </a:solidFill>
                <a:latin typeface="Consolas"/>
              </a:rPr>
              <a:t>    │   │   │     » s.py</a:t>
            </a:r>
          </a:p>
          <a:p>
            <a:pPr algn="l">
              <a:lnSpc>
                <a:spcPct val="100000"/>
              </a:lnSpc>
            </a:pPr>
            <a:r>
              <a:rPr sz="800" b="0" i="0">
                <a:solidFill>
                  <a:srgbClr val="ECE7DC"/>
                </a:solidFill>
                <a:latin typeface="Consolas"/>
              </a:rPr>
              <a:t>    │   │   ├── 0063_add_agent_parametrizer_prompt.py</a:t>
            </a:r>
          </a:p>
          <a:p>
            <a:pPr algn="l">
              <a:lnSpc>
                <a:spcPct val="100000"/>
              </a:lnSpc>
            </a:pPr>
            <a:r>
              <a:rPr sz="800" b="0" i="0">
                <a:solidFill>
                  <a:srgbClr val="ECE7DC"/>
                </a:solidFill>
                <a:latin typeface="Consolas"/>
              </a:rPr>
              <a:t>    │   │   ├── 0064_add_chat_agent_run_model.py</a:t>
            </a:r>
          </a:p>
          <a:p>
            <a:pPr algn="l">
              <a:lnSpc>
                <a:spcPct val="100000"/>
              </a:lnSpc>
            </a:pPr>
            <a:r>
              <a:rPr sz="800" b="0" i="0">
                <a:solidFill>
                  <a:srgbClr val="ECE7DC"/>
                </a:solidFill>
                <a:latin typeface="Consolas"/>
              </a:rPr>
              <a:t>    │   │   ├── 0065_add_chat_wrapped_agent_tools.py</a:t>
            </a:r>
          </a:p>
          <a:p>
            <a:pPr algn="l">
              <a:lnSpc>
                <a:spcPct val="100000"/>
              </a:lnSpc>
            </a:pPr>
            <a:r>
              <a:rPr sz="800" b="0" i="0">
                <a:solidFill>
                  <a:srgbClr val="ECE7DC"/>
                </a:solidFill>
                <a:latin typeface="Consolas"/>
              </a:rPr>
              <a:t>    │   │   ├── 0066_add_keyboarder.py</a:t>
            </a:r>
          </a:p>
          <a:p>
            <a:pPr algn="l">
              <a:lnSpc>
                <a:spcPct val="100000"/>
              </a:lnSpc>
            </a:pPr>
            <a:r>
              <a:rPr sz="800" b="0" i="0">
                <a:solidFill>
                  <a:srgbClr val="ECE7DC"/>
                </a:solidFill>
                <a:latin typeface="Consolas"/>
              </a:rPr>
              <a:t>    │   │   ├── 0067_add_multi_turn_demo_prompts.py</a:t>
            </a:r>
          </a:p>
          <a:p>
            <a:pPr algn="l">
              <a:lnSpc>
                <a:spcPct val="100000"/>
              </a:lnSpc>
            </a:pPr>
            <a:r>
              <a:rPr sz="800" b="0" i="0">
                <a:solidFill>
                  <a:srgbClr val="ECE7DC"/>
                </a:solidFill>
                <a:latin typeface="Consolas"/>
              </a:rPr>
              <a:t>    │   │   ├── 0068_add_googler_tool.py</a:t>
            </a:r>
          </a:p>
          <a:p>
            <a:pPr algn="l">
              <a:lnSpc>
                <a:spcPct val="100000"/>
              </a:lnSpc>
            </a:pPr>
            <a:r>
              <a:rPr sz="800" b="0" i="0">
                <a:solidFill>
                  <a:srgbClr val="ECE7DC"/>
                </a:solidFill>
                <a:latin typeface="Consolas"/>
              </a:rPr>
              <a:t>    │   │   ├── 0069_add_googler_agent.py</a:t>
            </a:r>
          </a:p>
          <a:p>
            <a:pPr algn="l">
              <a:lnSpc>
                <a:spcPct val="100000"/>
              </a:lnSpc>
            </a:pPr>
            <a:r>
              <a:rPr sz="800" b="0" i="0">
                <a:solidFill>
                  <a:srgbClr val="ECE7DC"/>
                </a:solidFill>
                <a:latin typeface="Consolas"/>
              </a:rPr>
              <a:t>    │   │   ├── 0070_add_teletlamatini.py</a:t>
            </a:r>
          </a:p>
          <a:p>
            <a:pPr algn="l">
              <a:lnSpc>
                <a:spcPct val="100000"/>
              </a:lnSpc>
            </a:pPr>
            <a:r>
              <a:rPr sz="800" b="0" i="0">
                <a:solidFill>
                  <a:srgbClr val="ECE7DC"/>
                </a:solidFill>
                <a:latin typeface="Consolas"/>
              </a:rPr>
              <a:t>    │   │   ├── 0071_acpx_skills.py</a:t>
            </a:r>
          </a:p>
          <a:p>
            <a:pPr algn="l">
              <a:lnSpc>
                <a:spcPct val="100000"/>
              </a:lnSpc>
            </a:pPr>
            <a:r>
              <a:rPr sz="800" b="0" i="0">
                <a:solidFill>
                  <a:srgbClr val="ECE7DC"/>
                </a:solidFill>
                <a:latin typeface="Consolas"/>
              </a:rPr>
              <a:t>    │   │   ├── 0072_add_acpx_demo_prompts.py</a:t>
            </a:r>
          </a:p>
          <a:p>
            <a:pPr algn="l">
              <a:lnSpc>
                <a:spcPct val="100000"/>
              </a:lnSpc>
            </a:pPr>
            <a:r>
              <a:rPr sz="800" b="0" i="0">
                <a:solidFill>
                  <a:srgbClr val="ECE7DC"/>
                </a:solidFill>
                <a:latin typeface="Consolas"/>
              </a:rPr>
              <a:t>    │   │   ├── 0073_acpx_demo_gemini_uplift.py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0074_simplify_demo_prompts.py</a:t>
            </a:r>
          </a:p>
          <a:p>
            <a:pPr algn="l">
              <a:lnSpc>
                <a:spcPct val="100000"/>
              </a:lnSpc>
            </a:pPr>
            <a:r>
              <a:rPr sz="800" b="0" i="0">
                <a:solidFill>
                  <a:srgbClr val="ECE7DC"/>
                </a:solidFill>
                <a:latin typeface="Consolas"/>
              </a:rPr>
              <a:t>    │   │   ├── 0075_add_acpx_tool_surface.py</a:t>
            </a:r>
          </a:p>
          <a:p>
            <a:pPr algn="l">
              <a:lnSpc>
                <a:spcPct val="100000"/>
              </a:lnSpc>
            </a:pPr>
            <a:r>
              <a:rPr sz="800" b="0" i="0">
                <a:solidFill>
                  <a:srgbClr val="ECE7DC"/>
                </a:solidFill>
                <a:latin typeface="Consolas"/>
              </a:rPr>
              <a:t>    │   │   ├── 0076_add_acpxer.py</a:t>
            </a:r>
          </a:p>
          <a:p>
            <a:pPr algn="l">
              <a:lnSpc>
                <a:spcPct val="100000"/>
              </a:lnSpc>
            </a:pPr>
            <a:r>
              <a:rPr sz="800" b="0" i="0">
                <a:solidFill>
                  <a:srgbClr val="ECE7DC"/>
                </a:solidFill>
                <a:latin typeface="Consolas"/>
              </a:rPr>
              <a:t>    │   │   ├── 0077_add_whatstlamatini.py</a:t>
            </a:r>
          </a:p>
          <a:p>
            <a:pPr algn="l">
              <a:lnSpc>
                <a:spcPct val="100000"/>
              </a:lnSpc>
            </a:pPr>
            <a:r>
              <a:rPr sz="800" b="0" i="0">
                <a:solidFill>
                  <a:srgbClr val="ECE7DC"/>
                </a:solidFill>
                <a:latin typeface="Consolas"/>
              </a:rPr>
              <a:t>    │   │   ├── 0078_add_chat_agent_keyboarder_tool.py</a:t>
            </a:r>
          </a:p>
          <a:p>
            <a:pPr algn="l">
              <a:lnSpc>
                <a:spcPct val="100000"/>
              </a:lnSpc>
            </a:pPr>
            <a:r>
              <a:rPr sz="800" b="0" i="0">
                <a:solidFill>
                  <a:srgbClr val="ECE7DC"/>
                </a:solidFill>
                <a:latin typeface="Consolas"/>
              </a:rPr>
              <a:t>    │   │   ├── 0079_add_chat_agent_mouser_tool.py</a:t>
            </a:r>
          </a:p>
          <a:p>
            <a:pPr algn="l">
              <a:lnSpc>
                <a:spcPct val="100000"/>
              </a:lnSpc>
            </a:pPr>
            <a:r>
              <a:rPr sz="800" b="0" i="0">
                <a:solidFill>
                  <a:srgbClr val="ECE7DC"/>
                </a:solidFill>
                <a:latin typeface="Consolas"/>
              </a:rPr>
              <a:t>    │   │   ├── 0080_add_chat_agent_sleeper_tool.py</a:t>
            </a:r>
          </a:p>
          <a:p>
            <a:pPr algn="l">
              <a:lnSpc>
                <a:spcPct val="100000"/>
              </a:lnSpc>
            </a:pPr>
            <a:r>
              <a:rPr sz="800" b="0" i="0">
                <a:solidFill>
                  <a:srgbClr val="ECE7DC"/>
                </a:solidFill>
                <a:latin typeface="Consolas"/>
              </a:rPr>
              <a:t>    │   │   ├── 0081_add_window_present_and_run_wait_too</a:t>
            </a:r>
          </a:p>
          <a:p>
            <a:pPr algn="l">
              <a:lnSpc>
                <a:spcPct val="100000"/>
              </a:lnSpc>
            </a:pPr>
            <a:r>
              <a:rPr sz="800" b="0" i="0">
                <a:solidFill>
                  <a:srgbClr val="ECE7DC"/>
                </a:solidFill>
                <a:latin typeface="Consolas"/>
              </a:rPr>
              <a:t>    │   │   │     » ls.py</a:t>
            </a:r>
          </a:p>
          <a:p>
            <a:pPr algn="l">
              <a:lnSpc>
                <a:spcPct val="100000"/>
              </a:lnSpc>
            </a:pPr>
            <a:r>
              <a:rPr sz="800" b="0" i="0">
                <a:solidFill>
                  <a:srgbClr val="ECE7DC"/>
                </a:solidFill>
                <a:latin typeface="Consolas"/>
              </a:rPr>
              <a:t>    │   │   ├── 0082_add_chat_agent_j_decompiler_tool.py</a:t>
            </a:r>
          </a:p>
          <a:p>
            <a:pPr algn="l">
              <a:lnSpc>
                <a:spcPct val="100000"/>
              </a:lnSpc>
            </a:pPr>
            <a:r>
              <a:rPr sz="800" b="0" i="0">
                <a:solidFill>
                  <a:srgbClr val="ECE7DC"/>
                </a:solidFill>
                <a:latin typeface="Consolas"/>
              </a:rPr>
              <a:t>    │   │   ├── 0083_add_de_compresser.py</a:t>
            </a:r>
          </a:p>
          <a:p>
            <a:pPr algn="l">
              <a:lnSpc>
                <a:spcPct val="100000"/>
              </a:lnSpc>
            </a:pPr>
            <a:r>
              <a:rPr sz="800" b="0" i="0">
                <a:solidFill>
                  <a:srgbClr val="ECE7DC"/>
                </a:solidFill>
                <a:latin typeface="Consolas"/>
              </a:rPr>
              <a:t>    │   │   ├── 0084_add_chat_agent_de_compresser_tool.p</a:t>
            </a:r>
          </a:p>
          <a:p>
            <a:pPr algn="l">
              <a:lnSpc>
                <a:spcPct val="100000"/>
              </a:lnSpc>
            </a:pPr>
            <a:r>
              <a:rPr sz="800" b="0" i="0">
                <a:solidFill>
                  <a:srgbClr val="ECE7DC"/>
                </a:solidFill>
                <a:latin typeface="Consolas"/>
              </a:rPr>
              <a:t>    │   │   │     » y</a:t>
            </a:r>
          </a:p>
          <a:p>
            <a:pPr algn="l">
              <a:lnSpc>
                <a:spcPct val="100000"/>
              </a:lnSpc>
            </a:pPr>
            <a:r>
              <a:rPr sz="800" b="0" i="0">
                <a:solidFill>
                  <a:srgbClr val="ECE7DC"/>
                </a:solidFill>
                <a:latin typeface="Consolas"/>
              </a:rPr>
              <a:t>    │   │   ├── 0085_add_unrealer.py</a:t>
            </a:r>
          </a:p>
          <a:p>
            <a:pPr algn="l">
              <a:lnSpc>
                <a:spcPct val="100000"/>
              </a:lnSpc>
            </a:pPr>
            <a:r>
              <a:rPr sz="800" b="0" i="0">
                <a:solidFill>
                  <a:srgbClr val="ECE7DC"/>
                </a:solidFill>
                <a:latin typeface="Consolas"/>
              </a:rPr>
              <a:t>    │   │   ├── 0086_add_chat_agent_unrealer_tool.py</a:t>
            </a:r>
          </a:p>
          <a:p>
            <a:pPr algn="l">
              <a:lnSpc>
                <a:spcPct val="100000"/>
              </a:lnSpc>
            </a:pPr>
            <a:r>
              <a:rPr sz="800" b="0" i="0">
                <a:solidFill>
                  <a:srgbClr val="ECE7DC"/>
                </a:solidFill>
                <a:latin typeface="Consolas"/>
              </a:rPr>
              <a:t>    │   │   ├── 0087_add_unrealer_demo_prompt.py</a:t>
            </a:r>
          </a:p>
          <a:p>
            <a:pPr algn="l">
              <a:lnSpc>
                <a:spcPct val="100000"/>
              </a:lnSpc>
            </a:pPr>
            <a:r>
              <a:rPr sz="800" b="0" i="0">
                <a:solidFill>
                  <a:srgbClr val="ECE7DC"/>
                </a:solidFill>
                <a:latin typeface="Consolas"/>
              </a:rPr>
              <a:t>    │   │   ├── 0088_add_reviewer.py</a:t>
            </a:r>
          </a:p>
          <a:p>
            <a:pPr algn="l">
              <a:lnSpc>
                <a:spcPct val="100000"/>
              </a:lnSpc>
            </a:pPr>
            <a:r>
              <a:rPr sz="800" b="0" i="0">
                <a:solidFill>
                  <a:srgbClr val="ECE7DC"/>
                </a:solidFill>
                <a:latin typeface="Consolas"/>
              </a:rPr>
              <a:t>    │   │   ├── 0089_add_analyzer.py</a:t>
            </a:r>
          </a:p>
          <a:p>
            <a:pPr algn="l">
              <a:lnSpc>
                <a:spcPct val="100000"/>
              </a:lnSpc>
            </a:pPr>
            <a:r>
              <a:rPr sz="800" b="0" i="0">
                <a:solidFill>
                  <a:srgbClr val="ECE7DC"/>
                </a:solidFill>
                <a:latin typeface="Consolas"/>
              </a:rPr>
              <a:t>    │   │   ├── 0090_add_reviewer_analyzer_demo_prompts.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0091_add_playwrighter.py</a:t>
            </a:r>
          </a:p>
          <a:p>
            <a:pPr algn="l">
              <a:lnSpc>
                <a:spcPct val="100000"/>
              </a:lnSpc>
            </a:pPr>
            <a:r>
              <a:rPr sz="800" b="0" i="0">
                <a:solidFill>
                  <a:srgbClr val="ECE7DC"/>
                </a:solidFill>
                <a:latin typeface="Consolas"/>
              </a:rPr>
              <a:t>    │   │   ├── 0092_add_chat_agent_playwrighter_tool.py</a:t>
            </a:r>
          </a:p>
          <a:p>
            <a:pPr algn="l">
              <a:lnSpc>
                <a:spcPct val="100000"/>
              </a:lnSpc>
            </a:pPr>
            <a:r>
              <a:rPr sz="800" b="0" i="0">
                <a:solidFill>
                  <a:srgbClr val="ECE7DC"/>
                </a:solidFill>
                <a:latin typeface="Consolas"/>
              </a:rPr>
              <a:t>    │   │   ├── 0093_add_windower.py</a:t>
            </a:r>
          </a:p>
          <a:p>
            <a:pPr algn="l">
              <a:lnSpc>
                <a:spcPct val="100000"/>
              </a:lnSpc>
            </a:pPr>
            <a:r>
              <a:rPr sz="800" b="0" i="0">
                <a:solidFill>
                  <a:srgbClr val="ECE7DC"/>
                </a:solidFill>
                <a:latin typeface="Consolas"/>
              </a:rPr>
              <a:t>    │   │   ├── 0094_add_chat_agent_windower_tool.py</a:t>
            </a:r>
          </a:p>
          <a:p>
            <a:pPr algn="l">
              <a:lnSpc>
                <a:spcPct val="100000"/>
              </a:lnSpc>
            </a:pPr>
            <a:r>
              <a:rPr sz="800" b="0" i="0">
                <a:solidFill>
                  <a:srgbClr val="ECE7DC"/>
                </a:solidFill>
                <a:latin typeface="Consolas"/>
              </a:rPr>
              <a:t>    │   │   ├── 0095_add_windower_playwrighter_demo_prom</a:t>
            </a:r>
          </a:p>
          <a:p>
            <a:pPr algn="l">
              <a:lnSpc>
                <a:spcPct val="100000"/>
              </a:lnSpc>
            </a:pPr>
            <a:r>
              <a:rPr sz="800" b="0" i="0">
                <a:solidFill>
                  <a:srgbClr val="ECE7DC"/>
                </a:solidFill>
                <a:latin typeface="Consolas"/>
              </a:rPr>
              <a:t>    │   │   │     » pts.py</a:t>
            </a:r>
          </a:p>
          <a:p>
            <a:pPr algn="l">
              <a:lnSpc>
                <a:spcPct val="100000"/>
              </a:lnSpc>
            </a:pPr>
            <a:r>
              <a:rPr sz="800" b="0" i="0">
                <a:solidFill>
                  <a:srgbClr val="ECE7DC"/>
                </a:solidFill>
                <a:latin typeface="Consolas"/>
              </a:rPr>
              <a:t>    │   │   ├── 0096_add_director_virtuoso_demo_prompts.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0097_add_kalier.py</a:t>
            </a:r>
          </a:p>
          <a:p>
            <a:pPr algn="l">
              <a:lnSpc>
                <a:spcPct val="100000"/>
              </a:lnSpc>
            </a:pPr>
            <a:r>
              <a:rPr sz="800" b="0" i="0">
                <a:solidFill>
                  <a:srgbClr val="ECE7DC"/>
                </a:solidFill>
                <a:latin typeface="Consolas"/>
              </a:rPr>
              <a:t>    │   │   ├── 0098_add_chat_agent_kalier_tool.py</a:t>
            </a:r>
          </a:p>
          <a:p>
            <a:pPr algn="l">
              <a:lnSpc>
                <a:spcPct val="100000"/>
              </a:lnSpc>
            </a:pPr>
            <a:r>
              <a:rPr sz="800" b="0" i="0">
                <a:solidFill>
                  <a:srgbClr val="ECE7DC"/>
                </a:solidFill>
                <a:latin typeface="Consolas"/>
              </a:rPr>
              <a:t>    │   │   ├── 0099_add_kalier_demo_prompts.py</a:t>
            </a:r>
          </a:p>
          <a:p>
            <a:pPr algn="l">
              <a:lnSpc>
                <a:spcPct val="100000"/>
              </a:lnSpc>
            </a:pPr>
            <a:r>
              <a:rPr sz="800" b="0" i="0">
                <a:solidFill>
                  <a:srgbClr val="ECE7DC"/>
                </a:solidFill>
                <a:latin typeface="Consolas"/>
              </a:rPr>
              <a:t>    │   │   ├── 0100_add_unrealer_extended_demo_prompts.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0101_add_stm32er.py</a:t>
            </a:r>
          </a:p>
          <a:p>
            <a:pPr algn="l">
              <a:lnSpc>
                <a:spcPct val="100000"/>
              </a:lnSpc>
            </a:pPr>
            <a:r>
              <a:rPr sz="800" b="0" i="0">
                <a:solidFill>
                  <a:srgbClr val="ECE7DC"/>
                </a:solidFill>
                <a:latin typeface="Consolas"/>
              </a:rPr>
              <a:t>    │   │   ├── 0102_add_chat_agent_stm32er_tool.py</a:t>
            </a:r>
          </a:p>
          <a:p>
            <a:pPr algn="l">
              <a:lnSpc>
                <a:spcPct val="100000"/>
              </a:lnSpc>
            </a:pPr>
            <a:r>
              <a:rPr sz="800" b="0" i="0">
                <a:solidFill>
                  <a:srgbClr val="ECE7DC"/>
                </a:solidFill>
                <a:latin typeface="Consolas"/>
              </a:rPr>
              <a:t>    │   │   ├── 0103_add_stm32er_demo_prompts.py</a:t>
            </a:r>
          </a:p>
          <a:p>
            <a:pPr algn="l">
              <a:lnSpc>
                <a:spcPct val="100000"/>
              </a:lnSpc>
            </a:pPr>
            <a:r>
              <a:rPr sz="800" b="0" i="0">
                <a:solidFill>
                  <a:srgbClr val="ECE7DC"/>
                </a:solidFill>
                <a:latin typeface="Consolas"/>
              </a:rPr>
              <a:t>    │   │   ├── 0104_fix_stm32er_hil_serial_proof.py</a:t>
            </a:r>
          </a:p>
          <a:p>
            <a:pPr algn="l">
              <a:lnSpc>
                <a:spcPct val="100000"/>
              </a:lnSpc>
            </a:pPr>
            <a:r>
              <a:rPr sz="800" b="0" i="0">
                <a:solidFill>
                  <a:srgbClr val="ECE7DC"/>
                </a:solidFill>
                <a:latin typeface="Consolas"/>
              </a:rPr>
              <a:t>    │   │   ├── 0105_add_esp32er.py</a:t>
            </a:r>
          </a:p>
          <a:p>
            <a:pPr algn="l">
              <a:lnSpc>
                <a:spcPct val="100000"/>
              </a:lnSpc>
            </a:pPr>
            <a:r>
              <a:rPr sz="800" b="0" i="0">
                <a:solidFill>
                  <a:srgbClr val="ECE7DC"/>
                </a:solidFill>
                <a:latin typeface="Consolas"/>
              </a:rPr>
              <a:t>    │   │   ├── 0106_add_chat_agent_esp32er_tool.py</a:t>
            </a:r>
          </a:p>
          <a:p>
            <a:pPr algn="l">
              <a:lnSpc>
                <a:spcPct val="100000"/>
              </a:lnSpc>
            </a:pPr>
            <a:r>
              <a:rPr sz="800" b="0" i="0">
                <a:solidFill>
                  <a:srgbClr val="ECE7DC"/>
                </a:solidFill>
                <a:latin typeface="Consolas"/>
              </a:rPr>
              <a:t>    │   │   ├── 0107_add_esp32er_demo_prompts.py</a:t>
            </a:r>
          </a:p>
          <a:p>
            <a:pPr algn="l">
              <a:lnSpc>
                <a:spcPct val="100000"/>
              </a:lnSpc>
            </a:pPr>
            <a:r>
              <a:rPr sz="800" b="0" i="0">
                <a:solidFill>
                  <a:srgbClr val="ECE7DC"/>
                </a:solidFill>
                <a:latin typeface="Consolas"/>
              </a:rPr>
              <a:t>    │   │   ├── 0108_add_flow_making_demo_prompt.py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148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11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1,688 tracked files at commit 113eddc4;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0109_add_arduiner.py</a:t>
            </a:r>
          </a:p>
          <a:p>
            <a:pPr algn="l">
              <a:lnSpc>
                <a:spcPct val="100000"/>
              </a:lnSpc>
            </a:pPr>
            <a:r>
              <a:rPr sz="800" b="0" i="0">
                <a:solidFill>
                  <a:srgbClr val="ECE7DC"/>
                </a:solidFill>
                <a:latin typeface="Consolas"/>
              </a:rPr>
              <a:t>    │   │   ├── 0110_add_chat_agent_arduiner_tool.py</a:t>
            </a:r>
          </a:p>
          <a:p>
            <a:pPr algn="l">
              <a:lnSpc>
                <a:spcPct val="100000"/>
              </a:lnSpc>
            </a:pPr>
            <a:r>
              <a:rPr sz="800" b="0" i="0">
                <a:solidFill>
                  <a:srgbClr val="ECE7DC"/>
                </a:solidFill>
                <a:latin typeface="Consolas"/>
              </a:rPr>
              <a:t>    │   │   ├── 0111_add_arduiner_demo_prompts.py</a:t>
            </a:r>
          </a:p>
          <a:p>
            <a:pPr algn="l">
              <a:lnSpc>
                <a:spcPct val="100000"/>
              </a:lnSpc>
            </a:pPr>
            <a:r>
              <a:rPr sz="800" b="0" i="0">
                <a:solidFill>
                  <a:srgbClr val="ECE7DC"/>
                </a:solidFill>
                <a:latin typeface="Consolas"/>
              </a:rPr>
              <a:t>    │   │   ├── 0112_add_camcorder.py</a:t>
            </a:r>
          </a:p>
          <a:p>
            <a:pPr algn="l">
              <a:lnSpc>
                <a:spcPct val="100000"/>
              </a:lnSpc>
            </a:pPr>
            <a:r>
              <a:rPr sz="800" b="0" i="0">
                <a:solidFill>
                  <a:srgbClr val="ECE7DC"/>
                </a:solidFill>
                <a:latin typeface="Consolas"/>
              </a:rPr>
              <a:t>    │   │   ├── 0113_add_chat_agent_camcorder_tool.py</a:t>
            </a:r>
          </a:p>
          <a:p>
            <a:pPr algn="l">
              <a:lnSpc>
                <a:spcPct val="100000"/>
              </a:lnSpc>
            </a:pPr>
            <a:r>
              <a:rPr sz="800" b="0" i="0">
                <a:solidFill>
                  <a:srgbClr val="ECE7DC"/>
                </a:solidFill>
                <a:latin typeface="Consolas"/>
              </a:rPr>
              <a:t>    │   │   ├── 0114_add_recorder.py</a:t>
            </a:r>
          </a:p>
          <a:p>
            <a:pPr algn="l">
              <a:lnSpc>
                <a:spcPct val="100000"/>
              </a:lnSpc>
            </a:pPr>
            <a:r>
              <a:rPr sz="800" b="0" i="0">
                <a:solidFill>
                  <a:srgbClr val="ECE7DC"/>
                </a:solidFill>
                <a:latin typeface="Consolas"/>
              </a:rPr>
              <a:t>    │   │   ├── 0115_add_chat_agent_recorder_tool.py</a:t>
            </a:r>
          </a:p>
          <a:p>
            <a:pPr algn="l">
              <a:lnSpc>
                <a:spcPct val="100000"/>
              </a:lnSpc>
            </a:pPr>
            <a:r>
              <a:rPr sz="800" b="0" i="0">
                <a:solidFill>
                  <a:srgbClr val="ECE7DC"/>
                </a:solidFill>
                <a:latin typeface="Consolas"/>
              </a:rPr>
              <a:t>    │   │   ├── 0116_add_audioplayer.py</a:t>
            </a:r>
          </a:p>
          <a:p>
            <a:pPr algn="l">
              <a:lnSpc>
                <a:spcPct val="100000"/>
              </a:lnSpc>
            </a:pPr>
            <a:r>
              <a:rPr sz="800" b="0" i="0">
                <a:solidFill>
                  <a:srgbClr val="ECE7DC"/>
                </a:solidFill>
                <a:latin typeface="Consolas"/>
              </a:rPr>
              <a:t>    │   │   ├── 0117_add_chat_agent_audioplayer_tool.py</a:t>
            </a:r>
          </a:p>
          <a:p>
            <a:pPr algn="l">
              <a:lnSpc>
                <a:spcPct val="100000"/>
              </a:lnSpc>
            </a:pPr>
            <a:r>
              <a:rPr sz="800" b="0" i="0">
                <a:solidFill>
                  <a:srgbClr val="ECE7DC"/>
                </a:solidFill>
                <a:latin typeface="Consolas"/>
              </a:rPr>
              <a:t>    │   │   ├── 0118_add_videoplayer.py</a:t>
            </a:r>
          </a:p>
          <a:p>
            <a:pPr algn="l">
              <a:lnSpc>
                <a:spcPct val="100000"/>
              </a:lnSpc>
            </a:pPr>
            <a:r>
              <a:rPr sz="800" b="0" i="0">
                <a:solidFill>
                  <a:srgbClr val="ECE7DC"/>
                </a:solidFill>
                <a:latin typeface="Consolas"/>
              </a:rPr>
              <a:t>    │   │   ├── 0119_add_chat_agent_videoplayer_tool.py</a:t>
            </a:r>
          </a:p>
          <a:p>
            <a:pPr algn="l">
              <a:lnSpc>
                <a:spcPct val="100000"/>
              </a:lnSpc>
            </a:pPr>
            <a:r>
              <a:rPr sz="800" b="0" i="0">
                <a:solidFill>
                  <a:srgbClr val="ECE7DC"/>
                </a:solidFill>
                <a:latin typeface="Consolas"/>
              </a:rPr>
              <a:t>    │   │   ├── 0120_add_talker.py</a:t>
            </a:r>
          </a:p>
          <a:p>
            <a:pPr algn="l">
              <a:lnSpc>
                <a:spcPct val="100000"/>
              </a:lnSpc>
            </a:pPr>
            <a:r>
              <a:rPr sz="800" b="0" i="0">
                <a:solidFill>
                  <a:srgbClr val="ECE7DC"/>
                </a:solidFill>
                <a:latin typeface="Consolas"/>
              </a:rPr>
              <a:t>    │   │   ├── 0121_add_chat_agent_talker_tool.py</a:t>
            </a:r>
          </a:p>
          <a:p>
            <a:pPr algn="l">
              <a:lnSpc>
                <a:spcPct val="100000"/>
              </a:lnSpc>
            </a:pPr>
            <a:r>
              <a:rPr sz="800" b="0" i="0">
                <a:solidFill>
                  <a:srgbClr val="ECE7DC"/>
                </a:solidFill>
                <a:latin typeface="Consolas"/>
              </a:rPr>
              <a:t>    │   │   ├── 0122_add_talker_demo_prompt.py</a:t>
            </a:r>
          </a:p>
          <a:p>
            <a:pPr algn="l">
              <a:lnSpc>
                <a:spcPct val="100000"/>
              </a:lnSpc>
            </a:pPr>
            <a:r>
              <a:rPr sz="800" b="0" i="0">
                <a:solidFill>
                  <a:srgbClr val="ECE7DC"/>
                </a:solidFill>
                <a:latin typeface="Consolas"/>
              </a:rPr>
              <a:t>    │   │   ├── 0123_add_whisperer.py</a:t>
            </a:r>
          </a:p>
          <a:p>
            <a:pPr algn="l">
              <a:lnSpc>
                <a:spcPct val="100000"/>
              </a:lnSpc>
            </a:pPr>
            <a:r>
              <a:rPr sz="800" b="0" i="0">
                <a:solidFill>
                  <a:srgbClr val="ECE7DC"/>
                </a:solidFill>
                <a:latin typeface="Consolas"/>
              </a:rPr>
              <a:t>    │   │   ├── 0124_add_chat_agent_whisperer_tool.py</a:t>
            </a:r>
          </a:p>
          <a:p>
            <a:pPr algn="l">
              <a:lnSpc>
                <a:spcPct val="100000"/>
              </a:lnSpc>
            </a:pPr>
            <a:r>
              <a:rPr sz="800" b="0" i="0">
                <a:solidFill>
                  <a:srgbClr val="ECE7DC"/>
                </a:solidFill>
                <a:latin typeface="Consolas"/>
              </a:rPr>
              <a:t>    │   │   ├── 0125_add_whisperer_demo_prompt.py</a:t>
            </a:r>
          </a:p>
          <a:p>
            <a:pPr algn="l">
              <a:lnSpc>
                <a:spcPct val="100000"/>
              </a:lnSpc>
            </a:pPr>
            <a:r>
              <a:rPr sz="800" b="0" i="0">
                <a:solidFill>
                  <a:srgbClr val="ECE7DC"/>
                </a:solidFill>
                <a:latin typeface="Consolas"/>
              </a:rPr>
              <a:t>    │   │   ├── 0126_add_blenderer.py</a:t>
            </a:r>
          </a:p>
          <a:p>
            <a:pPr algn="l">
              <a:lnSpc>
                <a:spcPct val="100000"/>
              </a:lnSpc>
            </a:pPr>
            <a:r>
              <a:rPr sz="800" b="0" i="0">
                <a:solidFill>
                  <a:srgbClr val="ECE7DC"/>
                </a:solidFill>
                <a:latin typeface="Consolas"/>
              </a:rPr>
              <a:t>    │   │   ├── 0127_add_chat_agent_blenderer_tool.py</a:t>
            </a:r>
          </a:p>
          <a:p>
            <a:pPr algn="l">
              <a:lnSpc>
                <a:spcPct val="100000"/>
              </a:lnSpc>
            </a:pPr>
            <a:r>
              <a:rPr sz="800" b="0" i="0">
                <a:solidFill>
                  <a:srgbClr val="ECE7DC"/>
                </a:solidFill>
                <a:latin typeface="Consolas"/>
              </a:rPr>
              <a:t>    │   │   ├── 0128_add_blenderer_demo_prompts.py</a:t>
            </a:r>
          </a:p>
          <a:p>
            <a:pPr algn="l">
              <a:lnSpc>
                <a:spcPct val="100000"/>
              </a:lnSpc>
            </a:pPr>
            <a:r>
              <a:rPr sz="800" b="0" i="0">
                <a:solidFill>
                  <a:srgbClr val="ECE7DC"/>
                </a:solidFill>
                <a:latin typeface="Consolas"/>
              </a:rPr>
              <a:t>    │   │   ├── 0129_add_editor.py</a:t>
            </a:r>
          </a:p>
          <a:p>
            <a:pPr algn="l">
              <a:lnSpc>
                <a:spcPct val="100000"/>
              </a:lnSpc>
            </a:pPr>
            <a:r>
              <a:rPr sz="800" b="0" i="0">
                <a:solidFill>
                  <a:srgbClr val="ECE7DC"/>
                </a:solidFill>
                <a:latin typeface="Consolas"/>
              </a:rPr>
              <a:t>    │   │   ├── 0130_add_chat_agent_editor_tool.py</a:t>
            </a:r>
          </a:p>
          <a:p>
            <a:pPr algn="l">
              <a:lnSpc>
                <a:spcPct val="100000"/>
              </a:lnSpc>
            </a:pPr>
            <a:r>
              <a:rPr sz="800" b="0" i="0">
                <a:solidFill>
                  <a:srgbClr val="ECE7DC"/>
                </a:solidFill>
                <a:latin typeface="Consolas"/>
              </a:rPr>
              <a:t>    │   │   ├── 0131_add_editor_demo_prompts.py</a:t>
            </a:r>
          </a:p>
          <a:p>
            <a:pPr algn="l">
              <a:lnSpc>
                <a:spcPct val="100000"/>
              </a:lnSpc>
            </a:pPr>
            <a:r>
              <a:rPr sz="800" b="0" i="0">
                <a:solidFill>
                  <a:srgbClr val="ECE7DC"/>
                </a:solidFill>
                <a:latin typeface="Consolas"/>
              </a:rPr>
              <a:t>    │   │   ├── 0132_add_grepper.py</a:t>
            </a:r>
          </a:p>
          <a:p>
            <a:pPr algn="l">
              <a:lnSpc>
                <a:spcPct val="100000"/>
              </a:lnSpc>
            </a:pPr>
            <a:r>
              <a:rPr sz="800" b="0" i="0">
                <a:solidFill>
                  <a:srgbClr val="ECE7DC"/>
                </a:solidFill>
                <a:latin typeface="Consolas"/>
              </a:rPr>
              <a:t>    │   │   ├── 0133_add_chat_agent_grepper_tool.py</a:t>
            </a:r>
          </a:p>
          <a:p>
            <a:pPr algn="l">
              <a:lnSpc>
                <a:spcPct val="100000"/>
              </a:lnSpc>
            </a:pPr>
            <a:r>
              <a:rPr sz="800" b="0" i="0">
                <a:solidFill>
                  <a:srgbClr val="ECE7DC"/>
                </a:solidFill>
                <a:latin typeface="Consolas"/>
              </a:rPr>
              <a:t>    │   │   ├── 0134_add_grepper_demo_prompts.py</a:t>
            </a:r>
          </a:p>
          <a:p>
            <a:pPr algn="l">
              <a:lnSpc>
                <a:spcPct val="100000"/>
              </a:lnSpc>
            </a:pPr>
            <a:r>
              <a:rPr sz="800" b="0" i="0">
                <a:solidFill>
                  <a:srgbClr val="ECE7DC"/>
                </a:solidFill>
                <a:latin typeface="Consolas"/>
              </a:rPr>
              <a:t>    │   │   ├── 0135_add_globber.py</a:t>
            </a:r>
          </a:p>
          <a:p>
            <a:pPr algn="l">
              <a:lnSpc>
                <a:spcPct val="100000"/>
              </a:lnSpc>
            </a:pPr>
            <a:r>
              <a:rPr sz="800" b="0" i="0">
                <a:solidFill>
                  <a:srgbClr val="ECE7DC"/>
                </a:solidFill>
                <a:latin typeface="Consolas"/>
              </a:rPr>
              <a:t>    │   │   ├── 0136_add_chat_agent_globber_tool.py</a:t>
            </a:r>
          </a:p>
          <a:p>
            <a:pPr algn="l">
              <a:lnSpc>
                <a:spcPct val="100000"/>
              </a:lnSpc>
            </a:pPr>
            <a:r>
              <a:rPr sz="800" b="0" i="0">
                <a:solidFill>
                  <a:srgbClr val="ECE7DC"/>
                </a:solidFill>
                <a:latin typeface="Consolas"/>
              </a:rPr>
              <a:t>    │   │   ├── 0137_add_globber_demo_prompts.py</a:t>
            </a:r>
          </a:p>
          <a:p>
            <a:pPr algn="l">
              <a:lnSpc>
                <a:spcPct val="100000"/>
              </a:lnSpc>
            </a:pPr>
            <a:r>
              <a:rPr sz="800" b="0" i="0">
                <a:solidFill>
                  <a:srgbClr val="ECE7DC"/>
                </a:solidFill>
                <a:latin typeface="Consolas"/>
              </a:rPr>
              <a:t>    │   │   ├── 0138_add_esphomer.py</a:t>
            </a:r>
          </a:p>
          <a:p>
            <a:pPr algn="l">
              <a:lnSpc>
                <a:spcPct val="100000"/>
              </a:lnSpc>
            </a:pPr>
            <a:r>
              <a:rPr sz="800" b="0" i="0">
                <a:solidFill>
                  <a:srgbClr val="ECE7DC"/>
                </a:solidFill>
                <a:latin typeface="Consolas"/>
              </a:rPr>
              <a:t>    │   │   ├── 0139_add_chat_agent_esphomer_tool.py</a:t>
            </a:r>
          </a:p>
          <a:p>
            <a:pPr algn="l">
              <a:lnSpc>
                <a:spcPct val="100000"/>
              </a:lnSpc>
            </a:pPr>
            <a:r>
              <a:rPr sz="800" b="0" i="0">
                <a:solidFill>
                  <a:srgbClr val="ECE7DC"/>
                </a:solidFill>
                <a:latin typeface="Consolas"/>
              </a:rPr>
              <a:t>    │   │   ├── 0140_add_esphomer_demo_prompts.py</a:t>
            </a:r>
          </a:p>
          <a:p>
            <a:pPr algn="l">
              <a:lnSpc>
                <a:spcPct val="100000"/>
              </a:lnSpc>
            </a:pPr>
            <a:r>
              <a:rPr sz="800" b="0" i="0">
                <a:solidFill>
                  <a:srgbClr val="ECE7DC"/>
                </a:solidFill>
                <a:latin typeface="Consolas"/>
              </a:rPr>
              <a:t>    │   │   ├── 0141_add_mcp_doctor.py</a:t>
            </a:r>
          </a:p>
          <a:p>
            <a:pPr algn="l">
              <a:lnSpc>
                <a:spcPct val="100000"/>
              </a:lnSpc>
            </a:pPr>
            <a:r>
              <a:rPr sz="800" b="0" i="0">
                <a:solidFill>
                  <a:srgbClr val="ECE7DC"/>
                </a:solidFill>
                <a:latin typeface="Consolas"/>
              </a:rPr>
              <a:t>    │   │   ├── 0142_add_chat_agent_mcp_doctor_tool.py</a:t>
            </a:r>
          </a:p>
          <a:p>
            <a:pPr algn="l">
              <a:lnSpc>
                <a:spcPct val="100000"/>
              </a:lnSpc>
            </a:pPr>
            <a:r>
              <a:rPr sz="800" b="0" i="0">
                <a:solidFill>
                  <a:srgbClr val="ECE7DC"/>
                </a:solidFill>
                <a:latin typeface="Consolas"/>
              </a:rPr>
              <a:t>    │   │   ├── 0143_add_mcp_doctor_demo_prompt.py</a:t>
            </a:r>
          </a:p>
          <a:p>
            <a:pPr algn="l">
              <a:lnSpc>
                <a:spcPct val="100000"/>
              </a:lnSpc>
            </a:pPr>
            <a:r>
              <a:rPr sz="800" b="0" i="0">
                <a:solidFill>
                  <a:srgbClr val="ECE7DC"/>
                </a:solidFill>
                <a:latin typeface="Consolas"/>
              </a:rPr>
              <a:t>    │   │   ├── 0144_insert_java17_maven_demo_prompt_at_</a:t>
            </a:r>
          </a:p>
          <a:p>
            <a:pPr algn="l">
              <a:lnSpc>
                <a:spcPct val="100000"/>
              </a:lnSpc>
            </a:pPr>
            <a:r>
              <a:rPr sz="800" b="0" i="0">
                <a:solidFill>
                  <a:srgbClr val="ECE7DC"/>
                </a:solidFill>
                <a:latin typeface="Consolas"/>
              </a:rPr>
              <a:t>    │   │   │     » 5.py</a:t>
            </a:r>
          </a:p>
          <a:p>
            <a:pPr algn="l">
              <a:lnSpc>
                <a:spcPct val="100000"/>
              </a:lnSpc>
            </a:pPr>
            <a:r>
              <a:rPr sz="800" b="0" i="0">
                <a:solidFill>
                  <a:srgbClr val="ECE7DC"/>
                </a:solidFill>
                <a:latin typeface="Consolas"/>
              </a:rPr>
              <a:t>    │   │   ├── 0145_insert_createsuperuser_wizard_promp</a:t>
            </a:r>
          </a:p>
          <a:p>
            <a:pPr algn="l">
              <a:lnSpc>
                <a:spcPct val="100000"/>
              </a:lnSpc>
            </a:pPr>
            <a:r>
              <a:rPr sz="800" b="0" i="0">
                <a:solidFill>
                  <a:srgbClr val="ECE7DC"/>
                </a:solidFill>
                <a:latin typeface="Consolas"/>
              </a:rPr>
              <a:t>    │   │   │     » t_at_1.py</a:t>
            </a:r>
          </a:p>
          <a:p>
            <a:pPr algn="l">
              <a:lnSpc>
                <a:spcPct val="100000"/>
              </a:lnSpc>
            </a:pPr>
            <a:r>
              <a:rPr sz="800" b="0" i="0">
                <a:solidFill>
                  <a:srgbClr val="ECE7DC"/>
                </a:solidFill>
                <a:latin typeface="Consolas"/>
              </a:rPr>
              <a:t>    │   │   ├── 0146_update_createsuperuser_wizard_conti</a:t>
            </a:r>
          </a:p>
          <a:p>
            <a:pPr algn="l">
              <a:lnSpc>
                <a:spcPct val="100000"/>
              </a:lnSpc>
            </a:pPr>
            <a:r>
              <a:rPr sz="800" b="0" i="0">
                <a:solidFill>
                  <a:srgbClr val="ECE7DC"/>
                </a:solidFill>
                <a:latin typeface="Consolas"/>
              </a:rPr>
              <a:t>    │   │   │     » nuation.py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0147_add_unreal_game_demo_prompts.py</a:t>
            </a:r>
          </a:p>
          <a:p>
            <a:pPr algn="l">
              <a:lnSpc>
                <a:spcPct val="100000"/>
              </a:lnSpc>
            </a:pPr>
            <a:r>
              <a:rPr sz="800" b="0" i="0">
                <a:solidFill>
                  <a:srgbClr val="ECE7DC"/>
                </a:solidFill>
                <a:latin typeface="Consolas"/>
              </a:rPr>
              <a:t>    │   │   ├── 0148_add_discoverer_demo_prompts.py</a:t>
            </a:r>
          </a:p>
          <a:p>
            <a:pPr algn="l">
              <a:lnSpc>
                <a:spcPct val="100000"/>
              </a:lnSpc>
            </a:pPr>
            <a:r>
              <a:rPr sz="800" b="0" i="0">
                <a:solidFill>
                  <a:srgbClr val="ECE7DC"/>
                </a:solidFill>
                <a:latin typeface="Consolas"/>
              </a:rPr>
              <a:t>    │   │   ├── 0149_add_discoverer.py</a:t>
            </a:r>
          </a:p>
          <a:p>
            <a:pPr algn="l">
              <a:lnSpc>
                <a:spcPct val="100000"/>
              </a:lnSpc>
            </a:pPr>
            <a:r>
              <a:rPr sz="800" b="0" i="0">
                <a:solidFill>
                  <a:srgbClr val="ECE7DC"/>
                </a:solidFill>
                <a:latin typeface="Consolas"/>
              </a:rPr>
              <a:t>    │   │   ├── 0150_add_chat_agent_discoverer_tool.py</a:t>
            </a:r>
          </a:p>
          <a:p>
            <a:pPr algn="l">
              <a:lnSpc>
                <a:spcPct val="100000"/>
              </a:lnSpc>
            </a:pPr>
            <a:r>
              <a:rPr sz="800" b="0" i="0">
                <a:solidFill>
                  <a:srgbClr val="ECE7DC"/>
                </a:solidFill>
                <a:latin typeface="Consolas"/>
              </a:rPr>
              <a:t>    │   │   ├── 0151_retire_old_messaging_add_telegramme</a:t>
            </a:r>
          </a:p>
          <a:p>
            <a:pPr algn="l">
              <a:lnSpc>
                <a:spcPct val="100000"/>
              </a:lnSpc>
            </a:pPr>
            <a:r>
              <a:rPr sz="800" b="0" i="0">
                <a:solidFill>
                  <a:srgbClr val="ECE7DC"/>
                </a:solidFill>
                <a:latin typeface="Consolas"/>
              </a:rPr>
              <a:t>    │   │   │     » r.py</a:t>
            </a:r>
          </a:p>
          <a:p>
            <a:pPr algn="l">
              <a:lnSpc>
                <a:spcPct val="100000"/>
              </a:lnSpc>
            </a:pPr>
            <a:r>
              <a:rPr sz="800" b="0" i="0">
                <a:solidFill>
                  <a:srgbClr val="ECE7DC"/>
                </a:solidFill>
                <a:latin typeface="Consolas"/>
              </a:rPr>
              <a:t>    │   │   ├── 0152_add_instant_messaging_doctor.py</a:t>
            </a:r>
          </a:p>
          <a:p>
            <a:pPr algn="l">
              <a:lnSpc>
                <a:spcPct val="100000"/>
              </a:lnSpc>
            </a:pPr>
            <a:r>
              <a:rPr sz="800" b="0" i="0">
                <a:solidFill>
                  <a:srgbClr val="ECE7DC"/>
                </a:solidFill>
                <a:latin typeface="Consolas"/>
              </a:rPr>
              <a:t>    │   │   ├── 0153_add_chat_agent_instant_messaging_do</a:t>
            </a:r>
          </a:p>
          <a:p>
            <a:pPr algn="l">
              <a:lnSpc>
                <a:spcPct val="100000"/>
              </a:lnSpc>
            </a:pPr>
            <a:r>
              <a:rPr sz="800" b="0" i="0">
                <a:solidFill>
                  <a:srgbClr val="ECE7DC"/>
                </a:solidFill>
                <a:latin typeface="Consolas"/>
              </a:rPr>
              <a:t>    │   │   │     » ctor_tool.py</a:t>
            </a:r>
          </a:p>
          <a:p>
            <a:pPr algn="l">
              <a:lnSpc>
                <a:spcPct val="100000"/>
              </a:lnSpc>
            </a:pPr>
            <a:r>
              <a:rPr sz="800" b="0" i="0">
                <a:solidFill>
                  <a:srgbClr val="ECE7DC"/>
                </a:solidFill>
                <a:latin typeface="Consolas"/>
              </a:rPr>
              <a:t>    │   │   ├── 0154_add_instant_messaging_doctor_demo_p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0155_add_contact_scaffold_demo_prompt.py</a:t>
            </a:r>
          </a:p>
          <a:p>
            <a:pPr algn="l">
              <a:lnSpc>
                <a:spcPct val="100000"/>
              </a:lnSpc>
            </a:pPr>
            <a:r>
              <a:rPr sz="800" b="0" i="0">
                <a:solidFill>
                  <a:srgbClr val="ECE7DC"/>
                </a:solidFill>
                <a:latin typeface="Consolas"/>
              </a:rPr>
              <a:t>    │   │   ├── 0156_add_telegrammer_identity_demo_promp</a:t>
            </a:r>
          </a:p>
          <a:p>
            <a:pPr algn="l">
              <a:lnSpc>
                <a:spcPct val="100000"/>
              </a:lnSpc>
            </a:pPr>
            <a:r>
              <a:rPr sz="800" b="0" i="0">
                <a:solidFill>
                  <a:srgbClr val="ECE7DC"/>
                </a:solidFill>
                <a:latin typeface="Consolas"/>
              </a:rPr>
              <a:t>    │   │   │     » ts.py</a:t>
            </a:r>
          </a:p>
          <a:p>
            <a:pPr algn="l">
              <a:lnSpc>
                <a:spcPct val="100000"/>
              </a:lnSpc>
            </a:pPr>
            <a:r>
              <a:rPr sz="800" b="0" i="0">
                <a:solidFill>
                  <a:srgbClr val="ECE7DC"/>
                </a:solidFill>
                <a:latin typeface="Consolas"/>
              </a:rPr>
              <a:t>    │   │   ├── 0157_add_whatsapper_identity_demo_prompt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0158_redesign_messaging_demo_prompts.py</a:t>
            </a:r>
          </a:p>
          <a:p>
            <a:pPr algn="l">
              <a:lnSpc>
                <a:spcPct val="100000"/>
              </a:lnSpc>
            </a:pPr>
            <a:r>
              <a:rPr sz="800" b="0" i="0">
                <a:solidFill>
                  <a:srgbClr val="ECE7DC"/>
                </a:solidFill>
                <a:latin typeface="Consolas"/>
              </a:rPr>
              <a:t>    │   │   ├── 0159_add_zavuerer.py</a:t>
            </a:r>
          </a:p>
          <a:p>
            <a:pPr algn="l">
              <a:lnSpc>
                <a:spcPct val="100000"/>
              </a:lnSpc>
            </a:pPr>
            <a:r>
              <a:rPr sz="800" b="0" i="0">
                <a:solidFill>
                  <a:srgbClr val="ECE7DC"/>
                </a:solidFill>
                <a:latin typeface="Consolas"/>
              </a:rPr>
              <a:t>    │   │   ├── 0160_add_chat_agent_zavuerer_tool.py</a:t>
            </a:r>
          </a:p>
          <a:p>
            <a:pPr algn="l">
              <a:lnSpc>
                <a:spcPct val="100000"/>
              </a:lnSpc>
            </a:pPr>
            <a:r>
              <a:rPr sz="800" b="0" i="0">
                <a:solidFill>
                  <a:srgbClr val="ECE7DC"/>
                </a:solidFill>
                <a:latin typeface="Consolas"/>
              </a:rPr>
              <a:t>    │   │   ├── 0161_add_zavuerer_demo_prompts.py</a:t>
            </a:r>
          </a:p>
          <a:p>
            <a:pPr algn="l">
              <a:lnSpc>
                <a:spcPct val="100000"/>
              </a:lnSpc>
            </a:pPr>
            <a:r>
              <a:rPr sz="800" b="0" i="0">
                <a:solidFill>
                  <a:srgbClr val="ECE7DC"/>
                </a:solidFill>
                <a:latin typeface="Consolas"/>
              </a:rPr>
              <a:t>    │   │   ├── 0162_add_zavuerer_catalog_prompts.py</a:t>
            </a:r>
          </a:p>
          <a:p>
            <a:pPr algn="l">
              <a:lnSpc>
                <a:spcPct val="100000"/>
              </a:lnSpc>
            </a:pPr>
            <a:r>
              <a:rPr sz="800" b="0" i="0">
                <a:solidFill>
                  <a:srgbClr val="ECE7DC"/>
                </a:solidFill>
                <a:latin typeface="Consolas"/>
              </a:rPr>
              <a:t>    │   │   ├── 0163_add_zavuerer_get_key_wizard_prompt.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0164_dedup_zavuerer_setup_wizards.py</a:t>
            </a:r>
          </a:p>
          <a:p>
            <a:pPr algn="l">
              <a:lnSpc>
                <a:spcPct val="100000"/>
              </a:lnSpc>
            </a:pPr>
            <a:r>
              <a:rPr sz="800" b="0" i="0">
                <a:solidFill>
                  <a:srgbClr val="ECE7DC"/>
                </a:solidFill>
                <a:latin typeface="Consolas"/>
              </a:rPr>
              <a:t>    │   │   ├── 0165_add_image_interpreter_triple_model_</a:t>
            </a:r>
          </a:p>
          <a:p>
            <a:pPr algn="l">
              <a:lnSpc>
                <a:spcPct val="100000"/>
              </a:lnSpc>
            </a:pPr>
            <a:r>
              <a:rPr sz="800" b="0" i="0">
                <a:solidFill>
                  <a:srgbClr val="ECE7DC"/>
                </a:solidFill>
                <a:latin typeface="Consolas"/>
              </a:rPr>
              <a:t>    │   │   │     » demo_prompt.py</a:t>
            </a:r>
          </a:p>
          <a:p>
            <a:pPr algn="l">
              <a:lnSpc>
                <a:spcPct val="100000"/>
              </a:lnSpc>
            </a:pPr>
            <a:r>
              <a:rPr sz="800" b="0" i="0">
                <a:solidFill>
                  <a:srgbClr val="ECE7DC"/>
                </a:solidFill>
                <a:latin typeface="Consolas"/>
              </a:rPr>
              <a:t>    │   │   ├── 0166_add_video_analyzer.py</a:t>
            </a:r>
          </a:p>
          <a:p>
            <a:pPr algn="l">
              <a:lnSpc>
                <a:spcPct val="100000"/>
              </a:lnSpc>
            </a:pPr>
            <a:r>
              <a:rPr sz="800" b="0" i="0">
                <a:solidFill>
                  <a:srgbClr val="ECE7DC"/>
                </a:solidFill>
                <a:latin typeface="Consolas"/>
              </a:rPr>
              <a:t>    │   │   ├── 0167_add_chat_agent_video_analyzer_tool.</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0168_add_video_analyzer_demo_prompt.py</a:t>
            </a:r>
          </a:p>
          <a:p>
            <a:pPr algn="l">
              <a:lnSpc>
                <a:spcPct val="100000"/>
              </a:lnSpc>
            </a:pPr>
            <a:r>
              <a:rPr sz="800" b="0" i="0">
                <a:solidFill>
                  <a:srgbClr val="ECE7DC"/>
                </a:solidFill>
                <a:latin typeface="Consolas"/>
              </a:rPr>
              <a:t>    │   │   ├── 0169_add_discoverer_cvemap_latest_demo_p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0170_add_nmapper.py</a:t>
            </a:r>
          </a:p>
          <a:p>
            <a:pPr algn="l">
              <a:lnSpc>
                <a:spcPct val="100000"/>
              </a:lnSpc>
            </a:pPr>
            <a:r>
              <a:rPr sz="800" b="0" i="0">
                <a:solidFill>
                  <a:srgbClr val="ECE7DC"/>
                </a:solidFill>
                <a:latin typeface="Consolas"/>
              </a:rPr>
              <a:t>    │   │   ├── 0171_add_chat_agent_nmapper_tool.py</a:t>
            </a:r>
          </a:p>
          <a:p>
            <a:pPr algn="l">
              <a:lnSpc>
                <a:spcPct val="100000"/>
              </a:lnSpc>
            </a:pPr>
            <a:r>
              <a:rPr sz="800" b="0" i="0">
                <a:solidFill>
                  <a:srgbClr val="ECE7DC"/>
                </a:solidFill>
                <a:latin typeface="Consolas"/>
              </a:rPr>
              <a:t>    │   │   ├── 0172_add_nmapper_demo_prompts.py</a:t>
            </a:r>
          </a:p>
          <a:p>
            <a:pPr algn="l">
              <a:lnSpc>
                <a:spcPct val="100000"/>
              </a:lnSpc>
            </a:pPr>
            <a:r>
              <a:rPr sz="800" b="0" i="0">
                <a:solidFill>
                  <a:srgbClr val="ECE7DC"/>
                </a:solidFill>
                <a:latin typeface="Consolas"/>
              </a:rPr>
              <a:t>    │   │   ├── 0173_add_unreal_scaffold_demo_prompt.py</a:t>
            </a:r>
          </a:p>
          <a:p>
            <a:pPr algn="l">
              <a:lnSpc>
                <a:spcPct val="100000"/>
              </a:lnSpc>
            </a:pPr>
            <a:r>
              <a:rPr sz="800" b="0" i="0">
                <a:solidFill>
                  <a:srgbClr val="ECE7DC"/>
                </a:solidFill>
                <a:latin typeface="Consolas"/>
              </a:rPr>
              <a:t>    │   │   ├── 0174_unreal_scaffold_build_project_tip.p</a:t>
            </a:r>
          </a:p>
          <a:p>
            <a:pPr algn="l">
              <a:lnSpc>
                <a:spcPct val="100000"/>
              </a:lnSpc>
            </a:pPr>
            <a:r>
              <a:rPr sz="800" b="0" i="0">
                <a:solidFill>
                  <a:srgbClr val="ECE7DC"/>
                </a:solidFill>
                <a:latin typeface="Consolas"/>
              </a:rPr>
              <a:t>    │   │   │     » y</a:t>
            </a:r>
          </a:p>
          <a:p>
            <a:pPr algn="l">
              <a:lnSpc>
                <a:spcPct val="100000"/>
              </a:lnSpc>
            </a:pPr>
            <a:r>
              <a:rPr sz="800" b="0" i="0">
                <a:solidFill>
                  <a:srgbClr val="ECE7DC"/>
                </a:solidFill>
                <a:latin typeface="Consolas"/>
              </a:rPr>
              <a:t>    │   │   ├── 0175_prompt_category_and_dedup.py</a:t>
            </a:r>
          </a:p>
          <a:p>
            <a:pPr algn="l">
              <a:lnSpc>
                <a:spcPct val="100000"/>
              </a:lnSpc>
            </a:pPr>
            <a:r>
              <a:rPr sz="800" b="0" i="0">
                <a:solidFill>
                  <a:srgbClr val="ECE7DC"/>
                </a:solidFill>
                <a:latin typeface="Consolas"/>
              </a:rPr>
              <a:t>    │   │   ├── 0176_delete_duplicate_acpx_prompts.py</a:t>
            </a:r>
          </a:p>
          <a:p>
            <a:pPr algn="l">
              <a:lnSpc>
                <a:spcPct val="100000"/>
              </a:lnSpc>
            </a:pPr>
            <a:r>
              <a:rPr sz="800" b="0" i="0">
                <a:solidFill>
                  <a:srgbClr val="ECE7DC"/>
                </a:solidFill>
                <a:latin typeface="Consolas"/>
              </a:rPr>
              <a:t>    │   │   ├── 0177_add_stm32er_platformio_demo_prompt.</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0178_add_stm32_stepwise_blink_camera_pro</a:t>
            </a:r>
          </a:p>
          <a:p>
            <a:pPr algn="l">
              <a:lnSpc>
                <a:spcPct val="100000"/>
              </a:lnSpc>
            </a:pPr>
            <a:r>
              <a:rPr sz="800" b="0" i="0">
                <a:solidFill>
                  <a:srgbClr val="ECE7DC"/>
                </a:solidFill>
                <a:latin typeface="Consolas"/>
              </a:rPr>
              <a:t>    │   │   │     » mpts.py</a:t>
            </a:r>
          </a:p>
          <a:p>
            <a:pPr algn="l">
              <a:lnSpc>
                <a:spcPct val="100000"/>
              </a:lnSpc>
            </a:pPr>
            <a:r>
              <a:rPr sz="800" b="0" i="0">
                <a:solidFill>
                  <a:srgbClr val="ECE7DC"/>
                </a:solidFill>
                <a:latin typeface="Consolas"/>
              </a:rPr>
              <a:t>    │   │   ├── 0179_regroup_resort_prompts_no_gaps.py</a:t>
            </a:r>
          </a:p>
          <a:p>
            <a:pPr algn="l">
              <a:lnSpc>
                <a:spcPct val="100000"/>
              </a:lnSpc>
            </a:pPr>
            <a:r>
              <a:rPr sz="800" b="0" i="0">
                <a:solidFill>
                  <a:srgbClr val="ECE7DC"/>
                </a:solidFill>
                <a:latin typeface="Consolas"/>
              </a:rPr>
              <a:t>    │   │   ├── 0180_add_kalier_setup_wizard_prompt.py</a:t>
            </a:r>
          </a:p>
          <a:p>
            <a:pPr algn="l">
              <a:lnSpc>
                <a:spcPct val="100000"/>
              </a:lnSpc>
            </a:pPr>
            <a:r>
              <a:rPr sz="800" b="0" i="0">
                <a:solidFill>
                  <a:srgbClr val="ECE7DC"/>
                </a:solidFill>
                <a:latin typeface="Consolas"/>
              </a:rPr>
              <a:t>    │   │   ├── 0181_prompt_sort_rank.py</a:t>
            </a:r>
          </a:p>
          <a:p>
            <a:pPr algn="l">
              <a:lnSpc>
                <a:spcPct val="100000"/>
              </a:lnSpc>
            </a:pPr>
            <a:r>
              <a:rPr sz="800" b="0" i="0">
                <a:solidFill>
                  <a:srgbClr val="ECE7DC"/>
                </a:solidFill>
                <a:latin typeface="Consolas"/>
              </a:rPr>
              <a:t>    │   │   ├── 0182_add_step_by_step_section_openers.py</a:t>
            </a:r>
          </a:p>
          <a:p>
            <a:pPr algn="l">
              <a:lnSpc>
                <a:spcPct val="100000"/>
              </a:lnSpc>
            </a:pPr>
            <a:r>
              <a:rPr sz="800" b="0" i="0">
                <a:solidFill>
                  <a:srgbClr val="ECE7DC"/>
                </a:solidFill>
                <a:latin typeface="Consolas"/>
              </a:rPr>
              <a:t>    │   │   ├── 0183_standardize_security_recon_prompts.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0184_standardize_prompt_params_batch2.py</a:t>
            </a:r>
          </a:p>
          <a:p>
            <a:pPr algn="l">
              <a:lnSpc>
                <a:spcPct val="100000"/>
              </a:lnSpc>
            </a:pPr>
            <a:r>
              <a:rPr sz="800" b="0" i="0">
                <a:solidFill>
                  <a:srgbClr val="ECE7DC"/>
                </a:solidFill>
                <a:latin typeface="Consolas"/>
              </a:rPr>
              <a:t>    │   │   ├── 0185_standardize_prompt_params_batch3.py</a:t>
            </a:r>
          </a:p>
          <a:p>
            <a:pPr algn="l">
              <a:lnSpc>
                <a:spcPct val="100000"/>
              </a:lnSpc>
            </a:pPr>
            <a:r>
              <a:rPr sz="800" b="0" i="0">
                <a:solidFill>
                  <a:srgbClr val="ECE7DC"/>
                </a:solidFill>
                <a:latin typeface="Consolas"/>
              </a:rPr>
              <a:t>    │   │   ├── 0186_add_chat_agent_flowcreator.py</a:t>
            </a:r>
          </a:p>
          <a:p>
            <a:pPr algn="l">
              <a:lnSpc>
                <a:spcPct val="100000"/>
              </a:lnSpc>
            </a:pPr>
            <a:r>
              <a:rPr sz="800" b="0" i="0">
                <a:solidFill>
                  <a:srgbClr val="ECE7DC"/>
                </a:solidFill>
                <a:latin typeface="Consolas"/>
              </a:rPr>
              <a:t>    │   │   ├── 0187_add_flowcreator_end_to_end_wizard_p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0188_add_pdfer.py</a:t>
            </a:r>
          </a:p>
          <a:p>
            <a:pPr algn="l">
              <a:lnSpc>
                <a:spcPct val="100000"/>
              </a:lnSpc>
            </a:pPr>
            <a:r>
              <a:rPr sz="800" b="0" i="0">
                <a:solidFill>
                  <a:srgbClr val="ECE7DC"/>
                </a:solidFill>
                <a:latin typeface="Consolas"/>
              </a:rPr>
              <a:t>    │   │   ├── 0189_add_chat_agent_pdfer_tool.py</a:t>
            </a:r>
          </a:p>
          <a:p>
            <a:pPr algn="l">
              <a:lnSpc>
                <a:spcPct val="100000"/>
              </a:lnSpc>
            </a:pPr>
            <a:r>
              <a:rPr sz="800" b="0" i="0">
                <a:solidFill>
                  <a:srgbClr val="ECE7DC"/>
                </a:solidFill>
                <a:latin typeface="Consolas"/>
              </a:rPr>
              <a:t>    │   │   ├── 0190_add_pdfer_demo_prompts.py</a:t>
            </a:r>
          </a:p>
          <a:p>
            <a:pPr algn="l">
              <a:lnSpc>
                <a:spcPct val="100000"/>
              </a:lnSpc>
            </a:pPr>
            <a:r>
              <a:rPr sz="800" b="0" i="0">
                <a:solidFill>
                  <a:srgbClr val="ECE7DC"/>
                </a:solidFill>
                <a:latin typeface="Consolas"/>
              </a:rPr>
              <a:t>    │   │   ├── 0191_add_latexer.py</a:t>
            </a:r>
          </a:p>
          <a:p>
            <a:pPr algn="l">
              <a:lnSpc>
                <a:spcPct val="100000"/>
              </a:lnSpc>
            </a:pPr>
            <a:r>
              <a:rPr sz="800" b="0" i="0">
                <a:solidFill>
                  <a:srgbClr val="ECE7DC"/>
                </a:solidFill>
                <a:latin typeface="Consolas"/>
              </a:rPr>
              <a:t>    │   │   ├── 0192_add_chat_agent_latexer_tool.py</a:t>
            </a:r>
          </a:p>
          <a:p>
            <a:pPr algn="l">
              <a:lnSpc>
                <a:spcPct val="100000"/>
              </a:lnSpc>
            </a:pPr>
            <a:r>
              <a:rPr sz="800" b="0" i="0">
                <a:solidFill>
                  <a:srgbClr val="ECE7DC"/>
                </a:solidFill>
                <a:latin typeface="Consolas"/>
              </a:rPr>
              <a:t>    │   │   ├── 0193_add_latexer_demo_prompts.py</a:t>
            </a:r>
          </a:p>
          <a:p>
            <a:pPr algn="l">
              <a:lnSpc>
                <a:spcPct val="100000"/>
              </a:lnSpc>
            </a:pPr>
            <a:r>
              <a:rPr sz="800" b="0" i="0">
                <a:solidFill>
                  <a:srgbClr val="ECE7DC"/>
                </a:solidFill>
                <a:latin typeface="Consolas"/>
              </a:rPr>
              <a:t>    │   │   ├── 0194_add_deep_research_demo_prompt.py</a:t>
            </a:r>
          </a:p>
          <a:p>
            <a:pPr algn="l">
              <a:lnSpc>
                <a:spcPct val="100000"/>
              </a:lnSpc>
            </a:pPr>
            <a:r>
              <a:rPr sz="800" b="0" i="0">
                <a:solidFill>
                  <a:srgbClr val="ECE7DC"/>
                </a:solidFill>
                <a:latin typeface="Consolas"/>
              </a:rPr>
              <a:t>    │   │   ├── 0195_add_netspeed_calculator.py</a:t>
            </a:r>
          </a:p>
          <a:p>
            <a:pPr algn="l">
              <a:lnSpc>
                <a:spcPct val="100000"/>
              </a:lnSpc>
            </a:pPr>
            <a:r>
              <a:rPr sz="800" b="0" i="0">
                <a:solidFill>
                  <a:srgbClr val="ECE7DC"/>
                </a:solidFill>
                <a:latin typeface="Consolas"/>
              </a:rPr>
              <a:t>    │   │   ├── 0196_add_chat_agent_netspeed_calculator_</a:t>
            </a:r>
          </a:p>
          <a:p>
            <a:pPr algn="l">
              <a:lnSpc>
                <a:spcPct val="100000"/>
              </a:lnSpc>
            </a:pPr>
            <a:r>
              <a:rPr sz="800" b="0" i="0">
                <a:solidFill>
                  <a:srgbClr val="ECE7DC"/>
                </a:solidFill>
                <a:latin typeface="Consolas"/>
              </a:rPr>
              <a:t>    │   │   │     » tool.py</a:t>
            </a:r>
          </a:p>
          <a:p>
            <a:pPr algn="l">
              <a:lnSpc>
                <a:spcPct val="100000"/>
              </a:lnSpc>
            </a:pPr>
            <a:r>
              <a:rPr sz="800" b="0" i="0">
                <a:solidFill>
                  <a:srgbClr val="ECE7DC"/>
                </a:solidFill>
                <a:latin typeface="Consolas"/>
              </a:rPr>
              <a:t>    │   │   ├── 0197_add_netspeed_calculator_demo_prompt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0198_add_pdfer_nuance_demo_prompt.py</a:t>
            </a:r>
          </a:p>
          <a:p>
            <a:pPr algn="l">
              <a:lnSpc>
                <a:spcPct val="100000"/>
              </a:lnSpc>
            </a:pPr>
            <a:r>
              <a:rPr sz="800" b="0" i="0">
                <a:solidFill>
                  <a:srgbClr val="ECE7DC"/>
                </a:solidFill>
                <a:latin typeface="Consolas"/>
              </a:rPr>
              <a:t>    │   │   ├── 0199_dedupe_llm_program_snippet_names.py</a:t>
            </a:r>
          </a:p>
          <a:p>
            <a:pPr algn="l">
              <a:lnSpc>
                <a:spcPct val="100000"/>
              </a:lnSpc>
            </a:pPr>
            <a:r>
              <a:rPr sz="800" b="0" i="0">
                <a:solidFill>
                  <a:srgbClr val="ECE7DC"/>
                </a:solidFill>
                <a:latin typeface="Consolas"/>
              </a:rPr>
              <a:t>    │   │   ├── 0200_whisperer_demo_prompt_sound_gate.py</a:t>
            </a:r>
          </a:p>
          <a:p>
            <a:pPr algn="l">
              <a:lnSpc>
                <a:spcPct val="100000"/>
              </a:lnSpc>
            </a:pPr>
            <a:r>
              <a:rPr sz="800" b="0" i="0">
                <a:solidFill>
                  <a:srgbClr val="ECE7DC"/>
                </a:solidFill>
                <a:latin typeface="Consolas"/>
              </a:rPr>
              <a:t>    │   │   ├── 0201_add_voice_commands_section.py</a:t>
            </a:r>
          </a:p>
          <a:p>
            <a:pPr algn="l">
              <a:lnSpc>
                <a:spcPct val="100000"/>
              </a:lnSpc>
            </a:pPr>
            <a:r>
              <a:rPr sz="800" b="0" i="0">
                <a:solidFill>
                  <a:srgbClr val="ECE7DC"/>
                </a:solidFill>
                <a:latin typeface="Consolas"/>
              </a:rPr>
              <a:t>    │   │   ├── 0202_add_pptxer.py</a:t>
            </a:r>
          </a:p>
          <a:p>
            <a:pPr algn="l">
              <a:lnSpc>
                <a:spcPct val="100000"/>
              </a:lnSpc>
            </a:pPr>
            <a:r>
              <a:rPr sz="800" b="0" i="0">
                <a:solidFill>
                  <a:srgbClr val="ECE7DC"/>
                </a:solidFill>
                <a:latin typeface="Consolas"/>
              </a:rPr>
              <a:t>    │   │   ├── 0203_add_chat_agent_pptxer_tool.py</a:t>
            </a:r>
          </a:p>
          <a:p>
            <a:pPr algn="l">
              <a:lnSpc>
                <a:spcPct val="100000"/>
              </a:lnSpc>
            </a:pPr>
            <a:r>
              <a:rPr sz="800" b="0" i="0">
                <a:solidFill>
                  <a:srgbClr val="ECE7DC"/>
                </a:solidFill>
                <a:latin typeface="Consolas"/>
              </a:rPr>
              <a:t>    │   │   ├── 0204_add_pptxer_demo_prompts.py</a:t>
            </a:r>
          </a:p>
          <a:p>
            <a:pPr algn="l">
              <a:lnSpc>
                <a:spcPct val="100000"/>
              </a:lnSpc>
            </a:pPr>
            <a:r>
              <a:rPr sz="800" b="0" i="0">
                <a:solidFill>
                  <a:srgbClr val="ECE7DC"/>
                </a:solidFill>
                <a:latin typeface="Consolas"/>
              </a:rPr>
              <a:t>    │   │   ├── 0205_silence_window_default_3_5_seconds.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0206_qwen35_cloud_model_tag_rename.py</a:t>
            </a:r>
          </a:p>
          <a:p>
            <a:pPr algn="l">
              <a:lnSpc>
                <a:spcPct val="100000"/>
              </a:lnSpc>
            </a:pPr>
            <a:r>
              <a:rPr sz="800" b="0" i="0">
                <a:solidFill>
                  <a:srgbClr val="ECE7DC"/>
                </a:solidFill>
                <a:latin typeface="Consolas"/>
              </a:rPr>
              <a:t>    │   │   ├── 0207_video_analyzer_content_prompts.py</a:t>
            </a:r>
          </a:p>
          <a:p>
            <a:pPr algn="l">
              <a:lnSpc>
                <a:spcPct val="100000"/>
              </a:lnSpc>
            </a:pPr>
            <a:r>
              <a:rPr sz="800" b="0" i="0">
                <a:solidFill>
                  <a:srgbClr val="ECE7DC"/>
                </a:solidFill>
                <a:latin typeface="Consolas"/>
              </a:rPr>
              <a:t>    │   │   ├── 0208_video_demo_config_models.py</a:t>
            </a:r>
          </a:p>
          <a:p>
            <a:pPr algn="l">
              <a:lnSpc>
                <a:spcPct val="100000"/>
              </a:lnSpc>
            </a:pPr>
            <a:r>
              <a:rPr sz="800" b="0" i="0">
                <a:solidFill>
                  <a:srgbClr val="ECE7DC"/>
                </a:solidFill>
                <a:latin typeface="Consolas"/>
              </a:rPr>
              <a:t>    │   │   ├── 0209_retire_qwen35_vision_model.py</a:t>
            </a:r>
          </a:p>
          <a:p>
            <a:pPr algn="l">
              <a:lnSpc>
                <a:spcPct val="100000"/>
              </a:lnSpc>
            </a:pPr>
            <a:r>
              <a:rPr sz="800" b="0" i="0">
                <a:solidFill>
                  <a:srgbClr val="ECE7DC"/>
                </a:solidFill>
                <a:latin typeface="Consolas"/>
              </a:rPr>
              <a:t>    │   │   ├── 0210_strict_visual_analysis_prompt_contr</a:t>
            </a:r>
          </a:p>
          <a:p>
            <a:pPr algn="l">
              <a:lnSpc>
                <a:spcPct val="100000"/>
              </a:lnSpc>
            </a:pPr>
            <a:r>
              <a:rPr sz="800" b="0" i="0">
                <a:solidFill>
                  <a:srgbClr val="ECE7DC"/>
                </a:solidFill>
                <a:latin typeface="Consolas"/>
              </a:rPr>
              <a:t>    │   │   │     » act.py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149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12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1,688 tracked files at commit 113eddc4;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0211_compact_state.py</a:t>
            </a:r>
          </a:p>
          <a:p>
            <a:pPr algn="l">
              <a:lnSpc>
                <a:spcPct val="100000"/>
              </a:lnSpc>
            </a:pPr>
            <a:r>
              <a:rPr sz="800" b="0" i="0">
                <a:solidFill>
                  <a:srgbClr val="ECE7DC"/>
                </a:solidFill>
                <a:latin typeface="Consolas"/>
              </a:rPr>
              <a:t>    │   │   ├── 0212_compact_state_self_modify.py</a:t>
            </a:r>
          </a:p>
          <a:p>
            <a:pPr algn="l">
              <a:lnSpc>
                <a:spcPct val="100000"/>
              </a:lnSpc>
            </a:pPr>
            <a:r>
              <a:rPr sz="800" b="0" i="0">
                <a:solidFill>
                  <a:srgbClr val="ECE7DC"/>
                </a:solidFill>
                <a:latin typeface="Consolas"/>
              </a:rPr>
              <a:t>    │   │   ├── 0213_usage_ledger.py</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monitors/</a:t>
            </a:r>
          </a:p>
          <a:p>
            <a:pPr algn="l">
              <a:lnSpc>
                <a:spcPct val="100000"/>
              </a:lnSpc>
            </a:pPr>
            <a:r>
              <a:rPr sz="800" b="0" i="0">
                <a:solidFill>
                  <a:srgbClr val="ECE7DC"/>
                </a:solidFill>
                <a:latin typeface="Consolas"/>
              </a:rPr>
              <a:t>    │   │   └── monitor_sql.py</a:t>
            </a:r>
          </a:p>
          <a:p>
            <a:pPr algn="l">
              <a:lnSpc>
                <a:spcPct val="100000"/>
              </a:lnSpc>
            </a:pPr>
            <a:r>
              <a:rPr sz="800" b="0" i="0">
                <a:solidFill>
                  <a:srgbClr val="3BBE93"/>
                </a:solidFill>
                <a:latin typeface="Consolas"/>
              </a:rPr>
              <a:t>    │   ├── opus_client/</a:t>
            </a:r>
          </a:p>
          <a:p>
            <a:pPr algn="l">
              <a:lnSpc>
                <a:spcPct val="100000"/>
              </a:lnSpc>
            </a:pPr>
            <a:r>
              <a:rPr sz="800" b="0" i="0">
                <a:solidFill>
                  <a:srgbClr val="ECE7DC"/>
                </a:solidFill>
                <a:latin typeface="Consolas"/>
              </a:rPr>
              <a:t>    │   │   ├── claude_opus_client.py</a:t>
            </a:r>
          </a:p>
          <a:p>
            <a:pPr algn="l">
              <a:lnSpc>
                <a:spcPct val="100000"/>
              </a:lnSpc>
            </a:pPr>
            <a:r>
              <a:rPr sz="800" b="0" i="0">
                <a:solidFill>
                  <a:srgbClr val="ECE7DC"/>
                </a:solidFill>
                <a:latin typeface="Consolas"/>
              </a:rPr>
              <a:t>    │   │   ├── examples.py</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rag/</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binary_guard.py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factory.py</a:t>
            </a:r>
          </a:p>
          <a:p>
            <a:pPr algn="l">
              <a:lnSpc>
                <a:spcPct val="100000"/>
              </a:lnSpc>
            </a:pPr>
            <a:r>
              <a:rPr sz="800" b="0" i="0">
                <a:solidFill>
                  <a:srgbClr val="ECE7DC"/>
                </a:solidFill>
                <a:latin typeface="Consolas"/>
              </a:rPr>
              <a:t>    │   │   ├── interaction.py</a:t>
            </a:r>
          </a:p>
          <a:p>
            <a:pPr algn="l">
              <a:lnSpc>
                <a:spcPct val="100000"/>
              </a:lnSpc>
            </a:pPr>
            <a:r>
              <a:rPr sz="800" b="0" i="0">
                <a:solidFill>
                  <a:srgbClr val="ECE7DC"/>
                </a:solidFill>
                <a:latin typeface="Consolas"/>
              </a:rPr>
              <a:t>    │   │   ├── interface.py</a:t>
            </a:r>
          </a:p>
          <a:p>
            <a:pPr algn="l">
              <a:lnSpc>
                <a:spcPct val="100000"/>
              </a:lnSpc>
            </a:pPr>
            <a:r>
              <a:rPr sz="800" b="0" i="0">
                <a:solidFill>
                  <a:srgbClr val="ECE7DC"/>
                </a:solidFill>
                <a:latin typeface="Consolas"/>
              </a:rPr>
              <a:t>    │   │   ├── loaders.py</a:t>
            </a:r>
          </a:p>
          <a:p>
            <a:pPr algn="l">
              <a:lnSpc>
                <a:spcPct val="100000"/>
              </a:lnSpc>
            </a:pPr>
            <a:r>
              <a:rPr sz="800" b="0" i="0">
                <a:solidFill>
                  <a:srgbClr val="ECE7DC"/>
                </a:solidFill>
                <a:latin typeface="Consolas"/>
              </a:rPr>
              <a:t>    │   │   ├── prompts.py</a:t>
            </a:r>
          </a:p>
          <a:p>
            <a:pPr algn="l">
              <a:lnSpc>
                <a:spcPct val="100000"/>
              </a:lnSpc>
            </a:pPr>
            <a:r>
              <a:rPr sz="800" b="0" i="0">
                <a:solidFill>
                  <a:srgbClr val="ECE7DC"/>
                </a:solidFill>
                <a:latin typeface="Consolas"/>
              </a:rPr>
              <a:t>    │   │   ├── retrieval.py</a:t>
            </a:r>
          </a:p>
          <a:p>
            <a:pPr algn="l">
              <a:lnSpc>
                <a:spcPct val="100000"/>
              </a:lnSpc>
            </a:pPr>
            <a:r>
              <a:rPr sz="800" b="0" i="0">
                <a:solidFill>
                  <a:srgbClr val="ECE7DC"/>
                </a:solidFill>
                <a:latin typeface="Consolas"/>
              </a:rPr>
              <a:t>    │   │   ├── splitters.py</a:t>
            </a:r>
          </a:p>
          <a:p>
            <a:pPr algn="l">
              <a:lnSpc>
                <a:spcPct val="100000"/>
              </a:lnSpc>
            </a:pPr>
            <a:r>
              <a:rPr sz="800" b="0" i="0">
                <a:solidFill>
                  <a:srgbClr val="ECE7DC"/>
                </a:solidFill>
                <a:latin typeface="Consolas"/>
              </a:rPr>
              <a:t>    │   │   ├── utils.py</a:t>
            </a:r>
          </a:p>
          <a:p>
            <a:pPr algn="l">
              <a:lnSpc>
                <a:spcPct val="100000"/>
              </a:lnSpc>
            </a:pPr>
            <a:r>
              <a:rPr sz="800" b="0" i="0">
                <a:solidFill>
                  <a:srgbClr val="3BBE93"/>
                </a:solidFill>
                <a:latin typeface="Consolas"/>
              </a:rPr>
              <a:t>    │   │   └── chains/</a:t>
            </a:r>
          </a:p>
          <a:p>
            <a:pPr algn="l">
              <a:lnSpc>
                <a:spcPct val="100000"/>
              </a:lnSpc>
            </a:pPr>
            <a:r>
              <a:rPr sz="800" b="0" i="0">
                <a:solidFill>
                  <a:srgbClr val="ECE7DC"/>
                </a:solidFill>
                <a:latin typeface="Consolas"/>
              </a:rPr>
              <a:t>    │   │       ├── base.py</a:t>
            </a:r>
          </a:p>
          <a:p>
            <a:pPr algn="l">
              <a:lnSpc>
                <a:spcPct val="100000"/>
              </a:lnSpc>
            </a:pPr>
            <a:r>
              <a:rPr sz="800" b="0" i="0">
                <a:solidFill>
                  <a:srgbClr val="ECE7DC"/>
                </a:solidFill>
                <a:latin typeface="Consolas"/>
              </a:rPr>
              <a:t>    │   │       ├── basic.py</a:t>
            </a:r>
          </a:p>
          <a:p>
            <a:pPr algn="l">
              <a:lnSpc>
                <a:spcPct val="100000"/>
              </a:lnSpc>
            </a:pPr>
            <a:r>
              <a:rPr sz="800" b="0" i="0">
                <a:solidFill>
                  <a:srgbClr val="ECE7DC"/>
                </a:solidFill>
                <a:latin typeface="Consolas"/>
              </a:rPr>
              <a:t>    │   │       ├── history_aware.py</a:t>
            </a:r>
          </a:p>
          <a:p>
            <a:pPr algn="l">
              <a:lnSpc>
                <a:spcPct val="100000"/>
              </a:lnSpc>
            </a:pPr>
            <a:r>
              <a:rPr sz="800" b="0" i="0">
                <a:solidFill>
                  <a:srgbClr val="ECE7DC"/>
                </a:solidFill>
                <a:latin typeface="Consolas"/>
              </a:rPr>
              <a:t>    │   │       └── unified.py</a:t>
            </a:r>
          </a:p>
          <a:p>
            <a:pPr algn="l">
              <a:lnSpc>
                <a:spcPct val="100000"/>
              </a:lnSpc>
            </a:pPr>
            <a:r>
              <a:rPr sz="800" b="0" i="0">
                <a:solidFill>
                  <a:srgbClr val="3BBE93"/>
                </a:solidFill>
                <a:latin typeface="Consolas"/>
              </a:rPr>
              <a:t>    │   ├── services/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agent_contracts.py</a:t>
            </a:r>
          </a:p>
          <a:p>
            <a:pPr algn="l">
              <a:lnSpc>
                <a:spcPct val="100000"/>
              </a:lnSpc>
            </a:pPr>
            <a:r>
              <a:rPr sz="800" b="0" i="0">
                <a:solidFill>
                  <a:srgbClr val="ECE7DC"/>
                </a:solidFill>
                <a:latin typeface="Consolas"/>
              </a:rPr>
              <a:t>    │   │   ├── agent_paths.py</a:t>
            </a:r>
          </a:p>
          <a:p>
            <a:pPr algn="l">
              <a:lnSpc>
                <a:spcPct val="100000"/>
              </a:lnSpc>
            </a:pPr>
            <a:r>
              <a:rPr sz="800" b="0" i="0">
                <a:solidFill>
                  <a:srgbClr val="ECE7DC"/>
                </a:solidFill>
                <a:latin typeface="Consolas"/>
              </a:rPr>
              <a:t>    │   │   ├── filesystem.py</a:t>
            </a:r>
          </a:p>
          <a:p>
            <a:pPr algn="l">
              <a:lnSpc>
                <a:spcPct val="100000"/>
              </a:lnSpc>
            </a:pPr>
            <a:r>
              <a:rPr sz="800" b="0" i="0">
                <a:solidFill>
                  <a:srgbClr val="ECE7DC"/>
                </a:solidFill>
                <a:latin typeface="Consolas"/>
              </a:rPr>
              <a:t>    │   │   ├── flow_compiler.py</a:t>
            </a:r>
          </a:p>
          <a:p>
            <a:pPr algn="l">
              <a:lnSpc>
                <a:spcPct val="100000"/>
              </a:lnSpc>
            </a:pPr>
            <a:r>
              <a:rPr sz="800" b="0" i="0">
                <a:solidFill>
                  <a:srgbClr val="ECE7DC"/>
                </a:solidFill>
                <a:latin typeface="Consolas"/>
              </a:rPr>
              <a:t>    │   │   ├── flow_knowledge.py</a:t>
            </a:r>
          </a:p>
          <a:p>
            <a:pPr algn="l">
              <a:lnSpc>
                <a:spcPct val="100000"/>
              </a:lnSpc>
            </a:pPr>
            <a:r>
              <a:rPr sz="800" b="0" i="0">
                <a:solidFill>
                  <a:srgbClr val="ECE7DC"/>
                </a:solidFill>
                <a:latin typeface="Consolas"/>
              </a:rPr>
              <a:t>    │   │   ├── flow_spec.py</a:t>
            </a:r>
          </a:p>
          <a:p>
            <a:pPr algn="l">
              <a:lnSpc>
                <a:spcPct val="100000"/>
              </a:lnSpc>
            </a:pPr>
            <a:r>
              <a:rPr sz="800" b="0" i="0">
                <a:solidFill>
                  <a:srgbClr val="ECE7DC"/>
                </a:solidFill>
                <a:latin typeface="Consolas"/>
              </a:rPr>
              <a:t>    │   │   ├── prompt_flow_panel.py</a:t>
            </a:r>
          </a:p>
          <a:p>
            <a:pPr algn="l">
              <a:lnSpc>
                <a:spcPct val="100000"/>
              </a:lnSpc>
            </a:pPr>
            <a:r>
              <a:rPr sz="800" b="0" i="0">
                <a:solidFill>
                  <a:srgbClr val="ECE7DC"/>
                </a:solidFill>
                <a:latin typeface="Consolas"/>
              </a:rPr>
              <a:t>    │   │   └── response_parser.py</a:t>
            </a:r>
          </a:p>
          <a:p>
            <a:pPr algn="l">
              <a:lnSpc>
                <a:spcPct val="100000"/>
              </a:lnSpc>
            </a:pPr>
            <a:r>
              <a:rPr sz="800" b="0" i="0">
                <a:solidFill>
                  <a:srgbClr val="3BBE93"/>
                </a:solidFill>
                <a:latin typeface="Consolas"/>
              </a:rPr>
              <a:t>    │   ├── skills/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frontmatter.py</a:t>
            </a:r>
          </a:p>
          <a:p>
            <a:pPr algn="l">
              <a:lnSpc>
                <a:spcPct val="100000"/>
              </a:lnSpc>
            </a:pPr>
            <a:r>
              <a:rPr sz="800" b="0" i="0">
                <a:solidFill>
                  <a:srgbClr val="ECE7DC"/>
                </a:solidFill>
                <a:latin typeface="Consolas"/>
              </a:rPr>
              <a:t>    │   │   ├── harness.py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io_contract.py</a:t>
            </a:r>
          </a:p>
          <a:p>
            <a:pPr algn="l">
              <a:lnSpc>
                <a:spcPct val="100000"/>
              </a:lnSpc>
            </a:pPr>
            <a:r>
              <a:rPr sz="800" b="0" i="0">
                <a:solidFill>
                  <a:srgbClr val="ECE7DC"/>
                </a:solidFill>
                <a:latin typeface="Consolas"/>
              </a:rPr>
              <a:t>    │   │   ├── redaction.py</a:t>
            </a:r>
          </a:p>
          <a:p>
            <a:pPr algn="l">
              <a:lnSpc>
                <a:spcPct val="100000"/>
              </a:lnSpc>
            </a:pPr>
            <a:r>
              <a:rPr sz="800" b="0" i="0">
                <a:solidFill>
                  <a:srgbClr val="ECE7DC"/>
                </a:solidFill>
                <a:latin typeface="Consolas"/>
              </a:rPr>
              <a:t>    │   │   ├── registry.py</a:t>
            </a:r>
          </a:p>
          <a:p>
            <a:pPr algn="l">
              <a:lnSpc>
                <a:spcPct val="100000"/>
              </a:lnSpc>
            </a:pPr>
            <a:r>
              <a:rPr sz="800" b="0" i="0">
                <a:solidFill>
                  <a:srgbClr val="ECE7DC"/>
                </a:solidFill>
                <a:latin typeface="Consolas"/>
              </a:rPr>
              <a:t>    │   │   └── validation.py</a:t>
            </a:r>
          </a:p>
          <a:p>
            <a:pPr algn="l">
              <a:lnSpc>
                <a:spcPct val="100000"/>
              </a:lnSpc>
            </a:pPr>
            <a:r>
              <a:rPr sz="800" b="0" i="0">
                <a:solidFill>
                  <a:srgbClr val="3BBE93"/>
                </a:solidFill>
                <a:latin typeface="Consolas"/>
              </a:rPr>
              <a:t>    │   ├── skills_pkg/</a:t>
            </a:r>
          </a:p>
          <a:p>
            <a:pPr algn="l">
              <a:lnSpc>
                <a:spcPct val="100000"/>
              </a:lnSpc>
            </a:pPr>
            <a:r>
              <a:rPr sz="800" b="0" i="0">
                <a:solidFill>
                  <a:srgbClr val="3BBE93"/>
                </a:solidFill>
                <a:latin typeface="Consolas"/>
              </a:rPr>
              <a:t>    │   │   ├── _meta/</a:t>
            </a:r>
          </a:p>
          <a:p>
            <a:pPr algn="l">
              <a:lnSpc>
                <a:spcPct val="100000"/>
              </a:lnSpc>
            </a:pPr>
            <a:r>
              <a:rPr sz="800" b="0" i="0">
                <a:solidFill>
                  <a:srgbClr val="ECE7DC"/>
                </a:solidFill>
                <a:latin typeface="Consolas"/>
              </a:rPr>
              <a:t>    │   │   │   ├── lint.py</a:t>
            </a:r>
          </a:p>
          <a:p>
            <a:pPr algn="l">
              <a:lnSpc>
                <a:spcPct val="100000"/>
              </a:lnSpc>
            </a:pPr>
            <a:r>
              <a:rPr sz="800" b="0" i="0">
                <a:solidFill>
                  <a:srgbClr val="ECE7DC"/>
                </a:solidFill>
                <a:latin typeface="Consolas"/>
              </a:rPr>
              <a:t>    │   │   │   └── schema.json</a:t>
            </a:r>
          </a:p>
          <a:p>
            <a:pPr algn="l">
              <a:lnSpc>
                <a:spcPct val="100000"/>
              </a:lnSpc>
            </a:pPr>
            <a:r>
              <a:rPr sz="800" b="0" i="0">
                <a:solidFill>
                  <a:srgbClr val="3BBE93"/>
                </a:solidFill>
                <a:latin typeface="Consolas"/>
              </a:rPr>
              <a:t>    │   │   ├── acp_router/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adding_external_mcp/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external_mcp_catalog_format.md</a:t>
            </a:r>
          </a:p>
          <a:p>
            <a:pPr algn="l">
              <a:lnSpc>
                <a:spcPct val="100000"/>
              </a:lnSpc>
            </a:pPr>
            <a:r>
              <a:rPr sz="800" b="0" i="0">
                <a:solidFill>
                  <a:srgbClr val="ECE7DC"/>
                </a:solidFill>
                <a:latin typeface="Consolas"/>
              </a:rPr>
              <a:t>    │   │   │       ├── llm_reflection_research.md</a:t>
            </a:r>
          </a:p>
          <a:p>
            <a:pPr algn="l">
              <a:lnSpc>
                <a:spcPct val="100000"/>
              </a:lnSpc>
            </a:pPr>
            <a:r>
              <a:rPr sz="800" b="0" i="0">
                <a:solidFill>
                  <a:srgbClr val="ECE7DC"/>
                </a:solidFill>
                <a:latin typeface="Consolas"/>
              </a:rPr>
              <a:t>    │   │   │       ├── transport_guide.md</a:t>
            </a:r>
          </a:p>
          <a:p>
            <a:pPr algn="l">
              <a:lnSpc>
                <a:spcPct val="100000"/>
              </a:lnSpc>
            </a:pPr>
            <a:r>
              <a:rPr sz="800" b="0" i="0">
                <a:solidFill>
                  <a:srgbClr val="ECE7DC"/>
                </a:solidFill>
                <a:latin typeface="Consolas"/>
              </a:rPr>
              <a:t>    │   │   │       └── troubleshooting.md</a:t>
            </a:r>
          </a:p>
          <a:p>
            <a:pPr algn="l">
              <a:lnSpc>
                <a:spcPct val="100000"/>
              </a:lnSpc>
            </a:pPr>
            <a:r>
              <a:rPr sz="800" b="0" i="0">
                <a:solidFill>
                  <a:srgbClr val="3BBE93"/>
                </a:solidFill>
                <a:latin typeface="Consolas"/>
              </a:rPr>
              <a:t>    │   │   ├── code_review/</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flow_making/</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 flw_schema.md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make_flow.py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github/</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gmail/</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hello_world/</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jira/</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kali_pentest/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notion/</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roblox_studio/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security_audit/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setup_new_acpx_key/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skill_creator/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quick_validate.py</a:t>
            </a:r>
          </a:p>
          <a:p>
            <a:pPr algn="l">
              <a:lnSpc>
                <a:spcPct val="100000"/>
              </a:lnSpc>
            </a:pPr>
            <a:r>
              <a:rPr sz="800" b="0" i="0">
                <a:solidFill>
                  <a:srgbClr val="3BBE93"/>
                </a:solidFill>
                <a:latin typeface="Consolas"/>
              </a:rPr>
              <a:t>    │   │   ├── slack/</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summarize/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tlamatini_allowed_hosts_tighten/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tlamatini_csrf_exempt_audit/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tlamatini_exec_report_row_adder/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tlamatini_flow_from_objective/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tlamatini_flw_doctor/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tlamatini_new_acp_agent/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tlamatini_planner_trace_replay/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tlamatini_static_version_bumper/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todoist/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trello/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weather/</a:t>
            </a:r>
          </a:p>
          <a:p>
            <a:pPr algn="l">
              <a:lnSpc>
                <a:spcPct val="100000"/>
              </a:lnSpc>
            </a:pPr>
            <a:r>
              <a:rPr sz="800" b="0" i="0">
                <a:solidFill>
                  <a:srgbClr val="ECE7DC"/>
                </a:solidFill>
                <a:latin typeface="Consolas"/>
              </a:rPr>
              <a:t>    │   │       └── SKILL.md</a:t>
            </a:r>
          </a:p>
          <a:p>
            <a:pPr algn="l">
              <a:lnSpc>
                <a:spcPct val="100000"/>
              </a:lnSpc>
            </a:pPr>
            <a:r>
              <a:rPr sz="800" b="0" i="0">
                <a:solidFill>
                  <a:srgbClr val="3BBE93"/>
                </a:solidFill>
                <a:latin typeface="Consolas"/>
              </a:rPr>
              <a:t>    │   ├── static/</a:t>
            </a:r>
          </a:p>
          <a:p>
            <a:pPr algn="l">
              <a:lnSpc>
                <a:spcPct val="100000"/>
              </a:lnSpc>
            </a:pPr>
            <a:r>
              <a:rPr sz="800" b="0" i="0">
                <a:solidFill>
                  <a:srgbClr val="3BBE93"/>
                </a:solidFill>
                <a:latin typeface="Consolas"/>
              </a:rPr>
              <a:t>    │   │   └── agent/</a:t>
            </a:r>
          </a:p>
          <a:p>
            <a:pPr algn="l">
              <a:lnSpc>
                <a:spcPct val="100000"/>
              </a:lnSpc>
            </a:pPr>
            <a:r>
              <a:rPr sz="800" b="0" i="0">
                <a:solidFill>
                  <a:srgbClr val="3BBE93"/>
                </a:solidFill>
                <a:latin typeface="Consolas"/>
              </a:rPr>
              <a:t>    │   │       ├── css/</a:t>
            </a:r>
          </a:p>
          <a:p>
            <a:pPr algn="l">
              <a:lnSpc>
                <a:spcPct val="100000"/>
              </a:lnSpc>
            </a:pPr>
            <a:r>
              <a:rPr sz="800" b="0" i="0">
                <a:solidFill>
                  <a:srgbClr val="ECE7DC"/>
                </a:solidFill>
                <a:latin typeface="Consolas"/>
              </a:rPr>
              <a:t>    │   │       │   ├── access_keys_wizard.css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150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13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1,688 tracked files at commit 113eddc4;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agent_page.css</a:t>
            </a:r>
          </a:p>
          <a:p>
            <a:pPr algn="l">
              <a:lnSpc>
                <a:spcPct val="100000"/>
              </a:lnSpc>
            </a:pPr>
            <a:r>
              <a:rPr sz="800" b="0" i="0">
                <a:solidFill>
                  <a:srgbClr val="ECE7DC"/>
                </a:solidFill>
                <a:latin typeface="Consolas"/>
              </a:rPr>
              <a:t>    │   │       │   ├── agentic_control_panel.css</a:t>
            </a:r>
          </a:p>
          <a:p>
            <a:pPr algn="l">
              <a:lnSpc>
                <a:spcPct val="100000"/>
              </a:lnSpc>
            </a:pPr>
            <a:r>
              <a:rPr sz="800" b="0" i="0">
                <a:solidFill>
                  <a:srgbClr val="ECE7DC"/>
                </a:solidFill>
                <a:latin typeface="Consolas"/>
              </a:rPr>
              <a:t>    │   │       │   ├── avatar.css</a:t>
            </a:r>
          </a:p>
          <a:p>
            <a:pPr algn="l">
              <a:lnSpc>
                <a:spcPct val="100000"/>
              </a:lnSpc>
            </a:pPr>
            <a:r>
              <a:rPr sz="800" b="0" i="0">
                <a:solidFill>
                  <a:srgbClr val="ECE7DC"/>
                </a:solidFill>
                <a:latin typeface="Consolas"/>
              </a:rPr>
              <a:t>    │   │       │   ├── chat_dictation.css</a:t>
            </a:r>
          </a:p>
          <a:p>
            <a:pPr algn="l">
              <a:lnSpc>
                <a:spcPct val="100000"/>
              </a:lnSpc>
            </a:pPr>
            <a:r>
              <a:rPr sz="800" b="0" i="0">
                <a:solidFill>
                  <a:srgbClr val="ECE7DC"/>
                </a:solidFill>
                <a:latin typeface="Consolas"/>
              </a:rPr>
              <a:t>    │   │       │   ├── contacts_dialog.css</a:t>
            </a:r>
          </a:p>
          <a:p>
            <a:pPr algn="l">
              <a:lnSpc>
                <a:spcPct val="100000"/>
              </a:lnSpc>
            </a:pPr>
            <a:r>
              <a:rPr sz="800" b="0" i="0">
                <a:solidFill>
                  <a:srgbClr val="ECE7DC"/>
                </a:solidFill>
                <a:latin typeface="Consolas"/>
              </a:rPr>
              <a:t>    │   │       │   ├── context_gauge.css</a:t>
            </a:r>
          </a:p>
          <a:p>
            <a:pPr algn="l">
              <a:lnSpc>
                <a:spcPct val="100000"/>
              </a:lnSpc>
            </a:pPr>
            <a:r>
              <a:rPr sz="800" b="0" i="0">
                <a:solidFill>
                  <a:srgbClr val="ECE7DC"/>
                </a:solidFill>
                <a:latin typeface="Consolas"/>
              </a:rPr>
              <a:t>    │   │       │   ├── dialog_theme.css</a:t>
            </a:r>
          </a:p>
          <a:p>
            <a:pPr algn="l">
              <a:lnSpc>
                <a:spcPct val="100000"/>
              </a:lnSpc>
            </a:pPr>
            <a:r>
              <a:rPr sz="800" b="0" i="0">
                <a:solidFill>
                  <a:srgbClr val="ECE7DC"/>
                </a:solidFill>
                <a:latin typeface="Consolas"/>
              </a:rPr>
              <a:t>    │   │       │   ├── external_mcps_dialog.css</a:t>
            </a:r>
          </a:p>
          <a:p>
            <a:pPr algn="l">
              <a:lnSpc>
                <a:spcPct val="100000"/>
              </a:lnSpc>
            </a:pPr>
            <a:r>
              <a:rPr sz="800" b="0" i="0">
                <a:solidFill>
                  <a:srgbClr val="ECE7DC"/>
                </a:solidFill>
                <a:latin typeface="Consolas"/>
              </a:rPr>
              <a:t>    │   │       │   ├── flow_canvas.css</a:t>
            </a:r>
          </a:p>
          <a:p>
            <a:pPr algn="l">
              <a:lnSpc>
                <a:spcPct val="100000"/>
              </a:lnSpc>
            </a:pPr>
            <a:r>
              <a:rPr sz="800" b="0" i="0">
                <a:solidFill>
                  <a:srgbClr val="ECE7DC"/>
                </a:solidFill>
                <a:latin typeface="Consolas"/>
              </a:rPr>
              <a:t>    │   │       │   ├── login.css</a:t>
            </a:r>
          </a:p>
          <a:p>
            <a:pPr algn="l">
              <a:lnSpc>
                <a:spcPct val="100000"/>
              </a:lnSpc>
            </a:pPr>
            <a:r>
              <a:rPr sz="800" b="0" i="0">
                <a:solidFill>
                  <a:srgbClr val="ECE7DC"/>
                </a:solidFill>
                <a:latin typeface="Consolas"/>
              </a:rPr>
              <a:t>    │   │       │   ├── model_brain_tuning.css</a:t>
            </a:r>
          </a:p>
          <a:p>
            <a:pPr algn="l">
              <a:lnSpc>
                <a:spcPct val="100000"/>
              </a:lnSpc>
            </a:pPr>
            <a:r>
              <a:rPr sz="800" b="0" i="0">
                <a:solidFill>
                  <a:srgbClr val="ECE7DC"/>
                </a:solidFill>
                <a:latin typeface="Consolas"/>
              </a:rPr>
              <a:t>    │   │       │   ├── model_capacity.css</a:t>
            </a:r>
          </a:p>
          <a:p>
            <a:pPr algn="l">
              <a:lnSpc>
                <a:spcPct val="100000"/>
              </a:lnSpc>
            </a:pPr>
            <a:r>
              <a:rPr sz="800" b="0" i="0">
                <a:solidFill>
                  <a:srgbClr val="ECE7DC"/>
                </a:solidFill>
                <a:latin typeface="Consolas"/>
              </a:rPr>
              <a:t>    │   │       │   ├── pdf_canvas.css</a:t>
            </a:r>
          </a:p>
          <a:p>
            <a:pPr algn="l">
              <a:lnSpc>
                <a:spcPct val="100000"/>
              </a:lnSpc>
            </a:pPr>
            <a:r>
              <a:rPr sz="800" b="0" i="0">
                <a:solidFill>
                  <a:srgbClr val="ECE7DC"/>
                </a:solidFill>
                <a:latin typeface="Consolas"/>
              </a:rPr>
              <a:t>    │   │       │   ├── pdf_context_progress.css</a:t>
            </a:r>
          </a:p>
          <a:p>
            <a:pPr algn="l">
              <a:lnSpc>
                <a:spcPct val="100000"/>
              </a:lnSpc>
            </a:pPr>
            <a:r>
              <a:rPr sz="800" b="0" i="0">
                <a:solidFill>
                  <a:srgbClr val="ECE7DC"/>
                </a:solidFill>
                <a:latin typeface="Consolas"/>
              </a:rPr>
              <a:t>    │   │       │   ├── prompt_flow_panel.css</a:t>
            </a:r>
          </a:p>
          <a:p>
            <a:pPr algn="l">
              <a:lnSpc>
                <a:spcPct val="100000"/>
              </a:lnSpc>
            </a:pPr>
            <a:r>
              <a:rPr sz="800" b="0" i="0">
                <a:solidFill>
                  <a:srgbClr val="ECE7DC"/>
                </a:solidFill>
                <a:latin typeface="Consolas"/>
              </a:rPr>
              <a:t>    │   │       │   ├── skills_dialog.css</a:t>
            </a:r>
          </a:p>
          <a:p>
            <a:pPr algn="l">
              <a:lnSpc>
                <a:spcPct val="100000"/>
              </a:lnSpc>
            </a:pPr>
            <a:r>
              <a:rPr sz="800" b="0" i="0">
                <a:solidFill>
                  <a:srgbClr val="ECE7DC"/>
                </a:solidFill>
                <a:latin typeface="Consolas"/>
              </a:rPr>
              <a:t>    │   │       │   ├── tools_dialog.css</a:t>
            </a:r>
          </a:p>
          <a:p>
            <a:pPr algn="l">
              <a:lnSpc>
                <a:spcPct val="100000"/>
              </a:lnSpc>
            </a:pPr>
            <a:r>
              <a:rPr sz="800" b="0" i="0">
                <a:solidFill>
                  <a:srgbClr val="ECE7DC"/>
                </a:solidFill>
                <a:latin typeface="Consolas"/>
              </a:rPr>
              <a:t>    │   │       │   ├── usage_dashboard.css</a:t>
            </a:r>
          </a:p>
          <a:p>
            <a:pPr algn="l">
              <a:lnSpc>
                <a:spcPct val="100000"/>
              </a:lnSpc>
            </a:pPr>
            <a:r>
              <a:rPr sz="800" b="0" i="0">
                <a:solidFill>
                  <a:srgbClr val="ECE7DC"/>
                </a:solidFill>
                <a:latin typeface="Consolas"/>
              </a:rPr>
              <a:t>    │   │       │   └── welcome.css</a:t>
            </a:r>
          </a:p>
          <a:p>
            <a:pPr algn="l">
              <a:lnSpc>
                <a:spcPct val="100000"/>
              </a:lnSpc>
            </a:pPr>
            <a:r>
              <a:rPr sz="800" b="0" i="0">
                <a:solidFill>
                  <a:srgbClr val="3BBE93"/>
                </a:solidFill>
                <a:latin typeface="Consolas"/>
              </a:rPr>
              <a:t>    │   │       ├── img/</a:t>
            </a:r>
          </a:p>
          <a:p>
            <a:pPr algn="l">
              <a:lnSpc>
                <a:spcPct val="100000"/>
              </a:lnSpc>
            </a:pPr>
            <a:r>
              <a:rPr sz="800" b="0" i="0">
                <a:solidFill>
                  <a:srgbClr val="ECE7DC"/>
                </a:solidFill>
                <a:latin typeface="Consolas"/>
              </a:rPr>
              <a:t>    │   │       │   ├── spinner.svg</a:t>
            </a:r>
          </a:p>
          <a:p>
            <a:pPr algn="l">
              <a:lnSpc>
                <a:spcPct val="100000"/>
              </a:lnSpc>
            </a:pPr>
            <a:r>
              <a:rPr sz="800" b="0" i="0">
                <a:solidFill>
                  <a:srgbClr val="ECE7DC"/>
                </a:solidFill>
                <a:latin typeface="Consolas"/>
              </a:rPr>
              <a:t>    │   │       │   ├── Tlamatini.ico</a:t>
            </a:r>
          </a:p>
          <a:p>
            <a:pPr algn="l">
              <a:lnSpc>
                <a:spcPct val="100000"/>
              </a:lnSpc>
            </a:pPr>
            <a:r>
              <a:rPr sz="800" b="0" i="0">
                <a:solidFill>
                  <a:srgbClr val="3BBE93"/>
                </a:solidFill>
                <a:latin typeface="Consolas"/>
              </a:rPr>
              <a:t>    │   │       │   └── avatar/</a:t>
            </a:r>
          </a:p>
          <a:p>
            <a:pPr algn="l">
              <a:lnSpc>
                <a:spcPct val="100000"/>
              </a:lnSpc>
            </a:pPr>
            <a:r>
              <a:rPr sz="800" b="0" i="0">
                <a:solidFill>
                  <a:srgbClr val="ECE7DC"/>
                </a:solidFill>
                <a:latin typeface="Consolas"/>
              </a:rPr>
              <a:t>    │   │       │       ├── ec_mc.jpg</a:t>
            </a:r>
          </a:p>
          <a:p>
            <a:pPr algn="l">
              <a:lnSpc>
                <a:spcPct val="100000"/>
              </a:lnSpc>
            </a:pPr>
            <a:r>
              <a:rPr sz="800" b="0" i="0">
                <a:solidFill>
                  <a:srgbClr val="ECE7DC"/>
                </a:solidFill>
                <a:latin typeface="Consolas"/>
              </a:rPr>
              <a:t>    │   │       │       ├── ec_mo.jpg</a:t>
            </a:r>
          </a:p>
          <a:p>
            <a:pPr algn="l">
              <a:lnSpc>
                <a:spcPct val="100000"/>
              </a:lnSpc>
            </a:pPr>
            <a:r>
              <a:rPr sz="800" b="0" i="0">
                <a:solidFill>
                  <a:srgbClr val="ECE7DC"/>
                </a:solidFill>
                <a:latin typeface="Consolas"/>
              </a:rPr>
              <a:t>    │   │       │       ├── eo_mc.jpg</a:t>
            </a:r>
          </a:p>
          <a:p>
            <a:pPr algn="l">
              <a:lnSpc>
                <a:spcPct val="100000"/>
              </a:lnSpc>
            </a:pPr>
            <a:r>
              <a:rPr sz="800" b="0" i="0">
                <a:solidFill>
                  <a:srgbClr val="ECE7DC"/>
                </a:solidFill>
                <a:latin typeface="Consolas"/>
              </a:rPr>
              <a:t>    │   │       │       └── eo_mo.jpg</a:t>
            </a:r>
          </a:p>
          <a:p>
            <a:pPr algn="l">
              <a:lnSpc>
                <a:spcPct val="100000"/>
              </a:lnSpc>
            </a:pPr>
            <a:r>
              <a:rPr sz="800" b="0" i="0">
                <a:solidFill>
                  <a:srgbClr val="3BBE93"/>
                </a:solidFill>
                <a:latin typeface="Consolas"/>
              </a:rPr>
              <a:t>    │   │       ├── js/</a:t>
            </a:r>
          </a:p>
          <a:p>
            <a:pPr algn="l">
              <a:lnSpc>
                <a:spcPct val="100000"/>
              </a:lnSpc>
            </a:pPr>
            <a:r>
              <a:rPr sz="800" b="0" i="0">
                <a:solidFill>
                  <a:srgbClr val="ECE7DC"/>
                </a:solidFill>
                <a:latin typeface="Consolas"/>
              </a:rPr>
              <a:t>    │   │       │   ├── access_keys_wizard.js</a:t>
            </a:r>
          </a:p>
          <a:p>
            <a:pPr algn="l">
              <a:lnSpc>
                <a:spcPct val="100000"/>
              </a:lnSpc>
            </a:pPr>
            <a:r>
              <a:rPr sz="800" b="0" i="0">
                <a:solidFill>
                  <a:srgbClr val="ECE7DC"/>
                </a:solidFill>
                <a:latin typeface="Consolas"/>
              </a:rPr>
              <a:t>    │   │       │   ├── acp-agent-connectors.js</a:t>
            </a:r>
          </a:p>
          <a:p>
            <a:pPr algn="l">
              <a:lnSpc>
                <a:spcPct val="100000"/>
              </a:lnSpc>
            </a:pPr>
            <a:r>
              <a:rPr sz="800" b="0" i="0">
                <a:solidFill>
                  <a:srgbClr val="ECE7DC"/>
                </a:solidFill>
                <a:latin typeface="Consolas"/>
              </a:rPr>
              <a:t>    │   │       │   ├── acp-canvas-core.js</a:t>
            </a:r>
          </a:p>
          <a:p>
            <a:pPr algn="l">
              <a:lnSpc>
                <a:spcPct val="100000"/>
              </a:lnSpc>
            </a:pPr>
            <a:r>
              <a:rPr sz="800" b="0" i="0">
                <a:solidFill>
                  <a:srgbClr val="ECE7DC"/>
                </a:solidFill>
                <a:latin typeface="Consolas"/>
              </a:rPr>
              <a:t>    │   │       │   ├── acp-canvas-undo.js</a:t>
            </a:r>
          </a:p>
          <a:p>
            <a:pPr algn="l">
              <a:lnSpc>
                <a:spcPct val="100000"/>
              </a:lnSpc>
            </a:pPr>
            <a:r>
              <a:rPr sz="800" b="0" i="0">
                <a:solidFill>
                  <a:srgbClr val="ECE7DC"/>
                </a:solidFill>
                <a:latin typeface="Consolas"/>
              </a:rPr>
              <a:t>    │   │       │   ├── acp-connection-status.js</a:t>
            </a:r>
          </a:p>
          <a:p>
            <a:pPr algn="l">
              <a:lnSpc>
                <a:spcPct val="100000"/>
              </a:lnSpc>
            </a:pPr>
            <a:r>
              <a:rPr sz="800" b="0" i="0">
                <a:solidFill>
                  <a:srgbClr val="ECE7DC"/>
                </a:solidFill>
                <a:latin typeface="Consolas"/>
              </a:rPr>
              <a:t>    │   │       │   ├── acp-control-buttons.js</a:t>
            </a:r>
          </a:p>
          <a:p>
            <a:pPr algn="l">
              <a:lnSpc>
                <a:spcPct val="100000"/>
              </a:lnSpc>
            </a:pPr>
            <a:r>
              <a:rPr sz="800" b="0" i="0">
                <a:solidFill>
                  <a:srgbClr val="ECE7DC"/>
                </a:solidFill>
                <a:latin typeface="Consolas"/>
              </a:rPr>
              <a:t>    │   │       │   ├── acp-editor-tools.js</a:t>
            </a:r>
          </a:p>
          <a:p>
            <a:pPr algn="l">
              <a:lnSpc>
                <a:spcPct val="100000"/>
              </a:lnSpc>
            </a:pPr>
            <a:r>
              <a:rPr sz="800" b="0" i="0">
                <a:solidFill>
                  <a:srgbClr val="ECE7DC"/>
                </a:solidFill>
                <a:latin typeface="Consolas"/>
              </a:rPr>
              <a:t>    │   │       │   ├── acp-file-io.js</a:t>
            </a:r>
          </a:p>
          <a:p>
            <a:pPr algn="l">
              <a:lnSpc>
                <a:spcPct val="100000"/>
              </a:lnSpc>
            </a:pPr>
            <a:r>
              <a:rPr sz="800" b="0" i="0">
                <a:solidFill>
                  <a:srgbClr val="ECE7DC"/>
                </a:solidFill>
                <a:latin typeface="Consolas"/>
              </a:rPr>
              <a:t>    │   │       │   ├── acp-flow-snapshot.js</a:t>
            </a:r>
          </a:p>
          <a:p>
            <a:pPr algn="l">
              <a:lnSpc>
                <a:spcPct val="100000"/>
              </a:lnSpc>
            </a:pPr>
            <a:r>
              <a:rPr sz="800" b="0" i="0">
                <a:solidFill>
                  <a:srgbClr val="ECE7DC"/>
                </a:solidFill>
                <a:latin typeface="Consolas"/>
              </a:rPr>
              <a:t>    │   │       │   ├── acp-globals.js</a:t>
            </a:r>
          </a:p>
          <a:p>
            <a:pPr algn="l">
              <a:lnSpc>
                <a:spcPct val="100000"/>
              </a:lnSpc>
            </a:pPr>
            <a:r>
              <a:rPr sz="800" b="0" i="0">
                <a:solidFill>
                  <a:srgbClr val="ECE7DC"/>
                </a:solidFill>
                <a:latin typeface="Consolas"/>
              </a:rPr>
              <a:t>    │   │       │   ├── acp-layout.js</a:t>
            </a:r>
          </a:p>
          <a:p>
            <a:pPr algn="l">
              <a:lnSpc>
                <a:spcPct val="100000"/>
              </a:lnSpc>
            </a:pPr>
            <a:r>
              <a:rPr sz="800" b="0" i="0">
                <a:solidFill>
                  <a:srgbClr val="ECE7DC"/>
                </a:solidFill>
                <a:latin typeface="Consolas"/>
              </a:rPr>
              <a:t>    │   │       │   ├── acp-parametrizer-dialog.js</a:t>
            </a:r>
          </a:p>
          <a:p>
            <a:pPr algn="l">
              <a:lnSpc>
                <a:spcPct val="100000"/>
              </a:lnSpc>
            </a:pPr>
            <a:r>
              <a:rPr sz="800" b="0" i="0">
                <a:solidFill>
                  <a:srgbClr val="ECE7DC"/>
                </a:solidFill>
                <a:latin typeface="Consolas"/>
              </a:rPr>
              <a:t>    │   │       │   ├── acp-running-state.js</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acp-session.js</a:t>
            </a:r>
          </a:p>
          <a:p>
            <a:pPr algn="l">
              <a:lnSpc>
                <a:spcPct val="100000"/>
              </a:lnSpc>
            </a:pPr>
            <a:r>
              <a:rPr sz="800" b="0" i="0">
                <a:solidFill>
                  <a:srgbClr val="ECE7DC"/>
                </a:solidFill>
                <a:latin typeface="Consolas"/>
              </a:rPr>
              <a:t>    │   │       │   ├── acp-undo-manager.js</a:t>
            </a:r>
          </a:p>
          <a:p>
            <a:pPr algn="l">
              <a:lnSpc>
                <a:spcPct val="100000"/>
              </a:lnSpc>
            </a:pPr>
            <a:r>
              <a:rPr sz="800" b="0" i="0">
                <a:solidFill>
                  <a:srgbClr val="ECE7DC"/>
                </a:solidFill>
                <a:latin typeface="Consolas"/>
              </a:rPr>
              <a:t>    │   │       │   ├── acp-validate.js</a:t>
            </a:r>
          </a:p>
          <a:p>
            <a:pPr algn="l">
              <a:lnSpc>
                <a:spcPct val="100000"/>
              </a:lnSpc>
            </a:pPr>
            <a:r>
              <a:rPr sz="800" b="0" i="0">
                <a:solidFill>
                  <a:srgbClr val="ECE7DC"/>
                </a:solidFill>
                <a:latin typeface="Consolas"/>
              </a:rPr>
              <a:t>    │   │       │   ├── agent_page_canvas.js</a:t>
            </a:r>
          </a:p>
          <a:p>
            <a:pPr algn="l">
              <a:lnSpc>
                <a:spcPct val="100000"/>
              </a:lnSpc>
            </a:pPr>
            <a:r>
              <a:rPr sz="800" b="0" i="0">
                <a:solidFill>
                  <a:srgbClr val="ECE7DC"/>
                </a:solidFill>
                <a:latin typeface="Consolas"/>
              </a:rPr>
              <a:t>    │   │       │   ├── agent_page_chat.js</a:t>
            </a:r>
          </a:p>
          <a:p>
            <a:pPr algn="l">
              <a:lnSpc>
                <a:spcPct val="100000"/>
              </a:lnSpc>
            </a:pPr>
            <a:r>
              <a:rPr sz="800" b="0" i="0">
                <a:solidFill>
                  <a:srgbClr val="ECE7DC"/>
                </a:solidFill>
                <a:latin typeface="Consolas"/>
              </a:rPr>
              <a:t>    │   │       │   ├── agent_page_context.js</a:t>
            </a:r>
          </a:p>
          <a:p>
            <a:pPr algn="l">
              <a:lnSpc>
                <a:spcPct val="100000"/>
              </a:lnSpc>
            </a:pPr>
            <a:r>
              <a:rPr sz="800" b="0" i="0">
                <a:solidFill>
                  <a:srgbClr val="ECE7DC"/>
                </a:solidFill>
                <a:latin typeface="Consolas"/>
              </a:rPr>
              <a:t>    │   │       │   ├── agent_page_dialogs.js</a:t>
            </a:r>
          </a:p>
          <a:p>
            <a:pPr algn="l">
              <a:lnSpc>
                <a:spcPct val="100000"/>
              </a:lnSpc>
            </a:pPr>
            <a:r>
              <a:rPr sz="800" b="0" i="0">
                <a:solidFill>
                  <a:srgbClr val="ECE7DC"/>
                </a:solidFill>
                <a:latin typeface="Consolas"/>
              </a:rPr>
              <a:t>    │   │       │   ├── agent_page_init.js</a:t>
            </a:r>
          </a:p>
          <a:p>
            <a:pPr algn="l">
              <a:lnSpc>
                <a:spcPct val="100000"/>
              </a:lnSpc>
            </a:pPr>
            <a:r>
              <a:rPr sz="800" b="0" i="0">
                <a:solidFill>
                  <a:srgbClr val="ECE7DC"/>
                </a:solidFill>
                <a:latin typeface="Consolas"/>
              </a:rPr>
              <a:t>    │   │       │   ├── agent_page_layout.js</a:t>
            </a:r>
          </a:p>
          <a:p>
            <a:pPr algn="l">
              <a:lnSpc>
                <a:spcPct val="100000"/>
              </a:lnSpc>
            </a:pPr>
            <a:r>
              <a:rPr sz="800" b="0" i="0">
                <a:solidFill>
                  <a:srgbClr val="ECE7DC"/>
                </a:solidFill>
                <a:latin typeface="Consolas"/>
              </a:rPr>
              <a:t>    │   │       │   ├── agent_page_pdf.js</a:t>
            </a:r>
          </a:p>
          <a:p>
            <a:pPr algn="l">
              <a:lnSpc>
                <a:spcPct val="100000"/>
              </a:lnSpc>
            </a:pPr>
            <a:r>
              <a:rPr sz="800" b="0" i="0">
                <a:solidFill>
                  <a:srgbClr val="ECE7DC"/>
                </a:solidFill>
                <a:latin typeface="Consolas"/>
              </a:rPr>
              <a:t>    │   │       │   ├── agent_page_state.js</a:t>
            </a:r>
          </a:p>
          <a:p>
            <a:pPr algn="l">
              <a:lnSpc>
                <a:spcPct val="100000"/>
              </a:lnSpc>
            </a:pPr>
            <a:r>
              <a:rPr sz="800" b="0" i="0">
                <a:solidFill>
                  <a:srgbClr val="ECE7DC"/>
                </a:solidFill>
                <a:latin typeface="Consolas"/>
              </a:rPr>
              <a:t>    │   │       │   ├── agent_page_ui.js</a:t>
            </a:r>
          </a:p>
          <a:p>
            <a:pPr algn="l">
              <a:lnSpc>
                <a:spcPct val="100000"/>
              </a:lnSpc>
            </a:pPr>
            <a:r>
              <a:rPr sz="800" b="0" i="0">
                <a:solidFill>
                  <a:srgbClr val="ECE7DC"/>
                </a:solidFill>
                <a:latin typeface="Consolas"/>
              </a:rPr>
              <a:t>    │   │       │   ├── agentic_control_panel.js</a:t>
            </a:r>
          </a:p>
          <a:p>
            <a:pPr algn="l">
              <a:lnSpc>
                <a:spcPct val="100000"/>
              </a:lnSpc>
            </a:pPr>
            <a:r>
              <a:rPr sz="800" b="0" i="0">
                <a:solidFill>
                  <a:srgbClr val="ECE7DC"/>
                </a:solidFill>
                <a:latin typeface="Consolas"/>
              </a:rPr>
              <a:t>    │   │       │   ├── avatar.js</a:t>
            </a:r>
          </a:p>
          <a:p>
            <a:pPr algn="l">
              <a:lnSpc>
                <a:spcPct val="100000"/>
              </a:lnSpc>
            </a:pPr>
            <a:r>
              <a:rPr sz="800" b="0" i="0">
                <a:solidFill>
                  <a:srgbClr val="ECE7DC"/>
                </a:solidFill>
                <a:latin typeface="Consolas"/>
              </a:rPr>
              <a:t>    │   │       │   ├── avatar_presence.js</a:t>
            </a:r>
          </a:p>
          <a:p>
            <a:pPr algn="l">
              <a:lnSpc>
                <a:spcPct val="100000"/>
              </a:lnSpc>
            </a:pPr>
            <a:r>
              <a:rPr sz="800" b="0" i="0">
                <a:solidFill>
                  <a:srgbClr val="ECE7DC"/>
                </a:solidFill>
                <a:latin typeface="Consolas"/>
              </a:rPr>
              <a:t>    │   │       │   ├── avatar_size.js</a:t>
            </a:r>
          </a:p>
          <a:p>
            <a:pPr algn="l">
              <a:lnSpc>
                <a:spcPct val="100000"/>
              </a:lnSpc>
            </a:pPr>
            <a:r>
              <a:rPr sz="800" b="0" i="0">
                <a:solidFill>
                  <a:srgbClr val="ECE7DC"/>
                </a:solidFill>
                <a:latin typeface="Consolas"/>
              </a:rPr>
              <a:t>    │   │       │   ├── canvas_item_dialog.js</a:t>
            </a:r>
          </a:p>
          <a:p>
            <a:pPr algn="l">
              <a:lnSpc>
                <a:spcPct val="100000"/>
              </a:lnSpc>
            </a:pPr>
            <a:r>
              <a:rPr sz="800" b="0" i="0">
                <a:solidFill>
                  <a:srgbClr val="ECE7DC"/>
                </a:solidFill>
                <a:latin typeface="Consolas"/>
              </a:rPr>
              <a:t>    │   │       │   ├── chat_dictation.js</a:t>
            </a:r>
          </a:p>
          <a:p>
            <a:pPr algn="l">
              <a:lnSpc>
                <a:spcPct val="100000"/>
              </a:lnSpc>
            </a:pPr>
            <a:r>
              <a:rPr sz="800" b="0" i="0">
                <a:solidFill>
                  <a:srgbClr val="ECE7DC"/>
                </a:solidFill>
                <a:latin typeface="Consolas"/>
              </a:rPr>
              <a:t>    │   │       │   ├── chat_image_paste.js</a:t>
            </a:r>
          </a:p>
          <a:p>
            <a:pPr algn="l">
              <a:lnSpc>
                <a:spcPct val="100000"/>
              </a:lnSpc>
            </a:pPr>
            <a:r>
              <a:rPr sz="800" b="0" i="0">
                <a:solidFill>
                  <a:srgbClr val="ECE7DC"/>
                </a:solidFill>
                <a:latin typeface="Consolas"/>
              </a:rPr>
              <a:t>    │   │       │   ├── chat_page_runtime_poller.js</a:t>
            </a:r>
          </a:p>
          <a:p>
            <a:pPr algn="l">
              <a:lnSpc>
                <a:spcPct val="100000"/>
              </a:lnSpc>
            </a:pPr>
            <a:r>
              <a:rPr sz="800" b="0" i="0">
                <a:solidFill>
                  <a:srgbClr val="ECE7DC"/>
                </a:solidFill>
                <a:latin typeface="Consolas"/>
              </a:rPr>
              <a:t>    │   │       │   ├── chat_table_contrast.js</a:t>
            </a:r>
          </a:p>
          <a:p>
            <a:pPr algn="l">
              <a:lnSpc>
                <a:spcPct val="100000"/>
              </a:lnSpc>
            </a:pPr>
            <a:r>
              <a:rPr sz="800" b="0" i="0">
                <a:solidFill>
                  <a:srgbClr val="ECE7DC"/>
                </a:solidFill>
                <a:latin typeface="Consolas"/>
              </a:rPr>
              <a:t>    │   │       │   ├── checkbox_bulk_toggle.js</a:t>
            </a:r>
          </a:p>
          <a:p>
            <a:pPr algn="l">
              <a:lnSpc>
                <a:spcPct val="100000"/>
              </a:lnSpc>
            </a:pPr>
            <a:r>
              <a:rPr sz="800" b="0" i="0">
                <a:solidFill>
                  <a:srgbClr val="ECE7DC"/>
                </a:solidFill>
                <a:latin typeface="Consolas"/>
              </a:rPr>
              <a:t>    │   │       │   ├── compact_costs.js</a:t>
            </a:r>
          </a:p>
          <a:p>
            <a:pPr algn="l">
              <a:lnSpc>
                <a:spcPct val="100000"/>
              </a:lnSpc>
            </a:pPr>
            <a:r>
              <a:rPr sz="800" b="0" i="0">
                <a:solidFill>
                  <a:srgbClr val="ECE7DC"/>
                </a:solidFill>
                <a:latin typeface="Consolas"/>
              </a:rPr>
              <a:t>    │   │       │   ├── contacts_dialog.js</a:t>
            </a:r>
          </a:p>
          <a:p>
            <a:pPr algn="l">
              <a:lnSpc>
                <a:spcPct val="100000"/>
              </a:lnSpc>
            </a:pPr>
            <a:r>
              <a:rPr sz="800" b="0" i="0">
                <a:solidFill>
                  <a:srgbClr val="ECE7DC"/>
                </a:solidFill>
                <a:latin typeface="Consolas"/>
              </a:rPr>
              <a:t>    │   │       │   ├── context_gauge.js</a:t>
            </a:r>
          </a:p>
          <a:p>
            <a:pPr algn="l">
              <a:lnSpc>
                <a:spcPct val="100000"/>
              </a:lnSpc>
            </a:pPr>
            <a:r>
              <a:rPr sz="800" b="0" i="0">
                <a:solidFill>
                  <a:srgbClr val="ECE7DC"/>
                </a:solidFill>
                <a:latin typeface="Consolas"/>
              </a:rPr>
              <a:t>    │   │       │   ├── contextual_menus.js</a:t>
            </a:r>
          </a:p>
          <a:p>
            <a:pPr algn="l">
              <a:lnSpc>
                <a:spcPct val="100000"/>
              </a:lnSpc>
            </a:pPr>
            <a:r>
              <a:rPr sz="800" b="0" i="0">
                <a:solidFill>
                  <a:srgbClr val="ECE7DC"/>
                </a:solidFill>
                <a:latin typeface="Consolas"/>
              </a:rPr>
              <a:t>    │   │       │   ├── dialog_policy.js</a:t>
            </a:r>
          </a:p>
          <a:p>
            <a:pPr algn="l">
              <a:lnSpc>
                <a:spcPct val="100000"/>
              </a:lnSpc>
            </a:pPr>
            <a:r>
              <a:rPr sz="800" b="0" i="0">
                <a:solidFill>
                  <a:srgbClr val="ECE7DC"/>
                </a:solidFill>
                <a:latin typeface="Consolas"/>
              </a:rPr>
              <a:t>    │   │       │   ├── external_mcps_dialog.js</a:t>
            </a:r>
          </a:p>
          <a:p>
            <a:pPr algn="l">
              <a:lnSpc>
                <a:spcPct val="100000"/>
              </a:lnSpc>
            </a:pPr>
            <a:r>
              <a:rPr sz="800" b="0" i="0">
                <a:solidFill>
                  <a:srgbClr val="ECE7DC"/>
                </a:solidFill>
                <a:latin typeface="Consolas"/>
              </a:rPr>
              <a:t>    │   │       │   ├── flow-canvas-interactions.js</a:t>
            </a:r>
          </a:p>
          <a:p>
            <a:pPr algn="l">
              <a:lnSpc>
                <a:spcPct val="100000"/>
              </a:lnSpc>
            </a:pPr>
            <a:r>
              <a:rPr sz="800" b="0" i="0">
                <a:solidFill>
                  <a:srgbClr val="ECE7DC"/>
                </a:solidFill>
                <a:latin typeface="Consolas"/>
              </a:rPr>
              <a:t>    │   │       │   ├── mic_settings.js</a:t>
            </a:r>
          </a:p>
          <a:p>
            <a:pPr algn="l">
              <a:lnSpc>
                <a:spcPct val="100000"/>
              </a:lnSpc>
            </a:pPr>
            <a:r>
              <a:rPr sz="800" b="0" i="0">
                <a:solidFill>
                  <a:srgbClr val="ECE7DC"/>
                </a:solidFill>
                <a:latin typeface="Consolas"/>
              </a:rPr>
              <a:t>    │   │       │   ├── model_brain_tuning.js</a:t>
            </a:r>
          </a:p>
          <a:p>
            <a:pPr algn="l">
              <a:lnSpc>
                <a:spcPct val="100000"/>
              </a:lnSpc>
            </a:pPr>
            <a:r>
              <a:rPr sz="800" b="0" i="0">
                <a:solidFill>
                  <a:srgbClr val="ECE7DC"/>
                </a:solidFill>
                <a:latin typeface="Consolas"/>
              </a:rPr>
              <a:t>    │   │       │   ├── model_capacity.js</a:t>
            </a:r>
          </a:p>
          <a:p>
            <a:pPr algn="l">
              <a:lnSpc>
                <a:spcPct val="100000"/>
              </a:lnSpc>
            </a:pPr>
            <a:r>
              <a:rPr sz="800" b="0" i="0">
                <a:solidFill>
                  <a:srgbClr val="ECE7DC"/>
                </a:solidFill>
                <a:latin typeface="Consolas"/>
              </a:rPr>
              <a:t>    │   │       │   ├── pdf_canvas_viewer.js</a:t>
            </a:r>
          </a:p>
          <a:p>
            <a:pPr algn="l">
              <a:lnSpc>
                <a:spcPct val="100000"/>
              </a:lnSpc>
            </a:pPr>
            <a:r>
              <a:rPr sz="800" b="0" i="0">
                <a:solidFill>
                  <a:srgbClr val="ECE7DC"/>
                </a:solidFill>
                <a:latin typeface="Consolas"/>
              </a:rPr>
              <a:t>    │   │       │   ├── pdf_context_progress.js</a:t>
            </a:r>
          </a:p>
          <a:p>
            <a:pPr algn="l">
              <a:lnSpc>
                <a:spcPct val="100000"/>
              </a:lnSpc>
            </a:pPr>
            <a:r>
              <a:rPr sz="800" b="0" i="0">
                <a:solidFill>
                  <a:srgbClr val="ECE7DC"/>
                </a:solidFill>
                <a:latin typeface="Consolas"/>
              </a:rPr>
              <a:t>    │   │       │   ├── prompt-flow-panel-model.js</a:t>
            </a:r>
          </a:p>
          <a:p>
            <a:pPr algn="l">
              <a:lnSpc>
                <a:spcPct val="100000"/>
              </a:lnSpc>
            </a:pPr>
            <a:r>
              <a:rPr sz="800" b="0" i="0">
                <a:solidFill>
                  <a:srgbClr val="ECE7DC"/>
                </a:solidFill>
                <a:latin typeface="Consolas"/>
              </a:rPr>
              <a:t>    │   │       │   ├── prompt-flow-panel.js</a:t>
            </a:r>
          </a:p>
          <a:p>
            <a:pPr algn="l">
              <a:lnSpc>
                <a:spcPct val="100000"/>
              </a:lnSpc>
            </a:pPr>
            <a:r>
              <a:rPr sz="800" b="0" i="0">
                <a:solidFill>
                  <a:srgbClr val="ECE7DC"/>
                </a:solidFill>
                <a:latin typeface="Consolas"/>
              </a:rPr>
              <a:t>    │   │       │   ├── release_notes_renderer.js</a:t>
            </a:r>
          </a:p>
          <a:p>
            <a:pPr algn="l">
              <a:lnSpc>
                <a:spcPct val="100000"/>
              </a:lnSpc>
            </a:pPr>
            <a:r>
              <a:rPr sz="800" b="0" i="0">
                <a:solidFill>
                  <a:srgbClr val="ECE7DC"/>
                </a:solidFill>
                <a:latin typeface="Consolas"/>
              </a:rPr>
              <a:t>    │   │       │   ├── self_modify_switch.js</a:t>
            </a:r>
          </a:p>
          <a:p>
            <a:pPr algn="l">
              <a:lnSpc>
                <a:spcPct val="100000"/>
              </a:lnSpc>
            </a:pPr>
            <a:r>
              <a:rPr sz="800" b="0" i="0">
                <a:solidFill>
                  <a:srgbClr val="ECE7DC"/>
                </a:solidFill>
                <a:latin typeface="Consolas"/>
              </a:rPr>
              <a:t>    │   │       │   ├── shared-runtime-dialogs.js</a:t>
            </a:r>
          </a:p>
          <a:p>
            <a:pPr algn="l">
              <a:lnSpc>
                <a:spcPct val="100000"/>
              </a:lnSpc>
            </a:pPr>
            <a:r>
              <a:rPr sz="800" b="0" i="0">
                <a:solidFill>
                  <a:srgbClr val="ECE7DC"/>
                </a:solidFill>
                <a:latin typeface="Consolas"/>
              </a:rPr>
              <a:t>    │   │       │   ├── skills_dialog.js</a:t>
            </a:r>
          </a:p>
          <a:p>
            <a:pPr algn="l">
              <a:lnSpc>
                <a:spcPct val="100000"/>
              </a:lnSpc>
            </a:pPr>
            <a:r>
              <a:rPr sz="800" b="0" i="0">
                <a:solidFill>
                  <a:srgbClr val="ECE7DC"/>
                </a:solidFill>
                <a:latin typeface="Consolas"/>
              </a:rPr>
              <a:t>    │   │       │   ├── tools_dialog.js</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usage_dashboard.js</a:t>
            </a:r>
          </a:p>
          <a:p>
            <a:pPr algn="l">
              <a:lnSpc>
                <a:spcPct val="100000"/>
              </a:lnSpc>
            </a:pPr>
            <a:r>
              <a:rPr sz="800" b="0" i="0">
                <a:solidFill>
                  <a:srgbClr val="ECE7DC"/>
                </a:solidFill>
                <a:latin typeface="Consolas"/>
              </a:rPr>
              <a:t>    │   │       │   └── welcome_enter_default.js</a:t>
            </a:r>
          </a:p>
          <a:p>
            <a:pPr algn="l">
              <a:lnSpc>
                <a:spcPct val="100000"/>
              </a:lnSpc>
            </a:pPr>
            <a:r>
              <a:rPr sz="800" b="0" i="0">
                <a:solidFill>
                  <a:srgbClr val="3BBE93"/>
                </a:solidFill>
                <a:latin typeface="Consolas"/>
              </a:rPr>
              <a:t>    │   │       ├── pdf/</a:t>
            </a:r>
          </a:p>
          <a:p>
            <a:pPr algn="l">
              <a:lnSpc>
                <a:spcPct val="100000"/>
              </a:lnSpc>
            </a:pPr>
            <a:r>
              <a:rPr sz="800" b="0" i="0">
                <a:solidFill>
                  <a:srgbClr val="ECE7DC"/>
                </a:solidFill>
                <a:latin typeface="Consolas"/>
              </a:rPr>
              <a:t>    │   │       │   └── canvas.html</a:t>
            </a:r>
          </a:p>
          <a:p>
            <a:pPr algn="l">
              <a:lnSpc>
                <a:spcPct val="100000"/>
              </a:lnSpc>
            </a:pPr>
            <a:r>
              <a:rPr sz="800" b="0" i="0">
                <a:solidFill>
                  <a:srgbClr val="3BBE93"/>
                </a:solidFill>
                <a:latin typeface="Consolas"/>
              </a:rPr>
              <a:t>    │   │       ├── sounds/</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notification.wav</a:t>
            </a:r>
          </a:p>
          <a:p>
            <a:pPr algn="l">
              <a:lnSpc>
                <a:spcPct val="100000"/>
              </a:lnSpc>
            </a:pPr>
            <a:r>
              <a:rPr sz="800" b="0" i="0">
                <a:solidFill>
                  <a:srgbClr val="3BBE93"/>
                </a:solidFill>
                <a:latin typeface="Consolas"/>
              </a:rPr>
              <a:t>    │   │       ├── vendor/</a:t>
            </a:r>
          </a:p>
          <a:p>
            <a:pPr algn="l">
              <a:lnSpc>
                <a:spcPct val="100000"/>
              </a:lnSpc>
            </a:pPr>
            <a:r>
              <a:rPr sz="800" b="0" i="0">
                <a:solidFill>
                  <a:srgbClr val="3BBE93"/>
                </a:solidFill>
                <a:latin typeface="Consolas"/>
              </a:rPr>
              <a:t>    │   │       │   ├── frontend/</a:t>
            </a:r>
          </a:p>
          <a:p>
            <a:pPr algn="l">
              <a:lnSpc>
                <a:spcPct val="100000"/>
              </a:lnSpc>
            </a:pPr>
            <a:r>
              <a:rPr sz="800" b="0" i="0">
                <a:solidFill>
                  <a:srgbClr val="ECE7DC"/>
                </a:solidFill>
                <a:latin typeface="Consolas"/>
              </a:rPr>
              <a:t>    │   │       │   │   ├── manifest.json</a:t>
            </a:r>
          </a:p>
          <a:p>
            <a:pPr algn="l">
              <a:lnSpc>
                <a:spcPct val="100000"/>
              </a:lnSpc>
            </a:pPr>
            <a:r>
              <a:rPr sz="800" b="0" i="0">
                <a:solidFill>
                  <a:srgbClr val="3BBE93"/>
                </a:solidFill>
                <a:latin typeface="Consolas"/>
              </a:rPr>
              <a:t>    │   │       │   │   ├── bootstrap/</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dist/</a:t>
            </a:r>
          </a:p>
          <a:p>
            <a:pPr algn="l">
              <a:lnSpc>
                <a:spcPct val="100000"/>
              </a:lnSpc>
            </a:pPr>
            <a:r>
              <a:rPr sz="800" b="0" i="0">
                <a:solidFill>
                  <a:srgbClr val="3BBE93"/>
                </a:solidFill>
                <a:latin typeface="Consolas"/>
              </a:rPr>
              <a:t>    │   │       │   │   │       ├── css/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 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s.map</a:t>
            </a:r>
          </a:p>
          <a:p>
            <a:pPr algn="l">
              <a:lnSpc>
                <a:spcPct val="100000"/>
              </a:lnSpc>
            </a:pPr>
            <a:r>
              <a:rPr sz="800" b="0" i="0">
                <a:solidFill>
                  <a:srgbClr val="3BBE93"/>
                </a:solidFill>
                <a:latin typeface="Consolas"/>
              </a:rPr>
              <a:t>    │   │       │   │   │       └── 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 .min.js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.min.js.map</a:t>
            </a:r>
          </a:p>
          <a:p>
            <a:pPr algn="l">
              <a:lnSpc>
                <a:spcPct val="100000"/>
              </a:lnSpc>
            </a:pPr>
            <a:r>
              <a:rPr sz="800" b="0" i="0">
                <a:solidFill>
                  <a:srgbClr val="3BBE93"/>
                </a:solidFill>
                <a:latin typeface="Consolas"/>
              </a:rPr>
              <a:t>    │   │       │   │   ├── highlightjs/</a:t>
            </a:r>
          </a:p>
          <a:p>
            <a:pPr algn="l">
              <a:lnSpc>
                <a:spcPct val="100000"/>
              </a:lnSpc>
            </a:pPr>
            <a:r>
              <a:rPr sz="800" b="0" i="0">
                <a:solidFill>
                  <a:srgbClr val="ECE7DC"/>
                </a:solidFill>
                <a:latin typeface="Consolas"/>
              </a:rPr>
              <a:t>    │   │       │   │   │   ├── highlight.min.js</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languages/</a:t>
            </a:r>
          </a:p>
          <a:p>
            <a:pPr algn="l">
              <a:lnSpc>
                <a:spcPct val="100000"/>
              </a:lnSpc>
            </a:pPr>
            <a:r>
              <a:rPr sz="800" b="0" i="0">
                <a:solidFill>
                  <a:srgbClr val="ECE7DC"/>
                </a:solidFill>
                <a:latin typeface="Consolas"/>
              </a:rPr>
              <a:t>    │   │       │   │   │   │   ├── bash.min.js</a:t>
            </a:r>
          </a:p>
          <a:p>
            <a:pPr algn="l">
              <a:lnSpc>
                <a:spcPct val="100000"/>
              </a:lnSpc>
            </a:pPr>
            <a:r>
              <a:rPr sz="800" b="0" i="0">
                <a:solidFill>
                  <a:srgbClr val="ECE7DC"/>
                </a:solidFill>
                <a:latin typeface="Consolas"/>
              </a:rPr>
              <a:t>    │   │       │   │   │   │   ├── c.min.js</a:t>
            </a:r>
          </a:p>
          <a:p>
            <a:pPr algn="l">
              <a:lnSpc>
                <a:spcPct val="100000"/>
              </a:lnSpc>
            </a:pPr>
            <a:r>
              <a:rPr sz="800" b="0" i="0">
                <a:solidFill>
                  <a:srgbClr val="ECE7DC"/>
                </a:solidFill>
                <a:latin typeface="Consolas"/>
              </a:rPr>
              <a:t>    │   │       │   │   │   │   ├── cpp.min.js</a:t>
            </a:r>
          </a:p>
          <a:p>
            <a:pPr algn="l">
              <a:lnSpc>
                <a:spcPct val="100000"/>
              </a:lnSpc>
            </a:pPr>
            <a:r>
              <a:rPr sz="800" b="0" i="0">
                <a:solidFill>
                  <a:srgbClr val="ECE7DC"/>
                </a:solidFill>
                <a:latin typeface="Consolas"/>
              </a:rPr>
              <a:t>    │   │       │   │   │   │   ├── css.min.js</a:t>
            </a:r>
          </a:p>
          <a:p>
            <a:pPr algn="l">
              <a:lnSpc>
                <a:spcPct val="100000"/>
              </a:lnSpc>
            </a:pPr>
            <a:r>
              <a:rPr sz="800" b="0" i="0">
                <a:solidFill>
                  <a:srgbClr val="ECE7DC"/>
                </a:solidFill>
                <a:latin typeface="Consolas"/>
              </a:rPr>
              <a:t>    │   │       │   │   │   │   ├── ini.min.js</a:t>
            </a:r>
          </a:p>
          <a:p>
            <a:pPr algn="l">
              <a:lnSpc>
                <a:spcPct val="100000"/>
              </a:lnSpc>
            </a:pPr>
            <a:r>
              <a:rPr sz="800" b="0" i="0">
                <a:solidFill>
                  <a:srgbClr val="ECE7DC"/>
                </a:solidFill>
                <a:latin typeface="Consolas"/>
              </a:rPr>
              <a:t>    │   │       │   │   │   │   ├── java.min.js</a:t>
            </a:r>
          </a:p>
          <a:p>
            <a:pPr algn="l">
              <a:lnSpc>
                <a:spcPct val="100000"/>
              </a:lnSpc>
            </a:pPr>
            <a:r>
              <a:rPr sz="800" b="0" i="0">
                <a:solidFill>
                  <a:srgbClr val="ECE7DC"/>
                </a:solidFill>
                <a:latin typeface="Consolas"/>
              </a:rPr>
              <a:t>    │   │       │   │   │   │   ├── javascript.min.js</a:t>
            </a:r>
          </a:p>
          <a:p>
            <a:pPr algn="l">
              <a:lnSpc>
                <a:spcPct val="100000"/>
              </a:lnSpc>
            </a:pPr>
            <a:r>
              <a:rPr sz="800" b="0" i="0">
                <a:solidFill>
                  <a:srgbClr val="ECE7DC"/>
                </a:solidFill>
                <a:latin typeface="Consolas"/>
              </a:rPr>
              <a:t>    │   │       │   │   │   │   ├── kotlin.min.js</a:t>
            </a:r>
          </a:p>
          <a:p>
            <a:pPr algn="l">
              <a:lnSpc>
                <a:spcPct val="100000"/>
              </a:lnSpc>
            </a:pPr>
            <a:r>
              <a:rPr sz="800" b="0" i="0">
                <a:solidFill>
                  <a:srgbClr val="ECE7DC"/>
                </a:solidFill>
                <a:latin typeface="Consolas"/>
              </a:rPr>
              <a:t>    │   │       │   │   │   │   ├── python.min.js</a:t>
            </a:r>
          </a:p>
          <a:p>
            <a:pPr algn="l">
              <a:lnSpc>
                <a:spcPct val="100000"/>
              </a:lnSpc>
            </a:pPr>
            <a:r>
              <a:rPr sz="800" b="0" i="0">
                <a:solidFill>
                  <a:srgbClr val="ECE7DC"/>
                </a:solidFill>
                <a:latin typeface="Consolas"/>
              </a:rPr>
              <a:t>    │   │       │   │   │   │   ├── rust.min.js</a:t>
            </a:r>
          </a:p>
          <a:p>
            <a:pPr algn="l">
              <a:lnSpc>
                <a:spcPct val="100000"/>
              </a:lnSpc>
            </a:pPr>
            <a:r>
              <a:rPr sz="800" b="0" i="0">
                <a:solidFill>
                  <a:srgbClr val="ECE7DC"/>
                </a:solidFill>
                <a:latin typeface="Consolas"/>
              </a:rPr>
              <a:t>    │   │       │   │   │   │   ├── sql.min.js</a:t>
            </a:r>
          </a:p>
          <a:p>
            <a:pPr algn="l">
              <a:lnSpc>
                <a:spcPct val="100000"/>
              </a:lnSpc>
            </a:pPr>
            <a:r>
              <a:rPr sz="800" b="0" i="0">
                <a:solidFill>
                  <a:srgbClr val="ECE7DC"/>
                </a:solidFill>
                <a:latin typeface="Consolas"/>
              </a:rPr>
              <a:t>    │   │       │   │   │   │   ├── typescript.min.js</a:t>
            </a:r>
          </a:p>
          <a:p>
            <a:pPr algn="l">
              <a:lnSpc>
                <a:spcPct val="100000"/>
              </a:lnSpc>
            </a:pPr>
            <a:r>
              <a:rPr sz="800" b="0" i="0">
                <a:solidFill>
                  <a:srgbClr val="ECE7DC"/>
                </a:solidFill>
                <a:latin typeface="Consolas"/>
              </a:rPr>
              <a:t>    │   │       │   │   │   │   ├── xml.min.js</a:t>
            </a:r>
          </a:p>
          <a:p>
            <a:pPr algn="l">
              <a:lnSpc>
                <a:spcPct val="100000"/>
              </a:lnSpc>
            </a:pPr>
            <a:r>
              <a:rPr sz="800" b="0" i="0">
                <a:solidFill>
                  <a:srgbClr val="ECE7DC"/>
                </a:solidFill>
                <a:latin typeface="Consolas"/>
              </a:rPr>
              <a:t>    │   │       │   │   │   │   └── yaml.min.js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151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14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1,688 tracked files at commit 113eddc4;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   │   └── styles/</a:t>
            </a:r>
          </a:p>
          <a:p>
            <a:pPr algn="l">
              <a:lnSpc>
                <a:spcPct val="100000"/>
              </a:lnSpc>
            </a:pPr>
            <a:r>
              <a:rPr sz="800" b="0" i="0">
                <a:solidFill>
                  <a:srgbClr val="ECE7DC"/>
                </a:solidFill>
                <a:latin typeface="Consolas"/>
              </a:rPr>
              <a:t>    │   │       │   │   │       └── atom-one-dark.min.cs</a:t>
            </a:r>
          </a:p>
          <a:p>
            <a:pPr algn="l">
              <a:lnSpc>
                <a:spcPct val="100000"/>
              </a:lnSpc>
            </a:pPr>
            <a:r>
              <a:rPr sz="800" b="0" i="0">
                <a:solidFill>
                  <a:srgbClr val="ECE7DC"/>
                </a:solidFill>
                <a:latin typeface="Consolas"/>
              </a:rPr>
              <a:t>    │   │       │   │   │             » s</a:t>
            </a:r>
          </a:p>
          <a:p>
            <a:pPr algn="l">
              <a:lnSpc>
                <a:spcPct val="100000"/>
              </a:lnSpc>
            </a:pPr>
            <a:r>
              <a:rPr sz="800" b="0" i="0">
                <a:solidFill>
                  <a:srgbClr val="3BBE93"/>
                </a:solidFill>
                <a:latin typeface="Consolas"/>
              </a:rPr>
              <a:t>    │   │       │   │   ├── jquery/</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 dist/</a:t>
            </a:r>
          </a:p>
          <a:p>
            <a:pPr algn="l">
              <a:lnSpc>
                <a:spcPct val="100000"/>
              </a:lnSpc>
            </a:pPr>
            <a:r>
              <a:rPr sz="800" b="0" i="0">
                <a:solidFill>
                  <a:srgbClr val="ECE7DC"/>
                </a:solidFill>
                <a:latin typeface="Consolas"/>
              </a:rPr>
              <a:t>    │   │       │   │   │       ├── jquery.min.js</a:t>
            </a:r>
          </a:p>
          <a:p>
            <a:pPr algn="l">
              <a:lnSpc>
                <a:spcPct val="100000"/>
              </a:lnSpc>
            </a:pPr>
            <a:r>
              <a:rPr sz="800" b="0" i="0">
                <a:solidFill>
                  <a:srgbClr val="ECE7DC"/>
                </a:solidFill>
                <a:latin typeface="Consolas"/>
              </a:rPr>
              <a:t>    │   │       │   │   │       └── jquery.min.map</a:t>
            </a:r>
          </a:p>
          <a:p>
            <a:pPr algn="l">
              <a:lnSpc>
                <a:spcPct val="100000"/>
              </a:lnSpc>
            </a:pPr>
            <a:r>
              <a:rPr sz="800" b="0" i="0">
                <a:solidFill>
                  <a:srgbClr val="3BBE93"/>
                </a:solidFill>
                <a:latin typeface="Consolas"/>
              </a:rPr>
              <a:t>    │   │       │   │   ├── jquery-ui/</a:t>
            </a:r>
          </a:p>
          <a:p>
            <a:pPr algn="l">
              <a:lnSpc>
                <a:spcPct val="100000"/>
              </a:lnSpc>
            </a:pPr>
            <a:r>
              <a:rPr sz="800" b="0" i="0">
                <a:solidFill>
                  <a:srgbClr val="ECE7DC"/>
                </a:solidFill>
                <a:latin typeface="Consolas"/>
              </a:rPr>
              <a:t>    │   │       │   │   │   ├── jquery-ui.min.js</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nunito/</a:t>
            </a:r>
          </a:p>
          <a:p>
            <a:pPr algn="l">
              <a:lnSpc>
                <a:spcPct val="100000"/>
              </a:lnSpc>
            </a:pPr>
            <a:r>
              <a:rPr sz="800" b="0" i="0">
                <a:solidFill>
                  <a:srgbClr val="ECE7DC"/>
                </a:solidFill>
                <a:latin typeface="Consolas"/>
              </a:rPr>
              <a:t>    │   │       │   │       ├── 400.css</a:t>
            </a:r>
          </a:p>
          <a:p>
            <a:pPr algn="l">
              <a:lnSpc>
                <a:spcPct val="100000"/>
              </a:lnSpc>
            </a:pPr>
            <a:r>
              <a:rPr sz="800" b="0" i="0">
                <a:solidFill>
                  <a:srgbClr val="ECE7DC"/>
                </a:solidFill>
                <a:latin typeface="Consolas"/>
              </a:rPr>
              <a:t>    │   │       │   │       ├── 700.css</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 files/</a:t>
            </a:r>
          </a:p>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700-normal.woff2</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nunito-latin-ext-400</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0-normal.woff2</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0-normal.woff2</a:t>
            </a:r>
          </a:p>
          <a:p>
            <a:pPr algn="l">
              <a:lnSpc>
                <a:spcPct val="100000"/>
              </a:lnSpc>
            </a:pPr>
            <a:r>
              <a:rPr sz="800" b="0" i="0">
                <a:solidFill>
                  <a:srgbClr val="3BBE93"/>
                </a:solidFill>
                <a:latin typeface="Consolas"/>
              </a:rPr>
              <a:t>    │   │       │   └── pdfjs/</a:t>
            </a:r>
          </a:p>
          <a:p>
            <a:pPr algn="l">
              <a:lnSpc>
                <a:spcPct val="100000"/>
              </a:lnSpc>
            </a:pPr>
            <a:r>
              <a:rPr sz="800" b="0" i="0">
                <a:solidFill>
                  <a:srgbClr val="ECE7DC"/>
                </a:solidFill>
                <a:latin typeface="Consolas"/>
              </a:rPr>
              <a:t>    │   │       │       ├── LICENSE</a:t>
            </a:r>
          </a:p>
          <a:p>
            <a:pPr algn="l">
              <a:lnSpc>
                <a:spcPct val="100000"/>
              </a:lnSpc>
            </a:pPr>
            <a:r>
              <a:rPr sz="800" b="0" i="0">
                <a:solidFill>
                  <a:srgbClr val="ECE7DC"/>
                </a:solidFill>
                <a:latin typeface="Consolas"/>
              </a:rPr>
              <a:t>    │   │       │       ├── VERSION</a:t>
            </a:r>
          </a:p>
          <a:p>
            <a:pPr algn="l">
              <a:lnSpc>
                <a:spcPct val="100000"/>
              </a:lnSpc>
            </a:pPr>
            <a:r>
              <a:rPr sz="800" b="0" i="0">
                <a:solidFill>
                  <a:srgbClr val="3BBE93"/>
                </a:solidFill>
                <a:latin typeface="Consolas"/>
              </a:rPr>
              <a:t>    │   │       │       ├── build/</a:t>
            </a:r>
          </a:p>
          <a:p>
            <a:pPr algn="l">
              <a:lnSpc>
                <a:spcPct val="100000"/>
              </a:lnSpc>
            </a:pPr>
            <a:r>
              <a:rPr sz="800" b="0" i="0">
                <a:solidFill>
                  <a:srgbClr val="ECE7DC"/>
                </a:solidFill>
                <a:latin typeface="Consolas"/>
              </a:rPr>
              <a:t>    │   │       │       │   ├── pdf.mjs</a:t>
            </a:r>
          </a:p>
          <a:p>
            <a:pPr algn="l">
              <a:lnSpc>
                <a:spcPct val="100000"/>
              </a:lnSpc>
            </a:pPr>
            <a:r>
              <a:rPr sz="800" b="0" i="0">
                <a:solidFill>
                  <a:srgbClr val="ECE7DC"/>
                </a:solidFill>
                <a:latin typeface="Consolas"/>
              </a:rPr>
              <a:t>    │   │       │       │   └── pdf.worker.mjs</a:t>
            </a:r>
          </a:p>
          <a:p>
            <a:pPr algn="l">
              <a:lnSpc>
                <a:spcPct val="100000"/>
              </a:lnSpc>
            </a:pPr>
            <a:r>
              <a:rPr sz="800" b="0" i="0">
                <a:solidFill>
                  <a:srgbClr val="3BBE93"/>
                </a:solidFill>
                <a:latin typeface="Consolas"/>
              </a:rPr>
              <a:t>    │   │       │       ├── cmaps/</a:t>
            </a:r>
          </a:p>
          <a:p>
            <a:pPr algn="l">
              <a:lnSpc>
                <a:spcPct val="100000"/>
              </a:lnSpc>
            </a:pPr>
            <a:r>
              <a:rPr sz="800" b="0" i="0">
                <a:solidFill>
                  <a:srgbClr val="ECE7DC"/>
                </a:solidFill>
                <a:latin typeface="Consolas"/>
              </a:rPr>
              <a:t>    │   │       │       │   ├── 78-EUC-H.bcmap</a:t>
            </a:r>
          </a:p>
          <a:p>
            <a:pPr algn="l">
              <a:lnSpc>
                <a:spcPct val="100000"/>
              </a:lnSpc>
            </a:pPr>
            <a:r>
              <a:rPr sz="800" b="0" i="0">
                <a:solidFill>
                  <a:srgbClr val="ECE7DC"/>
                </a:solidFill>
                <a:latin typeface="Consolas"/>
              </a:rPr>
              <a:t>    │   │       │       │   ├── 78-EUC-V.bcmap</a:t>
            </a:r>
          </a:p>
          <a:p>
            <a:pPr algn="l">
              <a:lnSpc>
                <a:spcPct val="100000"/>
              </a:lnSpc>
            </a:pPr>
            <a:r>
              <a:rPr sz="800" b="0" i="0">
                <a:solidFill>
                  <a:srgbClr val="ECE7DC"/>
                </a:solidFill>
                <a:latin typeface="Consolas"/>
              </a:rPr>
              <a:t>    │   │       │       │   ├── 78-H.bcmap</a:t>
            </a:r>
          </a:p>
          <a:p>
            <a:pPr algn="l">
              <a:lnSpc>
                <a:spcPct val="100000"/>
              </a:lnSpc>
            </a:pPr>
            <a:r>
              <a:rPr sz="800" b="0" i="0">
                <a:solidFill>
                  <a:srgbClr val="ECE7DC"/>
                </a:solidFill>
                <a:latin typeface="Consolas"/>
              </a:rPr>
              <a:t>    │   │       │       │   ├── 78-RKSJ-H.bcmap</a:t>
            </a:r>
          </a:p>
          <a:p>
            <a:pPr algn="l">
              <a:lnSpc>
                <a:spcPct val="100000"/>
              </a:lnSpc>
            </a:pPr>
            <a:r>
              <a:rPr sz="800" b="0" i="0">
                <a:solidFill>
                  <a:srgbClr val="ECE7DC"/>
                </a:solidFill>
                <a:latin typeface="Consolas"/>
              </a:rPr>
              <a:t>    │   │       │       │   ├── 78-RKSJ-V.bcmap</a:t>
            </a:r>
          </a:p>
          <a:p>
            <a:pPr algn="l">
              <a:lnSpc>
                <a:spcPct val="100000"/>
              </a:lnSpc>
            </a:pPr>
            <a:r>
              <a:rPr sz="800" b="0" i="0">
                <a:solidFill>
                  <a:srgbClr val="ECE7DC"/>
                </a:solidFill>
                <a:latin typeface="Consolas"/>
              </a:rPr>
              <a:t>    │   │       │       │   ├── 78-V.bcmap</a:t>
            </a:r>
          </a:p>
          <a:p>
            <a:pPr algn="l">
              <a:lnSpc>
                <a:spcPct val="100000"/>
              </a:lnSpc>
            </a:pPr>
            <a:r>
              <a:rPr sz="800" b="0" i="0">
                <a:solidFill>
                  <a:srgbClr val="ECE7DC"/>
                </a:solidFill>
                <a:latin typeface="Consolas"/>
              </a:rPr>
              <a:t>    │   │       │       │   ├── 78ms-RKSJ-H.bcmap</a:t>
            </a:r>
          </a:p>
          <a:p>
            <a:pPr algn="l">
              <a:lnSpc>
                <a:spcPct val="100000"/>
              </a:lnSpc>
            </a:pPr>
            <a:r>
              <a:rPr sz="800" b="0" i="0">
                <a:solidFill>
                  <a:srgbClr val="ECE7DC"/>
                </a:solidFill>
                <a:latin typeface="Consolas"/>
              </a:rPr>
              <a:t>    │   │       │       │   ├── 78ms-RKSJ-V.bcmap</a:t>
            </a:r>
          </a:p>
          <a:p>
            <a:pPr algn="l">
              <a:lnSpc>
                <a:spcPct val="100000"/>
              </a:lnSpc>
            </a:pPr>
            <a:r>
              <a:rPr sz="800" b="0" i="0">
                <a:solidFill>
                  <a:srgbClr val="ECE7DC"/>
                </a:solidFill>
                <a:latin typeface="Consolas"/>
              </a:rPr>
              <a:t>    │   │       │       │   ├── 83pv-RKSJ-H.bcmap</a:t>
            </a:r>
          </a:p>
          <a:p>
            <a:pPr algn="l">
              <a:lnSpc>
                <a:spcPct val="100000"/>
              </a:lnSpc>
            </a:pPr>
            <a:r>
              <a:rPr sz="800" b="0" i="0">
                <a:solidFill>
                  <a:srgbClr val="ECE7DC"/>
                </a:solidFill>
                <a:latin typeface="Consolas"/>
              </a:rPr>
              <a:t>    │   │       │       │   ├── 90ms-RKSJ-H.bcmap</a:t>
            </a:r>
          </a:p>
          <a:p>
            <a:pPr algn="l">
              <a:lnSpc>
                <a:spcPct val="100000"/>
              </a:lnSpc>
            </a:pPr>
            <a:r>
              <a:rPr sz="800" b="0" i="0">
                <a:solidFill>
                  <a:srgbClr val="ECE7DC"/>
                </a:solidFill>
                <a:latin typeface="Consolas"/>
              </a:rPr>
              <a:t>    │   │       │       │   ├── 90ms-RKSJ-V.bcmap</a:t>
            </a:r>
          </a:p>
          <a:p>
            <a:pPr algn="l">
              <a:lnSpc>
                <a:spcPct val="100000"/>
              </a:lnSpc>
            </a:pPr>
            <a:r>
              <a:rPr sz="800" b="0" i="0">
                <a:solidFill>
                  <a:srgbClr val="ECE7DC"/>
                </a:solidFill>
                <a:latin typeface="Consolas"/>
              </a:rPr>
              <a:t>    │   │       │       │   ├── 90msp-RKSJ-H.bcmap</a:t>
            </a:r>
          </a:p>
          <a:p>
            <a:pPr algn="l">
              <a:lnSpc>
                <a:spcPct val="100000"/>
              </a:lnSpc>
            </a:pPr>
            <a:r>
              <a:rPr sz="800" b="0" i="0">
                <a:solidFill>
                  <a:srgbClr val="ECE7DC"/>
                </a:solidFill>
                <a:latin typeface="Consolas"/>
              </a:rPr>
              <a:t>    │   │       │       │   ├── 90msp-RKSJ-V.bcmap</a:t>
            </a:r>
          </a:p>
          <a:p>
            <a:pPr algn="l">
              <a:lnSpc>
                <a:spcPct val="100000"/>
              </a:lnSpc>
            </a:pPr>
            <a:r>
              <a:rPr sz="800" b="0" i="0">
                <a:solidFill>
                  <a:srgbClr val="ECE7DC"/>
                </a:solidFill>
                <a:latin typeface="Consolas"/>
              </a:rPr>
              <a:t>    │   │       │       │   ├── 90pv-RKSJ-H.bcmap</a:t>
            </a:r>
          </a:p>
          <a:p>
            <a:pPr algn="l">
              <a:lnSpc>
                <a:spcPct val="100000"/>
              </a:lnSpc>
            </a:pPr>
            <a:r>
              <a:rPr sz="800" b="0" i="0">
                <a:solidFill>
                  <a:srgbClr val="ECE7DC"/>
                </a:solidFill>
                <a:latin typeface="Consolas"/>
              </a:rPr>
              <a:t>    │   │       │       │   ├── 90pv-RKSJ-V.bcmap</a:t>
            </a:r>
          </a:p>
          <a:p>
            <a:pPr algn="l">
              <a:lnSpc>
                <a:spcPct val="100000"/>
              </a:lnSpc>
            </a:pPr>
            <a:r>
              <a:rPr sz="800" b="0" i="0">
                <a:solidFill>
                  <a:srgbClr val="ECE7DC"/>
                </a:solidFill>
                <a:latin typeface="Consolas"/>
              </a:rPr>
              <a:t>    │   │       │       │   ├── Add-H.bcmap</a:t>
            </a:r>
          </a:p>
          <a:p>
            <a:pPr algn="l">
              <a:lnSpc>
                <a:spcPct val="100000"/>
              </a:lnSpc>
            </a:pPr>
            <a:r>
              <a:rPr sz="800" b="0" i="0">
                <a:solidFill>
                  <a:srgbClr val="ECE7DC"/>
                </a:solidFill>
                <a:latin typeface="Consolas"/>
              </a:rPr>
              <a:t>    │   │       │       │   ├── Add-RKSJ-H.bcmap</a:t>
            </a:r>
          </a:p>
          <a:p>
            <a:pPr algn="l">
              <a:lnSpc>
                <a:spcPct val="100000"/>
              </a:lnSpc>
            </a:pPr>
            <a:r>
              <a:rPr sz="800" b="0" i="0">
                <a:solidFill>
                  <a:srgbClr val="ECE7DC"/>
                </a:solidFill>
                <a:latin typeface="Consolas"/>
              </a:rPr>
              <a:t>    │   │       │       │   ├── Add-RKSJ-V.bcmap</a:t>
            </a:r>
          </a:p>
          <a:p>
            <a:pPr algn="l">
              <a:lnSpc>
                <a:spcPct val="100000"/>
              </a:lnSpc>
            </a:pPr>
            <a:r>
              <a:rPr sz="800" b="0" i="0">
                <a:solidFill>
                  <a:srgbClr val="ECE7DC"/>
                </a:solidFill>
                <a:latin typeface="Consolas"/>
              </a:rPr>
              <a:t>    │   │       │       │   ├── Add-V.bcmap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Adobe-CNS1-0.bcmap</a:t>
            </a:r>
          </a:p>
          <a:p>
            <a:pPr algn="l">
              <a:lnSpc>
                <a:spcPct val="100000"/>
              </a:lnSpc>
            </a:pPr>
            <a:r>
              <a:rPr sz="800" b="0" i="0">
                <a:solidFill>
                  <a:srgbClr val="ECE7DC"/>
                </a:solidFill>
                <a:latin typeface="Consolas"/>
              </a:rPr>
              <a:t>    │   │       │       │   ├── Adobe-CNS1-1.bcmap</a:t>
            </a:r>
          </a:p>
          <a:p>
            <a:pPr algn="l">
              <a:lnSpc>
                <a:spcPct val="100000"/>
              </a:lnSpc>
            </a:pPr>
            <a:r>
              <a:rPr sz="800" b="0" i="0">
                <a:solidFill>
                  <a:srgbClr val="ECE7DC"/>
                </a:solidFill>
                <a:latin typeface="Consolas"/>
              </a:rPr>
              <a:t>    │   │       │       │   ├── Adobe-CNS1-2.bcmap</a:t>
            </a:r>
          </a:p>
          <a:p>
            <a:pPr algn="l">
              <a:lnSpc>
                <a:spcPct val="100000"/>
              </a:lnSpc>
            </a:pPr>
            <a:r>
              <a:rPr sz="800" b="0" i="0">
                <a:solidFill>
                  <a:srgbClr val="ECE7DC"/>
                </a:solidFill>
                <a:latin typeface="Consolas"/>
              </a:rPr>
              <a:t>    │   │       │       │   ├── Adobe-CNS1-3.bcmap</a:t>
            </a:r>
          </a:p>
          <a:p>
            <a:pPr algn="l">
              <a:lnSpc>
                <a:spcPct val="100000"/>
              </a:lnSpc>
            </a:pPr>
            <a:r>
              <a:rPr sz="800" b="0" i="0">
                <a:solidFill>
                  <a:srgbClr val="ECE7DC"/>
                </a:solidFill>
                <a:latin typeface="Consolas"/>
              </a:rPr>
              <a:t>    │   │       │       │   ├── Adobe-CNS1-4.bcmap</a:t>
            </a:r>
          </a:p>
          <a:p>
            <a:pPr algn="l">
              <a:lnSpc>
                <a:spcPct val="100000"/>
              </a:lnSpc>
            </a:pPr>
            <a:r>
              <a:rPr sz="800" b="0" i="0">
                <a:solidFill>
                  <a:srgbClr val="ECE7DC"/>
                </a:solidFill>
                <a:latin typeface="Consolas"/>
              </a:rPr>
              <a:t>    │   │       │       │   ├── Adobe-CNS1-5.bcmap</a:t>
            </a:r>
          </a:p>
          <a:p>
            <a:pPr algn="l">
              <a:lnSpc>
                <a:spcPct val="100000"/>
              </a:lnSpc>
            </a:pPr>
            <a:r>
              <a:rPr sz="800" b="0" i="0">
                <a:solidFill>
                  <a:srgbClr val="ECE7DC"/>
                </a:solidFill>
                <a:latin typeface="Consolas"/>
              </a:rPr>
              <a:t>    │   │       │       │   ├── Adobe-CNS1-6.bcmap</a:t>
            </a:r>
          </a:p>
          <a:p>
            <a:pPr algn="l">
              <a:lnSpc>
                <a:spcPct val="100000"/>
              </a:lnSpc>
            </a:pPr>
            <a:r>
              <a:rPr sz="800" b="0" i="0">
                <a:solidFill>
                  <a:srgbClr val="ECE7DC"/>
                </a:solidFill>
                <a:latin typeface="Consolas"/>
              </a:rPr>
              <a:t>    │   │       │       │   ├── Adobe-CNS1-UCS2.bcmap</a:t>
            </a:r>
          </a:p>
          <a:p>
            <a:pPr algn="l">
              <a:lnSpc>
                <a:spcPct val="100000"/>
              </a:lnSpc>
            </a:pPr>
            <a:r>
              <a:rPr sz="800" b="0" i="0">
                <a:solidFill>
                  <a:srgbClr val="ECE7DC"/>
                </a:solidFill>
                <a:latin typeface="Consolas"/>
              </a:rPr>
              <a:t>    │   │       │       │   ├── Adobe-GB1-0.bcmap</a:t>
            </a:r>
          </a:p>
          <a:p>
            <a:pPr algn="l">
              <a:lnSpc>
                <a:spcPct val="100000"/>
              </a:lnSpc>
            </a:pPr>
            <a:r>
              <a:rPr sz="800" b="0" i="0">
                <a:solidFill>
                  <a:srgbClr val="ECE7DC"/>
                </a:solidFill>
                <a:latin typeface="Consolas"/>
              </a:rPr>
              <a:t>    │   │       │       │   ├── Adobe-GB1-1.bcmap</a:t>
            </a:r>
          </a:p>
          <a:p>
            <a:pPr algn="l">
              <a:lnSpc>
                <a:spcPct val="100000"/>
              </a:lnSpc>
            </a:pPr>
            <a:r>
              <a:rPr sz="800" b="0" i="0">
                <a:solidFill>
                  <a:srgbClr val="ECE7DC"/>
                </a:solidFill>
                <a:latin typeface="Consolas"/>
              </a:rPr>
              <a:t>    │   │       │       │   ├── Adobe-GB1-2.bcmap</a:t>
            </a:r>
          </a:p>
          <a:p>
            <a:pPr algn="l">
              <a:lnSpc>
                <a:spcPct val="100000"/>
              </a:lnSpc>
            </a:pPr>
            <a:r>
              <a:rPr sz="800" b="0" i="0">
                <a:solidFill>
                  <a:srgbClr val="ECE7DC"/>
                </a:solidFill>
                <a:latin typeface="Consolas"/>
              </a:rPr>
              <a:t>    │   │       │       │   ├── Adobe-GB1-3.bcmap</a:t>
            </a:r>
          </a:p>
          <a:p>
            <a:pPr algn="l">
              <a:lnSpc>
                <a:spcPct val="100000"/>
              </a:lnSpc>
            </a:pPr>
            <a:r>
              <a:rPr sz="800" b="0" i="0">
                <a:solidFill>
                  <a:srgbClr val="ECE7DC"/>
                </a:solidFill>
                <a:latin typeface="Consolas"/>
              </a:rPr>
              <a:t>    │   │       │       │   ├── Adobe-GB1-4.bcmap</a:t>
            </a:r>
          </a:p>
          <a:p>
            <a:pPr algn="l">
              <a:lnSpc>
                <a:spcPct val="100000"/>
              </a:lnSpc>
            </a:pPr>
            <a:r>
              <a:rPr sz="800" b="0" i="0">
                <a:solidFill>
                  <a:srgbClr val="ECE7DC"/>
                </a:solidFill>
                <a:latin typeface="Consolas"/>
              </a:rPr>
              <a:t>    │   │       │       │   ├── Adobe-GB1-5.bcmap</a:t>
            </a:r>
          </a:p>
          <a:p>
            <a:pPr algn="l">
              <a:lnSpc>
                <a:spcPct val="100000"/>
              </a:lnSpc>
            </a:pPr>
            <a:r>
              <a:rPr sz="800" b="0" i="0">
                <a:solidFill>
                  <a:srgbClr val="ECE7DC"/>
                </a:solidFill>
                <a:latin typeface="Consolas"/>
              </a:rPr>
              <a:t>    │   │       │       │   ├── Adobe-GB1-UCS2.bcmap</a:t>
            </a:r>
          </a:p>
          <a:p>
            <a:pPr algn="l">
              <a:lnSpc>
                <a:spcPct val="100000"/>
              </a:lnSpc>
            </a:pPr>
            <a:r>
              <a:rPr sz="800" b="0" i="0">
                <a:solidFill>
                  <a:srgbClr val="ECE7DC"/>
                </a:solidFill>
                <a:latin typeface="Consolas"/>
              </a:rPr>
              <a:t>    │   │       │       │   ├── Adobe-Japan1-0.bcmap</a:t>
            </a:r>
          </a:p>
          <a:p>
            <a:pPr algn="l">
              <a:lnSpc>
                <a:spcPct val="100000"/>
              </a:lnSpc>
            </a:pPr>
            <a:r>
              <a:rPr sz="800" b="0" i="0">
                <a:solidFill>
                  <a:srgbClr val="ECE7DC"/>
                </a:solidFill>
                <a:latin typeface="Consolas"/>
              </a:rPr>
              <a:t>    │   │       │       │   ├── Adobe-Japan1-1.bcmap</a:t>
            </a:r>
          </a:p>
          <a:p>
            <a:pPr algn="l">
              <a:lnSpc>
                <a:spcPct val="100000"/>
              </a:lnSpc>
            </a:pPr>
            <a:r>
              <a:rPr sz="800" b="0" i="0">
                <a:solidFill>
                  <a:srgbClr val="ECE7DC"/>
                </a:solidFill>
                <a:latin typeface="Consolas"/>
              </a:rPr>
              <a:t>    │   │       │       │   ├── Adobe-Japan1-2.bcmap</a:t>
            </a:r>
          </a:p>
          <a:p>
            <a:pPr algn="l">
              <a:lnSpc>
                <a:spcPct val="100000"/>
              </a:lnSpc>
            </a:pPr>
            <a:r>
              <a:rPr sz="800" b="0" i="0">
                <a:solidFill>
                  <a:srgbClr val="ECE7DC"/>
                </a:solidFill>
                <a:latin typeface="Consolas"/>
              </a:rPr>
              <a:t>    │   │       │       │   ├── Adobe-Japan1-3.bcmap</a:t>
            </a:r>
          </a:p>
          <a:p>
            <a:pPr algn="l">
              <a:lnSpc>
                <a:spcPct val="100000"/>
              </a:lnSpc>
            </a:pPr>
            <a:r>
              <a:rPr sz="800" b="0" i="0">
                <a:solidFill>
                  <a:srgbClr val="ECE7DC"/>
                </a:solidFill>
                <a:latin typeface="Consolas"/>
              </a:rPr>
              <a:t>    │   │       │       │   ├── Adobe-Japan1-4.bcmap</a:t>
            </a:r>
          </a:p>
          <a:p>
            <a:pPr algn="l">
              <a:lnSpc>
                <a:spcPct val="100000"/>
              </a:lnSpc>
            </a:pPr>
            <a:r>
              <a:rPr sz="800" b="0" i="0">
                <a:solidFill>
                  <a:srgbClr val="ECE7DC"/>
                </a:solidFill>
                <a:latin typeface="Consolas"/>
              </a:rPr>
              <a:t>    │   │       │       │   ├── Adobe-Japan1-5.bcmap</a:t>
            </a:r>
          </a:p>
          <a:p>
            <a:pPr algn="l">
              <a:lnSpc>
                <a:spcPct val="100000"/>
              </a:lnSpc>
            </a:pPr>
            <a:r>
              <a:rPr sz="800" b="0" i="0">
                <a:solidFill>
                  <a:srgbClr val="ECE7DC"/>
                </a:solidFill>
                <a:latin typeface="Consolas"/>
              </a:rPr>
              <a:t>    │   │       │       │   ├── Adobe-Japan1-6.bcmap</a:t>
            </a:r>
          </a:p>
          <a:p>
            <a:pPr algn="l">
              <a:lnSpc>
                <a:spcPct val="100000"/>
              </a:lnSpc>
            </a:pPr>
            <a:r>
              <a:rPr sz="800" b="0" i="0">
                <a:solidFill>
                  <a:srgbClr val="ECE7DC"/>
                </a:solidFill>
                <a:latin typeface="Consolas"/>
              </a:rPr>
              <a:t>    │   │       │       │   ├── Adobe-Japan1-UCS2.bcmap</a:t>
            </a:r>
          </a:p>
          <a:p>
            <a:pPr algn="l">
              <a:lnSpc>
                <a:spcPct val="100000"/>
              </a:lnSpc>
            </a:pPr>
            <a:r>
              <a:rPr sz="800" b="0" i="0">
                <a:solidFill>
                  <a:srgbClr val="ECE7DC"/>
                </a:solidFill>
                <a:latin typeface="Consolas"/>
              </a:rPr>
              <a:t>    │   │       │       │   ├── Adobe-Korea1-0.bcmap</a:t>
            </a:r>
          </a:p>
          <a:p>
            <a:pPr algn="l">
              <a:lnSpc>
                <a:spcPct val="100000"/>
              </a:lnSpc>
            </a:pPr>
            <a:r>
              <a:rPr sz="800" b="0" i="0">
                <a:solidFill>
                  <a:srgbClr val="ECE7DC"/>
                </a:solidFill>
                <a:latin typeface="Consolas"/>
              </a:rPr>
              <a:t>    │   │       │       │   ├── Adobe-Korea1-1.bcmap</a:t>
            </a:r>
          </a:p>
          <a:p>
            <a:pPr algn="l">
              <a:lnSpc>
                <a:spcPct val="100000"/>
              </a:lnSpc>
            </a:pPr>
            <a:r>
              <a:rPr sz="800" b="0" i="0">
                <a:solidFill>
                  <a:srgbClr val="ECE7DC"/>
                </a:solidFill>
                <a:latin typeface="Consolas"/>
              </a:rPr>
              <a:t>    │   │       │       │   ├── Adobe-Korea1-2.bcmap</a:t>
            </a:r>
          </a:p>
          <a:p>
            <a:pPr algn="l">
              <a:lnSpc>
                <a:spcPct val="100000"/>
              </a:lnSpc>
            </a:pPr>
            <a:r>
              <a:rPr sz="800" b="0" i="0">
                <a:solidFill>
                  <a:srgbClr val="ECE7DC"/>
                </a:solidFill>
                <a:latin typeface="Consolas"/>
              </a:rPr>
              <a:t>    │   │       │       │   ├── Adobe-Korea1-UCS2.bcmap</a:t>
            </a:r>
          </a:p>
          <a:p>
            <a:pPr algn="l">
              <a:lnSpc>
                <a:spcPct val="100000"/>
              </a:lnSpc>
            </a:pPr>
            <a:r>
              <a:rPr sz="800" b="0" i="0">
                <a:solidFill>
                  <a:srgbClr val="ECE7DC"/>
                </a:solidFill>
                <a:latin typeface="Consolas"/>
              </a:rPr>
              <a:t>    │   │       │       │   ├── B5-H.bcmap</a:t>
            </a:r>
          </a:p>
          <a:p>
            <a:pPr algn="l">
              <a:lnSpc>
                <a:spcPct val="100000"/>
              </a:lnSpc>
            </a:pPr>
            <a:r>
              <a:rPr sz="800" b="0" i="0">
                <a:solidFill>
                  <a:srgbClr val="ECE7DC"/>
                </a:solidFill>
                <a:latin typeface="Consolas"/>
              </a:rPr>
              <a:t>    │   │       │       │   ├── B5-V.bcmap</a:t>
            </a:r>
          </a:p>
          <a:p>
            <a:pPr algn="l">
              <a:lnSpc>
                <a:spcPct val="100000"/>
              </a:lnSpc>
            </a:pPr>
            <a:r>
              <a:rPr sz="800" b="0" i="0">
                <a:solidFill>
                  <a:srgbClr val="ECE7DC"/>
                </a:solidFill>
                <a:latin typeface="Consolas"/>
              </a:rPr>
              <a:t>    │   │       │       │   ├── B5pc-H.bcmap</a:t>
            </a:r>
          </a:p>
          <a:p>
            <a:pPr algn="l">
              <a:lnSpc>
                <a:spcPct val="100000"/>
              </a:lnSpc>
            </a:pPr>
            <a:r>
              <a:rPr sz="800" b="0" i="0">
                <a:solidFill>
                  <a:srgbClr val="ECE7DC"/>
                </a:solidFill>
                <a:latin typeface="Consolas"/>
              </a:rPr>
              <a:t>    │   │       │       │   ├── B5pc-V.bcmap</a:t>
            </a:r>
          </a:p>
          <a:p>
            <a:pPr algn="l">
              <a:lnSpc>
                <a:spcPct val="100000"/>
              </a:lnSpc>
            </a:pPr>
            <a:r>
              <a:rPr sz="800" b="0" i="0">
                <a:solidFill>
                  <a:srgbClr val="ECE7DC"/>
                </a:solidFill>
                <a:latin typeface="Consolas"/>
              </a:rPr>
              <a:t>    │   │       │       │   ├── CNS-EUC-H.bcmap</a:t>
            </a:r>
          </a:p>
          <a:p>
            <a:pPr algn="l">
              <a:lnSpc>
                <a:spcPct val="100000"/>
              </a:lnSpc>
            </a:pPr>
            <a:r>
              <a:rPr sz="800" b="0" i="0">
                <a:solidFill>
                  <a:srgbClr val="ECE7DC"/>
                </a:solidFill>
                <a:latin typeface="Consolas"/>
              </a:rPr>
              <a:t>    │   │       │       │   ├── CNS-EUC-V.bcmap</a:t>
            </a:r>
          </a:p>
          <a:p>
            <a:pPr algn="l">
              <a:lnSpc>
                <a:spcPct val="100000"/>
              </a:lnSpc>
            </a:pPr>
            <a:r>
              <a:rPr sz="800" b="0" i="0">
                <a:solidFill>
                  <a:srgbClr val="ECE7DC"/>
                </a:solidFill>
                <a:latin typeface="Consolas"/>
              </a:rPr>
              <a:t>    │   │       │       │   ├── CNS1-H.bcmap</a:t>
            </a:r>
          </a:p>
          <a:p>
            <a:pPr algn="l">
              <a:lnSpc>
                <a:spcPct val="100000"/>
              </a:lnSpc>
            </a:pPr>
            <a:r>
              <a:rPr sz="800" b="0" i="0">
                <a:solidFill>
                  <a:srgbClr val="ECE7DC"/>
                </a:solidFill>
                <a:latin typeface="Consolas"/>
              </a:rPr>
              <a:t>    │   │       │       │   ├── CNS1-V.bcmap</a:t>
            </a:r>
          </a:p>
          <a:p>
            <a:pPr algn="l">
              <a:lnSpc>
                <a:spcPct val="100000"/>
              </a:lnSpc>
            </a:pPr>
            <a:r>
              <a:rPr sz="800" b="0" i="0">
                <a:solidFill>
                  <a:srgbClr val="ECE7DC"/>
                </a:solidFill>
                <a:latin typeface="Consolas"/>
              </a:rPr>
              <a:t>    │   │       │       │   ├── CNS2-H.bcmap</a:t>
            </a:r>
          </a:p>
          <a:p>
            <a:pPr algn="l">
              <a:lnSpc>
                <a:spcPct val="100000"/>
              </a:lnSpc>
            </a:pPr>
            <a:r>
              <a:rPr sz="800" b="0" i="0">
                <a:solidFill>
                  <a:srgbClr val="ECE7DC"/>
                </a:solidFill>
                <a:latin typeface="Consolas"/>
              </a:rPr>
              <a:t>    │   │       │       │   ├── CNS2-V.bcmap</a:t>
            </a:r>
          </a:p>
          <a:p>
            <a:pPr algn="l">
              <a:lnSpc>
                <a:spcPct val="100000"/>
              </a:lnSpc>
            </a:pPr>
            <a:r>
              <a:rPr sz="800" b="0" i="0">
                <a:solidFill>
                  <a:srgbClr val="ECE7DC"/>
                </a:solidFill>
                <a:latin typeface="Consolas"/>
              </a:rPr>
              <a:t>    │   │       │       │   ├── ETen-B5-H.bcmap</a:t>
            </a:r>
          </a:p>
          <a:p>
            <a:pPr algn="l">
              <a:lnSpc>
                <a:spcPct val="100000"/>
              </a:lnSpc>
            </a:pPr>
            <a:r>
              <a:rPr sz="800" b="0" i="0">
                <a:solidFill>
                  <a:srgbClr val="ECE7DC"/>
                </a:solidFill>
                <a:latin typeface="Consolas"/>
              </a:rPr>
              <a:t>    │   │       │       │   ├── ETen-B5-V.bcmap</a:t>
            </a:r>
          </a:p>
          <a:p>
            <a:pPr algn="l">
              <a:lnSpc>
                <a:spcPct val="100000"/>
              </a:lnSpc>
            </a:pPr>
            <a:r>
              <a:rPr sz="800" b="0" i="0">
                <a:solidFill>
                  <a:srgbClr val="ECE7DC"/>
                </a:solidFill>
                <a:latin typeface="Consolas"/>
              </a:rPr>
              <a:t>    │   │       │       │   ├── ETenms-B5-H.bcmap</a:t>
            </a:r>
          </a:p>
          <a:p>
            <a:pPr algn="l">
              <a:lnSpc>
                <a:spcPct val="100000"/>
              </a:lnSpc>
            </a:pPr>
            <a:r>
              <a:rPr sz="800" b="0" i="0">
                <a:solidFill>
                  <a:srgbClr val="ECE7DC"/>
                </a:solidFill>
                <a:latin typeface="Consolas"/>
              </a:rPr>
              <a:t>    │   │       │       │   ├── ETenms-B5-V.bcmap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152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15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1,688 tracked files at commit 113eddc4;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ETHK-B5-H.bcmap</a:t>
            </a:r>
          </a:p>
          <a:p>
            <a:pPr algn="l">
              <a:lnSpc>
                <a:spcPct val="100000"/>
              </a:lnSpc>
            </a:pPr>
            <a:r>
              <a:rPr sz="800" b="0" i="0">
                <a:solidFill>
                  <a:srgbClr val="ECE7DC"/>
                </a:solidFill>
                <a:latin typeface="Consolas"/>
              </a:rPr>
              <a:t>    │   │       │       │   ├── ETHK-B5-V.bcmap</a:t>
            </a:r>
          </a:p>
          <a:p>
            <a:pPr algn="l">
              <a:lnSpc>
                <a:spcPct val="100000"/>
              </a:lnSpc>
            </a:pPr>
            <a:r>
              <a:rPr sz="800" b="0" i="0">
                <a:solidFill>
                  <a:srgbClr val="ECE7DC"/>
                </a:solidFill>
                <a:latin typeface="Consolas"/>
              </a:rPr>
              <a:t>    │   │       │       │   ├── EUC-H.bcmap</a:t>
            </a:r>
          </a:p>
          <a:p>
            <a:pPr algn="l">
              <a:lnSpc>
                <a:spcPct val="100000"/>
              </a:lnSpc>
            </a:pPr>
            <a:r>
              <a:rPr sz="800" b="0" i="0">
                <a:solidFill>
                  <a:srgbClr val="ECE7DC"/>
                </a:solidFill>
                <a:latin typeface="Consolas"/>
              </a:rPr>
              <a:t>    │   │       │       │   ├── EUC-V.bcmap</a:t>
            </a:r>
          </a:p>
          <a:p>
            <a:pPr algn="l">
              <a:lnSpc>
                <a:spcPct val="100000"/>
              </a:lnSpc>
            </a:pPr>
            <a:r>
              <a:rPr sz="800" b="0" i="0">
                <a:solidFill>
                  <a:srgbClr val="ECE7DC"/>
                </a:solidFill>
                <a:latin typeface="Consolas"/>
              </a:rPr>
              <a:t>    │   │       │       │   ├── Ext-H.bcmap</a:t>
            </a:r>
          </a:p>
          <a:p>
            <a:pPr algn="l">
              <a:lnSpc>
                <a:spcPct val="100000"/>
              </a:lnSpc>
            </a:pPr>
            <a:r>
              <a:rPr sz="800" b="0" i="0">
                <a:solidFill>
                  <a:srgbClr val="ECE7DC"/>
                </a:solidFill>
                <a:latin typeface="Consolas"/>
              </a:rPr>
              <a:t>    │   │       │       │   ├── Ext-RKSJ-H.bcmap</a:t>
            </a:r>
          </a:p>
          <a:p>
            <a:pPr algn="l">
              <a:lnSpc>
                <a:spcPct val="100000"/>
              </a:lnSpc>
            </a:pPr>
            <a:r>
              <a:rPr sz="800" b="0" i="0">
                <a:solidFill>
                  <a:srgbClr val="ECE7DC"/>
                </a:solidFill>
                <a:latin typeface="Consolas"/>
              </a:rPr>
              <a:t>    │   │       │       │   ├── Ext-RKSJ-V.bcmap</a:t>
            </a:r>
          </a:p>
          <a:p>
            <a:pPr algn="l">
              <a:lnSpc>
                <a:spcPct val="100000"/>
              </a:lnSpc>
            </a:pPr>
            <a:r>
              <a:rPr sz="800" b="0" i="0">
                <a:solidFill>
                  <a:srgbClr val="ECE7DC"/>
                </a:solidFill>
                <a:latin typeface="Consolas"/>
              </a:rPr>
              <a:t>    │   │       │       │   ├── Ext-V.bcmap</a:t>
            </a:r>
          </a:p>
          <a:p>
            <a:pPr algn="l">
              <a:lnSpc>
                <a:spcPct val="100000"/>
              </a:lnSpc>
            </a:pPr>
            <a:r>
              <a:rPr sz="800" b="0" i="0">
                <a:solidFill>
                  <a:srgbClr val="ECE7DC"/>
                </a:solidFill>
                <a:latin typeface="Consolas"/>
              </a:rPr>
              <a:t>    │   │       │       │   ├── GB-EUC-H.bcmap</a:t>
            </a:r>
          </a:p>
          <a:p>
            <a:pPr algn="l">
              <a:lnSpc>
                <a:spcPct val="100000"/>
              </a:lnSpc>
            </a:pPr>
            <a:r>
              <a:rPr sz="800" b="0" i="0">
                <a:solidFill>
                  <a:srgbClr val="ECE7DC"/>
                </a:solidFill>
                <a:latin typeface="Consolas"/>
              </a:rPr>
              <a:t>    │   │       │       │   ├── GB-EUC-V.bcmap</a:t>
            </a:r>
          </a:p>
          <a:p>
            <a:pPr algn="l">
              <a:lnSpc>
                <a:spcPct val="100000"/>
              </a:lnSpc>
            </a:pPr>
            <a:r>
              <a:rPr sz="800" b="0" i="0">
                <a:solidFill>
                  <a:srgbClr val="ECE7DC"/>
                </a:solidFill>
                <a:latin typeface="Consolas"/>
              </a:rPr>
              <a:t>    │   │       │       │   ├── GB-H.bcmap</a:t>
            </a:r>
          </a:p>
          <a:p>
            <a:pPr algn="l">
              <a:lnSpc>
                <a:spcPct val="100000"/>
              </a:lnSpc>
            </a:pPr>
            <a:r>
              <a:rPr sz="800" b="0" i="0">
                <a:solidFill>
                  <a:srgbClr val="ECE7DC"/>
                </a:solidFill>
                <a:latin typeface="Consolas"/>
              </a:rPr>
              <a:t>    │   │       │       │   ├── GB-V.bcmap</a:t>
            </a:r>
          </a:p>
          <a:p>
            <a:pPr algn="l">
              <a:lnSpc>
                <a:spcPct val="100000"/>
              </a:lnSpc>
            </a:pPr>
            <a:r>
              <a:rPr sz="800" b="0" i="0">
                <a:solidFill>
                  <a:srgbClr val="ECE7DC"/>
                </a:solidFill>
                <a:latin typeface="Consolas"/>
              </a:rPr>
              <a:t>    │   │       │       │   ├── GBK-EUC-H.bcmap</a:t>
            </a:r>
          </a:p>
          <a:p>
            <a:pPr algn="l">
              <a:lnSpc>
                <a:spcPct val="100000"/>
              </a:lnSpc>
            </a:pPr>
            <a:r>
              <a:rPr sz="800" b="0" i="0">
                <a:solidFill>
                  <a:srgbClr val="ECE7DC"/>
                </a:solidFill>
                <a:latin typeface="Consolas"/>
              </a:rPr>
              <a:t>    │   │       │       │   ├── GBK-EUC-V.bcmap</a:t>
            </a:r>
          </a:p>
          <a:p>
            <a:pPr algn="l">
              <a:lnSpc>
                <a:spcPct val="100000"/>
              </a:lnSpc>
            </a:pPr>
            <a:r>
              <a:rPr sz="800" b="0" i="0">
                <a:solidFill>
                  <a:srgbClr val="ECE7DC"/>
                </a:solidFill>
                <a:latin typeface="Consolas"/>
              </a:rPr>
              <a:t>    │   │       │       │   ├── GBK2K-H.bcmap</a:t>
            </a:r>
          </a:p>
          <a:p>
            <a:pPr algn="l">
              <a:lnSpc>
                <a:spcPct val="100000"/>
              </a:lnSpc>
            </a:pPr>
            <a:r>
              <a:rPr sz="800" b="0" i="0">
                <a:solidFill>
                  <a:srgbClr val="ECE7DC"/>
                </a:solidFill>
                <a:latin typeface="Consolas"/>
              </a:rPr>
              <a:t>    │   │       │       │   ├── GBK2K-V.bcmap</a:t>
            </a:r>
          </a:p>
          <a:p>
            <a:pPr algn="l">
              <a:lnSpc>
                <a:spcPct val="100000"/>
              </a:lnSpc>
            </a:pPr>
            <a:r>
              <a:rPr sz="800" b="0" i="0">
                <a:solidFill>
                  <a:srgbClr val="ECE7DC"/>
                </a:solidFill>
                <a:latin typeface="Consolas"/>
              </a:rPr>
              <a:t>    │   │       │       │   ├── GBKp-EUC-H.bcmap</a:t>
            </a:r>
          </a:p>
          <a:p>
            <a:pPr algn="l">
              <a:lnSpc>
                <a:spcPct val="100000"/>
              </a:lnSpc>
            </a:pPr>
            <a:r>
              <a:rPr sz="800" b="0" i="0">
                <a:solidFill>
                  <a:srgbClr val="ECE7DC"/>
                </a:solidFill>
                <a:latin typeface="Consolas"/>
              </a:rPr>
              <a:t>    │   │       │       │   ├── GBKp-EUC-V.bcmap</a:t>
            </a:r>
          </a:p>
          <a:p>
            <a:pPr algn="l">
              <a:lnSpc>
                <a:spcPct val="100000"/>
              </a:lnSpc>
            </a:pPr>
            <a:r>
              <a:rPr sz="800" b="0" i="0">
                <a:solidFill>
                  <a:srgbClr val="ECE7DC"/>
                </a:solidFill>
                <a:latin typeface="Consolas"/>
              </a:rPr>
              <a:t>    │   │       │       │   ├── GBpc-EUC-H.bcmap</a:t>
            </a:r>
          </a:p>
          <a:p>
            <a:pPr algn="l">
              <a:lnSpc>
                <a:spcPct val="100000"/>
              </a:lnSpc>
            </a:pPr>
            <a:r>
              <a:rPr sz="800" b="0" i="0">
                <a:solidFill>
                  <a:srgbClr val="ECE7DC"/>
                </a:solidFill>
                <a:latin typeface="Consolas"/>
              </a:rPr>
              <a:t>    │   │       │       │   ├── GBpc-EUC-V.bcmap</a:t>
            </a:r>
          </a:p>
          <a:p>
            <a:pPr algn="l">
              <a:lnSpc>
                <a:spcPct val="100000"/>
              </a:lnSpc>
            </a:pPr>
            <a:r>
              <a:rPr sz="800" b="0" i="0">
                <a:solidFill>
                  <a:srgbClr val="ECE7DC"/>
                </a:solidFill>
                <a:latin typeface="Consolas"/>
              </a:rPr>
              <a:t>    │   │       │       │   ├── GBT-EUC-H.bcmap</a:t>
            </a:r>
          </a:p>
          <a:p>
            <a:pPr algn="l">
              <a:lnSpc>
                <a:spcPct val="100000"/>
              </a:lnSpc>
            </a:pPr>
            <a:r>
              <a:rPr sz="800" b="0" i="0">
                <a:solidFill>
                  <a:srgbClr val="ECE7DC"/>
                </a:solidFill>
                <a:latin typeface="Consolas"/>
              </a:rPr>
              <a:t>    │   │       │       │   ├── GBT-EUC-V.bcmap</a:t>
            </a:r>
          </a:p>
          <a:p>
            <a:pPr algn="l">
              <a:lnSpc>
                <a:spcPct val="100000"/>
              </a:lnSpc>
            </a:pPr>
            <a:r>
              <a:rPr sz="800" b="0" i="0">
                <a:solidFill>
                  <a:srgbClr val="ECE7DC"/>
                </a:solidFill>
                <a:latin typeface="Consolas"/>
              </a:rPr>
              <a:t>    │   │       │       │   ├── GBT-H.bcmap</a:t>
            </a:r>
          </a:p>
          <a:p>
            <a:pPr algn="l">
              <a:lnSpc>
                <a:spcPct val="100000"/>
              </a:lnSpc>
            </a:pPr>
            <a:r>
              <a:rPr sz="800" b="0" i="0">
                <a:solidFill>
                  <a:srgbClr val="ECE7DC"/>
                </a:solidFill>
                <a:latin typeface="Consolas"/>
              </a:rPr>
              <a:t>    │   │       │       │   ├── GBT-V.bcmap</a:t>
            </a:r>
          </a:p>
          <a:p>
            <a:pPr algn="l">
              <a:lnSpc>
                <a:spcPct val="100000"/>
              </a:lnSpc>
            </a:pPr>
            <a:r>
              <a:rPr sz="800" b="0" i="0">
                <a:solidFill>
                  <a:srgbClr val="ECE7DC"/>
                </a:solidFill>
                <a:latin typeface="Consolas"/>
              </a:rPr>
              <a:t>    │   │       │       │   ├── GBTpc-EUC-H.bcmap</a:t>
            </a:r>
          </a:p>
          <a:p>
            <a:pPr algn="l">
              <a:lnSpc>
                <a:spcPct val="100000"/>
              </a:lnSpc>
            </a:pPr>
            <a:r>
              <a:rPr sz="800" b="0" i="0">
                <a:solidFill>
                  <a:srgbClr val="ECE7DC"/>
                </a:solidFill>
                <a:latin typeface="Consolas"/>
              </a:rPr>
              <a:t>    │   │       │       │   ├── GBTpc-EUC-V.bcmap</a:t>
            </a:r>
          </a:p>
          <a:p>
            <a:pPr algn="l">
              <a:lnSpc>
                <a:spcPct val="100000"/>
              </a:lnSpc>
            </a:pPr>
            <a:r>
              <a:rPr sz="800" b="0" i="0">
                <a:solidFill>
                  <a:srgbClr val="ECE7DC"/>
                </a:solidFill>
                <a:latin typeface="Consolas"/>
              </a:rPr>
              <a:t>    │   │       │       │   ├── H.bcmap</a:t>
            </a:r>
          </a:p>
          <a:p>
            <a:pPr algn="l">
              <a:lnSpc>
                <a:spcPct val="100000"/>
              </a:lnSpc>
            </a:pPr>
            <a:r>
              <a:rPr sz="800" b="0" i="0">
                <a:solidFill>
                  <a:srgbClr val="ECE7DC"/>
                </a:solidFill>
                <a:latin typeface="Consolas"/>
              </a:rPr>
              <a:t>    │   │       │       │   ├── Hankaku.bcmap</a:t>
            </a:r>
          </a:p>
          <a:p>
            <a:pPr algn="l">
              <a:lnSpc>
                <a:spcPct val="100000"/>
              </a:lnSpc>
            </a:pPr>
            <a:r>
              <a:rPr sz="800" b="0" i="0">
                <a:solidFill>
                  <a:srgbClr val="ECE7DC"/>
                </a:solidFill>
                <a:latin typeface="Consolas"/>
              </a:rPr>
              <a:t>    │   │       │       │   ├── Hiragana.bcmap</a:t>
            </a:r>
          </a:p>
          <a:p>
            <a:pPr algn="l">
              <a:lnSpc>
                <a:spcPct val="100000"/>
              </a:lnSpc>
            </a:pPr>
            <a:r>
              <a:rPr sz="800" b="0" i="0">
                <a:solidFill>
                  <a:srgbClr val="ECE7DC"/>
                </a:solidFill>
                <a:latin typeface="Consolas"/>
              </a:rPr>
              <a:t>    │   │       │       │   ├── HKdla-B5-H.bcmap</a:t>
            </a:r>
          </a:p>
          <a:p>
            <a:pPr algn="l">
              <a:lnSpc>
                <a:spcPct val="100000"/>
              </a:lnSpc>
            </a:pPr>
            <a:r>
              <a:rPr sz="800" b="0" i="0">
                <a:solidFill>
                  <a:srgbClr val="ECE7DC"/>
                </a:solidFill>
                <a:latin typeface="Consolas"/>
              </a:rPr>
              <a:t>    │   │       │       │   ├── HKdla-B5-V.bcmap</a:t>
            </a:r>
          </a:p>
          <a:p>
            <a:pPr algn="l">
              <a:lnSpc>
                <a:spcPct val="100000"/>
              </a:lnSpc>
            </a:pPr>
            <a:r>
              <a:rPr sz="800" b="0" i="0">
                <a:solidFill>
                  <a:srgbClr val="ECE7DC"/>
                </a:solidFill>
                <a:latin typeface="Consolas"/>
              </a:rPr>
              <a:t>    │   │       │       │   ├── HKdlb-B5-H.bcmap</a:t>
            </a:r>
          </a:p>
          <a:p>
            <a:pPr algn="l">
              <a:lnSpc>
                <a:spcPct val="100000"/>
              </a:lnSpc>
            </a:pPr>
            <a:r>
              <a:rPr sz="800" b="0" i="0">
                <a:solidFill>
                  <a:srgbClr val="ECE7DC"/>
                </a:solidFill>
                <a:latin typeface="Consolas"/>
              </a:rPr>
              <a:t>    │   │       │       │   ├── HKdlb-B5-V.bcmap</a:t>
            </a:r>
          </a:p>
          <a:p>
            <a:pPr algn="l">
              <a:lnSpc>
                <a:spcPct val="100000"/>
              </a:lnSpc>
            </a:pPr>
            <a:r>
              <a:rPr sz="800" b="0" i="0">
                <a:solidFill>
                  <a:srgbClr val="ECE7DC"/>
                </a:solidFill>
                <a:latin typeface="Consolas"/>
              </a:rPr>
              <a:t>    │   │       │       │   ├── HKgccs-B5-H.bcmap</a:t>
            </a:r>
          </a:p>
          <a:p>
            <a:pPr algn="l">
              <a:lnSpc>
                <a:spcPct val="100000"/>
              </a:lnSpc>
            </a:pPr>
            <a:r>
              <a:rPr sz="800" b="0" i="0">
                <a:solidFill>
                  <a:srgbClr val="ECE7DC"/>
                </a:solidFill>
                <a:latin typeface="Consolas"/>
              </a:rPr>
              <a:t>    │   │       │       │   ├── HKgccs-B5-V.bcmap</a:t>
            </a:r>
          </a:p>
          <a:p>
            <a:pPr algn="l">
              <a:lnSpc>
                <a:spcPct val="100000"/>
              </a:lnSpc>
            </a:pPr>
            <a:r>
              <a:rPr sz="800" b="0" i="0">
                <a:solidFill>
                  <a:srgbClr val="ECE7DC"/>
                </a:solidFill>
                <a:latin typeface="Consolas"/>
              </a:rPr>
              <a:t>    │   │       │       │   ├── HKm314-B5-H.bcmap</a:t>
            </a:r>
          </a:p>
          <a:p>
            <a:pPr algn="l">
              <a:lnSpc>
                <a:spcPct val="100000"/>
              </a:lnSpc>
            </a:pPr>
            <a:r>
              <a:rPr sz="800" b="0" i="0">
                <a:solidFill>
                  <a:srgbClr val="ECE7DC"/>
                </a:solidFill>
                <a:latin typeface="Consolas"/>
              </a:rPr>
              <a:t>    │   │       │       │   ├── HKm314-B5-V.bcmap</a:t>
            </a:r>
          </a:p>
          <a:p>
            <a:pPr algn="l">
              <a:lnSpc>
                <a:spcPct val="100000"/>
              </a:lnSpc>
            </a:pPr>
            <a:r>
              <a:rPr sz="800" b="0" i="0">
                <a:solidFill>
                  <a:srgbClr val="ECE7DC"/>
                </a:solidFill>
                <a:latin typeface="Consolas"/>
              </a:rPr>
              <a:t>    │   │       │       │   ├── HKm471-B5-H.bcmap</a:t>
            </a:r>
          </a:p>
          <a:p>
            <a:pPr algn="l">
              <a:lnSpc>
                <a:spcPct val="100000"/>
              </a:lnSpc>
            </a:pPr>
            <a:r>
              <a:rPr sz="800" b="0" i="0">
                <a:solidFill>
                  <a:srgbClr val="ECE7DC"/>
                </a:solidFill>
                <a:latin typeface="Consolas"/>
              </a:rPr>
              <a:t>    │   │       │       │   ├── HKm471-B5-V.bcmap</a:t>
            </a:r>
          </a:p>
          <a:p>
            <a:pPr algn="l">
              <a:lnSpc>
                <a:spcPct val="100000"/>
              </a:lnSpc>
            </a:pPr>
            <a:r>
              <a:rPr sz="800" b="0" i="0">
                <a:solidFill>
                  <a:srgbClr val="ECE7DC"/>
                </a:solidFill>
                <a:latin typeface="Consolas"/>
              </a:rPr>
              <a:t>    │   │       │       │   ├── HKscs-B5-H.bcmap</a:t>
            </a:r>
          </a:p>
          <a:p>
            <a:pPr algn="l">
              <a:lnSpc>
                <a:spcPct val="100000"/>
              </a:lnSpc>
            </a:pPr>
            <a:r>
              <a:rPr sz="800" b="0" i="0">
                <a:solidFill>
                  <a:srgbClr val="ECE7DC"/>
                </a:solidFill>
                <a:latin typeface="Consolas"/>
              </a:rPr>
              <a:t>    │   │       │       │   ├── HKscs-B5-V.bcmap</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Katakana.bcmap</a:t>
            </a:r>
          </a:p>
          <a:p>
            <a:pPr algn="l">
              <a:lnSpc>
                <a:spcPct val="100000"/>
              </a:lnSpc>
            </a:pPr>
            <a:r>
              <a:rPr sz="800" b="0" i="0">
                <a:solidFill>
                  <a:srgbClr val="ECE7DC"/>
                </a:solidFill>
                <a:latin typeface="Consolas"/>
              </a:rPr>
              <a:t>    │   │       │       │   ├── KSC-EUC-H.bcmap</a:t>
            </a:r>
          </a:p>
          <a:p>
            <a:pPr algn="l">
              <a:lnSpc>
                <a:spcPct val="100000"/>
              </a:lnSpc>
            </a:pPr>
            <a:r>
              <a:rPr sz="800" b="0" i="0">
                <a:solidFill>
                  <a:srgbClr val="ECE7DC"/>
                </a:solidFill>
                <a:latin typeface="Consolas"/>
              </a:rPr>
              <a:t>    │   │       │       │   ├── KSC-EUC-V.bcmap</a:t>
            </a:r>
          </a:p>
          <a:p>
            <a:pPr algn="l">
              <a:lnSpc>
                <a:spcPct val="100000"/>
              </a:lnSpc>
            </a:pPr>
            <a:r>
              <a:rPr sz="800" b="0" i="0">
                <a:solidFill>
                  <a:srgbClr val="ECE7DC"/>
                </a:solidFill>
                <a:latin typeface="Consolas"/>
              </a:rPr>
              <a:t>    │   │       │       │   ├── KSC-H.bcmap</a:t>
            </a:r>
          </a:p>
          <a:p>
            <a:pPr algn="l">
              <a:lnSpc>
                <a:spcPct val="100000"/>
              </a:lnSpc>
            </a:pPr>
            <a:r>
              <a:rPr sz="800" b="0" i="0">
                <a:solidFill>
                  <a:srgbClr val="ECE7DC"/>
                </a:solidFill>
                <a:latin typeface="Consolas"/>
              </a:rPr>
              <a:t>    │   │       │       │   ├── KSC-Johab-H.bcmap</a:t>
            </a:r>
          </a:p>
          <a:p>
            <a:pPr algn="l">
              <a:lnSpc>
                <a:spcPct val="100000"/>
              </a:lnSpc>
            </a:pPr>
            <a:r>
              <a:rPr sz="800" b="0" i="0">
                <a:solidFill>
                  <a:srgbClr val="ECE7DC"/>
                </a:solidFill>
                <a:latin typeface="Consolas"/>
              </a:rPr>
              <a:t>    │   │       │       │   ├── KSC-Johab-V.bcmap</a:t>
            </a:r>
          </a:p>
          <a:p>
            <a:pPr algn="l">
              <a:lnSpc>
                <a:spcPct val="100000"/>
              </a:lnSpc>
            </a:pPr>
            <a:r>
              <a:rPr sz="800" b="0" i="0">
                <a:solidFill>
                  <a:srgbClr val="ECE7DC"/>
                </a:solidFill>
                <a:latin typeface="Consolas"/>
              </a:rPr>
              <a:t>    │   │       │       │   ├── KSC-V.bcmap</a:t>
            </a:r>
          </a:p>
          <a:p>
            <a:pPr algn="l">
              <a:lnSpc>
                <a:spcPct val="100000"/>
              </a:lnSpc>
            </a:pPr>
            <a:r>
              <a:rPr sz="800" b="0" i="0">
                <a:solidFill>
                  <a:srgbClr val="ECE7DC"/>
                </a:solidFill>
                <a:latin typeface="Consolas"/>
              </a:rPr>
              <a:t>    │   │       │       │   ├── KSCms-UHC-H.bcmap</a:t>
            </a:r>
          </a:p>
          <a:p>
            <a:pPr algn="l">
              <a:lnSpc>
                <a:spcPct val="100000"/>
              </a:lnSpc>
            </a:pPr>
            <a:r>
              <a:rPr sz="800" b="0" i="0">
                <a:solidFill>
                  <a:srgbClr val="ECE7DC"/>
                </a:solidFill>
                <a:latin typeface="Consolas"/>
              </a:rPr>
              <a:t>    │   │       │       │   ├── KSCms-UHC-HW-H.bcmap</a:t>
            </a:r>
          </a:p>
          <a:p>
            <a:pPr algn="l">
              <a:lnSpc>
                <a:spcPct val="100000"/>
              </a:lnSpc>
            </a:pPr>
            <a:r>
              <a:rPr sz="800" b="0" i="0">
                <a:solidFill>
                  <a:srgbClr val="ECE7DC"/>
                </a:solidFill>
                <a:latin typeface="Consolas"/>
              </a:rPr>
              <a:t>    │   │       │       │   ├── KSCms-UHC-HW-V.bcmap</a:t>
            </a:r>
          </a:p>
          <a:p>
            <a:pPr algn="l">
              <a:lnSpc>
                <a:spcPct val="100000"/>
              </a:lnSpc>
            </a:pPr>
            <a:r>
              <a:rPr sz="800" b="0" i="0">
                <a:solidFill>
                  <a:srgbClr val="ECE7DC"/>
                </a:solidFill>
                <a:latin typeface="Consolas"/>
              </a:rPr>
              <a:t>    │   │       │       │   ├── KSCms-UHC-V.bcmap</a:t>
            </a:r>
          </a:p>
          <a:p>
            <a:pPr algn="l">
              <a:lnSpc>
                <a:spcPct val="100000"/>
              </a:lnSpc>
            </a:pPr>
            <a:r>
              <a:rPr sz="800" b="0" i="0">
                <a:solidFill>
                  <a:srgbClr val="ECE7DC"/>
                </a:solidFill>
                <a:latin typeface="Consolas"/>
              </a:rPr>
              <a:t>    │   │       │       │   ├── KSCpc-EUC-H.bcmap</a:t>
            </a:r>
          </a:p>
          <a:p>
            <a:pPr algn="l">
              <a:lnSpc>
                <a:spcPct val="100000"/>
              </a:lnSpc>
            </a:pPr>
            <a:r>
              <a:rPr sz="800" b="0" i="0">
                <a:solidFill>
                  <a:srgbClr val="ECE7DC"/>
                </a:solidFill>
                <a:latin typeface="Consolas"/>
              </a:rPr>
              <a:t>    │   │       │       │   ├── KSCpc-EUC-V.bcmap</a:t>
            </a:r>
          </a:p>
          <a:p>
            <a:pPr algn="l">
              <a:lnSpc>
                <a:spcPct val="100000"/>
              </a:lnSpc>
            </a:pPr>
            <a:r>
              <a:rPr sz="800" b="0" i="0">
                <a:solidFill>
                  <a:srgbClr val="ECE7DC"/>
                </a:solidFill>
                <a:latin typeface="Consolas"/>
              </a:rPr>
              <a:t>    │   │       │       │   ├── LICENSE</a:t>
            </a:r>
          </a:p>
          <a:p>
            <a:pPr algn="l">
              <a:lnSpc>
                <a:spcPct val="100000"/>
              </a:lnSpc>
            </a:pPr>
            <a:r>
              <a:rPr sz="800" b="0" i="0">
                <a:solidFill>
                  <a:srgbClr val="ECE7DC"/>
                </a:solidFill>
                <a:latin typeface="Consolas"/>
              </a:rPr>
              <a:t>    │   │       │       │   ├── NWP-H.bcmap</a:t>
            </a:r>
          </a:p>
          <a:p>
            <a:pPr algn="l">
              <a:lnSpc>
                <a:spcPct val="100000"/>
              </a:lnSpc>
            </a:pPr>
            <a:r>
              <a:rPr sz="800" b="0" i="0">
                <a:solidFill>
                  <a:srgbClr val="ECE7DC"/>
                </a:solidFill>
                <a:latin typeface="Consolas"/>
              </a:rPr>
              <a:t>    │   │       │       │   ├── NWP-V.bcmap</a:t>
            </a:r>
          </a:p>
          <a:p>
            <a:pPr algn="l">
              <a:lnSpc>
                <a:spcPct val="100000"/>
              </a:lnSpc>
            </a:pPr>
            <a:r>
              <a:rPr sz="800" b="0" i="0">
                <a:solidFill>
                  <a:srgbClr val="ECE7DC"/>
                </a:solidFill>
                <a:latin typeface="Consolas"/>
              </a:rPr>
              <a:t>    │   │       │       │   ├── RKSJ-H.bcmap</a:t>
            </a:r>
          </a:p>
          <a:p>
            <a:pPr algn="l">
              <a:lnSpc>
                <a:spcPct val="100000"/>
              </a:lnSpc>
            </a:pPr>
            <a:r>
              <a:rPr sz="800" b="0" i="0">
                <a:solidFill>
                  <a:srgbClr val="ECE7DC"/>
                </a:solidFill>
                <a:latin typeface="Consolas"/>
              </a:rPr>
              <a:t>    │   │       │       │   ├── RKSJ-V.bcmap</a:t>
            </a:r>
          </a:p>
          <a:p>
            <a:pPr algn="l">
              <a:lnSpc>
                <a:spcPct val="100000"/>
              </a:lnSpc>
            </a:pPr>
            <a:r>
              <a:rPr sz="800" b="0" i="0">
                <a:solidFill>
                  <a:srgbClr val="ECE7DC"/>
                </a:solidFill>
                <a:latin typeface="Consolas"/>
              </a:rPr>
              <a:t>    │   │       │       │   ├── Roman.bcmap</a:t>
            </a:r>
          </a:p>
          <a:p>
            <a:pPr algn="l">
              <a:lnSpc>
                <a:spcPct val="100000"/>
              </a:lnSpc>
            </a:pPr>
            <a:r>
              <a:rPr sz="800" b="0" i="0">
                <a:solidFill>
                  <a:srgbClr val="ECE7DC"/>
                </a:solidFill>
                <a:latin typeface="Consolas"/>
              </a:rPr>
              <a:t>    │   │       │       │   ├── UniCNS-UCS2-H.bcmap</a:t>
            </a:r>
          </a:p>
          <a:p>
            <a:pPr algn="l">
              <a:lnSpc>
                <a:spcPct val="100000"/>
              </a:lnSpc>
            </a:pPr>
            <a:r>
              <a:rPr sz="800" b="0" i="0">
                <a:solidFill>
                  <a:srgbClr val="ECE7DC"/>
                </a:solidFill>
                <a:latin typeface="Consolas"/>
              </a:rPr>
              <a:t>    │   │       │       │   ├── UniCNS-UCS2-V.bcmap</a:t>
            </a:r>
          </a:p>
          <a:p>
            <a:pPr algn="l">
              <a:lnSpc>
                <a:spcPct val="100000"/>
              </a:lnSpc>
            </a:pPr>
            <a:r>
              <a:rPr sz="800" b="0" i="0">
                <a:solidFill>
                  <a:srgbClr val="ECE7DC"/>
                </a:solidFill>
                <a:latin typeface="Consolas"/>
              </a:rPr>
              <a:t>    │   │       │       │   ├── UniCNS-UTF16-H.bcmap</a:t>
            </a:r>
          </a:p>
          <a:p>
            <a:pPr algn="l">
              <a:lnSpc>
                <a:spcPct val="100000"/>
              </a:lnSpc>
            </a:pPr>
            <a:r>
              <a:rPr sz="800" b="0" i="0">
                <a:solidFill>
                  <a:srgbClr val="ECE7DC"/>
                </a:solidFill>
                <a:latin typeface="Consolas"/>
              </a:rPr>
              <a:t>    │   │       │       │   ├── UniCNS-UTF16-V.bcmap</a:t>
            </a:r>
          </a:p>
          <a:p>
            <a:pPr algn="l">
              <a:lnSpc>
                <a:spcPct val="100000"/>
              </a:lnSpc>
            </a:pPr>
            <a:r>
              <a:rPr sz="800" b="0" i="0">
                <a:solidFill>
                  <a:srgbClr val="ECE7DC"/>
                </a:solidFill>
                <a:latin typeface="Consolas"/>
              </a:rPr>
              <a:t>    │   │       │       │   ├── UniCNS-UTF32-H.bcmap</a:t>
            </a:r>
          </a:p>
          <a:p>
            <a:pPr algn="l">
              <a:lnSpc>
                <a:spcPct val="100000"/>
              </a:lnSpc>
            </a:pPr>
            <a:r>
              <a:rPr sz="800" b="0" i="0">
                <a:solidFill>
                  <a:srgbClr val="ECE7DC"/>
                </a:solidFill>
                <a:latin typeface="Consolas"/>
              </a:rPr>
              <a:t>    │   │       │       │   ├── UniCNS-UTF32-V.bcmap</a:t>
            </a:r>
          </a:p>
          <a:p>
            <a:pPr algn="l">
              <a:lnSpc>
                <a:spcPct val="100000"/>
              </a:lnSpc>
            </a:pPr>
            <a:r>
              <a:rPr sz="800" b="0" i="0">
                <a:solidFill>
                  <a:srgbClr val="ECE7DC"/>
                </a:solidFill>
                <a:latin typeface="Consolas"/>
              </a:rPr>
              <a:t>    │   │       │       │   ├── UniCNS-UTF8-H.bcmap</a:t>
            </a:r>
          </a:p>
          <a:p>
            <a:pPr algn="l">
              <a:lnSpc>
                <a:spcPct val="100000"/>
              </a:lnSpc>
            </a:pPr>
            <a:r>
              <a:rPr sz="800" b="0" i="0">
                <a:solidFill>
                  <a:srgbClr val="ECE7DC"/>
                </a:solidFill>
                <a:latin typeface="Consolas"/>
              </a:rPr>
              <a:t>    │   │       │       │   ├── UniCNS-UTF8-V.bcmap</a:t>
            </a:r>
          </a:p>
          <a:p>
            <a:pPr algn="l">
              <a:lnSpc>
                <a:spcPct val="100000"/>
              </a:lnSpc>
            </a:pPr>
            <a:r>
              <a:rPr sz="800" b="0" i="0">
                <a:solidFill>
                  <a:srgbClr val="ECE7DC"/>
                </a:solidFill>
                <a:latin typeface="Consolas"/>
              </a:rPr>
              <a:t>    │   │       │       │   ├── UniGB-UCS2-H.bcmap</a:t>
            </a:r>
          </a:p>
          <a:p>
            <a:pPr algn="l">
              <a:lnSpc>
                <a:spcPct val="100000"/>
              </a:lnSpc>
            </a:pPr>
            <a:r>
              <a:rPr sz="800" b="0" i="0">
                <a:solidFill>
                  <a:srgbClr val="ECE7DC"/>
                </a:solidFill>
                <a:latin typeface="Consolas"/>
              </a:rPr>
              <a:t>    │   │       │       │   ├── UniGB-UCS2-V.bcmap</a:t>
            </a:r>
          </a:p>
          <a:p>
            <a:pPr algn="l">
              <a:lnSpc>
                <a:spcPct val="100000"/>
              </a:lnSpc>
            </a:pPr>
            <a:r>
              <a:rPr sz="800" b="0" i="0">
                <a:solidFill>
                  <a:srgbClr val="ECE7DC"/>
                </a:solidFill>
                <a:latin typeface="Consolas"/>
              </a:rPr>
              <a:t>    │   │       │       │   ├── UniGB-UTF16-H.bcmap</a:t>
            </a:r>
          </a:p>
          <a:p>
            <a:pPr algn="l">
              <a:lnSpc>
                <a:spcPct val="100000"/>
              </a:lnSpc>
            </a:pPr>
            <a:r>
              <a:rPr sz="800" b="0" i="0">
                <a:solidFill>
                  <a:srgbClr val="ECE7DC"/>
                </a:solidFill>
                <a:latin typeface="Consolas"/>
              </a:rPr>
              <a:t>    │   │       │       │   ├── UniGB-UTF16-V.bcmap</a:t>
            </a:r>
          </a:p>
          <a:p>
            <a:pPr algn="l">
              <a:lnSpc>
                <a:spcPct val="100000"/>
              </a:lnSpc>
            </a:pPr>
            <a:r>
              <a:rPr sz="800" b="0" i="0">
                <a:solidFill>
                  <a:srgbClr val="ECE7DC"/>
                </a:solidFill>
                <a:latin typeface="Consolas"/>
              </a:rPr>
              <a:t>    │   │       │       │   ├── UniGB-UTF32-H.bcmap</a:t>
            </a:r>
          </a:p>
          <a:p>
            <a:pPr algn="l">
              <a:lnSpc>
                <a:spcPct val="100000"/>
              </a:lnSpc>
            </a:pPr>
            <a:r>
              <a:rPr sz="800" b="0" i="0">
                <a:solidFill>
                  <a:srgbClr val="ECE7DC"/>
                </a:solidFill>
                <a:latin typeface="Consolas"/>
              </a:rPr>
              <a:t>    │   │       │       │   ├── UniGB-UTF32-V.bcmap</a:t>
            </a:r>
          </a:p>
          <a:p>
            <a:pPr algn="l">
              <a:lnSpc>
                <a:spcPct val="100000"/>
              </a:lnSpc>
            </a:pPr>
            <a:r>
              <a:rPr sz="800" b="0" i="0">
                <a:solidFill>
                  <a:srgbClr val="ECE7DC"/>
                </a:solidFill>
                <a:latin typeface="Consolas"/>
              </a:rPr>
              <a:t>    │   │       │       │   ├── UniGB-UTF8-H.bcmap</a:t>
            </a:r>
          </a:p>
          <a:p>
            <a:pPr algn="l">
              <a:lnSpc>
                <a:spcPct val="100000"/>
              </a:lnSpc>
            </a:pPr>
            <a:r>
              <a:rPr sz="800" b="0" i="0">
                <a:solidFill>
                  <a:srgbClr val="ECE7DC"/>
                </a:solidFill>
                <a:latin typeface="Consolas"/>
              </a:rPr>
              <a:t>    │   │       │       │   ├── UniGB-UTF8-V.bcmap</a:t>
            </a:r>
          </a:p>
          <a:p>
            <a:pPr algn="l">
              <a:lnSpc>
                <a:spcPct val="100000"/>
              </a:lnSpc>
            </a:pPr>
            <a:r>
              <a:rPr sz="800" b="0" i="0">
                <a:solidFill>
                  <a:srgbClr val="ECE7DC"/>
                </a:solidFill>
                <a:latin typeface="Consolas"/>
              </a:rPr>
              <a:t>    │   │       │       │   ├── UniJIS-UCS2-H.bcmap</a:t>
            </a:r>
          </a:p>
          <a:p>
            <a:pPr algn="l">
              <a:lnSpc>
                <a:spcPct val="100000"/>
              </a:lnSpc>
            </a:pPr>
            <a:r>
              <a:rPr sz="800" b="0" i="0">
                <a:solidFill>
                  <a:srgbClr val="ECE7DC"/>
                </a:solidFill>
                <a:latin typeface="Consolas"/>
              </a:rPr>
              <a:t>    │   │       │       │   ├── UniJIS-UCS2-HW-H.bcmap</a:t>
            </a:r>
          </a:p>
          <a:p>
            <a:pPr algn="l">
              <a:lnSpc>
                <a:spcPct val="100000"/>
              </a:lnSpc>
            </a:pPr>
            <a:r>
              <a:rPr sz="800" b="0" i="0">
                <a:solidFill>
                  <a:srgbClr val="ECE7DC"/>
                </a:solidFill>
                <a:latin typeface="Consolas"/>
              </a:rPr>
              <a:t>    │   │       │       │   ├── UniJIS-UCS2-HW-V.bcmap</a:t>
            </a:r>
          </a:p>
          <a:p>
            <a:pPr algn="l">
              <a:lnSpc>
                <a:spcPct val="100000"/>
              </a:lnSpc>
            </a:pPr>
            <a:r>
              <a:rPr sz="800" b="0" i="0">
                <a:solidFill>
                  <a:srgbClr val="ECE7DC"/>
                </a:solidFill>
                <a:latin typeface="Consolas"/>
              </a:rPr>
              <a:t>    │   │       │       │   ├── UniJIS-UCS2-V.bcmap</a:t>
            </a:r>
          </a:p>
          <a:p>
            <a:pPr algn="l">
              <a:lnSpc>
                <a:spcPct val="100000"/>
              </a:lnSpc>
            </a:pPr>
            <a:r>
              <a:rPr sz="800" b="0" i="0">
                <a:solidFill>
                  <a:srgbClr val="ECE7DC"/>
                </a:solidFill>
                <a:latin typeface="Consolas"/>
              </a:rPr>
              <a:t>    │   │       │       │   ├── UniJIS-UTF16-H.bcmap</a:t>
            </a:r>
          </a:p>
          <a:p>
            <a:pPr algn="l">
              <a:lnSpc>
                <a:spcPct val="100000"/>
              </a:lnSpc>
            </a:pPr>
            <a:r>
              <a:rPr sz="800" b="0" i="0">
                <a:solidFill>
                  <a:srgbClr val="ECE7DC"/>
                </a:solidFill>
                <a:latin typeface="Consolas"/>
              </a:rPr>
              <a:t>    │   │       │       │   ├── UniJIS-UTF16-V.bcmap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UniJIS-UTF32-H.bcmap</a:t>
            </a:r>
          </a:p>
          <a:p>
            <a:pPr algn="l">
              <a:lnSpc>
                <a:spcPct val="100000"/>
              </a:lnSpc>
            </a:pPr>
            <a:r>
              <a:rPr sz="800" b="0" i="0">
                <a:solidFill>
                  <a:srgbClr val="ECE7DC"/>
                </a:solidFill>
                <a:latin typeface="Consolas"/>
              </a:rPr>
              <a:t>    │   │       │       │   ├── UniJIS-UTF32-V.bcmap</a:t>
            </a:r>
          </a:p>
          <a:p>
            <a:pPr algn="l">
              <a:lnSpc>
                <a:spcPct val="100000"/>
              </a:lnSpc>
            </a:pPr>
            <a:r>
              <a:rPr sz="800" b="0" i="0">
                <a:solidFill>
                  <a:srgbClr val="ECE7DC"/>
                </a:solidFill>
                <a:latin typeface="Consolas"/>
              </a:rPr>
              <a:t>    │   │       │       │   ├── UniJIS-UTF8-H.bcmap</a:t>
            </a:r>
          </a:p>
          <a:p>
            <a:pPr algn="l">
              <a:lnSpc>
                <a:spcPct val="100000"/>
              </a:lnSpc>
            </a:pPr>
            <a:r>
              <a:rPr sz="800" b="0" i="0">
                <a:solidFill>
                  <a:srgbClr val="ECE7DC"/>
                </a:solidFill>
                <a:latin typeface="Consolas"/>
              </a:rPr>
              <a:t>    │   │       │       │   ├── UniJIS-UTF8-V.bcmap</a:t>
            </a:r>
          </a:p>
          <a:p>
            <a:pPr algn="l">
              <a:lnSpc>
                <a:spcPct val="100000"/>
              </a:lnSpc>
            </a:pPr>
            <a:r>
              <a:rPr sz="800" b="0" i="0">
                <a:solidFill>
                  <a:srgbClr val="ECE7DC"/>
                </a:solidFill>
                <a:latin typeface="Consolas"/>
              </a:rPr>
              <a:t>    │   │       │       │   ├── UniJIS2004-UTF16-H.bcmap</a:t>
            </a:r>
          </a:p>
          <a:p>
            <a:pPr algn="l">
              <a:lnSpc>
                <a:spcPct val="100000"/>
              </a:lnSpc>
            </a:pPr>
            <a:r>
              <a:rPr sz="800" b="0" i="0">
                <a:solidFill>
                  <a:srgbClr val="ECE7DC"/>
                </a:solidFill>
                <a:latin typeface="Consolas"/>
              </a:rPr>
              <a:t>    │   │       │       │   ├── UniJIS2004-UTF16-V.bcmap</a:t>
            </a:r>
          </a:p>
          <a:p>
            <a:pPr algn="l">
              <a:lnSpc>
                <a:spcPct val="100000"/>
              </a:lnSpc>
            </a:pPr>
            <a:r>
              <a:rPr sz="800" b="0" i="0">
                <a:solidFill>
                  <a:srgbClr val="ECE7DC"/>
                </a:solidFill>
                <a:latin typeface="Consolas"/>
              </a:rPr>
              <a:t>    │   │       │       │   ├── UniJIS2004-UTF32-H.bcmap</a:t>
            </a:r>
          </a:p>
          <a:p>
            <a:pPr algn="l">
              <a:lnSpc>
                <a:spcPct val="100000"/>
              </a:lnSpc>
            </a:pPr>
            <a:r>
              <a:rPr sz="800" b="0" i="0">
                <a:solidFill>
                  <a:srgbClr val="ECE7DC"/>
                </a:solidFill>
                <a:latin typeface="Consolas"/>
              </a:rPr>
              <a:t>    │   │       │       │   ├── UniJIS2004-UTF32-V.bcmap</a:t>
            </a:r>
          </a:p>
          <a:p>
            <a:pPr algn="l">
              <a:lnSpc>
                <a:spcPct val="100000"/>
              </a:lnSpc>
            </a:pPr>
            <a:r>
              <a:rPr sz="800" b="0" i="0">
                <a:solidFill>
                  <a:srgbClr val="ECE7DC"/>
                </a:solidFill>
                <a:latin typeface="Consolas"/>
              </a:rPr>
              <a:t>    │   │       │       │   ├── UniJIS2004-UTF8-H.bcmap</a:t>
            </a:r>
          </a:p>
          <a:p>
            <a:pPr algn="l">
              <a:lnSpc>
                <a:spcPct val="100000"/>
              </a:lnSpc>
            </a:pPr>
            <a:r>
              <a:rPr sz="800" b="0" i="0">
                <a:solidFill>
                  <a:srgbClr val="ECE7DC"/>
                </a:solidFill>
                <a:latin typeface="Consolas"/>
              </a:rPr>
              <a:t>    │   │       │       │   ├── UniJIS2004-UTF8-V.bcmap</a:t>
            </a:r>
          </a:p>
          <a:p>
            <a:pPr algn="l">
              <a:lnSpc>
                <a:spcPct val="100000"/>
              </a:lnSpc>
            </a:pPr>
            <a:r>
              <a:rPr sz="800" b="0" i="0">
                <a:solidFill>
                  <a:srgbClr val="ECE7DC"/>
                </a:solidFill>
                <a:latin typeface="Consolas"/>
              </a:rPr>
              <a:t>    │   │       │       │   ├── UniJISPro-UCS2-HW-V.bcma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UniJISPro-UCS2-V.bcmap</a:t>
            </a:r>
          </a:p>
          <a:p>
            <a:pPr algn="l">
              <a:lnSpc>
                <a:spcPct val="100000"/>
              </a:lnSpc>
            </a:pPr>
            <a:r>
              <a:rPr sz="800" b="0" i="0">
                <a:solidFill>
                  <a:srgbClr val="ECE7DC"/>
                </a:solidFill>
                <a:latin typeface="Consolas"/>
              </a:rPr>
              <a:t>    │   │       │       │   ├── UniJISPro-UTF8-V.bcmap</a:t>
            </a:r>
          </a:p>
          <a:p>
            <a:pPr algn="l">
              <a:lnSpc>
                <a:spcPct val="100000"/>
              </a:lnSpc>
            </a:pPr>
            <a:r>
              <a:rPr sz="800" b="0" i="0">
                <a:solidFill>
                  <a:srgbClr val="ECE7DC"/>
                </a:solidFill>
                <a:latin typeface="Consolas"/>
              </a:rPr>
              <a:t>    │   │       │       │   ├── UniJISX0213-UTF32-H.bcma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UniJISX0213-UTF32-V.bcma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UniJISX02132004-UTF32-H.</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UniJISX02132004-UTF32-V.</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UniKS-UCS2-H.bcmap</a:t>
            </a:r>
          </a:p>
          <a:p>
            <a:pPr algn="l">
              <a:lnSpc>
                <a:spcPct val="100000"/>
              </a:lnSpc>
            </a:pPr>
            <a:r>
              <a:rPr sz="800" b="0" i="0">
                <a:solidFill>
                  <a:srgbClr val="ECE7DC"/>
                </a:solidFill>
                <a:latin typeface="Consolas"/>
              </a:rPr>
              <a:t>    │   │       │       │   ├── UniKS-UCS2-V.bcmap</a:t>
            </a:r>
          </a:p>
          <a:p>
            <a:pPr algn="l">
              <a:lnSpc>
                <a:spcPct val="100000"/>
              </a:lnSpc>
            </a:pPr>
            <a:r>
              <a:rPr sz="800" b="0" i="0">
                <a:solidFill>
                  <a:srgbClr val="ECE7DC"/>
                </a:solidFill>
                <a:latin typeface="Consolas"/>
              </a:rPr>
              <a:t>    │   │       │       │   ├── UniKS-UTF16-H.bcmap</a:t>
            </a:r>
          </a:p>
          <a:p>
            <a:pPr algn="l">
              <a:lnSpc>
                <a:spcPct val="100000"/>
              </a:lnSpc>
            </a:pPr>
            <a:r>
              <a:rPr sz="800" b="0" i="0">
                <a:solidFill>
                  <a:srgbClr val="ECE7DC"/>
                </a:solidFill>
                <a:latin typeface="Consolas"/>
              </a:rPr>
              <a:t>    │   │       │       │   ├── UniKS-UTF16-V.bcmap</a:t>
            </a:r>
          </a:p>
          <a:p>
            <a:pPr algn="l">
              <a:lnSpc>
                <a:spcPct val="100000"/>
              </a:lnSpc>
            </a:pPr>
            <a:r>
              <a:rPr sz="800" b="0" i="0">
                <a:solidFill>
                  <a:srgbClr val="ECE7DC"/>
                </a:solidFill>
                <a:latin typeface="Consolas"/>
              </a:rPr>
              <a:t>    │   │       │       │   ├── UniKS-UTF32-H.bcmap</a:t>
            </a:r>
          </a:p>
          <a:p>
            <a:pPr algn="l">
              <a:lnSpc>
                <a:spcPct val="100000"/>
              </a:lnSpc>
            </a:pPr>
            <a:r>
              <a:rPr sz="800" b="0" i="0">
                <a:solidFill>
                  <a:srgbClr val="ECE7DC"/>
                </a:solidFill>
                <a:latin typeface="Consolas"/>
              </a:rPr>
              <a:t>    │   │       │       │   ├── UniKS-UTF32-V.bcmap</a:t>
            </a:r>
          </a:p>
          <a:p>
            <a:pPr algn="l">
              <a:lnSpc>
                <a:spcPct val="100000"/>
              </a:lnSpc>
            </a:pPr>
            <a:r>
              <a:rPr sz="800" b="0" i="0">
                <a:solidFill>
                  <a:srgbClr val="ECE7DC"/>
                </a:solidFill>
                <a:latin typeface="Consolas"/>
              </a:rPr>
              <a:t>    │   │       │       │   ├── UniKS-UTF8-H.bcmap</a:t>
            </a:r>
          </a:p>
          <a:p>
            <a:pPr algn="l">
              <a:lnSpc>
                <a:spcPct val="100000"/>
              </a:lnSpc>
            </a:pPr>
            <a:r>
              <a:rPr sz="800" b="0" i="0">
                <a:solidFill>
                  <a:srgbClr val="ECE7DC"/>
                </a:solidFill>
                <a:latin typeface="Consolas"/>
              </a:rPr>
              <a:t>    │   │       │       │   ├── UniKS-UTF8-V.bcmap</a:t>
            </a:r>
          </a:p>
          <a:p>
            <a:pPr algn="l">
              <a:lnSpc>
                <a:spcPct val="100000"/>
              </a:lnSpc>
            </a:pPr>
            <a:r>
              <a:rPr sz="800" b="0" i="0">
                <a:solidFill>
                  <a:srgbClr val="ECE7DC"/>
                </a:solidFill>
                <a:latin typeface="Consolas"/>
              </a:rPr>
              <a:t>    │   │       │       │   ├── V.bcmap</a:t>
            </a:r>
          </a:p>
          <a:p>
            <a:pPr algn="l">
              <a:lnSpc>
                <a:spcPct val="100000"/>
              </a:lnSpc>
            </a:pPr>
            <a:r>
              <a:rPr sz="800" b="0" i="0">
                <a:solidFill>
                  <a:srgbClr val="ECE7DC"/>
                </a:solidFill>
                <a:latin typeface="Consolas"/>
              </a:rPr>
              <a:t>    │   │       │       │   └── WP-Symbol.bcmap</a:t>
            </a:r>
          </a:p>
          <a:p>
            <a:pPr algn="l">
              <a:lnSpc>
                <a:spcPct val="100000"/>
              </a:lnSpc>
            </a:pPr>
            <a:r>
              <a:rPr sz="800" b="0" i="0">
                <a:solidFill>
                  <a:srgbClr val="3BBE93"/>
                </a:solidFill>
                <a:latin typeface="Consolas"/>
              </a:rPr>
              <a:t>    │   │       │       ├── iccs/</a:t>
            </a:r>
          </a:p>
          <a:p>
            <a:pPr algn="l">
              <a:lnSpc>
                <a:spcPct val="100000"/>
              </a:lnSpc>
            </a:pPr>
            <a:r>
              <a:rPr sz="800" b="0" i="0">
                <a:solidFill>
                  <a:srgbClr val="ECE7DC"/>
                </a:solidFill>
                <a:latin typeface="Consolas"/>
              </a:rPr>
              <a:t>    │   │       │       │   ├── CGATS001Compat-v2-micro.</a:t>
            </a:r>
          </a:p>
          <a:p>
            <a:pPr algn="l">
              <a:lnSpc>
                <a:spcPct val="100000"/>
              </a:lnSpc>
            </a:pPr>
            <a:r>
              <a:rPr sz="800" b="0" i="0">
                <a:solidFill>
                  <a:srgbClr val="ECE7DC"/>
                </a:solidFill>
                <a:latin typeface="Consolas"/>
              </a:rPr>
              <a:t>    │   │       │       │   │     » icc</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standard_fonts/</a:t>
            </a:r>
          </a:p>
          <a:p>
            <a:pPr algn="l">
              <a:lnSpc>
                <a:spcPct val="100000"/>
              </a:lnSpc>
            </a:pPr>
            <a:r>
              <a:rPr sz="800" b="0" i="0">
                <a:solidFill>
                  <a:srgbClr val="ECE7DC"/>
                </a:solidFill>
                <a:latin typeface="Consolas"/>
              </a:rPr>
              <a:t>    │   │       │       │   ├── FoxitDingbats.pfb</a:t>
            </a:r>
          </a:p>
          <a:p>
            <a:pPr algn="l">
              <a:lnSpc>
                <a:spcPct val="100000"/>
              </a:lnSpc>
            </a:pPr>
            <a:r>
              <a:rPr sz="800" b="0" i="0">
                <a:solidFill>
                  <a:srgbClr val="ECE7DC"/>
                </a:solidFill>
                <a:latin typeface="Consolas"/>
              </a:rPr>
              <a:t>    │   │       │       │   ├── FoxitFixed.pfb</a:t>
            </a:r>
          </a:p>
          <a:p>
            <a:pPr algn="l">
              <a:lnSpc>
                <a:spcPct val="100000"/>
              </a:lnSpc>
            </a:pPr>
            <a:r>
              <a:rPr sz="800" b="0" i="0">
                <a:solidFill>
                  <a:srgbClr val="ECE7DC"/>
                </a:solidFill>
                <a:latin typeface="Consolas"/>
              </a:rPr>
              <a:t>    │   │       │       │   ├── FoxitFixedBold.pfb</a:t>
            </a:r>
          </a:p>
          <a:p>
            <a:pPr algn="l">
              <a:lnSpc>
                <a:spcPct val="100000"/>
              </a:lnSpc>
            </a:pPr>
            <a:r>
              <a:rPr sz="800" b="0" i="0">
                <a:solidFill>
                  <a:srgbClr val="ECE7DC"/>
                </a:solidFill>
                <a:latin typeface="Consolas"/>
              </a:rPr>
              <a:t>    │   │       │       │   ├── FoxitFixedBoldItalic.pfb</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153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16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1,688 tracked files at commit 113eddc4;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FoxitFixedItalic.pfb</a:t>
            </a:r>
          </a:p>
          <a:p>
            <a:pPr algn="l">
              <a:lnSpc>
                <a:spcPct val="100000"/>
              </a:lnSpc>
            </a:pPr>
            <a:r>
              <a:rPr sz="800" b="0" i="0">
                <a:solidFill>
                  <a:srgbClr val="ECE7DC"/>
                </a:solidFill>
                <a:latin typeface="Consolas"/>
              </a:rPr>
              <a:t>    │   │       │       │   ├── FoxitSerif.pfb</a:t>
            </a:r>
          </a:p>
          <a:p>
            <a:pPr algn="l">
              <a:lnSpc>
                <a:spcPct val="100000"/>
              </a:lnSpc>
            </a:pPr>
            <a:r>
              <a:rPr sz="800" b="0" i="0">
                <a:solidFill>
                  <a:srgbClr val="ECE7DC"/>
                </a:solidFill>
                <a:latin typeface="Consolas"/>
              </a:rPr>
              <a:t>    │   │       │       │   ├── FoxitSerifBold.pfb</a:t>
            </a:r>
          </a:p>
          <a:p>
            <a:pPr algn="l">
              <a:lnSpc>
                <a:spcPct val="100000"/>
              </a:lnSpc>
            </a:pPr>
            <a:r>
              <a:rPr sz="800" b="0" i="0">
                <a:solidFill>
                  <a:srgbClr val="ECE7DC"/>
                </a:solidFill>
                <a:latin typeface="Consolas"/>
              </a:rPr>
              <a:t>    │   │       │       │   ├── FoxitSerifBoldItalic.pfb</a:t>
            </a:r>
          </a:p>
          <a:p>
            <a:pPr algn="l">
              <a:lnSpc>
                <a:spcPct val="100000"/>
              </a:lnSpc>
            </a:pPr>
            <a:r>
              <a:rPr sz="800" b="0" i="0">
                <a:solidFill>
                  <a:srgbClr val="ECE7DC"/>
                </a:solidFill>
                <a:latin typeface="Consolas"/>
              </a:rPr>
              <a:t>    │   │       │       │   ├── FoxitSerifItalic.pfb</a:t>
            </a:r>
          </a:p>
          <a:p>
            <a:pPr algn="l">
              <a:lnSpc>
                <a:spcPct val="100000"/>
              </a:lnSpc>
            </a:pPr>
            <a:r>
              <a:rPr sz="800" b="0" i="0">
                <a:solidFill>
                  <a:srgbClr val="ECE7DC"/>
                </a:solidFill>
                <a:latin typeface="Consolas"/>
              </a:rPr>
              <a:t>    │   │       │       │   ├── FoxitSymbol.pfb</a:t>
            </a:r>
          </a:p>
          <a:p>
            <a:pPr algn="l">
              <a:lnSpc>
                <a:spcPct val="100000"/>
              </a:lnSpc>
            </a:pPr>
            <a:r>
              <a:rPr sz="800" b="0" i="0">
                <a:solidFill>
                  <a:srgbClr val="ECE7DC"/>
                </a:solidFill>
                <a:latin typeface="Consolas"/>
              </a:rPr>
              <a:t>    │   │       │       │   ├── LiberationSans-Bold.ttf</a:t>
            </a:r>
          </a:p>
          <a:p>
            <a:pPr algn="l">
              <a:lnSpc>
                <a:spcPct val="100000"/>
              </a:lnSpc>
            </a:pPr>
            <a:r>
              <a:rPr sz="800" b="0" i="0">
                <a:solidFill>
                  <a:srgbClr val="ECE7DC"/>
                </a:solidFill>
                <a:latin typeface="Consolas"/>
              </a:rPr>
              <a:t>    │   │       │       │   ├── LiberationSans-BoldItali</a:t>
            </a:r>
          </a:p>
          <a:p>
            <a:pPr algn="l">
              <a:lnSpc>
                <a:spcPct val="100000"/>
              </a:lnSpc>
            </a:pPr>
            <a:r>
              <a:rPr sz="800" b="0" i="0">
                <a:solidFill>
                  <a:srgbClr val="ECE7DC"/>
                </a:solidFill>
                <a:latin typeface="Consolas"/>
              </a:rPr>
              <a:t>    │   │       │       │   │     » c.ttf</a:t>
            </a:r>
          </a:p>
          <a:p>
            <a:pPr algn="l">
              <a:lnSpc>
                <a:spcPct val="100000"/>
              </a:lnSpc>
            </a:pPr>
            <a:r>
              <a:rPr sz="800" b="0" i="0">
                <a:solidFill>
                  <a:srgbClr val="ECE7DC"/>
                </a:solidFill>
                <a:latin typeface="Consolas"/>
              </a:rPr>
              <a:t>    │   │       │       │   ├── LiberationSans-Italic.tt</a:t>
            </a:r>
          </a:p>
          <a:p>
            <a:pPr algn="l">
              <a:lnSpc>
                <a:spcPct val="100000"/>
              </a:lnSpc>
            </a:pPr>
            <a:r>
              <a:rPr sz="800" b="0" i="0">
                <a:solidFill>
                  <a:srgbClr val="ECE7DC"/>
                </a:solidFill>
                <a:latin typeface="Consolas"/>
              </a:rPr>
              <a:t>    │   │       │       │   │     » f</a:t>
            </a:r>
          </a:p>
          <a:p>
            <a:pPr algn="l">
              <a:lnSpc>
                <a:spcPct val="100000"/>
              </a:lnSpc>
            </a:pPr>
            <a:r>
              <a:rPr sz="800" b="0" i="0">
                <a:solidFill>
                  <a:srgbClr val="ECE7DC"/>
                </a:solidFill>
                <a:latin typeface="Consolas"/>
              </a:rPr>
              <a:t>    │   │       │       │   ├── LiberationSans-Regular.t</a:t>
            </a:r>
          </a:p>
          <a:p>
            <a:pPr algn="l">
              <a:lnSpc>
                <a:spcPct val="100000"/>
              </a:lnSpc>
            </a:pPr>
            <a:r>
              <a:rPr sz="800" b="0" i="0">
                <a:solidFill>
                  <a:srgbClr val="ECE7DC"/>
                </a:solidFill>
                <a:latin typeface="Consolas"/>
              </a:rPr>
              <a:t>    │   │       │       │   │     » tf</a:t>
            </a:r>
          </a:p>
          <a:p>
            <a:pPr algn="l">
              <a:lnSpc>
                <a:spcPct val="100000"/>
              </a:lnSpc>
            </a:pPr>
            <a:r>
              <a:rPr sz="800" b="0" i="0">
                <a:solidFill>
                  <a:srgbClr val="ECE7DC"/>
                </a:solidFill>
                <a:latin typeface="Consolas"/>
              </a:rPr>
              <a:t>    │   │       │       │   ├── LICENSE_FOXIT</a:t>
            </a:r>
          </a:p>
          <a:p>
            <a:pPr algn="l">
              <a:lnSpc>
                <a:spcPct val="100000"/>
              </a:lnSpc>
            </a:pPr>
            <a:r>
              <a:rPr sz="800" b="0" i="0">
                <a:solidFill>
                  <a:srgbClr val="ECE7DC"/>
                </a:solidFill>
                <a:latin typeface="Consolas"/>
              </a:rPr>
              <a:t>    │   │       │       │   └── LICENSE_LIBERATION</a:t>
            </a:r>
          </a:p>
          <a:p>
            <a:pPr algn="l">
              <a:lnSpc>
                <a:spcPct val="100000"/>
              </a:lnSpc>
            </a:pPr>
            <a:r>
              <a:rPr sz="800" b="0" i="0">
                <a:solidFill>
                  <a:srgbClr val="3BBE93"/>
                </a:solidFill>
                <a:latin typeface="Consolas"/>
              </a:rPr>
              <a:t>    │   │       │       ├── wasm/</a:t>
            </a:r>
          </a:p>
          <a:p>
            <a:pPr algn="l">
              <a:lnSpc>
                <a:spcPct val="100000"/>
              </a:lnSpc>
            </a:pPr>
            <a:r>
              <a:rPr sz="800" b="0" i="0">
                <a:solidFill>
                  <a:srgbClr val="ECE7DC"/>
                </a:solidFill>
                <a:latin typeface="Consolas"/>
              </a:rPr>
              <a:t>    │   │       │       │   ├── jbig2.wasm</a:t>
            </a:r>
          </a:p>
          <a:p>
            <a:pPr algn="l">
              <a:lnSpc>
                <a:spcPct val="100000"/>
              </a:lnSpc>
            </a:pPr>
            <a:r>
              <a:rPr sz="800" b="0" i="0">
                <a:solidFill>
                  <a:srgbClr val="ECE7DC"/>
                </a:solidFill>
                <a:latin typeface="Consolas"/>
              </a:rPr>
              <a:t>    │   │       │       │   ├── jbig2_nowasm_fallback.js</a:t>
            </a:r>
          </a:p>
          <a:p>
            <a:pPr algn="l">
              <a:lnSpc>
                <a:spcPct val="100000"/>
              </a:lnSpc>
            </a:pPr>
            <a:r>
              <a:rPr sz="800" b="0" i="0">
                <a:solidFill>
                  <a:srgbClr val="ECE7DC"/>
                </a:solidFill>
                <a:latin typeface="Consolas"/>
              </a:rPr>
              <a:t>    │   │       │       │   ├── LICENSE_JBIG2</a:t>
            </a:r>
          </a:p>
          <a:p>
            <a:pPr algn="l">
              <a:lnSpc>
                <a:spcPct val="100000"/>
              </a:lnSpc>
            </a:pPr>
            <a:r>
              <a:rPr sz="800" b="0" i="0">
                <a:solidFill>
                  <a:srgbClr val="ECE7DC"/>
                </a:solidFill>
                <a:latin typeface="Consolas"/>
              </a:rPr>
              <a:t>    │   │       │       │   ├── LICENSE_OPENJPEG</a:t>
            </a:r>
          </a:p>
          <a:p>
            <a:pPr algn="l">
              <a:lnSpc>
                <a:spcPct val="100000"/>
              </a:lnSpc>
            </a:pPr>
            <a:r>
              <a:rPr sz="800" b="0" i="0">
                <a:solidFill>
                  <a:srgbClr val="ECE7DC"/>
                </a:solidFill>
                <a:latin typeface="Consolas"/>
              </a:rPr>
              <a:t>    │   │       │       │   ├── LICENSE_PDFJS_JBIG2</a:t>
            </a:r>
          </a:p>
          <a:p>
            <a:pPr algn="l">
              <a:lnSpc>
                <a:spcPct val="100000"/>
              </a:lnSpc>
            </a:pPr>
            <a:r>
              <a:rPr sz="800" b="0" i="0">
                <a:solidFill>
                  <a:srgbClr val="ECE7DC"/>
                </a:solidFill>
                <a:latin typeface="Consolas"/>
              </a:rPr>
              <a:t>    │   │       │       │   ├── LICENSE_PDFJS_OPENJPEG</a:t>
            </a:r>
          </a:p>
          <a:p>
            <a:pPr algn="l">
              <a:lnSpc>
                <a:spcPct val="100000"/>
              </a:lnSpc>
            </a:pPr>
            <a:r>
              <a:rPr sz="800" b="0" i="0">
                <a:solidFill>
                  <a:srgbClr val="ECE7DC"/>
                </a:solidFill>
                <a:latin typeface="Consolas"/>
              </a:rPr>
              <a:t>    │   │       │       │   ├── LICENSE_PDFJS_QCMS</a:t>
            </a:r>
          </a:p>
          <a:p>
            <a:pPr algn="l">
              <a:lnSpc>
                <a:spcPct val="100000"/>
              </a:lnSpc>
            </a:pPr>
            <a:r>
              <a:rPr sz="800" b="0" i="0">
                <a:solidFill>
                  <a:srgbClr val="ECE7DC"/>
                </a:solidFill>
                <a:latin typeface="Consolas"/>
              </a:rPr>
              <a:t>    │   │       │       │   ├── LICENSE_QCMS</a:t>
            </a:r>
          </a:p>
          <a:p>
            <a:pPr algn="l">
              <a:lnSpc>
                <a:spcPct val="100000"/>
              </a:lnSpc>
            </a:pPr>
            <a:r>
              <a:rPr sz="800" b="0" i="0">
                <a:solidFill>
                  <a:srgbClr val="ECE7DC"/>
                </a:solidFill>
                <a:latin typeface="Consolas"/>
              </a:rPr>
              <a:t>    │   │       │       │   ├── openjpeg.wasm</a:t>
            </a:r>
          </a:p>
          <a:p>
            <a:pPr algn="l">
              <a:lnSpc>
                <a:spcPct val="100000"/>
              </a:lnSpc>
            </a:pPr>
            <a:r>
              <a:rPr sz="800" b="0" i="0">
                <a:solidFill>
                  <a:srgbClr val="ECE7DC"/>
                </a:solidFill>
                <a:latin typeface="Consolas"/>
              </a:rPr>
              <a:t>    │   │       │       │   ├── openjpeg_nowasm_fallback</a:t>
            </a:r>
          </a:p>
          <a:p>
            <a:pPr algn="l">
              <a:lnSpc>
                <a:spcPct val="100000"/>
              </a:lnSpc>
            </a:pPr>
            <a:r>
              <a:rPr sz="800" b="0" i="0">
                <a:solidFill>
                  <a:srgbClr val="ECE7DC"/>
                </a:solidFill>
                <a:latin typeface="Consolas"/>
              </a:rPr>
              <a:t>    │   │       │       │   │     » .js</a:t>
            </a:r>
          </a:p>
          <a:p>
            <a:pPr algn="l">
              <a:lnSpc>
                <a:spcPct val="100000"/>
              </a:lnSpc>
            </a:pPr>
            <a:r>
              <a:rPr sz="800" b="0" i="0">
                <a:solidFill>
                  <a:srgbClr val="ECE7DC"/>
                </a:solidFill>
                <a:latin typeface="Consolas"/>
              </a:rPr>
              <a:t>    │   │       │       │   ├── qcms_bg.wasm</a:t>
            </a:r>
          </a:p>
          <a:p>
            <a:pPr algn="l">
              <a:lnSpc>
                <a:spcPct val="100000"/>
              </a:lnSpc>
            </a:pPr>
            <a:r>
              <a:rPr sz="800" b="0" i="0">
                <a:solidFill>
                  <a:srgbClr val="ECE7DC"/>
                </a:solidFill>
                <a:latin typeface="Consolas"/>
              </a:rPr>
              <a:t>    │   │       │       │   ├── quickjs-eval.js</a:t>
            </a:r>
          </a:p>
          <a:p>
            <a:pPr algn="l">
              <a:lnSpc>
                <a:spcPct val="100000"/>
              </a:lnSpc>
            </a:pPr>
            <a:r>
              <a:rPr sz="800" b="0" i="0">
                <a:solidFill>
                  <a:srgbClr val="ECE7DC"/>
                </a:solidFill>
                <a:latin typeface="Consolas"/>
              </a:rPr>
              <a:t>    │   │       │       │   └── quickjs-eval.wasm</a:t>
            </a:r>
          </a:p>
          <a:p>
            <a:pPr algn="l">
              <a:lnSpc>
                <a:spcPct val="100000"/>
              </a:lnSpc>
            </a:pPr>
            <a:r>
              <a:rPr sz="800" b="0" i="0">
                <a:solidFill>
                  <a:srgbClr val="3BBE93"/>
                </a:solidFill>
                <a:latin typeface="Consolas"/>
              </a:rPr>
              <a:t>    │   │       │       └── web/</a:t>
            </a:r>
          </a:p>
          <a:p>
            <a:pPr algn="l">
              <a:lnSpc>
                <a:spcPct val="100000"/>
              </a:lnSpc>
            </a:pPr>
            <a:r>
              <a:rPr sz="800" b="0" i="0">
                <a:solidFill>
                  <a:srgbClr val="ECE7DC"/>
                </a:solidFill>
                <a:latin typeface="Consolas"/>
              </a:rPr>
              <a:t>    │   │       │           ├── pdf_viewer.css</a:t>
            </a:r>
          </a:p>
          <a:p>
            <a:pPr algn="l">
              <a:lnSpc>
                <a:spcPct val="100000"/>
              </a:lnSpc>
            </a:pPr>
            <a:r>
              <a:rPr sz="800" b="0" i="0">
                <a:solidFill>
                  <a:srgbClr val="ECE7DC"/>
                </a:solidFill>
                <a:latin typeface="Consolas"/>
              </a:rPr>
              <a:t>    │   │       │           ├── pdf_viewer.mjs</a:t>
            </a:r>
          </a:p>
          <a:p>
            <a:pPr algn="l">
              <a:lnSpc>
                <a:spcPct val="100000"/>
              </a:lnSpc>
            </a:pPr>
            <a:r>
              <a:rPr sz="800" b="0" i="0">
                <a:solidFill>
                  <a:srgbClr val="3BBE93"/>
                </a:solidFill>
                <a:latin typeface="Consolas"/>
              </a:rPr>
              <a:t>    │   │       │           └── images/</a:t>
            </a:r>
          </a:p>
          <a:p>
            <a:pPr algn="l">
              <a:lnSpc>
                <a:spcPct val="100000"/>
              </a:lnSpc>
            </a:pPr>
            <a:r>
              <a:rPr sz="800" b="0" i="0">
                <a:solidFill>
                  <a:srgbClr val="ECE7DC"/>
                </a:solidFill>
                <a:latin typeface="Consolas"/>
              </a:rPr>
              <a:t>    │   │       │               ├── altText_add.svg</a:t>
            </a:r>
          </a:p>
          <a:p>
            <a:pPr algn="l">
              <a:lnSpc>
                <a:spcPct val="100000"/>
              </a:lnSpc>
            </a:pPr>
            <a:r>
              <a:rPr sz="800" b="0" i="0">
                <a:solidFill>
                  <a:srgbClr val="ECE7DC"/>
                </a:solidFill>
                <a:latin typeface="Consolas"/>
              </a:rPr>
              <a:t>    │   │       │               ├── altText_disclaimer.s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altText_done.svg</a:t>
            </a:r>
          </a:p>
          <a:p>
            <a:pPr algn="l">
              <a:lnSpc>
                <a:spcPct val="100000"/>
              </a:lnSpc>
            </a:pPr>
            <a:r>
              <a:rPr sz="800" b="0" i="0">
                <a:solidFill>
                  <a:srgbClr val="ECE7DC"/>
                </a:solidFill>
                <a:latin typeface="Consolas"/>
              </a:rPr>
              <a:t>    │   │       │               ├── altText_spinner.svg</a:t>
            </a:r>
          </a:p>
          <a:p>
            <a:pPr algn="l">
              <a:lnSpc>
                <a:spcPct val="100000"/>
              </a:lnSpc>
            </a:pPr>
            <a:r>
              <a:rPr sz="800" b="0" i="0">
                <a:solidFill>
                  <a:srgbClr val="ECE7DC"/>
                </a:solidFill>
                <a:latin typeface="Consolas"/>
              </a:rPr>
              <a:t>    │   │       │               ├── altText_warning.svg</a:t>
            </a:r>
          </a:p>
          <a:p>
            <a:pPr algn="l">
              <a:lnSpc>
                <a:spcPct val="100000"/>
              </a:lnSpc>
            </a:pPr>
            <a:r>
              <a:rPr sz="800" b="0" i="0">
                <a:solidFill>
                  <a:srgbClr val="ECE7DC"/>
                </a:solidFill>
                <a:latin typeface="Consolas"/>
              </a:rPr>
              <a:t>    │   │       │               ├── annotation-check.svg</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annotation-comment.s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annotation-help.svg</a:t>
            </a:r>
          </a:p>
          <a:p>
            <a:pPr algn="l">
              <a:lnSpc>
                <a:spcPct val="100000"/>
              </a:lnSpc>
            </a:pPr>
            <a:r>
              <a:rPr sz="800" b="0" i="0">
                <a:solidFill>
                  <a:srgbClr val="ECE7DC"/>
                </a:solidFill>
                <a:latin typeface="Consolas"/>
              </a:rPr>
              <a:t>    │   │       │               ├── annotation-insert.sv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annotation-key.svg</a:t>
            </a:r>
          </a:p>
          <a:p>
            <a:pPr algn="l">
              <a:lnSpc>
                <a:spcPct val="100000"/>
              </a:lnSpc>
            </a:pPr>
            <a:r>
              <a:rPr sz="800" b="0" i="0">
                <a:solidFill>
                  <a:srgbClr val="ECE7DC"/>
                </a:solidFill>
                <a:latin typeface="Consolas"/>
              </a:rPr>
              <a:t>    │   │       │               ├── annotation-newparagr</a:t>
            </a:r>
          </a:p>
          <a:p>
            <a:pPr algn="l">
              <a:lnSpc>
                <a:spcPct val="100000"/>
              </a:lnSpc>
            </a:pPr>
            <a:r>
              <a:rPr sz="800" b="0" i="0">
                <a:solidFill>
                  <a:srgbClr val="ECE7DC"/>
                </a:solidFill>
                <a:latin typeface="Consolas"/>
              </a:rPr>
              <a:t>    │   │       │               │     » aph.svg</a:t>
            </a:r>
          </a:p>
          <a:p>
            <a:pPr algn="l">
              <a:lnSpc>
                <a:spcPct val="100000"/>
              </a:lnSpc>
            </a:pPr>
            <a:r>
              <a:rPr sz="800" b="0" i="0">
                <a:solidFill>
                  <a:srgbClr val="ECE7DC"/>
                </a:solidFill>
                <a:latin typeface="Consolas"/>
              </a:rPr>
              <a:t>    │   │       │               ├── annotation-noicon.sv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annotation-note.svg</a:t>
            </a:r>
          </a:p>
          <a:p>
            <a:pPr algn="l">
              <a:lnSpc>
                <a:spcPct val="100000"/>
              </a:lnSpc>
            </a:pPr>
            <a:r>
              <a:rPr sz="800" b="0" i="0">
                <a:solidFill>
                  <a:srgbClr val="ECE7DC"/>
                </a:solidFill>
                <a:latin typeface="Consolas"/>
              </a:rPr>
              <a:t>    │   │       │               ├── annotation-paperclip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annotation-paragraph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annotation-pushpin.s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checkmark.svg</a:t>
            </a:r>
          </a:p>
          <a:p>
            <a:pPr algn="l">
              <a:lnSpc>
                <a:spcPct val="100000"/>
              </a:lnSpc>
            </a:pPr>
            <a:r>
              <a:rPr sz="800" b="0" i="0">
                <a:solidFill>
                  <a:srgbClr val="ECE7DC"/>
                </a:solidFill>
                <a:latin typeface="Consolas"/>
              </a:rPr>
              <a:t>    │   │       │               ├── comment-actionsButto</a:t>
            </a:r>
          </a:p>
          <a:p>
            <a:pPr algn="l">
              <a:lnSpc>
                <a:spcPct val="100000"/>
              </a:lnSpc>
            </a:pPr>
            <a:r>
              <a:rPr sz="800" b="0" i="0">
                <a:solidFill>
                  <a:srgbClr val="ECE7DC"/>
                </a:solidFill>
                <a:latin typeface="Consolas"/>
              </a:rPr>
              <a:t>    │   │       │               │     » n.svg</a:t>
            </a:r>
          </a:p>
          <a:p>
            <a:pPr algn="l">
              <a:lnSpc>
                <a:spcPct val="100000"/>
              </a:lnSpc>
            </a:pPr>
            <a:r>
              <a:rPr sz="800" b="0" i="0">
                <a:solidFill>
                  <a:srgbClr val="ECE7DC"/>
                </a:solidFill>
                <a:latin typeface="Consolas"/>
              </a:rPr>
              <a:t>    │   │       │               ├── comment-closeButton.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comment-editButton.s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comment-popup-editBu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cursor-editorFreeHig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cursor-editorFreeTex</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cursor-editorInk.svg</a:t>
            </a:r>
          </a:p>
          <a:p>
            <a:pPr algn="l">
              <a:lnSpc>
                <a:spcPct val="100000"/>
              </a:lnSpc>
            </a:pPr>
            <a:r>
              <a:rPr sz="800" b="0" i="0">
                <a:solidFill>
                  <a:srgbClr val="ECE7DC"/>
                </a:solidFill>
                <a:latin typeface="Consolas"/>
              </a:rPr>
              <a:t>    │   │       │               ├── cursor-editorTextHig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editor-toolbar-delet</a:t>
            </a:r>
          </a:p>
          <a:p>
            <a:pPr algn="l">
              <a:lnSpc>
                <a:spcPct val="100000"/>
              </a:lnSpc>
            </a:pPr>
            <a:r>
              <a:rPr sz="800" b="0" i="0">
                <a:solidFill>
                  <a:srgbClr val="ECE7DC"/>
                </a:solidFill>
                <a:latin typeface="Consolas"/>
              </a:rPr>
              <a:t>    │   │       │               │     » e.svg</a:t>
            </a:r>
          </a:p>
          <a:p>
            <a:pPr algn="l">
              <a:lnSpc>
                <a:spcPct val="100000"/>
              </a:lnSpc>
            </a:pPr>
            <a:r>
              <a:rPr sz="800" b="0" i="0">
                <a:solidFill>
                  <a:srgbClr val="ECE7DC"/>
                </a:solidFill>
                <a:latin typeface="Consolas"/>
              </a:rPr>
              <a:t>    │   │       │               ├── editor-toolbar-edit.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findbarButton-next.s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findbarButton-previo</a:t>
            </a:r>
          </a:p>
          <a:p>
            <a:pPr algn="l">
              <a:lnSpc>
                <a:spcPct val="100000"/>
              </a:lnSpc>
            </a:pPr>
            <a:r>
              <a:rPr sz="800" b="0" i="0">
                <a:solidFill>
                  <a:srgbClr val="ECE7DC"/>
                </a:solidFill>
                <a:latin typeface="Consolas"/>
              </a:rPr>
              <a:t>    │   │       │               │     » us.svg</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gv-toolbarButton-dow</a:t>
            </a:r>
          </a:p>
          <a:p>
            <a:pPr algn="l">
              <a:lnSpc>
                <a:spcPct val="100000"/>
              </a:lnSpc>
            </a:pPr>
            <a:r>
              <a:rPr sz="800" b="0" i="0">
                <a:solidFill>
                  <a:srgbClr val="ECE7DC"/>
                </a:solidFill>
                <a:latin typeface="Consolas"/>
              </a:rPr>
              <a:t>    │   │       │               │     » nload.svg</a:t>
            </a:r>
          </a:p>
          <a:p>
            <a:pPr algn="l">
              <a:lnSpc>
                <a:spcPct val="100000"/>
              </a:lnSpc>
            </a:pPr>
            <a:r>
              <a:rPr sz="800" b="0" i="0">
                <a:solidFill>
                  <a:srgbClr val="ECE7DC"/>
                </a:solidFill>
                <a:latin typeface="Consolas"/>
              </a:rPr>
              <a:t>    │   │       │               ├── loading-icon.gif</a:t>
            </a:r>
          </a:p>
          <a:p>
            <a:pPr algn="l">
              <a:lnSpc>
                <a:spcPct val="100000"/>
              </a:lnSpc>
            </a:pPr>
            <a:r>
              <a:rPr sz="800" b="0" i="0">
                <a:solidFill>
                  <a:srgbClr val="ECE7DC"/>
                </a:solidFill>
                <a:latin typeface="Consolas"/>
              </a:rPr>
              <a:t>    │   │       │               ├── loading.svg</a:t>
            </a:r>
          </a:p>
          <a:p>
            <a:pPr algn="l">
              <a:lnSpc>
                <a:spcPct val="100000"/>
              </a:lnSpc>
            </a:pPr>
            <a:r>
              <a:rPr sz="800" b="0" i="0">
                <a:solidFill>
                  <a:srgbClr val="ECE7DC"/>
                </a:solidFill>
                <a:latin typeface="Consolas"/>
              </a:rPr>
              <a:t>    │   │       │               ├── messageBar_closingBu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messageBar_info.svg</a:t>
            </a:r>
          </a:p>
          <a:p>
            <a:pPr algn="l">
              <a:lnSpc>
                <a:spcPct val="100000"/>
              </a:lnSpc>
            </a:pPr>
            <a:r>
              <a:rPr sz="800" b="0" i="0">
                <a:solidFill>
                  <a:srgbClr val="ECE7DC"/>
                </a:solidFill>
                <a:latin typeface="Consolas"/>
              </a:rPr>
              <a:t>    │   │       │               ├── messageBar_warning.s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pages_closeButton.sv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pages_selected.svg</a:t>
            </a:r>
          </a:p>
          <a:p>
            <a:pPr algn="l">
              <a:lnSpc>
                <a:spcPct val="100000"/>
              </a:lnSpc>
            </a:pPr>
            <a:r>
              <a:rPr sz="800" b="0" i="0">
                <a:solidFill>
                  <a:srgbClr val="ECE7DC"/>
                </a:solidFill>
                <a:latin typeface="Consolas"/>
              </a:rPr>
              <a:t>    │   │       │               ├── pages_viewArrow.svg</a:t>
            </a:r>
          </a:p>
          <a:p>
            <a:pPr algn="l">
              <a:lnSpc>
                <a:spcPct val="100000"/>
              </a:lnSpc>
            </a:pPr>
            <a:r>
              <a:rPr sz="800" b="0" i="0">
                <a:solidFill>
                  <a:srgbClr val="ECE7DC"/>
                </a:solidFill>
                <a:latin typeface="Consolas"/>
              </a:rPr>
              <a:t>    │   │       │               ├── pages_viewButton.svg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on-documentPrope</a:t>
            </a:r>
          </a:p>
          <a:p>
            <a:pPr algn="l">
              <a:lnSpc>
                <a:spcPct val="100000"/>
              </a:lnSpc>
            </a:pPr>
            <a:r>
              <a:rPr sz="800" b="0" i="0">
                <a:solidFill>
                  <a:srgbClr val="ECE7DC"/>
                </a:solidFill>
                <a:latin typeface="Consolas"/>
              </a:rPr>
              <a:t>    │   │       │               │     » rties.svg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on-firstPage.svg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on-handTool.svg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on-lastPage.svg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on-scrollHorizon</a:t>
            </a:r>
          </a:p>
          <a:p>
            <a:pPr algn="l">
              <a:lnSpc>
                <a:spcPct val="100000"/>
              </a:lnSpc>
            </a:pPr>
            <a:r>
              <a:rPr sz="800" b="0" i="0">
                <a:solidFill>
                  <a:srgbClr val="ECE7DC"/>
                </a:solidFill>
                <a:latin typeface="Consolas"/>
              </a:rPr>
              <a:t>    │   │       │               │     » tal.svg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on-scrollPage.sv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on-scrollVertica</a:t>
            </a:r>
          </a:p>
          <a:p>
            <a:pPr algn="l">
              <a:lnSpc>
                <a:spcPct val="100000"/>
              </a:lnSpc>
            </a:pPr>
            <a:r>
              <a:rPr sz="800" b="0" i="0">
                <a:solidFill>
                  <a:srgbClr val="ECE7DC"/>
                </a:solidFill>
                <a:latin typeface="Consolas"/>
              </a:rPr>
              <a:t>    │   │       │               │     » 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on-scrollWrapped</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on-selectTool.sv</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154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17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1,688 tracked files at commit 113eddc4;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on-spreadEven.sv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on-spreadNone.sv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on-spreadOdd.svg</a:t>
            </a:r>
          </a:p>
          <a:p>
            <a:pPr algn="l">
              <a:lnSpc>
                <a:spcPct val="100000"/>
              </a:lnSpc>
            </a:pPr>
            <a:r>
              <a:rPr sz="800" b="0" i="0">
                <a:solidFill>
                  <a:srgbClr val="ECE7DC"/>
                </a:solidFill>
                <a:latin typeface="Consolas"/>
              </a:rPr>
              <a:t>    │   │       │               ├── signature-properties</a:t>
            </a:r>
          </a:p>
          <a:p>
            <a:pPr algn="l">
              <a:lnSpc>
                <a:spcPct val="100000"/>
              </a:lnSpc>
            </a:pPr>
            <a:r>
              <a:rPr sz="800" b="0" i="0">
                <a:solidFill>
                  <a:srgbClr val="ECE7DC"/>
                </a:solidFill>
                <a:latin typeface="Consolas"/>
              </a:rPr>
              <a:t>    │   │       │               │     » -row-check.svg</a:t>
            </a:r>
          </a:p>
          <a:p>
            <a:pPr algn="l">
              <a:lnSpc>
                <a:spcPct val="100000"/>
              </a:lnSpc>
            </a:pPr>
            <a:r>
              <a:rPr sz="800" b="0" i="0">
                <a:solidFill>
                  <a:srgbClr val="ECE7DC"/>
                </a:solidFill>
                <a:latin typeface="Consolas"/>
              </a:rPr>
              <a:t>    │   │       │               ├── toolbarButton-bookma</a:t>
            </a:r>
          </a:p>
          <a:p>
            <a:pPr algn="l">
              <a:lnSpc>
                <a:spcPct val="100000"/>
              </a:lnSpc>
            </a:pPr>
            <a:r>
              <a:rPr sz="800" b="0" i="0">
                <a:solidFill>
                  <a:srgbClr val="ECE7DC"/>
                </a:solidFill>
                <a:latin typeface="Consolas"/>
              </a:rPr>
              <a:t>    │   │       │               │     » rk.svg</a:t>
            </a:r>
          </a:p>
          <a:p>
            <a:pPr algn="l">
              <a:lnSpc>
                <a:spcPct val="100000"/>
              </a:lnSpc>
            </a:pPr>
            <a:r>
              <a:rPr sz="800" b="0" i="0">
                <a:solidFill>
                  <a:srgbClr val="ECE7DC"/>
                </a:solidFill>
                <a:latin typeface="Consolas"/>
              </a:rPr>
              <a:t>    │   │       │               ├── toolbarButton-curren</a:t>
            </a:r>
          </a:p>
          <a:p>
            <a:pPr algn="l">
              <a:lnSpc>
                <a:spcPct val="100000"/>
              </a:lnSpc>
            </a:pPr>
            <a:r>
              <a:rPr sz="800" b="0" i="0">
                <a:solidFill>
                  <a:srgbClr val="ECE7DC"/>
                </a:solidFill>
                <a:latin typeface="Consolas"/>
              </a:rPr>
              <a:t>    │   │       │               │     » tOutlineItem.svg</a:t>
            </a:r>
          </a:p>
          <a:p>
            <a:pPr algn="l">
              <a:lnSpc>
                <a:spcPct val="100000"/>
              </a:lnSpc>
            </a:pPr>
            <a:r>
              <a:rPr sz="800" b="0" i="0">
                <a:solidFill>
                  <a:srgbClr val="ECE7DC"/>
                </a:solidFill>
                <a:latin typeface="Consolas"/>
              </a:rPr>
              <a:t>    │   │       │               ├── toolbarButton-downlo</a:t>
            </a:r>
          </a:p>
          <a:p>
            <a:pPr algn="l">
              <a:lnSpc>
                <a:spcPct val="100000"/>
              </a:lnSpc>
            </a:pPr>
            <a:r>
              <a:rPr sz="800" b="0" i="0">
                <a:solidFill>
                  <a:srgbClr val="ECE7DC"/>
                </a:solidFill>
                <a:latin typeface="Consolas"/>
              </a:rPr>
              <a:t>    │   │       │               │     » ad.svg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FreeText.svg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Highlight.svg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Ink.svg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Signature.svg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Stamp.svg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rowNova.svg</a:t>
            </a:r>
          </a:p>
          <a:p>
            <a:pPr algn="l">
              <a:lnSpc>
                <a:spcPct val="100000"/>
              </a:lnSpc>
            </a:pPr>
            <a:r>
              <a:rPr sz="800" b="0" i="0">
                <a:solidFill>
                  <a:srgbClr val="ECE7DC"/>
                </a:solidFill>
                <a:latin typeface="Consolas"/>
              </a:rPr>
              <a:t>    │   │       │               ├── toolbarButton-openFi</a:t>
            </a:r>
          </a:p>
          <a:p>
            <a:pPr algn="l">
              <a:lnSpc>
                <a:spcPct val="100000"/>
              </a:lnSpc>
            </a:pPr>
            <a:r>
              <a:rPr sz="800" b="0" i="0">
                <a:solidFill>
                  <a:srgbClr val="ECE7DC"/>
                </a:solidFill>
                <a:latin typeface="Consolas"/>
              </a:rPr>
              <a:t>    │   │       │               │     » le.svg</a:t>
            </a:r>
          </a:p>
          <a:p>
            <a:pPr algn="l">
              <a:lnSpc>
                <a:spcPct val="100000"/>
              </a:lnSpc>
            </a:pPr>
            <a:r>
              <a:rPr sz="800" b="0" i="0">
                <a:solidFill>
                  <a:srgbClr val="ECE7DC"/>
                </a:solidFill>
                <a:latin typeface="Consolas"/>
              </a:rPr>
              <a:t>    │   │       │               ├── toolbarButton-pageDo</a:t>
            </a:r>
          </a:p>
          <a:p>
            <a:pPr algn="l">
              <a:lnSpc>
                <a:spcPct val="100000"/>
              </a:lnSpc>
            </a:pPr>
            <a:r>
              <a:rPr sz="800" b="0" i="0">
                <a:solidFill>
                  <a:srgbClr val="ECE7DC"/>
                </a:solidFill>
                <a:latin typeface="Consolas"/>
              </a:rPr>
              <a:t>    │   │       │               │     » wn.svg</a:t>
            </a:r>
          </a:p>
          <a:p>
            <a:pPr algn="l">
              <a:lnSpc>
                <a:spcPct val="100000"/>
              </a:lnSpc>
            </a:pPr>
            <a:r>
              <a:rPr sz="800" b="0" i="0">
                <a:solidFill>
                  <a:srgbClr val="ECE7DC"/>
                </a:solidFill>
                <a:latin typeface="Consolas"/>
              </a:rPr>
              <a:t>    │   │       │               ├── toolbarButton-pageUp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toolbarButton-presen</a:t>
            </a:r>
          </a:p>
          <a:p>
            <a:pPr algn="l">
              <a:lnSpc>
                <a:spcPct val="100000"/>
              </a:lnSpc>
            </a:pPr>
            <a:r>
              <a:rPr sz="800" b="0" i="0">
                <a:solidFill>
                  <a:srgbClr val="ECE7DC"/>
                </a:solidFill>
                <a:latin typeface="Consolas"/>
              </a:rPr>
              <a:t>    │   │       │               │     » tationMode.svg</a:t>
            </a:r>
          </a:p>
          <a:p>
            <a:pPr algn="l">
              <a:lnSpc>
                <a:spcPct val="100000"/>
              </a:lnSpc>
            </a:pPr>
            <a:r>
              <a:rPr sz="800" b="0" i="0">
                <a:solidFill>
                  <a:srgbClr val="ECE7DC"/>
                </a:solidFill>
                <a:latin typeface="Consolas"/>
              </a:rPr>
              <a:t>    │   │       │               ├── toolbarButton-print.</a:t>
            </a:r>
          </a:p>
          <a:p>
            <a:pPr algn="l">
              <a:lnSpc>
                <a:spcPct val="100000"/>
              </a:lnSpc>
            </a:pPr>
            <a:r>
              <a:rPr sz="800" b="0" i="0">
                <a:solidFill>
                  <a:srgbClr val="ECE7DC"/>
                </a:solidFill>
                <a:latin typeface="Consolas"/>
              </a:rPr>
              <a:t>    │   │       │               │     » svg</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toolbarButton-search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toolbarButton-second</a:t>
            </a:r>
          </a:p>
          <a:p>
            <a:pPr algn="l">
              <a:lnSpc>
                <a:spcPct val="100000"/>
              </a:lnSpc>
            </a:pPr>
            <a:r>
              <a:rPr sz="800" b="0" i="0">
                <a:solidFill>
                  <a:srgbClr val="ECE7DC"/>
                </a:solidFill>
                <a:latin typeface="Consolas"/>
              </a:rPr>
              <a:t>    │   │       │               │     » aryToolbarToggle</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urePropertiesErr</a:t>
            </a:r>
          </a:p>
          <a:p>
            <a:pPr algn="l">
              <a:lnSpc>
                <a:spcPct val="100000"/>
              </a:lnSpc>
            </a:pPr>
            <a:r>
              <a:rPr sz="800" b="0" i="0">
                <a:solidFill>
                  <a:srgbClr val="ECE7DC"/>
                </a:solidFill>
                <a:latin typeface="Consolas"/>
              </a:rPr>
              <a:t>    │   │       │               │     » or.svg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urePropertiesVer</a:t>
            </a:r>
          </a:p>
          <a:p>
            <a:pPr algn="l">
              <a:lnSpc>
                <a:spcPct val="100000"/>
              </a:lnSpc>
            </a:pPr>
            <a:r>
              <a:rPr sz="800" b="0" i="0">
                <a:solidFill>
                  <a:srgbClr val="ECE7DC"/>
                </a:solidFill>
                <a:latin typeface="Consolas"/>
              </a:rPr>
              <a:t>    │   │       │               │     » ified.svg</a:t>
            </a:r>
          </a:p>
          <a:p>
            <a:pPr algn="l">
              <a:lnSpc>
                <a:spcPct val="100000"/>
              </a:lnSpc>
            </a:pPr>
            <a:r>
              <a:rPr sz="800" b="0" i="0">
                <a:solidFill>
                  <a:srgbClr val="ECE7DC"/>
                </a:solidFill>
                <a:latin typeface="Consolas"/>
              </a:rPr>
              <a:t>    │   │       │               ├── toolbarButton-viewAt</a:t>
            </a:r>
          </a:p>
          <a:p>
            <a:pPr algn="l">
              <a:lnSpc>
                <a:spcPct val="100000"/>
              </a:lnSpc>
            </a:pPr>
            <a:r>
              <a:rPr sz="800" b="0" i="0">
                <a:solidFill>
                  <a:srgbClr val="ECE7DC"/>
                </a:solidFill>
                <a:latin typeface="Consolas"/>
              </a:rPr>
              <a:t>    │   │       │               │     » tachments.svg</a:t>
            </a:r>
          </a:p>
          <a:p>
            <a:pPr algn="l">
              <a:lnSpc>
                <a:spcPct val="100000"/>
              </a:lnSpc>
            </a:pPr>
            <a:r>
              <a:rPr sz="800" b="0" i="0">
                <a:solidFill>
                  <a:srgbClr val="ECE7DC"/>
                </a:solidFill>
                <a:latin typeface="Consolas"/>
              </a:rPr>
              <a:t>    │   │       │               ├── toolbarButton-viewLa</a:t>
            </a:r>
          </a:p>
          <a:p>
            <a:pPr algn="l">
              <a:lnSpc>
                <a:spcPct val="100000"/>
              </a:lnSpc>
            </a:pPr>
            <a:r>
              <a:rPr sz="800" b="0" i="0">
                <a:solidFill>
                  <a:srgbClr val="ECE7DC"/>
                </a:solidFill>
                <a:latin typeface="Consolas"/>
              </a:rPr>
              <a:t>    │   │       │               │     » yers.svg</a:t>
            </a:r>
          </a:p>
          <a:p>
            <a:pPr algn="l">
              <a:lnSpc>
                <a:spcPct val="100000"/>
              </a:lnSpc>
            </a:pPr>
            <a:r>
              <a:rPr sz="800" b="0" i="0">
                <a:solidFill>
                  <a:srgbClr val="ECE7DC"/>
                </a:solidFill>
                <a:latin typeface="Consolas"/>
              </a:rPr>
              <a:t>    │   │       │               ├── toolbarButton-viewOu</a:t>
            </a:r>
          </a:p>
          <a:p>
            <a:pPr algn="l">
              <a:lnSpc>
                <a:spcPct val="100000"/>
              </a:lnSpc>
            </a:pPr>
            <a:r>
              <a:rPr sz="800" b="0" i="0">
                <a:solidFill>
                  <a:srgbClr val="ECE7DC"/>
                </a:solidFill>
                <a:latin typeface="Consolas"/>
              </a:rPr>
              <a:t>    │   │       │               │     » tline.svg</a:t>
            </a:r>
          </a:p>
          <a:p>
            <a:pPr algn="l">
              <a:lnSpc>
                <a:spcPct val="100000"/>
              </a:lnSpc>
            </a:pPr>
            <a:r>
              <a:rPr sz="800" b="0" i="0">
                <a:solidFill>
                  <a:srgbClr val="ECE7DC"/>
                </a:solidFill>
                <a:latin typeface="Consolas"/>
              </a:rPr>
              <a:t>    │   │       │               ├── toolbarButton-viewsM</a:t>
            </a:r>
          </a:p>
          <a:p>
            <a:pPr algn="l">
              <a:lnSpc>
                <a:spcPct val="100000"/>
              </a:lnSpc>
            </a:pPr>
            <a:r>
              <a:rPr sz="800" b="0" i="0">
                <a:solidFill>
                  <a:srgbClr val="ECE7DC"/>
                </a:solidFill>
                <a:latin typeface="Consolas"/>
              </a:rPr>
              <a:t>    │   │       │               │     » anagerToggle.svg</a:t>
            </a:r>
          </a:p>
          <a:p>
            <a:pPr algn="l">
              <a:lnSpc>
                <a:spcPct val="100000"/>
              </a:lnSpc>
            </a:pPr>
            <a:r>
              <a:rPr sz="800" b="0" i="0">
                <a:solidFill>
                  <a:srgbClr val="ECE7DC"/>
                </a:solidFill>
                <a:latin typeface="Consolas"/>
              </a:rPr>
              <a:t>    │   │       │               ├── toolbarButton-viewTh</a:t>
            </a:r>
          </a:p>
          <a:p>
            <a:pPr algn="l">
              <a:lnSpc>
                <a:spcPct val="100000"/>
              </a:lnSpc>
            </a:pPr>
            <a:r>
              <a:rPr sz="800" b="0" i="0">
                <a:solidFill>
                  <a:srgbClr val="ECE7DC"/>
                </a:solidFill>
                <a:latin typeface="Consolas"/>
              </a:rPr>
              <a:t>    │   │       │               │     » umbnail.svg</a:t>
            </a:r>
          </a:p>
          <a:p>
            <a:pPr algn="l">
              <a:lnSpc>
                <a:spcPct val="100000"/>
              </a:lnSpc>
            </a:pPr>
            <a:r>
              <a:rPr sz="800" b="0" i="0">
                <a:solidFill>
                  <a:srgbClr val="ECE7DC"/>
                </a:solidFill>
                <a:latin typeface="Consolas"/>
              </a:rPr>
              <a:t>    │   │       │               ├── toolbarButton-zoomIn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toolbarButton-zoomOu</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treeitem-collapsed.s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treeitem-expanded.sv</a:t>
            </a:r>
          </a:p>
          <a:p>
            <a:pPr algn="l">
              <a:lnSpc>
                <a:spcPct val="100000"/>
              </a:lnSpc>
            </a:pPr>
            <a:r>
              <a:rPr sz="800" b="0" i="0">
                <a:solidFill>
                  <a:srgbClr val="ECE7DC"/>
                </a:solidFill>
                <a:latin typeface="Consolas"/>
              </a:rPr>
              <a:t>    │   │       │                     » g</a:t>
            </a:r>
          </a:p>
          <a:p>
            <a:pPr algn="l">
              <a:lnSpc>
                <a:spcPct val="100000"/>
              </a:lnSpc>
            </a:pPr>
            <a:r>
              <a:rPr sz="800" b="0" i="0">
                <a:solidFill>
                  <a:srgbClr val="3BBE93"/>
                </a:solidFill>
                <a:latin typeface="Consolas"/>
              </a:rPr>
              <a:t>    │   │       └── video/</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templates/</a:t>
            </a:r>
          </a:p>
          <a:p>
            <a:pPr algn="l">
              <a:lnSpc>
                <a:spcPct val="100000"/>
              </a:lnSpc>
            </a:pPr>
            <a:r>
              <a:rPr sz="800" b="0" i="0">
                <a:solidFill>
                  <a:srgbClr val="3BBE93"/>
                </a:solidFill>
                <a:latin typeface="Consolas"/>
              </a:rPr>
              <a:t>    │   │   └── agent/</a:t>
            </a:r>
          </a:p>
          <a:p>
            <a:pPr algn="l">
              <a:lnSpc>
                <a:spcPct val="100000"/>
              </a:lnSpc>
            </a:pPr>
            <a:r>
              <a:rPr sz="800" b="0" i="0">
                <a:solidFill>
                  <a:srgbClr val="ECE7DC"/>
                </a:solidFill>
                <a:latin typeface="Consolas"/>
              </a:rPr>
              <a:t>    │   │       ├── agent_page.html</a:t>
            </a:r>
          </a:p>
          <a:p>
            <a:pPr algn="l">
              <a:lnSpc>
                <a:spcPct val="100000"/>
              </a:lnSpc>
            </a:pPr>
            <a:r>
              <a:rPr sz="800" b="0" i="0">
                <a:solidFill>
                  <a:srgbClr val="ECE7DC"/>
                </a:solidFill>
                <a:latin typeface="Consolas"/>
              </a:rPr>
              <a:t>    │   │       ├── agentic_control_panel.html</a:t>
            </a:r>
          </a:p>
          <a:p>
            <a:pPr algn="l">
              <a:lnSpc>
                <a:spcPct val="100000"/>
              </a:lnSpc>
            </a:pPr>
            <a:r>
              <a:rPr sz="800" b="0" i="0">
                <a:solidFill>
                  <a:srgbClr val="ECE7DC"/>
                </a:solidFill>
                <a:latin typeface="Consolas"/>
              </a:rPr>
              <a:t>    │   │       ├── login.html</a:t>
            </a:r>
          </a:p>
          <a:p>
            <a:pPr algn="l">
              <a:lnSpc>
                <a:spcPct val="100000"/>
              </a:lnSpc>
            </a:pPr>
            <a:r>
              <a:rPr sz="800" b="0" i="0">
                <a:solidFill>
                  <a:srgbClr val="ECE7DC"/>
                </a:solidFill>
                <a:latin typeface="Consolas"/>
              </a:rPr>
              <a:t>    │   │       ├── prompt_flow_panel.html</a:t>
            </a:r>
          </a:p>
          <a:p>
            <a:pPr algn="l">
              <a:lnSpc>
                <a:spcPct val="100000"/>
              </a:lnSpc>
            </a:pPr>
            <a:r>
              <a:rPr sz="800" b="0" i="0">
                <a:solidFill>
                  <a:srgbClr val="ECE7DC"/>
                </a:solidFill>
                <a:latin typeface="Consolas"/>
              </a:rPr>
              <a:t>    │   │       ├── usage_dialog.html</a:t>
            </a:r>
          </a:p>
          <a:p>
            <a:pPr algn="l">
              <a:lnSpc>
                <a:spcPct val="100000"/>
              </a:lnSpc>
            </a:pPr>
            <a:r>
              <a:rPr sz="800" b="0" i="0">
                <a:solidFill>
                  <a:srgbClr val="ECE7DC"/>
                </a:solidFill>
                <a:latin typeface="Consolas"/>
              </a:rPr>
              <a:t>    │   │       └── welcome.html</a:t>
            </a:r>
          </a:p>
          <a:p>
            <a:pPr algn="l">
              <a:lnSpc>
                <a:spcPct val="100000"/>
              </a:lnSpc>
            </a:pPr>
            <a:r>
              <a:rPr sz="800" b="0" i="0">
                <a:solidFill>
                  <a:srgbClr val="3BBE93"/>
                </a:solidFill>
                <a:latin typeface="Consolas"/>
              </a:rPr>
              <a:t>    │   ├── test_fixtures/</a:t>
            </a:r>
          </a:p>
          <a:p>
            <a:pPr algn="l">
              <a:lnSpc>
                <a:spcPct val="100000"/>
              </a:lnSpc>
            </a:pPr>
            <a:r>
              <a:rPr sz="800" b="0" i="0">
                <a:solidFill>
                  <a:srgbClr val="ECE7DC"/>
                </a:solidFill>
                <a:latin typeface="Consolas"/>
              </a:rPr>
              <a:t>    │   │   └── talker_orpheus_tokens.txt</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TlamatiniSourceCode/</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DB/</a:t>
            </a:r>
          </a:p>
          <a:p>
            <a:pPr algn="l">
              <a:lnSpc>
                <a:spcPct val="100000"/>
              </a:lnSpc>
            </a:pPr>
            <a:r>
              <a:rPr sz="800" b="0" i="0">
                <a:solidFill>
                  <a:srgbClr val="3BBE93"/>
                </a:solidFill>
                <a:latin typeface="Consolas"/>
              </a:rPr>
              <a:t>    │   ├── Older/</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ToLoad/</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jd-cli/</a:t>
            </a:r>
          </a:p>
          <a:p>
            <a:pPr algn="l">
              <a:lnSpc>
                <a:spcPct val="100000"/>
              </a:lnSpc>
            </a:pPr>
            <a:r>
              <a:rPr sz="800" b="0" i="0">
                <a:solidFill>
                  <a:srgbClr val="ECE7DC"/>
                </a:solidFill>
                <a:latin typeface="Consolas"/>
              </a:rPr>
              <a:t>    │   ├── jd-cli.bat</a:t>
            </a:r>
          </a:p>
          <a:p>
            <a:pPr algn="l">
              <a:lnSpc>
                <a:spcPct val="100000"/>
              </a:lnSpc>
            </a:pPr>
            <a:r>
              <a:rPr sz="800" b="0" i="0">
                <a:solidFill>
                  <a:srgbClr val="ECE7DC"/>
                </a:solidFill>
                <a:latin typeface="Consolas"/>
              </a:rPr>
              <a:t>    │   └── jd-cli.jar</a:t>
            </a:r>
          </a:p>
          <a:p>
            <a:pPr algn="l">
              <a:lnSpc>
                <a:spcPct val="100000"/>
              </a:lnSpc>
            </a:pPr>
            <a:r>
              <a:rPr sz="800" b="0" i="0">
                <a:solidFill>
                  <a:srgbClr val="3BBE93"/>
                </a:solidFill>
                <a:latin typeface="Consolas"/>
              </a:rPr>
              <a:t>    ├── tests_e2e/</a:t>
            </a:r>
          </a:p>
          <a:p>
            <a:pPr algn="l">
              <a:lnSpc>
                <a:spcPct val="100000"/>
              </a:lnSpc>
            </a:pPr>
            <a:r>
              <a:rPr sz="800" b="0" i="0">
                <a:solidFill>
                  <a:srgbClr val="ECE7DC"/>
                </a:solidFill>
                <a:latin typeface="Consolas"/>
              </a:rPr>
              <a:t>    │   ├── oob_child_helper.py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test_create_flow_visual.py</a:t>
            </a:r>
          </a:p>
          <a:p>
            <a:pPr algn="l">
              <a:lnSpc>
                <a:spcPct val="100000"/>
              </a:lnSpc>
            </a:pPr>
            <a:r>
              <a:rPr sz="800" b="0" i="0">
                <a:solidFill>
                  <a:srgbClr val="ECE7DC"/>
                </a:solidFill>
                <a:latin typeface="Consolas"/>
              </a:rPr>
              <a:t>    │   ├── test_ctrl_c_quits_visible.py</a:t>
            </a:r>
          </a:p>
          <a:p>
            <a:pPr algn="l">
              <a:lnSpc>
                <a:spcPct val="100000"/>
              </a:lnSpc>
            </a:pPr>
            <a:r>
              <a:rPr sz="800" b="0" i="0">
                <a:solidFill>
                  <a:srgbClr val="ECE7DC"/>
                </a:solidFill>
                <a:latin typeface="Consolas"/>
              </a:rPr>
              <a:t>    │   ├── test_db_backup_set_visible.py</a:t>
            </a:r>
          </a:p>
          <a:p>
            <a:pPr algn="l">
              <a:lnSpc>
                <a:spcPct val="100000"/>
              </a:lnSpc>
            </a:pPr>
            <a:r>
              <a:rPr sz="800" b="0" i="0">
                <a:solidFill>
                  <a:srgbClr val="ECE7DC"/>
                </a:solidFill>
                <a:latin typeface="Consolas"/>
              </a:rPr>
              <a:t>    │   ├── test_oob_browser_visible.py</a:t>
            </a:r>
          </a:p>
          <a:p>
            <a:pPr algn="l">
              <a:lnSpc>
                <a:spcPct val="100000"/>
              </a:lnSpc>
            </a:pPr>
            <a:r>
              <a:rPr sz="800" b="0" i="0">
                <a:solidFill>
                  <a:srgbClr val="ECE7DC"/>
                </a:solidFill>
                <a:latin typeface="Consolas"/>
              </a:rPr>
              <a:t>    │   ├── test_oob_namu_unit.py</a:t>
            </a:r>
          </a:p>
          <a:p>
            <a:pPr algn="l">
              <a:lnSpc>
                <a:spcPct val="100000"/>
              </a:lnSpc>
            </a:pPr>
            <a:r>
              <a:rPr sz="800" b="0" i="0">
                <a:solidFill>
                  <a:srgbClr val="ECE7DC"/>
                </a:solidFill>
                <a:latin typeface="Consolas"/>
              </a:rPr>
              <a:t>    │   ├── test_prompts_catalog_visual.py</a:t>
            </a:r>
          </a:p>
          <a:p>
            <a:pPr algn="l">
              <a:lnSpc>
                <a:spcPct val="100000"/>
              </a:lnSpc>
            </a:pPr>
            <a:r>
              <a:rPr sz="800" b="0" i="0">
                <a:solidFill>
                  <a:srgbClr val="ECE7DC"/>
                </a:solidFill>
                <a:latin typeface="Consolas"/>
              </a:rPr>
              <a:t>    │   ├── test_self_healing_visual.py</a:t>
            </a:r>
          </a:p>
          <a:p>
            <a:pPr algn="l">
              <a:lnSpc>
                <a:spcPct val="100000"/>
              </a:lnSpc>
            </a:pPr>
            <a:r>
              <a:rPr sz="800" b="0" i="0">
                <a:solidFill>
                  <a:srgbClr val="ECE7DC"/>
                </a:solidFill>
                <a:latin typeface="Consolas"/>
              </a:rPr>
              <a:t>    │   ├── test_voice_visual.py</a:t>
            </a:r>
          </a:p>
          <a:p>
            <a:pPr algn="l">
              <a:lnSpc>
                <a:spcPct val="100000"/>
              </a:lnSpc>
            </a:pPr>
            <a:r>
              <a:rPr sz="800" b="0" i="0">
                <a:solidFill>
                  <a:srgbClr val="ECE7DC"/>
                </a:solidFill>
                <a:latin typeface="Consolas"/>
              </a:rPr>
              <a:t>    │   ├── Tlamatini-Overnight-100.py</a:t>
            </a:r>
          </a:p>
          <a:p>
            <a:pPr algn="l">
              <a:lnSpc>
                <a:spcPct val="100000"/>
              </a:lnSpc>
            </a:pPr>
            <a:r>
              <a:rPr sz="800" b="0" i="0">
                <a:solidFill>
                  <a:srgbClr val="ECE7DC"/>
                </a:solidFill>
                <a:latin typeface="Consolas"/>
              </a:rPr>
              <a:t>    │   └── Tlamatini-Whatsapper-Daily-Tests.py</a:t>
            </a:r>
          </a:p>
          <a:p>
            <a:pPr algn="l">
              <a:lnSpc>
                <a:spcPct val="100000"/>
              </a:lnSpc>
            </a:pPr>
            <a:r>
              <a:rPr sz="800" b="0" i="0">
                <a:solidFill>
                  <a:srgbClr val="3BBE93"/>
                </a:solidFill>
                <a:latin typeface="Consolas"/>
              </a:rPr>
              <a:t>    └── tlamatini/</a:t>
            </a:r>
          </a:p>
          <a:p>
            <a:pPr algn="l">
              <a:lnSpc>
                <a:spcPct val="100000"/>
              </a:lnSpc>
            </a:pPr>
            <a:r>
              <a:rPr sz="800" b="0" i="0">
                <a:solidFill>
                  <a:srgbClr val="ECE7DC"/>
                </a:solidFill>
                <a:latin typeface="Consolas"/>
              </a:rPr>
              <a:t>        ├── __init__.py</a:t>
            </a:r>
          </a:p>
          <a:p>
            <a:pPr algn="l">
              <a:lnSpc>
                <a:spcPct val="100000"/>
              </a:lnSpc>
            </a:pPr>
            <a:r>
              <a:rPr sz="800" b="0" i="0">
                <a:solidFill>
                  <a:srgbClr val="ECE7DC"/>
                </a:solidFill>
                <a:latin typeface="Consolas"/>
              </a:rPr>
              <a:t>        ├── asgi.py</a:t>
            </a:r>
          </a:p>
          <a:p>
            <a:pPr algn="l">
              <a:lnSpc>
                <a:spcPct val="100000"/>
              </a:lnSpc>
            </a:pPr>
            <a:r>
              <a:rPr sz="800" b="0" i="0">
                <a:solidFill>
                  <a:srgbClr val="ECE7DC"/>
                </a:solidFill>
                <a:latin typeface="Consolas"/>
              </a:rPr>
              <a:t>        ├── context_processors.py</a:t>
            </a:r>
          </a:p>
          <a:p>
            <a:pPr algn="l">
              <a:lnSpc>
                <a:spcPct val="100000"/>
              </a:lnSpc>
            </a:pPr>
            <a:r>
              <a:rPr sz="800" b="0" i="0">
                <a:solidFill>
                  <a:srgbClr val="ECE7DC"/>
                </a:solidFill>
                <a:latin typeface="Consolas"/>
              </a:rPr>
              <a:t>        ├── logging_filters.py</a:t>
            </a:r>
          </a:p>
          <a:p>
            <a:pPr algn="l">
              <a:lnSpc>
                <a:spcPct val="100000"/>
              </a:lnSpc>
            </a:pPr>
            <a:r>
              <a:rPr sz="800" b="0" i="0">
                <a:solidFill>
                  <a:srgbClr val="ECE7DC"/>
                </a:solidFill>
                <a:latin typeface="Consolas"/>
              </a:rPr>
              <a:t>        ├── middleware.py</a:t>
            </a:r>
          </a:p>
          <a:p>
            <a:pPr algn="l">
              <a:lnSpc>
                <a:spcPct val="100000"/>
              </a:lnSpc>
            </a:pPr>
            <a:r>
              <a:rPr sz="800" b="0" i="0">
                <a:solidFill>
                  <a:srgbClr val="ECE7DC"/>
                </a:solidFill>
                <a:latin typeface="Consolas"/>
              </a:rPr>
              <a:t>        ├── settings.py</a:t>
            </a:r>
          </a:p>
          <a:p>
            <a:pPr algn="l">
              <a:lnSpc>
                <a:spcPct val="100000"/>
              </a:lnSpc>
            </a:pPr>
            <a:r>
              <a:rPr sz="800" b="0" i="0">
                <a:solidFill>
                  <a:srgbClr val="ECE7DC"/>
                </a:solidFill>
                <a:latin typeface="Consolas"/>
              </a:rPr>
              <a:t>        ├── urls.py</a:t>
            </a:r>
          </a:p>
          <a:p>
            <a:pPr algn="l">
              <a:lnSpc>
                <a:spcPct val="100000"/>
              </a:lnSpc>
            </a:pPr>
            <a:r>
              <a:rPr sz="800" b="0" i="0">
                <a:solidFill>
                  <a:srgbClr val="ECE7DC"/>
                </a:solidFill>
                <a:latin typeface="Consolas"/>
              </a:rPr>
              <a:t>        └── wsgi.py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v1.78.0   ·   155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copper.png"/>
          <p:cNvPicPr>
            <a:picLocks noChangeAspect="1"/>
          </p:cNvPicPr>
          <p:nvPr/>
        </p:nvPicPr>
        <p:blipFill>
          <a:blip r:embed="rId4"/>
          <a:stretch>
            <a:fillRect/>
          </a:stretch>
        </p:blipFill>
        <p:spPr>
          <a:xfrm>
            <a:off x="1005840" y="1234440"/>
            <a:ext cx="4114800" cy="4114800"/>
          </a:xfrm>
          <a:prstGeom prst="rect">
            <a:avLst/>
          </a:prstGeom>
        </p:spPr>
      </p:pic>
      <p:sp>
        <p:nvSpPr>
          <p:cNvPr id="4" name="TextBox 3"/>
          <p:cNvSpPr txBox="1"/>
          <p:nvPr/>
        </p:nvSpPr>
        <p:spPr>
          <a:xfrm>
            <a:off x="5760720" y="1554480"/>
            <a:ext cx="5760720" cy="1097280"/>
          </a:xfrm>
          <a:prstGeom prst="rect">
            <a:avLst/>
          </a:prstGeom>
          <a:noFill/>
        </p:spPr>
        <p:txBody>
          <a:bodyPr wrap="square" lIns="45720" rIns="45720" tIns="27432" bIns="27432" anchor="t">
            <a:noAutofit/>
          </a:bodyPr>
          <a:lstStyle/>
          <a:p>
            <a:pPr algn="l">
              <a:lnSpc>
                <a:spcPct val="100000"/>
              </a:lnSpc>
            </a:pPr>
            <a:r>
              <a:rPr sz="6400" b="0" i="0">
                <a:solidFill>
                  <a:srgbClr val="F7F2E8"/>
                </a:solidFill>
                <a:latin typeface="Palatino Linotype"/>
              </a:rPr>
              <a:t>Tlamatini</a:t>
            </a:r>
          </a:p>
        </p:txBody>
      </p:sp>
      <p:sp>
        <p:nvSpPr>
          <p:cNvPr id="5" name="TextBox 4"/>
          <p:cNvSpPr txBox="1"/>
          <p:nvPr/>
        </p:nvSpPr>
        <p:spPr>
          <a:xfrm>
            <a:off x="5788152" y="2697480"/>
            <a:ext cx="5669280" cy="502920"/>
          </a:xfrm>
          <a:prstGeom prst="rect">
            <a:avLst/>
          </a:prstGeom>
          <a:noFill/>
        </p:spPr>
        <p:txBody>
          <a:bodyPr wrap="square" lIns="45720" rIns="45720" tIns="27432" bIns="27432" anchor="t">
            <a:noAutofit/>
          </a:bodyPr>
          <a:lstStyle/>
          <a:p>
            <a:pPr algn="l">
              <a:lnSpc>
                <a:spcPct val="100000"/>
              </a:lnSpc>
            </a:pPr>
            <a:r>
              <a:rPr sz="2400" b="0" i="1">
                <a:solidFill>
                  <a:srgbClr val="3BBE93"/>
                </a:solidFill>
                <a:latin typeface="Palatino Linotype"/>
              </a:rPr>
              <a:t>one who knows</a:t>
            </a:r>
          </a:p>
        </p:txBody>
      </p:sp>
      <p:sp>
        <p:nvSpPr>
          <p:cNvPr id="6" name="TextBox 5"/>
          <p:cNvSpPr txBox="1"/>
          <p:nvPr/>
        </p:nvSpPr>
        <p:spPr>
          <a:xfrm>
            <a:off x="5788152" y="3310128"/>
            <a:ext cx="5760720" cy="1463040"/>
          </a:xfrm>
          <a:prstGeom prst="rect">
            <a:avLst/>
          </a:prstGeom>
          <a:noFill/>
        </p:spPr>
        <p:txBody>
          <a:bodyPr wrap="square" lIns="45720" rIns="45720" tIns="27432" bIns="27432" anchor="t">
            <a:noAutofit/>
          </a:bodyPr>
          <a:lstStyle/>
          <a:p>
            <a:pPr algn="l">
              <a:lnSpc>
                <a:spcPct val="100000"/>
              </a:lnSpc>
            </a:pPr>
            <a:r>
              <a:rPr sz="1700" b="0" i="0">
                <a:solidFill>
                  <a:srgbClr val="ECE7DC"/>
                </a:solidFill>
                <a:latin typeface="Segoe UI Light"/>
              </a:rPr>
              <a:t>Conceived, designed and built by </a:t>
            </a:r>
            <a:r>
              <a:rPr sz="1700" b="0" i="0">
                <a:solidFill>
                  <a:srgbClr val="F7F2E8"/>
                </a:solidFill>
                <a:latin typeface="Segoe UI Semibold"/>
              </a:rPr>
              <a:t>Angela López Mendoza</a:t>
            </a:r>
            <a:r>
              <a:rPr sz="1700" b="0" i="0">
                <a:solidFill>
                  <a:srgbClr val="ECE7DC"/>
                </a:solidFill>
                <a:latin typeface="Segoe UI Light"/>
              </a:rPr>
              <a:t>. Every number in this deck was counted from the source tree when it was generated.</a:t>
            </a:r>
          </a:p>
        </p:txBody>
      </p:sp>
      <p:sp>
        <p:nvSpPr>
          <p:cNvPr id="7" name="TextBox 6"/>
          <p:cNvSpPr txBox="1"/>
          <p:nvPr/>
        </p:nvSpPr>
        <p:spPr>
          <a:xfrm>
            <a:off x="5788152" y="4892040"/>
            <a:ext cx="5486400" cy="365760"/>
          </a:xfrm>
          <a:prstGeom prst="rect">
            <a:avLst/>
          </a:prstGeom>
          <a:noFill/>
        </p:spPr>
        <p:txBody>
          <a:bodyPr wrap="square" lIns="45720" rIns="45720" tIns="27432" bIns="27432" anchor="t">
            <a:noAutofit/>
          </a:bodyPr>
          <a:lstStyle/>
          <a:p>
            <a:pPr algn="l">
              <a:lnSpc>
                <a:spcPct val="100000"/>
              </a:lnSpc>
            </a:pPr>
            <a:r>
              <a:rPr sz="1300" b="0" i="0">
                <a:solidFill>
                  <a:srgbClr val="E2B462"/>
                </a:solidFill>
                <a:latin typeface="Consolas"/>
              </a:rPr>
              <a:t>Regenerate with  refresh_project_docs.py</a:t>
            </a:r>
          </a:p>
        </p:txBody>
      </p:sp>
      <p:sp>
        <p:nvSpPr>
          <p:cNvPr id="8" name="TextBox 7"/>
          <p:cNvSpPr txBox="1"/>
          <p:nvPr/>
        </p:nvSpPr>
        <p:spPr>
          <a:xfrm>
            <a:off x="5788152" y="5303520"/>
            <a:ext cx="5486400" cy="329184"/>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October 10, 2026  ·  commit 113eddc4  ·  github.com/XAIHT/Tlamatini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 Complete Project Dossier</dc:title>
  <dc:subject>Tlamatini 1.78.0</dc:subject>
  <dc:creator>Angela López Mendoza</dc:creator>
  <cp:keywords>Tlamatini; agents; Multi-Turn; ACPX; MCP; workflow designer</cp:keywords>
  <dc:description>Generated by refresh_project_docs.py from the source tree.</dc:description>
  <cp:lastModifiedBy>Steve Canny</cp:lastModifiedBy>
  <cp:revision>1</cp:revision>
  <dcterms:created xsi:type="dcterms:W3CDTF">2013-01-27T09:14:16Z</dcterms:created>
  <dcterms:modified xsi:type="dcterms:W3CDTF">2013-01-27T09:15:58Z</dcterms:modified>
  <cp:category/>
</cp:coreProperties>
</file>