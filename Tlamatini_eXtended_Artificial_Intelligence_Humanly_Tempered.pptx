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Tlamatini Flow</c:v>
                </c:pt>
                <c:pt idx="2">
                  <c:v>Text</c:v>
                </c:pt>
                <c:pt idx="3">
                  <c:v>HTML</c:v>
                </c:pt>
                <c:pt idx="4">
                  <c:v>Prompt template</c:v>
                </c:pt>
                <c:pt idx="5">
                  <c:v>PowerShell</c:v>
                </c:pt>
                <c:pt idx="6">
                  <c:v>YAML</c:v>
                </c:pt>
                <c:pt idx="7">
                  <c:v>Other text</c:v>
                </c:pt>
                <c:pt idx="8">
                  <c:v>JSON</c:v>
                </c:pt>
                <c:pt idx="9">
                  <c:v>CSS</c:v>
                </c:pt>
                <c:pt idx="10">
                  <c:v>JavaScript</c:v>
                </c:pt>
                <c:pt idx="11">
                  <c:v>Markdown</c:v>
                </c:pt>
                <c:pt idx="12">
                  <c:v>JavaScript module</c:v>
                </c:pt>
                <c:pt idx="13">
                  <c:v>Python</c:v>
                </c:pt>
              </c:strCache>
            </c:strRef>
          </c:cat>
          <c:val>
            <c:numRef>
              <c:f>Sheet1!$B$2:$B$15</c:f>
              <c:numCache>
                <c:formatCode>General</c:formatCode>
                <c:ptCount val="14"/>
                <c:pt idx="0">
                  <c:v>810</c:v>
                </c:pt>
                <c:pt idx="1">
                  <c:v>837</c:v>
                </c:pt>
                <c:pt idx="2">
                  <c:v>1229</c:v>
                </c:pt>
                <c:pt idx="3">
                  <c:v>1350</c:v>
                </c:pt>
                <c:pt idx="4">
                  <c:v>1383</c:v>
                </c:pt>
                <c:pt idx="5">
                  <c:v>1838</c:v>
                </c:pt>
                <c:pt idx="6">
                  <c:v>2315</c:v>
                </c:pt>
                <c:pt idx="7">
                  <c:v>5803</c:v>
                </c:pt>
                <c:pt idx="8">
                  <c:v>6281</c:v>
                </c:pt>
                <c:pt idx="9">
                  <c:v>12809</c:v>
                </c:pt>
                <c:pt idx="10">
                  <c:v>23763</c:v>
                </c:pt>
                <c:pt idx="11">
                  <c:v>32843</c:v>
                </c:pt>
                <c:pt idx="12">
                  <c:v>102470</c:v>
                </c:pt>
                <c:pt idx="13">
                  <c:v>213209</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with self-healing model steps.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50 JavaScript modules, 17 stylesheets and 5 page templates, 210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 no longer freeze the application.</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Six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a:t>
            </a:r>
          </a:p>
          <a:p/>
          <a:p>
            <a:r>
              <a:t>Her avatar speaks answers aloud when you ask. Since v1.72.3, clearer syllable movement and faster closure make her lips easier to follow, with opening capped to her portrait. After login, pressing Enter on the welcome page takes you straight to the chat.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a:t>
            </a:r>
          </a:p>
          <a:p/>
          <a:p>
            <a:r>
              <a:t>Format: JSON tlamatini-prompting-flow, version 1.</a:t>
            </a:r>
          </a:p>
          <a:p/>
          <a:p>
            <a:r>
              <a:t>Limits: 5 MiB, 500 operations,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29 static coverage check includes all 89 agents, build helpers, optional imports and tests.</a:t>
            </a:r>
          </a:p>
          <a:p/>
          <a:p>
            <a:r>
              <a:t>The refreshed static guard scanned 753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September 29: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a:t>
            </a:r>
          </a:p>
          <a:p/>
          <a:p>
            <a:r>
              <a:t>Direct dictation additionally uses a private ephemeral loopback listener for its worker handshake. It closes after authentication; it is not a fourth public service or fixed port.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working tree repairs the missing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1.72.4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v1.72.4; latest published release v1.72.4.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v1.72.4 was created on 2026-09-29 and resolves to commit 323c1051, and the remote advertises it.</a:t>
            </a:r>
          </a:p>
          <a:p/>
          <a:p>
            <a:r>
              <a:t>The inspected source is 1 commit(s) beyond that tag (66cba4dd). A build from this source reports version 1.72.4, because the version string always carries the base tag and never a distance suffix.</a:t>
            </a:r>
          </a:p>
          <a:p/>
          <a:p>
            <a:r>
              <a:t>The newest release published on GitHub is v1.72.4, published 2026-09-29.</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406,940 effective lines across 1,331 text files; 525,392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1,571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 Id="rId4" Type="http://schemas.openxmlformats.org/officeDocument/2006/relationships/chart" Target="../charts/char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 Id="rId4" Type="http://schemas.openxmlformats.org/officeDocument/2006/relationships/chart" Target="../charts/char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4.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v1.72.4</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September 29,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v1.72.4; latest published release v1.72.4.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planner and a tool loop of up to 4,096 iterations over the full enabled surface of 109 built-in tools, with self-healing model steps.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210</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1,571</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406,940</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 no longer freeze the application.</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Six toolbar switches decide how each request runs.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ular Callout 33"/>
          <p:cNvSpPr/>
          <p:nvPr/>
        </p:nvSpPr>
        <p:spPr>
          <a:xfrm>
            <a:off x="6388455" y="4434840"/>
            <a:ext cx="868680" cy="548640"/>
          </a:xfrm>
          <a:prstGeom prst="wedgeRoundRectCallout">
            <a:avLst/>
          </a:pr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51F23"/>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53499" y="4434840"/>
            <a:ext cx="2142667" cy="1581912"/>
          </a:xfrm>
          <a:prstGeom prst="rect">
            <a:avLst/>
          </a:prstGeom>
          <a:noFill/>
        </p:spPr>
        <p:txBody>
          <a:bodyPr wrap="square" lIns="45720" rIns="45720" tIns="27432" bIns="27432" anchor="t">
            <a:noAutofit/>
          </a:bodyPr>
          <a:lstStyle/>
          <a:p>
            <a:pPr algn="l">
              <a:lnSpc>
                <a:spcPct val="100000"/>
              </a:lnSpc>
            </a:pPr>
            <a:r>
              <a:rPr sz="2200" b="1" i="0">
                <a:solidFill>
                  <a:srgbClr val="E2B462"/>
                </a:solidFill>
                <a:latin typeface="Consolas"/>
              </a:rPr>
              <a:t>.fpmt</a:t>
            </a:r>
          </a:p>
          <a:p>
            <a:pPr algn="l">
              <a:lnSpc>
                <a:spcPct val="100000"/>
              </a:lnSpc>
              <a:spcBef>
                <a:spcPts val="800"/>
              </a:spcBef>
            </a:pPr>
            <a:r>
              <a:rPr sz="1300" b="0" i="0">
                <a:solidFill>
                  <a:srgbClr val="ECE7DC"/>
                </a:solidFill>
                <a:latin typeface="Segoe UI"/>
              </a:rPr>
              <a:t>A portable JSON diagram: </a:t>
            </a:r>
            <a:r>
              <a:rPr sz="1200" b="0" i="0">
                <a:solidFill>
                  <a:srgbClr val="E2B462"/>
                </a:solidFill>
                <a:latin typeface="Consolas"/>
              </a:rPr>
              <a:t>tlamatini-prompting-flow</a:t>
            </a:r>
            <a:r>
              <a:rPr sz="1300" b="0" i="0">
                <a:solidFill>
                  <a:srgbClr val="ECE7DC"/>
                </a:solidFill>
                <a:latin typeface="Segoe UI"/>
              </a:rPr>
              <a:t>, version 1. Opening a file never runs it; Validate, then Play.</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1.</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operations,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Preserves unrelated configuration; downloads nothing.</a:t>
            </a:r>
          </a:p>
        </p:txBody>
      </p:sp>
      <p:graphicFrame>
        <p:nvGraphicFramePr>
          <p:cNvPr id="24" name="Chart 23"/>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5" name="Connector 2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7" name="TextBox 2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3758184"/>
          </a:xfrm>
          <a:prstGeom prst="roundRect">
            <a:avLst>
              <a:gd name="adj" fmla="val 194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Binary-content guard</a:t>
            </a:r>
          </a:p>
        </p:txBody>
      </p:sp>
      <p:sp>
        <p:nvSpPr>
          <p:cNvPr id="14" name="TextBox 13"/>
          <p:cNvSpPr txBox="1"/>
          <p:nvPr/>
        </p:nvSpPr>
        <p:spPr>
          <a:xfrm>
            <a:off x="3957431"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5" name="TextBox 14"/>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Dropping real context is worse than embedding one odd file.</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Verdict parsing</a:t>
            </a:r>
          </a:p>
        </p:txBody>
      </p:sp>
      <p:sp>
        <p:nvSpPr>
          <p:cNvPr id="18" name="TextBox 17"/>
          <p:cNvSpPr txBox="1"/>
          <p:nvPr/>
        </p:nvSpPr>
        <p:spPr>
          <a:xfrm>
            <a:off x="3957431" y="288036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9" name="TextBox 18"/>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parse error falls through to the next rule; it never raises.</a:t>
            </a:r>
          </a:p>
        </p:txBody>
      </p:sp>
      <p:sp>
        <p:nvSpPr>
          <p:cNvPr id="20" name="TextBox 19"/>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Port and console settings</a:t>
            </a:r>
          </a:p>
        </p:txBody>
      </p:sp>
      <p:sp>
        <p:nvSpPr>
          <p:cNvPr id="21" name="TextBox 20"/>
          <p:cNvSpPr txBox="1"/>
          <p:nvPr/>
        </p:nvSpPr>
        <p:spPr>
          <a:xfrm>
            <a:off x="3957431" y="325526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2" name="TextBox 21"/>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typo must never stop the server from starting.</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 provisioner</a:t>
            </a:r>
          </a:p>
        </p:txBody>
      </p:sp>
      <p:sp>
        <p:nvSpPr>
          <p:cNvPr id="25" name="TextBox 24"/>
          <p:cNvSpPr txBox="1"/>
          <p:nvPr/>
        </p:nvSpPr>
        <p:spPr>
          <a:xfrm>
            <a:off x="3957431" y="363016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6" name="TextBox 25"/>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failed download never blocks start-up.</a:t>
            </a:r>
          </a:p>
        </p:txBody>
      </p:sp>
      <p:sp>
        <p:nvSpPr>
          <p:cNvPr id="27" name="TextBox 26"/>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8" name="TextBox 27"/>
          <p:cNvSpPr txBox="1"/>
          <p:nvPr/>
        </p:nvSpPr>
        <p:spPr>
          <a:xfrm>
            <a:off x="3957431" y="4005072"/>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29" name="TextBox 28"/>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Any doubt resolves to Deny.</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copies</a:t>
            </a:r>
          </a:p>
        </p:txBody>
      </p:sp>
      <p:sp>
        <p:nvSpPr>
          <p:cNvPr id="32" name="TextBox 31"/>
          <p:cNvSpPr txBox="1"/>
          <p:nvPr/>
        </p:nvSpPr>
        <p:spPr>
          <a:xfrm>
            <a:off x="3957431" y="437997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3" name="TextBox 32"/>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 unclear or unchecked copy is reported as a failure.</a:t>
            </a:r>
          </a:p>
        </p:txBody>
      </p:sp>
      <p:sp>
        <p:nvSpPr>
          <p:cNvPr id="34" name="TextBox 33"/>
          <p:cNvSpPr txBox="1"/>
          <p:nvPr/>
        </p:nvSpPr>
        <p:spPr>
          <a:xfrm>
            <a:off x="640080" y="475488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 bisect guard</a:t>
            </a:r>
          </a:p>
        </p:txBody>
      </p:sp>
      <p:sp>
        <p:nvSpPr>
          <p:cNvPr id="35" name="TextBox 34"/>
          <p:cNvSpPr txBox="1"/>
          <p:nvPr/>
        </p:nvSpPr>
        <p:spPr>
          <a:xfrm>
            <a:off x="3957431" y="475488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6" name="TextBox 35"/>
          <p:cNvSpPr txBox="1"/>
          <p:nvPr/>
        </p:nvSpPr>
        <p:spPr>
          <a:xfrm>
            <a:off x="5726686" y="475488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When in doubt, protect the author's content.</a:t>
            </a:r>
          </a:p>
        </p:txBody>
      </p:sp>
      <p:sp>
        <p:nvSpPr>
          <p:cNvPr id="37" name="Rectangle 36"/>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12978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Firmware preflights</a:t>
            </a:r>
          </a:p>
        </p:txBody>
      </p:sp>
      <p:sp>
        <p:nvSpPr>
          <p:cNvPr id="39" name="TextBox 38"/>
          <p:cNvSpPr txBox="1"/>
          <p:nvPr/>
        </p:nvSpPr>
        <p:spPr>
          <a:xfrm>
            <a:off x="3957431" y="512978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0" name="TextBox 39"/>
          <p:cNvSpPr txBox="1"/>
          <p:nvPr/>
        </p:nvSpPr>
        <p:spPr>
          <a:xfrm>
            <a:off x="5726686" y="512978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 rather than build or flash the wrong target.</a:t>
            </a:r>
          </a:p>
        </p:txBody>
      </p:sp>
      <p:sp>
        <p:nvSpPr>
          <p:cNvPr id="41" name="TextBox 40"/>
          <p:cNvSpPr txBox="1"/>
          <p:nvPr/>
        </p:nvSpPr>
        <p:spPr>
          <a:xfrm>
            <a:off x="640080" y="550468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Deleter</a:t>
            </a:r>
          </a:p>
        </p:txBody>
      </p:sp>
      <p:sp>
        <p:nvSpPr>
          <p:cNvPr id="42" name="TextBox 41"/>
          <p:cNvSpPr txBox="1"/>
          <p:nvPr/>
        </p:nvSpPr>
        <p:spPr>
          <a:xfrm>
            <a:off x="3957431" y="550468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3" name="TextBox 42"/>
          <p:cNvSpPr txBox="1"/>
          <p:nvPr/>
        </p:nvSpPr>
        <p:spPr>
          <a:xfrm>
            <a:off x="5726686" y="550468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Refuses protected folders, repository roots and drive roots.</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29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29: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Optional: her rebuildable source ships beside her.</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8000 (configurable), 8765 and 50051 on loopback.</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a:t>
            </a:r>
          </a:p>
        </p:txBody>
      </p:sp>
      <p:sp>
        <p:nvSpPr>
          <p:cNvPr id="34" name="TextBox 33"/>
          <p:cNvSpPr txBox="1"/>
          <p:nvPr/>
        </p:nvSpPr>
        <p:spPr>
          <a:xfrm>
            <a:off x="73139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context provider.</a:t>
            </a:r>
          </a:p>
        </p:txBody>
      </p:sp>
      <p:sp>
        <p:nvSpPr>
          <p:cNvPr id="36" name="TextBox 35"/>
          <p:cNvSpPr txBox="1"/>
          <p:nvPr/>
        </p:nvSpPr>
        <p:spPr>
          <a:xfrm>
            <a:off x="6217920" y="3346703"/>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a:t>
            </a:r>
          </a:p>
        </p:txBody>
      </p:sp>
      <p:sp>
        <p:nvSpPr>
          <p:cNvPr id="37" name="TextBox 36"/>
          <p:cNvSpPr txBox="1"/>
          <p:nvPr/>
        </p:nvSpPr>
        <p:spPr>
          <a:xfrm>
            <a:off x="73139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346703"/>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context provider.</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django_port</a:t>
            </a:r>
          </a:p>
        </p:txBody>
      </p:sp>
      <p:sp>
        <p:nvSpPr>
          <p:cNvPr id="14" name="TextBox 13"/>
          <p:cNvSpPr txBox="1"/>
          <p:nvPr/>
        </p:nvSpPr>
        <p:spPr>
          <a:xfrm>
            <a:off x="4731480"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8000</a:t>
            </a:r>
          </a:p>
        </p:txBody>
      </p:sp>
      <p:sp>
        <p:nvSpPr>
          <p:cNvPr id="15" name="TextBox 14"/>
          <p:cNvSpPr txBox="1"/>
          <p:nvPr/>
        </p:nvSpPr>
        <p:spPr>
          <a:xfrm>
            <a:off x="6500734" y="2505456"/>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Web port for every launch path; fails open to 8000.</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unified_agent_max_iterations</a:t>
            </a:r>
          </a:p>
        </p:txBody>
      </p:sp>
      <p:sp>
        <p:nvSpPr>
          <p:cNvPr id="18" name="TextBox 17"/>
          <p:cNvSpPr txBox="1"/>
          <p:nvPr/>
        </p:nvSpPr>
        <p:spPr>
          <a:xfrm>
            <a:off x="4731480"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4096</a:t>
            </a:r>
          </a:p>
        </p:txBody>
      </p:sp>
      <p:sp>
        <p:nvSpPr>
          <p:cNvPr id="19" name="TextBox 18"/>
          <p:cNvSpPr txBox="1"/>
          <p:nvPr/>
        </p:nvSpPr>
        <p:spPr>
          <a:xfrm>
            <a:off x="6500734" y="2872740"/>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Upper bound on Multi-Turn tool-loop turns.</a:t>
            </a:r>
          </a:p>
        </p:txBody>
      </p:sp>
      <p:sp>
        <p:nvSpPr>
          <p:cNvPr id="20" name="TextBox 19"/>
          <p:cNvSpPr txBox="1"/>
          <p:nvPr/>
        </p:nvSpPr>
        <p:spPr>
          <a:xfrm>
            <a:off x="640080" y="324002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unified_agent_llm_step_timeout_seconds</a:t>
            </a:r>
          </a:p>
        </p:txBody>
      </p:sp>
      <p:sp>
        <p:nvSpPr>
          <p:cNvPr id="21" name="TextBox 20"/>
          <p:cNvSpPr txBox="1"/>
          <p:nvPr/>
        </p:nvSpPr>
        <p:spPr>
          <a:xfrm>
            <a:off x="4731480"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900</a:t>
            </a:r>
          </a:p>
        </p:txBody>
      </p:sp>
      <p:sp>
        <p:nvSpPr>
          <p:cNvPr id="22" name="TextBox 21"/>
          <p:cNvSpPr txBox="1"/>
          <p:nvPr/>
        </p:nvSpPr>
        <p:spPr>
          <a:xfrm>
            <a:off x="6500734" y="324002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Watchdog for one model attempt.</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llm_client_timeout_seconds</a:t>
            </a:r>
          </a:p>
        </p:txBody>
      </p:sp>
      <p:sp>
        <p:nvSpPr>
          <p:cNvPr id="25" name="TextBox 24"/>
          <p:cNvSpPr txBox="1"/>
          <p:nvPr/>
        </p:nvSpPr>
        <p:spPr>
          <a:xfrm>
            <a:off x="4731480"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600</a:t>
            </a:r>
          </a:p>
        </p:txBody>
      </p:sp>
      <p:sp>
        <p:nvSpPr>
          <p:cNvPr id="26" name="TextBox 25"/>
          <p:cNvSpPr txBox="1"/>
          <p:nvPr/>
        </p:nvSpPr>
        <p:spPr>
          <a:xfrm>
            <a:off x="6500734" y="360730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long one model call may take.</a:t>
            </a:r>
          </a:p>
        </p:txBody>
      </p:sp>
      <p:sp>
        <p:nvSpPr>
          <p:cNvPr id="27" name="TextBox 26"/>
          <p:cNvSpPr txBox="1"/>
          <p:nvPr/>
        </p:nvSpPr>
        <p:spPr>
          <a:xfrm>
            <a:off x="640080" y="397459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ollama_repeat_penalty</a:t>
            </a:r>
          </a:p>
        </p:txBody>
      </p:sp>
      <p:sp>
        <p:nvSpPr>
          <p:cNvPr id="28" name="TextBox 27"/>
          <p:cNvSpPr txBox="1"/>
          <p:nvPr/>
        </p:nvSpPr>
        <p:spPr>
          <a:xfrm>
            <a:off x="4731480"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1.2</a:t>
            </a:r>
          </a:p>
        </p:txBody>
      </p:sp>
      <p:sp>
        <p:nvSpPr>
          <p:cNvPr id="29" name="TextBox 28"/>
          <p:cNvSpPr txBox="1"/>
          <p:nvPr/>
        </p:nvSpPr>
        <p:spPr>
          <a:xfrm>
            <a:off x="6500734" y="397459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Repetition penalty; 1.9 emptied answers.</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ollama_repeat_last_n</a:t>
            </a:r>
          </a:p>
        </p:txBody>
      </p:sp>
      <p:sp>
        <p:nvSpPr>
          <p:cNvPr id="32" name="TextBox 31"/>
          <p:cNvSpPr txBox="1"/>
          <p:nvPr/>
        </p:nvSpPr>
        <p:spPr>
          <a:xfrm>
            <a:off x="4731480"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256</a:t>
            </a:r>
          </a:p>
        </p:txBody>
      </p:sp>
      <p:sp>
        <p:nvSpPr>
          <p:cNvPr id="33" name="TextBox 32"/>
          <p:cNvSpPr txBox="1"/>
          <p:nvPr/>
        </p:nvSpPr>
        <p:spPr>
          <a:xfrm>
            <a:off x="6500734" y="4341875"/>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far back that penalty looks.</a:t>
            </a:r>
          </a:p>
        </p:txBody>
      </p:sp>
      <p:sp>
        <p:nvSpPr>
          <p:cNvPr id="34" name="TextBox 33"/>
          <p:cNvSpPr txBox="1"/>
          <p:nvPr/>
        </p:nvSpPr>
        <p:spPr>
          <a:xfrm>
            <a:off x="640080" y="4709159"/>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ollama_num_ctx</a:t>
            </a:r>
          </a:p>
        </p:txBody>
      </p:sp>
      <p:sp>
        <p:nvSpPr>
          <p:cNvPr id="35" name="TextBox 34"/>
          <p:cNvSpPr txBox="1"/>
          <p:nvPr/>
        </p:nvSpPr>
        <p:spPr>
          <a:xfrm>
            <a:off x="4731480"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1048576</a:t>
            </a:r>
          </a:p>
        </p:txBody>
      </p:sp>
      <p:sp>
        <p:nvSpPr>
          <p:cNvPr id="36" name="TextBox 35"/>
          <p:cNvSpPr txBox="1"/>
          <p:nvPr/>
        </p:nvSpPr>
        <p:spPr>
          <a:xfrm>
            <a:off x="6500734" y="4709159"/>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Requested context window.</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binary_context_detection</a:t>
            </a:r>
          </a:p>
        </p:txBody>
      </p:sp>
      <p:sp>
        <p:nvSpPr>
          <p:cNvPr id="39" name="TextBox 38"/>
          <p:cNvSpPr txBox="1"/>
          <p:nvPr/>
        </p:nvSpPr>
        <p:spPr>
          <a:xfrm>
            <a:off x="4731480"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0" name="TextBox 39"/>
          <p:cNvSpPr txBox="1"/>
          <p:nvPr/>
        </p:nvSpPr>
        <p:spPr>
          <a:xfrm>
            <a:off x="6500734" y="507644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Screens files by content before embedding.</a:t>
            </a:r>
          </a:p>
        </p:txBody>
      </p:sp>
      <p:sp>
        <p:nvSpPr>
          <p:cNvPr id="41" name="TextBox 40"/>
          <p:cNvSpPr txBox="1"/>
          <p:nvPr/>
        </p:nvSpPr>
        <p:spPr>
          <a:xfrm>
            <a:off x="640080" y="544372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console_quick_edit</a:t>
            </a:r>
          </a:p>
        </p:txBody>
      </p:sp>
      <p:sp>
        <p:nvSpPr>
          <p:cNvPr id="42" name="TextBox 41"/>
          <p:cNvSpPr txBox="1"/>
          <p:nvPr/>
        </p:nvSpPr>
        <p:spPr>
          <a:xfrm>
            <a:off x="4731480"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false</a:t>
            </a:r>
          </a:p>
        </p:txBody>
      </p:sp>
      <p:sp>
        <p:nvSpPr>
          <p:cNvPr id="43" name="TextBox 42"/>
          <p:cNvSpPr txBox="1"/>
          <p:nvPr/>
        </p:nvSpPr>
        <p:spPr>
          <a:xfrm>
            <a:off x="6500734" y="544372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Keeps a click from pausing a frozen console.</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runtime_autoprovision</a:t>
            </a:r>
          </a:p>
        </p:txBody>
      </p:sp>
      <p:sp>
        <p:nvSpPr>
          <p:cNvPr id="46" name="TextBox 45"/>
          <p:cNvSpPr txBox="1"/>
          <p:nvPr/>
        </p:nvSpPr>
        <p:spPr>
          <a:xfrm>
            <a:off x="4731480"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7" name="TextBox 46"/>
          <p:cNvSpPr txBox="1"/>
          <p:nvPr/>
        </p:nvSpPr>
        <p:spPr>
          <a:xfrm>
            <a:off x="6500734" y="581101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Lets MCP servers provision Node or uv privately.</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sampler values come from repeated trials on real workloads. That failure is heavy-tailed, so a single fast run is never a reason to change them.</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LATEST BUILD REPAIR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current working tree repairs the missing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v1.72.4; latest published release v1.72.4. Local changes are stated separately.</a:t>
            </a:r>
          </a:p>
        </p:txBody>
      </p:sp>
      <p:sp>
        <p:nvSpPr>
          <p:cNvPr id="8" name="Diamond 7"/>
          <p:cNvSpPr/>
          <p:nvPr/>
        </p:nvSpPr>
        <p:spPr>
          <a:xfrm>
            <a:off x="822960" y="534009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Web pages that cannot vanish in silence</a:t>
            </a:r>
          </a:p>
        </p:txBody>
      </p:sp>
      <p:sp>
        <p:nvSpPr>
          <p:cNvPr id="10" name="Diamond 9"/>
          <p:cNvSpPr/>
          <p:nvPr/>
        </p:nvSpPr>
        <p:spPr>
          <a:xfrm>
            <a:off x="822960" y="561441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 context gauge that tells the truth</a:t>
            </a:r>
          </a:p>
        </p:txBody>
      </p:sp>
      <p:sp>
        <p:nvSpPr>
          <p:cNvPr id="12" name="Diamond 11"/>
          <p:cNvSpPr/>
          <p:nvPr/>
        </p:nvSpPr>
        <p:spPr>
          <a:xfrm>
            <a:off x="822960" y="588873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Direct dictation and dependency coverage</a:t>
            </a:r>
          </a:p>
        </p:txBody>
      </p:sp>
      <p:sp>
        <p:nvSpPr>
          <p:cNvPr id="14" name="Diamond 13"/>
          <p:cNvSpPr/>
          <p:nvPr/>
        </p:nvSpPr>
        <p:spPr>
          <a:xfrm>
            <a:off x="4206240" y="534009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v1.70.0: the Prompt Flow Panel</a:t>
            </a:r>
          </a:p>
        </p:txBody>
      </p:sp>
      <p:sp>
        <p:nvSpPr>
          <p:cNvPr id="16" name="Diamond 15"/>
          <p:cNvSpPr/>
          <p:nvPr/>
        </p:nvSpPr>
        <p:spPr>
          <a:xfrm>
            <a:off x="4206240" y="561441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How the line arrived here</a:t>
            </a:r>
          </a:p>
        </p:txBody>
      </p:sp>
      <p:sp>
        <p:nvSpPr>
          <p:cNvPr id="18" name="Diamond 17"/>
          <p:cNvSpPr/>
          <p:nvPr/>
        </p:nvSpPr>
        <p:spPr>
          <a:xfrm>
            <a:off x="4206240" y="588873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38912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Tag, commit and publication, stated plainly</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v1.65.0 Context meter implemented!.</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v1.65.2</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v1.65.2 Context Governor improved: measure the real request, and never bind zero tools.</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v1.65.3</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v1.65.3 Improved LaTeXer: bracing a leading before a command eats it as an optional argument.</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2026-09-21</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v1.65.4</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v1.65.4 Improved gauge of context.</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2026-09-22</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v1.65.5</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v1.65.5 Fixing spinner state while initially re-loading context.</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v1.70.0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v1.72.4</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v1.72.4 resolves to </a:t>
            </a:r>
            <a:r>
              <a:rPr sz="1300" b="0" i="0">
                <a:solidFill>
                  <a:srgbClr val="E2B462"/>
                </a:solidFill>
                <a:latin typeface="Consolas"/>
              </a:rPr>
              <a:t>323c1051</a:t>
            </a:r>
            <a:r>
              <a:rPr sz="1400" b="0" i="0">
                <a:solidFill>
                  <a:srgbClr val="A7B2B0"/>
                </a:solidFill>
                <a:latin typeface="Segoe UI"/>
              </a:rPr>
              <a:t>, created 2026-09-29.</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Beyond 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 newer commit(s); a build from them still reports 1.72.4.</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v1.72.4.</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1.72.4</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v1.72.4 → 323c1051 (2026-09-29)</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66cba4dd (1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v1.72.4</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66cba4dd · 2026-09-29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1.72.4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1,571</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1,331</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525,392</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406,940</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210</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50 · 17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406,940 effective lines across 1,331 text files; 525,392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753</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303,968</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213,209</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52.4%</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205</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43,329</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32,843</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73</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30,062</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23,763</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15,983</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12,809</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38</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6,782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5,803</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96</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6,269</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1,838</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1,526</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1,383</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1,407</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1,350</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380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1,331</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525,392</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406,940</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1,200</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295,893</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1,331</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406,940</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8,728</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5,963</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5,211</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3,427</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3,382</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3,266</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3,163</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2,443</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2,167</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Tlamatini/agent/agents/stm32er/stm32er.py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1,983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Tlamatini/agent/mcp_agent.py</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1,934</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1,930</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1,872</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Tlamatini/agent/static/agent/js/acp-agent-connectors.js</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1,595</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1,593</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Tlamatini/agent/static/agent/js/agent_page_init.js</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1,579</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73652"/>
          </a:xfrm>
          <a:prstGeom prst="roundRect">
            <a:avLst>
              <a:gd name="adj" fmla="val 17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66cba4dd</a:t>
            </a:r>
          </a:p>
        </p:txBody>
      </p:sp>
      <p:sp>
        <p:nvSpPr>
          <p:cNvPr id="14" name="TextBox 13"/>
          <p:cNvSpPr txBox="1"/>
          <p:nvPr/>
        </p:nvSpPr>
        <p:spPr>
          <a:xfrm>
            <a:off x="1967020" y="250545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2026-09-29</a:t>
            </a:r>
          </a:p>
        </p:txBody>
      </p:sp>
      <p:sp>
        <p:nvSpPr>
          <p:cNvPr id="15" name="TextBox 14"/>
          <p:cNvSpPr txBox="1"/>
          <p:nvPr/>
        </p:nvSpPr>
        <p:spPr>
          <a:xfrm>
            <a:off x="3515118" y="250545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every current-version reference to v1.72.4, by Claude</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323c1051</a:t>
            </a:r>
          </a:p>
        </p:txBody>
      </p:sp>
      <p:sp>
        <p:nvSpPr>
          <p:cNvPr id="18" name="TextBox 17"/>
          <p:cNvSpPr txBox="1"/>
          <p:nvPr/>
        </p:nvSpPr>
        <p:spPr>
          <a:xfrm>
            <a:off x="1967020" y="281177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2026-09-29</a:t>
            </a:r>
          </a:p>
        </p:txBody>
      </p:sp>
      <p:sp>
        <p:nvSpPr>
          <p:cNvPr id="19" name="TextBox 18"/>
          <p:cNvSpPr txBox="1"/>
          <p:nvPr/>
        </p:nvSpPr>
        <p:spPr>
          <a:xfrm>
            <a:off x="3515118" y="281177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HTML text extraction unable to lose a page in silence, in Crawler and Googler, by Claude</a:t>
            </a:r>
          </a:p>
        </p:txBody>
      </p:sp>
      <p:sp>
        <p:nvSpPr>
          <p:cNvPr id="20" name="TextBox 19"/>
          <p:cNvSpPr txBox="1"/>
          <p:nvPr/>
        </p:nvSpPr>
        <p:spPr>
          <a:xfrm>
            <a:off x="640080" y="311810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87db1df8</a:t>
            </a:r>
          </a:p>
        </p:txBody>
      </p:sp>
      <p:sp>
        <p:nvSpPr>
          <p:cNvPr id="21" name="TextBox 20"/>
          <p:cNvSpPr txBox="1"/>
          <p:nvPr/>
        </p:nvSpPr>
        <p:spPr>
          <a:xfrm>
            <a:off x="1967020" y="311810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2026-09-29</a:t>
            </a:r>
          </a:p>
        </p:txBody>
      </p:sp>
      <p:sp>
        <p:nvSpPr>
          <p:cNvPr id="22" name="TextBox 21"/>
          <p:cNvSpPr txBox="1"/>
          <p:nvPr/>
        </p:nvSpPr>
        <p:spPr>
          <a:xfrm>
            <a:off x="3515118" y="311810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Avatar lips movement improved, by Tlamatini's-AutoBot.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2f0f22f0</a:t>
            </a:r>
          </a:p>
        </p:txBody>
      </p:sp>
      <p:sp>
        <p:nvSpPr>
          <p:cNvPr id="25" name="TextBox 24"/>
          <p:cNvSpPr txBox="1"/>
          <p:nvPr/>
        </p:nvSpPr>
        <p:spPr>
          <a:xfrm>
            <a:off x="1967020" y="342442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2026-09-29</a:t>
            </a:r>
          </a:p>
        </p:txBody>
      </p:sp>
      <p:sp>
        <p:nvSpPr>
          <p:cNvPr id="26" name="TextBox 25"/>
          <p:cNvSpPr txBox="1"/>
          <p:nvPr/>
        </p:nvSpPr>
        <p:spPr>
          <a:xfrm>
            <a:off x="3515118" y="342442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Just improving a little the general prompt of Tlamatini, by Tlamatini's-AutoBot.</a:t>
            </a:r>
          </a:p>
        </p:txBody>
      </p:sp>
      <p:sp>
        <p:nvSpPr>
          <p:cNvPr id="27" name="TextBox 26"/>
          <p:cNvSpPr txBox="1"/>
          <p:nvPr/>
        </p:nvSpPr>
        <p:spPr>
          <a:xfrm>
            <a:off x="640080" y="3730751"/>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524a67ff</a:t>
            </a:r>
          </a:p>
        </p:txBody>
      </p:sp>
      <p:sp>
        <p:nvSpPr>
          <p:cNvPr id="28" name="TextBox 27"/>
          <p:cNvSpPr txBox="1"/>
          <p:nvPr/>
        </p:nvSpPr>
        <p:spPr>
          <a:xfrm>
            <a:off x="1967020" y="3730751"/>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2026-09-29</a:t>
            </a:r>
          </a:p>
        </p:txBody>
      </p:sp>
      <p:sp>
        <p:nvSpPr>
          <p:cNvPr id="29" name="TextBox 28"/>
          <p:cNvSpPr txBox="1"/>
          <p:nvPr/>
        </p:nvSpPr>
        <p:spPr>
          <a:xfrm>
            <a:off x="3515118" y="3730751"/>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Googler and Crawler block- and hang-proof - every result reaches the model and a refusal is never passed off as content, by Claude</a:t>
            </a:r>
          </a:p>
        </p:txBody>
      </p:sp>
      <p:sp>
        <p:nvSpPr>
          <p:cNvPr id="30" name="Rectangle 29"/>
          <p:cNvSpPr/>
          <p:nvPr/>
        </p:nvSpPr>
        <p:spPr>
          <a:xfrm>
            <a:off x="585216" y="416051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97095"/>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f5ca6d0e</a:t>
            </a:r>
          </a:p>
        </p:txBody>
      </p:sp>
      <p:sp>
        <p:nvSpPr>
          <p:cNvPr id="32" name="TextBox 31"/>
          <p:cNvSpPr txBox="1"/>
          <p:nvPr/>
        </p:nvSpPr>
        <p:spPr>
          <a:xfrm>
            <a:off x="1967020" y="4197095"/>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2026-09-28</a:t>
            </a:r>
          </a:p>
        </p:txBody>
      </p:sp>
      <p:sp>
        <p:nvSpPr>
          <p:cNvPr id="33" name="TextBox 32"/>
          <p:cNvSpPr txBox="1"/>
          <p:nvPr/>
        </p:nvSpPr>
        <p:spPr>
          <a:xfrm>
            <a:off x="3515118" y="4197095"/>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every current-version reference to v1.72.1 and documenting the REAL context gauge, by Claude</a:t>
            </a:r>
          </a:p>
        </p:txBody>
      </p:sp>
      <p:sp>
        <p:nvSpPr>
          <p:cNvPr id="34" name="TextBox 33"/>
          <p:cNvSpPr txBox="1"/>
          <p:nvPr/>
        </p:nvSpPr>
        <p:spPr>
          <a:xfrm>
            <a:off x="640080" y="450341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df709d78</a:t>
            </a:r>
          </a:p>
        </p:txBody>
      </p:sp>
      <p:sp>
        <p:nvSpPr>
          <p:cNvPr id="35" name="TextBox 34"/>
          <p:cNvSpPr txBox="1"/>
          <p:nvPr/>
        </p:nvSpPr>
        <p:spPr>
          <a:xfrm>
            <a:off x="1967020" y="450341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2026-09-28</a:t>
            </a:r>
          </a:p>
        </p:txBody>
      </p:sp>
      <p:sp>
        <p:nvSpPr>
          <p:cNvPr id="36" name="TextBox 35"/>
          <p:cNvSpPr txBox="1"/>
          <p:nvPr/>
        </p:nvSpPr>
        <p:spPr>
          <a:xfrm>
            <a:off x="3515118" y="450341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Removing the System-Metrics "no system context" placeholder from every one-shot question, by Claude</a:t>
            </a:r>
          </a:p>
        </p:txBody>
      </p:sp>
      <p:sp>
        <p:nvSpPr>
          <p:cNvPr id="37" name="Rectangle 36"/>
          <p:cNvSpPr/>
          <p:nvPr/>
        </p:nvSpPr>
        <p:spPr>
          <a:xfrm>
            <a:off x="585216" y="477316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0974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e8d66c01</a:t>
            </a:r>
          </a:p>
        </p:txBody>
      </p:sp>
      <p:sp>
        <p:nvSpPr>
          <p:cNvPr id="39" name="TextBox 38"/>
          <p:cNvSpPr txBox="1"/>
          <p:nvPr/>
        </p:nvSpPr>
        <p:spPr>
          <a:xfrm>
            <a:off x="1967020" y="480974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2026-09-28</a:t>
            </a:r>
          </a:p>
        </p:txBody>
      </p:sp>
      <p:sp>
        <p:nvSpPr>
          <p:cNvPr id="40" name="TextBox 39"/>
          <p:cNvSpPr txBox="1"/>
          <p:nvPr/>
        </p:nvSpPr>
        <p:spPr>
          <a:xfrm>
            <a:off x="3515118" y="480974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context gauge REAL - Ollama's own token counts, exact in one-shot and Multi-Turn, by Claude</a:t>
            </a:r>
          </a:p>
        </p:txBody>
      </p:sp>
      <p:sp>
        <p:nvSpPr>
          <p:cNvPr id="41" name="TextBox 40"/>
          <p:cNvSpPr txBox="1"/>
          <p:nvPr/>
        </p:nvSpPr>
        <p:spPr>
          <a:xfrm>
            <a:off x="640080" y="511606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5c7da8fd</a:t>
            </a:r>
          </a:p>
        </p:txBody>
      </p:sp>
      <p:sp>
        <p:nvSpPr>
          <p:cNvPr id="42" name="TextBox 41"/>
          <p:cNvSpPr txBox="1"/>
          <p:nvPr/>
        </p:nvSpPr>
        <p:spPr>
          <a:xfrm>
            <a:off x="1967020" y="511606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2026-09-27</a:t>
            </a:r>
          </a:p>
        </p:txBody>
      </p:sp>
      <p:sp>
        <p:nvSpPr>
          <p:cNvPr id="43" name="TextBox 42"/>
          <p:cNvSpPr txBox="1"/>
          <p:nvPr/>
        </p:nvSpPr>
        <p:spPr>
          <a:xfrm>
            <a:off x="3515118" y="511606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Bumped to Tlamatini v1.72.0, by angelahack1</a:t>
            </a:r>
          </a:p>
        </p:txBody>
      </p:sp>
      <p:sp>
        <p:nvSpPr>
          <p:cNvPr id="44" name="Rectangle 43"/>
          <p:cNvSpPr/>
          <p:nvPr/>
        </p:nvSpPr>
        <p:spPr>
          <a:xfrm>
            <a:off x="585216" y="538581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2239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c970b02b</a:t>
            </a:r>
          </a:p>
        </p:txBody>
      </p:sp>
      <p:sp>
        <p:nvSpPr>
          <p:cNvPr id="46" name="TextBox 45"/>
          <p:cNvSpPr txBox="1"/>
          <p:nvPr/>
        </p:nvSpPr>
        <p:spPr>
          <a:xfrm>
            <a:off x="1967020" y="542239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2026-09-27</a:t>
            </a:r>
          </a:p>
        </p:txBody>
      </p:sp>
      <p:sp>
        <p:nvSpPr>
          <p:cNvPr id="47" name="TextBox 46"/>
          <p:cNvSpPr txBox="1"/>
          <p:nvPr/>
        </p:nvSpPr>
        <p:spPr>
          <a:xfrm>
            <a:off x="3515118" y="542239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every current-version reference in source and docs to v1.72.0, by Claude</a:t>
            </a:r>
          </a:p>
        </p:txBody>
      </p:sp>
      <p:sp>
        <p:nvSpPr>
          <p:cNvPr id="48" name="TextBox 47"/>
          <p:cNvSpPr txBox="1"/>
          <p:nvPr/>
        </p:nvSpPr>
        <p:spPr>
          <a:xfrm>
            <a:off x="640080" y="5728715"/>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e3668a47</a:t>
            </a:r>
          </a:p>
        </p:txBody>
      </p:sp>
      <p:sp>
        <p:nvSpPr>
          <p:cNvPr id="49" name="TextBox 48"/>
          <p:cNvSpPr txBox="1"/>
          <p:nvPr/>
        </p:nvSpPr>
        <p:spPr>
          <a:xfrm>
            <a:off x="1967020" y="5728715"/>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2026-09-27</a:t>
            </a:r>
          </a:p>
        </p:txBody>
      </p:sp>
      <p:sp>
        <p:nvSpPr>
          <p:cNvPr id="50" name="TextBox 49"/>
          <p:cNvSpPr txBox="1"/>
          <p:nvPr/>
        </p:nvSpPr>
        <p:spPr>
          <a:xfrm>
            <a:off x="3515118" y="5728715"/>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Adding Config &gt; Mic configuration parameters to the zero-latency Whisperer microphone in Tlamatini's Chat, committed by Claude</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0cfe4d00</a:t>
            </a:r>
          </a:p>
        </p:txBody>
      </p:sp>
      <p:sp>
        <p:nvSpPr>
          <p:cNvPr id="14" name="TextBox 13"/>
          <p:cNvSpPr txBox="1"/>
          <p:nvPr/>
        </p:nvSpPr>
        <p:spPr>
          <a:xfrm>
            <a:off x="1967020" y="2505456"/>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2026-09-27</a:t>
            </a:r>
          </a:p>
        </p:txBody>
      </p:sp>
      <p:sp>
        <p:nvSpPr>
          <p:cNvPr id="15" name="TextBox 14"/>
          <p:cNvSpPr txBox="1"/>
          <p:nvPr/>
        </p:nvSpPr>
        <p:spPr>
          <a:xfrm>
            <a:off x="3515118" y="2505456"/>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Syncing the dev model configuration with the installed Tlamatini, by Claude</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1,571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3BBE93"/>
                </a:solidFill>
                <a:latin typeface="Consolas"/>
              </a:rPr>
              <a:t>├── Tests/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test_model_settings.py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shared-runtime-dialogs.js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1,571 tracked files at commit 66cba4dd;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v1.72.4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September 29, 2026  ·  commit 66cba4dd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1.72.4</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