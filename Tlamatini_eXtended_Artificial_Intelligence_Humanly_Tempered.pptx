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28016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XAIHT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Tlamatini: eXtended Artificial Intelligence Humanly Tempered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Code-verified deck rebuilt from the current source tree, the refreshed README, the refreshed PDF, and focused April 3, 2026 test runs.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74519"/>
            <a:ext cx="3648456" cy="123444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Current anchor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HEAD 4fd33b480086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324 tracked files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55 templates, 102 app routes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74519"/>
            <a:ext cx="3648456" cy="123444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Previous docs anchor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Previous deck/PDF anchor: 29f081e23748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April 1 documentation snapshot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Recent commits changed ACP behavior and packaging details.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74519"/>
            <a:ext cx="3648456" cy="1234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Evidence used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Current codebase and commit range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Refreshed README.md and refreshed PDF text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Focused agent.tests reruns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3401568"/>
            <a:ext cx="11365992" cy="19659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173B6C"/>
                </a:solidFill>
                <a:latin typeface="Segoe UI"/>
              </a:rPr>
              <a:t>This version replaces an April 1 documentation pass with an April 3 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364557"/>
                </a:solidFill>
                <a:latin typeface="Segoe UI"/>
              </a:rPr>
              <a:t>The deck now preserves the April 1 main-chat runtime layer but adds the April 2-3 ACP description/context-menu work, Parametrizer nested mapping, packaging/install hardening, updated line totals, and the current 28-test status.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18872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MAP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Agenda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narrative moves from evidence anchors into product surface, recent commit delta, architecture, ACP behavior, agent inventory, and current caveats.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2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01 Evidence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Anchors, stale artifacts,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and what changed after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the April 1 docs pass.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02 Product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What Tlamatini is,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who it serves, and which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surfaces users operate.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5" y="1828800"/>
            <a:ext cx="3648456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03 Runtime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Architecture, control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surface, and the April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chat-runtime layer.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3566160"/>
            <a:ext cx="3648456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04 ACP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Descriptions, context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menus, pause logic,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and validation.</a:t>
            </a:r>
          </a:p>
        </p:txBody>
      </p:sp>
      <p:sp>
        <p:nvSpPr>
          <p:cNvPr id="13" name="CARD_12"/>
          <p:cNvSpPr/>
          <p:nvPr/>
        </p:nvSpPr>
        <p:spPr>
          <a:xfrm>
            <a:off x="4270248" y="3566160"/>
            <a:ext cx="3648456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05 Operations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Parametrizer, packaging,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installer behavior,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and remaining drift.</a:t>
            </a:r>
          </a:p>
        </p:txBody>
      </p:sp>
      <p:sp>
        <p:nvSpPr>
          <p:cNvPr id="14" name="CARD_13"/>
          <p:cNvSpPr/>
          <p:nvPr/>
        </p:nvSpPr>
        <p:spPr>
          <a:xfrm>
            <a:off x="8129015" y="3566160"/>
            <a:ext cx="3648456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06 Status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Focused tests, known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issues, and final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XAIHT reading.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609344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EVIDENCE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What was stale and what is now the truth anchor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Code, README, prior PDF extraction, and the prior deck were all audited before rebuilding the narrative.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3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141732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Current code truth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HEAD 4fd33b480086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324 tracked files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55 templates and 102 app routes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1417320"/>
          </a:xfrm>
          <a:prstGeom prst="roundRect">
            <a:avLst/>
          </a:prstGeom>
          <a:solidFill>
            <a:srgbClr val="E7F4EA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Previous PDF before overwrite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Anchor extracted: 29f081e23748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April 1 snapshot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Did not include the April 2-3 ACP and packaging changes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1417320"/>
          </a:xfrm>
          <a:prstGeom prst="roundRect">
            <a:avLst/>
          </a:prstGeom>
          <a:solidFill>
            <a:srgbClr val="FBE7E7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Previous deck before overwrite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Anchor audited: 29f081e23748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Still April 1 narrative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Did not include the April 2-3 ACP and packaging changes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3566160"/>
            <a:ext cx="1136599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173B6C"/>
                </a:solidFill>
                <a:latin typeface="Segoe UI"/>
              </a:rPr>
              <a:t>Current commit line behind the refresh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>
                <a:solidFill>
                  <a:srgbClr val="364557"/>
                </a:solidFill>
                <a:latin typeface="Segoe UI"/>
              </a:rPr>
              <a:t>Recent commits: 4fd33b4 Fixing build.py, by angelahack1 | 2682efb Improving cinatextual menu of agents once placed in the canvas, by angelahack1 | 2125ead Adding contextual description for agents, once placed in the canvas, and even in the Agent's bar, by angelahack1 | 1c4c324 FIxing Installing process so it doesn't get stalled, j_decompiler to fix the routes, parametrizer to propagate to sun-conf entries, and core to parametrize well, by angelahack1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609344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SNAPSHOT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Current code-verified system shape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These counts were recomputed directly from the live repository and form the baseline for the refreshed README, PDF, and deck.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4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Tracked files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324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Python footprint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194 files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56,939 lines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5" y="1828800"/>
            <a:ext cx="3648456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JavaScript footprint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24 files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12,205 lines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3337560"/>
            <a:ext cx="3648456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CSS footprint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5 files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2,948 lines</a:t>
            </a:r>
          </a:p>
        </p:txBody>
      </p:sp>
      <p:sp>
        <p:nvSpPr>
          <p:cNvPr id="13" name="CARD_12"/>
          <p:cNvSpPr/>
          <p:nvPr/>
        </p:nvSpPr>
        <p:spPr>
          <a:xfrm>
            <a:off x="4270248" y="3337560"/>
            <a:ext cx="3648456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Agent templates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55 verified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excluding pools/__pycache__</a:t>
            </a:r>
          </a:p>
        </p:txBody>
      </p:sp>
      <p:sp>
        <p:nvSpPr>
          <p:cNvPr id="14" name="CARD_13"/>
          <p:cNvSpPr/>
          <p:nvPr/>
        </p:nvSpPr>
        <p:spPr>
          <a:xfrm>
            <a:off x="8129015" y="3337560"/>
            <a:ext cx="3648456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Routing and models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102 app + 3 project + 1 WS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13 Django models</a:t>
            </a:r>
          </a:p>
        </p:txBody>
      </p:sp>
      <p:sp>
        <p:nvSpPr>
          <p:cNvPr id="15" name="CARD_14"/>
          <p:cNvSpPr/>
          <p:nvPr/>
        </p:nvSpPr>
        <p:spPr>
          <a:xfrm>
            <a:off x="411480" y="4892040"/>
            <a:ext cx="11365992" cy="86868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650" b="1">
                <a:solidFill>
                  <a:srgbClr val="173B6C"/>
                </a:solidFill>
                <a:latin typeface="Segoe UI"/>
              </a:rPr>
              <a:t>Readout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>
                <a:solidFill>
                  <a:srgbClr val="364557"/>
                </a:solidFill>
                <a:latin typeface="Segoe UI"/>
              </a:rPr>
              <a:t>Counts are stable versus April 1 at the top-line level, but source lines and user-visible behavior changed in the ACP and release flow after that documentation pass.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28016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DELTA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What changed after the April 1 documentation pass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recent commits are mostly behavior and release-flow commits, not new-topology-count commits.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5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1325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ACP descriptions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README-backed purpose tooltips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and a Description modal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landed in the ACP.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1325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Context menu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Explore dir and Open cmd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now target deployed agent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instances in the current pool.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5" y="1828800"/>
            <a:ext cx="3648456" cy="1325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Parametrizer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Nested target keys are now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flattened and written back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through dot notation.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3474720"/>
            <a:ext cx="3648456" cy="1325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Packaging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build.py now requires README.md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and jd-cli, then verifies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jd-cli.bat before release.</a:t>
            </a:r>
          </a:p>
        </p:txBody>
      </p:sp>
      <p:sp>
        <p:nvSpPr>
          <p:cNvPr id="13" name="CARD_12"/>
          <p:cNvSpPr/>
          <p:nvPr/>
        </p:nvSpPr>
        <p:spPr>
          <a:xfrm>
            <a:off x="4270248" y="3474720"/>
            <a:ext cx="3648456" cy="1325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Installer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Helper subprocesses now use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a cleaned environment 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reduce frozen-install stalls.</a:t>
            </a:r>
          </a:p>
        </p:txBody>
      </p:sp>
      <p:sp>
        <p:nvSpPr>
          <p:cNvPr id="14" name="CARD_13"/>
          <p:cNvSpPr/>
          <p:nvPr/>
        </p:nvSpPr>
        <p:spPr>
          <a:xfrm>
            <a:off x="8129015" y="3474720"/>
            <a:ext cx="3648456" cy="1325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Query hardening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Extension-query regexes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were tightened to avoid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>
                <a:solidFill>
                  <a:srgbClr val="364557"/>
                </a:solidFill>
                <a:latin typeface="Segoe UI"/>
              </a:rPr>
              <a:t>dotted-token false positives.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499616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PRODUCT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What Tlamatini is and where users touch it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application remains a local-first technical platform rather than only a chat shell.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6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5559552" cy="1600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Definition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Django + Channels application for technical assistance, code-aware retrieval, tool use, visual workflow orchestration, and Windows-local operation.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It combines authenticated chat, persistent context, workflow agents, RAG, MCP integrations, and packaging tooling in one product.</a:t>
            </a:r>
          </a:p>
        </p:txBody>
      </p:sp>
      <p:sp>
        <p:nvSpPr>
          <p:cNvPr id="10" name="CARD_9"/>
          <p:cNvSpPr/>
          <p:nvPr/>
        </p:nvSpPr>
        <p:spPr>
          <a:xfrm>
            <a:off x="6217920" y="1828800"/>
            <a:ext cx="5559552" cy="1600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Visible user surfaces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Authenticated chat and canvas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Agentic Control Panel / Flow Designer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Open in... desktop integrations and packaged Windows release flow</a:t>
            </a:r>
          </a:p>
        </p:txBody>
      </p:sp>
      <p:sp>
        <p:nvSpPr>
          <p:cNvPr id="11" name="CARD_10"/>
          <p:cNvSpPr/>
          <p:nvPr/>
        </p:nvSpPr>
        <p:spPr>
          <a:xfrm>
            <a:off x="411480" y="3703320"/>
            <a:ext cx="5559552" cy="141732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Primary users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Developers, operators, analysts, and technical users who need local context, file control, repeatable automation, and explicit supervision surfaces.</a:t>
            </a:r>
          </a:p>
        </p:txBody>
      </p:sp>
      <p:sp>
        <p:nvSpPr>
          <p:cNvPr id="12" name="CARD_11"/>
          <p:cNvSpPr/>
          <p:nvPr/>
        </p:nvSpPr>
        <p:spPr>
          <a:xfrm>
            <a:off x="6217920" y="3703320"/>
            <a:ext cx="5559552" cy="141732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Value proposition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RAG aware of local code and files, a chat surface that can use tools, and a workflow canvas that externalizes long-running automation into visible agent graphs.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2048256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ARCHITECTURE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Layers and request path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runtime spans browser UI, Django/Channels state, retrieval, tool-enabled chat, and per-session workflow pools.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7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2121408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Browser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Chat UI, canvas,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ACP, Open in...</a:t>
            </a:r>
          </a:p>
        </p:txBody>
      </p:sp>
      <p:sp>
        <p:nvSpPr>
          <p:cNvPr id="10" name="CARD_9"/>
          <p:cNvSpPr/>
          <p:nvPr/>
        </p:nvSpPr>
        <p:spPr>
          <a:xfrm>
            <a:off x="2660904" y="1828800"/>
            <a:ext cx="2121408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Django + Channels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views.py, urls.py,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AgentConsumer,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SessionState</a:t>
            </a:r>
          </a:p>
        </p:txBody>
      </p:sp>
      <p:sp>
        <p:nvSpPr>
          <p:cNvPr id="11" name="CARD_10"/>
          <p:cNvSpPr/>
          <p:nvPr/>
        </p:nvSpPr>
        <p:spPr>
          <a:xfrm>
            <a:off x="4910328" y="1828800"/>
            <a:ext cx="2121408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RAG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Loaders, FAISS,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BM25, RRF,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budgeting</a:t>
            </a:r>
          </a:p>
        </p:txBody>
      </p:sp>
      <p:sp>
        <p:nvSpPr>
          <p:cNvPr id="12" name="CARD_11"/>
          <p:cNvSpPr/>
          <p:nvPr/>
        </p:nvSpPr>
        <p:spPr>
          <a:xfrm>
            <a:off x="7159752" y="1828800"/>
            <a:ext cx="2121408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Unified chat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Tool calling,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MultiTurnToolAgentExecutor,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MCP surface</a:t>
            </a:r>
          </a:p>
        </p:txBody>
      </p:sp>
      <p:sp>
        <p:nvSpPr>
          <p:cNvPr id="13" name="CARD_12"/>
          <p:cNvSpPr/>
          <p:nvPr/>
        </p:nvSpPr>
        <p:spPr>
          <a:xfrm>
            <a:off x="9409176" y="1828800"/>
            <a:ext cx="2121408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Workflow runtime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Pools, logs, pids,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reanim files,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__chat_runs__</a:t>
            </a:r>
          </a:p>
        </p:txBody>
      </p:sp>
      <p:sp>
        <p:nvSpPr>
          <p:cNvPr id="14" name="CARD_13"/>
          <p:cNvSpPr/>
          <p:nvPr/>
        </p:nvSpPr>
        <p:spPr>
          <a:xfrm>
            <a:off x="411480" y="3611880"/>
            <a:ext cx="11365992" cy="1783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50" b="1">
                <a:solidFill>
                  <a:srgbClr val="173B6C"/>
                </a:solidFill>
                <a:latin typeface="Segoe UI"/>
              </a:rPr>
              <a:t>Real request path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>
                <a:solidFill>
                  <a:srgbClr val="364557"/>
                </a:solidFill>
                <a:latin typeface="Segoe UI"/>
              </a:rPr>
              <a:t>1. Authenticated WebSocket request enters AgentConsumer.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>
                <a:solidFill>
                  <a:srgbClr val="364557"/>
                </a:solidFill>
                <a:latin typeface="Segoe UI"/>
              </a:rPr>
              <a:t>2. Prior session context and UI-selected files/directories are restored if present.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>
                <a:solidFill>
                  <a:srgbClr val="364557"/>
                </a:solidFill>
                <a:latin typeface="Segoe UI"/>
              </a:rPr>
              <a:t>3. The system chooses a chain and may run hybrid retrieval before inference.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>
                <a:solidFill>
                  <a:srgbClr val="364557"/>
                </a:solidFill>
                <a:latin typeface="Segoe UI"/>
              </a:rPr>
              <a:t>4. The unified chat path can invoke tools across multiple turns instead of a single pass.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>
                <a:solidFill>
                  <a:srgbClr val="364557"/>
                </a:solidFill>
                <a:latin typeface="Segoe UI"/>
              </a:rPr>
              <a:t>5. Results, status, and persisted side effects return through the same UI surface.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499616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RUNTIME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Checked-in defaults and control surface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repo is local-first in posture, but the checked-in model identifiers still show a mixed cloud/local runtime stance.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8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57600" cy="324612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Current model defaults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embeding-model: qwen3-embedding:8b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chained-model: glm-5:cloud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unified_agent_model: glm-5:cloud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image_interpreter_model: qwen3.5:cloud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internet/web/mcp search: glm-5:cloud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57600" cy="3246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HTTP and route families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102 app routes, 3 project routes, 1 WebSocket route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update_* 52 | load_* 10 | check_* 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execute_* 4 | save_* 4 | clear_* 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delete_* 2 | detect_* 1 | open_* 1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24612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WebSocket client control plane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5">
                <a:solidFill>
                  <a:srgbClr val="364557"/>
                </a:solidFill>
                <a:latin typeface="Segoe UI"/>
              </a:rPr>
              <a:t>17 explicit client message types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5">
                <a:solidFill>
                  <a:srgbClr val="364557"/>
                </a:solidFill>
                <a:latin typeface="Segoe UI"/>
              </a:rPr>
              <a:t>Context: set/unset canvas, directory, and file context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5">
                <a:solidFill>
                  <a:srgbClr val="364557"/>
                </a:solidFill>
                <a:latin typeface="Segoe UI"/>
              </a:rPr>
              <a:t>Runtime: cancel-current, reconnect, clean-history-and-reconnect, cancel-all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5">
                <a:solidFill>
                  <a:srgbClr val="364557"/>
                </a:solidFill>
                <a:latin typeface="Segoe UI"/>
              </a:rPr>
              <a:t>Config: set-file-omissions, set-mcps, set-tools, set-agents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5">
                <a:solidFill>
                  <a:srgbClr val="364557"/>
                </a:solidFill>
                <a:latin typeface="Segoe UI"/>
              </a:rPr>
              <a:t>Other: save-files-from-db, view-context-dir-in-canvas, internet on/off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719072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MAIN CHAT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The April 1 multi-turn runtime layer still defines the chat surface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recent April 2-3 changes sit on top of the April 1 runtime layer rather than replacing it.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9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1 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Enabled tools come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from get_mcp_tools().</a:t>
            </a:r>
          </a:p>
        </p:txBody>
      </p:sp>
      <p:sp>
        <p:nvSpPr>
          <p:cNvPr id="10" name="CARD_9"/>
          <p:cNvSpPr/>
          <p:nvPr/>
        </p:nvSpPr>
        <p:spPr>
          <a:xfrm>
            <a:off x="2660904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2 Bind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The configured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chat model is bound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to the tool surface.</a:t>
            </a:r>
          </a:p>
        </p:txBody>
      </p:sp>
      <p:sp>
        <p:nvSpPr>
          <p:cNvPr id="11" name="CARD_10"/>
          <p:cNvSpPr/>
          <p:nvPr/>
        </p:nvSpPr>
        <p:spPr>
          <a:xfrm>
            <a:off x="4910328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3 Invoke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The model sees the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user request plus the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system prompt.</a:t>
            </a:r>
          </a:p>
        </p:txBody>
      </p:sp>
      <p:sp>
        <p:nvSpPr>
          <p:cNvPr id="12" name="CARD_11"/>
          <p:cNvSpPr/>
          <p:nvPr/>
        </p:nvSpPr>
        <p:spPr>
          <a:xfrm>
            <a:off x="7159752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4 Execute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tool_calls are run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in-process and appended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as ToolMessage results.</a:t>
            </a:r>
          </a:p>
        </p:txBody>
      </p:sp>
      <p:sp>
        <p:nvSpPr>
          <p:cNvPr id="13" name="CARD_12"/>
          <p:cNvSpPr/>
          <p:nvPr/>
        </p:nvSpPr>
        <p:spPr>
          <a:xfrm>
            <a:off x="9409176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5 Finish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The loop stops at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a final answer or the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iteration cap.</a:t>
            </a:r>
          </a:p>
        </p:txBody>
      </p:sp>
      <p:sp>
        <p:nvSpPr>
          <p:cNvPr id="14" name="CARD_13"/>
          <p:cNvSpPr/>
          <p:nvPr/>
        </p:nvSpPr>
        <p:spPr>
          <a:xfrm>
            <a:off x="411480" y="3611880"/>
            <a:ext cx="5559552" cy="164592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Current code details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create_unified_agent() still builds MultiTurnToolAgentExecutor.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The default cap remains 20 turns unless unified_agent_max_iterations is configured.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The prompt contract still tells the model to poll wrapped runtime state by run_id instead of inventing success.</a:t>
            </a:r>
          </a:p>
        </p:txBody>
      </p:sp>
      <p:sp>
        <p:nvSpPr>
          <p:cNvPr id="15" name="CARD_14"/>
          <p:cNvSpPr/>
          <p:nvPr/>
        </p:nvSpPr>
        <p:spPr>
          <a:xfrm>
            <a:off x="6217920" y="3611880"/>
            <a:ext cx="5559552" cy="164592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Wrapped runtime layer still current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32 launchers, 4 flagged long-running, and the same ChatAgentRun-based lifecycle tools remain part of the truthful story at HEAD 4fd33b480086.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18872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ACP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Descriptions, tooltips, and instance context menus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most visible April 2 change is that the ACP now turns README agent-purpose text into live UI content.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10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1874519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Purpose source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views.py parses the Workflow Agents Purpose column from README.md into agent_purpose_map and injects it into agentic_control_panel.html.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1874519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User-facing ACP behavior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Sidebar hover tooltips show purpose text.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Right-click Description opens a draggable modal.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The same frontend renderer formats simple bold, code, and line breaks.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1874519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Instance actions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Explore dir opens Explorer in the deployed instance directory.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Open cmd opens cmd.exe with cwd set to that deployed instance directory.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open_in_app now resolves agent_name with strict pool-path validation.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4023360"/>
            <a:ext cx="11365992" cy="1325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Operational implication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>
                <a:solidFill>
                  <a:srgbClr val="364557"/>
                </a:solidFill>
                <a:latin typeface="Segoe UI"/>
              </a:rPr>
              <a:t>README agent-purpose text is now both documentation and runtime UI copy. That makes documentation drift in the Workflow Agents tables immediately visible to users in the ACP.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18872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ACP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Pause, Stop, and Reanimation of a Flow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core pause/stop/reanimation behavior remains as documented on April 1, and it still matters because Pause is the cost-control action for long-running non-deterministic flows.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11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1828800"/>
          </a:xfrm>
          <a:prstGeom prst="roundRect">
            <a:avLst/>
          </a:prstGeom>
          <a:solidFill>
            <a:srgbClr val="FBF1DB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Pause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Captures the live session set in paused_agents.reanim.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Kills the session processes without discarding logs or reanimation files.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This is the credit-control action for long-running flows with non-deterministic agents.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1828800"/>
          </a:xfrm>
          <a:prstGeom prst="roundRect">
            <a:avLst/>
          </a:prstGeom>
          <a:solidFill>
            <a:srgbClr val="E7F4EA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Resume / Reanimate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Start from PAUSED reanimates instead of deploying fresh.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Pause pressed again while already paused also enters the resume path.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Relaunched agents receive AGENT_REANIMATED=1 and reload their reanim* state.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1828800"/>
          </a:xfrm>
          <a:prstGeom prst="roundRect">
            <a:avLst/>
          </a:prstGeom>
          <a:solidFill>
            <a:srgbClr val="FBE7E7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Stop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Cuts execution and closes the reanimation path.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The next Start is a fresh run rather than a resume.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The ACP resets visible flow state and clears restart context where appropriate.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3977639"/>
            <a:ext cx="11365992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Visual semantics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30">
                <a:solidFill>
                  <a:srgbClr val="364557"/>
                </a:solidFill>
                <a:latin typeface="Segoe UI"/>
              </a:rPr>
              <a:t>LEDs are green for running, yellow blinking for paused, gray for stopped/idle, and red when a node expected to be running is not alive. Pause preserves resume state; Stop exits the reanimation path.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18872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ACP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Validation rules, Barrier, and FlowBacker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current canvas still implements the stricter topology rules and synchronization surface documented in the April 1 refresh.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12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5559552" cy="333756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Current validation shape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Starter cannot have incoming edges.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Ender can only output to Cleaner or FlowBacker.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Cleaner accepts only Ender or FlowBacker inputs, never both in one branch.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FlowBacker accepts Starter, Ender, Forker, or Asker inputs and can only output to Cleaner.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Self-connections, missing inputs on non-Starters, and dangling references are still rejected.</a:t>
            </a:r>
          </a:p>
        </p:txBody>
      </p:sp>
      <p:sp>
        <p:nvSpPr>
          <p:cNvPr id="10" name="CARD_9"/>
          <p:cNvSpPr/>
          <p:nvPr/>
        </p:nvSpPr>
        <p:spPr>
          <a:xfrm>
            <a:off x="6217920" y="1828800"/>
            <a:ext cx="5559552" cy="333756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Barrier and end-of-flow control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Barrier waits for all configured source arrivals before releasing its downstream targets.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Each source launch creates a barrier input process; the first arrival becomes the output coordinator.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FlowBacker formalizes return/recycle logic near the end of a flow and remains part of the validation rules.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389888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AGENTS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Verified agent map I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Every name below is present in the current agent template tree and contributes to the code-verified count of 55 templates.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13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3611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Control and flow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starter, ender, stopper, cleaner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counter, raiser, sleeper, forker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asker, and, or, croner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barrier, flowbacker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361188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Monitoring and communication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monitor_log, monitor_netstat, notifier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summarizer, flowhypervisor, emailer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recmailer, whatsapper, telegramer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telegramrx, pser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61188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Execution and infrastructure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executer, pythonxer, sqler, mongoxer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ssher, scper, gitter, dockerer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kuberneter, jenkinser, shoter, mouser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mover, deleter, j_decompiler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389888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AGENTS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Verified agent map II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second half of the map explains why Tlamatini behaves like an orchestration platform rather than a single-assistant shell.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14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22402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Ingress and integration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80">
                <a:solidFill>
                  <a:srgbClr val="364557"/>
                </a:solidFill>
                <a:latin typeface="Segoe UI"/>
              </a:rPr>
              <a:t>apirer, crawler, gatewayer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80">
                <a:solidFill>
                  <a:srgbClr val="364557"/>
                </a:solidFill>
                <a:latin typeface="Segoe UI"/>
              </a:rPr>
              <a:t>gateway_relayer, node_manager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224028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Files and interpretation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file_creator, file_extractor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file_interpreter, image_interpreter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flowcreator, prompter, parametrizer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224028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Crypto primitives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>
                <a:solidFill>
                  <a:srgbClr val="364557"/>
                </a:solidFill>
                <a:latin typeface="Segoe UI"/>
              </a:rPr>
              <a:t>kyber_keygen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>
                <a:solidFill>
                  <a:srgbClr val="364557"/>
                </a:solidFill>
                <a:latin typeface="Segoe UI"/>
              </a:rPr>
              <a:t>kyber_cipher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>
                <a:solidFill>
                  <a:srgbClr val="364557"/>
                </a:solidFill>
                <a:latin typeface="Segoe UI"/>
              </a:rPr>
              <a:t>kyber_decipher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4389120"/>
            <a:ext cx="11365992" cy="10058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What the inventory means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>
                <a:solidFill>
                  <a:srgbClr val="364557"/>
                </a:solidFill>
                <a:latin typeface="Segoe UI"/>
              </a:rPr>
              <a:t>The current tree still exposes 55 templates, while the main chat wraps a selected subset of 32 of them for isolated runtime launch from the conversational surface.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2048256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PARAMETRIZER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Structured-output wiring now reaches nested target config keys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April 1 Parametrizer story is still correct, but April 2 added an important implementation detail: nested target config mapping.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15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11365992" cy="118872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50" b="1">
                <a:solidFill>
                  <a:srgbClr val="173B6C"/>
                </a:solidFill>
                <a:latin typeface="Segoe UI"/>
              </a:rPr>
              <a:t>What it does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30">
                <a:solidFill>
                  <a:srgbClr val="364557"/>
                </a:solidFill>
                <a:latin typeface="Segoe UI"/>
              </a:rPr>
              <a:t>Parametrizer forms a one-to-one source/target bridge: parse structured source output, map fields to target config.yaml, write the target config, then start the target agent sequentially for each output block.</a:t>
            </a:r>
          </a:p>
        </p:txBody>
      </p:sp>
      <p:sp>
        <p:nvSpPr>
          <p:cNvPr id="10" name="CARD_9"/>
          <p:cNvSpPr/>
          <p:nvPr/>
        </p:nvSpPr>
        <p:spPr>
          <a:xfrm>
            <a:off x="411480" y="3337560"/>
            <a:ext cx="5559552" cy="2057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15 supported source parsers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apirer, gitter, kuberneter, crawler, summarizer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file_interpreter, image_interpreter, file_extractor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prompter, flowcreator, kyber_keygen, kyber_cipher, kyber_decipher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gatewayer, gateway_relayer</a:t>
            </a:r>
          </a:p>
        </p:txBody>
      </p:sp>
      <p:sp>
        <p:nvSpPr>
          <p:cNvPr id="11" name="CARD_10"/>
          <p:cNvSpPr/>
          <p:nvPr/>
        </p:nvSpPr>
        <p:spPr>
          <a:xfrm>
            <a:off x="6217920" y="3337560"/>
            <a:ext cx="5559552" cy="205740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New nested-mapping nuance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The dialog now flattens nested target config dictionaries into dot-notation keys.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Runtime mapping now creates/traverses nested dictionaries when target_param contains dots.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Example shape: response_body -&gt; target.smtp.username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28016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STATE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Persistence, isolation, and current controls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runtime is stateful across chat, ACP flows, and wrapped chat-agent runs, but the state is segmented by purpose and directory.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16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338328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Key models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13 total Django models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SessionState persists user context across reconnects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AgentProcess tracks flow PIDs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ChatAgentRun tracks wrapped chat-agent runs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33832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Runtime artifacts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.log and .pid files per deployed agent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paused_agents.reanim for paused ACP sessions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reanim.pos / reanim.counter style state files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pools for deployed flows and __chat_runs__ for wrapped chat runtimes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38328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Controls and caveats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secure_get / secure_post around critical views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Path guards and validation on tool/runtime inputs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ACP status/kill scans skip __chat_runs__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The focused suite is still not fully green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499616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RELEASE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Packaging, installer behavior, and jd-cli delivery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release pipeline is more defensive than the April 1 deck said.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17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338328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build.py now requires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README.md in the installed application root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jd-cli as a required payload, not optional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jd-cli.bat verification before packaging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33832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Installer behavior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install.py now strips PyInstaller bundle paths from helper subprocess environments.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That cleaned environment is also used when restarting explorer.exe.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The intent is to reduce frozen-installer stalls on locked DLL paths.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38328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J-Decompiler nuance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Dev-mode jd-cli path resolution now climbs one more directory level before locating the project-root jd-cli payload.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That keeps local-source runs aligned with the packaged jd-cli delivery story.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719072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ALIGNMENT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README, PDF, and deck after the April 3 refresh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goal of this pass is not optimism; it is documentary honesty across all three artifacts.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18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3337560"/>
          </a:xfrm>
          <a:prstGeom prst="roundRect">
            <a:avLst/>
          </a:prstGeom>
          <a:solidFill>
            <a:srgbClr val="E7F4EA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README now aligned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>
                <a:solidFill>
                  <a:srgbClr val="364557"/>
                </a:solidFill>
                <a:latin typeface="Segoe UI"/>
              </a:rPr>
              <a:t>Documents ACP descriptions and context-menu actions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>
                <a:solidFill>
                  <a:srgbClr val="364557"/>
                </a:solidFill>
                <a:latin typeface="Segoe UI"/>
              </a:rPr>
              <a:t>Documents nested Parametrizer target mapping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>
                <a:solidFill>
                  <a:srgbClr val="364557"/>
                </a:solidFill>
                <a:latin typeface="Segoe UI"/>
              </a:rPr>
              <a:t>Documents stricter build/install behavior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>
                <a:solidFill>
                  <a:srgbClr val="364557"/>
                </a:solidFill>
                <a:latin typeface="Segoe UI"/>
              </a:rPr>
              <a:t>Reports the current 28-test rerun status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333756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PDF and deck now aligned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>
                <a:solidFill>
                  <a:srgbClr val="364557"/>
                </a:solidFill>
                <a:latin typeface="Segoe UI"/>
              </a:rPr>
              <a:t>Both artifacts are being regenerated from this same April 3 fact bundle.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>
                <a:solidFill>
                  <a:srgbClr val="364557"/>
                </a:solidFill>
                <a:latin typeface="Segoe UI"/>
              </a:rPr>
              <a:t>Both replaced the previous 29f081e23748 snapshot rather than extending it in place.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33756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Remaining metadata mismatches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README and LICENSE still describe GPLv3 while package.json still says ISC.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README clone instructions still point at github.com/XAIHT/Tlamatini while package.json points at git+https://github.com/angelahack1/Tlamatini.git.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Historical changelog bullets should not be treated as current-state inventory.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499616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QUALITY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Focused tests and current open issues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refreshed artifacts report the known issues directly instead of hiding them behind a generic success narrative.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19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5559552" cy="1965960"/>
          </a:xfrm>
          <a:prstGeom prst="roundRect">
            <a:avLst/>
          </a:prstGeom>
          <a:solidFill>
            <a:srgbClr val="E7F4EA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UTF-8 console rerun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364557"/>
                </a:solidFill>
                <a:latin typeface="Segoe UI"/>
              </a:rPr>
              <a:t>28 tests, 27 passed, 1 error.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364557"/>
                </a:solidFill>
                <a:latin typeface="Segoe UI"/>
              </a:rPr>
              <a:t>Remaining failure: test_anonymous_websocket_connection_is_rejected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364557"/>
                </a:solidFill>
                <a:latin typeface="Segoe UI"/>
              </a:rPr>
              <a:t>Error: RuntimeError: no running event loop</a:t>
            </a:r>
          </a:p>
        </p:txBody>
      </p:sp>
      <p:sp>
        <p:nvSpPr>
          <p:cNvPr id="10" name="CARD_9"/>
          <p:cNvSpPr/>
          <p:nvPr/>
        </p:nvSpPr>
        <p:spPr>
          <a:xfrm>
            <a:off x="6217920" y="1828800"/>
            <a:ext cx="5559552" cy="1965960"/>
          </a:xfrm>
          <a:prstGeom prst="roundRect">
            <a:avLst/>
          </a:prstGeom>
          <a:solidFill>
            <a:srgbClr val="FBE7E7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Default console rerun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364557"/>
                </a:solidFill>
                <a:latin typeface="Segoe UI"/>
              </a:rPr>
              <a:t>28 tests, 24 passed, 4 errors.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364557"/>
                </a:solidFill>
                <a:latin typeface="Segoe UI"/>
              </a:rPr>
              <a:t>Same WebSocket event-loop failure remains.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364557"/>
                </a:solidFill>
                <a:latin typeface="Segoe UI"/>
              </a:rPr>
              <a:t>Three extra failures are CP1252 UnicodeEncodeError cases from rag/interface.py debug prints.</a:t>
            </a:r>
          </a:p>
        </p:txBody>
      </p:sp>
      <p:sp>
        <p:nvSpPr>
          <p:cNvPr id="11" name="CARD_10"/>
          <p:cNvSpPr/>
          <p:nvPr/>
        </p:nvSpPr>
        <p:spPr>
          <a:xfrm>
            <a:off x="411480" y="4160520"/>
            <a:ext cx="11365992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Interpretation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>
                <a:solidFill>
                  <a:srgbClr val="364557"/>
                </a:solidFill>
                <a:latin typeface="Segoe UI"/>
              </a:rPr>
              <a:t>These failures are part of runtime hardening and console behavior, not proof that the ACP or the April 2-3 changes are absent or nonfunctional.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499616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READING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What the April 2-3 changes mean operationally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recent commits make Tlamatini more explicit about control and safer about delivery, without changing its top-level product identity.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20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329184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More explicit control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>
                <a:solidFill>
                  <a:srgbClr val="364557"/>
                </a:solidFill>
                <a:latin typeface="Segoe UI"/>
              </a:rPr>
              <a:t>ACP users now see README-backed purpose text directly in the workflow designer and can navigate into live deployed instance directories from the canvas.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32918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More expressive wiring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>
                <a:solidFill>
                  <a:srgbClr val="364557"/>
                </a:solidFill>
                <a:latin typeface="Segoe UI"/>
              </a:rPr>
              <a:t>Parametrizer can now populate nested sub-config entries instead of only top-level target keys, which matters for more complex agents.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29184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More defensive release flow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30">
                <a:solidFill>
                  <a:srgbClr val="364557"/>
                </a:solidFill>
                <a:latin typeface="Segoe UI"/>
              </a:rPr>
              <a:t>The packaging chain is less willing to ship a partial build and the installer is less likely to stall on frozen-helper environment leakage.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28016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CLOSE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550">
                <a:solidFill>
                  <a:srgbClr val="173B6C"/>
                </a:solidFill>
                <a:latin typeface="Segoe UI"/>
              </a:rPr>
              <a:t>Reading XAIHT through the current codebase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clearest reading of the product still comes from its explicit control surfaces rather than from slogans.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3, 2026 | 4fd33b480086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21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329184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Extended AI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80">
                <a:solidFill>
                  <a:srgbClr val="364557"/>
                </a:solidFill>
                <a:latin typeface="Segoe UI"/>
              </a:rPr>
              <a:t>Hybrid retrieval, tool use, MCP integrations, multimodal interpretation, and a heterogeneous agent inventory extend the assistant far beyond single-model chat.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32918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Humanly Tempered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>
                <a:solidFill>
                  <a:srgbClr val="364557"/>
                </a:solidFill>
                <a:latin typeface="Segoe UI"/>
              </a:rPr>
              <a:t>Context selection, tool enablement, workflow wiring, descriptions, validation, pause, stop, resume, and packaging are all user-visible control surfaces.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29184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Current reality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The platform is real, larger, and more explicit than older decks showed, but it still carries test and metadata caveats that documentation should continue to report honestly.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Tlamatini eXtended Artificial Intelligence Humanly Tempered</dc:title>
  <dc:subject>April 3, 2026 code-verified deck refresh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