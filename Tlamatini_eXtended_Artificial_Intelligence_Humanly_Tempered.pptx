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lIns="12700" rIns="76200" tIns="12700" bIns="12700">
            <a:norm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1097280"/>
          </a:xfrm>
          <a:prstGeom prst="rect">
            <a:avLst/>
          </a:prstGeom>
          <a:noFill/>
        </p:spPr>
        <p:txBody>
          <a:bodyPr wrap="square" anchor="t" lIns="12700" rIns="76200" tIns="12700" bIns="12700">
            <a:normAutofit/>
          </a:bodyPr>
          <a:lstStyle/>
          <a:p>
            <a:pPr algn="l"/>
            <a:r>
              <a:rPr sz="1700" b="0">
                <a:solidFill>
                  <a:srgbClr val="B4BAAE"/>
                </a:solidFill>
                <a:latin typeface="Aptos"/>
              </a:rPr>
              <a:t>Self-hosted AI developer assistant (cloud LLMs by default) with RAG, Multi-Turn orchestration, 88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lIns="12700" rIns="76200" tIns="12700" bIns="12700">
            <a:norm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1148</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lIns="12700" rIns="76200" tIns="12700" bIns="12700">
            <a:norm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88</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lIns="12700" rIns="76200" tIns="12700" bIns="12700">
            <a:norm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lIns="12700" rIns="76200" tIns="12700" bIns="12700">
            <a:normAutofit/>
          </a:bodyPr>
          <a:lstStyle/>
          <a:p>
            <a:pPr algn="l"/>
            <a:r>
              <a:rPr sz="2000" b="1">
                <a:solidFill>
                  <a:srgbClr val="E8E8DE"/>
                </a:solidFill>
                <a:latin typeface="Aptos"/>
              </a:rPr>
              <a:t>252,099</a:t>
            </a:r>
          </a:p>
        </p:txBody>
      </p:sp>
      <p:sp>
        <p:nvSpPr>
          <p:cNvPr id="20" name="TextBox 19"/>
          <p:cNvSpPr txBox="1"/>
          <p:nvPr/>
        </p:nvSpPr>
        <p:spPr>
          <a:xfrm>
            <a:off x="822960" y="5138928"/>
            <a:ext cx="5669280" cy="292608"/>
          </a:xfrm>
          <a:prstGeom prst="rect">
            <a:avLst/>
          </a:prstGeom>
          <a:noFill/>
        </p:spPr>
        <p:txBody>
          <a:bodyPr wrap="square" anchor="t" lIns="12700" rIns="76200" tIns="12700" bIns="12700">
            <a:normAutofit/>
          </a:bodyPr>
          <a:lstStyle/>
          <a:p>
            <a:pPr algn="l"/>
            <a:r>
              <a:rPr sz="1000" b="1">
                <a:solidFill>
                  <a:srgbClr val="C48052"/>
                </a:solidFill>
                <a:latin typeface="Aptos"/>
              </a:rPr>
              <a:t>Created by Angela López Mendoza · @angelahack1</a:t>
            </a:r>
          </a:p>
        </p:txBody>
      </p:sp>
      <p:sp>
        <p:nvSpPr>
          <p:cNvPr id="21" name="TextBox 20"/>
          <p:cNvSpPr txBox="1"/>
          <p:nvPr/>
        </p:nvSpPr>
        <p:spPr>
          <a:xfrm>
            <a:off x="822960" y="5806440"/>
            <a:ext cx="5669280" cy="292608"/>
          </a:xfrm>
          <a:prstGeom prst="rect">
            <a:avLst/>
          </a:prstGeom>
          <a:noFill/>
        </p:spPr>
        <p:txBody>
          <a:bodyPr wrap="square" anchor="t" lIns="12700" rIns="76200" tIns="12700" bIns="12700">
            <a:normAutofit/>
          </a:bodyPr>
          <a:lstStyle/>
          <a:p>
            <a:pPr algn="l"/>
            <a:r>
              <a:rPr sz="900" b="0">
                <a:solidFill>
                  <a:srgbClr val="B4BAAE"/>
                </a:solidFill>
                <a:latin typeface="Aptos"/>
              </a:rPr>
              <a:t>Generated September 13, 2026 10:50 AM UTC-0600 at HEAD 36c0139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lIns="12700" rIns="76200" tIns="12700" bIns="12700">
            <a:norm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1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1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authorized cyber-security assessment, local model operation, Windows packaging and uninstall registration, first-person self-knowledge about her own runtime, and embedded-firmware control for STM32,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PLAIN-PYTHON AGENTS ARE USER-JURISDICTION CODE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Agent Directory Disclaimer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User jurisdiction</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Every agent in `Tlamatini/agent/agents/` is intentionally plain Python so the user can read, audit, edit, restrict, or disable its operating code. This transparency is a user-control mechanism, not a warranty that an agent is secure or suitable for a particular environment.</a:t>
            </a:r>
          </a:p>
          <a:p>
            <a:pPr>
              <a:spcAft>
                <a:spcPts val="400"/>
              </a:spcAft>
              <a:defRPr sz="1200">
                <a:solidFill>
                  <a:srgbClr val="B4BAAE"/>
                </a:solidFill>
                <a:latin typeface="Aptos"/>
              </a:defRPr>
            </a:pPr>
            <a:r>
              <a:t>Agents have no independent authority or jurisdiction. The user alone decides whether, where, how, and with which permissions an agent runs; enabling, configuring, modifying, chaining, or executing it places that execution under the user's control and jurisdiction.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Responsibility boundary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user is responsible for code/config review, least-privilege secrets and credentials, authorized files and targets, browsers, shells, APIs, external MCPs, machines, hardware, downstream systems, supervision, and compliance with applicable law, policy, license, contract, and authorization.</a:t>
            </a:r>
          </a:p>
          <a:p>
            <a:pPr>
              <a:spcAft>
                <a:spcPts val="400"/>
              </a:spcAft>
              <a:defRPr sz="1200">
                <a:solidFill>
                  <a:srgbClr val="B4BAAE"/>
                </a:solidFill>
                <a:latin typeface="Aptos"/>
              </a:defRPr>
            </a:pPr>
            <a:r>
              <a:t>By running an agent, the user accepts responsibility for its actions and consequences. To the fullest extent permitted by applicable law, security breaches, data exposure or loss, unauthorized actions, credential leaks, unsafe automation, violations, compromise, device damage, financial loss, or other harm arising from use are the responsibility of the user who runs it.</a:t>
            </a:r>
          </a:p>
          <a:p>
            <a:pPr>
              <a:spcAft>
                <a:spcPts val="400"/>
              </a:spcAft>
              <a:defRPr sz="1200">
                <a:solidFill>
                  <a:srgbClr val="B4BAAE"/>
                </a:solidFill>
                <a:latin typeface="Aptos"/>
              </a:defRPr>
            </a:pPr>
            <a:r>
              <a:t>Tlamatini's orchestration, documentation, examples, and guardrails do not authorize third-party access and cannot replace the user's security review, permission controls, monitoring, or legal compliance.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OPERATOR-CONTROLLED WINDOWS DEFENSE, NOT AN AUTONOMOUS AGENT ROW</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Blue-hat Security Toolkit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Purpose and assets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`security/` directory is an administrator-operated Windows defensive toolkit, not a new chat tool or database-backed workflow Agent row. Tlamatini helps collect and respond to signals only on systems the operator owns or is explicitly authorized to defend.</a:t>
            </a:r>
          </a:p>
          <a:p>
            <a:pPr>
              <a:spcAft>
                <a:spcPts val="400"/>
              </a:spcAft>
              <a:defRPr sz="1100">
                <a:solidFill>
                  <a:srgbClr val="B4BAAE"/>
                </a:solidFill>
                <a:latin typeface="Aptos"/>
              </a:defRPr>
            </a:pPr>
            <a:r>
              <a:t>The six shipped assets are `README.md`, `enable_tlamatini_v2.bat`, `tlamatini_whitelist_v2.ps1`, `run_defender.bat`, `tlamatini_defender.ps1`, and `automated_tests_of_security_assets.py`; runtime evidence is written under git-ignored `security_logs/`.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Safe enablement path</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Use the safe sequence validate -&gt; record a Windows baseline -&gt; enable -&gt; restart -&gt; run detect-only -&gt; investigate -&gt; arm only when justified. There is no bundled rollback script, so Defender, ASR, CFA, firewall, execution-policy, audit-policy, and Security-log state must be recorded before elevation.</a:t>
            </a:r>
          </a:p>
          <a:p>
            <a:pPr>
              <a:spcAft>
                <a:spcPts val="400"/>
              </a:spcAft>
              <a:defRPr sz="1100">
                <a:solidFill>
                  <a:srgbClr val="B4BAAE"/>
                </a:solidFill>
                <a:latin typeface="Aptos"/>
              </a:defRPr>
            </a:pPr>
            <a:r>
              <a:t>The visible non-destructive harness parses both PowerShell files, exercises the self-safe classifier, validates official ASR/audit GUIDs, watch timing, UAC path handling, launcher failure propagation, Shoter capture, and headed-browser proof. The audited run passed 40/40 checks, but it does not apply Windows policy or execute an armed sweep.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PERSISTENT HOST CHANGES PLUS TEN EVIDENCE FAMILIES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Blue-hat Controls And Monitoring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Enablement and audit controls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Enablement keeps core Defender/firewall services running but deliberately adds the Tlamatini root and selected executables to Defender exclusions, allows `Tlamatini.exe` through Controlled Folder Access, moves six selected ASR rules to action 6 (Audit), sets current-user PowerShell to RemoteSigned, and creates broad outbound application rules.</a:t>
            </a:r>
          </a:p>
          <a:p>
            <a:pPr>
              <a:spcAft>
                <a:spcPts val="400"/>
              </a:spcAft>
              <a:defRPr sz="1000">
                <a:solidFill>
                  <a:srgbClr val="B4BAAE"/>
                </a:solidFill>
                <a:latin typeface="Aptos"/>
              </a:defRPr>
            </a:pPr>
            <a:r>
              <a:t>The ASR rules cover Office child processes, LSASS credential stealing, WMI event-subscription persistence, email/webmail executables, untrusted or unsigned USB processes, and PSExec/WMI child processes. The script uses Microsoft's published IDs and reads Defender's effective ID/action arrays back before reporting success.</a:t>
            </a:r>
          </a:p>
          <a:p>
            <a:pPr>
              <a:spcAft>
                <a:spcPts val="400"/>
              </a:spcAft>
              <a:defRPr sz="1000">
                <a:solidFill>
                  <a:srgbClr val="B4BAAE"/>
                </a:solidFill>
                <a:latin typeface="Aptos"/>
              </a:defRPr>
            </a:pPr>
            <a:r>
              <a:t>Audit setup uses stable subcategory GUIDs for Logon, Credential Validation, Process Creation, Sensitive Privilege Use, and User Account Management, and checks every `auditpol` exit code. Command-line event 4688 and PowerShell Script Block Logging improve evidence but can record sensitive arguments.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What the defender examines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ten monitor families are Defender health, logons, established TCP/listeners, processes, scheduled tasks, services, registry persistence, recently changed critical files, ransomware/recovery tampering, and account/administrator-group events.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DETECT FIRST; INVESTIGATE BEFORE CONTAINMENT OR ATTRIBUTION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Blue-hat Response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Armed behavior and self protection</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Detect-only logs `WOULD BLOCK` and `WOULD KILL`. Default armed mode may add persistent inbound/outbound firewall blocks after repeated non-local failed logons and may force-stop known attacker-tool process-name matches; most other findings alert only.</a:t>
            </a:r>
          </a:p>
          <a:p>
            <a:pPr>
              <a:spcAft>
                <a:spcPts val="400"/>
              </a:spcAft>
              <a:defRPr sz="1000">
                <a:solidFill>
                  <a:srgbClr val="B4BAAE"/>
                </a:solidFill>
                <a:latin typeface="Aptos"/>
              </a:defRPr>
            </a:pPr>
            <a:r>
              <a:t>Dual-use names alert unless `-Aggressive` is supplied. Recognized Tlamatini paths are protected from auto-kill, but that is only a path-prefix check, not signature or provenance proof; malicious content inside an excluded/self path can inherit a blind spot.</a:t>
            </a:r>
          </a:p>
          <a:p>
            <a:pPr>
              <a:spcAft>
                <a:spcPts val="400"/>
              </a:spcAft>
              <a:defRPr sz="1000">
                <a:solidFill>
                  <a:srgbClr val="B4BAAE"/>
                </a:solidFill>
                <a:latin typeface="Aptos"/>
              </a:defRPr>
            </a:pPr>
            <a:r>
              <a:t>Watch mode is a foreground loop with `-IntervalSeconds` constrained to 5..86400. It is not a service or scheduled task, and `run_defender.bat` deliberately selects one default armed sweep, so baseline runs should invoke the PowerShell script directly with `-DetectOnly`.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Evidence, privacy, and packaging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`alerts.log` and `monitor.log` append sensitive usernames, IP addresses, paths, command lines, task/registry details, and response records without built-in rotation, deduplication, automatic unblock, or SIEM forwarding. Treat every severity as triage priority, not certainty.</a:t>
            </a:r>
          </a:p>
          <a:p>
            <a:pPr>
              <a:spcAft>
                <a:spcPts val="400"/>
              </a:spcAft>
              <a:defRPr sz="1000">
                <a:solidFill>
                  <a:srgbClr val="B4BAAE"/>
                </a:solidFill>
                <a:latin typeface="Aptos"/>
              </a:defRPr>
            </a:pPr>
            <a:r>
              <a:t>The batch launchers preserve paths containing spaces through UAC and propagate PowerShell failures. `build.py` ships the security source while excluding logs; self-modify snapshots likewise prune `security_logs/` so screenshots and host telemetry are not published.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(1/9)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762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Answers codebase questions with loaded file or directory context.</a:t>
            </a:r>
          </a:p>
          <a:p>
            <a:pPr>
              <a:spcAft>
                <a:spcPts val="400"/>
              </a:spcAft>
              <a:defRPr sz="1300">
                <a:solidFill>
                  <a:srgbClr val="B4BAAE"/>
                </a:solidFill>
                <a:latin typeface="Aptos"/>
              </a:defRPr>
            </a:pPr>
            <a:r>
              <a:t>Uses hybrid retrieval to extract metadata, split content, rank source chunks, and respect context budgets.</a:t>
            </a:r>
          </a:p>
          <a:p>
            <a:pPr>
              <a:spcAft>
                <a:spcPts val="400"/>
              </a:spcAft>
              <a:defRPr sz="1300">
                <a:solidFill>
                  <a:srgbClr val="B4BAAE"/>
                </a:solidFill>
                <a:latin typeface="Aptos"/>
              </a:defRPr>
            </a:pPr>
            <a:r>
              <a:t>Can discover files by glob pattern, search their contents by regex through Grepper's BOM-first UTF-8/16/32 and cp1252/Latin-1 decoder while skipping genuine binary data, and make surgical in-place replacements through Editor.</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762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Makes those SQLite operations WAL-safe: online backup reads through committed WAL pages, creates a self-contained destination, verifies it with `quick_check`, and keeps sidecars attached to the database they belong to.</a:t>
            </a:r>
          </a:p>
          <a:p>
            <a:pPr>
              <a:spcAft>
                <a:spcPts val="400"/>
              </a:spcAft>
              <a:defRPr sz="1100">
                <a:solidFill>
                  <a:srgbClr val="B4BAAE"/>
                </a:solidFill>
                <a:latin typeface="Aptos"/>
              </a:defRPr>
            </a:pPr>
            <a:r>
              <a:t>Can measure this machine's Internet connection through NetSpeed-Calculator, reporting throughput with confidence intervals, latency, jitter, loss, bufferbloat grade, and provider heterogeneity instead of trusting one speed-test endpoint.</a:t>
            </a:r>
          </a:p>
          <a:p>
            <a:pPr>
              <a:spcAft>
                <a:spcPts val="400"/>
              </a:spcAft>
              <a:defRPr sz="1100">
                <a:solidFill>
                  <a:srgbClr val="B4BAAE"/>
                </a:solidFill>
                <a:latin typeface="Aptos"/>
              </a:defRPr>
            </a:pPr>
            <a:r>
              <a:t>Lets operators manage provider secrets from the browser through the Config -&gt; Access Keys Wizard instead of hand-editing `config.json`.</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11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a:p>
            <a:pPr>
              <a:spcAft>
                <a:spcPts val="400"/>
              </a:spcAft>
              <a:defRPr sz="1100">
                <a:solidFill>
                  <a:srgbClr val="B4BAAE"/>
                </a:solidFill>
                <a:latin typeface="Aptos"/>
              </a:defRPr>
            </a:pPr>
            <a:r>
              <a:t>Hardens generated files: File-Creator’s bulk-write path now preserves long content byte-complete even when it contains heavy quoting or semicolon-rich source text.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(2/9)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762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ten status / reconnect / doctor / runtime / import / list / call / activate / wait helpers.</a:t>
            </a:r>
          </a:p>
          <a:p>
            <a:pPr>
              <a:spcAft>
                <a:spcPts val="400"/>
              </a:spcAft>
              <a:defRPr sz="1000">
                <a:solidFill>
                  <a:srgbClr val="B4BAAE"/>
                </a:solidFill>
                <a:latin typeface="Aptos"/>
              </a:defRPr>
            </a:pPr>
            <a:r>
              <a:t>Ships official Memory and Sequential-Thinking MCP catalog defaults in every install, both inactive, and can provision a private per-user Node/npm/npx/pnpm or uv/uvx runtime without admin access or system-PATH changes.</a:t>
            </a:r>
          </a:p>
          <a:p>
            <a:pPr>
              <a:spcAft>
                <a:spcPts val="400"/>
              </a:spcAft>
              <a:defRPr sz="1000">
                <a:solidFill>
                  <a:srgbClr val="B4BAAE"/>
                </a:solidFill>
                <a:latin typeface="Aptos"/>
              </a:defRPr>
            </a:pPr>
            <a:r>
              <a:t>Gives operators GUI-first database maintenance through the new DB dropdown for backup and staged database replacement.</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762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11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11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Warns GPU-host operators before a directory-context load is likely to saturate VRAM and degrade embedding throughput.</a:t>
            </a:r>
          </a:p>
          <a:p>
            <a:pPr>
              <a:spcAft>
                <a:spcPts val="400"/>
              </a:spcAft>
              <a:defRPr sz="1300">
                <a:solidFill>
                  <a:srgbClr val="B4BAAE"/>
                </a:solidFill>
                <a:latin typeface="Aptos"/>
              </a:defRPr>
            </a:pPr>
            <a:r>
              <a:t>Exposes a coherent versioning surface across builds, runtime UI, logs, and an open health-check endpoint.</a:t>
            </a:r>
          </a:p>
          <a:p>
            <a:pPr>
              <a:spcAft>
                <a:spcPts val="400"/>
              </a:spcAft>
              <a:defRPr sz="1300">
                <a:solidFill>
                  <a:srgbClr val="B4BAAE"/>
                </a:solidFill>
                <a:latin typeface="Aptos"/>
              </a:defRPr>
            </a:pPr>
            <a:r>
              <a:t>Carries a first-person self-knowledge map so she can answer more accurately about her own architecture, ports, runtime modes, pages, and capabilities.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(3/9)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1400">
                <a:solidFill>
                  <a:srgbClr val="B4BAAE"/>
                </a:solidFill>
                <a:latin typeface="Aptos"/>
              </a:defRPr>
            </a:pPr>
            <a:r>
              <a:t>Can run local authorized nmap reconnaissance through Nmapper, a use-only bridge that resolves a user-installed nmap, defaults to unprivileged TCP connect scanning, refuses unsafe/missing prerequisites gracefully, and never bundles or redistributes nmap.</a:t>
            </a:r>
          </a:p>
          <a:p>
            <a:pPr>
              <a:spcAft>
                <a:spcPts val="400"/>
              </a:spcAft>
              <a:defRPr sz="1400">
                <a:solidFill>
                  <a:srgbClr val="B4BAAE"/>
                </a:solidFill>
                <a:latin typeface="Aptos"/>
              </a:defRPr>
            </a:pPr>
            <a:r>
              <a:t>Can support operator-controlled Windows Blue-hat monitoring through the host-side `security/` toolkit, with persistent enablement tradeoffs, detect-only baselining, ten signal families, bounded armed response, and explicit evidence/privacy limits.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(4/9)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a:p>
            <a:pPr>
              <a:spcAft>
                <a:spcPts val="400"/>
              </a:spcAft>
              <a:defRPr sz="1400">
                <a:solidFill>
                  <a:srgbClr val="B4BAAE"/>
                </a:solidFill>
                <a:latin typeface="Aptos"/>
              </a:defRPr>
            </a:pPr>
            <a:r>
              <a:t>Can scaffold, author, build, flash, reset, and observe STM32 firmware through STM32er: the template-MCP path remains for STM32F407, while released `v1.42.0` adds a PlatformIO path for supported boards from Blue Pill/F1 through mainstream F/G/L/H7/U5/WB families, with fail-safe preflight before hardware mutation.</a:t>
            </a:r>
          </a:p>
          <a:p>
            <a:pPr>
              <a:spcAft>
                <a:spcPts val="400"/>
              </a:spcAft>
              <a:defRPr sz="1400">
                <a:solidFill>
                  <a:srgbClr val="B4BAAE"/>
                </a:solidFill>
                <a:latin typeface="Aptos"/>
              </a:defRPr>
            </a:pPr>
            <a:r>
              <a:t>Can scaffold, author, build, upload, and monitor ESP32-class firmware through ESP32er and PlatformIO Core, with zero-config bootstrap and a serial-aware preflight before hardware mutation.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(5/9)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a:p>
            <a:pPr>
              <a:spcAft>
                <a:spcPts val="400"/>
              </a:spcAft>
              <a:defRPr sz="14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a:p>
            <a:pPr>
              <a:spcAft>
                <a:spcPts val="400"/>
              </a:spcAft>
              <a:defRPr sz="14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(6/9)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Can manage real desktop windows by title: focus them, tile them, resize them, list them, and close them deterministically through Win32 calls.</a:t>
            </a:r>
          </a:p>
          <a:p>
            <a:pPr>
              <a:spcAft>
                <a:spcPts val="400"/>
              </a:spcAft>
              <a:defRPr sz="1400">
                <a:solidFill>
                  <a:srgbClr val="B4BAAE"/>
                </a:solidFill>
                <a:latin typeface="Aptos"/>
              </a:defRPr>
            </a:pPr>
            <a:r>
              <a:t>Can search with Googler through four plain-HTTP server-rendered routes first and, if empty, visible installed Chrome/bundled Chromium across seven browser routes, using bounded retries, manual query operators or a visual/pool structured dork builder, and URL-only output for indexed-file workflows.</a:t>
            </a:r>
          </a:p>
          <a:p>
            <a:pPr>
              <a:spcAft>
                <a:spcPts val="400"/>
              </a:spcAft>
              <a:defRPr sz="1400">
                <a:solidFill>
                  <a:srgbClr val="B4BAAE"/>
                </a:solidFill>
                <a:latin typeface="Aptos"/>
              </a:defRPr>
            </a:pPr>
            <a:r>
              <a:t>Can drive a real Playwright browser through scripted interactive steps for logins, forms, assertions, downloads, extraction, and end-to-end UI checks.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(7/9)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Can drive a live Unreal Engine 5 editor through the Unreal MCP plugin, from either Multi-Turn chat or the visual workflow canvas.</a:t>
            </a:r>
          </a:p>
          <a:p>
            <a:pPr>
              <a:spcAft>
                <a:spcPts val="400"/>
              </a:spcAft>
              <a:defRPr sz="1400">
                <a:solidFill>
                  <a:srgbClr val="B4BAAE"/>
                </a:solidFill>
                <a:latin typeface="Aptos"/>
              </a:defRPr>
            </a:pPr>
            <a:r>
              <a:t>Actively reaps orphaned Windows console-host and pool-child processes so long Multi-Turn or ACPX sessions do not leave misleading Tlamatini-icon ghosts in Task Manager.</a:t>
            </a:r>
          </a:p>
          <a:p>
            <a:pPr>
              <a:spcAft>
                <a:spcPts val="400"/>
              </a:spcAft>
              <a:defRPr sz="1400">
                <a:solidFill>
                  <a:srgbClr val="B4BAAE"/>
                </a:solidFill>
                <a:latin typeface="Aptos"/>
              </a:defRPr>
            </a:pPr>
            <a:r>
              <a:t>Can autonomously kill only genuinely hung shell-wrapper subtrees through a boot-time command watchdog that measures CPU and I/O progress instead of guessing from elapsed 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(8/9)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Runs checked Multi-Turn requests through request-scoped planning, capability selection, tool calls, observations, monitoring, and final synthesis.</a:t>
            </a:r>
          </a:p>
          <a:p>
            <a:pPr>
              <a:spcAft>
                <a:spcPts val="400"/>
              </a:spcAft>
              <a:defRPr sz="1400">
                <a:solidFill>
                  <a:srgbClr val="B4BAAE"/>
                </a:solidFill>
                <a:latin typeface="Aptos"/>
              </a:defRPr>
            </a:pPr>
            <a:r>
              <a:t>Can optionally inspect and modify her own bundled source tree in self-modify builds after verifying that `TlamatiniSourceCode/` is actually present.</a:t>
            </a:r>
          </a:p>
          <a:p>
            <a:pPr>
              <a:spcAft>
                <a:spcPts val="400"/>
              </a:spcAft>
              <a:defRPr sz="1400">
                <a:solidFill>
                  <a:srgbClr val="B4BAAE"/>
                </a:solidFill>
                <a:latin typeface="Aptos"/>
              </a:defRPr>
            </a:pPr>
            <a:r>
              <a:t>Launches wrapped copies of selected workflow agents in isolated runtime folders without mutating templates.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What The System Does (9/9)</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E0AB5D"/>
                </a:solidFill>
                <a:latin typeface="Aptos"/>
              </a:rPr>
              <a:t>Delivery</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Lets users design, validate, save, pause, resume, and stop visual workflows through the Agentic Control Panel.</a:t>
            </a:r>
          </a:p>
          <a:p>
            <a:pPr>
              <a:spcAft>
                <a:spcPts val="400"/>
              </a:spcAft>
              <a:defRPr sz="1400">
                <a:solidFill>
                  <a:srgbClr val="B4BAAE"/>
                </a:solidFill>
                <a:latin typeface="Aptos"/>
              </a:defRPr>
            </a:pPr>
            <a:r>
              <a:t>Turns successful Multi-Turn tool executions into starter `.flw` workflows that can be inspected and validated in ACP.</a:t>
            </a:r>
          </a:p>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Browser</a:t>
            </a:r>
          </a:p>
        </p:txBody>
      </p:sp>
      <p:sp>
        <p:nvSpPr>
          <p:cNvPr id="11" name="TextBox 10"/>
          <p:cNvSpPr txBox="1"/>
          <p:nvPr/>
        </p:nvSpPr>
        <p:spPr>
          <a:xfrm>
            <a:off x="2459736" y="2551176"/>
            <a:ext cx="246888" cy="256032"/>
          </a:xfrm>
          <a:prstGeom prst="rect">
            <a:avLst/>
          </a:prstGeom>
          <a:noFill/>
        </p:spPr>
        <p:txBody>
          <a:bodyPr wrap="square" anchor="t" lIns="12700" rIns="76200" tIns="12700" bIns="12700">
            <a:norm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Channels</a:t>
            </a:r>
          </a:p>
        </p:txBody>
      </p:sp>
      <p:sp>
        <p:nvSpPr>
          <p:cNvPr id="14" name="TextBox 13"/>
          <p:cNvSpPr txBox="1"/>
          <p:nvPr/>
        </p:nvSpPr>
        <p:spPr>
          <a:xfrm>
            <a:off x="4297680" y="2551176"/>
            <a:ext cx="246888" cy="256032"/>
          </a:xfrm>
          <a:prstGeom prst="rect">
            <a:avLst/>
          </a:prstGeom>
          <a:noFill/>
        </p:spPr>
        <p:txBody>
          <a:bodyPr wrap="square" anchor="t" lIns="12700" rIns="76200" tIns="12700" bIns="12700">
            <a:norm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RAG</a:t>
            </a:r>
          </a:p>
        </p:txBody>
      </p:sp>
      <p:sp>
        <p:nvSpPr>
          <p:cNvPr id="17" name="TextBox 16"/>
          <p:cNvSpPr txBox="1"/>
          <p:nvPr/>
        </p:nvSpPr>
        <p:spPr>
          <a:xfrm>
            <a:off x="6135624" y="2551176"/>
            <a:ext cx="246888" cy="256032"/>
          </a:xfrm>
          <a:prstGeom prst="rect">
            <a:avLst/>
          </a:prstGeom>
          <a:noFill/>
        </p:spPr>
        <p:txBody>
          <a:bodyPr wrap="square" anchor="t" lIns="12700" rIns="76200" tIns="12700" bIns="12700">
            <a:norm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Planner</a:t>
            </a:r>
          </a:p>
        </p:txBody>
      </p:sp>
      <p:sp>
        <p:nvSpPr>
          <p:cNvPr id="20" name="TextBox 19"/>
          <p:cNvSpPr txBox="1"/>
          <p:nvPr/>
        </p:nvSpPr>
        <p:spPr>
          <a:xfrm>
            <a:off x="7973567" y="2551176"/>
            <a:ext cx="246888" cy="256032"/>
          </a:xfrm>
          <a:prstGeom prst="rect">
            <a:avLst/>
          </a:prstGeom>
          <a:noFill/>
        </p:spPr>
        <p:txBody>
          <a:bodyPr wrap="square" anchor="t" lIns="12700" rIns="76200" tIns="12700" bIns="12700">
            <a:norm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Tools</a:t>
            </a:r>
          </a:p>
        </p:txBody>
      </p:sp>
      <p:sp>
        <p:nvSpPr>
          <p:cNvPr id="23" name="TextBox 22"/>
          <p:cNvSpPr txBox="1"/>
          <p:nvPr/>
        </p:nvSpPr>
        <p:spPr>
          <a:xfrm>
            <a:off x="9811511" y="2551176"/>
            <a:ext cx="246888" cy="256032"/>
          </a:xfrm>
          <a:prstGeom prst="rect">
            <a:avLst/>
          </a:prstGeom>
          <a:noFill/>
        </p:spPr>
        <p:txBody>
          <a:bodyPr wrap="square" anchor="t" lIns="12700" rIns="76200" tIns="12700" bIns="12700">
            <a:norm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lIns="12700" rIns="76200" tIns="12700" bIns="12700">
            <a:norm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Browser UI sends chat and workflow requests through Django views and Channels WebSockets.</a:t>
            </a:r>
          </a:p>
          <a:p>
            <a:pPr>
              <a:spcAft>
                <a:spcPts val="400"/>
              </a:spcAft>
              <a:defRPr sz="900">
                <a:solidFill>
                  <a:srgbClr val="B4BAAE"/>
                </a:solidFill>
                <a:latin typeface="Aptos"/>
              </a:defRPr>
            </a:pPr>
            <a:r>
              <a:t>RAG chains load selected file/directory context, retrieve relevant chunks, and build answer prompts.</a:t>
            </a:r>
          </a:p>
          <a:p>
            <a:pPr>
              <a:spcAft>
                <a:spcPts val="400"/>
              </a:spcAft>
              <a:defRPr sz="900">
                <a:solidFill>
                  <a:srgbClr val="B4BAAE"/>
                </a:solidFill>
                <a:latin typeface="Aptos"/>
              </a:defRPr>
            </a:pPr>
            <a:r>
              <a:t>DB-menu actions validate directories or SQLite files in the browser, then call Django views that use `sqlite_copy.consistent_copy()` to read through WAL, create a self-contained checked destination, and either back it up or stage it under `DB/ToLoad/db.sqlite3`.</a:t>
            </a:r>
          </a:p>
          <a:p>
            <a:pPr>
              <a:spcAft>
                <a:spcPts val="400"/>
              </a:spcAft>
              <a:defRPr sz="9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900">
                <a:solidFill>
                  <a:srgbClr val="B4BAAE"/>
                </a:solidFill>
                <a:latin typeface="Aptos"/>
              </a:defRPr>
            </a:pPr>
            <a:r>
              <a:t>The file-navigation and file-edit trio sits above raw shell execution: Globber enumerates matching files, Grepper decodes BOM-marked UTF-8/16/32 before cp1252/Latin-1 fallbacks while pruning genuine binary/noisy trees, and Editor performs byte-exact in-place replacements without rewriting an entire file.</a:t>
            </a:r>
          </a:p>
          <a:p>
            <a:pPr>
              <a:spcAft>
                <a:spcPts val="400"/>
              </a:spcAft>
              <a:defRPr sz="900">
                <a:solidFill>
                  <a:srgbClr val="B4BAAE"/>
                </a:solidFill>
                <a:latin typeface="Aptos"/>
              </a:defRPr>
            </a:pPr>
            <a:r>
              <a:t>External MCP connectivity is catalog-driven: `external_mcps.json` stores preserved Claude-style `mcpServers` state, `external_mcp_defaults.py` seeds inactive Memory/Sequential-Thinking defaults with edit/tombstone semantics, `runtime_provisioner.py` resolves or privately provisions npx/uvx managers, and `external_mcp_manager.py` negotiates stdio / streamable-HTTP / SSE / WebSocket before healthy remote tools become `ext__&lt;server&gt;__&lt;tool&gt;` planner entries.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`apply_update.ps1`; the preserve contract retains operator state and `Uninstaller.exe`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The `adding-external-mcp` skill applies that machinery in one guarded sequence: classify transport, import secret-separated configuration, diagnose, activate only on intent, wait for healthy tools, inspect status/list output, then call.</a:t>
            </a:r>
          </a:p>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Nmapper path resolves a user-installed `nmap` from explicit config, PATH, Program Files, or `%LOCALAPPDATA%`, constructs one safe scan action, captures XML plus normal output, parses hosts/open ports with the standard library, and emits one atomic `INI_SECTION_NMAPPER` block for Parametrizer/Forker routing.</a:t>
            </a:r>
          </a:p>
          <a:p>
            <a:pPr>
              <a:spcAft>
                <a:spcPts val="400"/>
              </a:spcAft>
              <a:defRPr sz="900">
                <a:solidFill>
                  <a:srgbClr val="B4BAAE"/>
                </a:solidFill>
                <a:latin typeface="Aptos"/>
              </a:defRPr>
            </a:pPr>
            <a:r>
              <a:t>The NetSpeed-Calculator path opens parallel keyless-provider streams, drops the slow-start warmup, samples byte derivatives, rejects outliers, computes Student-t intervals, and pools provider estimates with inverse-variance or DerSimonian-Laird random effects; `validate` and `providers` are read-only, while throughput actions are metered tier-D work.</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C48052"/>
                </a:solidFill>
                <a:latin typeface="Aptos"/>
              </a:rPr>
              <a:t>Runtime path</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13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a:p>
            <a:pPr>
              <a:spcAft>
                <a:spcPts val="400"/>
              </a:spcAft>
              <a:defRPr sz="13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a:p>
            <a:pPr>
              <a:spcAft>
                <a:spcPts val="400"/>
              </a:spcAft>
              <a:defRPr sz="13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13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1300">
                <a:solidFill>
                  <a:srgbClr val="B4BAAE"/>
                </a:solidFill>
                <a:latin typeface="Aptos"/>
              </a:defRPr>
            </a:pPr>
            <a:r>
              <a:t>The Unrealer path opens a TCP socket to the Unreal MCP plugin, sends one `{"type": command, "params": {...}}` payload, captures the JSON reply, and emits one `INI_SECTION_UNREALER` block for downstream logic.</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C48052"/>
                </a:solidFill>
                <a:latin typeface="Aptos"/>
              </a:rPr>
              <a:t>Runtime path</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12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a:p>
            <a:pPr>
              <a:spcAft>
                <a:spcPts val="400"/>
              </a:spcAft>
              <a:defRPr sz="1200">
                <a:solidFill>
                  <a:srgbClr val="B4BAAE"/>
                </a:solidFill>
                <a:latin typeface="Aptos"/>
              </a:defRPr>
            </a:pPr>
            <a:r>
              <a:t>Tool calls execute in the backend, append observations, and may create wrapped runtime copies under `agent/agents/pools/_chat_runs_/`.</a:t>
            </a:r>
          </a:p>
          <a:p>
            <a:pPr>
              <a:spcAft>
                <a:spcPts val="400"/>
              </a:spcAft>
              <a:defRPr sz="1200">
                <a:solidFill>
                  <a:srgbClr val="B4BAAE"/>
                </a:solidFill>
                <a:latin typeface="Aptos"/>
              </a:defRPr>
            </a:pPr>
            <a:r>
              <a:t>On the next full start-up, `manage.py` archives the previous database with its WAL/SHM/journal sidecars under `DB/Older/&lt;timestamp&gt;/`, clears stale destination sidecars, and only then promotes the verified staged database before Django imports.</a:t>
            </a:r>
          </a:p>
          <a:p>
            <a:pPr>
              <a:spcAft>
                <a:spcPts val="400"/>
              </a:spcAft>
              <a:defRPr sz="1200">
                <a:solidFill>
                  <a:srgbClr val="B4BAAE"/>
                </a:solidFill>
                <a:latin typeface="Aptos"/>
              </a:defRPr>
            </a:pPr>
            <a:r>
              <a:t>ACP flows deploy session-scoped pool instances, wire config values, validate NxN graph rules, and execute through Starter-driven flow semantics.</a:t>
            </a:r>
          </a:p>
          <a:p>
            <a:pPr>
              <a:spcAft>
                <a:spcPts val="400"/>
              </a:spcAft>
              <a:defRPr sz="12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while the explicit private builder can synchronize same-machine contacts into gitignored private staging without exposing them in public output.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lIns="12700" rIns="76200" tIns="12700" bIns="12700">
            <a:norm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lIns="12700" rIns="76200" tIns="12700" bIns="12700">
            <a:norm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lIns="12700" rIns="76200" tIns="12700" bIns="12700">
            <a:norm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Create Flow no longer uses the removed answer classifier; it appears when Multi-Turn has at least one successful agent call.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V1.10.0 SAFETY MODIFIER RETAINED IN THE CURRENT RELEASE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Introduced in `v1.10.0` and still part of the current release,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V1.11.0 UNINSTALL INTEGRATION RETAINED IN THE CURRENT RELEASE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Introduced in `v1.11.0` and still carried by the current release, the frozen install behaves like a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V1.51.7-5-G36C0139</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Release Identity and Runtime Foundations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Release line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reachable release tag v1.51.7 resolves to 96fdbde. Current source HEAD is 36c0139, 5 commits beyond that tag. Fetched origin/main resolves to 36c0139. Runtime version resolution remains Git/build-derived. A source revision beyond the tag is not a new tagged release.</a:t>
            </a:r>
          </a:p>
          <a:p>
            <a:pPr>
              <a:spcAft>
                <a:spcPts val="400"/>
              </a:spcAft>
              <a:defRPr sz="1000">
                <a:solidFill>
                  <a:srgbClr val="B4BAAE"/>
                </a:solidFill>
                <a:latin typeface="Aptos"/>
              </a:defRPr>
            </a:pPr>
            <a:r>
              <a:t>Commit `c8cf369` makes console output non-blocking. `manage.py::_ConsoleWriter` drains a bounded 10,000-chunk queue on one daemon thread, while `_TeeStream` writes `tlamatini.log` first on the caller thread. Frozen builds ship `console_quick_edit: false`; source runs leave the developer's terminal mode untouched. Ctrl+C is forced on, verified after the mode change, and the original mode is restored if that bit does not survive. The 600-line `agent/test_console_shield.py` contains 28 focused tests.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MCP, research, service, and privacy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same commit adds the 92-line `welcome_enter_default.js`: the existing Go to Chat link receives focus after login, while a guarded document fallback handles plain Enter only when no button, link, input, or editable element already owns it. Modifier chords, IME composition, claimed events, missing links, and failed focus all fail open. The earlier `00ecdc9` shim still centralizes correct `.exe`, Python, `.cmd`, and `.bat` startup across ACPX and runtime provisioning.</a:t>
            </a:r>
          </a:p>
          <a:p>
            <a:pPr>
              <a:spcAft>
                <a:spcPts val="400"/>
              </a:spcAft>
              <a:defRPr sz="1000">
                <a:solidFill>
                  <a:srgbClr val="B4BAAE"/>
                </a:solidFill>
                <a:latin typeface="Aptos"/>
              </a:defRPr>
            </a:pPr>
            <a:r>
              <a:t>The shared v1.51.2/v1.51.3 tag commit adds `agent/acpx/child_health.py`, live readiness probes, named non-delivery verdicts, and transport overrides. PDFer's upgrade and v1.51.1 program/snippet collision repair remain carried. The repository facts section derives current agent, tool, frontend and migration counts directly from source.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AGENT 88 - MEASURED THROUGHPUT WITH UNCERTAINTY, NOT A SINGLE FLATTERING NUMBER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NetSpeed-Calculator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Measurement method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Actions are `full`, `download`, `upload`, `latency`, `validate`, and `providers`. `validate` checks reachability and `providers` lists the catalog; neither runs a throughput transfer.</a:t>
            </a:r>
          </a:p>
          <a:p>
            <a:pPr>
              <a:spcAft>
                <a:spcPts val="400"/>
              </a:spcAft>
              <a:defRPr sz="1000">
                <a:solidFill>
                  <a:srgbClr val="B4BAAE"/>
                </a:solidFill>
                <a:latin typeface="Aptos"/>
              </a:defRPr>
            </a:pPr>
            <a:r>
              <a:t>Each throughput direction uses parallel TCP flows, discards the configured warmup/slow-start interval, and samples d(bytes)/dt so the excluded ramp cannot contaminate the estimate.</a:t>
            </a:r>
          </a:p>
          <a:p>
            <a:pPr>
              <a:spcAft>
                <a:spcPts val="400"/>
              </a:spcAft>
              <a:defRPr sz="1000">
                <a:solidFill>
                  <a:srgbClr val="B4BAAE"/>
                </a:solidFill>
                <a:latin typeface="Aptos"/>
              </a:defRPr>
            </a:pPr>
            <a:r>
              <a:t>Per-provider samples are cleaned with Tukey-IQR or MAD rejection, summarized with a trimmed mean, and assigned a small-sample Student-t confidence interval.</a:t>
            </a:r>
          </a:p>
          <a:p>
            <a:pPr>
              <a:spcAft>
                <a:spcPts val="400"/>
              </a:spcAft>
              <a:defRPr sz="1000">
                <a:solidFill>
                  <a:srgbClr val="B4BAAE"/>
                </a:solidFill>
                <a:latin typeface="Aptos"/>
              </a:defRPr>
            </a:pPr>
            <a:r>
              <a:t>Cross-provider fusion starts with inverse-variance weighting and switches to DerSimonian-Laird random effects when Cochran's Q shows genuine disagreement; I-squared quantifies heterogeneity.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Safety, evidence, and operation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Bufferbloat is the RTT increase while the link is saturated, graded A+ through F. A fast idle Mbps number does not excuse poor latency under load.</a:t>
            </a:r>
          </a:p>
          <a:p>
            <a:pPr>
              <a:spcAft>
                <a:spcPts val="400"/>
              </a:spcAft>
              <a:defRPr sz="1000">
                <a:solidFill>
                  <a:srgbClr val="B4BAAE"/>
                </a:solidFill>
                <a:latin typeface="Aptos"/>
              </a:defRPr>
            </a:pPr>
            <a:r>
              <a:t>A zero-byte transfer records and reports its endpoint/network cause instead of masquerading as a measured 0.00 Mbps connection.</a:t>
            </a:r>
          </a:p>
          <a:p>
            <a:pPr>
              <a:spcAft>
                <a:spcPts val="400"/>
              </a:spcAft>
              <a:defRPr sz="1000">
                <a:solidFill>
                  <a:srgbClr val="B4BAAE"/>
                </a:solidFill>
                <a:latin typeface="Aptos"/>
              </a:defRPr>
            </a:pPr>
            <a:r>
              <a:t>Full runs commonly transfer 100-200 MB and deliberately saturate the link. The agent is Ask-Execs tier D; run once with explicit operator awareness and do not repeat only to seek a prettier result.</a:t>
            </a:r>
          </a:p>
          <a:p>
            <a:pPr>
              <a:spcAft>
                <a:spcPts val="400"/>
              </a:spcAft>
              <a:defRPr sz="1000">
                <a:solidFill>
                  <a:srgbClr val="B4BAAE"/>
                </a:solidFill>
                <a:latin typeface="Aptos"/>
              </a:defRPr>
            </a:pPr>
            <a:r>
              <a:t>The network/measurement stack uses Python's standard library; existing PyYAML reads `config.yaml`. JSON evidence lands under `&lt;app&gt;/Temp/NetSpeedCalculator`, and `INI_SECTION_NETSPEED_CALCULATOR` feeds Parametrizer/Forker and Exec Report.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VALID DORK SYNTAX, INDEXED-FILE WORKFLOWS, AND A CLEAR RESPONSIBILITY BOUNDARY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Googler Structured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Builder, presets, and operators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visual/pool Googler compiles structured fields into valid Google syntax: operator colons have no following space, exact phrases are double-quoted, alternatives use uppercase OR inside parentheses, and exclusions use `-term` without a gap.</a:t>
            </a:r>
          </a:p>
          <a:p>
            <a:pPr>
              <a:spcAft>
                <a:spcPts val="400"/>
              </a:spcAft>
              <a:defRPr sz="1000">
                <a:solidFill>
                  <a:srgbClr val="B4BAAE"/>
                </a:solidFill>
                <a:latin typeface="Aptos"/>
              </a:defRPr>
            </a:pPr>
            <a:r>
              <a:t>Presets are `book`, `book_public`, `paper`, `manual`, `docs`, `slides`, `sheets`, and `directory`. A preset fills only empty fields, so an explicit user value always wins.</a:t>
            </a:r>
          </a:p>
          <a:p>
            <a:pPr>
              <a:spcAft>
                <a:spcPts val="400"/>
              </a:spcAft>
              <a:defRPr sz="1000">
                <a:solidFill>
                  <a:srgbClr val="B4BAAE"/>
                </a:solidFill>
                <a:latin typeface="Aptos"/>
              </a:defRPr>
            </a:pPr>
            <a:r>
              <a:t>File aliases expand `ebook`, `book`, `docs`, `slides`, `sheets`, `text`, `code`, and `data`; multiple file types or sites become grouped OR clauses, while excluded sites become `-site:` filters.</a:t>
            </a:r>
          </a:p>
          <a:p>
            <a:pPr>
              <a:spcAft>
                <a:spcPts val="400"/>
              </a:spcAft>
              <a:defRPr sz="1000">
                <a:solidFill>
                  <a:srgbClr val="B4BAAE"/>
                </a:solidFill>
                <a:latin typeface="Aptos"/>
              </a:defRPr>
            </a:pPr>
            <a:r>
              <a:t>The remaining fields cover exact/author phrases; title, URL, text, and anchor operators; alternatives; AROUND proximity; numeric ranges; before/after dates; related/cache/define/source discovery; and term exclusions.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File workflow and responsible use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For PDF, EPUB, document, slide, sheet, code, or data hunts, `content_mode: links_only` is the correct success path: Googler returns URL/title records without trying to extract text from a binary response.</a:t>
            </a:r>
          </a:p>
          <a:p>
            <a:pPr>
              <a:spcAft>
                <a:spcPts val="400"/>
              </a:spcAft>
              <a:defRPr sz="1000">
                <a:solidFill>
                  <a:srgbClr val="B4BAAE"/>
                </a:solidFill>
                <a:latin typeface="Aptos"/>
              </a:defRPr>
            </a:pPr>
            <a:r>
              <a:t>A typical downstream flow is Googler (`links_only`) -&gt; Parametrizer -&gt; Apirer (authorized download) -&gt; File-Extractor or File-Interpreter -&gt; Summarizer. Crawler remains appropriate when the target is an already-known web page.</a:t>
            </a:r>
          </a:p>
          <a:p>
            <a:pPr>
              <a:spcAft>
                <a:spcPts val="400"/>
              </a:spcAft>
              <a:defRPr sz="1000">
                <a:solidFill>
                  <a:srgbClr val="B4BAAE"/>
                </a:solidFill>
                <a:latin typeface="Aptos"/>
              </a:defRPr>
            </a:pPr>
            <a:r>
              <a:t>The direct Multi-Turn `googler` tool accepts equivalent hand-written operators inside `query`; the structured fields and presets belong to the visual/pool agent and must not be advertised as direct-tool parameters.</a:t>
            </a:r>
          </a:p>
          <a:p>
            <a:pPr>
              <a:spcAft>
                <a:spcPts val="400"/>
              </a:spcAft>
              <a:defRPr sz="1000">
                <a:solidFill>
                  <a:srgbClr val="B4BAAE"/>
                </a:solidFill>
                <a:latin typeface="Aptos"/>
              </a:defRPr>
            </a:pPr>
            <a:r>
              <a:t>Googler locates publicly indexed URLs only and does not bypass access controls. Indexing is not permission: copyright, licensing, authorization, downloading, and use remain the operator's responsibility.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PLAIN HTTP FIRST, SEVEN BROWSER ROUTES SECOND, BOUNDED RETRIES, AND HONEST ATTRIBUTION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Googler Search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Measured failure and browser policy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 measured failure drove the redesign: bundled headless Chromium returned zero results even for a plain control query, and the old single DuckDuckGo fallback returned an error page, while the same dork in visible installed Chrome returned real EPUB URLs.</a:t>
            </a:r>
          </a:p>
          <a:p>
            <a:pPr>
              <a:spcAft>
                <a:spcPts val="400"/>
              </a:spcAft>
              <a:defRPr sz="1000">
                <a:solidFill>
                  <a:srgbClr val="B4BAAE"/>
                </a:solidFill>
                <a:latin typeface="Aptos"/>
              </a:defRPr>
            </a:pPr>
            <a:r>
              <a:t>Tier 0 uses plain `urllib` before any browser: DuckDuckGo HTML, Bing, DuckDuckGo Lite, and Mojeek provide server-rendered pages without browser fingerprints or CSS-selector dependence. v1.50.3 unescapes HTML entities, decodes Bing `ck/a` Base64URL targets, and filters Mojeek's own promotional links before the first non-empty result set wins.</a:t>
            </a:r>
          </a:p>
          <a:p>
            <a:pPr>
              <a:spcAft>
                <a:spcPts val="400"/>
              </a:spcAft>
              <a:defRPr sz="1000">
                <a:solidFill>
                  <a:srgbClr val="B4BAAE"/>
                </a:solidFill>
                <a:latin typeface="Aptos"/>
              </a:defRPr>
            </a:pPr>
            <a:r>
              <a:t>If Tier 0 is empty, Tier 1 defaults to visible installed Chrome, falls back to bundled Chromium, and walks seven direct-result browser routes: DuckDuckGo HTML/Lite, Mojeek, Bing, Google, Brave, Startpage. Headless remains opt-in and more refusal-prone.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Fallback, semantics, and proof</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Each browser route receives `attempts_per_engine` bounded attempts with polite jittered backoff. The log names the route that actually answered instead of implying every result came from Google.</a:t>
            </a:r>
          </a:p>
          <a:p>
            <a:pPr>
              <a:spcAft>
                <a:spcPts val="400"/>
              </a:spcAft>
              <a:defRPr sz="1000">
                <a:solidFill>
                  <a:srgbClr val="B4BAAE"/>
                </a:solidFill>
                <a:latin typeface="Aptos"/>
              </a:defRPr>
            </a:pPr>
            <a:r>
              <a:t>`engines` can pin a browser route such as `[google]` and deliberately skips Tier 0. Empty selection enables both documented tiers; tolerant booleans keep wrapped string `false` from silently becoming true.</a:t>
            </a:r>
          </a:p>
          <a:p>
            <a:pPr>
              <a:spcAft>
                <a:spcPts val="400"/>
              </a:spcAft>
              <a:defRPr sz="1000">
                <a:solidFill>
                  <a:srgbClr val="B4BAAE"/>
                </a:solidFill>
                <a:latin typeface="Aptos"/>
              </a:defRPr>
            </a:pPr>
            <a:r>
              <a:t>`site:` and `filetype:` work broadly, but `before:`, `after:`, `AROUND()`, and numeric-range semantics are Google-specific. A fallback engine may return broader candidates, so exact full-vocabulary work should pin Google and reports must preserve the answering-engine truth.</a:t>
            </a:r>
          </a:p>
          <a:p>
            <a:pPr>
              <a:spcAft>
                <a:spcPts val="400"/>
              </a:spcAft>
              <a:defRPr sz="1000">
                <a:solidFill>
                  <a:srgbClr val="B4BAAE"/>
                </a:solidFill>
                <a:latin typeface="Aptos"/>
              </a:defRPr>
            </a:pPr>
            <a:r>
              <a:t>The 73-test deterministic suite covers query compilation, config defaults, HTTP-before-browser order, seven-route browser order, retry/fallback stopping, pinned-engine Tier-0 bypass, tolerant booleans, and redirect unwrapping. The optional headed dork-hunt harness stores public/open-source proof under Tlamatini `Temp`; the v1.50.3 tag records the first paired-Tlamatinis Googler improvement phase.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BACKUP DB, SET DB, AND STARTUP PROMOTION NOW PRESERVE COMMITTED SQLITE TRUTH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WAL-Safe Database Movement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Consistent copy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SQLite WAL mode can hold committed pages in `db.sqlite3-wal`, so copying only the main file can silently produce an old backup while claiming success.</a:t>
            </a:r>
          </a:p>
          <a:p>
            <a:pPr>
              <a:spcAft>
                <a:spcPts val="400"/>
              </a:spcAft>
              <a:defRPr sz="1100">
                <a:solidFill>
                  <a:srgbClr val="B4BAAE"/>
                </a:solidFill>
                <a:latin typeface="Aptos"/>
              </a:defRPr>
            </a:pPr>
            <a:r>
              <a:t>`sqlite_copy.consistent_copy()` uses SQLite's online backup API to read through WAL, converts the destination to DELETE journal mode, and requires `PRAGMA quick_check` before success.</a:t>
            </a:r>
          </a:p>
          <a:p>
            <a:pPr>
              <a:spcAft>
                <a:spcPts val="400"/>
              </a:spcAft>
              <a:defRPr sz="1100">
                <a:solidFill>
                  <a:srgbClr val="B4BAAE"/>
                </a:solidFill>
                <a:latin typeface="Aptos"/>
              </a:defRPr>
            </a:pPr>
            <a:r>
              <a:t>Backup DB writes that verified self-contained copy to the selected directory. Set DB writes the same safe form into `DB/ToLoad/db.sqlite3` without touching Django's open live connection.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Sidecar-safe promotion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Before Django imports, `manage.py::_apply_pending_db_swap()` archives the outgoing main database plus WAL/SHM/journal sidecars under `DB/Older/&lt;timestamp&gt;/`.</a:t>
            </a:r>
          </a:p>
          <a:p>
            <a:pPr>
              <a:spcAft>
                <a:spcPts val="400"/>
              </a:spcAft>
              <a:defRPr sz="1100">
                <a:solidFill>
                  <a:srgbClr val="B4BAAE"/>
                </a:solidFill>
                <a:latin typeface="Aptos"/>
              </a:defRPr>
            </a:pPr>
            <a:r>
              <a:t>The swap removes stale sidecars beside the destination before promotion, preventing SQLite from replaying pages belonging to the previous database over the selected replacement.</a:t>
            </a:r>
          </a:p>
          <a:p>
            <a:pPr>
              <a:spcAft>
                <a:spcPts val="400"/>
              </a:spcAft>
              <a:defRPr sz="1100">
                <a:solidFill>
                  <a:srgbClr val="B4BAAE"/>
                </a:solidFill>
                <a:latin typeface="Aptos"/>
              </a:defRPr>
            </a:pPr>
            <a:r>
              <a:t>Database copy truth is fail-safe: unreadable, inconsistent, or unchecked output is failure. The previous live database remains available if promotion cannot finish safely.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GUIDED ONBOARDING, A DEEP-RESEARCH STARTER, AND STRICT PII BOUNDARIES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MCP, Research, And Private Builds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MCP and research lifecycle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External MCP Adder skill's eight-step lifecycle is transport classification, secret-separated configuration, import, Doctor, intentional activation, healthy wait, status/list inspection, and remote call.</a:t>
            </a:r>
          </a:p>
          <a:p>
            <a:pPr>
              <a:spcAft>
                <a:spcPts val="400"/>
              </a:spcAft>
              <a:defRPr sz="1100">
                <a:solidFill>
                  <a:srgbClr val="B4BAAE"/>
                </a:solidFill>
                <a:latin typeface="Aptos"/>
              </a:defRPr>
            </a:pPr>
            <a:r>
              <a:t>Memory and Sequential Thinking remain inactive shipped defaults; deletion tombstones and persistent per-user state are respected, and at most five catalog servers are active at once.</a:t>
            </a:r>
          </a:p>
          <a:p>
            <a:pPr>
              <a:spcAft>
                <a:spcPts val="400"/>
              </a:spcAft>
              <a:defRPr sz="1100">
                <a:solidFill>
                  <a:srgbClr val="B4BAAE"/>
                </a:solidFill>
                <a:latin typeface="Aptos"/>
              </a:defRPr>
            </a:pPr>
            <a:r>
              <a:t>Deep Internet Research is append-only prompt 118 (`getting_started`, `sort_rank=100`). It requests Multi-Turn plus Exec Report for a long, link-rich search and may use authorized MCPs/agents without making them hidden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Service and privacy boundary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Ollama Pro or higher is the documented minimum tier for complete intended cloud-model operation. This is not sponsorship, and plan pricing/limits must be checked with Ollama.</a:t>
            </a:r>
          </a:p>
          <a:p>
            <a:pPr>
              <a:spcAft>
                <a:spcPts val="400"/>
              </a:spcAft>
              <a:defRPr sz="1100">
                <a:solidFill>
                  <a:srgbClr val="B4BAAE"/>
                </a:solidFill>
                <a:latin typeface="Aptos"/>
              </a:defRPr>
            </a:pPr>
            <a:r>
              <a:t>The explicit private builder merges same-machine contact sources into gitignored `contacts.private.json` using normalized names, alias union, and non-empty-value preservation.</a:t>
            </a:r>
          </a:p>
          <a:p>
            <a:pPr>
              <a:spcAft>
                <a:spcPts val="400"/>
              </a:spcAft>
              <a:defRPr sz="1100">
                <a:solidFill>
                  <a:srgbClr val="B4BAAE"/>
                </a:solidFill>
                <a:latin typeface="Aptos"/>
              </a:defRPr>
            </a:pPr>
            <a:r>
              <a:t>Public builds ship an empty contacts book; self-modify snapshots contain no contact files; generated dossiers never reproduce contact values, credentials, or live catalog secrets.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CLOSED STATUS VOCABULARY, CANONICAL RESULT FIELDS, AND RUNTIME SAFEGUARDS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Execution Truth And Runtime Reliability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Deterministic execution truth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`agent/agent_verdict.py` now owns the CLOSED `KNOWN_STATUSES` union of five disjoint sets: `DIAGNOSTIC_COMPLETED_STATUSES`, `WORK_COMPLETED_STATUSES`, `WORK_DEGRADED_STATUSES`, `WORK_NOT_DONE_STATUSES`, and `AGENT_ERROR_STATUSES`. The first two are green; the last three are red. R8b remains fail-open for unknown runtime input, while `agent/test_status_vocabulary.py` rejects unknown literals before release.</a:t>
            </a:r>
          </a:p>
          <a:p>
            <a:pPr>
              <a:spcAft>
                <a:spcPts val="400"/>
              </a:spcAft>
              <a:defRPr sz="1000">
                <a:solidFill>
                  <a:srgbClr val="B4BAAE"/>
                </a:solidFill>
                <a:latin typeface="Aptos"/>
              </a:defRPr>
            </a:pPr>
            <a:r>
              <a:t>Grepper detects BOM-marked UTF-8/16/32 before cp1252/Latin-1 fallbacks and before the NUL-byte binary test. The self-report outranks process exit code; Kuberneter emits `returncode`, `success`, and semantic `status: ok|failed`. Source-derived tests stop status, supervisor, prompt, and catalog drift.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Database startup safeguard</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`agent/sqlite_copy.py` routes Backup DB, Set DB, and pre-Django hot-swap through SQLite's online backup API. Destinations become self-contained DELETE-journal files, must pass `PRAGMA quick_check`, and keep or clear WAL/SHM/journal sidecars in the correct order before promotion.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V1.48.16 - V1.48.17 SAFETY LINEAGE RETAINED IN THE CURRENT RELEASE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Dialog And Bundle Proof</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Uniform dismissal and themed pop-ups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Frontend dialogs now share one visual language through `dialog_theme.css` and one fail-open dismissal contract through `dialog_policy.js`: an outside click never dismisses, while Escape finds the topmost open dialog and invokes that dialog's own X/Cancel path so permission denials, confirmation-false results, and scroll-lock cleanup remain intact. A sealed downloading updater is the single exception and refuses Escape/reload shortcuts. `tlmAlert` / `tlmConfirm` replace the remaining native pop-ups inside Contacts and External MCP dialogs, while `release_notes_renderer.js` safely renders update notes.</a:t>
            </a:r>
          </a:p>
          <a:p>
            <a:pPr>
              <a:spcAft>
                <a:spcPts val="400"/>
              </a:spcAft>
              <a:defRPr sz="1000">
                <a:solidFill>
                  <a:srgbClr val="B4BAAE"/>
                </a:solidFill>
                <a:latin typeface="Aptos"/>
              </a:defRPr>
            </a:pPr>
            <a:r>
              <a:t>The bubble-phase dispatcher closes only the topmost layer through its own dismiss control; no affirmative action is selected and one Escape cannot close two stacked dialogs.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Frozen payload proof</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`v1.48.16` build proof names fail-open imports explicitly with hidden-import flags, opens the PyInstaller archive it just produced, and aborts if any of seven required `agent.*` modules is genuinely absent. Unreadable archive formats warn rather than fabricate failure, but a readable archive missing a required module cannot ship.</a:t>
            </a:r>
          </a:p>
          <a:p>
            <a:pPr>
              <a:spcAft>
                <a:spcPts val="400"/>
              </a:spcAft>
              <a:defRPr sz="1000">
                <a:solidFill>
                  <a:srgbClr val="B4BAAE"/>
                </a:solidFill>
                <a:latin typeface="Aptos"/>
              </a:defRPr>
            </a:pPr>
            <a:r>
              <a:t>Evidence: 35 focused dismissal-policy tests, a visible headed-Chrome proof runner, the tree-wide `closeOnEscape: false` guard, and build tests for CArchive/PYZ inspection.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CAPTURE, PDF LANGUAGE, AND EXTERNAL-MCP CATALOG BEHAVIOR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Operator Refinements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Menus, logging, and whole-desktop capture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Long operations use `LONG_OPERATION_DISABLED_MENU_BUTTONS` as the single Open/Save/Context/MCPs/Skills/External/Config/DB/Reconnect lock list; disable/restore paths preserve `data-bs-toggle`, while only Check for Updates and Configure Agents receive the targeted extra lock. Application logging now attributes output by user, request, stream, and source line.</a:t>
            </a:r>
          </a:p>
          <a:p>
            <a:pPr>
              <a:spcAft>
                <a:spcPts val="400"/>
              </a:spcAft>
              <a:defRPr sz="1000">
                <a:solidFill>
                  <a:srgbClr val="B4BAAE"/>
                </a:solidFill>
                <a:latin typeface="Aptos"/>
              </a:defRPr>
            </a:pPr>
            <a:r>
              <a:t>Shoter now captures the whole desktop by default so secondary-monitor evidence is not silently lost, accepts a basename-sanitized exact filename for report workflows, falls back to primary-screen capture when `all_screens` is unsupported, and emits the resolved capture settings in its structured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Document and MCP refinements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PDFer now localizes its own footer/fallback-title labels through `document_language` and forces optional Ollama polish to preserve the source language. External-MCP catalog refinements pin active services first, keep them alphabetized, add active/catalog headings, and preserve focus after rerendering.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NEW SOURCE, TESTS, MIGRATIONS, HARNESSES, AND INVENTORY EFFECTS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Recent Implementation Assets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Published inventory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Since the last committed dossier revision, the inspected checkout adds 2 files including 0 untracked working additions. The output directory contains 62 tracked deliverables (44,065,047 bytes including its manifest). All 61 manifest-listed payloads pass SHA-256 and size checks.</a:t>
            </a:r>
          </a:p>
          <a:p>
            <a:pPr>
              <a:spcAft>
                <a:spcPts val="400"/>
              </a:spcAft>
              <a:defRPr sz="1200">
                <a:solidFill>
                  <a:srgbClr val="B4BAAE"/>
                </a:solidFill>
                <a:latin typeface="Aptos"/>
              </a:defRPr>
            </a:pPr>
            <a:r>
              <a:t>Published assets include exact quadrant crops, aligned PNG frames, JPG conversions, a sprite sheet, HTML preview, ZIP packages, screenshots, code snapshots, test results, and a sanitized development database fixture. Binary files have no source-line count.</a:t>
            </a:r>
          </a:p>
          <a:p>
            <a:pPr>
              <a:spcAft>
                <a:spcPts val="400"/>
              </a:spcAft>
              <a:defRPr sz="1200">
                <a:solidFill>
                  <a:srgbClr val="B4BAAE"/>
                </a:solidFill>
                <a:latin typeface="Aptos"/>
              </a:defRPr>
            </a:pPr>
            <a:r>
              <a:t>Current inventory: 1,148 tracked files, 354,040 physical text lines, 252,099 effective lines, and 101 binary assets. Published backup/test text counts toward repository totals but does not add runtime agents or frontend modules.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Source and evidence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Changes after dossier commit efe2ca1 are listed in the Git appendix. This refresh covers the process-aware wait fix (ac72b6c) and standalone Ollama usage utility (36c0139). Canvas avatar presence, Whisperer's sound gate and Voice Commands remain carried. Runtime JPGs ship through Tlamatini/agent/static/; output source art remains development evidence.</a:t>
            </a:r>
          </a:p>
          <a:p>
            <a:pPr>
              <a:spcAft>
                <a:spcPts val="400"/>
              </a:spcAft>
              <a:defRPr sz="1000">
                <a:solidFill>
                  <a:srgbClr val="B4BAAE"/>
                </a:solidFill>
                <a:latin typeface="Aptos"/>
              </a:defRPr>
            </a:pPr>
            <a:r>
              <a:t>Historical atomic-renderer evidence: 313 transitions, 10,609 browser paints, 4 expression states, 3 viewports, minimum coverage 100%, zero reported layout/coverage failures and no JavaScript errors. This older report is not proof of the new canvas renderer. The separate presence suite targets current canvas behavior. No automated tests were executed for this refresh, as requested.</a:t>
            </a:r>
          </a:p>
          <a:p>
            <a:pPr>
              <a:spcAft>
                <a:spcPts val="400"/>
              </a:spcAft>
              <a:defRPr sz="1000">
                <a:solidFill>
                  <a:srgbClr val="B4BAAE"/>
                </a:solidFill>
                <a:latin typeface="Aptos"/>
              </a:defRPr>
            </a:pPr>
            <a:r>
              <a:t>README and Book retain a pre-avatar 1,069-file inventory and an obsolete tag-equals-HEAD sentence. Their 311-transition repair-run description is historical. This dossier uses current source counts. Their older atomic/reduced-motion avatar section is superseded by the canvas behavior below. README's Django 5.2.4 stack entry also lags the requirements pin of 5.2.15. Neither handbook yet explains the latest wait repair or credits utility. Historical prose is not release metadata.</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Canvas Avatar Presence</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Four opaque 1024x1024 RGB JPGs combine open/closed eyes with neutral/smiling mouth. They share one square viewport. Existing non-rigid expression differences remain.</a:t>
            </a:r>
          </a:p>
          <a:p>
            <a:pPr>
              <a:spcAft>
                <a:spcPts val="400"/>
              </a:spcAft>
              <a:defRPr sz="1300">
                <a:solidFill>
                  <a:srgbClr val="B4BAAE"/>
                </a:solidFill>
                <a:latin typeface="Aptos"/>
              </a:defRPr>
            </a:pPr>
            <a:r>
              <a:t>The former 90 ms full-image opacity transition exposed the dark background. At two half-opaque frames, combined coverage is 75%. The recorded reproduction measured approximately 75.3%. Django collectstatic copied the JPG bytes correctly.</a:t>
            </a:r>
          </a:p>
          <a:p>
            <a:pPr>
              <a:spcAft>
                <a:spcPts val="400"/>
              </a:spcAft>
              <a:defRPr sz="1300">
                <a:solidFill>
                  <a:srgbClr val="B4BAAE"/>
                </a:solidFill>
                <a:latin typeface="Aptos"/>
              </a:defRPr>
            </a:pPr>
            <a:r>
              <a:t>avatar_presence.js now draws four decoded portraits on one 2D canvas. Eye/mouth weights form a convex blend with full coverage. Each corner is pre-scaled on resize. The old opaque image stack remains a fail-open fallback if canvas startup fails.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Native speechSynthesis boundary events anchor a text-derived mouth track. Vowels open it, m/b/p close it, and punctuation introduces rests. Timing falls back to an estimated speaking rate when the voice exposes no word boundaries. There is no audio-amplitude analyzer, video stream, neural lip model or dedicated-GPU requirement.</a:t>
            </a:r>
          </a:p>
          <a:p>
            <a:pPr>
              <a:spcAft>
                <a:spcPts val="400"/>
              </a:spcAft>
              <a:defRPr sz="1200">
                <a:solidFill>
                  <a:srgbClr val="B4BAAE"/>
                </a:solidFill>
                <a:latin typeface="Aptos"/>
              </a:defRPr>
            </a:pPr>
            <a:r>
              <a:t>Blink timing uses 55 ms closing, 25 ms hold and 130 ms opening, with randomized intervals. Adaptive 12/20/30/60 FPS tiers respond to drawing cost. Portrait translation was removed, so the head/body coordinate system remains fixed.</a:t>
            </a:r>
          </a:p>
          <a:p>
            <a:pPr>
              <a:spcAft>
                <a:spcPts val="400"/>
              </a:spcAft>
              <a:defRPr sz="1200">
                <a:solidFill>
                  <a:srgbClr val="B4BAAE"/>
                </a:solidFill>
                <a:latin typeface="Aptos"/>
              </a:defRPr>
            </a:pPr>
            <a:r>
              <a:t>The current presence renderer intentionally keeps animating when the system requests reduced motion. This differs from the earlier atomic renderer. Resize by dragging the corner handle, arrow keys, or double-click presets. The chosen size persists in localStorage. Handle clicks do not trigger the greeting/stop control.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Visible Avatar Test Runner</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Current canvas regression: .\python\python.exe Tests\run_avatar_tests.py --presence-only --auto-close</a:t>
            </a:r>
          </a:p>
          <a:p>
            <a:pPr>
              <a:spcAft>
                <a:spcPts val="400"/>
              </a:spcAft>
              <a:defRPr sz="1500">
                <a:solidFill>
                  <a:srgbClr val="B4BAAE"/>
                </a:solidFill>
                <a:latin typeface="Aptos"/>
              </a:defRPr>
            </a:pPr>
            <a:r>
              <a:t>Use --check for dependency validation, --prepare-only for database/static preparation, or --auto-close to close the visible browser and its server after passing.</a:t>
            </a:r>
          </a:p>
          <a:p>
            <a:pPr>
              <a:spcAft>
                <a:spcPts val="400"/>
              </a:spcAft>
              <a:defRPr sz="1500">
                <a:solidFill>
                  <a:srgbClr val="B4BAAE"/>
                </a:solidFill>
                <a:latin typeface="Aptos"/>
              </a:defRPr>
            </a:pPr>
            <a:r>
              <a:t>The launcher prepares the isolated Temp/avatar_flash_fix database, applies migrations, creates the ordinary user/changeme test account, runs collectstatic, and starts real Django on 127.0.0.1:8001. It leaves the frozen app and normal database untouched.</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presence suite uses Python Playwright, headed Chrome/Edge/Chromium and disabled GPU acceleration. It checks real canvas pixels, mouth-track correlation, native speech instrumentation, reduced-motion behavior, resizing and a 6x CPU throttle. No Node.js is needed for --presence-only. Simulated speech proves rendering, not microphone ASR.</a:t>
            </a:r>
          </a:p>
          <a:p>
            <a:pPr>
              <a:spcAft>
                <a:spcPts val="400"/>
              </a:spcAft>
              <a:defRPr sz="1100">
                <a:solidFill>
                  <a:srgbClr val="B4BAAE"/>
                </a:solidFill>
                <a:latin typeface="Aptos"/>
              </a:defRPr>
            </a:pPr>
            <a:r>
              <a:t>Current reports and whole-desktop Shoter photographs land in Temp/avatar_presence. Tests/run_presence_tests.ps1 is an alternative launcher. The older default suite uses Node.js and writes output/avatar_flash_fix/visible-test. Its atomic-state assumptions are historical. Use the presence-only command for the current renderer. The generic test credential must not become a production password.</a:t>
            </a:r>
          </a:p>
          <a:p>
            <a:pPr>
              <a:spcAft>
                <a:spcPts val="400"/>
              </a:spcAft>
              <a:defRPr sz="1100">
                <a:solidFill>
                  <a:srgbClr val="B4BAAE"/>
                </a:solidFill>
                <a:latin typeface="Aptos"/>
              </a:defRPr>
            </a:pPr>
            <a:r>
              <a:t>Recorded verification from 2026-09-12: all 74 presence checks passed in a visible browser. The separate Django run passed 110 Whisperer, voice-catalog and Gitter tests. These historical runs were not repeated for this refresh. They do not prove real microphone transcription, audible voice synchronization on every host, or a rebuilt frozen installation.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Whisperer Silence Gate</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Whisperer captures microphone audio itself or accepts an audio file. Local faster-whisper uses GPU when available and falls back to CPU. Cloud Whisper is an alternative engine. Ollama is optional transcript cleanup, never audio ASR.</a:t>
            </a:r>
          </a:p>
          <a:p>
            <a:pPr>
              <a:spcAft>
                <a:spcPts val="400"/>
              </a:spcAft>
              <a:defRPr sz="1200">
                <a:solidFill>
                  <a:srgbClr val="B4BAAE"/>
                </a:solidFill>
                <a:latin typeface="Aptos"/>
              </a:defRPr>
            </a:pPr>
            <a:r>
              <a:t>record_seconds=0 now selects the silence gate. Default trailing silence is 10 s and the hard ceiling is 300 s. A positive record_seconds selects fixed duration in auto mode. Explicit silence_gate=on forces gating, while off uses fixed capture.</a:t>
            </a:r>
          </a:p>
          <a:p>
            <a:pPr>
              <a:spcAft>
                <a:spcPts val="400"/>
              </a:spcAft>
              <a:defRPr sz="1200">
                <a:solidFill>
                  <a:srgbClr val="B4BAAE"/>
                </a:solidFill>
                <a:latin typeface="Aptos"/>
              </a:defRPr>
            </a:pPr>
            <a:r>
              <a:t>A 20 ms RMS callback tracks noise with a 9 dB margin, two-block attack and 3 dB hysteresis. The floor starts at -50 dBFS to retain immediate speech. A 15 s sustained sound rebase handles steady noise. A negative threshold overrides automatic calibration. The console VU includes a silence countdown and stop reason.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The result reports actual duration_seconds and appends capture_mode, stop_reason, silence_timeout_seconds and speech_seconds. A device backend without InputStream uses explicitly labeled fixed_fallback. Parametrizer's generic KV parser accepts the appended fields without a special parser rewrite.</a:t>
            </a:r>
          </a:p>
          <a:p>
            <a:pPr>
              <a:spcAft>
                <a:spcPts val="400"/>
              </a:spcAft>
              <a:defRPr sz="1400">
                <a:solidFill>
                  <a:srgbClr val="B4BAAE"/>
                </a:solidFill>
                <a:latin typeface="Aptos"/>
              </a:defRPr>
            </a:pPr>
            <a:r>
              <a:t>Migration 0200 updates prompt 74, TLAMATINI LISTENS, without changing its identity or ordering. Registry instructions omit duration unless the user requests one. FlowHypervisor tolerates the bounded gate wait and no longer calls it stuck. Existing workflows with positive durations deliberately keep fixed recording.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Voice Commands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Migration 0201 appends prompts 121 and 122. views.PROMPT_CATEGORY_ORDER places voice_commands first. This is an explicit record-and-transcribe command, not an always-listening assistant or wake-word service.</a:t>
            </a:r>
          </a:p>
          <a:p>
            <a:pPr>
              <a:spcAft>
                <a:spcPts val="400"/>
              </a:spcAft>
              <a:defRPr sz="1300">
                <a:solidFill>
                  <a:srgbClr val="B4BAAE"/>
                </a:solidFill>
                <a:latin typeface="Aptos"/>
              </a:defRPr>
            </a:pPr>
            <a:r>
              <a:t>YOUR FIRST VOICE COMMAND (121) is a read-only rehearsal with Multi-Turn, Step-by-Step and Exec Report, without ACPX. SPEAK YOUR PROMPT (122) enables Multi-Turn, Exec Report and ACPX, with Step-by-Step off. The existing JS classifier derives these modes from prompt text. No frontend asset bump was required for this catalog change.</a:t>
            </a:r>
          </a:p>
          <a:p>
            <a:pPr>
              <a:spcAft>
                <a:spcPts val="400"/>
              </a:spcAft>
              <a:defRPr sz="1300">
                <a:solidFill>
                  <a:srgbClr val="B4BAAE"/>
                </a:solidFill>
                <a:latin typeface="Aptos"/>
              </a:defRPr>
            </a:pPr>
            <a:r>
              <a:t>The second card preserves the author's requested sentence verbatim. Whisperer records until the silence gate closes, then the transcript becomes the next prompt through the existing planner and tools. Omit duration unless the user specifies it.</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Display or read back the transcript verbatim before execution. Stop on empty or engine_unavailable results rather than inventing instructions. Irreversible or external actions require typed confirmation under the voice-command contract.</a:t>
            </a:r>
          </a:p>
          <a:p>
            <a:pPr>
              <a:spcAft>
                <a:spcPts val="400"/>
              </a:spcAft>
              <a:defRPr sz="1500">
                <a:solidFill>
                  <a:srgbClr val="B4BAAE"/>
                </a:solidFill>
                <a:latin typeface="Aptos"/>
              </a:defRPr>
            </a:pPr>
            <a:r>
              <a:t>Coverage spans prompt rule 18e, self-knowledge, FlowCreator, FlowHypervisor and agent-creation guidance. test_voice_commands_catalog.py checks ordering, sentence fidelity and classifier parity. The headed catalog harness checks browser cards and toggles, but does not prove real microphone recognition or spoken task execution.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Wrapped-Agent Wait Completion</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Commit ac72b6c fixes chat_agent_run_wait in agent/tools.py. The previous loop reread the ChatAgentRun row, but no writer kept that row current during the child's execution. A finished child could therefore consume the full wait budget.</a:t>
            </a:r>
          </a:p>
          <a:p>
            <a:pPr>
              <a:spcAft>
                <a:spcPts val="400"/>
              </a:spcAft>
              <a:defRPr sz="1300">
                <a:solidFill>
                  <a:srgbClr val="B4BAAE"/>
                </a:solidFill>
                <a:latin typeface="Aptos"/>
              </a:defRPr>
            </a:pPr>
            <a:r>
              <a:t>Each poll now calls reconcile_chat_agent_run. That runtime helper checks process liveness, consults the process handle when available, persists the resulting status and stamps finishedAt when it first observes completion.</a:t>
            </a:r>
          </a:p>
          <a:p>
            <a:pPr>
              <a:spcAft>
                <a:spcPts val="400"/>
              </a:spcAft>
              <a:defRPr sz="1300">
                <a:solidFill>
                  <a:srgbClr val="B4BAAE"/>
                </a:solidFill>
                <a:latin typeface="Aptos"/>
              </a:defRPr>
            </a:pPr>
            <a:r>
              <a:t>The loop breaks only outside RUNNING_STATUSES, which includes created and running. It no longer treats a created status alone as completion. This applies to wrapped agents generally, including Whisperer after transcription.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max_seconds defaults to 120 and is clamped to 1-600. Poll cadence defaults to 2 seconds with a 1-second minimum. Expiry returns a status envelope and log excerpt without stopping the child. The caller may wait again or request stop.</a:t>
            </a:r>
          </a:p>
          <a:p>
            <a:pPr>
              <a:spcAft>
                <a:spcPts val="400"/>
              </a:spcAft>
              <a:defRPr sz="1300">
                <a:solidFill>
                  <a:srgbClr val="B4BAAE"/>
                </a:solidFill>
                <a:latin typeface="Aptos"/>
              </a:defRPr>
            </a:pPr>
            <a:r>
              <a:t>waited_seconds counts scheduled sleeps rather than exact wall-clock time. A full final poll sleep can exceed the nominal budget, plus reconciliation overhead. finishedAt remains an observation timestamp, not the OS exit instant.</a:t>
            </a:r>
          </a:p>
          <a:p>
            <a:pPr>
              <a:spcAft>
                <a:spcPts val="400"/>
              </a:spcAft>
              <a:defRPr sz="1300">
                <a:solidFill>
                  <a:srgbClr val="B4BAAE"/>
                </a:solidFill>
                <a:latin typeface="Aptos"/>
              </a:defRPr>
            </a:pPr>
            <a:r>
              <a:t>agent/test_chat_agent_run_wait.py adds five cases covering stale-row avoidance, process reconciliation, unfinished states, early return and timeout behavior. Source reviewed only in this refresh; the cases were not executed.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Ollama Account-Usage Utility</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ollama_credits.py is a standalone account-usage utility added by commit 36c0139. It does not add a workflow agent, a wrapped tool, a migration or a chat UI. The source uses only Python's standard library.</a:t>
            </a:r>
          </a:p>
          <a:p>
            <a:pPr>
              <a:spcAft>
                <a:spcPts val="400"/>
              </a:spcAft>
              <a:defRPr sz="1300">
                <a:solidFill>
                  <a:srgbClr val="B4BAAE"/>
                </a:solidFill>
                <a:latin typeface="Aptos"/>
              </a:defRPr>
            </a:pPr>
            <a:r>
              <a:t>It reads the operator's local .ollama/id_ed25519 OpenSSH key and constructs timestamped Ed25519 signatures. The key parser accepts an unencrypted ssh-ed25519 key. Keep the key private and review the utility before running it.</a:t>
            </a:r>
          </a:p>
          <a:p>
            <a:pPr>
              <a:spcAft>
                <a:spcPts val="400"/>
              </a:spcAft>
              <a:defRPr sz="1300">
                <a:solidFill>
                  <a:srgbClr val="B4BAAE"/>
                </a:solidFill>
                <a:latin typeface="Aptos"/>
              </a:defRPr>
            </a:pPr>
            <a:r>
              <a:t>The implemented account requests are GET /api/usage and POST /api/me at ollama.com, each with a 20-second timeout. This describes the checked-in implementation; endpoint availability and account responses were not exercised.</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Manual use from the repository root: .\python\python.exe ollama_credits.py. Add --json for the returned account and usage payloads. The console report shows monthly use, model request counts and four-week activity. It pauses for Enter on an interactive terminal.</a:t>
            </a:r>
          </a:p>
          <a:p>
            <a:pPr>
              <a:spcAft>
                <a:spcPts val="400"/>
              </a:spcAft>
              <a:defRPr sz="1200">
                <a:solidFill>
                  <a:srgbClr val="B4BAAE"/>
                </a:solidFill>
                <a:latin typeface="Aptos"/>
              </a:defRPr>
            </a:pPr>
            <a:r>
              <a:t>The card hardcodes a $300 monthly denominator and infers reset day 3 by default. These assumptions may not match the account. --reset-day 0 hides the caption, and --json avoids the derived dollar card. Colored model segments reflect request shares, not measured per-model cost shares.</a:t>
            </a:r>
          </a:p>
          <a:p>
            <a:pPr>
              <a:spcAft>
                <a:spcPts val="400"/>
              </a:spcAft>
              <a:defRPr sz="1200">
                <a:solidFill>
                  <a:srgbClr val="B4BAAE"/>
                </a:solidFill>
                <a:latin typeface="Aptos"/>
              </a:defRPr>
            </a:pPr>
            <a:r>
              <a:t>This documentation refresh did not execute the utility or read account keys. Account email and usage can appear in its output. Redact reports before sharing. The script queries usage; it does not buy, grant or reset credits.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SOURCE AND VERIFICATION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Gitter Windows Paths</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Commit 590cb8b repairs Gitter custom_command tokenization on Windows. POSIX shlex treated backslashes as escapes and turned C:\Dev\msg.txt into C:Devmsg.txt.</a:t>
            </a:r>
          </a:p>
          <a:p>
            <a:pPr>
              <a:spcAft>
                <a:spcPts val="400"/>
              </a:spcAft>
              <a:defRPr sz="1300">
                <a:solidFill>
                  <a:srgbClr val="B4BAAE"/>
                </a:solidFill>
                <a:latin typeface="Aptos"/>
              </a:defRPr>
            </a:pPr>
            <a:r>
              <a:t>Windows now uses shlex.split(..., posix=False) plus one matching outer-quote removal. Backslashes survive and quoted multi-word arguments remain single tokens. POSIX hosts retain posix=True. Malformed quotes retain the existing split fallback.</a:t>
            </a:r>
          </a:p>
          <a:p>
            <a:pPr>
              <a:spcAft>
                <a:spcPts val="400"/>
              </a:spcAft>
              <a:defRPr sz="1300">
                <a:solidFill>
                  <a:srgbClr val="B4BAAE"/>
                </a:solidFill>
                <a:latin typeface="Aptos"/>
              </a:defRPr>
            </a:pPr>
            <a:r>
              <a:t>agent/test_gitter_custom_command.py adds 23 tests. The tests AST-load only the two helpers so they do not start a pool agent or write PID/log state. They cover Windows paths, quoted arguments, malformed input, POSIX behavior and source contracts.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Operation and scope</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Source: agent/agents/gitter/gitter.py. Maintainer record: docs/claude/recent-fixes.md, 2026-09-11 entry. The public handbooks describe Gitter generally but do not yet explain this tokenizer repair. It is committed in the current release ancestry.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OLDER WAVES STILL CARRIED BY THE CURRENT DOSSIER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Release Continuity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Carried product story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The binary-content guard, PDFer, LaTeXer repair ladder, FlowCreator, prompt grammar, recon free-run, STM32er PlatformIO/camera demos, and External-MCP structured-result delivery remain carried behavior rather than disappearing behind the latest changes.</a:t>
            </a:r>
          </a:p>
          <a:p>
            <a:pPr>
              <a:spcAft>
                <a:spcPts val="400"/>
              </a:spcAft>
              <a:defRPr sz="900">
                <a:solidFill>
                  <a:srgbClr val="B4BAAE"/>
                </a:solidFill>
                <a:latin typeface="Aptos"/>
              </a:defRPr>
            </a:pPr>
            <a:r>
              <a:t>The private External-MCP runtime, inactive Memory/Sequential-Thinking defaults, tombstones, persistent Memory state, secret-separated catalogs, nested-diagram restoration, Mover/Deleter placement guard, and updater preservation remain carried from the v1.48.14-v1.48.17 lineage.</a:t>
            </a:r>
          </a:p>
          <a:p>
            <a:pPr>
              <a:spcAft>
                <a:spcPts val="400"/>
              </a:spcAft>
              <a:defRPr sz="900">
                <a:solidFill>
                  <a:srgbClr val="B4BAAE"/>
                </a:solidFill>
                <a:latin typeface="Aptos"/>
              </a:defRPr>
            </a:pPr>
            <a:r>
              <a:t>The categorized prompt catalog, per-user Hard Cancel epochs, path-native screenshot paste/drop, configurable port, FlowPills discovery, Unreal scaffold, self-healing, robotic loop, firmware/media agents, External MCPs, ACPX skills, and deterministic file tools remain part of the complete product rather than being reduced to a latest-changes summary.</a:t>
            </a:r>
          </a:p>
          <a:p>
            <a:pPr>
              <a:spcAft>
                <a:spcPts val="400"/>
              </a:spcAft>
              <a:defRPr sz="900">
                <a:solidFill>
                  <a:srgbClr val="B4BAAE"/>
                </a:solidFill>
                <a:latin typeface="Aptos"/>
              </a:defRPr>
            </a:pPr>
            <a:r>
              <a:t>README.md and BookOfTlamatini.md retain the complete MIT-licensed installation, Ollama setup, architecture, everyday-use, agent, and responsibility narrative. The plain-Python agent disclaimer is explicit: transparency enables user control but is not a security warranty, and authorization, review, permissions, and consequences remain the operator's responsibility.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Documentation contract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reachable release tag v1.51.7 resolves to 96fdbde. Current source HEAD is 36c0139, 5 commits beyond that tag. Fetched origin/main resolves to 36c0139. Runtime version resolution remains Git/build-derived. A source revision beyond the tag is not a new tagged release.</a:t>
            </a:r>
          </a:p>
          <a:p>
            <a:pPr>
              <a:spcAft>
                <a:spcPts val="400"/>
              </a:spcAft>
              <a:defRPr sz="1000">
                <a:solidFill>
                  <a:srgbClr val="B4BAAE"/>
                </a:solidFill>
                <a:latin typeface="Aptos"/>
              </a:defRPr>
            </a:pPr>
            <a:r>
              <a:t>The inventory is rebuilt from Git-tracked plus Git-unignored files without reproducing credentials, endpoints, private values, or machine-specific configuration. This generation pass does not stage, commit, or push anything.</a:t>
            </a:r>
          </a:p>
          <a:p>
            <a:pPr>
              <a:spcAft>
                <a:spcPts val="400"/>
              </a:spcAft>
              <a:defRPr sz="1000">
                <a:solidFill>
                  <a:srgbClr val="B4BAAE"/>
                </a:solidFill>
                <a:latin typeface="Aptos"/>
              </a:defRPr>
            </a:pPr>
            <a:r>
              <a:t>The regenerated PDF/PPTX preserve the whole system, architecture, installation/use guidance, recent Git history, complete file tree, effective-line inventory, and validation evidence; target behavior and tagged historical predecessors are described separately.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V1.41.4 - SUCCESSFUL SERVER DATA REACHES THE MODEL</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External MCP Structured Results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Failure mechanism</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Modern MCP servers may return a short human-readable pointer in `content` while placing the actual result in `structuredContent`; the old parser discarded that machine-readable payload.</a:t>
            </a:r>
          </a:p>
          <a:p>
            <a:pPr>
              <a:spcAft>
                <a:spcPts val="400"/>
              </a:spcAft>
              <a:defRPr sz="1100">
                <a:solidFill>
                  <a:srgbClr val="B4BAAE"/>
                </a:solidFill>
                <a:latin typeface="Aptos"/>
              </a:defRPr>
            </a:pPr>
            <a:r>
              <a:t>Without the actual data, the model could repeat the same valid tool call until Tlamatini's repetition breaker force-stopped the run, making a successful external server appear to auto-cancel.</a:t>
            </a:r>
          </a:p>
          <a:p>
            <a:pPr>
              <a:spcAft>
                <a:spcPts val="400"/>
              </a:spcAft>
              <a:defRPr sz="1100">
                <a:solidFill>
                  <a:srgbClr val="B4BAAE"/>
                </a:solidFill>
                <a:latin typeface="Aptos"/>
              </a:defRPr>
            </a:pPr>
            <a:r>
              <a:t>`_format_mcp_tool_result` is now the single formatter used by both `_StdioMcpClient.call_tool` and `_NetworkMcpClientBase.call_tool`, so transport choice no longer changes result fidelity.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Unified transport path</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Text blocks and non-text content are retained, while a sole `{"result": ...}` structured envelope is unwrapped before JSON serialization.</a:t>
            </a:r>
          </a:p>
          <a:p>
            <a:pPr>
              <a:spcAft>
                <a:spcPts val="400"/>
              </a:spcAft>
              <a:defRPr sz="1100">
                <a:solidFill>
                  <a:srgbClr val="B4BAAE"/>
                </a:solidFill>
                <a:latin typeface="Aptos"/>
              </a:defRPr>
            </a:pPr>
            <a:r>
              <a:t>`isError` still returns an explicit error and can now include structured-only error details; non-dict results are stringified safely.</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CONTEXT PROTECTION, ERRORS, AND REGRESSION PROOF</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Structured Output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Payload safety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Structured payloads are capped at 24,000 characters by default with an explicit truncation marker, protecting the model context from unexpectedly huge tool responses.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Coverage and release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Seven tests cover pointer-plus-data, unchanged plain text, envelope unwrapping, text and structured-only errors, payload capping, and non-dict input.</a:t>
            </a:r>
          </a:p>
          <a:p>
            <a:pPr>
              <a:spcAft>
                <a:spcPts val="400"/>
              </a:spcAft>
              <a:defRPr sz="1100">
                <a:solidFill>
                  <a:srgbClr val="B4BAAE"/>
                </a:solidFill>
                <a:latin typeface="Aptos"/>
              </a:defRPr>
            </a:pPr>
            <a:r>
              <a:t>The fix is released as `v1.41.4` at `cec16594` and is present on `origin/main`.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PUBLISHED IN TAGGED V1.42.0</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STM32er PlatformIO Release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Routing and coverage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Release status: STM32er PlatformIO Phase 1 was published in tagged `v1.42.0` at `c58b01ad`.</a:t>
            </a:r>
          </a:p>
          <a:p>
            <a:pPr>
              <a:spcAft>
                <a:spcPts val="400"/>
              </a:spcAft>
              <a:defRPr sz="1000">
                <a:solidFill>
                  <a:srgbClr val="B4BAAE"/>
                </a:solidFill>
                <a:latin typeface="Aptos"/>
              </a:defRPr>
            </a:pPr>
            <a:r>
              <a:t>`stm32_backend=auto` keeps the legacy Template-MCP path for blank/STM32F4 requests, but a board, a non-F4 device, or a PlatformIO-only action routes to the new direct PlatformIO backend.</a:t>
            </a:r>
          </a:p>
          <a:p>
            <a:pPr>
              <a:spcAft>
                <a:spcPts val="400"/>
              </a:spcAft>
              <a:defRPr sz="1000">
                <a:solidFill>
                  <a:srgbClr val="B4BAAE"/>
                </a:solidFill>
                <a:latin typeface="Aptos"/>
              </a:defRPr>
            </a:pPr>
            <a:r>
              <a:t>Friendly board aliases and device-to-board mappings include the STM32F103 Blue Pill, while raw PlatformIO board ids remain accepted for broader `ststm32` coverage.</a:t>
            </a:r>
          </a:p>
          <a:p>
            <a:pPr>
              <a:spcAft>
                <a:spcPts val="400"/>
              </a:spcAft>
              <a:defRPr sz="1000">
                <a:solidFill>
                  <a:srgbClr val="B4BAAE"/>
                </a:solidFill>
                <a:latin typeface="Aptos"/>
              </a:defRPr>
            </a:pPr>
            <a:r>
              <a:t>The backend mirrors ESP32er's zero-config bootstrap and shared per-user PlatformIO core, then supports environment, board, project, source, package, build, upload, monitor, QA, and artifact actions.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Preflight and safe composite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 preflight resolves the board/family, validates `platformio.ini`, probes PlatformIO and ST-LINK readiness, and requires hardware only for upload/monitor operations; compile-only actions remain boardless-safe.</a:t>
            </a:r>
          </a:p>
          <a:p>
            <a:pPr>
              <a:spcAft>
                <a:spcPts val="400"/>
              </a:spcAft>
              <a:defRPr sz="1000">
                <a:solidFill>
                  <a:srgbClr val="B4BAAE"/>
                </a:solidFill>
                <a:latin typeface="Aptos"/>
              </a:defRPr>
            </a:pPr>
            <a:r>
              <a:t>`scaffold_build_flash` creates or reuses a project, writes source, builds, and flashes only when ST-LINK is confidently detected; otherwise a successful build is reported with a clear connect-and-flash next step.</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WHAT STM32ER PHASE 1 IMPLEMENTS AND WHAT REMAINS PLANNED</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PlatformIO Coverage Boundary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Deliberate refusal</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broad family parser recognizes the full ST line, but PlatformIO-incompatible newest families C0/H5/U0/WBA/N6 are deliberately refused instead of risking an incorrect linker or target.</a:t>
            </a:r>
          </a:p>
          <a:p>
            <a:pPr>
              <a:spcAft>
                <a:spcPts val="400"/>
              </a:spcAft>
              <a:defRPr sz="1100">
                <a:solidFill>
                  <a:srgbClr val="B4BAAE"/>
                </a:solidFill>
                <a:latin typeface="Aptos"/>
              </a:defRPr>
            </a:pPr>
            <a:r>
              <a:t>The planned CubeCLT/CubeMX backend remains proposal-only for those newest devices, especially STM32N6 signing and external-flash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New assets and tests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New assets include the all-families proposal and migrations `0177`-`0179`: one-call Blue Pill build/conditional flash, two stepwise camera-verified board walkthroughs, then a deliberate category-grouped no-gap catalog renumber.</a:t>
            </a:r>
          </a:p>
          <a:p>
            <a:pPr>
              <a:spcAft>
                <a:spcPts val="400"/>
              </a:spcAft>
              <a:defRPr sz="1000">
                <a:solidFill>
                  <a:srgbClr val="B4BAAE"/>
                </a:solidFill>
                <a:latin typeface="Aptos"/>
              </a:defRPr>
            </a:pPr>
            <a:r>
              <a:t>Registry, contracts, wrapped-tool defaults, config, agent code, descriptions, and tests move together; focused coverage pins family/routing safety plus catalog contiguity, prompt-name identity, category ordering, and demo presence.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BLUE PILL AND F407 DISCOVERY FROM DRIVER TO CAMERA EVIDENCE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STM32 Stepwise Proof Demos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Migration `0178_add_stm32_stepwise_blink_camera_prompts.py` adds two `firmware_iot` walkthroughs: STM32F103 Blue Pill over an external ST-LINK V2 and STM32F407G-DISC1 over its embedded ST-LINK/V2.</a:t>
            </a:r>
          </a:p>
          <a:p>
            <a:pPr>
              <a:spcAft>
                <a:spcPts val="400"/>
              </a:spcAft>
              <a:defRPr sz="1000">
                <a:solidFill>
                  <a:srgbClr val="B4BAAE"/>
                </a:solidFill>
                <a:latin typeface="Aptos"/>
              </a:defRPr>
            </a:pPr>
            <a:r>
              <a:t>Both prompts require Multi-Turn, Exec Report, and Step-by-Step mode, execute exactly one stage per turn, wait for the operator's `READY`, and verify each prerequisite before moving forward.</a:t>
            </a:r>
          </a:p>
          <a:p>
            <a:pPr>
              <a:spcAft>
                <a:spcPts val="400"/>
              </a:spcAft>
              <a:defRPr sz="1000">
                <a:solidFill>
                  <a:srgbClr val="B4BAAE"/>
                </a:solidFill>
                <a:latin typeface="Aptos"/>
              </a:defRPr>
            </a:pPr>
            <a:r>
              <a:t>The six-stage Blue Pill path covers driver/CLI readiness, four-wire SWD wiring and probe detection, PlatformIO bootstrap, project/source/build, ST-LINK flash, and camera proof of the PC13 LED.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Hardware and evidence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five-stage Discovery path uses the board's ST-LINK USB port, then bootstrap, project/source/build, embedded-probe flash, and camera proof of the green PD12 LED.</a:t>
            </a:r>
          </a:p>
          <a:p>
            <a:pPr>
              <a:spcAft>
                <a:spcPts val="400"/>
              </a:spcAft>
              <a:defRPr sz="1000">
                <a:solidFill>
                  <a:srgbClr val="B4BAAE"/>
                </a:solidFill>
                <a:latin typeface="Aptos"/>
              </a:defRPr>
            </a:pPr>
            <a:r>
              <a:t>Final evidence comes from `chat_agent_camcorder`; the prompt may pass the clip to Video-Analyzer or Image-Interpreter and must return a clear PASS or FAIL with the saved file path.</a:t>
            </a:r>
          </a:p>
          <a:p>
            <a:pPr>
              <a:spcAft>
                <a:spcPts val="400"/>
              </a:spcAft>
              <a:defRPr sz="1000">
                <a:solidFill>
                  <a:srgbClr val="B4BAAE"/>
                </a:solidFill>
                <a:latin typeface="Aptos"/>
              </a:defRPr>
            </a:pPr>
            <a:r>
              <a:t>These are seeded demonstrations and operator procedures, not a claim that hardware verification occurred during dossier generation.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V1.42.0 - DELIBERATE ONE-TIME PRIMARY-KEY MIGRATION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Prompt Catalog No-Gap Renumber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Migration mechanics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Released migration `0179_regroup_resort_prompts_no_gaps.py` is a one-time deliberate override of the earlier no-renumber convention; it runs after the two new STM32 walkthroughs are appended.</a:t>
            </a:r>
          </a:p>
          <a:p>
            <a:pPr>
              <a:spcAft>
                <a:spcPts val="400"/>
              </a:spcAft>
              <a:defRPr sz="1000">
                <a:solidFill>
                  <a:srgbClr val="B4BAAE"/>
                </a:solidFill>
                <a:latin typeface="Aptos"/>
              </a:defRPr>
            </a:pPr>
            <a:r>
              <a:t>Every Prompt is sorted by the same category-display rank used by the UI and then by its prior id, so each category becomes one contiguous block from beginner workflows through specialized surfaces and the `other` fallback.</a:t>
            </a:r>
          </a:p>
          <a:p>
            <a:pPr>
              <a:spcAft>
                <a:spcPts val="400"/>
              </a:spcAft>
              <a:defRPr sz="1000">
                <a:solidFill>
                  <a:srgbClr val="B4BAAE"/>
                </a:solidFill>
                <a:latin typeface="Aptos"/>
              </a:defRPr>
            </a:pPr>
            <a:r>
              <a:t>Because `idPrompt` is the primary key, the migration first parks rows above 1,000,000 and then assigns final ids 1..N, avoiding collisions while rewriting `promptName` to `prompt-&lt;id&gt;`.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Boundaries and proof</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migration is intentionally one-way: reverse is a no-op because original ids are not stored; the source documents that no runtime foreign key references fixed prompt numbers.</a:t>
            </a:r>
          </a:p>
          <a:p>
            <a:pPr>
              <a:spcAft>
                <a:spcPts val="400"/>
              </a:spcAft>
              <a:defRPr sz="1000">
                <a:solidFill>
                  <a:srgbClr val="B4BAAE"/>
                </a:solidFill>
                <a:latin typeface="Aptos"/>
              </a:defRPr>
            </a:pPr>
            <a:r>
              <a:t>Future additions still append at max(idPrompt)+1, preserving contiguity until another deletion; the frontend's gap-tolerant fallback remains a defensive compatibility path.</a:t>
            </a:r>
          </a:p>
          <a:p>
            <a:pPr>
              <a:spcAft>
                <a:spcPts val="400"/>
              </a:spcAft>
              <a:defRPr sz="1000">
                <a:solidFill>
                  <a:srgbClr val="B4BAAE"/>
                </a:solidFill>
                <a:latin typeface="Aptos"/>
              </a:defRPr>
            </a:pPr>
            <a:r>
              <a:t>`test_prompt_catalog_contiguous.py` adds four database tests for no gaps, promptName/id agreement, nondecreasing category rank, and presence of both STM32 board demos plus Camcorder evidence.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V1.41.3 - 13 CATEGORIES AND DUPLICATE REMOVAL</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Prompt Catalog Reorganized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Migration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Migration `0175_prompt_category_and_dedup.py` classifies the 106 historical prompt rows into 13 named operator categories, from Getting Started and Files/Search through ACPX, firmware, security, messaging, media, and a fail-safe More bucket.</a:t>
            </a:r>
          </a:p>
          <a:p>
            <a:pPr>
              <a:spcAft>
                <a:spcPts val="400"/>
              </a:spcAft>
              <a:defRPr sz="1000">
                <a:solidFill>
                  <a:srgbClr val="B4BAAE"/>
                </a:solidFill>
                <a:latin typeface="Aptos"/>
              </a:defRPr>
            </a:pPr>
            <a:r>
              <a:t>Migration `0176_delete_duplicate_acpx_prompts.py` physically deletes ids 40-52: 13 banner/Gemini variants that duplicate the seven portable ACPX demos retained at ids 33-39; surviving ids are never renumbered.</a:t>
            </a:r>
          </a:p>
          <a:p>
            <a:pPr>
              <a:spcAft>
                <a:spcPts val="400"/>
              </a:spcAft>
              <a:defRPr sz="1000">
                <a:solidFill>
                  <a:srgbClr val="B4BAAE"/>
                </a:solidFill>
                <a:latin typeface="Aptos"/>
              </a:defRPr>
            </a:pPr>
            <a:r>
              <a:t>Gaps are now valid. `/agent/list_prompts/` returns all visible rows regardless of id continuity, and the offline `prompt-N` fallback skips a missing id instead of terminating the catalog at the first gap.</a:t>
            </a:r>
          </a:p>
          <a:p>
            <a:pPr>
              <a:spcAft>
                <a:spcPts val="400"/>
              </a:spcAft>
              <a:defRPr sz="1000">
                <a:solidFill>
                  <a:srgbClr val="B4BAAE"/>
                </a:solidFill>
                <a:latin typeface="Aptos"/>
              </a:defRPr>
            </a:pPr>
            <a:r>
              <a:t>`Prompt.category` and `Prompt.hidden` remain schema-level controls, while `PROMPT_CATEGORY_ORDER` gives every known category a stable display rank and routes unknown or future values into `other` rather than dropping them.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Stable identity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modal renders explicit category headers and counts, then restores that grouped basic-to-advanced order whenever the search query clears.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GROUPED AT REST, RANKED AND FLATTENED WHILE SEARCHING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Prompt Catalog Search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Search behavior</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Live search accepts a prompt number, title words, mode labels, acronym, contiguous text, or fuzzy subsequence; it requires every query token, ranks best-first, highlights matched characters, and exposes Enter-to-open plus Escape/clear behavior.</a:t>
            </a:r>
          </a:p>
          <a:p>
            <a:pPr>
              <a:spcAft>
                <a:spcPts val="400"/>
              </a:spcAft>
              <a:defRPr sz="1100">
                <a:solidFill>
                  <a:srgbClr val="B4BAAE"/>
                </a:solidFill>
                <a:latin typeface="Aptos"/>
              </a:defRPr>
            </a:pPr>
            <a:r>
              <a:t>Prompt cards retain their One-Shot, Multi-Turn, ACPX, Exec Report, and Step-by-Step mode badges and continue to set the matching toolbar toggles when selected.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Viewport contract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catalog stays viewport-pinned and bounded in CSS so its header and search bar remain reachable independently of the chat input height, with no JavaScript geometry coupling reintroduced.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V1.41.2 - CANCELLED RUNS STAY CANCELLED</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Hard Cancel Run Latch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Per-user epoch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`agent/cancellation.py` mints a monotonically increasing run epoch per user and permanently latches the highest cancelled epoch; clearing the legacy setup boolean can no longer resurrect that run.</a:t>
            </a:r>
          </a:p>
          <a:p>
            <a:pPr>
              <a:spcAft>
                <a:spcPts val="400"/>
              </a:spcAft>
              <a:defRPr sz="1000">
                <a:solidFill>
                  <a:srgbClr val="B4BAAE"/>
                </a:solidFill>
                <a:latin typeface="Aptos"/>
              </a:defRPr>
            </a:pPr>
            <a:r>
              <a:t>Cancellation is isolated per user, so a browser tab cannot kill another user's TeleTlamatini or concurrent browser run; a missing epoch is deliberately fail-open so a dropped payload field cannot poison all future requests.</a:t>
            </a:r>
          </a:p>
          <a:p>
            <a:pPr>
              <a:spcAft>
                <a:spcPts val="400"/>
              </a:spcAft>
              <a:defRPr sz="1000">
                <a:solidFill>
                  <a:srgbClr val="B4BAAE"/>
                </a:solidFill>
                <a:latin typeface="Aptos"/>
              </a:defRPr>
            </a:pPr>
            <a:r>
              <a:t>`ask_rag`, both unified-chain payload rebuilds, and `CapabilityAwareToolAgentExecutor` carry and check `run_epoch`, closing the prior gap where model retries or tool loops could continue after Cancel.</a:t>
            </a:r>
          </a:p>
          <a:p>
            <a:pPr>
              <a:spcAft>
                <a:spcPts val="400"/>
              </a:spcAft>
              <a:defRPr sz="1000">
                <a:solidFill>
                  <a:srgbClr val="B4BAAE"/>
                </a:solidFill>
                <a:latin typeface="Aptos"/>
              </a:defRPr>
            </a:pPr>
            <a:r>
              <a:t>The executor returns a structured cancelled result instead of raising, preserving already-completed tool evidence, Exec Report data, and Create Flow inputs without triggering a fabricated transient-error fallback.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Self-healing consults the same latch before retries, after watchdog waits, and before tactic announcements, so no new recovery tactic can be emitted once the operator cancels.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APPROVAL, RECOVERY, FRONTEND, AND REGRESSION COVERAGE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Hard Cancel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No resurrection</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Ask Execs polls the run latch and resolves a blocked Proceed/Deny request as deny; consumer teardown revokes the exact status emitter so a dying run cannot re-arm the UI.</a:t>
            </a:r>
          </a:p>
          <a:p>
            <a:pPr>
              <a:spcAft>
                <a:spcPts val="400"/>
              </a:spcAft>
              <a:defRPr sz="1100">
                <a:solidFill>
                  <a:srgbClr val="B4BAAE"/>
                </a:solidFill>
                <a:latin typeface="Aptos"/>
              </a:defRPr>
            </a:pPr>
            <a:r>
              <a:t>Frontend `userCancelledRun` is mutable per-session state: late tactic frames become strict no-ops until the next submit/reconnect, preventing the Send button from flipping back to Cancel.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Coverage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Coverage includes 24 cancellation contract tests, focused Ask-Execs/self-healing tests, and visible browser regression harnesses for long tool chains, model steps, repeated cancels, next-request recovery, and approval-modal cancellation.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V1.41.0 - PASTE OR DROP AN IMAGE PATH INTO THE PROMPT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Screenshot To Chat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Ingestion path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chat accepts clipboard bitmaps through document-level Ctrl+V handling and image files dropped only onto the main chat column, avoiding conflict with the External-MCP dialog's document-level JSON drop surface.</a:t>
            </a:r>
          </a:p>
          <a:p>
            <a:pPr>
              <a:spcAft>
                <a:spcPts val="400"/>
              </a:spcAft>
              <a:defRPr sz="1000">
                <a:solidFill>
                  <a:srgbClr val="B4BAAE"/>
                </a:solidFill>
                <a:latin typeface="Aptos"/>
              </a:defRPr>
            </a:pPr>
            <a:r>
              <a:t>`POST /agent/paste_image/` validates the request, enforces a 25 MB ceiling, uses Pillow to flatten transparency onto white, re-encodes to JPEG, and writes a collision-safe `image_&lt;timestamp&gt;.jpg` under Tlamatini's guarded Temp directory.</a:t>
            </a:r>
          </a:p>
          <a:p>
            <a:pPr>
              <a:spcAft>
                <a:spcPts val="400"/>
              </a:spcAft>
              <a:defRPr sz="1000">
                <a:solidFill>
                  <a:srgbClr val="B4BAAE"/>
                </a:solidFill>
                <a:latin typeface="Aptos"/>
              </a:defRPr>
            </a:pPr>
            <a:r>
              <a:t>The browser inserts the saved absolute path at the remembered caret, including after focus moves to the page body during Alt+Tab, then renders one removable thumbnail chip per image.</a:t>
            </a:r>
          </a:p>
          <a:p>
            <a:pPr>
              <a:spcAft>
                <a:spcPts val="400"/>
              </a:spcAft>
              <a:defRPr sz="1000">
                <a:solidFill>
                  <a:srgbClr val="B4BAAE"/>
                </a:solidFill>
                <a:latin typeface="Aptos"/>
              </a:defRPr>
            </a:pPr>
            <a:r>
              <a:t>Removing a chip removes both its thumbnail and its exact path from the message, so an accidental paste can be reversed before submission.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Reversible input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path is the integration contract: Image-Interpreter reads local files, and `prompt.pmt` teaches Tlamatini to treat a fresh Temp image path as the user's supplied screenshot instead of asking for another attachment.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VISION HANDOFF, LAYOUT SAFETY, AND IMPLEMENTATION ASSETS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Image Ingestion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Vision and layout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`computeFormMinHeight()` measures the chips row and a ResizeObserver watches it, preventing the new row from pushing the textarea or Send button beyond the viewport.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Concrete assets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Implementation assets include `chat_image_paste.js`, the paste view/URL, template chip/drop-overlay nodes, `.chat-img-*` CSS, layout integration, self-knowledge/prompt guidance, and Temp-policy regression coverage.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V1.40.1 — ESCAPE RESERVED PORT 8000 WITHOUT REBUILDING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Configurable Web 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Why and where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`django_port` moves the web UI and chat WebSocket bind away from a hardcoded 8000: edit the integer in `config.json`, restart Tlamatini, and no rebuild or source edit is required.</a:t>
            </a:r>
          </a:p>
          <a:p>
            <a:pPr>
              <a:spcAft>
                <a:spcPts val="400"/>
              </a:spcAft>
              <a:defRPr sz="1000">
                <a:solidFill>
                  <a:srgbClr val="B4BAAE"/>
                </a:solidFill>
                <a:latin typeface="Aptos"/>
              </a:defRPr>
            </a:pPr>
            <a:r>
              <a:t>The motivating failure is Windows `WinError 10013`: Hyper-V, WSL, or Docker can reserve port 8000 inside a dynamic exclusion range, making a frozen build unable to bind until the port is changed.</a:t>
            </a:r>
          </a:p>
          <a:p>
            <a:pPr>
              <a:spcAft>
                <a:spcPts val="400"/>
              </a:spcAft>
              <a:defRPr sz="1000">
                <a:solidFill>
                  <a:srgbClr val="B4BAAE"/>
                </a:solidFill>
                <a:latin typeface="Aptos"/>
              </a:defRPr>
            </a:pPr>
            <a:r>
              <a:t>Three stdlib-only helpers run before Django imports: `_resolve_config_path()` chooses `CONFIG_PATH`, the frozen executable's neighbor, or source `agent/config.json`; `_resolve_django_port()` validates `1..65535`; `_apply_configured_port()` injects the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Every manage.py launch path</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completion pass calls `_apply_configured_port(sys.argv)` once from `main()`, outside the frozen branch, so frozen double-click, `.flw` association, browser auto-open, source `runserver`, and `startserver` all agree.</a:t>
            </a:r>
          </a:p>
          <a:p>
            <a:pPr>
              <a:spcAft>
                <a:spcPts val="400"/>
              </a:spcAft>
              <a:defRPr sz="1100">
                <a:solidFill>
                  <a:srgbClr val="B4BAAE"/>
                </a:solidFill>
                <a:latin typeface="Aptos"/>
              </a:defRPr>
            </a:pPr>
            <a:r>
              <a:t>Resolution is fail-open to 8000 for missing, unreadable, malformed, non-numeric, or out-of-range values, while an explicit CLI port such as `runserver 9100` always wins and is never double-appended.</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FAIL-OPEN RESOLUTION, CLI PRECEDENCE, AND FOCUSED COVERAGE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Web Port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Deliberate boundaries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injected source-mode value is a bare port so Django keeps its loopback host; direct Daphne/Uvicorn bypasses `manage.py`, MCP listeners `8765`/`50051` use their own settings, and TeleTlamatini keeps its own base URL.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Regression contract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24-test `agent/test_django_port_config.py` suite AST-lifts the pre-Django helpers and pins path resolution, validation, fail-open behavior, CLI precedence, frozen/source wiring, and `startserver` forwarding without importing side-effectful `manage.py`.</a:t>
            </a:r>
          </a:p>
          <a:p>
            <a:pPr>
              <a:spcAft>
                <a:spcPts val="400"/>
              </a:spcAft>
              <a:defRPr sz="1200">
                <a:solidFill>
                  <a:srgbClr val="B4BAAE"/>
                </a:solidFill>
                <a:latin typeface="Aptos"/>
              </a:defRPr>
            </a:pPr>
            <a:r>
              <a:t>`freeingport8000.ps1` is a separate elevated Windows repair helper that resets dynamic TCP/UDP ranges, restarts WinNAT, reports excluded ranges, and performs a loopback bind test; changing `django_port` remains the safer normal remedy, and generated docs never reproduce the script's machine-specific log path.</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V1.40.0 — FIND AGENT TEMPLATES WITHOUT PYTHON OR DRIVE SCANS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FlowPills Companion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Lookup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Tlamatini-FlowPills reads `HKCU\Software\XAIHT\Tlamatini` first, especially the exact `AgentsRoot`, before falling back to Installed Apps, `.flw` association data, executable-relative roots, or source/preserved probes.</a:t>
            </a:r>
          </a:p>
          <a:p>
            <a:pPr>
              <a:spcAft>
                <a:spcPts val="400"/>
              </a:spcAft>
              <a:defRPr sz="1000">
                <a:solidFill>
                  <a:srgbClr val="B4BAAE"/>
                </a:solidFill>
                <a:latin typeface="Aptos"/>
              </a:defRPr>
            </a:pPr>
            <a:r>
              <a:t>The registry contract always rewrites six REG_SZ values — `InstallLocation`, `AgentsRoot`, `SourceAgentsRoot`, `AgentManifestPath`, `Version`, and `AgentCatalogVersion` — using an empty value when something is unknown so stale metadata cannot survive across source and frozen runs.</a:t>
            </a:r>
          </a:p>
          <a:p>
            <a:pPr>
              <a:spcAft>
                <a:spcPts val="400"/>
              </a:spcAft>
              <a:defRPr sz="1000">
                <a:solidFill>
                  <a:srgbClr val="B4BAAE"/>
                </a:solidFill>
                <a:latin typeface="Aptos"/>
              </a:defRPr>
            </a:pPr>
            <a:r>
              <a:t>`agent_manifest.py` discovers only complete templates, excludes `pools` and `__pycache__`, hashes script/config contents, computes a name-set catalog id, and writes atomically only when meaningful data changed.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Publication and preservation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Launch publication runs first in `AgentConfig.ready()` on a daemon thread with its own idempotency gate, so optional MCP, model, ACPX, or skill import failures cannot suppress companion discovery.</a:t>
            </a:r>
          </a:p>
          <a:p>
            <a:pPr>
              <a:spcAft>
                <a:spcPts val="400"/>
              </a:spcAft>
              <a:defRPr sz="1000">
                <a:solidFill>
                  <a:srgbClr val="B4BAAE"/>
                </a:solidFill>
                <a:latin typeface="Aptos"/>
              </a:defRPr>
            </a:pPr>
            <a:r>
              <a:t>An agents-preserving uninstall restamps the manifest as `preserved`, writes `.tlamatini-preserved-agents.json` with the manifest SHA-256, and keeps the discovery key pointing to the preserved catalog.</a:t>
            </a:r>
          </a:p>
          <a:p>
            <a:pPr>
              <a:spcAft>
                <a:spcPts val="400"/>
              </a:spcAft>
              <a:defRPr sz="1000">
                <a:solidFill>
                  <a:srgbClr val="B4BAAE"/>
                </a:solidFill>
                <a:latin typeface="Aptos"/>
              </a:defRPr>
            </a:pPr>
            <a:r>
              <a:t>The contract is HKCU-only, no-admin, fail-open, and read-only with respect to agent templates; the filesystem remains the final validity authority for companion applications.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V1.39.5 — TWO PROMPT FIELDS TO A READY-TO-BUILD C++ PROJECT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Unreal 5.8 Project Scaffold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Deterministic scaffold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new Unreal scaffold prompt asks for only project name and destination, locates or obtains `XaihtUnrealEngineMCP`, and invokes its deterministic `scaffold_unreal_project.py` helper.</a:t>
            </a:r>
          </a:p>
          <a:p>
            <a:pPr>
              <a:spcAft>
                <a:spcPts val="400"/>
              </a:spcAft>
              <a:defRPr sz="1000">
                <a:solidFill>
                  <a:srgbClr val="B4BAAE"/>
                </a:solidFill>
                <a:latin typeface="Aptos"/>
              </a:defRPr>
            </a:pPr>
            <a:r>
              <a:t>The scaffold copies and renames `MCPGameProject`, sets EngineAssociation 5.8, finds an installed UE 5.8 even when it is not registered, bundles UnrealMCP, and generates the Visual Studio 2026 solution.</a:t>
            </a:r>
          </a:p>
          <a:p>
            <a:pPr>
              <a:spcAft>
                <a:spcPts val="400"/>
              </a:spcAft>
              <a:defRPr sz="1000">
                <a:solidFill>
                  <a:srgbClr val="B4BAAE"/>
                </a:solidFill>
                <a:latin typeface="Aptos"/>
              </a:defRPr>
            </a:pPr>
            <a:r>
              <a:t>UE 5.8 build compatibility is explicit: V7 build settings, `Unreal5_8` include order, a `Directory.Build.targets` mitigation for the Windows environment-length limit, and a pre-fixed Visual Studio Tools plugin.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Build and editor handoff</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prompt instructs operators to build the project target rather than the entire solution, then open the editor; UnrealMCP starts its TCP listener at `127.0.0.1:55557` for Unrealer.</a:t>
            </a:r>
          </a:p>
          <a:p>
            <a:pPr>
              <a:spcAft>
                <a:spcPts val="400"/>
              </a:spcAft>
              <a:defRPr sz="1000">
                <a:solidFill>
                  <a:srgbClr val="B4BAAE"/>
                </a:solidFill>
                <a:latin typeface="Aptos"/>
              </a:defRPr>
            </a:pPr>
            <a:r>
              <a:t>Unrealer normalizes disk-style `/Content` references to `/Game`, maps the friendly material `slot` input to `slot_index`, and forwards one command per TCP connection into the live editor.</a:t>
            </a:r>
          </a:p>
          <a:p>
            <a:pPr>
              <a:spcAft>
                <a:spcPts val="400"/>
              </a:spcAft>
              <a:defRPr sz="1000">
                <a:solidFill>
                  <a:srgbClr val="B4BAAE"/>
                </a:solidFill>
                <a:latin typeface="Aptos"/>
              </a:defRPr>
            </a:pPr>
            <a:r>
              <a:t>Migrations `0173` and `0174`, Unrealer code/config comments, README/Book entries, and the current release metadata carry the scaffold workflow across source, catalog, and operator documentation.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BOUNDED WAITS, ACCURATE PARTIAL RESULTS, AND REQUEST ISOLATION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v1.39.5 Runtime Hardening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Responsiveness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`v1.39.5` smoothness wave focuses on bounded waits, concurrency isolation, accurate partial-result reporting, and lossless final answers rather than a new agent count.</a:t>
            </a:r>
          </a:p>
          <a:p>
            <a:pPr>
              <a:spcAft>
                <a:spcPts val="400"/>
              </a:spcAft>
              <a:defRPr sz="1000">
                <a:solidFill>
                  <a:srgbClr val="B4BAAE"/>
                </a:solidFill>
                <a:latin typeface="Aptos"/>
              </a:defRPr>
            </a:pPr>
            <a:r>
              <a:t>Image-Interpreter now bounds Ollama connect/read gaps; the System-Metrics WebSocket bounds receive time; External MCP warm-connect/supervisor gates recover if thread start fails; and command/ACPX output decoding is UTF-8-safe.</a:t>
            </a:r>
          </a:p>
          <a:p>
            <a:pPr>
              <a:spcAft>
                <a:spcPts val="400"/>
              </a:spcAft>
              <a:defRPr sz="1000">
                <a:solidFill>
                  <a:srgbClr val="B4BAAE"/>
                </a:solidFill>
                <a:latin typeface="Aptos"/>
              </a:defRPr>
            </a:pPr>
            <a:r>
              <a:t>Nmapper assigns per-host budgets to slow actions, keeps the outer kill budget above them, preserves partial output, uses collision-proof filenames for parallel scans, and labels hard timeouts honestly.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Safety and result integrity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Multi-Turn folds deferred completion deliverables into every exit path, while orphan-survivor state is keyed by conversation user so simultaneous requests cannot consume or clear each other's evidence.</a:t>
            </a:r>
          </a:p>
          <a:p>
            <a:pPr>
              <a:spcAft>
                <a:spcPts val="400"/>
              </a:spcAft>
              <a:defRPr sz="1000">
                <a:solidFill>
                  <a:srgbClr val="B4BAAE"/>
                </a:solidFill>
                <a:latin typeface="Aptos"/>
              </a:defRPr>
            </a:pPr>
            <a:r>
              <a:t>`.flw` export redaction covers ordinary secret paths and URI userinfo, and the command parser distinguishes Windows trailing backslashes from escaped inner quotes at assignment boundaries.</a:t>
            </a:r>
          </a:p>
          <a:p>
            <a:pPr>
              <a:spcAft>
                <a:spcPts val="400"/>
              </a:spcAft>
              <a:defRPr sz="1000">
                <a:solidFill>
                  <a:srgbClr val="B4BAAE"/>
                </a:solidFill>
                <a:latin typeface="Aptos"/>
              </a:defRPr>
            </a:pPr>
            <a:r>
              <a:t>These changes are now committed release behavior; the user's pre-refresh uncommitted configuration values remain private and are not quoted in this dossier.</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USE-ONLY NMAP BRIDGE FOR AUTHORIZED TARGETS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Nmapper Local Recon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Nmapper is the `v1.39.3` local nmap bridge for authorized pentesting and CTF recon: it is a use-only integration, not a bundled scanner.</a:t>
            </a:r>
          </a:p>
          <a:p>
            <a:pPr>
              <a:spcAft>
                <a:spcPts val="400"/>
              </a:spcAft>
              <a:defRPr sz="1000">
                <a:solidFill>
                  <a:srgbClr val="B4BAAE"/>
                </a:solidFill>
                <a:latin typeface="Aptos"/>
              </a:defRPr>
            </a:pPr>
            <a:r>
              <a:t>The agent never ships or redistributes nmap; it resolves a user-installed `nmap` from explicit config, PATH, Program Files, or `%LOCALAPPDATA%`, and its `install` action launches the official free installer path.</a:t>
            </a:r>
          </a:p>
          <a:p>
            <a:pPr>
              <a:spcAft>
                <a:spcPts val="400"/>
              </a:spcAft>
              <a:defRPr sz="1000">
                <a:solidFill>
                  <a:srgbClr val="B4BAAE"/>
                </a:solidFill>
                <a:latin typeface="Aptos"/>
              </a:defRPr>
            </a:pPr>
            <a:r>
              <a:t>The default scan path is an unprivileged TCP connect scan (`-sT`), while raw-packet features such as SYN/OS/UDP are downgraded or refused safely when Npcap or elevated packet capture is unavailable.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Actions and assets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Supported actions include `quick`, `full`, `top_ports`, `version`, `scripts`, `host_discovery`, `udp`, `custom`, `validate`, and `install`, always for targets the operator owns or is explicitly authorized to assess.</a:t>
            </a:r>
          </a:p>
          <a:p>
            <a:pPr>
              <a:spcAft>
                <a:spcPts val="400"/>
              </a:spcAft>
              <a:defRPr sz="1000">
                <a:solidFill>
                  <a:srgbClr val="B4BAAE"/>
                </a:solidFill>
                <a:latin typeface="Aptos"/>
              </a:defRPr>
            </a:pPr>
            <a:r>
              <a:t>Each run emits one atomic `INI_SECTION_NMAPPER` block with action, target, scan technique, ports, return code, success state, hosts-up/open-port summaries, Npcap state, XML path/content, normal output, and stage.</a:t>
            </a:r>
          </a:p>
          <a:p>
            <a:pPr>
              <a:spcAft>
                <a:spcPts val="400"/>
              </a:spcAft>
              <a:defRPr sz="1000">
                <a:solidFill>
                  <a:srgbClr val="B4BAAE"/>
                </a:solidFill>
                <a:latin typeface="Aptos"/>
              </a:defRPr>
            </a:pPr>
            <a:r>
              <a:t>Implementation assets include `agent/agents/nmapper/`, migrations `0170`-`0172`, `test_nmapper_agent.py`, `chat_agent_nmapper`, `update_nmapper_connection`, contracts/Parametrizer fields, ACP connector assets, FlowCreator/FlowHypervisor entries, and handbook/docs updates.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V1.39.4 CLOSEABILITY PLUS CURRENT PROMPT LOCALIZATION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Startup And Prompt Polish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Startup dialog</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`v1.39.4` restored first-run/startup dialog closeability so a fresh launch can no longer be trapped behind an unclosable overlay.</a:t>
            </a:r>
          </a:p>
          <a:p>
            <a:pPr>
              <a:spcAft>
                <a:spcPts val="400"/>
              </a:spcAft>
              <a:defRPr sz="1200">
                <a:solidFill>
                  <a:srgbClr val="B4BAAE"/>
                </a:solidFill>
                <a:latin typeface="Aptos"/>
              </a:defRPr>
            </a:pPr>
            <a:r>
              <a:t>Commit `a45fe0e0` followed the public `v1.39.4` tag with Catalog-of-Prompts localization cleanup; that historical polish remains carried by the `v1.51.5` release line.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Prompt catalog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prompt catalog path stays centralized through the secure one-call `/agent/list_prompts/` endpoint ordered by category rank and stable surviving id, while the gap-tolerant probe loop remains only as an offline fallback.</a:t>
            </a:r>
          </a:p>
          <a:p>
            <a:pPr>
              <a:spcAft>
                <a:spcPts val="400"/>
              </a:spcAft>
              <a:defRPr sz="1200">
                <a:solidFill>
                  <a:srgbClr val="B4BAAE"/>
                </a:solidFill>
                <a:latin typeface="Aptos"/>
              </a:defRPr>
            </a:pPr>
            <a:r>
              <a:t>Frontend mutable-state tests and dialog templates continue to guard the chat/startup/overlay surfaces so future cleanup passes do not reintroduce const-poison or close-button regressions.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V1.38.0 — FROM BLANK PAGE TO OBSERVED HARDWARE BEHAVIOR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Robotic Loop Closed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Closed-loop chain</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`v1.38.0` is the milestone where the Robotic-Loop-Training story became concrete: Tlamatini demonstrated a closed hardware loop by programming a robotic arm from a blank page and two cameras.</a:t>
            </a:r>
          </a:p>
          <a:p>
            <a:pPr>
              <a:spcAft>
                <a:spcPts val="400"/>
              </a:spcAft>
              <a:defRPr sz="1200">
                <a:solidFill>
                  <a:srgbClr val="B4BAAE"/>
                </a:solidFill>
                <a:latin typeface="Aptos"/>
              </a:defRPr>
            </a:pPr>
            <a:r>
              <a:t>The loop is intentionally composable rather than one monolith: STM32er writes/builds/flashes firmware, Camcorder records the physical attempt, Video-Analyzer judges the captured motion, and Forker routes the next branch.</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Verdict safety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Video-Analyzer keeps the loop conservative: a deterministic OpenCV gate rejects no-motion clips before model spending, then two independent Ollama cloud vision interpreters must agree before `PASS_OK` is emitted.</a:t>
            </a:r>
          </a:p>
          <a:p>
            <a:pPr>
              <a:spcAft>
                <a:spcPts val="400"/>
              </a:spcAft>
              <a:defRPr sz="1100">
                <a:solidFill>
                  <a:srgbClr val="B4BAAE"/>
                </a:solidFill>
                <a:latin typeface="Aptos"/>
              </a:defRPr>
            </a:pPr>
            <a:r>
              <a:t>Forker branches on substring-safe `TLM_VERDICT::&lt;TOKEN&gt;` markers, so `FAIL_NO_MOTION`, `FAIL_WRONG_MOTION`, `UNCLEAR`, or `ANALYSIS_ERROR` can never accidentally match the success route.</a:t>
            </a:r>
          </a:p>
          <a:p>
            <a:pPr>
              <a:spcAft>
                <a:spcPts val="400"/>
              </a:spcAft>
              <a:defRPr sz="1100">
                <a:solidFill>
                  <a:srgbClr val="B4BAAE"/>
                </a:solidFill>
                <a:latin typeface="Aptos"/>
              </a:defRPr>
            </a:pPr>
            <a:r>
              <a:t>The PDF and PPTX now describe that loop as a system capability, not merely a release-note flourish, because it explains how Tlamatini can iteratively improve real hardware with observed evidence.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MUTABLE-STATE RECOVERY AND ONE-CALL PROMPT CATALOG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v1.38.1 Frontend Hotfix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Const-poison recovery</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`v1.38.1` was the same-week frontend-state-recovery hotfix: `package.json` was aligned at the tagged commit `08efa1d2`, while the functional fix landed in `af356c31` after the `85ee4e6c` const-poison incident.</a:t>
            </a:r>
          </a:p>
          <a:p>
            <a:pPr>
              <a:spcAft>
                <a:spcPts val="400"/>
              </a:spcAft>
              <a:defRPr sz="1100">
                <a:solidFill>
                  <a:srgbClr val="B4BAAE"/>
                </a:solidFill>
                <a:latin typeface="Aptos"/>
              </a:defRPr>
            </a:pPr>
            <a:r>
              <a:t>The core contract is explicit: cross-file runtime globals in `agent_page_state.js` and `acp-globals.js` that other modules reassign must remain `let`, because per-file ESLint cannot see those cross-file writes.</a:t>
            </a:r>
          </a:p>
          <a:p>
            <a:pPr>
              <a:spcAft>
                <a:spcPts val="400"/>
              </a:spcAft>
              <a:defRPr sz="1100">
                <a:solidFill>
                  <a:srgbClr val="B4BAAE"/>
                </a:solidFill>
                <a:latin typeface="Aptos"/>
              </a:defRPr>
            </a:pPr>
            <a:r>
              <a:t>`agent/test_frontend_mutable_state.py` now guards both source files and collected staticfiles so an automated cleanup cannot silently turn chat state, ACP state, tools, agents, skills, history, or busy flags back into `const`.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Prompt catalog path</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Catalog of Prompts now loads through one secure `GET /agent/list_prompts/` endpoint ordered by `idPrompt`, eliminating expected-404 console spam and preventing an `idPrompt` gap from hiding later prompts.</a:t>
            </a:r>
          </a:p>
          <a:p>
            <a:pPr>
              <a:spcAft>
                <a:spcPts val="400"/>
              </a:spcAft>
              <a:defRPr sz="1200">
                <a:solidFill>
                  <a:srgbClr val="B4BAAE"/>
                </a:solidFill>
                <a:latin typeface="Aptos"/>
              </a:defRPr>
            </a:pPr>
            <a:r>
              <a:t>The legacy prompt probe loop remains as an offline fallback, and the same fix also hardened dialogs: Configure-Mcps probe loops exit cleanly, About-video `play()` promises are guarded, and Esc closes About/Update overlays.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WATCHDOG-BOUNDED MODEL STEPS AND TRUTHFUL RECOVERY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Self-Healing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Recovery loop</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Every Multi-Turn model step now goes through `agent/self_healing.py::SelfHealingInvoker`, so model calls are bounded by `unified_agent_llm_step_timeout_seconds` and retried with distinct tactics instead of hanging silently.</a:t>
            </a:r>
          </a:p>
          <a:p>
            <a:pPr>
              <a:spcAft>
                <a:spcPts val="400"/>
              </a:spcAft>
              <a:defRPr sz="1200">
                <a:solidFill>
                  <a:srgbClr val="B4BAAE"/>
                </a:solidFill>
                <a:latin typeface="Aptos"/>
              </a:defRPr>
            </a:pPr>
            <a:r>
              <a:t>Recovery tactics include plain retry, short back-off, trimming oldest messages with `trim_messages`, and a tool-less summary fallback; the ladder can run up to `unified_agent_llm_step_max_tactics` unless the user presses Cancel.</a:t>
            </a:r>
          </a:p>
          <a:p>
            <a:pPr>
              <a:spcAft>
                <a:spcPts val="400"/>
              </a:spcAft>
              <a:defRPr sz="1200">
                <a:solidFill>
                  <a:srgbClr val="B4BAAE"/>
                </a:solidFill>
                <a:latin typeface="Aptos"/>
              </a:defRPr>
            </a:pPr>
            <a:r>
              <a:t>A status broadcaster registered by `consumers.py` sends live first-person recovery messages to the user's chat while the executor works in a worker thread.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If recovery is exhausted after agents already ran, `mcp_agent.py` builds a degraded but truthful answer from real `ToolMessage` results, preserves Exec Report/Create Flow evidence, and prepends `recovery_preamble(...)` instead of claiming no tools ran.</a:t>
            </a:r>
          </a:p>
          <a:p>
            <a:pPr>
              <a:spcAft>
                <a:spcPts val="400"/>
              </a:spcAft>
              <a:defRPr sz="1200">
                <a:solidFill>
                  <a:srgbClr val="B4BAAE"/>
                </a:solidFill>
                <a:latin typeface="Aptos"/>
              </a:defRPr>
            </a:pPr>
            <a:r>
              <a:t>Coverage includes `agent/test_self_healing.py`, `agent/tests.py`, `Tlamatini/tests_e2e/test_self_healing_visual.py`, and `Tlamatini/tests_e2e/test_create_flow_visual.py` for visible browser validation.</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SUCCESSFUL-ONLY FLOWS WITHOUT ANSWER_SUCCESS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Create Flow Gate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whole-answer SUCCESS/FAILURE classifier `agent/services/answer_analizer.py` was removed on 2026-07-06, so no extra LLM round trip computes `answer_success`.</a:t>
            </a:r>
          </a:p>
          <a:p>
            <a:pPr>
              <a:spcAft>
                <a:spcPts val="400"/>
              </a:spcAft>
              <a:defRPr sz="1300">
                <a:solidFill>
                  <a:srgbClr val="B4BAAE"/>
                </a:solidFill>
                <a:latin typeface="Aptos"/>
              </a:defRPr>
            </a:pPr>
            <a:r>
              <a:t>The browser now shows Create Flow when Multi-Turn ran, at least one successful tool call resolves to a registered canvas agent, and the user is not anonymous.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Successful tool calls are resolved through a punctuation/space/case-insensitive registry key, so display names such as `File Creator`, `File-Creator`, and `filecreator` converge to the live Agents sidebar entry.</a:t>
            </a:r>
          </a:p>
          <a:p>
            <a:pPr>
              <a:spcAft>
                <a:spcPts val="400"/>
              </a:spcAft>
              <a:defRPr sz="1100">
                <a:solidFill>
                  <a:srgbClr val="B4BAAE"/>
                </a:solidFill>
                <a:latin typeface="Aptos"/>
              </a:defRPr>
            </a:pPr>
            <a:r>
              <a:t>Generated `.flw` downloads keep only successful, resolvable tool-call entries, post a successful-only `tool_calls_log` to `/agent/flow_from_tool_calls/`, and drop failed or unregistered executions rather than turning them into broken workflow nodes.</a:t>
            </a:r>
          </a:p>
          <a:p>
            <a:pPr>
              <a:spcAft>
                <a:spcPts val="400"/>
              </a:spcAft>
              <a:defRPr sz="1100">
                <a:solidFill>
                  <a:srgbClr val="B4BAAE"/>
                </a:solidFill>
                <a:latin typeface="Aptos"/>
              </a:defRPr>
            </a:pPr>
            <a:r>
              <a:t>If the registry cannot load, the frontend fails open: the button stays available and the backend flow normalizer remains the final validation layer.</a:t>
            </a:r>
          </a:p>
          <a:p>
            <a:pPr>
              <a:spcAft>
                <a:spcPts val="400"/>
              </a:spcAft>
              <a:defRPr sz="1100">
                <a:solidFill>
                  <a:srgbClr val="B4BAAE"/>
                </a:solidFill>
                <a:latin typeface="Aptos"/>
              </a:defRPr>
            </a:pPr>
            <a:r>
              <a:t>Exec Report remains per-tool evidence, not a whole-answer verdict; the checkbox is disabled/greyed unless Multi-Turn is checked.</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STATUS FRAMES STAY BUSY UNTIL THE REAL FINAL ANSWER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Frontend Recovery Controls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Self-healing status frames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`agent_page_chat.js::appendChatMessage()` now has a self-healing status branch before the final-answer branch, so status frames render without calling `enableControlsAfterOperation()`.</a:t>
            </a:r>
          </a:p>
          <a:p>
            <a:pPr>
              <a:spcAft>
                <a:spcPts val="400"/>
              </a:spcAft>
              <a:defRPr sz="1000">
                <a:solidFill>
                  <a:srgbClr val="B4BAAE"/>
                </a:solidFill>
                <a:latin typeface="Aptos"/>
              </a:defRPr>
            </a:pPr>
            <a:r>
              <a:t>`disableControlsDuringOperation()` is re-applied idempotently for each live tactic status line, preserving the user's Cancel button while the worker thread continues.</a:t>
            </a:r>
          </a:p>
          <a:p>
            <a:pPr>
              <a:spcAft>
                <a:spcPts val="400"/>
              </a:spcAft>
              <a:defRPr sz="1000">
                <a:solidFill>
                  <a:srgbClr val="B4BAAE"/>
                </a:solidFill>
                <a:latin typeface="Aptos"/>
              </a:defRPr>
            </a:pPr>
            <a:r>
              <a:t>`agent_page_ui.js::isSelfHealingStatusMessage()` strips leading icons/symbols and then anchors on `Tactic #` / `Tactic '`, matching standalone status frames but not the final recovery summary.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Create Flow name resolution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Create Flow validation now uses `_resolveSuccessfulAgents()`, `_agentNameKey()`, and `_buildRegistryKeyMap()` to normalize display names against the live registry and skip only unresolved successful entries.</a:t>
            </a:r>
          </a:p>
          <a:p>
            <a:pPr>
              <a:spcAft>
                <a:spcPts val="400"/>
              </a:spcAft>
              <a:defRPr sz="1000">
                <a:solidFill>
                  <a:srgbClr val="B4BAAE"/>
                </a:solidFill>
                <a:latin typeface="Aptos"/>
              </a:defRPr>
            </a:pPr>
            <a:r>
              <a:t>`eslint.config.mjs` declares `isSelfHealingStatusMessage` as a global, while `docs/claude/frontend.md`, `docs/claude/multi-turn.md`, and `docs/claude/recent-fixes.md` document the gotcha and the no-substring rule.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PROJECTDISCOVERY KEY WITHOUT PROMPT-PASTED SECRETS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Discoverer PDCP Wiring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Configuration path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Discoverer now has an optional ProjectDiscovery Cloud Platform key (`pdcp_api_key` / `PDCP_API_KEY`) for cvemap/vulnx rate limits and nuclei `-ai` or cloud upload features.</a:t>
            </a:r>
          </a:p>
          <a:p>
            <a:pPr>
              <a:spcAft>
                <a:spcPts val="400"/>
              </a:spcAft>
              <a:defRPr sz="1100">
                <a:solidFill>
                  <a:srgbClr val="B4BAAE"/>
                </a:solidFill>
                <a:latin typeface="Aptos"/>
              </a:defRPr>
            </a:pPr>
            <a:r>
              <a:t>Config -&gt; Access Keys Wizard exposes `Security Recon (ProjectDiscovery)`, writes the key to `config.json`, `data.keys`, and `agent/agents/discoverer/config.yaml`, and blank fields preserve existing values.</a:t>
            </a:r>
          </a:p>
          <a:p>
            <a:pPr>
              <a:spcAft>
                <a:spcPts val="400"/>
              </a:spcAft>
              <a:defRPr sz="1100">
                <a:solidFill>
                  <a:srgbClr val="B4BAAE"/>
                </a:solidFill>
                <a:latin typeface="Aptos"/>
              </a:defRPr>
            </a:pPr>
            <a:r>
              <a:t>`tools._seed_global_agent_defaults` auto-injects the configured key into every `chat_agent_discoverer` run so prompts never paste the credential.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Redaction and prompt seed</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`agent_contracts.py` redacts `pdcp_api_key` from `.flw` exports, and `regen_secrets.py` scrubs it back to `PDCP_API_KEY` before a push-able tree.</a:t>
            </a:r>
          </a:p>
          <a:p>
            <a:pPr>
              <a:spcAft>
                <a:spcPts val="400"/>
              </a:spcAft>
              <a:defRPr sz="1100">
                <a:solidFill>
                  <a:srgbClr val="B4BAAE"/>
                </a:solidFill>
                <a:latin typeface="Aptos"/>
              </a:defRPr>
            </a:pPr>
            <a:r>
              <a:t>The new `0169_add_discoverer_cvemap_latest_demo_prompt.py` migration seeds a passive latest-CVE briefing prompt that uses cvemap/vulnx and reports whether `pdcp_used` was active.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CURRENT CVE SEARCH PLUS SOURCE-CONTROL PROTECTION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Discoverer Vulnx And Go Guard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vulnx CVE lane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ProjectDiscovery retired cvemap's CVE API in August 2025, so Tlamatini keeps the operator-facing `cvemap` tool key but installs and runs ProjectDiscovery's successor binary, `vulnx`.</a:t>
            </a:r>
          </a:p>
          <a:p>
            <a:pPr>
              <a:spcAft>
                <a:spcPts val="400"/>
              </a:spcAft>
              <a:defRPr sz="1000">
                <a:solidFill>
                  <a:srgbClr val="B4BAAE"/>
                </a:solidFill>
                <a:latin typeface="Aptos"/>
              </a:defRPr>
            </a:pPr>
            <a:r>
              <a:t>`discoverer.py` now maps `cvemap` to `github.com/projectdiscovery/cvemap/cmd/vulnx@latest`, resolves the installed binary as `vulnx`, and builds `vulnx id &lt;CVE&gt;` or `vulnx search --severity ... --product ... --limit ...` arguments.</a:t>
            </a:r>
          </a:p>
          <a:p>
            <a:pPr>
              <a:spcAft>
                <a:spcPts val="400"/>
              </a:spcAft>
              <a:defRPr sz="1000">
                <a:solidFill>
                  <a:srgbClr val="B4BAAE"/>
                </a:solidFill>
                <a:latin typeface="Aptos"/>
              </a:defRPr>
            </a:pPr>
            <a:r>
              <a:t>The findings counter now understands vulnx object JSON such as `{"count": N, "results": [...]}`, so Exec Report and Forker routing see the real result count instead of a misleading one-line object.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Go-deny guard</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private Go compiler and ProjectDiscovery tool binaries still install under `&lt;install_dir&gt;/Go` / `&lt;install_dir&gt;/Go/bin-tools`, keeping the runtime self-contained and avoiding any system Go or PATH mutation.</a:t>
            </a:r>
          </a:p>
          <a:p>
            <a:pPr>
              <a:spcAft>
                <a:spcPts val="400"/>
              </a:spcAft>
              <a:defRPr sz="1000">
                <a:solidFill>
                  <a:srgbClr val="B4BAAE"/>
                </a:solidFill>
                <a:latin typeface="Aptos"/>
              </a:defRPr>
            </a:pPr>
            <a:r>
              <a:t>The `.gitignore` Go-deny block, tracked `git_deny_go.py`, and its managed pre-commit hook prevent `Go/`, `bin-tools/`, `go-build/`, `pkg/mod/`, and downloaded Go archives from entering source control; ignored `Go/` content is not counted as project code.</a:t>
            </a:r>
          </a:p>
          <a:p>
            <a:pPr>
              <a:spcAft>
                <a:spcPts val="400"/>
              </a:spcAft>
              <a:defRPr sz="1000">
                <a:solidFill>
                  <a:srgbClr val="B4BAAE"/>
                </a:solidFill>
                <a:latin typeface="Aptos"/>
              </a:defRPr>
            </a:pPr>
            <a:r>
              <a:t>The committed asset wave also includes `0169_add_discoverer_cvemap_latest_demo_prompt.py`, `.claude/skills/tlamatini-daily-chat-test/harness/discoverer_1000.py`, and `Tlamatini/agent/test_discoverer_thousand.py` for latest-CVE and high-volume Discoverer validation.</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VIDEO-ANALYZER, PROMPTS, AND GENERATED WORKFLOW LAYOUT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v1.36.0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reachable release tag v1.51.7 resolves to 96fdbde. Current source HEAD is 36c0139, 5 commits beyond that tag. Fetched origin/main resolves to 36c0139. Runtime version resolution remains Git/build-derived. A source revision beyond the tag is not a new tagged release.</a:t>
            </a:r>
          </a:p>
          <a:p>
            <a:pPr>
              <a:spcAft>
                <a:spcPts val="400"/>
              </a:spcAft>
              <a:defRPr sz="1100">
                <a:solidFill>
                  <a:srgbClr val="B4BAAE"/>
                </a:solidFill>
                <a:latin typeface="Aptos"/>
              </a:defRPr>
            </a:pPr>
            <a:r>
              <a:t>New agent: Video-Analyzer becomes the current media-verdict workflow agent and wrapped `chat_agent_video_analyzer`, complementing Image-Interpreter with video-specific motion analysis.</a:t>
            </a:r>
          </a:p>
          <a:p>
            <a:pPr>
              <a:spcAft>
                <a:spcPts val="400"/>
              </a:spcAft>
              <a:defRPr sz="1100">
                <a:solidFill>
                  <a:srgbClr val="B4BAAE"/>
                </a:solidFill>
                <a:latin typeface="Aptos"/>
              </a:defRPr>
            </a:pPr>
            <a:r>
              <a:t>Implementation assets: `agent/agents/video_analyzer/`, migrations `0166_add_video_analyzer.py`, `0167_add_chat_agent_video_analyzer_tool.py`, `0168_add_video_analyzer_demo_prompt.py`, `test_video_analyzer_agent.py`, `chat_agent_registry.py`, `mcp_agent.py`, and `services/agent_contracts.py` all move together.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Runtime contract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Model strategy: `interpreter_model_1` defaults to `qwen3-vl:235b-cloud`, `interpreter_model_2` defaults to `qwen3.5:cloud`, and `merging_model` defaults to `glm-5.3:cloud`, with independent calls merged only after both interpreters report.</a:t>
            </a:r>
          </a:p>
          <a:p>
            <a:pPr>
              <a:spcAft>
                <a:spcPts val="400"/>
              </a:spcAft>
              <a:defRPr sz="1100">
                <a:solidFill>
                  <a:srgbClr val="B4BAAE"/>
                </a:solidFill>
                <a:latin typeface="Aptos"/>
              </a:defRPr>
            </a:pPr>
            <a:r>
              <a:t>Routing contract: every run emits `INI_SECTION_VIDEO_ANALYZER` plus `TLM_VERDICT::&lt;TOKEN&gt;` markers such as `PASS_OK`, `FAIL_NO_MOTION`, `FAIL_WRONG_MOTION`, `UNCLEAR`, and `ANALYSIS_ERROR` for Forker and Parametrizer.</a:t>
            </a:r>
          </a:p>
          <a:p>
            <a:pPr>
              <a:spcAft>
                <a:spcPts val="400"/>
              </a:spcAft>
              <a:defRPr sz="1100">
                <a:solidFill>
                  <a:srgbClr val="B4BAAE"/>
                </a:solidFill>
                <a:latin typeface="Aptos"/>
              </a:defRPr>
            </a:pPr>
            <a:r>
              <a:t>Adjacent UI work: prompt search moved from exact-title hunting to substring, word-start, and fuzzy matching, and generated `.flw` files now use a serpentine layout to reduce visual congestion.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MOTION-VERDICT AGENT FOR ROBOTIC-LOOP TRAINING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Video-Analyzer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Video-Analyzer is Tlamatini's video-verdict agent: she receives `video_pathfilenames` as a direct file, wildcard, folder-newest rule, or Camcorder pool name and resolves the video before model calls begin.</a:t>
            </a:r>
          </a:p>
          <a:p>
            <a:pPr>
              <a:spcAft>
                <a:spcPts val="400"/>
              </a:spcAft>
              <a:defRPr sz="1100">
                <a:solidFill>
                  <a:srgbClr val="B4BAAE"/>
                </a:solidFill>
                <a:latin typeface="Aptos"/>
              </a:defRPr>
            </a:pPr>
            <a:r>
              <a:t>The first gate is deterministic and cheap: OpenCV/numpy frame sampling computes a motion score and returns `FAIL_NO_MOTION` without spending LLM calls when the recording clearly shows no movement.</a:t>
            </a:r>
          </a:p>
          <a:p>
            <a:pPr>
              <a:spcAft>
                <a:spcPts val="400"/>
              </a:spcAft>
              <a:defRPr sz="1100">
                <a:solidFill>
                  <a:srgbClr val="B4BAAE"/>
                </a:solidFill>
                <a:latin typeface="Aptos"/>
              </a:defRPr>
            </a:pPr>
            <a:r>
              <a:t>When motion exists, two Ollama cloud vision models run in parallel. One specializes in temporal/action evidence, the other provides an independent holistic judgement, and a merger model produces the final report.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Verdicts and routing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final answer is intentionally conservative: PASS requires both interpreters to agree; disagreement or weak evidence becomes `UNCLEAR`, and wrong movement becomes `FAIL_WRONG_MOTION` rather than a false pass.</a:t>
            </a:r>
          </a:p>
          <a:p>
            <a:pPr>
              <a:spcAft>
                <a:spcPts val="400"/>
              </a:spcAft>
              <a:defRPr sz="1100">
                <a:solidFill>
                  <a:srgbClr val="B4BAAE"/>
                </a:solidFill>
                <a:latin typeface="Aptos"/>
              </a:defRPr>
            </a:pPr>
            <a:r>
              <a:t>Structured output is `INI_SECTION_VIDEO_ANALYZER` with `video_path`, `verdict`, `verdict_token`, `confidence`, `motion_score`, `frames_analyzed`, model names, `status`, and the body report.</a:t>
            </a:r>
          </a:p>
          <a:p>
            <a:pPr>
              <a:spcAft>
                <a:spcPts val="400"/>
              </a:spcAft>
              <a:defRPr sz="1100">
                <a:solidFill>
                  <a:srgbClr val="B4BAAE"/>
                </a:solidFill>
                <a:latin typeface="Aptos"/>
              </a:defRPr>
            </a:pPr>
            <a:r>
              <a:t>The robotics loop is now explicit: STM32er can flash firmware, Camcorder can record the board, Video-Analyzer can judge the recorded motion, and Forker can branch on the `TLM_VERDICT::` token to retry or finish.</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OPERATOR USABILITY AFTER THE CATALOG GREW</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Prompt Search And .flw Layout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Prompt search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Prompt search now behaves like an operator tool instead of a static dropdown: category grouping, numeric/acronym/substring/word-start/subsequence matching, best-first ranking, highlighted hits, and mode badges make the deduplicated catalog navigable.</a:t>
            </a:r>
          </a:p>
          <a:p>
            <a:pPr>
              <a:spcAft>
                <a:spcPts val="400"/>
              </a:spcAft>
              <a:defRPr sz="1300">
                <a:solidFill>
                  <a:srgbClr val="B4BAAE"/>
                </a:solidFill>
                <a:latin typeface="Aptos"/>
              </a:defRPr>
            </a:pPr>
            <a:r>
              <a:t>The prompt-card rendering keeps One-Shot, Multi-Turn, ACPX, Exec Report, and Step-by-Step families distinguishable while migrations `0175`-`0176` remove redundant ACPX variants without renumbering surviving prompt ids.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Generated flows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Generated `.flw` workflows now use a serpentine canvas layout with row capacity and alternating direction, preserving the logical Starter -&gt; Agent -&gt; ... -&gt; Ender order without pushing large chains into an unreadable line.</a:t>
            </a:r>
          </a:p>
          <a:p>
            <a:pPr>
              <a:spcAft>
                <a:spcPts val="400"/>
              </a:spcAft>
              <a:defRPr sz="1300">
                <a:solidFill>
                  <a:srgbClr val="B4BAAE"/>
                </a:solidFill>
                <a:latin typeface="Aptos"/>
              </a:defRPr>
            </a:pPr>
            <a:r>
              <a:t>This matters for documentation because the PDF and deck must describe not only new agents, but also the operator usability improvements that make the larger system actually usable.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ZAVUERER, MODEL DEFAULTS, CLEANUP, AND SAFETY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v1.33.2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Release identity: latest reachable public tag `v1.33.2`; the generated artifacts now describe the Zavuerer release family plus post-release cleanup while preserving the v1.32.0 quality-and-identity background.</a:t>
            </a:r>
          </a:p>
          <a:p>
            <a:pPr>
              <a:spcAft>
                <a:spcPts val="400"/>
              </a:spcAft>
              <a:defRPr sz="900">
                <a:solidFill>
                  <a:srgbClr val="B4BAAE"/>
                </a:solidFill>
                <a:latin typeface="Aptos"/>
              </a:defRPr>
            </a:pPr>
            <a:r>
              <a:t>New agent: Zavuerer becomes the 83rd workflow-agent type and the 60th wrapped chat-agent, adding `chat_agent_zavuerer` for Zavu unified messaging across SMS, WhatsApp, Telegram, Email, and Voice.</a:t>
            </a:r>
          </a:p>
          <a:p>
            <a:pPr>
              <a:spcAft>
                <a:spcPts val="400"/>
              </a:spcAft>
              <a:defRPr sz="900">
                <a:solidFill>
                  <a:srgbClr val="B4BAAE"/>
                </a:solidFill>
                <a:latin typeface="Aptos"/>
              </a:defRPr>
            </a:pPr>
            <a:r>
              <a:t>Configuration: Config -&gt; Access Keys Wizard now includes `Unified Messaging (Zavu)` and persists `zavu_api_key`, which the wrapped runtime seeds into Zavuerer without exposing the secret in prompts.</a:t>
            </a:r>
          </a:p>
          <a:p>
            <a:pPr>
              <a:spcAft>
                <a:spcPts val="400"/>
              </a:spcAft>
              <a:defRPr sz="900">
                <a:solidFill>
                  <a:srgbClr val="B4BAAE"/>
                </a:solidFill>
                <a:latin typeface="Aptos"/>
              </a:defRPr>
            </a:pPr>
            <a:r>
              <a:t>Canvas/runtime support: `agent_contracts.py`, `views.py`, `capability_registry.py`, `chat_agent_registry.py`, `tools.py`, frontend ACP JS/CSS, and migrations `0159`-`0164` all move together to make Zavuerer usable from both surfaces.</a:t>
            </a:r>
          </a:p>
          <a:p>
            <a:pPr>
              <a:spcAft>
                <a:spcPts val="400"/>
              </a:spcAft>
              <a:defRPr sz="900">
                <a:solidFill>
                  <a:srgbClr val="B4BAAE"/>
                </a:solidFill>
                <a:latin typeface="Aptos"/>
              </a:defRPr>
            </a:pPr>
            <a:r>
              <a:t>Follow-up defaults: `config.json` now favors `glm-5.3:cloud` across the primary chat/model slots, and the latest commits also adjust runtime parsing/middleware/settings surfaces around the release.</a:t>
            </a:r>
          </a:p>
          <a:p>
            <a:pPr>
              <a:spcAft>
                <a:spcPts val="400"/>
              </a:spcAft>
              <a:defRPr sz="900">
                <a:solidFill>
                  <a:srgbClr val="B4BAAE"/>
                </a:solidFill>
                <a:latin typeface="Aptos"/>
              </a:defRPr>
            </a:pPr>
            <a:r>
              <a:t>Cost and safety wording: sign-up for Zavu is free, but sends are pay-as-you-go per message; the docs keep the authorized, opted-in recipient boundary explicit for A2P, WhatsApp-window, consent, and GDPR-style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Recent implementation assets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`agent/agents/zavuerer/` carries the stdlib-only Zavu REST client and config template.</a:t>
            </a:r>
          </a:p>
          <a:p>
            <a:pPr>
              <a:spcAft>
                <a:spcPts val="400"/>
              </a:spcAft>
              <a:defRPr sz="1100">
                <a:solidFill>
                  <a:srgbClr val="B4BAAE"/>
                </a:solidFill>
                <a:latin typeface="Aptos"/>
              </a:defRPr>
            </a:pPr>
            <a:r>
              <a:t>`0159`-`0164` seed the Agent, Tool, prompts, and setup-wizard dedupe.</a:t>
            </a:r>
          </a:p>
          <a:p>
            <a:pPr>
              <a:spcAft>
                <a:spcPts val="400"/>
              </a:spcAft>
              <a:defRPr sz="1100">
                <a:solidFill>
                  <a:srgbClr val="B4BAAE"/>
                </a:solidFill>
                <a:latin typeface="Aptos"/>
              </a:defRPr>
            </a:pPr>
            <a:r>
              <a:t>`access_key_wizard.py`, `tools.py`, and `config.json` wire the Zavu key path.</a:t>
            </a:r>
          </a:p>
          <a:p>
            <a:pPr>
              <a:spcAft>
                <a:spcPts val="400"/>
              </a:spcAft>
              <a:defRPr sz="1100">
                <a:solidFill>
                  <a:srgbClr val="B4BAAE"/>
                </a:solidFill>
                <a:latin typeface="Aptos"/>
              </a:defRPr>
            </a:pPr>
            <a:r>
              <a:t>`config.json` now favors `glm-5.3:cloud` for the shipped cloud model baseline.</a:t>
            </a:r>
          </a:p>
          <a:p>
            <a:pPr>
              <a:spcAft>
                <a:spcPts val="400"/>
              </a:spcAft>
              <a:defRPr sz="1100">
                <a:solidFill>
                  <a:srgbClr val="B4BAAE"/>
                </a:solidFill>
                <a:latin typeface="Aptos"/>
              </a:defRPr>
            </a:pPr>
            <a:r>
              <a:t>`views.py`, ACP JS/CSS, and `agent_contracts.py` make canvas wiring and redaction work.</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NEW UNIFIED MESSAGING AGENT FOR ZAVU</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Zavuerer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Zavuerer is Tlamatini's new Zavu unified-messaging agent: one workflow node and one wrapped `chat_agent_zavuerer` tool can send SMS, WhatsApp, Telegram, Email, or Voice messages through Zavu's `/v1/messages` API.</a:t>
            </a:r>
          </a:p>
          <a:p>
            <a:pPr>
              <a:spcAft>
                <a:spcPts val="400"/>
              </a:spcAft>
              <a:defRPr sz="1200">
                <a:solidFill>
                  <a:srgbClr val="B4BAAE"/>
                </a:solidFill>
                <a:latin typeface="Aptos"/>
              </a:defRPr>
            </a:pPr>
            <a:r>
              <a:t>The operator configures one `zavu_api_key` through Config -&gt; Access Keys Wizard -&gt; Unified Messaging (Zavu), and the runtime seeds that key into Zavuerer automatically so prompts never need to repeat or expose the secret.</a:t>
            </a:r>
          </a:p>
          <a:p>
            <a:pPr>
              <a:spcAft>
                <a:spcPts val="400"/>
              </a:spcAft>
              <a:defRPr sz="1200">
                <a:solidFill>
                  <a:srgbClr val="B4BAAE"/>
                </a:solidFill>
                <a:latin typeface="Aptos"/>
              </a:defRPr>
            </a:pPr>
            <a:r>
              <a:t>The agent speaks direct HTTP through the Python standard library, has a safe `health` action, refuses sends when the key/recipient/body/channel are invalid, and always emits `INI_SECTION_ZAVUERER` for Parametrizer/Forker branching.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Implementation and safety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Canvas integration is complete: `agent_contracts.py` redacts `zavu_api_key`, `views.py` handles Zavuerer connections, frontend CSS/JS gives the node a visible identity, and migrations `0159`-`0164` seed the Agent, Tool, demo/catalog prompts, and setup-wizard dedupe.</a:t>
            </a:r>
          </a:p>
          <a:p>
            <a:pPr>
              <a:spcAft>
                <a:spcPts val="400"/>
              </a:spcAft>
              <a:defRPr sz="1200">
                <a:solidFill>
                  <a:srgbClr val="B4BAAE"/>
                </a:solidFill>
                <a:latin typeface="Aptos"/>
              </a:defRPr>
            </a:pPr>
            <a:r>
              <a:t>Cost and safety boundary: Zavu sign-up is free, but sending is pay-as-you-go per message; Zavuerer must only message authorized, opted-in recipients, with A2P, WhatsApp 24-hour-window, consent, and GDPR-style responsibilities called out explicitly.</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TRIPLE-MODEL VISION ANALYSIS WITH FAIL-SAFE MERGING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Image-Interpreter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Parallel vision pipeline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Image-Interpreter is now a triple-model vision analyst, not a single generic image describer: each image goes through two parallel interpreter calls and one merger pass.</a:t>
            </a:r>
          </a:p>
          <a:p>
            <a:pPr>
              <a:spcAft>
                <a:spcPts val="400"/>
              </a:spcAft>
              <a:defRPr sz="1100">
                <a:solidFill>
                  <a:srgbClr val="B4BAAE"/>
                </a:solidFill>
                <a:latin typeface="Aptos"/>
              </a:defRPr>
            </a:pPr>
            <a:r>
              <a:t>`interpreter_model_1` defaults to `qwen3.5:cloud` and is tuned for forensic OCR, mockup/GUI element inventories, percent-based positions/sizes, colors, fonts, and verbatim text.</a:t>
            </a:r>
          </a:p>
          <a:p>
            <a:pPr>
              <a:spcAft>
                <a:spcPts val="400"/>
              </a:spcAft>
              <a:defRPr sz="1100">
                <a:solidFill>
                  <a:srgbClr val="B4BAAE"/>
                </a:solidFill>
                <a:latin typeface="Aptos"/>
              </a:defRPr>
            </a:pPr>
            <a:r>
              <a:t>`interpreter_model_2` defaults to `gemma4:cloud` and reads the image holistically: design intent, visual hierarchy, scene meaning, people, and reasoned identity hypotheses.</a:t>
            </a:r>
          </a:p>
          <a:p>
            <a:pPr>
              <a:spcAft>
                <a:spcPts val="400"/>
              </a:spcAft>
              <a:defRPr sz="1100">
                <a:solidFill>
                  <a:srgbClr val="B4BAAE"/>
                </a:solidFill>
                <a:latin typeface="Aptos"/>
              </a:defRPr>
            </a:pPr>
            <a:r>
              <a:t>`merging_model` defaults to `glm-5.3:cloud`; it waits behind a barrier until both interpretations arrive, then emits one definitive report with union-of-facts, conflict notes, and discrepancy handling.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Prompts, output, and config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All four prompt surfaces (`prompt_user`, `prompt_interpreter_model_1`, `prompt_interpreter_model_2`, and `prompt_merging_model`) receive the image file name as an identity clue, because a file named after a person often depicts that person.</a:t>
            </a:r>
          </a:p>
          <a:p>
            <a:pPr>
              <a:spcAft>
                <a:spcPts val="400"/>
              </a:spcAft>
              <a:defRPr sz="1100">
                <a:solidFill>
                  <a:srgbClr val="B4BAAE"/>
                </a:solidFill>
                <a:latin typeface="Aptos"/>
              </a:defRPr>
            </a:pPr>
            <a:r>
              <a:t>Fail-safe behavior is explicit: one failed interpreter still lets the merger work from the survivor; a failed merger returns both raw interpretations concatenated instead of losing the analysis.</a:t>
            </a:r>
          </a:p>
          <a:p>
            <a:pPr>
              <a:spcAft>
                <a:spcPts val="400"/>
              </a:spcAft>
              <a:defRPr sz="1100">
                <a:solidFill>
                  <a:srgbClr val="B4BAAE"/>
                </a:solidFill>
                <a:latin typeface="Aptos"/>
              </a:defRPr>
            </a:pPr>
            <a:r>
              <a:t>The structured output is now `INI_SECTION_IMAGE_INTERPRETER` with `file_path`, `interpreter_model_1`, `interpreter_model_2`, `merging_model`, `status`, and the merged report body for Parametrizer/Forker routing.</a:t>
            </a:r>
          </a:p>
          <a:p>
            <a:pPr>
              <a:spcAft>
                <a:spcPts val="400"/>
              </a:spcAft>
              <a:defRPr sz="1100">
                <a:solidFill>
                  <a:srgbClr val="B4BAAE"/>
                </a:solidFill>
                <a:latin typeface="Aptos"/>
              </a:defRPr>
            </a:pPr>
            <a:r>
              <a:t>Config -&gt; Models now exposes all three Image-Interpreter model slots (`image_interpreter_model`, `image_interpreter_model_2`, `image_merging_model`), and older preserved configs receive defaults so Save is not blocked by empty new fields.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evidence now exists alongside the code too: the README tutorial, Book sections, capability/planner wiring, and the dialog assets all moved together in the same release wave, with later cleanup removing obsolete draft documentation from the tracked tree.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THE NEW EASY-FOLLOW ONBOARDING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Start Here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Five-step path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BookOfTlamatini now leads with a five-step onboarding path because the easiest way to succeed with Tlamatini is to treat setup as one guided sequence instead of reading the whole handbook first.</a:t>
            </a:r>
          </a:p>
          <a:p>
            <a:pPr>
              <a:spcAft>
                <a:spcPts val="400"/>
              </a:spcAft>
              <a:defRPr sz="900">
                <a:solidFill>
                  <a:srgbClr val="B4BAAE"/>
                </a:solidFill>
                <a:latin typeface="Aptos"/>
              </a:defRPr>
            </a:pPr>
            <a:r>
              <a:t>Recommended path for most operators: install the packaged release from GitHub Releases, launch the Start-menu shortcut, and let the bundled Python 3.12.10 plus dependencies carry the runtime without asking the user to install Python manually.</a:t>
            </a:r>
          </a:p>
          <a:p>
            <a:pPr>
              <a:spcAft>
                <a:spcPts val="400"/>
              </a:spcAft>
              <a:defRPr sz="900">
                <a:solidFill>
                  <a:srgbClr val="B4BAAE"/>
                </a:solidFill>
                <a:latin typeface="Aptos"/>
              </a:defRPr>
            </a:pPr>
            <a:r>
              <a:t>Developer path stays available: clone the repo, create a virtual environment, install `requirements.txt`, run migrations, and start Django with `python Tlamatini/manage.py runserver` (the `--noreload` flag is optional since 2026-07-11 — plain `runserver` now boots clean and auto-reloads).</a:t>
            </a:r>
          </a:p>
          <a:p>
            <a:pPr>
              <a:spcAft>
                <a:spcPts val="400"/>
              </a:spcAft>
              <a:defRPr sz="900">
                <a:solidFill>
                  <a:srgbClr val="B4BAAE"/>
                </a:solidFill>
                <a:latin typeface="Aptos"/>
              </a:defRPr>
            </a:pPr>
            <a:r>
              <a:t>Before pulling the shipped `:cloud` model tags, activate Ollama Pro or higher and run `ollama signin`; this is an operating requirement for the complete intended workload, not a sponsorship or affiliate relationship.</a:t>
            </a:r>
          </a:p>
          <a:p>
            <a:pPr>
              <a:spcAft>
                <a:spcPts val="400"/>
              </a:spcAft>
              <a:defRPr sz="900">
                <a:solidFill>
                  <a:srgbClr val="B4BAAE"/>
                </a:solidFill>
                <a:latin typeface="Aptos"/>
              </a:defRPr>
            </a:pPr>
            <a:r>
              <a:t>After the app opens, the first in-app surfaces that matter are `Config -&gt; Models`, `Config -&gt; URLs`, and `Config -&gt; Access Keys Wizard`; those now form the real beginner path, not manual JSON editing.</a:t>
            </a:r>
          </a:p>
          <a:p>
            <a:pPr>
              <a:spcAft>
                <a:spcPts val="400"/>
              </a:spcAft>
              <a:defRPr sz="900">
                <a:solidFill>
                  <a:srgbClr val="B4BAAE"/>
                </a:solidFill>
                <a:latin typeface="Aptos"/>
              </a:defRPr>
            </a:pPr>
            <a:r>
              <a:t>For ordinary question-answering keep Multi-Turn off; turn it on only when you want Tlamatini to execute tools, wrapped agents, or remote MCP capabilities instead of answering directly.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First configuration surfaces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Three new onboarding screenshots now anchor the first-run path: `Tlamatini/agent/images/MenuConfig.jpg`, `ConfigureModels.jpg`, and `ACPXKeysConfigureWizard.jpg`.</a:t>
            </a:r>
          </a:p>
          <a:p>
            <a:pPr>
              <a:spcAft>
                <a:spcPts val="400"/>
              </a:spcAft>
              <a:defRPr sz="1200">
                <a:solidFill>
                  <a:srgbClr val="B4BAAE"/>
                </a:solidFill>
                <a:latin typeface="Aptos"/>
              </a:defRPr>
            </a:pPr>
            <a:r>
              <a:t>`Config -&gt; Models` is the place where operators map embedding, chat, vision, and auxiliary model names to what Ollama actually exposes on the host machine.</a:t>
            </a:r>
          </a:p>
          <a:p>
            <a:pPr>
              <a:spcAft>
                <a:spcPts val="400"/>
              </a:spcAft>
              <a:defRPr sz="1200">
                <a:solidFill>
                  <a:srgbClr val="B4BAAE"/>
                </a:solidFill>
                <a:latin typeface="Aptos"/>
              </a:defRPr>
            </a:pPr>
            <a:r>
              <a:t>`Config -&gt; Access Keys Wizard` now carries an especially important rule: a localhost Ollama usually needs no Ollama token, while a remote Ollama endpoint may require one.</a:t>
            </a:r>
          </a:p>
          <a:p>
            <a:pPr>
              <a:spcAft>
                <a:spcPts val="400"/>
              </a:spcAft>
              <a:defRPr sz="1200">
                <a:solidFill>
                  <a:srgbClr val="B4BAAE"/>
                </a:solidFill>
                <a:latin typeface="Aptos"/>
              </a:defRPr>
            </a:pPr>
            <a:r>
              <a:t>Saved model, URL, or credential changes can invalidate the assumptions of the current session, so reconnecting after major Config edits is now part of the honest operator guidance.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BACKEND, FRONTEND, AND BUILD ASSETS RETAINED IN THE CURRENT TREE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Earlier Asset Waves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tagged `v1.41.4` wave adds the shared `_format_mcp_tool_result` path in `external_mcp_manager.py` plus seven focused cases in `test_external_mcp_universal.py` for machine-readable MCP results.</a:t>
            </a:r>
          </a:p>
          <a:p>
            <a:pPr>
              <a:spcAft>
                <a:spcPts val="400"/>
              </a:spcAft>
              <a:defRPr sz="1000">
                <a:solidFill>
                  <a:srgbClr val="B4BAAE"/>
                </a:solidFill>
                <a:latin typeface="Aptos"/>
              </a:defRPr>
            </a:pPr>
            <a:r>
              <a:t>The tagged `v1.42.0` STM32er/prompt wave adds over one thousand lines to `stm32er.py`, expands config/registry/contracts/tools/tests/docs, and tracks the all-families proposal, migrations `0177`-`0179`, and `test_prompt_catalog_contiguous.py`.</a:t>
            </a:r>
          </a:p>
          <a:p>
            <a:pPr>
              <a:spcAft>
                <a:spcPts val="400"/>
              </a:spcAft>
              <a:defRPr sz="1000">
                <a:solidFill>
                  <a:srgbClr val="B4BAAE"/>
                </a:solidFill>
                <a:latin typeface="Aptos"/>
              </a:defRPr>
            </a:pPr>
            <a:r>
              <a:t>The clearer disclaimer commit for README.md and BookOfTlamatini.md is included in the `v1.42.0` ancestry; neither handbook is modified by this generation pass.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Hardening assets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`v1.41.0` image-ingestion wave adds `chat_image_paste.js`, paste view/URL wiring, chat chip/drop-overlay template nodes, image CSS, layout observation, Temp-policy coverage, and matching README/Book/self-knowledge guidance.</a:t>
            </a:r>
          </a:p>
          <a:p>
            <a:pPr>
              <a:spcAft>
                <a:spcPts val="400"/>
              </a:spcAft>
              <a:defRPr sz="1000">
                <a:solidFill>
                  <a:srgbClr val="B4BAAE"/>
                </a:solidFill>
                <a:latin typeface="Aptos"/>
              </a:defRPr>
            </a:pPr>
            <a:r>
              <a:t>The `v1.41.2` cancellation wave adds `agent/cancellation.py`, `test_cancellation.py`, `test_ask_execs_allowlist.py`, expanded self-healing/frontend tests, and coordinated changes across consumers, executor, RAG, retry, permission, settings, and chat-state surfaces.</a:t>
            </a:r>
          </a:p>
          <a:p>
            <a:pPr>
              <a:spcAft>
                <a:spcPts val="400"/>
              </a:spcAft>
              <a:defRPr sz="1000">
                <a:solidFill>
                  <a:srgbClr val="B4BAAE"/>
                </a:solidFill>
                <a:latin typeface="Aptos"/>
              </a:defRPr>
            </a:pPr>
            <a:r>
              <a:t>Two browser regression harnesses under `.claude/skills/tlamatini-daily-chat-test/harness/` exercise repeated cancels, next-request recovery, model/tool-chain cancellation, Ask-Execs cancellation, and the destructive/human-contacting/network allowlist contract.</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RETAINED IMPLEMENTATION DELTAS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Earlier Assets Appendix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Discoverer and frontend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`v1.41.3` prompt-catalog wave adds migrations `0175`-`0176`, Prompt category/hidden fields, ordered category metadata in `views.py`, and grouped, gap-tolerant, fuzzy-searchable catalog behavior in `tools_dialog.js`/`.css`.</a:t>
            </a:r>
          </a:p>
          <a:p>
            <a:pPr>
              <a:spcAft>
                <a:spcPts val="400"/>
              </a:spcAft>
              <a:defRPr sz="1000">
                <a:solidFill>
                  <a:srgbClr val="B4BAAE"/>
                </a:solidFill>
                <a:latin typeface="Aptos"/>
              </a:defRPr>
            </a:pPr>
            <a:r>
              <a:t>The same prompt wave physically removes 13 duplicate ACPX rows while retaining seven portable originals and stable surviving ids; the primary endpoint and offline fallback both tolerate the resulting gap.</a:t>
            </a:r>
          </a:p>
          <a:p>
            <a:pPr>
              <a:spcAft>
                <a:spcPts val="400"/>
              </a:spcAft>
              <a:defRPr sz="1000">
                <a:solidFill>
                  <a:srgbClr val="B4BAAE"/>
                </a:solidFill>
                <a:latin typeface="Aptos"/>
              </a:defRPr>
            </a:pPr>
            <a:r>
              <a:t>`freeingport8000.ps1` is the new Windows repair asset for resetting dynamic ranges, restarting WinNAT, reporting exclusions, and bind-testing 8000; its machine-specific scratch path is deliberately excluded from generated prose.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Frontend, port, and agent assets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committed Discoverer PDCP assets include `access_key_wizard.py` Security Recon fields, `tools.py` default seeding, `agent_contracts.py` `.flw` redaction, `regen_secrets.py` scrubbing, and migration `0169_add_discoverer_cvemap_latest_demo_prompt.py` for the latest-CVE prompt.</a:t>
            </a:r>
          </a:p>
          <a:p>
            <a:pPr>
              <a:spcAft>
                <a:spcPts val="400"/>
              </a:spcAft>
              <a:defRPr sz="1000">
                <a:solidFill>
                  <a:srgbClr val="B4BAAE"/>
                </a:solidFill>
                <a:latin typeface="Aptos"/>
              </a:defRPr>
            </a:pPr>
            <a:r>
              <a:t>Discoverer hardening assets now include `discoverer.py` changes for `cvemap` -&gt; `vulnx`, `.gitignore` Go-deny patterns, tracked `git_deny_go.py` guard/pre-commit installer, `discoverer_1000.py`, and `test_discoverer_thousand.py` validation coverage.</a:t>
            </a:r>
          </a:p>
          <a:p>
            <a:pPr>
              <a:spcAft>
                <a:spcPts val="400"/>
              </a:spcAft>
              <a:defRPr sz="1000">
                <a:solidFill>
                  <a:srgbClr val="B4BAAE"/>
                </a:solidFill>
                <a:latin typeface="Aptos"/>
              </a:defRPr>
            </a:pPr>
            <a:r>
              <a:t>The project inventory is rebuilt from `git ls-files` plus `git ls-files --others --exclude-standard` on every run, so any git-unignored local assets are counted while ignored runtime caches such as `Go/` remain outside the dossier.</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RETAINED ASSETS BEHIND THE CURRENT INVENTORY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Earlier Assets Source Trail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Media and browser setup</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newest frontend assets include `agent_page_chat.js`, `agent_page_ui.js`, `eslint.config.mjs`, and the Claude frontend/Multi-Turn/recent-fixes notes that document self-healing status frames and Create Flow name resolution.</a:t>
            </a:r>
          </a:p>
          <a:p>
            <a:pPr>
              <a:spcAft>
                <a:spcPts val="400"/>
              </a:spcAft>
              <a:defRPr sz="1000">
                <a:solidFill>
                  <a:srgbClr val="B4BAAE"/>
                </a:solidFill>
                <a:latin typeface="Aptos"/>
              </a:defRPr>
            </a:pPr>
            <a:r>
              <a:t>The `v1.40.1` port assets span committed `manage.py`/`config.json`, source/startserver integration, the committed 24-test `agent/test_django_port_config.py` suite, version surfaces in `package.json`/`VERSIONING.md`, and operator contracts across README, Book, self-knowledge, prompt guidance, and `docs/claude`.</a:t>
            </a:r>
          </a:p>
          <a:p>
            <a:pPr>
              <a:spcAft>
                <a:spcPts val="400"/>
              </a:spcAft>
              <a:defRPr sz="1000">
                <a:solidFill>
                  <a:srgbClr val="B4BAAE"/>
                </a:solidFill>
                <a:latin typeface="Aptos"/>
              </a:defRPr>
            </a:pPr>
            <a:r>
              <a:t>The newest agent assets are concrete: `agent/agents/zavuerer/`, migrations `0159_add_zavuerer.py` through `0164_dedup_zavuerer_setup_wizards.py`, `test_zavuerer_agent.py`, Access Keys Wizard Zavu fields, planner capability hints, wrapped-tool registration, and ACP canvas styling/connection support.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Inventory meaning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The latest cleanup/assets span also includes `GEMINI.md`, `FirstFinalPlanToSpeedUp.md`, `docs/claude/recent-fixes.md`, response-parser/runtime/settings/middleware touch-ups, and removal of the stale `Tlamatini/db.sqlite3.bak-prereseat` backup from the tracked surface.</a:t>
            </a:r>
          </a:p>
          <a:p>
            <a:pPr>
              <a:spcAft>
                <a:spcPts val="400"/>
              </a:spcAft>
              <a:defRPr sz="900">
                <a:solidFill>
                  <a:srgbClr val="B4BAAE"/>
                </a:solidFill>
                <a:latin typeface="Aptos"/>
              </a:defRPr>
            </a:pPr>
            <a:r>
              <a:t>The same wave preserves evidence-oriented tests and build guards such as `test_private_data_guard.py`, performance/visual checks, About-window authorship tests, and public-release verification rules that distinguish sensitive PII from valid creator names.</a:t>
            </a:r>
          </a:p>
          <a:p>
            <a:pPr>
              <a:spcAft>
                <a:spcPts val="400"/>
              </a:spcAft>
              <a:defRPr sz="900">
                <a:solidFill>
                  <a:srgbClr val="B4BAAE"/>
                </a:solidFill>
                <a:latin typeface="Aptos"/>
              </a:defRPr>
            </a:pPr>
            <a:r>
              <a:t>The same span refreshes shipped visual/media assets: `TlamatiniAbout.png` replaces the old `TlamatiniAbout.jpg`, and `agent/images/TlamatiniAndKyber.mp4` is part of the repository asset set described by the dossier.</a:t>
            </a:r>
          </a:p>
          <a:p>
            <a:pPr>
              <a:spcAft>
                <a:spcPts val="400"/>
              </a:spcAft>
              <a:defRPr sz="9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9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9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The 88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lIns="12700" rIns="76200" tIns="12700" bIns="12700">
            <a:norm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lIns="12700" rIns="76200" tIns="12700" bIns="12700">
            <a:norm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telegrammer, teletlamatini, whatsapper</a:t>
            </a:r>
          </a:p>
          <a:p>
            <a:pPr>
              <a:spcAft>
                <a:spcPts val="400"/>
              </a:spcAft>
              <a:defRPr sz="1300">
                <a:solidFill>
                  <a:srgbClr val="B4BAAE"/>
                </a:solidFill>
                <a:latin typeface="Aptos"/>
              </a:defRPr>
            </a:pPr>
            <a:r>
              <a:t>Security and media: kyber_keygen, kyber_cipher, kyber_decipher, image_interpreter, video_analyzer,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Templates on disk with config.yaml: 88</a:t>
            </a:r>
          </a:p>
          <a:p>
            <a:pPr>
              <a:spcAft>
                <a:spcPts val="400"/>
              </a:spcAft>
              <a:defRPr sz="1500">
                <a:solidFill>
                  <a:srgbClr val="B4BAAE"/>
                </a:solidFill>
                <a:latin typeface="Aptos"/>
              </a:defRPr>
            </a:pPr>
            <a:r>
              <a:t>Description rows in `agents_descriptions.md`: 88</a:t>
            </a:r>
          </a:p>
          <a:p>
            <a:pPr>
              <a:spcAft>
                <a:spcPts val="400"/>
              </a:spcAft>
              <a:defRPr sz="1500">
                <a:solidFill>
                  <a:srgbClr val="B4BAAE"/>
                </a:solidFill>
                <a:latin typeface="Aptos"/>
              </a:defRPr>
            </a:pPr>
            <a:r>
              <a:t>This dossier reconciles README and Book wording back to the same 88-agent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The live operator surface now stands at 88 workflow agents, 108 Multi-Turn tools, 12 ACPX tools, and 29 skills.</a:t>
            </a:r>
          </a:p>
          <a:p>
            <a:pPr>
              <a:spcAft>
                <a:spcPts val="400"/>
              </a:spcAft>
              <a:defRPr sz="1100">
                <a:solidFill>
                  <a:srgbClr val="B4BAAE"/>
                </a:solidFill>
                <a:latin typeface="Aptos"/>
              </a:defRPr>
            </a:pPr>
            <a:r>
              <a:t>Source inspection confirms the total: 20 core Python tools + 66 wrapped chat-agent tools + 12 ACPX/Skill tools + 10 External-MCP supervisors = 108 built-in Multi-Turn tools; healthy active servers add dynamic `ext__*` remotes separately.</a:t>
            </a:r>
          </a:p>
          <a:p>
            <a:pPr>
              <a:spcAft>
                <a:spcPts val="400"/>
              </a:spcAft>
              <a:defRPr sz="1100">
                <a:solidFill>
                  <a:srgbClr val="B4BAAE"/>
                </a:solidFill>
                <a:latin typeface="Aptos"/>
              </a:defRPr>
            </a:pPr>
            <a:r>
              <a:t>The count growth over older public badges comes from stacked waves: the deterministic file trio, ESPHomer, MCP Doctor, Zavuerer, Video-Analyzer, Nmapper, NetSpeed-Calculator, and the `adding-external-mcp` skill.</a:t>
            </a:r>
          </a:p>
          <a:p>
            <a:pPr>
              <a:spcAft>
                <a:spcPts val="400"/>
              </a:spcAft>
              <a:defRPr sz="11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1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88-agent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CRITICAL-MISSION STM32 FIRMWARE CONTROL WITH DUAL BACKENDS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STM32er is Tlamatini's critical-mission STM32 bridge. The established route talks to the `STM32 Template Project MCP` for STM32F407, while released `v1.42.0` adds a direct PlatformIO route for supported mainstream STM32 boards without removing that flow.</a:t>
            </a:r>
          </a:p>
          <a:p>
            <a:pPr>
              <a:spcAft>
                <a:spcPts val="400"/>
              </a:spcAft>
              <a:defRPr sz="1200">
                <a:solidFill>
                  <a:srgbClr val="B4BAAE"/>
                </a:solidFill>
                <a:latin typeface="Aptos"/>
              </a:defRPr>
            </a:pPr>
            <a:r>
              <a:t>Both backends keep zero-config intent: the template route bootstraps its MCP dependencies, and the new route resolves or installs PlatformIO Core in the same shared per-user location used by ESP32er.</a:t>
            </a:r>
          </a:p>
          <a:p>
            <a:pPr>
              <a:spcAft>
                <a:spcPts val="400"/>
              </a:spcAft>
              <a:defRPr sz="1200">
                <a:solidFill>
                  <a:srgbClr val="B4BAAE"/>
                </a:solidFill>
                <a:latin typeface="Aptos"/>
              </a:defRPr>
            </a:pPr>
            <a:r>
              <a:t>Backend-specific preflight preserves target safety: compile-only work may proceed without attached hardware, but upload, reset, serial, and live operations are refused when the required toolchain, project, board mapping, programmer, or ST-LINK evidence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200">
                <a:solidFill>
                  <a:srgbClr val="B4BAAE"/>
                </a:solidFill>
                <a:latin typeface="Aptos"/>
              </a:defRPr>
            </a:pPr>
            <a:r>
              <a:t>The tool surface retains the 23 MCP verbs and locally adds PlatformIO environment, board, project, source, build, flash, monitor, package, QA, artifact, and safe scaffold composites; every run still emits one `INI_SECTION_STM32ER` block for routing.</a:t>
            </a:r>
          </a:p>
          <a:p>
            <a:pPr>
              <a:spcAft>
                <a:spcPts val="400"/>
              </a:spcAft>
              <a:defRPr sz="1200">
                <a:solidFill>
                  <a:srgbClr val="B4BAAE"/>
                </a:solidFill>
                <a:latin typeface="Aptos"/>
              </a:defRPr>
            </a:pPr>
            <a:r>
              <a:t>Config seeding supplies both MCP and PlatformIO defaults, while `stm32_backend=auto`, `board`, and `device` keep the normal prompt focused on firmware intent. Newest-silicon CubeCLT/N6 handling remains proposal-only and is not advertised as implemented.</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new `ESP32TemplateProject` repository is the known-good baseline documented in BookOfTlamatini’s bonus chapter: a plain PlatformIO project, not a server, meant to prove an ESP32 board and toolchain are healthy before larger firmware work.</a:t>
            </a:r>
          </a:p>
          <a:p>
            <a:pPr>
              <a:spcAft>
                <a:spcPts val="400"/>
              </a:spcAft>
              <a:defRPr sz="1300">
                <a:solidFill>
                  <a:srgbClr val="B4BAAE"/>
                </a:solidFill>
                <a:latin typeface="Aptos"/>
              </a:defRPr>
            </a:pPr>
            <a:r>
              <a:t>It mirrors ESP32er’s grain: `platformio.ini`, `src/`, `include/`, `lib/`, `test/`, a blinking `main.cpp`, serial output at 115200, and GitHub-ready docs/CI so the reference project does not silently rot.</a:t>
            </a:r>
          </a:p>
          <a:p>
            <a:pPr>
              <a:spcAft>
                <a:spcPts val="400"/>
              </a:spcAft>
              <a:defRPr sz="1300">
                <a:solidFill>
                  <a:srgbClr val="B4BAAE"/>
                </a:solidFill>
                <a:latin typeface="Aptos"/>
              </a:defRPr>
            </a:pPr>
            <a:r>
              <a:t>Operationally, ESP32er can either point at a checkout of that template (`project_dir`) or scaffold an equivalent from scratch with `action='create_project'`, then carry the directory through build, upload, and monitor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bundled `ESPHomeTemplateProject` is the known-good ESPHome baseline documented in README and Book: a phone-controllable light with native `api`, `ota`, `wifi`, and a board LED output, shipped as `agent/agents/esphomer/ESPHomeTemplateProject/tlamatini-light.yaml`.</a:t>
            </a:r>
          </a:p>
          <a:p>
            <a:pPr>
              <a:spcAft>
                <a:spcPts val="400"/>
              </a:spcAft>
              <a:defRPr sz="1300">
                <a:solidFill>
                  <a:srgbClr val="B4BAAE"/>
                </a:solidFill>
                <a:latin typeface="Aptos"/>
              </a:defRPr>
            </a:pPr>
            <a:r>
              <a:t>It matters because ESPHomer’s source-of-truth is a YAML device file, not a C++ project tree: that sample proves the first real workflow of `new_config` -&gt; `config` -&gt; `compile` -&gt; `upload` without forcing users to invent a valid starter config from memory.</a:t>
            </a:r>
          </a:p>
          <a:p>
            <a:pPr>
              <a:spcAft>
                <a:spcPts val="400"/>
              </a:spcAft>
              <a:defRPr sz="1300">
                <a:solidFill>
                  <a:srgbClr val="B4BAAE"/>
                </a:solidFill>
                <a:latin typeface="Aptos"/>
              </a:defRPr>
            </a:pPr>
            <a:r>
              <a:t>Operationally, the sample closes the gap between the new agent and a practical first build a user can validate, compile, flash, and then control from a smart-home hub such as Home Assistant.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Run from source: create a virtual environment, install requirements, migrate, create a superuser, collect static files, and start Django.</a:t>
            </a:r>
          </a:p>
          <a:p>
            <a:pPr>
              <a:spcAft>
                <a:spcPts val="400"/>
              </a:spcAft>
              <a:defRPr sz="1100">
                <a:solidFill>
                  <a:srgbClr val="B4BAAE"/>
                </a:solidFill>
                <a:latin typeface="Aptos"/>
              </a:defRPr>
            </a:pPr>
            <a:r>
              <a:t>Open `/agent/` for chat. Load a file or directory context before asking codebase-specific questions.</a:t>
            </a:r>
          </a:p>
          <a:p>
            <a:pPr>
              <a:spcAft>
                <a:spcPts val="400"/>
              </a:spcAft>
              <a:defRPr sz="1100">
                <a:solidFill>
                  <a:srgbClr val="B4BAAE"/>
                </a:solidFill>
                <a:latin typeface="Aptos"/>
              </a:defRPr>
            </a:pPr>
            <a:r>
              <a:t>Keep Multi-Turn unchecked for direct Q&amp;A; enable Multi-Turn for tasks that need tools, wrapped agents, monitoring, or workflow seeding.</a:t>
            </a:r>
          </a:p>
          <a:p>
            <a:pPr>
              <a:spcAft>
                <a:spcPts val="400"/>
              </a:spcAft>
              <a:defRPr sz="1100">
                <a:solidFill>
                  <a:srgbClr val="B4BAAE"/>
                </a:solidFill>
                <a:latin typeface="Aptos"/>
              </a:defRPr>
            </a:pPr>
            <a:r>
              <a:t>Use `chat_agent_globber` to find files by pattern, `chat_agent_grepper` to locate matching content, and `chat_agent_editor` when you need an exact in-place change instead of rewriting a whole file or shelling out to grep/findstr/sed.</a:t>
            </a:r>
          </a:p>
          <a:p>
            <a:pPr>
              <a:spcAft>
                <a:spcPts val="400"/>
              </a:spcAft>
              <a:defRPr sz="11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762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For a deterministic MCP setup, invoke the `adding-external-mcp` skill and follow classify -&gt; import -&gt; doctor -&gt; activate -&gt; wait -&gt; status/list -&gt; call; do not treat a saved catalog row as a connected server.</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762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For local nmap reconnaissance, install nmap yourself or call `chat_agent_nmapper` with `action='install'` to launch the official free installer; then use `quick`, `full`, `top_ports`, `version`, `scripts`, `host_discovery`, `udp`, `custom`, or `validate` only against hosts you own or are explicitly authorized to test.</a:t>
            </a:r>
          </a:p>
          <a:p>
            <a:pPr>
              <a:spcAft>
                <a:spcPts val="400"/>
              </a:spcAft>
              <a:defRPr sz="900">
                <a:solidFill>
                  <a:srgbClr val="B4BAAE"/>
                </a:solidFill>
                <a:latin typeface="Aptos"/>
              </a:defRPr>
            </a:pPr>
            <a:r>
              <a:t>For Internet measurement, call `chat_agent_netspeed_calculator` once with `latency` or `validate` for low-bandwidth diagnosis, or explicitly approve `full` / `download` / `upload` knowing a full run commonly transfers 100-200 MB; report the confidence interval and provider disagreement, not only one Mbps number.</a:t>
            </a:r>
          </a:p>
          <a:p>
            <a:pPr>
              <a:spcAft>
                <a:spcPts val="400"/>
              </a:spcAft>
              <a:defRPr sz="9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a:p>
            <a:pPr>
              <a:spcAft>
                <a:spcPts val="400"/>
              </a:spcAft>
              <a:defRPr sz="9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9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C48052"/>
                </a:solidFill>
                <a:latin typeface="Aptos"/>
              </a:rPr>
              <a:t>Workflows and releases</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1400">
                <a:solidFill>
                  <a:srgbClr val="B4BAAE"/>
                </a:solidFill>
                <a:latin typeface="Aptos"/>
              </a:defRPr>
            </a:pPr>
            <a:r>
              <a:t>For interactive web automation, call `chat_agent_playwrighter` from Multi-Turn with a `steps_json` script, or author the same step list visually with the Playwrighter node on the canvas.</a:t>
            </a:r>
          </a:p>
          <a:p>
            <a:pPr>
              <a:spcAft>
                <a:spcPts val="400"/>
              </a:spcAft>
              <a:defRPr sz="14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a:p>
            <a:pPr>
              <a:spcAft>
                <a:spcPts val="400"/>
              </a:spcAft>
              <a:defRPr sz="14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400">
                <a:solidFill>
                  <a:srgbClr val="B4BAAE"/>
                </a:solidFill>
                <a:latin typeface="Aptos"/>
              </a:defRPr>
            </a:pPr>
            <a:r>
              <a:t>Archive jobs can now be described directly in Multi-Turn or modeled visually in ACP: De-Compresser infers compress vs decompress from the `input` or `output` extension.</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1087495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1087495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10472623" cy="310896"/>
          </a:xfrm>
          <a:prstGeom prst="rect">
            <a:avLst/>
          </a:prstGeom>
          <a:noFill/>
        </p:spPr>
        <p:txBody>
          <a:bodyPr wrap="square" anchor="t" lIns="12700" rIns="76200" tIns="12700" bIns="12700">
            <a:normAutofit/>
          </a:bodyPr>
          <a:lstStyle/>
          <a:p>
            <a:pPr algn="l"/>
            <a:r>
              <a:rPr sz="1400" b="1">
                <a:solidFill>
                  <a:srgbClr val="C48052"/>
                </a:solidFill>
                <a:latin typeface="Aptos"/>
              </a:rPr>
              <a:t>Workflows and releases</a:t>
            </a:r>
          </a:p>
        </p:txBody>
      </p:sp>
      <p:sp>
        <p:nvSpPr>
          <p:cNvPr id="12" name="TextBox 11"/>
          <p:cNvSpPr txBox="1"/>
          <p:nvPr/>
        </p:nvSpPr>
        <p:spPr>
          <a:xfrm>
            <a:off x="859536" y="2103120"/>
            <a:ext cx="10472623" cy="376732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400">
                <a:solidFill>
                  <a:srgbClr val="B4BAAE"/>
                </a:solidFill>
                <a:latin typeface="Aptos"/>
              </a:defRPr>
            </a:pPr>
            <a:r>
              <a:t>Use the `ACPX-Skills` navbar menu when you need to browse, enable/disable, diagnose, or reload the shipped SKILL.md catalog without asking the LLM to be your admin surface.</a:t>
            </a:r>
          </a:p>
          <a:p>
            <a:pPr>
              <a:spcAft>
                <a:spcPts val="400"/>
              </a:spcAft>
              <a:defRPr sz="1400">
                <a:solidFill>
                  <a:srgbClr val="B4BAAE"/>
                </a:solidFill>
                <a:latin typeface="Aptos"/>
              </a:defRPr>
            </a:pPr>
            <a:r>
              <a:t>Use the DB dropdown when you need a safe database snapshot or want to stage a different `db.sqlite3` for the next start-up without hot-swapping the live SQLite file.</a:t>
            </a:r>
          </a:p>
          <a:p>
            <a:pPr>
              <a:spcAft>
                <a:spcPts val="400"/>
              </a:spcAft>
              <a:defRPr sz="1400">
                <a:solidFill>
                  <a:srgbClr val="B4BAAE"/>
                </a:solidFill>
                <a:latin typeface="Aptos"/>
              </a:defRPr>
            </a:pPr>
            <a:r>
              <a:t>Open `/agentic_control_panel/` to drag agents, connect them, configure each node, validate, start, pause/resume, stop, and save `.flw` workflows.</a:t>
            </a:r>
          </a:p>
          <a:p>
            <a:pPr>
              <a:spcAft>
                <a:spcPts val="400"/>
              </a:spcAft>
              <a:defRPr sz="14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lIns="12700" rIns="76200" tIns="12700" bIns="12700">
            <a:norm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lIns="12700" rIns="76200" tIns="12700" bIns="12700">
            <a:norm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lIns="12700" rIns="76200" tIns="12700" bIns="12700">
            <a:norm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The easiest path for most users is the packaged installer from GitHub Releases: no manual Python install is required because the release already carries Python 3.12.10 and the project dependencies.</a:t>
            </a:r>
          </a:p>
          <a:p>
            <a:pPr>
              <a:spcAft>
                <a:spcPts val="400"/>
              </a:spcAft>
              <a:defRPr sz="900">
                <a:solidFill>
                  <a:srgbClr val="B4BAAE"/>
                </a:solidFill>
                <a:latin typeface="Aptos"/>
              </a:defRPr>
            </a:pPr>
            <a:r>
              <a:t>For Tlamatini's complete intended cloud-model workload, activate Ollama Pro or a higher plan such as Max and sign in with the Ollama CLI. Free/local-only operation is a limited compatibility path, not the documented full-workload baseline; verify current plan pricing and limits on Ollama's official site.</a:t>
            </a:r>
          </a:p>
          <a:p>
            <a:pPr>
              <a:spcAft>
                <a:spcPts val="400"/>
              </a:spcAft>
              <a:defRPr sz="900">
                <a:solidFill>
                  <a:srgbClr val="B4BAAE"/>
                </a:solidFill>
                <a:latin typeface="Aptos"/>
              </a:defRPr>
            </a:pPr>
            <a:r>
              <a:t>Source mode remains the developer path: clone the repo, create a virtual environment, install `requirements.txt`, run migrations, create a superuser, collect static files, and then launch Django.</a:t>
            </a:r>
          </a:p>
          <a:p>
            <a:pPr>
              <a:spcAft>
                <a:spcPts val="400"/>
              </a:spcAft>
              <a:defRPr sz="900">
                <a:solidFill>
                  <a:srgbClr val="B4BAAE"/>
                </a:solidFill>
                <a:latin typeface="Aptos"/>
              </a:defRPr>
            </a:pPr>
            <a:r>
              <a:t>Packaged Windows installs open the browser at `http://127.0.0.1:8000/` and create the default `user / changeme` login; manual source installs use your own `createsuperuser` account instead.</a:t>
            </a:r>
          </a:p>
          <a:p>
            <a:pPr>
              <a:spcAft>
                <a:spcPts val="400"/>
              </a:spcAft>
              <a:defRPr sz="900">
                <a:solidFill>
                  <a:srgbClr val="B4BAAE"/>
                </a:solidFill>
                <a:latin typeface="Aptos"/>
              </a:defRPr>
            </a:pPr>
            <a:r>
              <a:t>Port 8000 is only the default: `config.json`'s `django_port` moves the web UI to any free port on every launch path, which is the fix when Windows or Hyper-V has RESERVED port 8000 and startup fails with `WinError 10013`.</a:t>
            </a:r>
          </a:p>
          <a:p>
            <a:pPr>
              <a:spcAft>
                <a:spcPts val="400"/>
              </a:spcAft>
              <a:defRPr sz="900">
                <a:solidFill>
                  <a:srgbClr val="B4BAAE"/>
                </a:solidFill>
                <a:latin typeface="Aptos"/>
              </a:defRPr>
            </a:pPr>
            <a:r>
              <a:t>When a newer packaged release exists, the intended upgrade path is in-app: `About -&gt; Check for updates`, not manual folder replacement.</a:t>
            </a:r>
          </a:p>
          <a:p>
            <a:pPr>
              <a:spcAft>
                <a:spcPts val="400"/>
              </a:spcAft>
              <a:defRPr sz="900">
                <a:solidFill>
                  <a:srgbClr val="B4BAAE"/>
                </a:solidFill>
                <a:latin typeface="Aptos"/>
              </a:defRPr>
            </a:pPr>
            <a:r>
              <a:t>You can run either the checked-in cloud/back-end defaults from `Tlamatini/agent/config.json` or a local/remote Ollama-backed configuration with matching model names.</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The checked-in default model baseline moved again in the recent Git window: the shared config now favors `glm-5.3:cloud`, so source or frozen installs that keep the shipped config should be documented as cloud-first unless the operator intentionally swaps models.</a:t>
            </a:r>
          </a:p>
          <a:p>
            <a:pPr>
              <a:spcAft>
                <a:spcPts val="400"/>
              </a:spcAft>
              <a:defRPr sz="11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lIns="12700" rIns="76200" tIns="12700" bIns="12700">
            <a:norm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Credential configuration is no longer hand-edit-only: Config -&gt; Access Keys Wizard provides a browser-side path for ACPX, provider secrets, unified messaging, and Security Recon (ProjectDiscovery) keys such as `pdcp_api_key` while preserving masked status in the UI.</a:t>
            </a:r>
          </a:p>
          <a:p>
            <a:pPr>
              <a:spcAft>
                <a:spcPts val="400"/>
              </a:spcAft>
              <a:defRPr sz="14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4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4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400">
                <a:solidFill>
                  <a:srgbClr val="B4BAAE"/>
                </a:solidFill>
                <a:latin typeface="Aptos"/>
              </a:defRPr>
            </a:pPr>
            <a:r>
              <a:t>Image-Interpreter now uses three model slots from Config -&gt; Models: `image_interpreter_model` for the first forensic interpreter, `image_interpreter_model_2` for the second holistic interpreter, and `image_merging_model` for the final report merger.</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3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3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0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000">
                <a:solidFill>
                  <a:srgbClr val="B4BAAE"/>
                </a:solidFill>
                <a:latin typeface="Aptos"/>
              </a:defRPr>
            </a:pPr>
            <a:r>
              <a:t>The `v1.35.0` prompt-search pass then makes that larger catalog easier to operate: prompt cards support substring, word-start, and fuzzy matching, with mode badges that keep one-shot, Multi-Turn, ACPX, Exec Report, and Step-by-Step demos visually distinct.</a:t>
            </a:r>
          </a:p>
          <a:p>
            <a:pPr>
              <a:spcAft>
                <a:spcPts val="400"/>
              </a:spcAft>
              <a:defRPr sz="1000">
                <a:solidFill>
                  <a:srgbClr val="B4BAAE"/>
                </a:solidFill>
                <a:latin typeface="Aptos"/>
              </a:defRPr>
            </a:pPr>
            <a:r>
              <a:t>Those readability rules remain in force in the `v1.51.5` release documentation set; it carries measured networking, WAL-safe database movement, structured and resilient Googler discovery, guided MCP onboarding, and current counts while retaining encoding-safe search, guarded execution truth, private MCP runtime/defaults, diagram hardening, LaTeXer, the binary guard, PDFer, FlowCreator, prompt standardization, category grouping, and ranked fuzzy search.</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The DB dropdown gives operators two GUI-first maintenance paths: `Backup database` creates a WAL-consistent verified snapshot, and `Set DB` stages a WAL-consistent chosen database for the next full start-up.</a:t>
            </a:r>
          </a:p>
          <a:p>
            <a:pPr>
              <a:spcAft>
                <a:spcPts val="400"/>
              </a:spcAft>
              <a:defRPr sz="14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400">
                <a:solidFill>
                  <a:srgbClr val="B4BAAE"/>
                </a:solidFill>
                <a:latin typeface="Aptos"/>
              </a:defRPr>
            </a:pPr>
            <a:r>
              <a:t>Both paths use `sqlite_copy.consistent_copy()`: SQLite's online backup API reads through committed WAL pages, the destination switches to DELETE journal mode, and `PRAGMA quick_check` must pass before success. Set DB never hot-swaps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Set DB writes a verified self-contained copy to `DB/ToLoad/db.sqlite3`; the real swap happens only at the top of `manage.py` before Django imports anything.</a:t>
            </a:r>
          </a:p>
          <a:p>
            <a:pPr>
              <a:spcAft>
                <a:spcPts val="400"/>
              </a:spcAft>
              <a:defRPr sz="1100">
                <a:solidFill>
                  <a:srgbClr val="B4BAAE"/>
                </a:solidFill>
                <a:latin typeface="Aptos"/>
              </a:defRPr>
            </a:pPr>
            <a:r>
              <a:t>When that swap runs, the previous live database and its `-wal`/`-shm`/`-journal` family move into `DB/Older/&lt;timestamp&gt;/`, creating a rollback trail instead of overwriting history.</a:t>
            </a:r>
          </a:p>
          <a:p>
            <a:pPr>
              <a:spcAft>
                <a:spcPts val="400"/>
              </a:spcAft>
              <a:defRPr sz="1100">
                <a:solidFill>
                  <a:srgbClr val="B4BAAE"/>
                </a:solidFill>
                <a:latin typeface="Aptos"/>
              </a:defRPr>
            </a:pPr>
            <a:r>
              <a:t>Stale sidecars beside the destination are removed before promotion so SQLite can never replay pages belonging to the previous database over the newly selected file.</a:t>
            </a:r>
          </a:p>
          <a:p>
            <a:pPr>
              <a:spcAft>
                <a:spcPts val="400"/>
              </a:spcAft>
              <a:defRPr sz="1100">
                <a:solidFill>
                  <a:srgbClr val="B4BAAE"/>
                </a:solidFill>
                <a:latin typeface="Aptos"/>
              </a:defRPr>
            </a:pPr>
            <a:r>
              <a:t>Reconnect is not enough for this path: the operator must fully restart Tlamatini so the pre-Django swap window opens again.</a:t>
            </a:r>
          </a:p>
          <a:p>
            <a:pPr>
              <a:spcAft>
                <a:spcPts val="400"/>
              </a:spcAft>
              <a:defRPr sz="1100">
                <a:solidFill>
                  <a:srgbClr val="B4BAAE"/>
                </a:solidFill>
                <a:latin typeface="Aptos"/>
              </a:defRPr>
            </a:pPr>
            <a:r>
              <a:t>Copy verification is fail-safe: an unreadable, inconsistent, or unchecked result is reported as failure rather than called a backup. Startup preserves the previous live database if promotion cannot complete safely.</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3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300">
                <a:solidFill>
                  <a:srgbClr val="B4BAAE"/>
                </a:solidFill>
                <a:latin typeface="Aptos"/>
              </a:defRPr>
            </a:pPr>
            <a:r>
              <a:t>The reachable release tag v1.51.7 resolves to 96fdbde. Current source HEAD is 36c0139, 5 commits beyond that tag. Fetched origin/main resolves to 36c0139. Runtime version resolution remains Git/build-derived. A source revision beyond the tag is not a new tagged release.</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lIns="12700" rIns="76200" tIns="12700" bIns="12700">
            <a:normAutofit/>
          </a:bodyPr>
          <a:lstStyle/>
          <a:p>
            <a:pPr algn="l"/>
            <a:r>
              <a:rPr sz="900" b="0">
                <a:solidFill>
                  <a:srgbClr val="B4BAAE"/>
                </a:solidFill>
                <a:latin typeface="Cascadia Mono"/>
              </a:rPr>
              <a:t>Resolved current version: 1.51.7 | build: 1.51.7</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lIns="12700" rIns="76200" tIns="12700" bIns="12700">
            <a:normAutofit/>
          </a:bodyPr>
          <a:lstStyle/>
          <a:p>
            <a:pPr algn="l"/>
            <a:r>
              <a:rPr sz="900" b="0">
                <a:solidFill>
                  <a:srgbClr val="E8E8DE"/>
                </a:solidFill>
                <a:latin typeface="Cascadia Mono"/>
              </a:rPr>
              <a:t>$env:OLLAMA_INSTALL_DIR = "$env:LOCALAPPDATA\Programs\Ollama"
irm https://ollama.com/install.ps1 | iex
ollama --version
ollama signin
ollama serve
Invoke-WebRequest http://127.0.0.1:11434/api/tags -UseBasicParsing
ollama pull Nomic-Embed-Text:latest
ollama pull glm-5.3:cloud
ollama pull qwen3.5:cloud
ollama pull gemma4:cloud
ollama pull qwen3-vl:235b-cloud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lIns="12700" rIns="76200" tIns="12700" bIns="12700">
            <a:norm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Activate Ollama Pro or a higher plan such as Max for Tlamatini's complete intended functionality, then run `ollama signin` so the host is linked before using the shipped `:cloud` defaults. This requirement is not a sponsorship; verify current plan details directly with Ollama.</a:t>
            </a:r>
          </a:p>
          <a:p>
            <a:pPr>
              <a:spcAft>
                <a:spcPts val="400"/>
              </a:spcAft>
              <a:defRPr sz="12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200">
                <a:solidFill>
                  <a:srgbClr val="B4BAAE"/>
                </a:solidFill>
                <a:latin typeface="Aptos"/>
              </a:defRPr>
            </a:pPr>
            <a:r>
              <a:t>Pull the default repository model tags exactly as written if you want the shipped config and agent templates to work unchanged.</a:t>
            </a:r>
          </a:p>
          <a:p>
            <a:pPr>
              <a:spcAft>
                <a:spcPts val="400"/>
              </a:spcAft>
              <a:defRPr sz="1200">
                <a:solidFill>
                  <a:srgbClr val="B4BAAE"/>
                </a:solidFill>
                <a:latin typeface="Aptos"/>
              </a:defRPr>
            </a:pPr>
            <a:r>
              <a:t>The Book now clarifies the token rule: a localhost Ollama usually needs no Ollama bearer token in Tlamatini, while a remote Ollama endpoint may require one in `Config -&gt; Access Keys Wizard` or the matching config key.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glm-5.3:cloud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gemma4:cloud</a:t>
            </a:r>
          </a:p>
          <a:p>
            <a:pPr>
              <a:spcAft>
                <a:spcPts val="400"/>
              </a:spcAft>
              <a:defRPr sz="1500">
                <a:solidFill>
                  <a:srgbClr val="B4BAAE"/>
                </a:solidFill>
                <a:latin typeface="Aptos"/>
              </a:defRPr>
            </a:pPr>
            <a:r>
              <a:t>qwen3-vl:235b-cloud</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900">
                <a:solidFill>
                  <a:srgbClr val="B4BAAE"/>
                </a:solidFill>
                <a:latin typeface="Aptos"/>
              </a:defRPr>
            </a:pPr>
            <a:r>
              <a:t>Development server: `python Tlamatini/manage.py runserver` — the `--noreload` flag is now OPTIONAL (plain `runserver` boots clean and auto-reloads since the 2026-07-11 `agent/apps.py` reloader-aware fix; it used to double-start the MCP helper ports :8765 / :50051 and crash with WinError 10048).</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 — this path bypasses `manage.py`, so it does not read `django_port` and the port must be passed on the command line.</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build.py</a:t>
            </a:r>
          </a:p>
        </p:txBody>
      </p:sp>
      <p:sp>
        <p:nvSpPr>
          <p:cNvPr id="11" name="TextBox 10"/>
          <p:cNvSpPr txBox="1"/>
          <p:nvPr/>
        </p:nvSpPr>
        <p:spPr>
          <a:xfrm>
            <a:off x="2642615" y="2002536"/>
            <a:ext cx="246888" cy="256032"/>
          </a:xfrm>
          <a:prstGeom prst="rect">
            <a:avLst/>
          </a:prstGeom>
          <a:noFill/>
        </p:spPr>
        <p:txBody>
          <a:bodyPr wrap="square" anchor="t" lIns="12700" rIns="76200" tIns="12700" bIns="12700">
            <a:norm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pkg.zip</a:t>
            </a:r>
          </a:p>
        </p:txBody>
      </p:sp>
      <p:sp>
        <p:nvSpPr>
          <p:cNvPr id="14" name="TextBox 13"/>
          <p:cNvSpPr txBox="1"/>
          <p:nvPr/>
        </p:nvSpPr>
        <p:spPr>
          <a:xfrm>
            <a:off x="4480559" y="2002536"/>
            <a:ext cx="246888" cy="256032"/>
          </a:xfrm>
          <a:prstGeom prst="rect">
            <a:avLst/>
          </a:prstGeom>
          <a:noFill/>
        </p:spPr>
        <p:txBody>
          <a:bodyPr wrap="square" anchor="t" lIns="12700" rIns="76200" tIns="12700" bIns="12700">
            <a:norm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256032"/>
          </a:xfrm>
          <a:prstGeom prst="rect">
            <a:avLst/>
          </a:prstGeom>
          <a:noFill/>
        </p:spPr>
        <p:txBody>
          <a:bodyPr wrap="square" anchor="t" lIns="12700" rIns="76200" tIns="12700" bIns="12700">
            <a:norm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256032"/>
          </a:xfrm>
          <a:prstGeom prst="rect">
            <a:avLst/>
          </a:prstGeom>
          <a:noFill/>
        </p:spPr>
        <p:txBody>
          <a:bodyPr wrap="square" anchor="t" lIns="12700" rIns="76200" tIns="12700" bIns="12700">
            <a:norm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256032"/>
          </a:xfrm>
          <a:prstGeom prst="rect">
            <a:avLst/>
          </a:prstGeom>
          <a:noFill/>
        </p:spPr>
        <p:txBody>
          <a:bodyPr wrap="square" anchor="t" lIns="12700" rIns="76200" tIns="12700" bIns="12700">
            <a:norm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lIns="12700" rIns="76200" tIns="12700" bIns="12700">
            <a:norm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lIns="12700" rIns="76200" tIns="12700" bIns="12700">
            <a:norm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100">
                <a:solidFill>
                  <a:srgbClr val="B4BAAE"/>
                </a:solidFill>
                <a:latin typeface="Aptos"/>
              </a:defRPr>
            </a:pPr>
            <a:r>
              <a:t>Exec Report is a Multi-Turn-only transparency layer that appends operation tables for every wrapped agent family, including observational and read-only agents; `_EXEC_REPORT_TOOLS` only refines grouping and style.</a:t>
            </a:r>
          </a:p>
          <a:p>
            <a:pPr>
              <a:spcAft>
                <a:spcPts val="400"/>
              </a:spcAft>
              <a:defRPr sz="1100">
                <a:solidFill>
                  <a:srgbClr val="B4BAAE"/>
                </a:solidFill>
                <a:latin typeface="Aptos"/>
              </a:defRPr>
            </a:pPr>
            <a:r>
              <a:t>Rows are recorded from the live tool-call stream rather than guessed from the LLM prose, so the report is the operational ground truth.</a:t>
            </a:r>
          </a:p>
          <a:p>
            <a:pPr>
              <a:spcAft>
                <a:spcPts val="400"/>
              </a:spcAft>
              <a:defRPr sz="1100">
                <a:solidFill>
                  <a:srgbClr val="B4BAAE"/>
                </a:solidFill>
                <a:latin typeface="Aptos"/>
              </a:defRPr>
            </a:pPr>
            <a:r>
              <a:t>Each row receives a deterministic SUCCESS/FAILURE verdict from the agent's structured self-report: completed diagnostics and intact work are green, while degraded, not-done, and agent-error statuses are red under the guarded five-class vocabulary.</a:t>
            </a:r>
          </a:p>
          <a:p>
            <a:pPr>
              <a:spcAft>
                <a:spcPts val="400"/>
              </a:spcAft>
              <a:defRPr sz="11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lIns="12700" rIns="76200" tIns="12700" bIns="12700">
            <a:norm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12700" rIns="762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lIns="12700" rIns="76200" tIns="12700" bIns="12700">
            <a:norm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1148</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lIns="12700" rIns="76200" tIns="12700" bIns="12700">
            <a:norm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88</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lIns="12700" rIns="76200" tIns="12700" bIns="12700">
            <a:norm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201</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lIns="12700" rIns="76200" tIns="12700" bIns="12700">
            <a:norm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40</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lIns="12700" rIns="76200" tIns="12700" bIns="12700">
            <a:norm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11</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lIns="12700" rIns="76200" tIns="12700" bIns="12700">
            <a:norm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lIns="12700" rIns="76200" tIns="12700" bIns="12700">
            <a:norm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lIns="12700" rIns="76200" tIns="12700" bIns="12700">
            <a:norm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36c0139 - Added an auxiliary python script to get credits for further add-ons to Tlamatini, by angelahack1</a:t>
            </a:r>
          </a:p>
          <a:p>
            <a:pPr>
              <a:spcAft>
                <a:spcPts val="400"/>
              </a:spcAft>
              <a:defRPr sz="1300">
                <a:solidFill>
                  <a:srgbClr val="B4BAAE"/>
                </a:solidFill>
                <a:latin typeface="Aptos"/>
              </a:defRPr>
            </a:pPr>
            <a:r>
              <a:t>Resolved version: 1.51.7 (git)</a:t>
            </a:r>
          </a:p>
          <a:p>
            <a:pPr>
              <a:spcAft>
                <a:spcPts val="400"/>
              </a:spcAft>
              <a:defRPr sz="1300">
                <a:solidFill>
                  <a:srgbClr val="B4BAAE"/>
                </a:solidFill>
                <a:latin typeface="Aptos"/>
              </a:defRPr>
            </a:pPr>
            <a:r>
              <a:t>Generated on September 13, 2026 10:50 AM UTC-0600</a:t>
            </a:r>
          </a:p>
          <a:p>
            <a:pPr>
              <a:spcAft>
                <a:spcPts val="400"/>
              </a:spcAft>
              <a:defRPr sz="1300">
                <a:solidFill>
                  <a:srgbClr val="B4BAAE"/>
                </a:solidFill>
                <a:latin typeface="Aptos"/>
              </a:defRPr>
            </a:pPr>
            <a:r>
              <a:t>Inventory scope: 1148 files = 1148 tracked + 0 git-unignored working-tree additions</a:t>
            </a:r>
          </a:p>
          <a:p>
            <a:pPr>
              <a:spcAft>
                <a:spcPts val="400"/>
              </a:spcAft>
              <a:defRPr sz="1300">
                <a:solidFill>
                  <a:srgbClr val="B4BAAE"/>
                </a:solidFill>
                <a:latin typeface="Aptos"/>
              </a:defRPr>
            </a:pPr>
            <a:r>
              <a:t>Multi-Turn tools: 108; wrapped chat-agent tools: 66; skills: 29</a:t>
            </a:r>
          </a:p>
          <a:p>
            <a:pPr>
              <a:spcAft>
                <a:spcPts val="400"/>
              </a:spcAft>
              <a:defRPr sz="1300">
                <a:solidFill>
                  <a:srgbClr val="B4BAAE"/>
                </a:solidFill>
                <a:latin typeface="Aptos"/>
              </a:defRPr>
            </a:pPr>
            <a:r>
              <a:t>Python requirements: 80; authoritative agent-description rows: 88</a:t>
            </a:r>
          </a:p>
          <a:p>
            <a:pPr>
              <a:spcAft>
                <a:spcPts val="400"/>
              </a:spcAft>
              <a:defRPr sz="1300">
                <a:solidFill>
                  <a:srgbClr val="B4BAAE"/>
                </a:solidFill>
                <a:latin typeface="Aptos"/>
              </a:defRPr>
            </a:pPr>
            <a:r>
              <a:t>Binary or asset inventory files skipped from line count: 101</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300">
                <a:solidFill>
                  <a:srgbClr val="B4BAAE"/>
                </a:solidFill>
                <a:latin typeface="Aptos"/>
              </a:defRPr>
            </a:pPr>
            <a:r>
              <a:t>efe2ca1 on 2026-09-12</a:t>
            </a:r>
          </a:p>
          <a:p>
            <a:pPr>
              <a:spcAft>
                <a:spcPts val="400"/>
              </a:spcAft>
              <a:defRPr sz="1300">
                <a:solidFill>
                  <a:srgbClr val="B4BAAE"/>
                </a:solidFill>
                <a:latin typeface="Aptos"/>
              </a:defRPr>
            </a:pPr>
            <a:r>
              <a:t>Updating visual documentation, by angelahack1</a:t>
            </a:r>
          </a:p>
          <a:p>
            <a:pPr>
              <a:spcAft>
                <a:spcPts val="400"/>
              </a:spcAft>
              <a:defRPr sz="1300">
                <a:solidFill>
                  <a:srgbClr val="B4BAAE"/>
                </a:solidFill>
                <a:latin typeface="Aptos"/>
              </a:defRPr>
            </a:pPr>
            <a:r>
              <a:t>Commits since then: 2</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Commit 36c0139: Adds standalone ollama_credits.py for signed Ollama account-usage requests and console/JSON output. The card's $300 denominator and default reset day are script assumptions, not account-verified billing facts.</a:t>
            </a:r>
          </a:p>
          <a:p>
            <a:pPr>
              <a:spcAft>
                <a:spcPts val="400"/>
              </a:spcAft>
              <a:defRPr sz="1000">
                <a:solidFill>
                  <a:srgbClr val="B4BAAE"/>
                </a:solidFill>
                <a:latin typeface="Aptos"/>
              </a:defRPr>
            </a:pPr>
            <a:r>
              <a:t>Commit ac72b6c: Repairs chat_agent_run_wait by reconciling the real child process on every poll and using RUNNING_STATUSES. Five regression cases accompany the fix. They were not executed for the 2026-09-13 dossier refresh.</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TAGGED FOUNDATION AND SUBSEQUENT SOURCE CHANGES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76200" tIns="12700" bIns="12700">
            <a:norm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NetSpeed-Calculator: agent 88 / wrapped launcher 66, with multi-provider confidence intervals, I-squared heterogeneity, bufferbloat, named endpoint failures, and tier-D metered-bandwidth gating.</a:t>
            </a:r>
          </a:p>
          <a:p>
            <a:pPr>
              <a:spcAft>
                <a:spcPts val="400"/>
              </a:spcAft>
              <a:defRPr sz="1000">
                <a:solidFill>
                  <a:srgbClr val="B4BAAE"/>
                </a:solidFill>
                <a:latin typeface="Aptos"/>
              </a:defRPr>
            </a:pPr>
            <a:r>
              <a:t>Googler: four plain-HTTP server-rendered routes first, then visible Chrome/bundled Chromium across seven browser routes, with bounded retries, answer attribution, structured dork presets/aliases, URL-only file hunts, and a lawful-use boundary.</a:t>
            </a:r>
          </a:p>
          <a:p>
            <a:pPr>
              <a:spcAft>
                <a:spcPts val="400"/>
              </a:spcAft>
              <a:defRPr sz="1000">
                <a:solidFill>
                  <a:srgbClr val="B4BAAE"/>
                </a:solidFill>
                <a:latin typeface="Aptos"/>
              </a:defRPr>
            </a:pPr>
            <a:r>
              <a:t>WAL-safe SQLite: online backup API, self-contained DELETE-journal copies, quick_check proof, and sidecar-safe Backup DB / Set DB / startup promotion.</a:t>
            </a:r>
          </a:p>
          <a:p>
            <a:pPr>
              <a:spcAft>
                <a:spcPts val="400"/>
              </a:spcAft>
              <a:defRPr sz="1000">
                <a:solidFill>
                  <a:srgbClr val="B4BAAE"/>
                </a:solidFill>
                <a:latin typeface="Aptos"/>
              </a:defRPr>
            </a:pPr>
            <a:r>
              <a:t>External MCP Adder: the 29th skill codifies transport classification, secret-separated import, Doctor, activation, wait, status/list, and call.</a:t>
            </a:r>
          </a:p>
          <a:p>
            <a:pPr>
              <a:spcAft>
                <a:spcPts val="400"/>
              </a:spcAft>
              <a:defRPr sz="1000">
                <a:solidFill>
                  <a:srgbClr val="B4BAAE"/>
                </a:solidFill>
                <a:latin typeface="Aptos"/>
              </a:defRPr>
            </a:pPr>
            <a:r>
              <a:t>Deep Internet Research: append-only prompt 118 requests a long, link-rich Multi-Turn + Exec Report research run without hiding tool prerequisites.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76200" tIns="12700" bIns="12700">
            <a:norm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12700" rIns="76200" tIns="25400" bIns="25400">
            <a:normAutofit/>
          </a:bodyPr>
          <a:lstStyle/>
          <a:p>
            <a:pPr>
              <a:spcAft>
                <a:spcPts val="400"/>
              </a:spcAft>
              <a:defRPr sz="1000">
                <a:solidFill>
                  <a:srgbClr val="B4BAAE"/>
                </a:solidFill>
                <a:latin typeface="Aptos"/>
              </a:defRPr>
            </a:pPr>
            <a:r>
              <a:t>The reachable release tag v1.51.7 resolves to 96fdbde. Current source HEAD is 36c0139, 5 commits beyond that tag. Fetched origin/main resolves to 36c0139. Runtime version resolution remains Git/build-derived. A source revision beyond the tag is not a new tagged release.</a:t>
            </a:r>
          </a:p>
          <a:p>
            <a:pPr>
              <a:spcAft>
                <a:spcPts val="400"/>
              </a:spcAft>
              <a:defRPr sz="1000">
                <a:solidFill>
                  <a:srgbClr val="B4BAAE"/>
                </a:solidFill>
                <a:latin typeface="Aptos"/>
              </a:defRPr>
            </a:pPr>
            <a:r>
              <a:t>Complete cloud-model operation requires Ollama Pro or higher; this is an operating requirement, not sponsorship, and current plan details belong to Ollama's official site.</a:t>
            </a:r>
          </a:p>
          <a:p>
            <a:pPr>
              <a:spcAft>
                <a:spcPts val="400"/>
              </a:spcAft>
              <a:defRPr sz="1000">
                <a:solidFill>
                  <a:srgbClr val="B4BAAE"/>
                </a:solidFill>
                <a:latin typeface="Aptos"/>
              </a:defRPr>
            </a:pPr>
            <a:r>
              <a:t>Private contact synchronization merges same-machine sources only for the explicit keyed build; public output and source snapshots remain free of contact PII.</a:t>
            </a:r>
          </a:p>
          <a:p>
            <a:pPr>
              <a:spcAft>
                <a:spcPts val="400"/>
              </a:spcAft>
              <a:defRPr sz="1000">
                <a:solidFill>
                  <a:srgbClr val="B4BAAE"/>
                </a:solidFill>
                <a:latin typeface="Aptos"/>
              </a:defRPr>
            </a:pPr>
            <a:r>
              <a:t>The stronger disclaimer says plain-Python transparency enables user control but is not a security warranty; the operator owns authorization, permissions, review, and consequences.</a:t>
            </a:r>
          </a:p>
          <a:p>
            <a:pPr>
              <a:spcAft>
                <a:spcPts val="400"/>
              </a:spcAft>
              <a:defRPr sz="1000">
                <a:solidFill>
                  <a:srgbClr val="B4BAAE"/>
                </a:solidFill>
                <a:latin typeface="Aptos"/>
              </a:defRPr>
            </a:pPr>
            <a:r>
              <a:t>Catalog now stands at 88 workflow agents and 108 built-in Multi-Turn tools (20 core + 66 wrapped + 12 ACPX/Skill + 10 External-MCP supervisors), with 29 skills; dynamic ext__ remotes are separate.</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lIns="12700" rIns="76200" tIns="12700" bIns="12700">
            <a:norm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lIns="12700" rIns="76200" tIns="12700" bIns="12700">
            <a:normAutofit/>
          </a:bodyPr>
          <a:lstStyle/>
          <a:p>
            <a:pPr algn="l"/>
            <a:r>
              <a:rPr sz="2000" b="1">
                <a:solidFill>
                  <a:srgbClr val="E8E8DE"/>
                </a:solidFill>
                <a:latin typeface="Aptos"/>
              </a:rPr>
              <a:t>252,099</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lIns="12700" rIns="76200" tIns="12700" bIns="12700">
            <a:norm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lIns="12700" rIns="76200" tIns="12700" bIns="12700">
            <a:normAutofit/>
          </a:bodyPr>
          <a:lstStyle/>
          <a:p>
            <a:pPr algn="l"/>
            <a:r>
              <a:rPr sz="2000" b="1">
                <a:solidFill>
                  <a:srgbClr val="E8E8DE"/>
                </a:solidFill>
                <a:latin typeface="Aptos"/>
              </a:rPr>
              <a:t>354,040</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lIns="12700" rIns="76200" tIns="12700" bIns="12700">
            <a:norm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lIns="12700" rIns="76200" tIns="12700" bIns="12700">
            <a:normAutofit/>
          </a:bodyPr>
          <a:lstStyle/>
          <a:p>
            <a:pPr algn="l"/>
            <a:r>
              <a:rPr sz="2000" b="1">
                <a:solidFill>
                  <a:srgbClr val="E8E8DE"/>
                </a:solidFill>
                <a:latin typeface="Aptos"/>
              </a:rPr>
              <a:t>15</a:t>
            </a:r>
          </a:p>
        </p:txBody>
      </p:sp>
      <p:sp>
        <p:nvSpPr>
          <p:cNvPr id="18" name="TextBox 17"/>
          <p:cNvSpPr txBox="1"/>
          <p:nvPr/>
        </p:nvSpPr>
        <p:spPr>
          <a:xfrm>
            <a:off x="841248" y="2788920"/>
            <a:ext cx="10378440" cy="2926080"/>
          </a:xfrm>
          <a:prstGeom prst="rect">
            <a:avLst/>
          </a:prstGeom>
          <a:noFill/>
        </p:spPr>
        <p:txBody>
          <a:bodyPr wrap="square" anchor="t" lIns="12700" rIns="76200" tIns="12700" bIns="12700">
            <a:normAutofit/>
          </a:bodyPr>
          <a:lstStyle/>
          <a:p>
            <a:pPr algn="l"/>
            <a:r>
              <a:rPr sz="800" b="0">
                <a:solidFill>
                  <a:srgbClr val="E8E8DE"/>
                </a:solidFill>
                <a:latin typeface="Cascadia Mono"/>
              </a:rPr>
              <a:t>LANGUAGE                 FILES   EFFECTIVE      TOTAL   SHARE
Python                   632     176,470    255,243  70.0%
Markdown                 183      27,272     36,083  10.8%
JavaScript                47      20,819     27,043   8.3%
CSS                       16       7,053      9,370   2.8%
JSON                      18       5,796      5,796   2.3%
Other text                21       4,764      5,582   1.9%
YAML                      93       2,163      5,756   0.9%
HTML                       6       1,982      2,055   0.8%
PowerShell                11       1,741      2,394   0.7%
Prompt template            2       1,319      1,452   0.5%
Text                       7       1,142      1,454   0.5%
Tlamatini Flow             4         837        837   0.3%
JavaScript module          2         457        562   0.2%
Batch                      4         264        380   0.1%
Protocol Buffers           1          20         33   0.0%</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lIns="12700" rIns="76200" tIns="12700" bIns="12700">
            <a:normAutofit/>
          </a:bodyPr>
          <a:lstStyle/>
          <a:p>
            <a:pPr algn="l"/>
            <a:r>
              <a:rPr sz="800" b="0">
                <a:solidFill>
                  <a:srgbClr val="E8E8DE"/>
                </a:solidFill>
                <a:latin typeface="Cascadia Mono"/>
              </a:rPr>
              <a:t>PATH                                                     LANGUAGE     EFFECTIVE   TOTAL
Tlamatini/agent/views.py                                Python         8,656  12,671
Tlamatini/agent/tests.py                                Python         5,700   7,452
Tlamatini/agent/doc_generation/complete_project_docs.py Python         3,507   3,985
Tlamatini/agent/agents/latexer/latexer.py               Python         3,291   4,593
Tlamatini/agent/tools.py                                Python         3,243   4,911
BookOfTlamatini.md                                      Markdown       2,831   4,064
Tlamatini/agent/agents/flowcreator/agentic_skill.md     Markdown       2,426   2,668
output/avatar_flash_fix/visible-test/results.json       JSON           2,266   2,266
output/avatar_flash_fix/visible-first-pass/results.json JSON           2,257   2,257
docs/claude/recent-fixes.md                             Markdown       2,235   2,973
...ini/agent/static/agent/css/agentic_control_panel.css CSS            2,084   2,905
Tlamatini/agent/external_mcp_manager.py                 Python         2,066   2,604
Tlamatini/agent/chat_agent_registry.py                  Python         2,004   2,068
Tlamatini/agent/agents/stm32er/stm32er.py               Python         1,983   2,694</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REPRODUCIBLE SOURCE MEASUREMENTS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Line Inventory Method</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76200" tIns="12700" bIns="12700">
            <a:normAutofit/>
          </a:bodyPr>
          <a:lstStyle/>
          <a:p>
            <a:pPr algn="l"/>
            <a:r>
              <a:rPr sz="1400" b="1">
                <a:solidFill>
                  <a:srgbClr val="C48052"/>
                </a:solidFill>
                <a:latin typeface="Aptos"/>
              </a:rPr>
              <a:t>Counting boundary</a:t>
            </a:r>
          </a:p>
        </p:txBody>
      </p:sp>
      <p:sp>
        <p:nvSpPr>
          <p:cNvPr id="12" name="TextBox 11"/>
          <p:cNvSpPr txBox="1"/>
          <p:nvPr/>
        </p:nvSpPr>
        <p:spPr>
          <a:xfrm>
            <a:off x="950976" y="2167128"/>
            <a:ext cx="10158984" cy="3675888"/>
          </a:xfrm>
          <a:prstGeom prst="rect">
            <a:avLst/>
          </a:prstGeom>
          <a:noFill/>
        </p:spPr>
        <p:txBody>
          <a:bodyPr wrap="square" anchor="t" lIns="12700" rIns="76200" tIns="25400" bIns="25400">
            <a:normAutofit/>
          </a:bodyPr>
          <a:lstStyle/>
          <a:p>
            <a:pPr>
              <a:spcAft>
                <a:spcPts val="400"/>
              </a:spcAft>
              <a:defRPr sz="1400">
                <a:solidFill>
                  <a:srgbClr val="B4BAAE"/>
                </a:solidFill>
                <a:latin typeface="Aptos"/>
              </a:defRPr>
            </a:pPr>
            <a:r>
              <a:t>The primary inventory uses git ls-files. Nonignored untracked additions, when present, are labeled separately. Ignored build output, caches and environments are excluded.</a:t>
            </a:r>
          </a:p>
          <a:p>
            <a:pPr>
              <a:spcAft>
                <a:spcPts val="400"/>
              </a:spcAft>
              <a:defRPr sz="1400">
                <a:solidFill>
                  <a:srgbClr val="B4BAAE"/>
                </a:solidFill>
                <a:latin typeface="Aptos"/>
              </a:defRPr>
            </a:pPr>
            <a:r>
              <a:t>Physical lines include blanks and comments in text files. Effective lines exclude blank and comment-only lines. Python also excludes module, class and function docstrings identified by AST parsing.</a:t>
            </a:r>
          </a:p>
          <a:p>
            <a:pPr>
              <a:spcAft>
                <a:spcPts val="400"/>
              </a:spcAft>
              <a:defRPr sz="1400">
                <a:solidFill>
                  <a:srgbClr val="B4BAAE"/>
                </a:solidFill>
                <a:latin typeface="Aptos"/>
              </a:defRPr>
            </a:pPr>
            <a:r>
              <a:t>Executable Python multiline strings count every nonblank occupied line. The 2026-09-12 correction replaced the token-start-only undercount. Comparisons with earlier dossiers require recounting them.</a:t>
            </a:r>
          </a:p>
          <a:p>
            <a:pPr>
              <a:spcAft>
                <a:spcPts val="400"/>
              </a:spcAft>
              <a:defRPr sz="1400">
                <a:solidFill>
                  <a:srgbClr val="B4BAAE"/>
                </a:solidFill>
                <a:latin typeface="Aptos"/>
              </a:defRPr>
            </a:pPr>
            <a:r>
              <a:t>Other languages use comment stripping rather than semantic execution analysis. Markdown counts authored nonblank documentation. Binary and media assets have no source-line count. Published historical source snapshots contribute text lines but do not increase runtime module or agent totals.</a:t>
            </a:r>
          </a:p>
          <a:p>
            <a:pPr>
              <a:spcAft>
                <a:spcPts val="400"/>
              </a:spcAft>
              <a:defRPr sz="1400">
                <a:solidFill>
                  <a:srgbClr val="B4BAAE"/>
                </a:solidFill>
                <a:latin typeface="Aptos"/>
              </a:defRPr>
            </a:pPr>
            <a:r>
              <a:t>The generated context JSON retains per-file physical/effective counts, per-language totals and all inventory paths. Both dossiers contain the complete repository tree and a separate new-asset appendix.</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Recent Git Window (1/3)</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76200" tIns="12700" bIns="12700">
            <a:norm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Commit 36c0139: Adds standalone ollama_credits.py for signed Ollama account-usage requests and console/JSON output. The card's $300 denominator and default reset day are script assumptions, not account-verified billing facts.</a:t>
            </a:r>
          </a:p>
          <a:p>
            <a:pPr>
              <a:spcAft>
                <a:spcPts val="400"/>
              </a:spcAft>
              <a:defRPr sz="1500">
                <a:solidFill>
                  <a:srgbClr val="B4BAAE"/>
                </a:solidFill>
                <a:latin typeface="Aptos"/>
              </a:defRPr>
            </a:pPr>
            <a:r>
              <a:t>Commit ac72b6c: Repairs chat_agent_run_wait by reconciling the real child process on every poll and using RUNNING_STATUSES. Five regression cases accompany the fix. They were not executed for the 2026-09-13 dossier refresh.</a:t>
            </a:r>
          </a:p>
          <a:p>
            <a:pPr>
              <a:spcAft>
                <a:spcPts val="400"/>
              </a:spcAft>
              <a:defRPr sz="1500">
                <a:solidFill>
                  <a:srgbClr val="B4BAAE"/>
                </a:solidFill>
                <a:latin typeface="Aptos"/>
              </a:defRPr>
            </a:pPr>
            <a:r>
              <a:t>Commit efe2ca1: Updates the PDF/PPTX for canvas presence, Whisperer's sound gate and Voice Commands. Corrects Python multiline-string effective-line counting.</a:t>
            </a:r>
          </a:p>
          <a:p>
            <a:pPr>
              <a:spcAft>
                <a:spcPts val="400"/>
              </a:spcAft>
              <a:defRPr sz="1500">
                <a:solidFill>
                  <a:srgbClr val="B4BAAE"/>
                </a:solidFill>
                <a:latin typeface="Aptos"/>
              </a:defRPr>
            </a:pPr>
            <a:r>
              <a:t>Commit a867567: Adds Voice Commands as the first prompt-catalog category, with guided rehearsal 121 and spoken-prompt execution 122. The transcript is shown before execution and irreversible/external actions need typed confirmation.</a:t>
            </a:r>
          </a:p>
          <a:p>
            <a:pPr>
              <a:spcAft>
                <a:spcPts val="400"/>
              </a:spcAft>
              <a:defRPr sz="1500">
                <a:solidFill>
                  <a:srgbClr val="B4BAAE"/>
                </a:solidFill>
                <a:latin typeface="Aptos"/>
              </a:defRPr>
            </a:pPr>
            <a:r>
              <a:t>Commit e403d5c: Reconciles the Whisperer sound-gate documentation, prompt 74 and runtime contracts. FlowHypervisor allows the bounded capture wait.</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Recent Git Window (2/3)</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76200" tIns="12700" bIns="12700">
            <a:norm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Commit 96fdbde: Adds Whisperer's default silence gate, actual captured duration and explicit fixed-fallback reporting. This is the v1.51.7 tag commit.</a:t>
            </a:r>
          </a:p>
          <a:p>
            <a:pPr>
              <a:spcAft>
                <a:spcPts val="400"/>
              </a:spcAft>
              <a:defRPr sz="1500">
                <a:solidFill>
                  <a:srgbClr val="B4BAAE"/>
                </a:solidFill>
                <a:latin typeface="Aptos"/>
              </a:defRPr>
            </a:pPr>
            <a:r>
              <a:t>Commit 7e48e63: Adds word-timed canvas avatar presence, asymmetric blinks and adaptive frame rates, with CPU-only rendering and an opaque fallback.</a:t>
            </a:r>
          </a:p>
          <a:p>
            <a:pPr>
              <a:spcAft>
                <a:spcPts val="400"/>
              </a:spcAft>
              <a:defRPr sz="1500">
                <a:solidFill>
                  <a:srgbClr val="B4BAAE"/>
                </a:solidFill>
                <a:latin typeface="Aptos"/>
              </a:defRPr>
            </a:pPr>
            <a:r>
              <a:t>Commit 7ae8d86: Introduces blended avatar rendering, followed by the presence renderer in 7e48e63. The four portrait JPGs remain the expression sources.</a:t>
            </a:r>
          </a:p>
          <a:p>
            <a:pPr>
              <a:spcAft>
                <a:spcPts val="400"/>
              </a:spcAft>
              <a:defRPr sz="1500">
                <a:solidFill>
                  <a:srgbClr val="B4BAAE"/>
                </a:solidFill>
                <a:latin typeface="Aptos"/>
              </a:defRPr>
            </a:pPr>
            <a:r>
              <a:t>Commit 590cb8b: Repairs Gitter Windows-path tokenization and refreshes project dossiers. The commit carries the earlier avatar assets and verification evidence.</a:t>
            </a:r>
          </a:p>
          <a:p>
            <a:pPr>
              <a:spcAft>
                <a:spcPts val="400"/>
              </a:spcAft>
              <a:defRPr sz="1500">
                <a:solidFill>
                  <a:srgbClr val="B4BAAE"/>
                </a:solidFill>
                <a:latin typeface="Aptos"/>
              </a:defRPr>
            </a:pPr>
            <a:r>
              <a:t>Commit 2ea219a: Changes the default cloud model from glm-5.2:cloud to glm-5.3:cloud.</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Recent Git Window (3/3)</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76200" tIns="12700" bIns="12700">
            <a:norm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12700" rIns="76200" tIns="25400" bIns="25400">
            <a:normAutofit/>
          </a:bodyPr>
          <a:lstStyle/>
          <a:p>
            <a:pPr>
              <a:spcAft>
                <a:spcPts val="400"/>
              </a:spcAft>
              <a:defRPr sz="1500">
                <a:solidFill>
                  <a:srgbClr val="B4BAAE"/>
                </a:solidFill>
                <a:latin typeface="Aptos"/>
              </a:defRPr>
            </a:pPr>
            <a:r>
              <a:t>Commit 46a18c8: Repairs full-portrait transparency flashing and publishes image packages, visible-test evidence and the Python launcher. This is historical atomic-renderer evidence.</a:t>
            </a:r>
          </a:p>
          <a:p>
            <a:pPr>
              <a:spcAft>
                <a:spcPts val="400"/>
              </a:spcAft>
              <a:defRPr sz="1500">
                <a:solidFill>
                  <a:srgbClr val="B4BAAE"/>
                </a:solidFill>
                <a:latin typeface="Aptos"/>
              </a:defRPr>
            </a:pPr>
            <a:r>
              <a:t>Commit 4a7f1cb: Refreshes visual documentation for console shielding and welcome-page navigation.</a:t>
            </a:r>
          </a:p>
          <a:p>
            <a:pPr>
              <a:spcAft>
                <a:spcPts val="400"/>
              </a:spcAft>
              <a:defRPr sz="1500">
                <a:solidFill>
                  <a:srgbClr val="B4BAAE"/>
                </a:solidFill>
                <a:latin typeface="Aptos"/>
              </a:defRPr>
            </a:pPr>
            <a:r>
              <a:t>Commit d8f21f3: Continues handbook reconciliation for console shielding and welcome-page navigation.</a:t>
            </a:r>
          </a:p>
          <a:p>
            <a:pPr>
              <a:spcAft>
                <a:spcPts val="400"/>
              </a:spcAft>
              <a:defRPr sz="1500">
                <a:solidFill>
                  <a:srgbClr val="B4BAAE"/>
                </a:solidFill>
                <a:latin typeface="Aptos"/>
              </a:defRPr>
            </a:pPr>
            <a:r>
              <a:t>Commit 0d2c09c: Documents console shielding and the welcome-page keyboard default.</a:t>
            </a:r>
          </a:p>
          <a:p>
            <a:pPr>
              <a:spcAft>
                <a:spcPts val="400"/>
              </a:spcAft>
              <a:defRPr sz="1500">
                <a:solidFill>
                  <a:srgbClr val="B4BAAE"/>
                </a:solidFill>
                <a:latin typeface="Aptos"/>
              </a:defRPr>
            </a:pPr>
            <a:r>
              <a:t>Commit c8cf369: Adds a queued console sink with file-first logging, frozen QuickEdit protection and an Enter-to-chat shortcut on the welcome page.</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Visual Dossier Change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76200" tIns="12700" bIns="12700">
            <a:norm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2026-09-12 | 36c0139 | Added an auxiliary python script to get credits for further add-ons to Tlamatini, by angelahack1</a:t>
            </a:r>
          </a:p>
          <a:p>
            <a:pPr>
              <a:spcAft>
                <a:spcPts val="400"/>
              </a:spcAft>
              <a:defRPr sz="1200">
                <a:solidFill>
                  <a:srgbClr val="B4BAAE"/>
                </a:solidFill>
                <a:latin typeface="Aptos"/>
              </a:defRPr>
            </a:pPr>
            <a:r>
              <a:t>2026-09-12 | ac72b6c | chat_agent_run_wait never returned early - it always burned the whole timeout</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3-Day Commit Appendix 1/3</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76200" tIns="12700" bIns="12700">
            <a:norm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2026-09-12 | 36c0139 | Added an auxiliary python script to get credits for further add-ons to Tlamatini, by angelahack1</a:t>
            </a:r>
          </a:p>
          <a:p>
            <a:pPr>
              <a:spcAft>
                <a:spcPts val="400"/>
              </a:spcAft>
              <a:defRPr sz="1200">
                <a:solidFill>
                  <a:srgbClr val="B4BAAE"/>
                </a:solidFill>
                <a:latin typeface="Aptos"/>
              </a:defRPr>
            </a:pPr>
            <a:r>
              <a:t>2026-09-12 | ac72b6c | chat_agent_run_wait never returned early - it always burned the whole timeout</a:t>
            </a:r>
          </a:p>
          <a:p>
            <a:pPr>
              <a:spcAft>
                <a:spcPts val="400"/>
              </a:spcAft>
              <a:defRPr sz="1200">
                <a:solidFill>
                  <a:srgbClr val="B4BAAE"/>
                </a:solidFill>
                <a:latin typeface="Aptos"/>
              </a:defRPr>
            </a:pPr>
            <a:r>
              <a:t>2026-09-12 | efe2ca1 | Updating visual documentation, by angelahack1</a:t>
            </a:r>
          </a:p>
          <a:p>
            <a:pPr>
              <a:spcAft>
                <a:spcPts val="400"/>
              </a:spcAft>
              <a:defRPr sz="1200">
                <a:solidFill>
                  <a:srgbClr val="B4BAAE"/>
                </a:solidFill>
                <a:latin typeface="Aptos"/>
              </a:defRPr>
            </a:pPr>
            <a:r>
              <a:t>2026-09-12 | a867567 | Voice commands: the catalog now opens with VOICE COMMANDS, and your voice becomes the prompt</a:t>
            </a:r>
          </a:p>
          <a:p>
            <a:pPr>
              <a:spcAft>
                <a:spcPts val="400"/>
              </a:spcAft>
              <a:defRPr sz="1200">
                <a:solidFill>
                  <a:srgbClr val="B4BAAE"/>
                </a:solidFill>
                <a:latin typeface="Aptos"/>
              </a:defRPr>
            </a:pPr>
            <a:r>
              <a:t>2026-09-12 | e403d5c | Docs sweep for v1.51.7 - Whisperer's sound gate everywhere, plus two real bugs it uncovered</a:t>
            </a:r>
          </a:p>
          <a:p>
            <a:pPr>
              <a:spcAft>
                <a:spcPts val="400"/>
              </a:spcAft>
              <a:defRPr sz="1200">
                <a:solidFill>
                  <a:srgbClr val="B4BAAE"/>
                </a:solidFill>
                <a:latin typeface="Aptos"/>
              </a:defRPr>
            </a:pPr>
            <a:r>
              <a:t>2026-09-12 | 96fdbde | Improvved Whisperer with a sound-gate, by angelahack1</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3-Day Commit Appendix 2/3</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76200" tIns="12700" bIns="12700">
            <a:norm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2026-09-11 | 7e48e63 | Avatar: replace the 150 ms metronome with a real talking head (no GPU, no LLM)</a:t>
            </a:r>
          </a:p>
          <a:p>
            <a:pPr>
              <a:spcAft>
                <a:spcPts val="400"/>
              </a:spcAft>
              <a:defRPr sz="1200">
                <a:solidFill>
                  <a:srgbClr val="B4BAAE"/>
                </a:solidFill>
                <a:latin typeface="Aptos"/>
              </a:defRPr>
            </a:pPr>
            <a:r>
              <a:t>2026-09-11 | 7ae8d86 | Blending avatar rendering amazingly implemented by the mighty Claude, so simple, so elegant, commit by Tlamatini's-AutoBot.</a:t>
            </a:r>
          </a:p>
          <a:p>
            <a:pPr>
              <a:spcAft>
                <a:spcPts val="400"/>
              </a:spcAft>
              <a:defRPr sz="1200">
                <a:solidFill>
                  <a:srgbClr val="B4BAAE"/>
                </a:solidFill>
                <a:latin typeface="Aptos"/>
              </a:defRPr>
            </a:pPr>
            <a:r>
              <a:t>2026-09-11 | 590cb8b | Gitter: stop mangling Windows paths in custom_command, plus regenerated project docs, by Tlamatini's-AutoBot.</a:t>
            </a:r>
          </a:p>
          <a:p>
            <a:pPr>
              <a:spcAft>
                <a:spcPts val="400"/>
              </a:spcAft>
              <a:defRPr sz="1200">
                <a:solidFill>
                  <a:srgbClr val="B4BAAE"/>
                </a:solidFill>
                <a:latin typeface="Aptos"/>
              </a:defRPr>
            </a:pPr>
            <a:r>
              <a:t>2026-09-11 | 2ea219a | Default cloud model: glm-5.2:cloud -&gt; glm-5.3:cloud, by Tlamatini's-AutoBot.</a:t>
            </a:r>
          </a:p>
          <a:p>
            <a:pPr>
              <a:spcAft>
                <a:spcPts val="400"/>
              </a:spcAft>
              <a:defRPr sz="1200">
                <a:solidFill>
                  <a:srgbClr val="B4BAAE"/>
                </a:solidFill>
                <a:latin typeface="Aptos"/>
              </a:defRPr>
            </a:pPr>
            <a:r>
              <a:t>2026-09-10 | 46a18c8 | Fix avatar flashing and publish complete assets, visible tests, and documentation</a:t>
            </a:r>
          </a:p>
          <a:p>
            <a:pPr>
              <a:spcAft>
                <a:spcPts val="400"/>
              </a:spcAft>
              <a:defRPr sz="1200">
                <a:solidFill>
                  <a:srgbClr val="B4BAAE"/>
                </a:solidFill>
                <a:latin typeface="Aptos"/>
              </a:defRPr>
            </a:pPr>
            <a:r>
              <a:t>2026-09-10 | 4a7f1cb | Updating visual documentation for imp. on welcome page and making the  shield in console window, by Tlamatini's-AutoBot.</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3-Day Commit Appendix 3/3</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76200" tIns="12700" bIns="12700">
            <a:norm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76200" tIns="25400" bIns="25400">
            <a:normAutofit/>
          </a:bodyPr>
          <a:lstStyle/>
          <a:p>
            <a:pPr>
              <a:spcAft>
                <a:spcPts val="400"/>
              </a:spcAft>
              <a:defRPr sz="1200">
                <a:solidFill>
                  <a:srgbClr val="B4BAAE"/>
                </a:solidFill>
                <a:latin typeface="Aptos"/>
              </a:defRPr>
            </a:pPr>
            <a:r>
              <a:t>2026-09-10 | d8f21f3 | Updating 2, documentation for imp. on welcome page and making the  shield in console window, by Tlamatini's-AutoBot.</a:t>
            </a:r>
          </a:p>
          <a:p>
            <a:pPr>
              <a:spcAft>
                <a:spcPts val="400"/>
              </a:spcAft>
              <a:defRPr sz="1200">
                <a:solidFill>
                  <a:srgbClr val="B4BAAE"/>
                </a:solidFill>
                <a:latin typeface="Aptos"/>
              </a:defRPr>
            </a:pPr>
            <a:r>
              <a:t>2026-09-10 | 0d2c09c | Updating documentation for imp. on welcome page and making the  shield in console window, by Tlamatini's-AutoBot.</a:t>
            </a:r>
          </a:p>
          <a:p>
            <a:pPr>
              <a:spcAft>
                <a:spcPts val="400"/>
              </a:spcAft>
              <a:defRPr sz="1200">
                <a:solidFill>
                  <a:srgbClr val="B4BAAE"/>
                </a:solidFill>
                <a:latin typeface="Aptos"/>
              </a:defRPr>
            </a:pPr>
            <a:r>
              <a:t>2026-09-10 | c8cf369 | Improving default key for welcom page and making a shield into Tlamatini's console window in frozen mode, by Tlamatini's-AutoBot.</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Tlamatini/
|-- .gitattributes
|-- .gitignore
|-- .mcp.json
|-- 10000xRedesignOfUpdatingMechanicsOnTlamatini.md
|-- _acpx_pipeline_demo_report.md
|-- ACPX.md
|-- agents_descriptions.md
|-- apply_update.ps1
|-- audit_dependencies.py
|-- AvatarImprovementByClaude.md
|-- backup_db.py
|-- BookOfTlamatini.md
|-- build.py
|-- build_all.cmd
|-- build_complete_private_release.py
|-- build_complete_public_release.py
|-- build_installer.py
|-- build_uninstaller.py
|-- check_private_data.py
|-- Claude-Desktop-KALI-MCP-Session.md
|-- CLAUDE.md
|-- copy_source_assets.py
|-- CreateShortcut.json
|-- CreateShortcut.ps1
|-- DesignOfIncludingMemoryMCPS.txt
|-- Discoverier-new-agent.md
|-- eslint.config.mjs
|-- example_of_prompt_to_make_de-compresser_agent.txt
|-- FirstFinalPlanToSpeedUp.md
|-- freeingport8000.ps1</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GEMINI.md
|-- git_deny_go.py
|-- install.py
|-- KIMI.md
|-- LICENSE
|-- MCPMemoriesFlowCreation.flw
|-- MessagingConnectorAssistant_Design.md
|-- ollama_credits.py
|-- OllamaPricing.png
|-- OOB_shift_reaper-and-NAMU-Design.pdf
|-- package.json
|-- PIVOT_CHANGES.md
|-- pnpm-lock.yaml
|-- preserved_user_state.json
|-- private_targets.example.json
|-- PromptDesigner.jpg
|-- README.md
|-- regen_secrets.py
|-- register_flw.ps1
|-- RemoveShortcut.ps1
|-- requirements.txt
|-- surgical_improving_speed_of_Tlamatini_by_a_factor_of_3X.md
|-- test_author_banner.py
|-- test_check_private_data.py
|-- test_perf_3x_visual.py
|-- test_private_data_guard.py
|-- Tlamatini-Kali-Setup.md
|-- Tlamatini.ico
|-- Tlamatini.jpg
|-- Tlamatini.ps1
|-- tlamatini_acpx.py</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tlamatini_app_summary.pdf
|-- Tlamatini_eXtended_Artificial_Intelligence_Humanly_Tempered.pptx
|-- TLAMATINI_MCP.md
|-- tlamatini_mcp_server.py
|-- TlamatiniConsoleShieldByClaude.md
|-- TlamatiniJudgementDay.md
|-- uncommit-keys.bat
|-- uninstall.py
|-- unregister_flw.ps1
|-- VERSIONING.md
|-- versioning.py
|-- .claude/
|   |-- settings.json
|   |-- hooks/
|   |   |-- announce_skills.py
|   |   `-- test_announce_skills.py
|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
|   |   |-- project_acpx_skills_menu.md
|   |   |-- project_acpx_toggle_skills.md</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project_acpxer_added.md
|   |   |-- project_agent_table_wiped_on_boot.md
|   |   |-- project_arduiner_agent.md
|   |   |-- project_ask_execs_feature.md
|   |   |-- project_audioplayer_agent.md
|   |   |-- project_build_concurrency_guard.md
|   |   |-- project_build_tests_and_installer_enterkey.md
|   |   |-- project_camcorder_agent.md
|   |   |-- project_carried_python_for_agents.md
|   |   |-- project_conjunction_parser_fix.md
|   |   |-- project_daily_chat_test_skill.md
|   |   |-- project_desktop_ui_lifecycle.md
|   |   |-- project_director_virtuoso_demo_prompts.md
|   |   |-- project_doc_refresh_2026_05_06.md
|   |   |-- project_doc_refresh_2026_05_08.md
|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project_ghost_distinfo_dependency_audit.md
|   |   |-- project_kalier_agent.md
|   |   |-- project_keyboarder_wrapped_2026_05_07.md
|   |   |-- project_latexer_agent.md
|   |   |-- project_living_canvas_dropped.md
|   |   |-- project_mouser_wrapped_2026_05_07.md
|   |   |-- project_native_picker_tcltk_fix.md</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- 5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project_native_toast.md
|   |   |-- project_netspeed_calculator_agent.md
|   |   |-- project_numpy_pyinstaller.md
|   |   |-- project_ollama_source_build_breaks_embeddings.md
|   |   |-- project_pdfer_agent.md
|   |   |-- project_planner_followup.md
|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
|   |   |-- project_reviewer_analyzer_demo_prompts.md
|   |   |-- project_reviewer_committed_secrets_falsepos.md
|   |   |-- project_secret_leak_recovery.md
|   |   |-- project_stm32er_agent.md
|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- 6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project_videoplayer_agent.md
|   |   |-- project_windower_agent.md
|   |   `-- user_profile.md
|   `-- skills/
|       |-- tlamatini-agent-creation/
|       |   `-- SKILL.md
|       |-- tlamatini-agent-naming/
|       |   `-- SKILL.md
|       |-- tlamatini-daily-chat-test/
|       |   |-- .gitignore
|       |   |-- SKILL.md
|       |   `-- harness/
|       |       |-- acp_backend_banner_test.py
|       |       |-- acp_backend_banner_test.py.antes_shoter
|       |       |-- acp_dialog_full_sweep.py
|       |       |-- acp_dialog_theme_visible.py
|       |       |-- ask_execs_regression.py
|       |       |-- ask_execs_regression.py.antes_shoter
|       |       |-- bulk_toggle_behaviour.py
|       |       |-- bulk_toggle_visible.py
|       |       |-- cancel_regression.py
|       |       |-- cancel_regression.py.antes_shoter
|       |       |-- config.py
|       |       |-- cyber_watchdog_test.py
|       |       |-- dialog_policy_visible.py
|       |       |-- dialog_theme_visible.py
|       |       |-- discoverer_1000.py
|       |       |-- discoverer_1000.py.antes_shoter
|       |       |-- flowcreator_wizard_e2e.py
|       |       |-- googler_dork_hunt.py
|       |       |-- latexer_openmp_e2e.py</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- 7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latexer_stepbystep_5.py
|       |       |-- mcp_playwright_suite.py
|       |       |-- pdfer_nuance_visible.py
|       |       |-- playwrighter_run.py
|       |       |-- qualify.py
|       |       |-- questions.py
|       |       |-- README.md
|       |       |-- requirements.txt
|       |       |-- run_test.py
|       |       |-- shoter_shot.py
|       |       |-- step_by_step_catalog.py
|       |       |-- step_by_step_catalog.py.antes_shoter
|       |       |-- talk_test.py
|       |       |-- voice_commands_visible.py
|       |       `-- wrapped_questions.py
|       |-- tlamatini-self-modify-inclusion/
|       |   |-- SKILL.md
|       |   `-- scripts/
|       |       `-- sweep_self_modify.py
|       `-- tlamatini-self-update-inclusion/
|           |-- SKILL.md
|           `-- scripts/
|               `-- sweep_self_update.py
|-- .codex/
|   `-- skills/
|       |-- full-project-pdf-dossier/
|       |   `-- SKILL.md
|       `-- overlap-safe-pptx-dossier/
|           `-- SKILL.md
|-- .gemini/
|   `-- skills/</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- 8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tlamatini-agent-creation/
|       |   `-- SKILL.md
|       |-- tlamatini-agent-naming/
|       |   `-- SKILL.md
|       |-- tlamatini-daily-chat-test/
|       |   |-- .gitignore
|       |   |-- SKILL.md
|       |   `-- harness/
|       |       |-- acp_backend_banner_test.py
|       |       |-- acp_backend_banner_test.py.antes_shoter
|       |       |-- acp_dialog_full_sweep.py
|       |       |-- acp_dialog_theme_visible.py
|       |       |-- ask_execs_regression.py
|       |       |-- ask_execs_regression.py.antes_shoter
|       |       |-- bulk_toggle_behaviour.py
|       |       |-- bulk_toggle_visible.py
|       |       |-- cancel_regression.py
|       |       |-- cancel_regression.py.antes_shoter
|       |       |-- config.py
|       |       |-- cyber_watchdog_test.py
|       |       |-- dialog_policy_visible.py
|       |       |-- dialog_theme_visible.py
|       |       |-- discoverer_1000.py
|       |       |-- discoverer_1000.py.antes_shoter
|       |       |-- flowcreator_wizard_e2e.py
|       |       |-- googler_dork_hunt.py
|       |       |-- latexer_openmp_e2e.py
|       |       |-- latexer_stepbystep_5.py
|       |       |-- mcp_playwright_suite.py
|       |       |-- playwrighter_run.py
|       |       |-- qualify.py</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- 9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questions.py
|       |       |-- README.md
|       |       |-- requirements.txt
|       |       |-- run_test.py
|       |       |-- shoter_shot.py
|       |       |-- step_by_step_catalog.py
|       |       |-- step_by_step_catalog.py.antes_shoter
|       |       |-- talk_test.py
|       |       `-- wrapped_questions.py
|       |-- tlamatini-self-modify-inclusion/
|       |   |-- SKILL.md
|       |   `-- scripts/
|       |       `-- sweep_self_modify.py
|       `-- tlamatini-self-update-inclusion/
|           |-- SKILL.md
|           `-- scripts/
|               `-- sweep_self_update.py
|-- .github/
|   `-- workflows/
|       `-- name-guard.yml
|-- .scanning/
|   `-- finding-policy.json
|-- AuxTests/
|   `-- mypdf2.py
|-- demo_flows/
|   |-- demo1_globber_to_parametrizer_to_zavuerer.flw
|   |-- demo2_apirer_to_parametrizer_to_zavuerer.flw
|   `-- demo3_zavuerer_health_to_parametrizer_to_filecreator.flw
|-- docs/
|   |-- companion-app-discovery.md
|   |-- external_mcp_bulletproof_architecture.md</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- 10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stm32er_all_families_proposal.md
|   `-- claude/
|       |-- acpx.md
|       |-- agents.md
|       |-- architecture.md
|       |-- exec-report.md
|       |-- frontend.md
|       |-- gotchas.md
|       |-- INDEX.md
|       |-- mcp-tools.md
|       |-- multi-turn.md
|       `-- recent-fixes.md
|-- output/
|   |-- ASSET_MANIFEST.json
|   |-- Gemini_girl_animation.zip
|   |-- README.md
|   |-- avatar_flash_fix/
|   |   |-- collectstatic-results.json
|   |   |-- dev_settings.py
|   |   |-- development-test.sqlite3
|   |   |-- development_test.py
|   |   |-- README.md
|   |   |-- __pycache__/
|   |   |   `-- dev_settings.cpython-312.pyc
|   |   |-- after-test/
|   |   |   |-- ec-mc.png
|   |   |   |-- ec-mo.png
|   |   |   |-- eo-mc.png
|   |   |   |-- eo-mo.png
|   |   |   |-- idle.png
|   |   |   |-- narrow.png</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- 11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results.json
|   |   |   `-- speaking.png
|   |   |-- before/
|   |   |   |-- agent_page.html
|   |   |   |-- avatar.css
|   |   |   `-- avatar.js
|   |   |-- before-test/
|   |   |   |-- idle.png
|   |   |   |-- observed-flash.png
|   |   |   `-- results.json
|   |   |-- deployment-backups/
|   |   |   |-- collected-source/
|   |   |   |   |-- avatar.css
|   |   |   |   `-- avatar.js
|   |   |   |-- installed-agent/
|   |   |   |   |-- avatar.css
|   |   |   |   `-- avatar.js
|   |   |   |-- installed-collected/
|   |   |   |   |-- avatar.css
|   |   |   |   `-- avatar.js
|   |   |   `-- installed-source/
|   |   |       |-- avatar.css
|   |   |       `-- avatar.js
|   |   |-- visible-first-pass/
|   |   |   |-- results.json
|   |   |   `-- selection-issue.png
|   |   `-- visible-test/
|   |       |-- 01-real-django-page.png
|   |       |-- checkpoint-100.png
|   |       |-- checkpoint-150.png
|   |       |-- checkpoint-200.png</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- 12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checkpoint-250.png
|   |       |-- checkpoint-300.png
|   |       |-- checkpoint-50.png
|   |       |-- final-passed.png
|   |       `-- results.json
|   `-- Gemini_girl_animation/
|       |-- 01_eyes_open_smiling.png
|       |-- 02_eyes_open_neutral.png
|       |-- 03_eyes_closed_smiling.png
|       |-- 04_eyes_closed_neutral.png
|       |-- alignment.json
|       |-- build_frames.py
|       |-- contact_sheet.jpg
|       |-- girl_frames_jpg.zip
|       |-- preview.html
|       |-- preview_screenshot.png
|       |-- README.md
|       |-- sprite_2x2.png
|       |-- exact_crops/
|       |   |-- 01_eyes_open_smiling.png
|       |   |-- 02_eyes_open_neutral.png
|       |   |-- 03_eyes_closed_smiling.png
|       |   `-- 04_eyes_closed_neutral.png
|       `-- jpg/
|           |-- 01_eyes_open_smiling.jpg
|           |-- 02_eyes_open_neutral.jpg
|           |-- 03_eyes_closed_smiling.jpg
|           `-- 04_eyes_closed_neutral.jpg
|-- pyinstaller_hooks/
|   |-- hook-numpy.py
|   `-- hook-torch.py</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- 13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scripts/
|   `-- check_js_parse.mjs
|-- security/
|   |-- automated_tests_of_security_assets.py
|   |-- enable_tlamatini_v2.bat
|   |-- README.md
|   |-- run_defender.bat
|   |-- tlamatini_defender.ps1
|   `-- tlamatini_whitelist_v2.ps1
|-- Tests/
|   |-- run_avatar_tests.py
|   |-- run_presence_tests.ps1
|   |-- test_about_window_name_visible.py
|   |-- test_avatar_animation.cjs
|   |-- test_avatar_collectstatic.py
|   |-- test_avatar_presence_visible.py
|   |-- test_avatar_visible.cjs
|   `-- test_perf_3x_visual.py
`-- Tlamatini/
    |-- cat_art.py
    |-- hoy
    |-- manage.py
    |-- .agents/
    |   `-- workflows/
    |       `-- create_new_agent.md
    |-- .mcps/
    |   `-- create_new_mcp.md
    |-- .skills/
    |   `-- create_new_skill.md
    |-- agent/
    |   |-- __init__.py</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- 14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access_key_wizard.py
    |   |-- admin.py
    |   |-- agent_manifest.py
    |   |-- agent_verdict.py
    |   |-- apps.py
    |   |-- cancellation.py
    |   |-- capability_registry.py
    |   |-- chain_files_search_lcel.py
    |   |-- chain_system_lcel.py
    |   |-- chat_agent_registry.py
    |   |-- chat_agent_runtime.py
    |   |-- chat_history_loader.py
    |   |-- command_togen_pb2.txt
    |   |-- command_watchdog.py
    |   |-- config.json
    |   |-- config_loader.py
    |   |-- constants.py
    |   |-- consumers.py
    |   |-- contacts.py
    |   |-- embedding_memory_guard.py
    |   |-- exec_permission.py
    |   |-- external_mcp_defaults.py
    |   |-- external_mcp_manager.py
    |   |-- external_mcps.json
    |   |-- filesearch.proto
    |   |-- filesearch_pb2.py
    |   |-- filesearch_pb2_grpc.py
    |   |-- global_execution_planner.py
    |   |-- global_state.py
    |   |-- gpu_perf.py
    |   |-- inet_determiner.py</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- 15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llm_timing.py
    |   |-- local_toolcall_parser.py
    |   |-- log_identity.py
    |   |-- mcp_agent.py
    |   |-- mcp_files_search_client.py
    |   |-- mcp_files_search_server.py
    |   |-- mcp_system_client.py
    |   |-- mcp_system_server.py
    |   |-- models.py
    |   |-- native_dialogs.py
    |   |-- orphan_reaper.py
    |   |-- path_guard.py
    |   |-- prompt.pmt
    |   |-- rag_enhancements.py
    |   |-- routing.py
    |   |-- run_db_wal_tests.ps1
    |   |-- runtime_provisioner.py
    |   |-- self_healing.py
    |   |-- self_update.py
    |   |-- sqlite_copy.py
    |   |-- test_access_key_wizard.py
    |   |-- test_agent_display_names.py
    |   |-- test_agent_manifest.py
    |   |-- test_agent_verdict.py
    |   |-- test_agents_see_hidden_dirs.py
    |   |-- test_arduiner_agent.py
    |   |-- test_ask_execs_allowlist.py
    |   |-- test_audioplayer_agent.py
    |   |-- test_binary_guard.py
    |   |-- test_blenderer_agent.py
    |   |-- test_build_pip_quiet.py</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- 16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test_build_scripts.py
    |   |-- test_camcorder_agent.py
    |   |-- test_cancellation.py
    |   |-- test_chain_readiness.py
    |   |-- test_chat_agent_run_wait.py
    |   |-- test_chat_bridge_bots.py
    |   |-- test_chat_history_window.py
    |   |-- test_checkbox_bulk_toggle.py
    |   |-- test_command_watchdog.py
    |   |-- test_console_shield.py
    |   |-- test_contacts.py
    |   |-- test_crawler_agent.py
    |   |-- test_createsuperuser_wizard.py
    |   |-- test_ctrl_c_shutdown.py
    |   |-- test_db_backup_restore_wal.py
    |   |-- test_db_backup_safety.py
    |   |-- test_de_compresser.py
    |   |-- test_deep_research_prompt.py
    |   |-- test_deleter_safety.py
    |   |-- test_dialog_dismissal_policy.py
    |   |-- test_dialog_theme.py
    |   |-- test_discoverer_agent.py
    |   |-- test_discoverer_thousand.py
    |   |-- test_django_port_config.py
    |   |-- test_editor_agent.py
    |   |-- test_embedding_memory_guard.py
    |   |-- test_esp32er_agent.py
    |   |-- test_esphomer_agent.py
    |   |-- test_exec_report_verdict.py
    |   |-- test_execute_command_bounded.py
    |   |-- test_external_mcp_add_flow.py</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- 17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test_external_mcp_e2e.py
    |   |-- test_external_mcp_transports.py
    |   |-- test_external_mcp_universal.py
    |   |-- test_file_extractor_reader.py
    |   |-- test_flow_contracts.py
    |   |-- test_frontend_mutable_state.py
    |   |-- test_gitter_custom_command.py
    |   |-- test_globber_agent.py
    |   |-- test_googler_agent.py
    |   |-- test_googler_dorks.py
    |   |-- test_grepper_agent.py
    |   |-- test_grepper_encodings.py
    |   |-- test_image_interpreter_agent.py
    |   |-- test_instant_messaging_doctor.py
    |   |-- test_j_decompiler_agent.py
    |   |-- test_js_gates.py
    |   |-- test_kalier_agent.py
    |   |-- test_latexer_agent.py
    |   |-- test_latexer_repair_ladder.py
    |   |-- test_latexer_suite.py
    |   |-- test_latexer_verbatim_channel.py
    |   |-- test_log_identity.py
    |   |-- test_native_dialogs.py
    |   |-- test_netspeed_calculator_agent.py
    |   |-- test_nmapper_agent.py
    |   |-- test_no_audio_in_tests.py
    |   |-- test_orphan_reaper.py
    |   |-- test_parametrizer_mcp_doctor.py
    |   |-- test_password_quoting.py
    |   |-- test_pdfer_agent.py
    |   |-- test_pdfer_nuance_layout.py</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- 18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test_playwrighter_agent.py
    |   |-- test_preserved_user_state.py
    |   |-- test_program_name_collisions.py
    |   |-- test_prompt_catalog_contiguous.py
    |   |-- test_public_release_targets.py
    |   |-- test_recorder_agent.py
    |   |-- test_runtime_provisioner.py
    |   |-- test_security_assets_carriage.py
    |   |-- test_self_healing.py
    |   |-- test_self_knowledge_is_current.py
    |   |-- test_self_modify_gate.py
    |   |-- test_self_update.py
    |   |-- test_shoter_takes_screenshots.py
    |   |-- test_sqlite_wal_mode.py
    |   |-- test_status_vocabulary.py
    |   |-- test_step_by_step_mode.py
    |   |-- test_stm32er_agent.py
    |   |-- test_talker_agent.py
    |   |-- test_telegrammer_identity.py
    |   |-- test_temp_dir_policy.py
    |   |-- test_tool_failure_recovery.py
    |   |-- test_unrealer_agent.py
    |   |-- test_version_guard.py
    |   |-- test_video_analyzer_agent.py
    |   |-- test_videoplayer_agent.py
    |   |-- test_voice_commands_catalog.py
    |   |-- test_watchdog_foreground_exemption.py
    |   |-- test_web_process_stays_lean.py
    |   |-- test_whatsapper_identity.py
    |   |-- test_whisperer_agent.py
    |   |-- test_win_shim.py</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- 19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test_windower_agent.py
    |   |-- test_windows_app_registration.py
    |   |-- test_zavuerer_agent.py
    |   |-- tests.py
    |   |-- tests_perf_3x.py
    |   |-- Tlamatini.md
    |   |-- tools.py
    |   |-- urls.py
    |   |-- version.py
    |   |-- views.py
    |   |-- web_search_llm.py
    |   |-- win_shim.py
    |   |-- window_flash.py
    |   |-- windows_app_registration.py
    |   |-- acpx/
    |   |   |-- __init__.py
    |   |   |-- agent_registry.py
    |   |   |-- child_health.py
    |   |   |-- config.py
    |   |   |-- permissions.py
    |   |   |-- runtime.py
    |   |   |-- service.py
    |   |   |-- session_store.py
    |   |   |-- tests.py
    |   |   |-- tools.py
    |   |   `-- windows_spawn.py
    |   |-- agents/
    |   |   |-- acpxer/
    |   |   |   |-- acpxer.py
    |   |   |   `-- config.yaml
    |   |   |-- analyzer/</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- 20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analyzer.py
    |   |   |   `-- config.yaml
    |   |   |-- and/
    |   |   |   |-- and.py
    |   |   |   `-- config.yaml
    |   |   |-- apirer/
    |   |   |   |-- apirer.py
    |   |   |   `-- config.yaml
    |   |   |-- arduiner/
    |   |   |   |-- arduiner.py
    |   |   |   |-- config.yaml
    |   |   |   `-- ArduinoTemplateProject/
    |   |   |       |-- ArduinoTemplateProject.ino
    |   |   |       |-- README.md
    |   |   |       |-- sketch.yaml
    |   |   |       `-- src/
    |   |   |           |-- Heartbeat.cpp
    |   |   |           `-- Heartbeat.h
    |   |   |-- asker/
    |   |   |   |-- asker.py
    |   |   |   `-- config.yaml
    |   |   |-- audioplayer/
    |   |   |   |-- audioplayer.py
    |   |   |   `-- config.yaml
    |   |   |-- barrier/
    |   |   |   |-- barrier.py
    |   |   |   |-- config.yaml
    |   |   |   `-- test_barrier.py
    |   |   |-- blenderer/
    |   |   |   |-- blenderer.py
    |   |   |   `-- config.yaml</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- 21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camcorder/
    |   |   |   |-- camcorder.py
    |   |   |   `-- config.yaml
    |   |   |-- cleaner/
    |   |   |   |-- __init__.py
    |   |   |   |-- cleaner.py
    |   |   |   `-- config.yaml
    |   |   |-- counter/
    |   |   |   |-- config.yaml
    |   |   |   `-- counter.py
    |   |   |-- crawler/
    |   |   |   |-- config.yaml
    |   |   |   `-- crawler.py
    |   |   |-- croner/
    |   |   |   |-- config.yaml
    |   |   |   `-- croner.py
    |   |   |-- de_compresser/
    |   |   |   |-- config.yaml
    |   |   |   `-- de_compresser.py
    |   |   |-- deleter/
    |   |   |   |-- config.yaml
    |   |   |   `-- deleter.py
    |   |   |-- discoverer/
    |   |   |   |-- config.yaml
    |   |   |   `-- discoverer.py
    |   |   |-- dockerer/
    |   |   |   |-- config.yaml
    |   |   |   `-- dockerer.py
    |   |   |-- editor/
    |   |   |   |-- config.yaml
    |   |   |   `-- editor.py</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- 22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emailer/
    |   |   |   |-- config.yaml
    |   |   |   `-- emailer.py
    |   |   |-- ender/
    |   |   |   |-- config.yaml
    |   |   |   `-- ender.py
    |   |   |-- esp32er/
    |   |   |   |-- config.yaml
    |   |   |   `-- esp32er.py
    |   |   |-- esphomer/
    |   |   |   |-- config.yaml
    |   |   |   |-- esphomer.py
    |   |   |   `-- ESPHomeTemplateProject/
    |   |   |       |-- README.md
    |   |   |       `-- tlamatini-light.yaml
    |   |   |-- executer/
    |   |   |   |-- config.yaml
    |   |   |   `-- executer.py
    |   |   |-- file_creator/
    |   |   |   |-- config.yaml
    |   |   |   `-- file_creator.py
    |   |   |-- file_extractor/
    |   |   |   |-- config.yaml
    |   |   |   `-- file_extractor.py
    |   |   |-- file_interpreter/
    |   |   |   |-- config.yaml
    |   |   |   `-- file_interpreter.py
    |   |   |-- flowbacker/
    |   |   |   |-- config.yaml
    |   |   |   `-- flowbacker.py
    |   |   |-- flowcreator/</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- 23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agentic_skill.md
    |   |   |   |-- config.yaml
    |   |   |   |-- flowcreator.py
    |   |   |   `-- result_to_flw.py
    |   |   |-- flowhypervisor/
    |   |   |   |-- config.yaml
    |   |   |   |-- flowhypervisor.py
    |   |   |   |-- hypervisor_alert.wav
    |   |   |   `-- monitoring-prompt.pmt
    |   |   |-- forker/
    |   |   |   |-- config.yaml
    |   |   |   `-- forker.py
    |   |   |-- gateway_relayer/
    |   |   |   |-- config.yaml
    |   |   |   |-- gateway_relayer.md
    |   |   |   `-- gateway_relayer.py
    |   |   |-- gatewayer/
    |   |   |   |-- config.yaml
    |   |   |   |-- gatewayer.md
    |   |   |   |-- gatewayer.py
    |   |   |   `-- gatewayer_explanation.md
    |   |   |-- gitter/
    |   |   |   |-- config.yaml
    |   |   |   `-- gitter.py
    |   |   |-- globber/
    |   |   |   |-- config.yaml
    |   |   |   `-- globber.py
    |   |   |-- googler/
    |   |   |   |-- config.yaml
    |   |   |   `-- googler.py
    |   |   |-- grepper/</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- 24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config.yaml
    |   |   |   `-- grepper.py
    |   |   |-- image_interpreter/
    |   |   |   |-- config.yaml
    |   |   |   `-- image_interpreter.py
    |   |   |-- instant_messaging_doctor/
    |   |   |   |-- config.yaml
    |   |   |   `-- instant_messaging_doctor.py
    |   |   |-- j_decompiler/
    |   |   |   |-- config.yaml
    |   |   |   `-- j_decompiler.py
    |   |   |-- jenkinser/
    |   |   |   |-- config.yaml
    |   |   |   `-- jenkinser.py
    |   |   |-- kalier/
    |   |   |   |-- config.yaml
    |   |   |   `-- kalier.py
    |   |   |-- keyboarder/
    |   |   |   |-- config.yaml
    |   |   |   `-- keyboarder.py
    |   |   |-- kuberneter/
    |   |   |   |-- config.yaml
    |   |   |   `-- kuberneter.py
    |   |   |-- kyber_cipher/
    |   |   |   |-- config.yaml
    |   |   |   `-- kyber_cipher.py
    |   |   |-- kyber_decipher/
    |   |   |   |-- config.yaml
    |   |   |   `-- kyber_decipher.py
    |   |   |-- kyber_keygen/
    |   |   |   |-- config.yaml</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- 25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kyber_keygen.py
    |   |   |-- latexer/
    |   |   |   |-- config.yaml
    |   |   |   `-- latexer.py
    |   |   |-- mcp_doctor/
    |   |   |   |-- config.yaml
    |   |   |   `-- mcp_doctor.py
    |   |   |-- mongoxer/
    |   |   |   |-- config.yaml
    |   |   |   `-- mongoxer.py
    |   |   |-- monitor_log/
    |   |   |   |-- config.yaml
    |   |   |   `-- monitor_log.py
    |   |   |-- monitor_netstat/
    |   |   |   |-- config.yaml
    |   |   |   `-- monitor_netstat.py
    |   |   |-- mouser/
    |   |   |   |-- config.yaml
    |   |   |   `-- mouser.py
    |   |   |-- mover/
    |   |   |   |-- config.yaml
    |   |   |   `-- mover.py
    |   |   |-- netspeed_calculator/
    |   |   |   |-- config.yaml
    |   |   |   `-- netspeed_calculator.py
    |   |   |-- nmapper/
    |   |   |   |-- config.yaml
    |   |   |   `-- nmapper.py
    |   |   |-- node_manager/
    |   |   |   |-- config.yaml
    |   |   |   |-- node_manager.md</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- 26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node_manager.py
    |   |   |   |-- nodes_example.json
    |   |   |   `-- nodes_example.yaml
    |   |   |-- notifier/
    |   |   |   |-- config.yaml
    |   |   |   `-- notifier.py
    |   |   |-- or/
    |   |   |   |-- config.yaml
    |   |   |   `-- or.py
    |   |   |-- parametrizer/
    |   |   |   |-- config.yaml
    |   |   |   `-- parametrizer.py
    |   |   |-- pdfer/
    |   |   |   |-- config.yaml
    |   |   |   |-- pdfer.py
    |   |   |   |-- pdfer_atelier.py
    |   |   |   |-- pdfer_audit.py
    |   |   |   |-- pdfer_color.py
    |   |   |   |-- pdfer_consult.py
    |   |   |   |-- pdfer_docmodel.py
    |   |   |   |-- pdfer_nuance.py
    |   |   |   |-- pdfer_ornament.py
    |   |   |   |-- pdfer_tables.py
    |   |   |   |-- pdfer_theme.py
    |   |   |   |-- pdfer_typography.py
    |   |   |   `-- _art/
    |   |   |       `-- PDFer/
    |   |   |           |-- orn_circuit_trace_240x120_38BDF8_d953e4f7.png
    |   |   |           |-- orn_corner_wedge_240x120_38BDF8_d953e4f7.png
    |   |   |           |-- orn_diagonal_split_240x120_38BDF8_d953e4f7.png
    |   |   |           |-- orn_drop_cap_panel_240x120_38BDF8_d953e4f7.png</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- 27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orn_gradient_wash_240x120_38BDF8_d953e4f7.png
    |   |   |           |-- orn_grid_mesh_240x120_38BDF8_d953e4f7.png
    |   |   |           |-- orn_hairline_rule_240x120_38BDF8_d953e4f7.png
    |   |   |           |-- orn_halftone_dots_240x120_38BDF8_d953e4f7.png
    |   |   |           |-- orn_orbital_arcs_240x120_38BDF8_d953e4f7.png
    |   |   |           |-- orn_organic_blob_240x120_38BDF8_d953e4f7.png
    |   |   |           |-- orn_particle_field_200x140_38BDF8_2638523b.png
    |   |   |           |-- orn_particle_field_240x120_38BDF8_d953e4f7.png
    |   |   |           |-- orn_scanline_240x120_38BDF8_d953e4f7.png
    |   |   |           |-- orn_sine_field_240x120_38BDF8_d953e4f7.png
    |   |   |           `-- orn_spectrum_bar_240x120_38BDF8_d953e4f7.png
    |   |   |-- playwrighter/
    |   |   |   |-- config.yaml
    |   |   |   `-- playwrighter.py
    |   |   |-- prompter/
    |   |   |   |-- config.yaml
    |   |   |   `-- prompter.py
    |   |   |-- pser/
    |   |   |   |-- config.yaml
    |   |   |   `-- pser.py
    |   |   |-- pythonxer/
    |   |   |   |-- config.yaml
    |   |   |   `-- pythonxer.py
    |   |   |-- raiser/
    |   |   |   |-- config.yaml
    |   |   |   `-- raiser.py
    |   |   |-- recmailer/
    |   |   |   |-- config.yaml
    |   |   |   `-- recmailer.py
    |   |   |-- recorder/
    |   |   |   |-- config.yaml</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- 28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recorder.py
    |   |   |-- reviewer/
    |   |   |   |-- config.yaml
    |   |   |   `-- reviewer.py
    |   |   |-- scper/
    |   |   |   |-- config.yaml
    |   |   |   `-- scper.py
    |   |   |-- shoter/
    |   |   |   |-- config.yaml
    |   |   |   `-- shoter.py
    |   |   |-- sleeper/
    |   |   |   |-- config.yaml
    |   |   |   `-- sleeper.py
    |   |   |-- sqler/
    |   |   |   |-- config.yaml
    |   |   |   `-- sqler.py
    |   |   |-- ssher/
    |   |   |   |-- config.yaml
    |   |   |   `-- ssher.py
    |   |   |-- starter/
    |   |   |   |-- config.yaml
    |   |   |   `-- starter.py
    |   |   |-- stm32er/
    |   |   |   |-- config.yaml
    |   |   |   `-- stm32er.py
    |   |   |-- stopper/
    |   |   |   |-- config.yaml
    |   |   |   `-- stopper.py
    |   |   |-- summarizer/
    |   |   |   |-- config.yaml
    |   |   |   `-- summarizer.py</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- 29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talker/
    |   |   |   |-- config.yaml
    |   |   |   `-- talker.py
    |   |   |-- telegrammer/
    |   |   |   |-- config.yaml
    |   |   |   |-- HOW_TO_GET_YOUR_TELEGRAM_ASSETS.md
    |   |   |   |-- telegrammer.py
    |   |   |   `-- guide_assets/
    |   |   |       |-- telegram_01_botfather_search.jpg
    |   |   |       |-- telegram_02_newbot_token.jpg
    |   |   |       |-- telegram_03_start_bot_getupdates.jpg
    |   |   |       `-- telegram_04_tlamatini_contacts.jpg
    |   |   |-- teletlamatini/
    |   |   |   |-- config.yaml
    |   |   |   `-- teletlamatini.py
    |   |   |-- unrealer/
    |   |   |   |-- config.yaml
    |   |   |   `-- unrealer.py
    |   |   |-- video_analyzer/
    |   |   |   |-- config.yaml
    |   |   |   `-- video_analyzer.py
    |   |   |-- videoplayer/
    |   |   |   |-- config.yaml
    |   |   |   `-- videoplayer.py
    |   |   |-- whatsapper/
    |   |   |   |-- config.yaml
    |   |   |   |-- HOW_TO_GET_YOUR_WHATSAPP_ASSETS.md
    |   |   |   |-- whatsapper.py
    |   |   |   `-- guide_assets/
    |   |   |       |-- whatsapp_01_meta_create_app.jpg
    |   |   |       |-- whatsapp_02_api_setup_keys.jpg</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- 30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whatsapp_03_test_recipient_send.jpg
    |   |   |       |-- whatsapp_04_system_user_token.jpg
    |   |   |       `-- whatsapp_05_tlamatini_contacts.jpg
    |   |   |-- whisperer/
    |   |   |   |-- config.yaml
    |   |   |   `-- whisperer.py
    |   |   |-- windower/
    |   |   |   |-- config.yaml
    |   |   |   `-- windower.py
    |   |   `-- zavuerer/
    |   |       |-- config.yaml
    |   |       `-- zavuerer.py
    |   |-- doc_generation/
    |   |   |-- complete_project_docs.py
    |   |   |-- mardown_to_pdf.py
    |   |   |-- refresh_project_docs.py
    |   |   `-- test_output.pdf
    |   |-- images/
    |   |   |-- ACPXKeysConfigureWizard.jpg
    |   |   |-- ConfigureModels.jpg
    |   |   |-- FlowPill.jpg
    |   |   |-- HiIamTlamatini.png
    |   |   |-- LabInEnglish.mp4
    |   |   |-- LabInSpanish.mp4
    |   |   |-- MenuConfig.jpg
    |   |   |-- mockup.jpg
    |   |   |-- Modify_the_last_video_keepi.mp4
    |   |   |-- RealisticTlamatini.png
    |   |   |-- ShouldersUoTlamatini.png
    |   |   |-- Tlamatini AI Agentic Advisor Video.mp4
    |   |   |-- TlamatiniAndKyber.mp4</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- 31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TlamatiniClosedMouthClosedEyes.jpg
    |   |   |-- TlamatiniClosedMouthOpenedEyes.jpg
    |   |   |-- TlamatiniDrawings.png
    |   |   |-- TlamatiniOpenedMouthClosedEyes.jpg
    |   |   |-- TlamattiniOpenedMouthOpenedEyes.jpg
    |   |   |-- TlammatiniLetsMakeSomeMagic.mp4
    |   |   |-- TorsoTlamatini.png
    |   |   |-- versions.png
    |   |   `-- XAIHT-Tlamatini.mp4
    |   |-- imaging/
    |   |   |-- converter.py
    |   |   |-- image_interpreter.py
    |   |   `-- screenshot.py
    |   |-- management/
    |   |   |-- __init__.py
    |   |   `-- commands/
    |   |       |-- acpx_lint.py
    |   |       `-- startserver.py
    |   |-- migrations/
    |   |   |-- 0001_initial.py
    |   |   |-- 0002_populate_db.py
    |   |   |-- 0003_add_cleaner.py
    |   |   |-- 0004_add_deleter.py
    |   |   |-- 0005_add_executer.py
    |   |   |-- 0006_add_notifier.py
    |   |   |-- 0007_add_stopper.py
    |   |   |-- 0008_add_recmailer.py
    |   |   |-- 0009_add_whatsapper.py
    |   |   |-- 0010_add_pythonxer.py
    |   |   |-- 0011_add_asker.py
    |   |   |-- 0012_repopulate_all_agents.py</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- 32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|-- 0013_add_forker.py
    |   |   |-- 0014_repopulate_all_agents.py
    |   |   |-- 0015_add_shoter.py
    |   |   |-- 0016_repopulate_all_agents.py
    |   |   |-- 0017_add_ssher.py
    |   |   |-- 0018_repopulate_all_agents.py
    |   |   |-- 0019_add_scper.py
    |   |   |-- 0020_repopulate_all_agents.py
    |   |   |-- 0021_add_telegramrx.py
    |   |   |-- 0022_repopulate_all_agents.py
    |   |   |-- 0023_add_mongoxer.py
    |   |   |-- 0024_repopulate_all_agents.py
    |   |   |-- 0025_add_telegramer.py
    |   |   |-- 0026_repopulate_all_agents.py
    |   |   |-- 0027_add_sqler.py
    |   |   |-- 0028_repopulate_all_agents.py
    |   |   |-- 0029_add_prompter.py
    |   |   |-- 0030_repopulate_all_agents.py
    |   |   |-- 0031_add_flowcreator.py
    |   |   |-- 0032_repopulate_all_agents.py
    |   |   |-- 0033_add_gitter.py
    |   |   |-- 0034_add_dockerer.py
    |   |   |-- 0035_add_pser.py
    |   |   |-- 0036_add_kuberneter.py
    |   |   |-- 0037_add_apirer.py
    |   |   |-- 0038_add_jenkinser.py
    |   |   |-- 0039_add_crawler.py
    |   |   |-- 0040_add_summarizer.py
    |   |   |-- 0041_add_flowhypervisor.py
    |   |   |-- 0042_add_mouser.py
    |   |   |-- 0043_agentmessage_conversation_user.py</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- 33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|-- 0044_add_counter.py
    |   |   |-- 0045_add_file_interpreter.py
    |   |   |-- 0046_add_image_interpreter.py
    |   |   |-- 0047_add_gatewayer.py
    |   |   |-- 0048_add_gateway_relayer.py
    |   |   |-- 0049_add_node_manager.py
    |   |   |-- 0050_add_file_creator.py
    |   |   |-- 0051_add_file_extractor.py
    |   |   |-- 0052_add_kyber_keygen.py
    |   |   |-- 0053_add_kyber_cipher.py
    |   |   |-- 0054_add_kyber_decipher.py
    |   |   |-- 0055_fix_kyber_cipher_names.py
    |   |   |-- 0056_add_parametrizer.py
    |   |   |-- 0057_add_flowbacker.py
    |   |   |-- 0058_add_barrier.py
    |   |   |-- 0059_add_j_decompiler.py
    |   |   |-- 0060_add_agent_parametrizer_tool.py
    |   |   |-- 0061_add_agent_starter_tool.py
    |   |   |-- 0062_sync_agent_control_tools_and_prompts.py
    |   |   |-- 0063_add_agent_parametrizer_prompt.py
    |   |   |-- 0064_add_chat_agent_run_model.py
    |   |   |-- 0065_add_chat_wrapped_agent_tools.py
    |   |   |-- 0066_add_keyboarder.py
    |   |   |-- 0067_add_multi_turn_demo_prompts.py
    |   |   |-- 0068_add_googler_tool.py
    |   |   |-- 0069_add_googler_agent.py
    |   |   |-- 0070_add_teletlamatini.py
    |   |   |-- 0071_acpx_skills.py
    |   |   |-- 0072_add_acpx_demo_prompts.py
    |   |   |-- 0073_acpx_demo_gemini_uplift.py
    |   |   |-- 0074_simplify_demo_prompts.py</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- 34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|-- 0075_add_acpx_tool_surface.py
    |   |   |-- 0076_add_acpxer.py
    |   |   |-- 0077_add_whatstlamatini.py
    |   |   |-- 0078_add_chat_agent_keyboarder_tool.py
    |   |   |-- 0079_add_chat_agent_mouser_tool.py
    |   |   |-- 0080_add_chat_agent_sleeper_tool.py
    |   |   |-- 0081_add_window_present_and_run_wait_tools.py
    |   |   |-- 0082_add_chat_agent_j_decompiler_tool.py
    |   |   |-- 0083_add_de_compresser.py
    |   |   |-- 0084_add_chat_agent_de_compresser_tool.py
    |   |   |-- 0085_add_unrealer.py
    |   |   |-- 0086_add_chat_agent_unrealer_tool.py
    |   |   |-- 0087_add_unrealer_demo_prompt.py
    |   |   |-- 0088_add_reviewer.py
    |   |   |-- 0089_add_analyzer.py
    |   |   |-- 0090_add_reviewer_analyzer_demo_prompts.py
    |   |   |-- 0091_add_playwrighter.py
    |   |   |-- 0092_add_chat_agent_playwrighter_tool.py
    |   |   |-- 0093_add_windower.py
    |   |   |-- 0094_add_chat_agent_windower_tool.py
    |   |   |-- 0095_add_windower_playwrighter_demo_prompts.py
    |   |   |-- 0096_add_director_virtuoso_demo_prompts.py
    |   |   |-- 0097_add_kalier.py
    |   |   |-- 0098_add_chat_agent_kalier_tool.py
    |   |   |-- 0099_add_kalier_demo_prompts.py
    |   |   |-- 0100_add_unrealer_extended_demo_prompts.py
    |   |   |-- 0101_add_stm32er.py
    |   |   |-- 0102_add_chat_agent_stm32er_tool.py
    |   |   |-- 0103_add_stm32er_demo_prompts.py
    |   |   |-- 0104_fix_stm32er_hil_serial_proof.py
    |   |   |-- 0105_add_esp32er.py</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- 35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|-- 0106_add_chat_agent_esp32er_tool.py
    |   |   |-- 0107_add_esp32er_demo_prompts.py
    |   |   |-- 0108_add_flow_making_demo_prompt.py
    |   |   |-- 0109_add_arduiner.py
    |   |   |-- 0110_add_chat_agent_arduiner_tool.py
    |   |   |-- 0111_add_arduiner_demo_prompts.py
    |   |   |-- 0112_add_camcorder.py
    |   |   |-- 0113_add_chat_agent_camcorder_tool.py
    |   |   |-- 0114_add_recorder.py
    |   |   |-- 0115_add_chat_agent_recorder_tool.py
    |   |   |-- 0116_add_audioplayer.py
    |   |   |-- 0117_add_chat_agent_audioplayer_tool.py
    |   |   |-- 0118_add_videoplayer.py
    |   |   |-- 0119_add_chat_agent_videoplayer_tool.py
    |   |   |-- 0120_add_talker.py
    |   |   |-- 0121_add_chat_agent_talker_tool.py
    |   |   |-- 0122_add_talker_demo_prompt.py
    |   |   |-- 0123_add_whisperer.py
    |   |   |-- 0124_add_chat_agent_whisperer_tool.py
    |   |   |-- 0125_add_whisperer_demo_prompt.py
    |   |   |-- 0126_add_blenderer.py
    |   |   |-- 0127_add_chat_agent_blenderer_tool.py
    |   |   |-- 0128_add_blenderer_demo_prompts.py
    |   |   |-- 0129_add_editor.py
    |   |   |-- 0130_add_chat_agent_editor_tool.py
    |   |   |-- 0131_add_editor_demo_prompts.py
    |   |   |-- 0132_add_grepper.py
    |   |   |-- 0133_add_chat_agent_grepper_tool.py
    |   |   |-- 0134_add_grepper_demo_prompts.py
    |   |   |-- 0135_add_globber.py
    |   |   |-- 0136_add_chat_agent_globber_tool.py</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- 36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|-- 0137_add_globber_demo_prompts.py
    |   |   |-- 0138_add_esphomer.py
    |   |   |-- 0139_add_chat_agent_esphomer_tool.py
    |   |   |-- 0140_add_esphomer_demo_prompts.py
    |   |   |-- 0141_add_mcp_doctor.py
    |   |   |-- 0142_add_chat_agent_mcp_doctor_tool.py
    |   |   |-- 0143_add_mcp_doctor_demo_prompt.py
    |   |   |-- 0144_insert_java17_maven_demo_prompt_at_5.py
    |   |   |-- 0145_insert_createsuperuser_wizard_prompt_at_1.py
    |   |   |-- 0146_update_createsuperuser_wizard_continuation.py
    |   |   |-- 0147_add_unreal_game_demo_prompts.py
    |   |   |-- 0148_add_discoverer_demo_prompts.py
    |   |   |-- 0149_add_discoverer.py
    |   |   |-- 0150_add_chat_agent_discoverer_tool.py
    |   |   |-- 0151_retire_old_messaging_add_telegrammer.py
    |   |   |-- 0152_add_instant_messaging_doctor.py
    |   |   |-- 0153_add_chat_agent_instant_messaging_doctor_tool.py
    |   |   |-- 0154_add_instant_messaging_doctor_demo_prompt.py
    |   |   |-- 0155_add_contact_scaffold_demo_prompt.py
    |   |   |-- 0156_add_telegrammer_identity_demo_prompts.py
    |   |   |-- 0157_add_whatsapper_identity_demo_prompt.py
    |   |   |-- 0158_redesign_messaging_demo_prompts.py
    |   |   |-- 0159_add_zavuerer.py
    |   |   |-- 0160_add_chat_agent_zavuerer_tool.py
    |   |   |-- 0161_add_zavuerer_demo_prompts.py
    |   |   |-- 0162_add_zavuerer_catalog_prompts.py
    |   |   |-- 0163_add_zavuerer_get_key_wizard_prompt.py
    |   |   |-- 0164_dedup_zavuerer_setup_wizards.py
    |   |   |-- 0165_add_image_interpreter_triple_model_demo_prompt.py
    |   |   |-- 0166_add_video_analyzer.py
    |   |   |-- 0167_add_chat_agent_video_analyzer_tool.py</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- 37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|-- 0168_add_video_analyzer_demo_prompt.py
    |   |   |-- 0169_add_discoverer_cvemap_latest_demo_prompt.py
    |   |   |-- 0170_add_nmapper.py
    |   |   |-- 0171_add_chat_agent_nmapper_tool.py
    |   |   |-- 0172_add_nmapper_demo_prompts.py
    |   |   |-- 0173_add_unreal_scaffold_demo_prompt.py
    |   |   |-- 0174_unreal_scaffold_build_project_tip.py
    |   |   |-- 0175_prompt_category_and_dedup.py
    |   |   |-- 0176_delete_duplicate_acpx_prompts.py
    |   |   |-- 0177_add_stm32er_platformio_demo_prompt.py
    |   |   |-- 0178_add_stm32_stepwise_blink_camera_prompts.py
    |   |   |-- 0179_regroup_resort_prompts_no_gaps.py
    |   |   |-- 0180_add_kalier_setup_wizard_prompt.py
    |   |   |-- 0181_prompt_sort_rank.py
    |   |   |-- 0182_add_step_by_step_section_openers.py
    |   |   |-- 0183_standardize_security_recon_prompts.py
    |   |   |-- 0184_standardize_prompt_params_batch2.py
    |   |   |-- 0185_standardize_prompt_params_batch3.py
    |   |   |-- 0186_add_chat_agent_flowcreator.py
    |   |   |-- 0187_add_flowcreator_end_to_end_wizard_prompt.py
    |   |   |-- 0188_add_pdfer.py
    |   |   |-- 0189_add_chat_agent_pdfer_tool.py
    |   |   |-- 0190_add_pdfer_demo_prompts.py
    |   |   |-- 0191_add_latexer.py
    |   |   |-- 0192_add_chat_agent_latexer_tool.py
    |   |   |-- 0193_add_latexer_demo_prompts.py
    |   |   |-- 0194_add_deep_research_demo_prompt.py
    |   |   |-- 0195_add_netspeed_calculator.py
    |   |   |-- 0196_add_chat_agent_netspeed_calculator_tool.py
    |   |   |-- 0197_add_netspeed_calculator_demo_prompt.py
    |   |   |-- 0198_add_pdfer_nuance_demo_prompt.py</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- 38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|-- 0199_dedupe_llm_program_snippet_names.py
    |   |   |-- 0200_whisperer_demo_prompt_sound_gate.py
    |   |   |-- 0201_add_voice_commands_section.py
    |   |   `-- __init__.py
    |   |-- monitors/
    |   |   `-- monitor_sql.py
    |   |-- opus_client/
    |   |   |-- claude_opus_client.py
    |   |   |-- examples.py
    |   |   `-- README.md
    |   |-- rag/
    |   |   |-- __init__.py
    |   |   |-- binary_guard.py
    |   |   |-- config.py
    |   |   |-- factory.py
    |   |   |-- interaction.py
    |   |   |-- interface.py
    |   |   |-- loaders.py
    |   |   |-- prompts.py
    |   |   |-- retrieval.py
    |   |   |-- splitters.py
    |   |   |-- utils.py
    |   |   `-- chains/
    |   |       |-- base.py
    |   |       |-- basic.py
    |   |       |-- history_aware.py
    |   |       `-- unified.py
    |   |-- services/
    |   |   |-- __init__.py
    |   |   |-- agent_contracts.py
    |   |   |-- agent_paths.py</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- 39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filesystem.py
    |   |   |-- flow_compiler.py
    |   |   |-- flow_spec.py
    |   |   `-- response_parser.py
    |   |-- skills/
    |   |   |-- __init__.py
    |   |   |-- frontmatter.py
    |   |   |-- harness.py
    |   |   |-- io_contract.py
    |   |   `-- registry.py
    |   |-- skills_pkg/
    |   |   |-- _meta/
    |   |   |   |-- lint.py
    |   |   |   `-- schema.json
    |   |   |-- acp_router/
    |   |   |   `-- SKILL.md
    |   |   |-- adding_external_mcp/
    |   |   |   |-- SKILL.md
    |   |   |   `-- references/
    |   |   |       |-- external_mcp_catalog_format.md
    |   |   |       |-- llm_reflection_research.md
    |   |   |       |-- transport_guide.md
    |   |   |       `-- troubleshooting.md
    |   |   |-- code_review/
    |   |   |   `-- SKILL.md
    |   |   |-- create_new_agent/
    |   |   |   `-- SKILL.md
    |   |   |-- create_new_mcp/
    |   |   |   `-- SKILL.md
    |   |   |-- flow_making/
    |   |   |   |-- SKILL.md</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- 40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references/
    |   |   |   |   `-- flw_schema.md
    |   |   |   `-- scripts/
    |   |   |       |-- make_flow.py
    |   |   |       `-- result_to_flw.py
    |   |   |-- github/
    |   |   |   `-- SKILL.md
    |   |   |-- gmail/
    |   |   |   `-- SKILL.md
    |   |   |-- hello_world/
    |   |   |   `-- SKILL.md
    |   |   |-- jira/
    |   |   |   `-- SKILL.md
    |   |   |-- kali_pentest/
    |   |   |   `-- SKILL.md
    |   |   |-- notion/
    |   |   |   `-- SKILL.md
    |   |   |-- roblox_studio/
    |   |   |   `-- SKILL.md
    |   |   |-- security_audit/
    |   |   |   `-- SKILL.md
    |   |   |-- setup_new_acpx_key/
    |   |   |   `-- SKILL.md
    |   |   |-- skill_creator/
    |   |   |   |-- SKILL.md
    |   |   |   `-- scripts/
    |   |   |       `-- quick_validate.py
    |   |   |-- slack/
    |   |   |   `-- SKILL.md
    |   |   |-- summarize/
    |   |   |   `-- SKILL.md</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- 41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tlamatini_allowed_hosts_tighten/
    |   |   |   `-- SKILL.md
    |   |   |-- tlamatini_csrf_exempt_audit/
    |   |   |   `-- SKILL.md
    |   |   |-- tlamatini_exec_report_row_adder/
    |   |   |   `-- SKILL.md
    |   |   |-- tlamatini_flow_from_objective/
    |   |   |   `-- SKILL.md
    |   |   |-- tlamatini_flw_doctor/
    |   |   |   `-- SKILL.md
    |   |   |-- tlamatini_new_acp_agent/
    |   |   |   `-- SKILL.md
    |   |   |-- tlamatini_planner_trace_replay/
    |   |   |   `-- SKILL.md
    |   |   |-- tlamatini_static_version_bumper/
    |   |   |   `-- SKILL.md
    |   |   |-- todoist/
    |   |   |   `-- SKILL.md
    |   |   |-- trello/
    |   |   |   `-- SKILL.md
    |   |   `-- weather/
    |   |       `-- SKILL.md
    |   |-- static/
    |   |   `-- agent/
    |   |       |-- css/
    |   |       |   |-- access_keys_wizard.css
    |   |       |   |-- agent_page.css
    |   |       |   |-- agentic_control_panel.css
    |   |       |   |-- avatar.css
    |   |       |   |-- contacts_dialog.css
    |   |       |   |-- dialog_theme.css</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- 42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external_mcps_dialog.css
    |   |       |   |-- login.css
    |   |       |   |-- skills_dialog.css
    |   |       |   |-- tools_dialog.css
    |   |       |   `-- welcome.css
    |   |       |-- img/
    |   |       |   |-- spinner.svg
    |   |       |   |-- Tlamatini.ico
    |   |       |   `-- avatar/
    |   |       |       |-- ec_mc.jpg
    |   |       |       |-- ec_mo.jpg
    |   |       |       |-- eo_mc.jpg
    |   |       |       `-- eo_mo.jpg
    |   |       |-- js/
    |   |       |   |-- access_keys_wizard.js
    |   |       |   |-- acp-agent-connectors.js
    |   |       |   |-- acp-canvas-core.js
    |   |       |   |-- acp-canvas-undo.js
    |   |       |   |-- acp-connection-status.js
    |   |       |   |-- acp-control-buttons.js
    |   |       |   |-- acp-file-io.js
    |   |       |   |-- acp-flow-snapshot.js
    |   |       |   |-- acp-globals.js
    |   |       |   |-- acp-layout.js
    |   |       |   |-- acp-parametrizer-dialog.js
    |   |       |   |-- acp-running-state.js
    |   |       |   |-- acp-session.js
    |   |       |   |-- acp-undo-manager.js
    |   |       |   |-- acp-validate.js
    |   |       |   |-- agent_page_canvas.js
    |   |       |   |-- agent_page_chat.js</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- 43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 agent_page_context.js
    |   |       |   |-- agent_page_dialogs.js
    |   |       |   |-- agent_page_init.js
    |   |       |   |-- agent_page_layout.js
    |   |       |   |-- agent_page_state.js
    |   |       |   |-- agent_page_ui.js
    |   |       |   |-- agentic_control_panel.js
    |   |       |   |-- avatar.js
    |   |       |   |-- avatar_presence.js
    |   |       |   |-- avatar_size.js
    |   |       |   |-- canvas_item_dialog.js
    |   |       |   |-- chat_image_paste.js
    |   |       |   |-- chat_page_runtime_poller.js
    |   |       |   |-- checkbox_bulk_toggle.js
    |   |       |   |-- contacts_dialog.js
    |   |       |   |-- contextual_menus.js
    |   |       |   |-- dialog_policy.js
    |   |       |   |-- external_mcps_dialog.js
    |   |       |   |-- release_notes_renderer.js
    |   |       |   |-- shared-runtime-dialogs.js
    |   |       |   |-- skills_dialog.js
    |   |       |   |-- tools_dialog.js
    |   |       |   `-- welcome_enter_default.js
    |   |       |-- sounds/
    |   |       |   |-- hypervisor_alert.wav
    |   |       |   `-- notification.wav
    |   |       `-- video/
    |   |           `-- XAIHT-Tlamatini.mp4
    |   |-- templates/
    |   |   `-- agent/
    |   |       |-- agent_page.html</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- 44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 agentic_control_panel.html
    |   |       |-- login.html
    |   |       `-- welcome.html
    |   |-- test_fixtures/
    |   |   `-- talker_orpheus_tokens.txt
    |   `-- TlamatiniSourceCode/
    |       `-- README.md
    |-- DB/
    |   |-- Older/
    |   |   `-- README.md
    |   `-- ToLoad/
    |       `-- README.md
    |-- jd-cli/
    |   |-- jd-cli.bat
    |   `-- jd-cli.jar
    |-- tests_e2e/
    |   |-- oob_child_helper.py
    |   |-- README.md
    |   |-- test_create_flow_visual.py
    |   |-- test_ctrl_c_quits_visible.py</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Repository File Tree - 45 of 45</a:t>
            </a:r>
          </a:p>
        </p:txBody>
      </p:sp>
      <p:sp>
        <p:nvSpPr>
          <p:cNvPr id="9" name="TextBox 8"/>
          <p:cNvSpPr txBox="1"/>
          <p:nvPr/>
        </p:nvSpPr>
        <p:spPr>
          <a:xfrm>
            <a:off x="658368" y="1426464"/>
            <a:ext cx="10927080" cy="4956048"/>
          </a:xfrm>
          <a:prstGeom prst="rect">
            <a:avLst/>
          </a:prstGeom>
          <a:noFill/>
        </p:spPr>
        <p:txBody>
          <a:bodyPr wrap="square" anchor="t" lIns="12700" rIns="76200" tIns="12700" bIns="12700">
            <a:normAutofit/>
          </a:bodyPr>
          <a:lstStyle/>
          <a:p>
            <a:pPr algn="l"/>
            <a:r>
              <a:rPr sz="700" b="0">
                <a:solidFill>
                  <a:srgbClr val="E8E8DE"/>
                </a:solidFill>
                <a:latin typeface="Cascadia Mono"/>
              </a:rPr>
              <a:t>    |   |-- test_db_backup_set_visible.py
    |   |-- test_oob_browser_visible.py
    |   |-- test_oob_namu_unit.py
    |   |-- test_prompts_catalog_visual.py
    |   |-- test_self_healing_visual.py
    |   |-- test_voice_visual.py
    |   |-- Tlamatini-Overnight-100.py
    |   `-- Tlamatini-Whatsapper-Daily-Tests.py
    `-- tlamatini/
        |-- __init__.py
        |-- asgi.py
        |-- context_processors.py
        |-- logging_filters.py
        |-- middleware.py
        |-- settings.py
        |-- urls.py
        `-- wsgi.py</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48BF8F"/>
                </a:solidFill>
                <a:latin typeface="Aptos"/>
              </a:rPr>
              <a:t>SINCE LAST COMMITTED DOSSIER, INCLUDING UNTRACKED WORKING ADDITIONS</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New Asset Inventory - 1</a:t>
            </a:r>
          </a:p>
        </p:txBody>
      </p:sp>
      <p:sp>
        <p:nvSpPr>
          <p:cNvPr id="9" name="TextBox 8"/>
          <p:cNvSpPr txBox="1"/>
          <p:nvPr/>
        </p:nvSpPr>
        <p:spPr>
          <a:xfrm>
            <a:off x="731520" y="1508760"/>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Tlamatini/agent/test_chat_agent_run_wait.py</a:t>
            </a:r>
          </a:p>
        </p:txBody>
      </p:sp>
      <p:sp>
        <p:nvSpPr>
          <p:cNvPr id="10" name="TextBox 9"/>
          <p:cNvSpPr txBox="1"/>
          <p:nvPr/>
        </p:nvSpPr>
        <p:spPr>
          <a:xfrm>
            <a:off x="731520" y="1709928"/>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8,042 bytes; text; 199 physical / 127 effective lines</a:t>
            </a:r>
          </a:p>
        </p:txBody>
      </p:sp>
      <p:sp>
        <p:nvSpPr>
          <p:cNvPr id="11" name="TextBox 10"/>
          <p:cNvSpPr txBox="1"/>
          <p:nvPr/>
        </p:nvSpPr>
        <p:spPr>
          <a:xfrm>
            <a:off x="731520" y="1984248"/>
            <a:ext cx="10698480" cy="201168"/>
          </a:xfrm>
          <a:prstGeom prst="rect">
            <a:avLst/>
          </a:prstGeom>
          <a:noFill/>
        </p:spPr>
        <p:txBody>
          <a:bodyPr wrap="square" anchor="t" lIns="12700" rIns="76200" tIns="12700" bIns="12700">
            <a:normAutofit/>
          </a:bodyPr>
          <a:lstStyle/>
          <a:p>
            <a:pPr algn="l"/>
            <a:r>
              <a:rPr sz="900" b="0">
                <a:solidFill>
                  <a:srgbClr val="E8E8DE"/>
                </a:solidFill>
                <a:latin typeface="Cascadia Mono"/>
              </a:rPr>
              <a:t>ollama_credits.py</a:t>
            </a:r>
          </a:p>
        </p:txBody>
      </p:sp>
      <p:sp>
        <p:nvSpPr>
          <p:cNvPr id="12" name="TextBox 11"/>
          <p:cNvSpPr txBox="1"/>
          <p:nvPr/>
        </p:nvSpPr>
        <p:spPr>
          <a:xfrm>
            <a:off x="731520" y="2185416"/>
            <a:ext cx="10698480" cy="182880"/>
          </a:xfrm>
          <a:prstGeom prst="rect">
            <a:avLst/>
          </a:prstGeom>
          <a:noFill/>
        </p:spPr>
        <p:txBody>
          <a:bodyPr wrap="square" anchor="t" lIns="12700" rIns="76200" tIns="12700" bIns="12700">
            <a:normAutofit/>
          </a:bodyPr>
          <a:lstStyle/>
          <a:p>
            <a:pPr algn="l"/>
            <a:r>
              <a:rPr sz="900" b="0">
                <a:solidFill>
                  <a:srgbClr val="B4BAAE"/>
                </a:solidFill>
                <a:latin typeface="Aptos"/>
              </a:rPr>
              <a:t>13,076 bytes; text; 386 physical / 270 effective lines</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76200" tIns="12700" bIns="12700">
            <a:no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none" anchor="t" lIns="12700" rIns="76200" tIns="12700" bIns="12700">
            <a:no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lIns="12700" rIns="76200" tIns="12700" bIns="12700">
            <a:norm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12700" rIns="762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Tlamatini eXtended Artificial Intelligence Humanly Tempered</dc:title>
  <dc:subject>Complete technical project dossier</dc:subject>
  <dc:creator>Angela López Mendoza</dc:creator>
  <cp:keywords/>
  <dc:description>Generated from the Tlamatini repository by the deterministic project dossier workflow.</dc:description>
  <cp:lastModifiedBy>Angela López Mendoza</cp:lastModifiedBy>
  <cp:revision>1</cp:revision>
  <dcterms:created xsi:type="dcterms:W3CDTF">2013-01-27T09:14:16Z</dcterms:created>
  <dcterms:modified xsi:type="dcterms:W3CDTF">2013-01-27T09:15:58Z</dcterms:modified>
  <cp:category/>
</cp:coreProperties>
</file>