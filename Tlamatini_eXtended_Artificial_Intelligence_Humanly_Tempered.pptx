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PROJECT DOSSIER: WHAT SHE DOES, HOW SHE WORKS, HOW TO USE TLAMATINI</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TLAMATINI</a:t>
            </a:r>
          </a:p>
        </p:txBody>
      </p:sp>
      <p:sp>
        <p:nvSpPr>
          <p:cNvPr id="9" name="TextBox 8"/>
          <p:cNvSpPr txBox="1"/>
          <p:nvPr/>
        </p:nvSpPr>
        <p:spPr>
          <a:xfrm>
            <a:off x="822960" y="1828800"/>
            <a:ext cx="5029200" cy="548640"/>
          </a:xfrm>
          <a:prstGeom prst="rect">
            <a:avLst/>
          </a:prstGeom>
          <a:noFill/>
        </p:spPr>
        <p:txBody>
          <a:bodyPr wrap="square" anchor="t">
            <a:spAutoFit/>
          </a:bodyPr>
          <a:lstStyle/>
          <a:p>
            <a:pPr algn="l"/>
            <a:r>
              <a:rPr sz="2400" b="0">
                <a:solidFill>
                  <a:srgbClr val="E8E8DE"/>
                </a:solidFill>
                <a:latin typeface="Aptos Display"/>
              </a:rPr>
              <a:t>El Saber Cosmico del Desarrollo</a:t>
            </a:r>
          </a:p>
        </p:txBody>
      </p:sp>
      <p:sp>
        <p:nvSpPr>
          <p:cNvPr id="10" name="TextBox 9"/>
          <p:cNvSpPr txBox="1"/>
          <p:nvPr/>
        </p:nvSpPr>
        <p:spPr>
          <a:xfrm>
            <a:off x="822960" y="2523744"/>
            <a:ext cx="5760720" cy="1097280"/>
          </a:xfrm>
          <a:prstGeom prst="rect">
            <a:avLst/>
          </a:prstGeom>
          <a:noFill/>
        </p:spPr>
        <p:txBody>
          <a:bodyPr wrap="square" anchor="t">
            <a:spAutoFit/>
          </a:bodyPr>
          <a:lstStyle/>
          <a:p>
            <a:pPr algn="l"/>
            <a:r>
              <a:rPr sz="1700" b="0">
                <a:solidFill>
                  <a:srgbClr val="B4BAAE"/>
                </a:solidFill>
                <a:latin typeface="Aptos"/>
              </a:rPr>
              <a:t>Self-hosted AI developer assistant (cloud LLMs by default) with RAG, Multi-Turn orchestration, 86 agents, ACPX delegation, visual workflows, self-knowledge, and Windows packaging.</a:t>
            </a:r>
          </a:p>
        </p:txBody>
      </p:sp>
      <p:sp>
        <p:nvSpPr>
          <p:cNvPr id="11" name="Rounded Rectangle 10"/>
          <p:cNvSpPr/>
          <p:nvPr/>
        </p:nvSpPr>
        <p:spPr>
          <a:xfrm>
            <a:off x="822960" y="3886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4023360"/>
            <a:ext cx="1307592" cy="219456"/>
          </a:xfrm>
          <a:prstGeom prst="rect">
            <a:avLst/>
          </a:prstGeom>
          <a:noFill/>
        </p:spPr>
        <p:txBody>
          <a:bodyPr wrap="square" anchor="t">
            <a:spAutoFit/>
          </a:bodyPr>
          <a:lstStyle/>
          <a:p>
            <a:pPr algn="l"/>
            <a:r>
              <a:rPr sz="800" b="1">
                <a:solidFill>
                  <a:srgbClr val="48BF8F"/>
                </a:solidFill>
                <a:latin typeface="Aptos"/>
              </a:rPr>
              <a:t>FILES</a:t>
            </a:r>
          </a:p>
        </p:txBody>
      </p:sp>
      <p:sp>
        <p:nvSpPr>
          <p:cNvPr id="13" name="TextBox 12"/>
          <p:cNvSpPr txBox="1"/>
          <p:nvPr/>
        </p:nvSpPr>
        <p:spPr>
          <a:xfrm>
            <a:off x="969264" y="4270248"/>
            <a:ext cx="1307592" cy="347472"/>
          </a:xfrm>
          <a:prstGeom prst="rect">
            <a:avLst/>
          </a:prstGeom>
          <a:noFill/>
        </p:spPr>
        <p:txBody>
          <a:bodyPr wrap="square" anchor="t">
            <a:spAutoFit/>
          </a:bodyPr>
          <a:lstStyle/>
          <a:p>
            <a:pPr algn="l"/>
            <a:r>
              <a:rPr sz="2000" b="1">
                <a:solidFill>
                  <a:srgbClr val="E8E8DE"/>
                </a:solidFill>
                <a:latin typeface="Aptos"/>
              </a:rPr>
              <a:t>883</a:t>
            </a:r>
          </a:p>
        </p:txBody>
      </p:sp>
      <p:sp>
        <p:nvSpPr>
          <p:cNvPr id="14" name="Rounded Rectangle 13"/>
          <p:cNvSpPr/>
          <p:nvPr/>
        </p:nvSpPr>
        <p:spPr>
          <a:xfrm>
            <a:off x="2606040" y="3886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52344" y="4023360"/>
            <a:ext cx="1307592" cy="219456"/>
          </a:xfrm>
          <a:prstGeom prst="rect">
            <a:avLst/>
          </a:prstGeom>
          <a:noFill/>
        </p:spPr>
        <p:txBody>
          <a:bodyPr wrap="square" anchor="t">
            <a:spAutoFit/>
          </a:bodyPr>
          <a:lstStyle/>
          <a:p>
            <a:pPr algn="l"/>
            <a:r>
              <a:rPr sz="800" b="1">
                <a:solidFill>
                  <a:srgbClr val="C48052"/>
                </a:solidFill>
                <a:latin typeface="Aptos"/>
              </a:rPr>
              <a:t>AGENTS</a:t>
            </a:r>
          </a:p>
        </p:txBody>
      </p:sp>
      <p:sp>
        <p:nvSpPr>
          <p:cNvPr id="16" name="TextBox 15"/>
          <p:cNvSpPr txBox="1"/>
          <p:nvPr/>
        </p:nvSpPr>
        <p:spPr>
          <a:xfrm>
            <a:off x="2752344" y="4270248"/>
            <a:ext cx="1307592" cy="347472"/>
          </a:xfrm>
          <a:prstGeom prst="rect">
            <a:avLst/>
          </a:prstGeom>
          <a:noFill/>
        </p:spPr>
        <p:txBody>
          <a:bodyPr wrap="square" anchor="t">
            <a:spAutoFit/>
          </a:bodyPr>
          <a:lstStyle/>
          <a:p>
            <a:pPr algn="l"/>
            <a:r>
              <a:rPr sz="2000" b="1">
                <a:solidFill>
                  <a:srgbClr val="E8E8DE"/>
                </a:solidFill>
                <a:latin typeface="Aptos"/>
              </a:rPr>
              <a:t>86</a:t>
            </a:r>
          </a:p>
        </p:txBody>
      </p:sp>
      <p:sp>
        <p:nvSpPr>
          <p:cNvPr id="17" name="Rounded Rectangle 16"/>
          <p:cNvSpPr/>
          <p:nvPr/>
        </p:nvSpPr>
        <p:spPr>
          <a:xfrm>
            <a:off x="4389120" y="3886200"/>
            <a:ext cx="178308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023360"/>
            <a:ext cx="1490472" cy="219456"/>
          </a:xfrm>
          <a:prstGeom prst="rect">
            <a:avLst/>
          </a:prstGeom>
          <a:noFill/>
        </p:spPr>
        <p:txBody>
          <a:bodyPr wrap="square" anchor="t">
            <a:spAutoFit/>
          </a:bodyPr>
          <a:lstStyle/>
          <a:p>
            <a:pPr algn="l"/>
            <a:r>
              <a:rPr sz="800" b="1">
                <a:solidFill>
                  <a:srgbClr val="E0AB5D"/>
                </a:solidFill>
                <a:latin typeface="Aptos"/>
              </a:rPr>
              <a:t>EFFECTIVE</a:t>
            </a:r>
          </a:p>
        </p:txBody>
      </p:sp>
      <p:sp>
        <p:nvSpPr>
          <p:cNvPr id="19" name="TextBox 18"/>
          <p:cNvSpPr txBox="1"/>
          <p:nvPr/>
        </p:nvSpPr>
        <p:spPr>
          <a:xfrm>
            <a:off x="4535424" y="4270248"/>
            <a:ext cx="1490472" cy="347472"/>
          </a:xfrm>
          <a:prstGeom prst="rect">
            <a:avLst/>
          </a:prstGeom>
          <a:noFill/>
        </p:spPr>
        <p:txBody>
          <a:bodyPr wrap="square" anchor="t">
            <a:spAutoFit/>
          </a:bodyPr>
          <a:lstStyle/>
          <a:p>
            <a:pPr algn="l"/>
            <a:r>
              <a:rPr sz="2000" b="1">
                <a:solidFill>
                  <a:srgbClr val="E8E8DE"/>
                </a:solidFill>
                <a:latin typeface="Aptos"/>
              </a:rPr>
              <a:t>184,178</a:t>
            </a:r>
          </a:p>
        </p:txBody>
      </p:sp>
      <p:sp>
        <p:nvSpPr>
          <p:cNvPr id="20" name="TextBox 19"/>
          <p:cNvSpPr txBox="1"/>
          <p:nvPr/>
        </p:nvSpPr>
        <p:spPr>
          <a:xfrm>
            <a:off x="822960" y="5806440"/>
            <a:ext cx="5669280" cy="292608"/>
          </a:xfrm>
          <a:prstGeom prst="rect">
            <a:avLst/>
          </a:prstGeom>
          <a:noFill/>
        </p:spPr>
        <p:txBody>
          <a:bodyPr wrap="square" anchor="t">
            <a:spAutoFit/>
          </a:bodyPr>
          <a:lstStyle/>
          <a:p>
            <a:pPr algn="l"/>
            <a:r>
              <a:rPr sz="900" b="0">
                <a:solidFill>
                  <a:srgbClr val="B4BAAE"/>
                </a:solidFill>
                <a:latin typeface="Aptos"/>
              </a:rPr>
              <a:t>Generated July 26, 2026 02:53 PM UTC-0600 at HEAD 6207181f</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SYSTEM IDENTITY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Tlamatini Is</a:t>
            </a:r>
          </a:p>
        </p:txBody>
      </p:sp>
      <p:sp>
        <p:nvSpPr>
          <p:cNvPr id="9" name="Rounded Rectangle 8"/>
          <p:cNvSpPr/>
          <p:nvPr/>
        </p:nvSpPr>
        <p:spPr>
          <a:xfrm>
            <a:off x="713232" y="150876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0876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709928"/>
            <a:ext cx="4946903" cy="310896"/>
          </a:xfrm>
          <a:prstGeom prst="rect">
            <a:avLst/>
          </a:prstGeom>
          <a:noFill/>
        </p:spPr>
        <p:txBody>
          <a:bodyPr wrap="square" anchor="t">
            <a:spAutoFit/>
          </a:bodyPr>
          <a:lstStyle/>
          <a:p>
            <a:pPr algn="l"/>
            <a:r>
              <a:rPr sz="1400" b="1">
                <a:solidFill>
                  <a:srgbClr val="48BF8F"/>
                </a:solidFill>
                <a:latin typeface="Aptos"/>
              </a:rPr>
              <a:t>Definition</a:t>
            </a:r>
          </a:p>
        </p:txBody>
      </p:sp>
      <p:sp>
        <p:nvSpPr>
          <p:cNvPr id="12" name="TextBox 11"/>
          <p:cNvSpPr txBox="1"/>
          <p:nvPr/>
        </p:nvSpPr>
        <p:spPr>
          <a:xfrm>
            <a:off x="914400" y="2167128"/>
            <a:ext cx="494690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Tlamatini is a self-hosted AI developer assistant (cloud LLMs by default; the app and RAG run locally) built with Django, Django Channels, LangChain, LangGraph, FAISS/BM25 retrieval, and a large in-repository agent application.</a:t>
            </a:r>
          </a:p>
          <a:p>
            <a:pPr>
              <a:spcAft>
                <a:spcPts val="400"/>
              </a:spcAft>
              <a:defRPr sz="1100">
                <a:solidFill>
                  <a:srgbClr val="B4BAAE"/>
                </a:solidFill>
                <a:latin typeface="Aptos"/>
              </a:defRPr>
            </a:pPr>
            <a:r>
              <a:t>She combines a browser chat surface, a Retrieval-Augmented Generation stack, a Multi-Turn tool executor, MCP-backed context providers, wrapped chat-agent runtimes, and a visual Agentic Control Panel for workflow design.</a:t>
            </a:r>
          </a:p>
          <a:p>
            <a:pPr>
              <a:spcAft>
                <a:spcPts val="400"/>
              </a:spcAft>
              <a:defRPr sz="1100">
                <a:solidFill>
                  <a:srgbClr val="B4BAAE"/>
                </a:solidFill>
                <a:latin typeface="Aptos"/>
              </a:defRPr>
            </a:pPr>
            <a:r>
              <a:t>She is designed for development operations: codebase analysis, file and directory context, deterministic file discovery/search/editing, command execution, Python execution, screenshots, web/search helpers, notifications and attention routing, DevOps tools, authorized cyber-security assessment, local model operation, Windows packaging and uninstall registration, first-person self-knowledge about her own runtime, and embedded-firmware control for STM32, ESP32-class, Arduino-class, and ESPHome smart-home boards.</a:t>
            </a:r>
          </a:p>
        </p:txBody>
      </p:sp>
      <p:sp>
        <p:nvSpPr>
          <p:cNvPr id="13" name="Rounded Rectangle 12"/>
          <p:cNvSpPr/>
          <p:nvPr/>
        </p:nvSpPr>
        <p:spPr>
          <a:xfrm>
            <a:off x="6327648" y="150876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50876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709928"/>
            <a:ext cx="4672583" cy="310896"/>
          </a:xfrm>
          <a:prstGeom prst="rect">
            <a:avLst/>
          </a:prstGeom>
          <a:noFill/>
        </p:spPr>
        <p:txBody>
          <a:bodyPr wrap="square" anchor="t">
            <a:spAutoFit/>
          </a:bodyPr>
          <a:lstStyle/>
          <a:p>
            <a:pPr algn="l"/>
            <a:r>
              <a:rPr sz="1400" b="1">
                <a:solidFill>
                  <a:srgbClr val="C48052"/>
                </a:solidFill>
                <a:latin typeface="Aptos"/>
              </a:rPr>
              <a:t>Core interfaces</a:t>
            </a:r>
          </a:p>
        </p:txBody>
      </p:sp>
      <p:sp>
        <p:nvSpPr>
          <p:cNvPr id="16" name="TextBox 15"/>
          <p:cNvSpPr txBox="1"/>
          <p:nvPr/>
        </p:nvSpPr>
        <p:spPr>
          <a:xfrm>
            <a:off x="6528816" y="216712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Chat page at `/agent/` for context-grounded Q&amp;A, code generation, tool calls, and Multi-Turn execution.</a:t>
            </a:r>
          </a:p>
          <a:p>
            <a:pPr>
              <a:spcAft>
                <a:spcPts val="400"/>
              </a:spcAft>
              <a:defRPr sz="1600">
                <a:solidFill>
                  <a:srgbClr val="B4BAAE"/>
                </a:solidFill>
                <a:latin typeface="Aptos"/>
              </a:defRPr>
            </a:pPr>
            <a:r>
              <a:t>Agentic Control Panel at `/agentic_control_panel/` for visual workflow design.</a:t>
            </a:r>
          </a:p>
          <a:p>
            <a:pPr>
              <a:spcAft>
                <a:spcPts val="400"/>
              </a:spcAft>
              <a:defRPr sz="1600">
                <a:solidFill>
                  <a:srgbClr val="B4BAAE"/>
                </a:solidFill>
                <a:latin typeface="Aptos"/>
              </a:defRPr>
            </a:pPr>
            <a:r>
              <a:t>Django admin and config dialogs for MCPs, tools, agents, users, and persistent settings.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PLAIN-PYTHON AGENTS ARE USER-JURISDICTION CODE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 Directory Disclaimer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User jurisdiction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Every agent in `Tlamatini/agent/agents/` is intentionally plain Python so the user can read, audit, edit, restrict, or disable its operating code. This transparency is a user-control mechanism, not a warranty that an agent is secure or suitable for a particular environment.</a:t>
            </a:r>
          </a:p>
          <a:p>
            <a:pPr>
              <a:spcAft>
                <a:spcPts val="400"/>
              </a:spcAft>
              <a:defRPr sz="1200">
                <a:solidFill>
                  <a:srgbClr val="B4BAAE"/>
                </a:solidFill>
                <a:latin typeface="Aptos"/>
              </a:defRPr>
            </a:pPr>
            <a:r>
              <a:t>Agents have no independent authority or jurisdiction. The user alone decides whether, where, how, and with which permissions an agent runs; enabling, configuring, modifying, chaining, or executing it places that execution under the user's control and jurisdiction.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Responsibility boundary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user is responsible for code/config review, least-privilege secrets and credentials, authorized files and targets, browsers, shells, APIs, external MCPs, machines, hardware, downstream systems, supervision, and compliance with applicable law, policy, license, contract, and authorization.</a:t>
            </a:r>
          </a:p>
          <a:p>
            <a:pPr>
              <a:spcAft>
                <a:spcPts val="400"/>
              </a:spcAft>
              <a:defRPr sz="1200">
                <a:solidFill>
                  <a:srgbClr val="B4BAAE"/>
                </a:solidFill>
                <a:latin typeface="Aptos"/>
              </a:defRPr>
            </a:pPr>
            <a:r>
              <a:t>By running an agent, the user accepts responsibility for its actions and consequences. To the fullest extent permitted by applicable law, security breaches, data exposure or loss, unauthorized actions, credential leaks, unsafe automation, violations, compromise, device damage, financial loss, or other harm arising from use are the responsibility of the user who runs it.</a:t>
            </a:r>
          </a:p>
          <a:p>
            <a:pPr>
              <a:spcAft>
                <a:spcPts val="400"/>
              </a:spcAft>
              <a:defRPr sz="1200">
                <a:solidFill>
                  <a:srgbClr val="B4BAAE"/>
                </a:solidFill>
                <a:latin typeface="Aptos"/>
              </a:defRPr>
            </a:pPr>
            <a:r>
              <a:t>Tlamatini's orchestration, documentation, examples, and guardrails do not authorize third-party access and cannot replace the user's security review, permission controls, monitoring, or legal compliance.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(1/8)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Answers codebase questions with loaded file or directory context.</a:t>
            </a:r>
          </a:p>
          <a:p>
            <a:pPr>
              <a:spcAft>
                <a:spcPts val="400"/>
              </a:spcAft>
              <a:defRPr sz="1400">
                <a:solidFill>
                  <a:srgbClr val="B4BAAE"/>
                </a:solidFill>
                <a:latin typeface="Aptos"/>
              </a:defRPr>
            </a:pPr>
            <a:r>
              <a:t>Uses hybrid retrieval to extract metadata, split content, rank source chunks, and respect context budgets.</a:t>
            </a:r>
          </a:p>
          <a:p>
            <a:pPr>
              <a:spcAft>
                <a:spcPts val="400"/>
              </a:spcAft>
              <a:defRPr sz="1400">
                <a:solidFill>
                  <a:srgbClr val="B4BAAE"/>
                </a:solidFill>
                <a:latin typeface="Aptos"/>
              </a:defRPr>
            </a:pPr>
            <a:r>
              <a:t>Can discover files by glob pattern, search their contents by regex, and make surgical in-place replacements through the Globber, Grepper, and Editor agent/tool trio.</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Can drive Blender through the Blenderer agent, using the official Blender MCP add-on socket to inspect scenes, mutate objects and materials, run raw code, and automate renders from chat or the workflow canvas.</a:t>
            </a:r>
          </a:p>
          <a:p>
            <a:pPr>
              <a:spcAft>
                <a:spcPts val="400"/>
              </a:spcAft>
              <a:defRPr sz="1100">
                <a:solidFill>
                  <a:srgbClr val="B4BAAE"/>
                </a:solidFill>
                <a:latin typeface="Aptos"/>
              </a:defRPr>
            </a:pPr>
            <a:r>
              <a:t>Can pause before every state-changing Multi-Turn execution and ask the operator to approve or deny that exact step through the Ask Execs checkbox.</a:t>
            </a:r>
          </a:p>
          <a:p>
            <a:pPr>
              <a:spcAft>
                <a:spcPts val="400"/>
              </a:spcAft>
              <a:defRPr sz="1100">
                <a:solidFill>
                  <a:srgbClr val="B4BAAE"/>
                </a:solidFill>
                <a:latin typeface="Aptos"/>
              </a:defRPr>
            </a:pPr>
            <a:r>
              <a:t>Can raise a Windows attention signal when the browser needs the operator: Ask Execs prompts and Notifier events can flash Tlamatini’s own taskbar presence and leave an uppercase banner in `tlamatini.log`.</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Warns GPU-host operators before a directory-context load is likely to saturate VRAM and degrade embedding throughput.</a:t>
            </a:r>
          </a:p>
          <a:p>
            <a:pPr>
              <a:spcAft>
                <a:spcPts val="400"/>
              </a:spcAft>
              <a:defRPr sz="1300">
                <a:solidFill>
                  <a:srgbClr val="B4BAAE"/>
                </a:solidFill>
                <a:latin typeface="Aptos"/>
              </a:defRPr>
            </a:pPr>
            <a:r>
              <a:t>Exposes a coherent versioning surface across builds, runtime UI, logs, and an open health-check endpoint.</a:t>
            </a:r>
          </a:p>
          <a:p>
            <a:pPr>
              <a:spcAft>
                <a:spcPts val="400"/>
              </a:spcAft>
              <a:defRPr sz="1300">
                <a:solidFill>
                  <a:srgbClr val="B4BAAE"/>
                </a:solidFill>
                <a:latin typeface="Aptos"/>
              </a:defRPr>
            </a:pPr>
            <a:r>
              <a:t>Carries a first-person self-knowledge map so she can answer more accurately about her own architecture, ports, runtime modes, pages, and capabilities.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(2/8)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Can connect to external MCP servers declared in `external_mcps.json`, expose their remote tools to Multi-Turn under the `ext__&lt;server&gt;__&lt;tool&gt;` naming convention, and supervise those connections through status / reconnect / doctor / import / list / call helpers.</a:t>
            </a:r>
          </a:p>
          <a:p>
            <a:pPr>
              <a:spcAft>
                <a:spcPts val="400"/>
              </a:spcAft>
              <a:defRPr sz="1200">
                <a:solidFill>
                  <a:srgbClr val="B4BAAE"/>
                </a:solidFill>
                <a:latin typeface="Aptos"/>
              </a:defRPr>
            </a:pPr>
            <a:r>
              <a:t>Gives operators GUI-first database maintenance through the new DB dropdown for backup and staged database replacement.</a:t>
            </a:r>
          </a:p>
          <a:p>
            <a:pPr>
              <a:spcAft>
                <a:spcPts val="400"/>
              </a:spcAft>
              <a:defRPr sz="1200">
                <a:solidFill>
                  <a:srgbClr val="B4BAAE"/>
                </a:solidFill>
                <a:latin typeface="Aptos"/>
              </a:defRPr>
            </a:pPr>
            <a:r>
              <a:t>Lets operators manage provider secrets from the browser through the Config -&gt; Access Keys Wizard instead of hand-editing `config.json`.</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Registers packaged installs in Windows `Installed apps` / `Programs and Features` with a real uninstall entry, so the release behaves like a normal installed application instead of only a shortcut bundle.</a:t>
            </a:r>
          </a:p>
          <a:p>
            <a:pPr>
              <a:spcAft>
                <a:spcPts val="400"/>
              </a:spcAft>
              <a:defRPr sz="1100">
                <a:solidFill>
                  <a:srgbClr val="B4BAAE"/>
                </a:solidFill>
                <a:latin typeface="Aptos"/>
              </a:defRPr>
            </a:pPr>
            <a:r>
              <a:t>Can update packaged installs in place through About -&gt; Check for updates: she checks the latest GitHub release, stages the download, swaps locked files externally, and preserves operator state such as `config.json`, the database, and content.</a:t>
            </a:r>
          </a:p>
          <a:p>
            <a:pPr>
              <a:spcAft>
                <a:spcPts val="400"/>
              </a:spcAft>
              <a:defRPr sz="1100">
                <a:solidFill>
                  <a:srgbClr val="B4BAAE"/>
                </a:solidFill>
                <a:latin typeface="Aptos"/>
              </a:defRPr>
            </a:pPr>
            <a:r>
              <a:t>Hardens generated files: File-Creator’s bulk-write path now preserves long content byte-complete even when it contains heavy quoting or semicolon-rich source text.</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Can command Kali Linux offensive-security tooling through MCP-Kali-Server for authorized recon, enumeration, web scanning, and assessment workflows.</a:t>
            </a:r>
          </a:p>
          <a:p>
            <a:pPr>
              <a:spcAft>
                <a:spcPts val="400"/>
              </a:spcAft>
              <a:defRPr sz="1000">
                <a:solidFill>
                  <a:srgbClr val="B4BAAE"/>
                </a:solidFill>
                <a:latin typeface="Aptos"/>
              </a:defRPr>
            </a:pPr>
            <a:r>
              <a:t>Can run local authorized nmap reconnaissance through Nmapper, a use-only bridge that resolves a user-installed nmap, defaults to unprivileged TCP connect scanning, refuses unsafe/missing prerequisites gracefully, and never bundles or redistributes nmap.</a:t>
            </a:r>
          </a:p>
          <a:p>
            <a:pPr>
              <a:spcAft>
                <a:spcPts val="400"/>
              </a:spcAft>
              <a:defRPr sz="1000">
                <a:solidFill>
                  <a:srgbClr val="B4BAAE"/>
                </a:solidFill>
                <a:latin typeface="Aptos"/>
              </a:defRPr>
            </a:pPr>
            <a:r>
              <a:t>Can diagnose an external MCP before the first live connection through the MCP Doctor agent and wrapped `chat_agent_mcp_doctor` tool, checking transport, runtime requirements, PATH availability, placeholder secrets, and the next operator step.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(3/8)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Can scaffold, author, build, flash, reset, and observe STM32 firmware through STM32er: the template-MCP path remains for STM32F407, while released `v1.42.0` adds a PlatformIO path for supported boards from Blue Pill/F1 through mainstream F/G/L/H7/U5/WB families, with fail-safe preflight before hardware mutation.</a:t>
            </a:r>
          </a:p>
          <a:p>
            <a:pPr>
              <a:spcAft>
                <a:spcPts val="400"/>
              </a:spcAft>
              <a:defRPr sz="1000">
                <a:solidFill>
                  <a:srgbClr val="B4BAAE"/>
                </a:solidFill>
                <a:latin typeface="Aptos"/>
              </a:defRPr>
            </a:pPr>
            <a:r>
              <a:t>Can scaffold, author, build, upload, and monitor ESP32-class firmware through ESP32er and PlatformIO Core, with zero-config bootstrap and a serial-aware preflight before hardware mutation.</a:t>
            </a:r>
          </a:p>
          <a:p>
            <a:pPr>
              <a:spcAft>
                <a:spcPts val="400"/>
              </a:spcAft>
              <a:defRPr sz="1000">
                <a:solidFill>
                  <a:srgbClr val="B4BAAE"/>
                </a:solidFill>
                <a:latin typeface="Aptos"/>
              </a:defRPr>
            </a:pPr>
            <a:r>
              <a:t>Can author YAML-based smart-home firmware through ESPHomer and ESPHome, including zero-config bootstrap, device-config generation, validation, compile, USB/OTA upload, and bounded log observation for ESP32 / ESP8266 / RP2040 / BK72xx devices.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(4/8)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play media on the operator's machine: an audio file to the speakers through AudioPlayer (soundfile + sounddevice — volume in percent and a time-played budget that truncates a longer file or loops a shorter one), or a video file with audio on a chosen display through VideoPlayer (ffpyplayer, whose wheel bundles ffmpeg + SDL, plus an OpenCV window — display, volume, the same truncate/loop time budget, window size, and fullscreen); both are observational/output and ship on the canvas and as wrapped chat tools.</a:t>
            </a:r>
          </a:p>
          <a:p>
            <a:pPr>
              <a:spcAft>
                <a:spcPts val="400"/>
              </a:spcAft>
              <a:defRPr sz="900">
                <a:solidFill>
                  <a:srgbClr val="B4BAAE"/>
                </a:solidFill>
                <a:latin typeface="Aptos"/>
              </a:defRPr>
            </a:pPr>
            <a:r>
              <a:t>Can SPEAK and LISTEN: Talker (text-to-speech) renders input_text to a 24 kHz WAV through an Ollama neural TTS model (default Orpheus-3b-FT) and is female-voice-only by design, while Whisperer (speech-to-text) records the microphone itself or transcribes a file via faster-whisper locally (NVIDIA-GPU auto-detect with an always-present CPU fallback) or a cloud Whisper API; both light a zero-latency console REC indicator driven by the live audio stream and are observational/output, on the canvas and as wrapped chat tools.</a:t>
            </a:r>
          </a:p>
          <a:p>
            <a:pPr>
              <a:spcAft>
                <a:spcPts val="400"/>
              </a:spcAft>
              <a:defRPr sz="900">
                <a:solidFill>
                  <a:srgbClr val="B4BAAE"/>
                </a:solidFill>
                <a:latin typeface="Aptos"/>
              </a:defRPr>
            </a:pPr>
            <a:r>
              <a:t>Can manage real desktop windows by title: focus them, tile them, resize them, list them, and close them deterministically through Win32 calls.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(5/8)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Can drive a real Playwright browser through scripted interactive steps for logins, forms, assertions, downloads, extraction, and end-to-end UI checks.</a:t>
            </a:r>
          </a:p>
          <a:p>
            <a:pPr>
              <a:spcAft>
                <a:spcPts val="400"/>
              </a:spcAft>
              <a:defRPr sz="1300">
                <a:solidFill>
                  <a:srgbClr val="B4BAAE"/>
                </a:solidFill>
                <a:latin typeface="Aptos"/>
              </a:defRPr>
            </a:pPr>
            <a:r>
              <a:t>Can drive a live Unreal Engine 5 editor through the Unreal MCP plugin, from either Multi-Turn chat or the visual workflow canvas.</a:t>
            </a:r>
          </a:p>
          <a:p>
            <a:pPr>
              <a:spcAft>
                <a:spcPts val="400"/>
              </a:spcAft>
              <a:defRPr sz="1300">
                <a:solidFill>
                  <a:srgbClr val="B4BAAE"/>
                </a:solidFill>
                <a:latin typeface="Aptos"/>
              </a:defRPr>
            </a:pPr>
            <a:r>
              <a:t>Actively reaps orphaned Windows console-host and pool-child processes so long Multi-Turn or ACPX sessions do not leave misleading Tlamatini-icon ghosts in Task Manager.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(6/8)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Can autonomously kill only genuinely hung shell-wrapper subtrees through a boot-time command watchdog that measures CPU and I/O progress instead of guessing from elapsed time.</a:t>
            </a:r>
          </a:p>
          <a:p>
            <a:pPr>
              <a:spcAft>
                <a:spcPts val="400"/>
              </a:spcAft>
              <a:defRPr sz="1300">
                <a:solidFill>
                  <a:srgbClr val="B4BAAE"/>
                </a:solidFill>
                <a:latin typeface="Aptos"/>
              </a:defRPr>
            </a:pPr>
            <a:r>
              <a:t>Runs checked Multi-Turn requests through request-scoped planning, capability selection, tool calls, observations, monitoring, and final synthesis.</a:t>
            </a:r>
          </a:p>
          <a:p>
            <a:pPr>
              <a:spcAft>
                <a:spcPts val="400"/>
              </a:spcAft>
              <a:defRPr sz="1300">
                <a:solidFill>
                  <a:srgbClr val="B4BAAE"/>
                </a:solidFill>
                <a:latin typeface="Aptos"/>
              </a:defRPr>
            </a:pPr>
            <a:r>
              <a:t>Can optionally inspect and modify her own bundled source tree in self-modify builds after verifying that `TlamatiniSourceCode/` is actually present.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(7/8)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Launches wrapped copies of selected workflow agents in isolated runtime folders without mutating templates.</a:t>
            </a:r>
          </a:p>
          <a:p>
            <a:pPr>
              <a:spcAft>
                <a:spcPts val="400"/>
              </a:spcAft>
              <a:defRPr sz="1400">
                <a:solidFill>
                  <a:srgbClr val="B4BAAE"/>
                </a:solidFill>
                <a:latin typeface="Aptos"/>
              </a:defRPr>
            </a:pPr>
            <a:r>
              <a:t>Lets users design, validate, save, pause, resume, and stop visual workflows through the Agentic Control Panel.</a:t>
            </a:r>
          </a:p>
          <a:p>
            <a:pPr>
              <a:spcAft>
                <a:spcPts val="400"/>
              </a:spcAft>
              <a:defRPr sz="1400">
                <a:solidFill>
                  <a:srgbClr val="B4BAAE"/>
                </a:solidFill>
                <a:latin typeface="Aptos"/>
              </a:defRPr>
            </a:pPr>
            <a:r>
              <a:t>Turns successful Multi-Turn tool executions into starter `.flw` workflows that can be inspected and validated in ACP.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(8/8)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Packages the project into a distributable Windows release with installer and uninstaller tooling.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a:t>
            </a:r>
          </a:p>
        </p:txBody>
      </p:sp>
      <p:sp>
        <p:nvSpPr>
          <p:cNvPr id="9" name="Rounded Rectangle 8"/>
          <p:cNvSpPr/>
          <p:nvPr/>
        </p:nvSpPr>
        <p:spPr>
          <a:xfrm>
            <a:off x="868680"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542032"/>
            <a:ext cx="1444752" cy="256032"/>
          </a:xfrm>
          <a:prstGeom prst="rect">
            <a:avLst/>
          </a:prstGeom>
          <a:noFill/>
        </p:spPr>
        <p:txBody>
          <a:bodyPr wrap="square" anchor="t">
            <a:spAutoFit/>
          </a:bodyPr>
          <a:lstStyle/>
          <a:p>
            <a:pPr algn="ctr"/>
            <a:r>
              <a:rPr sz="1000" b="1">
                <a:solidFill>
                  <a:srgbClr val="E8E8DE"/>
                </a:solidFill>
                <a:latin typeface="Aptos"/>
              </a:rPr>
              <a:t>Browser</a:t>
            </a:r>
          </a:p>
        </p:txBody>
      </p:sp>
      <p:sp>
        <p:nvSpPr>
          <p:cNvPr id="11" name="TextBox 10"/>
          <p:cNvSpPr txBox="1"/>
          <p:nvPr/>
        </p:nvSpPr>
        <p:spPr>
          <a:xfrm>
            <a:off x="2459736"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2" name="Rounded Rectangle 11"/>
          <p:cNvSpPr/>
          <p:nvPr/>
        </p:nvSpPr>
        <p:spPr>
          <a:xfrm>
            <a:off x="2706624"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9776" y="2542032"/>
            <a:ext cx="1444752" cy="256032"/>
          </a:xfrm>
          <a:prstGeom prst="rect">
            <a:avLst/>
          </a:prstGeom>
          <a:noFill/>
        </p:spPr>
        <p:txBody>
          <a:bodyPr wrap="square" anchor="t">
            <a:spAutoFit/>
          </a:bodyPr>
          <a:lstStyle/>
          <a:p>
            <a:pPr algn="ctr"/>
            <a:r>
              <a:rPr sz="1000" b="1">
                <a:solidFill>
                  <a:srgbClr val="E8E8DE"/>
                </a:solidFill>
                <a:latin typeface="Aptos"/>
              </a:rPr>
              <a:t>Channels</a:t>
            </a:r>
          </a:p>
        </p:txBody>
      </p:sp>
      <p:sp>
        <p:nvSpPr>
          <p:cNvPr id="14" name="TextBox 13"/>
          <p:cNvSpPr txBox="1"/>
          <p:nvPr/>
        </p:nvSpPr>
        <p:spPr>
          <a:xfrm>
            <a:off x="4297680"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5" name="Rounded Rectangle 14"/>
          <p:cNvSpPr/>
          <p:nvPr/>
        </p:nvSpPr>
        <p:spPr>
          <a:xfrm>
            <a:off x="4544568"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542032"/>
            <a:ext cx="1444752" cy="256032"/>
          </a:xfrm>
          <a:prstGeom prst="rect">
            <a:avLst/>
          </a:prstGeom>
          <a:noFill/>
        </p:spPr>
        <p:txBody>
          <a:bodyPr wrap="square" anchor="t">
            <a:spAutoFit/>
          </a:bodyPr>
          <a:lstStyle/>
          <a:p>
            <a:pPr algn="ctr"/>
            <a:r>
              <a:rPr sz="1000" b="1">
                <a:solidFill>
                  <a:srgbClr val="E8E8DE"/>
                </a:solidFill>
                <a:latin typeface="Aptos"/>
              </a:rPr>
              <a:t>RAG</a:t>
            </a:r>
          </a:p>
        </p:txBody>
      </p:sp>
      <p:sp>
        <p:nvSpPr>
          <p:cNvPr id="17" name="TextBox 16"/>
          <p:cNvSpPr txBox="1"/>
          <p:nvPr/>
        </p:nvSpPr>
        <p:spPr>
          <a:xfrm>
            <a:off x="6135624"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8" name="Rounded Rectangle 17"/>
          <p:cNvSpPr/>
          <p:nvPr/>
        </p:nvSpPr>
        <p:spPr>
          <a:xfrm>
            <a:off x="6382512"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2542032"/>
            <a:ext cx="1444752" cy="256032"/>
          </a:xfrm>
          <a:prstGeom prst="rect">
            <a:avLst/>
          </a:prstGeom>
          <a:noFill/>
        </p:spPr>
        <p:txBody>
          <a:bodyPr wrap="square" anchor="t">
            <a:spAutoFit/>
          </a:bodyPr>
          <a:lstStyle/>
          <a:p>
            <a:pPr algn="ctr"/>
            <a:r>
              <a:rPr sz="1000" b="1">
                <a:solidFill>
                  <a:srgbClr val="E8E8DE"/>
                </a:solidFill>
                <a:latin typeface="Aptos"/>
              </a:rPr>
              <a:t>Planner</a:t>
            </a:r>
          </a:p>
        </p:txBody>
      </p:sp>
      <p:sp>
        <p:nvSpPr>
          <p:cNvPr id="20" name="TextBox 19"/>
          <p:cNvSpPr txBox="1"/>
          <p:nvPr/>
        </p:nvSpPr>
        <p:spPr>
          <a:xfrm>
            <a:off x="7973567"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21" name="Rounded Rectangle 20"/>
          <p:cNvSpPr/>
          <p:nvPr/>
        </p:nvSpPr>
        <p:spPr>
          <a:xfrm>
            <a:off x="8220455"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7" y="2542032"/>
            <a:ext cx="1444752" cy="256032"/>
          </a:xfrm>
          <a:prstGeom prst="rect">
            <a:avLst/>
          </a:prstGeom>
          <a:noFill/>
        </p:spPr>
        <p:txBody>
          <a:bodyPr wrap="square" anchor="t">
            <a:spAutoFit/>
          </a:bodyPr>
          <a:lstStyle/>
          <a:p>
            <a:pPr algn="ctr"/>
            <a:r>
              <a:rPr sz="1000" b="1">
                <a:solidFill>
                  <a:srgbClr val="E8E8DE"/>
                </a:solidFill>
                <a:latin typeface="Aptos"/>
              </a:rPr>
              <a:t>Tools</a:t>
            </a:r>
          </a:p>
        </p:txBody>
      </p:sp>
      <p:sp>
        <p:nvSpPr>
          <p:cNvPr id="23" name="TextBox 22"/>
          <p:cNvSpPr txBox="1"/>
          <p:nvPr/>
        </p:nvSpPr>
        <p:spPr>
          <a:xfrm>
            <a:off x="9811511"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24" name="Rounded Rectangle 23"/>
          <p:cNvSpPr/>
          <p:nvPr/>
        </p:nvSpPr>
        <p:spPr>
          <a:xfrm>
            <a:off x="10058399"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31551" y="2542032"/>
            <a:ext cx="1444752" cy="256032"/>
          </a:xfrm>
          <a:prstGeom prst="rect">
            <a:avLst/>
          </a:prstGeom>
          <a:noFill/>
        </p:spPr>
        <p:txBody>
          <a:bodyPr wrap="square" anchor="t">
            <a:spAutoFit/>
          </a:bodyPr>
          <a:lstStyle/>
          <a:p>
            <a:pPr algn="ctr"/>
            <a:r>
              <a:rPr sz="1000" b="1">
                <a:solidFill>
                  <a:srgbClr val="E8E8DE"/>
                </a:solidFill>
                <a:latin typeface="Aptos"/>
              </a:rPr>
              <a:t>Answer</a:t>
            </a:r>
          </a:p>
        </p:txBody>
      </p:sp>
      <p:sp>
        <p:nvSpPr>
          <p:cNvPr id="26" name="Rounded Rectangle 25"/>
          <p:cNvSpPr/>
          <p:nvPr/>
        </p:nvSpPr>
        <p:spPr>
          <a:xfrm>
            <a:off x="749808" y="3657600"/>
            <a:ext cx="10561320" cy="2240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8" y="3657600"/>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 y="3858768"/>
            <a:ext cx="10158984" cy="310896"/>
          </a:xfrm>
          <a:prstGeom prst="rect">
            <a:avLst/>
          </a:prstGeom>
          <a:noFill/>
        </p:spPr>
        <p:txBody>
          <a:bodyPr wrap="square" anchor="t">
            <a:spAutoFit/>
          </a:bodyPr>
          <a:lstStyle/>
          <a:p>
            <a:pPr algn="l"/>
            <a:r>
              <a:rPr sz="1400" b="1">
                <a:solidFill>
                  <a:srgbClr val="48BF8F"/>
                </a:solidFill>
                <a:latin typeface="Aptos"/>
              </a:rPr>
              <a:t>Request-to-answer flow</a:t>
            </a:r>
          </a:p>
        </p:txBody>
      </p:sp>
      <p:sp>
        <p:nvSpPr>
          <p:cNvPr id="29" name="TextBox 28"/>
          <p:cNvSpPr txBox="1"/>
          <p:nvPr/>
        </p:nvSpPr>
        <p:spPr>
          <a:xfrm>
            <a:off x="950976" y="4315968"/>
            <a:ext cx="10158984" cy="1435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 browser request flows through Django Channels into the RAG/context layer, the Multi-Turn planner, the tool executor, and back as a synthesized answer.</a:t>
            </a:r>
          </a:p>
          <a:p>
            <a:pPr>
              <a:spcAft>
                <a:spcPts val="400"/>
              </a:spcAft>
              <a:defRPr sz="1500">
                <a:solidFill>
                  <a:srgbClr val="B4BAAE"/>
                </a:solidFill>
                <a:latin typeface="Aptos"/>
              </a:defRPr>
            </a:pPr>
            <a:r>
              <a:t>The next two pages detail the request path (intake, retrieval, permission gating) and the runtime path (planning, tool execution, agent bridges, packaging).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Browser UI sends chat and workflow requests through Django views and Channels WebSockets.</a:t>
            </a:r>
          </a:p>
          <a:p>
            <a:pPr>
              <a:spcAft>
                <a:spcPts val="400"/>
              </a:spcAft>
              <a:defRPr sz="1000">
                <a:solidFill>
                  <a:srgbClr val="B4BAAE"/>
                </a:solidFill>
                <a:latin typeface="Aptos"/>
              </a:defRPr>
            </a:pPr>
            <a:r>
              <a:t>RAG chains load selected file/directory context, retrieve relevant chunks, and build answer prompts.</a:t>
            </a:r>
          </a:p>
          <a:p>
            <a:pPr>
              <a:spcAft>
                <a:spcPts val="400"/>
              </a:spcAft>
              <a:defRPr sz="1000">
                <a:solidFill>
                  <a:srgbClr val="B4BAAE"/>
                </a:solidFill>
                <a:latin typeface="Aptos"/>
              </a:defRPr>
            </a:pPr>
            <a:r>
              <a:t>DB-menu actions validate directories or SQLite files in the browser, then call Django views that either copy the live database out or stage a replacement into `DB/ToLoad/db.sqlite3`.</a:t>
            </a:r>
          </a:p>
          <a:p>
            <a:pPr>
              <a:spcAft>
                <a:spcPts val="400"/>
              </a:spcAft>
              <a:defRPr sz="1000">
                <a:solidFill>
                  <a:srgbClr val="B4BAAE"/>
                </a:solidFill>
                <a:latin typeface="Aptos"/>
              </a:defRPr>
            </a:pPr>
            <a:r>
              <a:t>Config -&gt; Access Keys Wizard reads masked provider-key status from the backend and persists only the edited secrets, keeping the browser flow honest without dumping live values back to the page.</a:t>
            </a:r>
          </a:p>
          <a:p>
            <a:pPr>
              <a:spcAft>
                <a:spcPts val="400"/>
              </a:spcAft>
              <a:defRPr sz="1000">
                <a:solidFill>
                  <a:srgbClr val="B4BAAE"/>
                </a:solidFill>
                <a:latin typeface="Aptos"/>
              </a:defRPr>
            </a:pPr>
            <a:r>
              <a:t>The file-navigation and file-edit trio sits above raw shell execution: Globber enumerates matching files, Grepper scans content with regex while pruning noisy/binary trees, and Editor performs byte-exact in-place replacements without rewriting an entire file.</a:t>
            </a:r>
          </a:p>
          <a:p>
            <a:pPr>
              <a:spcAft>
                <a:spcPts val="400"/>
              </a:spcAft>
              <a:defRPr sz="1000">
                <a:solidFill>
                  <a:srgbClr val="B4BAAE"/>
                </a:solidFill>
                <a:latin typeface="Aptos"/>
              </a:defRPr>
            </a:pPr>
            <a:r>
              <a:t>External MCP connectivity is catalog-driven: `external_mcps.json` stores Claude-style `mcpServers` entries, `external_mcp_manager.py` negotiates stdio / streamable-HTTP / SSE / WebSocket transports, and wrapped remote tools are surfaced into the planner as `ext__&lt;server&gt;__&lt;tool&gt;` only after the connection is healthy.</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In-app self-update uses Django views plus `self_update.py` to check GitHub releases, download and stage the selected package, then hand off the locked-file swap to the external `apply_update.ps1` helper before relaunch.</a:t>
            </a:r>
          </a:p>
          <a:p>
            <a:pPr>
              <a:spcAft>
                <a:spcPts val="400"/>
              </a:spcAft>
              <a:defRPr sz="900">
                <a:solidFill>
                  <a:srgbClr val="B4BAAE"/>
                </a:solidFill>
                <a:latin typeface="Aptos"/>
              </a:defRPr>
            </a:pPr>
            <a:r>
              <a:t>Frozen-build hardening now verifies media dependencies during packaging too: `build.py` embeds numpy and OpenCV in both shipped Python runtimes and refuses to produce a release if those imports are missing.</a:t>
            </a:r>
          </a:p>
          <a:p>
            <a:pPr>
              <a:spcAft>
                <a:spcPts val="400"/>
              </a:spcAft>
              <a:defRPr sz="900">
                <a:solidFill>
                  <a:srgbClr val="B4BAAE"/>
                </a:solidFill>
                <a:latin typeface="Aptos"/>
              </a:defRPr>
            </a:pPr>
            <a:r>
              <a:t>Before a heavy directory embedding run on supported NVIDIA hosts, a fail-open pre-flight guard can estimate VRAM pressure and surface a non-blocking warning in chat.</a:t>
            </a:r>
          </a:p>
          <a:p>
            <a:pPr>
              <a:spcAft>
                <a:spcPts val="400"/>
              </a:spcAft>
              <a:defRPr sz="900">
                <a:solidFill>
                  <a:srgbClr val="B4BAAE"/>
                </a:solidFill>
                <a:latin typeface="Aptos"/>
              </a:defRPr>
            </a:pPr>
            <a:r>
              <a:t>Version resolution now flows through git tags, a runtime resolver module, generated build artefacts, and an open `/agent/version/` endpoint.</a:t>
            </a:r>
          </a:p>
          <a:p>
            <a:pPr>
              <a:spcAft>
                <a:spcPts val="400"/>
              </a:spcAft>
              <a:defRPr sz="900">
                <a:solidFill>
                  <a:srgbClr val="B4BAAE"/>
                </a:solidFill>
                <a:latin typeface="Aptos"/>
              </a:defRPr>
            </a:pPr>
            <a:r>
              <a:t>A first-person self-knowledge file (`Tlamatini.md`) is injected into prompt construction for all chains, but loaded user context still outranks that self-reference when the request is a generic summary of the provided project.</a:t>
            </a:r>
          </a:p>
          <a:p>
            <a:pPr>
              <a:spcAft>
                <a:spcPts val="400"/>
              </a:spcAft>
              <a:defRPr sz="900">
                <a:solidFill>
                  <a:srgbClr val="B4BAAE"/>
                </a:solidFill>
                <a:latin typeface="Aptos"/>
              </a:defRPr>
            </a:pPr>
            <a:r>
              <a:t>When Multi-Turn is enabled, the global planner selects context and tool stages before the executor binds only the relevant tools, including wrapped deterministic agents such as De-Compresser.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MCP Doctor path is intentionally safer than a live connect: it reads the configured server entry, validates transport shape, runtime commands, PATH/toolchain presence, placeholder secrets, and docs/source URLs, then returns an onboarding diagnosis without consuming the server's real tool surface.</a:t>
            </a:r>
          </a:p>
          <a:p>
            <a:pPr>
              <a:spcAft>
                <a:spcPts val="400"/>
              </a:spcAft>
              <a:defRPr sz="900">
                <a:solidFill>
                  <a:srgbClr val="B4BAAE"/>
                </a:solidFill>
                <a:latin typeface="Aptos"/>
              </a:defRPr>
            </a:pPr>
            <a:r>
              <a:t>Blenderer opens the official Blender MCP add-on TCP socket (default `localhost:9876`), sends one action payload or raw code-execution request, and returns the structured result through the same wrapped-tool / canvas contract used by the rest of the agent catalog.</a:t>
            </a:r>
          </a:p>
          <a:p>
            <a:pPr>
              <a:spcAft>
                <a:spcPts val="400"/>
              </a:spcAft>
              <a:defRPr sz="900">
                <a:solidFill>
                  <a:srgbClr val="B4BAAE"/>
                </a:solidFill>
                <a:latin typeface="Aptos"/>
              </a:defRPr>
            </a:pPr>
            <a:r>
              <a:t>When Ask Execs is enabled, the synchronous Multi-Turn executor stops before each state-changing tool call, emits an `exec_permission_request`, and waits on `ExecPermissionBroker` until the browser sends Proceed or Deny.</a:t>
            </a:r>
          </a:p>
          <a:p>
            <a:pPr>
              <a:spcAft>
                <a:spcPts val="400"/>
              </a:spcAft>
              <a:defRPr sz="900">
                <a:solidFill>
                  <a:srgbClr val="B4BAAE"/>
                </a:solidFill>
                <a:latin typeface="Aptos"/>
              </a:defRPr>
            </a:pPr>
            <a:r>
              <a:t>When the browser surfaces an Ask Execs prompt or a Notifier event, JavaScript can POST to `/agent/flash_window/`; the backend then best-effort flashes the `Tlamatini.exe` console/taskbar window through `window_flash.py` and prints an uppercase attention banner for the log.</a:t>
            </a:r>
          </a:p>
          <a:p>
            <a:pPr>
              <a:spcAft>
                <a:spcPts val="400"/>
              </a:spcAft>
              <a:defRPr sz="900">
                <a:solidFill>
                  <a:srgbClr val="B4BAAE"/>
                </a:solidFill>
                <a:latin typeface="Aptos"/>
              </a:defRPr>
            </a:pPr>
            <a:r>
              <a:t>Installer-time registration writes a per-user HKCU Add/Remove Programs entry pointing at `Uninstaller.exe`, and frozen startup re-checks that entry through `windows_app_registration.self_heal_for_frozen()` so older installs retroactively appear in Windows' uninstall surfaces.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Optional self-modify builds bundle `TlamatiniSourceCode/`; `copy_source_assets.py` generates that snapshot with rebuild instructions and redacted secrets, and prompt rules require her to verify that directory exists before claiming she can inspect or change her own code.</a:t>
            </a:r>
          </a:p>
          <a:p>
            <a:pPr>
              <a:spcAft>
                <a:spcPts val="400"/>
              </a:spcAft>
              <a:defRPr sz="900">
                <a:solidFill>
                  <a:srgbClr val="B4BAAE"/>
                </a:solidFill>
                <a:latin typeface="Aptos"/>
              </a:defRPr>
            </a:pPr>
            <a:r>
              <a:t>The Kalier path talks directly to the MCP-Kali-Server Flask API over HTTP with Python-stdlib `urllib`, auto-seeding the default box from `kali_server_url` in Config -&gt; URLs before any one-off per-call override is applied, and captures one atomic `INI_SECTION_KALIER` block per run.</a:t>
            </a:r>
          </a:p>
          <a:p>
            <a:pPr>
              <a:spcAft>
                <a:spcPts val="400"/>
              </a:spcAft>
              <a:defRPr sz="900">
                <a:solidFill>
                  <a:srgbClr val="B4BAAE"/>
                </a:solidFill>
                <a:latin typeface="Aptos"/>
              </a:defRPr>
            </a:pPr>
            <a:r>
              <a:t>The Nmapper path resolves a user-installed `nmap` from explicit config, PATH, Program Files, or `%LOCALAPPDATA%`, constructs one safe scan action, captures XML plus normal output, parses hosts/open ports with the standard library, and emits one atomic `INI_SECTION_NMAPPER` block for Parametrizer/Forker routing.</a:t>
            </a:r>
          </a:p>
          <a:p>
            <a:pPr>
              <a:spcAft>
                <a:spcPts val="400"/>
              </a:spcAft>
              <a:defRPr sz="900">
                <a:solidFill>
                  <a:srgbClr val="B4BAAE"/>
                </a:solidFill>
                <a:latin typeface="Aptos"/>
              </a:defRPr>
            </a:pPr>
            <a:r>
              <a:t>The STM32er path spawns the STM32 Template Project MCP stdio server, performs the MCP initialize handshake, runs exactly one requested tool or composite action, and emits one atomic `INI_SECTION_STM32ER` block with the result, project directory, and stage metadata.</a:t>
            </a:r>
          </a:p>
          <a:p>
            <a:pPr>
              <a:spcAft>
                <a:spcPts val="400"/>
              </a:spcAft>
              <a:defRPr sz="900">
                <a:solidFill>
                  <a:srgbClr val="B4BAAE"/>
                </a:solidFill>
                <a:latin typeface="Aptos"/>
              </a:defRPr>
            </a:pPr>
            <a:r>
              <a:t>Before any flash-capable STM32er action, a critical-mission preflight validates the arm-none-eabi toolchain, STM32CubeIDE, programmer path, ST-LINK presence, and STM32F-family match; compile-only steps can run boardless, but unsafe hardware mutations are refused fail-safe.</a:t>
            </a:r>
          </a:p>
          <a:p>
            <a:pPr>
              <a:spcAft>
                <a:spcPts val="400"/>
              </a:spcAft>
              <a:defRPr sz="900">
                <a:solidFill>
                  <a:srgbClr val="B4BAAE"/>
                </a:solidFill>
                <a:latin typeface="Aptos"/>
              </a:defRPr>
            </a:pPr>
            <a:r>
              <a:t>The ESP32er path resolves or bootstraps PlatformIO Core, invokes `pio` subcommands directly with Python-stdlib process control, validates project and serial-port readiness, and emits one atomic `INI_SECTION_ESP32ER` block with stage, project, port, and stdout/stderr payloads.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ESPHomer path resolves or bootstraps the `esphome` CLI, can generate a minimal valid YAML device config headlessly, validates either a serial board or OTA host before upload/log actions, and emits one atomic `INI_SECTION_ESPHOMER` block with action, config path, stage, and captured CLI output.</a:t>
            </a:r>
          </a:p>
          <a:p>
            <a:pPr>
              <a:spcAft>
                <a:spcPts val="400"/>
              </a:spcAft>
              <a:defRPr sz="900">
                <a:solidFill>
                  <a:srgbClr val="B4BAAE"/>
                </a:solidFill>
                <a:latin typeface="Aptos"/>
              </a:defRPr>
            </a:pPr>
            <a:r>
              <a:t>The Windower path uses Win32 APIs plus the cross-process `AttachThreadInput` focus-transfer dance to locate windows by title and apply one lifecycle action while still returning structured geometry/state fields.</a:t>
            </a:r>
          </a:p>
          <a:p>
            <a:pPr>
              <a:spcAft>
                <a:spcPts val="400"/>
              </a:spcAft>
              <a:defRPr sz="900">
                <a:solidFill>
                  <a:srgbClr val="B4BAAE"/>
                </a:solidFill>
                <a:latin typeface="Aptos"/>
              </a:defRPr>
            </a:pPr>
            <a:r>
              <a:t>The Playwrighter path loads a declarative step list, drives Playwright against Chromium/Firefox/WebKit, and emits one atomic `INI_SECTION_PLAYWRIGHTER` block with status, assertions, extracted values, and the final URL.</a:t>
            </a:r>
          </a:p>
          <a:p>
            <a:pPr>
              <a:spcAft>
                <a:spcPts val="400"/>
              </a:spcAft>
              <a:defRPr sz="900">
                <a:solidFill>
                  <a:srgbClr val="B4BAAE"/>
                </a:solidFill>
                <a:latin typeface="Aptos"/>
              </a:defRPr>
            </a:pPr>
            <a:r>
              <a:t>The Unrealer path opens a TCP socket to the Unreal MCP plugin, sends one `{"type": command, "params": {...}}` payload, captures the JSON reply, and emits one `INI_SECTION_UNREALER` block for downstream logic.</a:t>
            </a:r>
          </a:p>
          <a:p>
            <a:pPr>
              <a:spcAft>
                <a:spcPts val="400"/>
              </a:spcAft>
              <a:defRPr sz="900">
                <a:solidFill>
                  <a:srgbClr val="B4BAAE"/>
                </a:solidFill>
                <a:latin typeface="Aptos"/>
              </a:defRPr>
            </a:pPr>
            <a:r>
              <a:t>A boot-time command watchdog samples CPU time and I/O bytes across shell-interpreter subtrees and reaps only the ones that stay idle past the grace-and-streak window, protecting healthy long-running commands while rescuing wedged prompt waits.</a:t>
            </a:r>
          </a:p>
          <a:p>
            <a:pPr>
              <a:spcAft>
                <a:spcPts val="400"/>
              </a:spcAft>
              <a:defRPr sz="900">
                <a:solidFill>
                  <a:srgbClr val="B4BAAE"/>
                </a:solidFill>
                <a:latin typeface="Aptos"/>
              </a:defRPr>
            </a:pPr>
            <a:r>
              <a:t>After spawn-capable tool calls and again after the final answer, the orphan reaper can sweep dead descendants, orphaned `conhost.exe` companions, and stale pool-linked processes without ever raising into the chat path.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Tool calls execute in the backend, append observations, and may create wrapped runtime copies under `agent/agents/pools/_chat_runs_/`.</a:t>
            </a:r>
          </a:p>
          <a:p>
            <a:pPr>
              <a:spcAft>
                <a:spcPts val="400"/>
              </a:spcAft>
              <a:defRPr sz="1200">
                <a:solidFill>
                  <a:srgbClr val="B4BAAE"/>
                </a:solidFill>
                <a:latin typeface="Aptos"/>
              </a:defRPr>
            </a:pPr>
            <a:r>
              <a:t>On the next full start-up, `manage.py` can swap a staged database into place before Django imports, while archiving the previous live database under `DB/Older/&lt;timestamp&gt;/`.</a:t>
            </a:r>
          </a:p>
          <a:p>
            <a:pPr>
              <a:spcAft>
                <a:spcPts val="400"/>
              </a:spcAft>
              <a:defRPr sz="1200">
                <a:solidFill>
                  <a:srgbClr val="B4BAAE"/>
                </a:solidFill>
                <a:latin typeface="Aptos"/>
              </a:defRPr>
            </a:pPr>
            <a:r>
              <a:t>ACP flows deploy session-scoped pool instances, wire config values, validate NxN graph rules, and execute through Starter-driven flow semantics.</a:t>
            </a:r>
          </a:p>
          <a:p>
            <a:pPr>
              <a:spcAft>
                <a:spcPts val="400"/>
              </a:spcAft>
              <a:defRPr sz="1200">
                <a:solidFill>
                  <a:srgbClr val="B4BAAE"/>
                </a:solidFill>
                <a:latin typeface="Aptos"/>
              </a:defRPr>
            </a:pPr>
            <a:r>
              <a:t>Build scripts collect static assets, bundle Django/Python resources, add agent templates, and assemble `pkg.zip`, `Uninstaller.exe`, and `dist/Tlamatini_Release/`; `build.py --self-modify` additionally injects the generated source snapshot for self-rebuildable releases.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HOW THE SOFTWARE IS SHAPED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Design Principles</a:t>
            </a:r>
          </a:p>
        </p:txBody>
      </p:sp>
      <p:sp>
        <p:nvSpPr>
          <p:cNvPr id="9" name="Rounded Rectangle 8"/>
          <p:cNvSpPr/>
          <p:nvPr/>
        </p:nvSpPr>
        <p:spPr>
          <a:xfrm>
            <a:off x="749808" y="1572768"/>
            <a:ext cx="10561320" cy="43434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7276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73936"/>
            <a:ext cx="10158984" cy="310896"/>
          </a:xfrm>
          <a:prstGeom prst="rect">
            <a:avLst/>
          </a:prstGeom>
          <a:noFill/>
        </p:spPr>
        <p:txBody>
          <a:bodyPr wrap="square" anchor="t">
            <a:spAutoFit/>
          </a:bodyPr>
          <a:lstStyle/>
          <a:p>
            <a:pPr algn="l"/>
            <a:r>
              <a:rPr sz="1400" b="1">
                <a:solidFill>
                  <a:srgbClr val="E0AB5D"/>
                </a:solidFill>
                <a:latin typeface="Aptos"/>
              </a:rPr>
              <a:t>Core design choices</a:t>
            </a:r>
          </a:p>
        </p:txBody>
      </p:sp>
      <p:sp>
        <p:nvSpPr>
          <p:cNvPr id="12" name="TextBox 11"/>
          <p:cNvSpPr txBox="1"/>
          <p:nvPr/>
        </p:nvSpPr>
        <p:spPr>
          <a:xfrm>
            <a:off x="950976" y="2231136"/>
            <a:ext cx="10158984" cy="353872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Evidence-first answers: Tlamatini grounds responses in selected project context and hybrid retrieval rather than freeform model memory.</a:t>
            </a:r>
          </a:p>
          <a:p>
            <a:pPr>
              <a:spcAft>
                <a:spcPts val="400"/>
              </a:spcAft>
              <a:defRPr sz="1300">
                <a:solidFill>
                  <a:srgbClr val="B4BAAE"/>
                </a:solidFill>
                <a:latin typeface="Aptos"/>
              </a:defRPr>
            </a:pPr>
            <a:r>
              <a:t>Explicit orchestration: checked Multi-Turn uses a visible tool loop, capability scoring, and staged planning instead of a single opaque call.</a:t>
            </a:r>
          </a:p>
          <a:p>
            <a:pPr>
              <a:spcAft>
                <a:spcPts val="400"/>
              </a:spcAft>
              <a:defRPr sz="1300">
                <a:solidFill>
                  <a:srgbClr val="B4BAAE"/>
                </a:solidFill>
                <a:latin typeface="Aptos"/>
              </a:defRPr>
            </a:pPr>
            <a:r>
              <a:t>Operational reversibility: risky changes such as database replacement are staged, archived, and delayed to the only safe window instead of hot-swapped mid-session.</a:t>
            </a:r>
          </a:p>
          <a:p>
            <a:pPr>
              <a:spcAft>
                <a:spcPts val="400"/>
              </a:spcAft>
              <a:defRPr sz="1300">
                <a:solidFill>
                  <a:srgbClr val="B4BAAE"/>
                </a:solidFill>
                <a:latin typeface="Aptos"/>
              </a:defRPr>
            </a:pPr>
            <a:r>
              <a:t>Fail-open diagnostics: GPU pressure probes and session-restore safeguards warn early without breaking CPU-only or degraded environments.</a:t>
            </a:r>
          </a:p>
          <a:p>
            <a:pPr>
              <a:spcAft>
                <a:spcPts val="400"/>
              </a:spcAft>
              <a:defRPr sz="1300">
                <a:solidFill>
                  <a:srgbClr val="B4BAAE"/>
                </a:solidFill>
                <a:latin typeface="Aptos"/>
              </a:defRPr>
            </a:pPr>
            <a:r>
              <a:t>Runtime isolation: wrapped chat-agent copies run in session-scoped folders so template agents remain pristine while live runs stay inspectable.</a:t>
            </a:r>
          </a:p>
          <a:p>
            <a:pPr>
              <a:spcAft>
                <a:spcPts val="400"/>
              </a:spcAft>
              <a:defRPr sz="1300">
                <a:solidFill>
                  <a:srgbClr val="B4BAAE"/>
                </a:solidFill>
                <a:latin typeface="Aptos"/>
              </a:defRPr>
            </a:pPr>
            <a:r>
              <a:t>Self-knowledge with scope discipline: she can talk accurately about herself without letting self-reference override a user-loaded project context.</a:t>
            </a:r>
          </a:p>
          <a:p>
            <a:pPr>
              <a:spcAft>
                <a:spcPts val="400"/>
              </a:spcAft>
              <a:defRPr sz="1300">
                <a:solidFill>
                  <a:srgbClr val="B4BAAE"/>
                </a:solidFill>
                <a:latin typeface="Aptos"/>
              </a:defRPr>
            </a:pPr>
            <a:r>
              <a:t>Operator truth over vibes: Exec Report tables, tlamatini.log, skill audits, and ACPX transcripts make the system auditable after execution.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RETRIEVAL CORE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RAG And Context Engine</a:t>
            </a:r>
          </a:p>
        </p:txBody>
      </p:sp>
      <p:sp>
        <p:nvSpPr>
          <p:cNvPr id="9" name="Rounded Rectangle 8"/>
          <p:cNvSpPr/>
          <p:nvPr/>
        </p:nvSpPr>
        <p:spPr>
          <a:xfrm>
            <a:off x="713232" y="1463040"/>
            <a:ext cx="53035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035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01183" cy="310896"/>
          </a:xfrm>
          <a:prstGeom prst="rect">
            <a:avLst/>
          </a:prstGeom>
          <a:noFill/>
        </p:spPr>
        <p:txBody>
          <a:bodyPr wrap="square" anchor="t">
            <a:spAutoFit/>
          </a:bodyPr>
          <a:lstStyle/>
          <a:p>
            <a:pPr algn="l"/>
            <a:r>
              <a:rPr sz="1400" b="1">
                <a:solidFill>
                  <a:srgbClr val="E0AB5D"/>
                </a:solidFill>
                <a:latin typeface="Aptos"/>
              </a:rPr>
              <a:t>RAG responsibilities</a:t>
            </a:r>
          </a:p>
        </p:txBody>
      </p:sp>
      <p:sp>
        <p:nvSpPr>
          <p:cNvPr id="12" name="TextBox 11"/>
          <p:cNvSpPr txBox="1"/>
          <p:nvPr/>
        </p:nvSpPr>
        <p:spPr>
          <a:xfrm>
            <a:off x="914400" y="2121408"/>
            <a:ext cx="49011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Load selected file or directory context from the chat interface.</a:t>
            </a:r>
          </a:p>
          <a:p>
            <a:pPr>
              <a:spcAft>
                <a:spcPts val="400"/>
              </a:spcAft>
              <a:defRPr sz="1500">
                <a:solidFill>
                  <a:srgbClr val="B4BAAE"/>
                </a:solidFill>
                <a:latin typeface="Aptos"/>
              </a:defRPr>
            </a:pPr>
            <a:r>
              <a:t>Extract metadata, split text, rank chunks with hybrid retrieval, and respect context budgets.</a:t>
            </a:r>
          </a:p>
          <a:p>
            <a:pPr>
              <a:spcAft>
                <a:spcPts val="400"/>
              </a:spcAft>
              <a:defRPr sz="1500">
                <a:solidFill>
                  <a:srgbClr val="B4BAAE"/>
                </a:solidFill>
                <a:latin typeface="Aptos"/>
              </a:defRPr>
            </a:pPr>
            <a:r>
              <a:t>Fallback to explicit loaded files when retrieval cannot provide enough memory.</a:t>
            </a:r>
          </a:p>
          <a:p>
            <a:pPr>
              <a:spcAft>
                <a:spcPts val="400"/>
              </a:spcAft>
              <a:defRPr sz="1500">
                <a:solidFill>
                  <a:srgbClr val="B4BAAE"/>
                </a:solidFill>
                <a:latin typeface="Aptos"/>
              </a:defRPr>
            </a:pPr>
            <a:r>
              <a:t>Preserve the difference between direct one-shot chat and checked Multi-Turn orchestration.</a:t>
            </a:r>
          </a:p>
        </p:txBody>
      </p:sp>
      <p:sp>
        <p:nvSpPr>
          <p:cNvPr id="13" name="Rounded Rectangle 12"/>
          <p:cNvSpPr/>
          <p:nvPr/>
        </p:nvSpPr>
        <p:spPr>
          <a:xfrm>
            <a:off x="6309360" y="1463040"/>
            <a:ext cx="51206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63040"/>
            <a:ext cx="51206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1664208"/>
            <a:ext cx="4718303"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6" name="TextBox 15"/>
          <p:cNvSpPr txBox="1"/>
          <p:nvPr/>
        </p:nvSpPr>
        <p:spPr>
          <a:xfrm>
            <a:off x="6510528" y="2121408"/>
            <a:ext cx="471830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The assistant answers from project evidence instead of generic memory.</a:t>
            </a:r>
          </a:p>
          <a:p>
            <a:pPr>
              <a:spcAft>
                <a:spcPts val="400"/>
              </a:spcAft>
              <a:defRPr sz="1600">
                <a:solidFill>
                  <a:srgbClr val="B4BAAE"/>
                </a:solidFill>
                <a:latin typeface="Aptos"/>
              </a:defRPr>
            </a:pPr>
            <a:r>
              <a:t>Large codebases remain navigable without injecting the whole repository into every prompt.</a:t>
            </a:r>
          </a:p>
          <a:p>
            <a:pPr>
              <a:spcAft>
                <a:spcPts val="400"/>
              </a:spcAft>
              <a:defRPr sz="1600">
                <a:solidFill>
                  <a:srgbClr val="B4BAAE"/>
                </a:solidFill>
                <a:latin typeface="Aptos"/>
              </a:defRPr>
            </a:pPr>
            <a:r>
              <a:t>Multi-Turn can prefetch only the contexts required by the current execution plan.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AGENTIC EXECUTION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Multi-Turn Oracle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Checked mode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Capability registry scores context providers, tools, and wrapped agents for the current request.</a:t>
            </a:r>
          </a:p>
          <a:p>
            <a:pPr>
              <a:spcAft>
                <a:spcPts val="400"/>
              </a:spcAft>
              <a:defRPr sz="1500">
                <a:solidFill>
                  <a:srgbClr val="B4BAAE"/>
                </a:solidFill>
                <a:latin typeface="Aptos"/>
              </a:defRPr>
            </a:pPr>
            <a:r>
              <a:t>Global planner builds prefetch, execute, monitor, and answer stages.</a:t>
            </a:r>
          </a:p>
          <a:p>
            <a:pPr>
              <a:spcAft>
                <a:spcPts val="400"/>
              </a:spcAft>
              <a:defRPr sz="1500">
                <a:solidFill>
                  <a:srgbClr val="B4BAAE"/>
                </a:solidFill>
                <a:latin typeface="Aptos"/>
              </a:defRPr>
            </a:pPr>
            <a:r>
              <a:t>Explicit tool loop runs tool calls, appends observations, and asks again until final answer or the 4096-turn limit.</a:t>
            </a:r>
          </a:p>
          <a:p>
            <a:pPr>
              <a:spcAft>
                <a:spcPts val="400"/>
              </a:spcAft>
              <a:defRPr sz="1500">
                <a:solidFill>
                  <a:srgbClr val="B4BAAE"/>
                </a:solidFill>
                <a:latin typeface="Aptos"/>
              </a:defRPr>
            </a:pPr>
            <a:r>
              <a:t>Create Flow no longer uses the removed answer classifier; it appears when Multi-Turn has at least one successful agent call.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Unchecked mode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Keeps the original prompt validation and legacy prefetch behavior.</a:t>
            </a:r>
          </a:p>
          <a:p>
            <a:pPr>
              <a:spcAft>
                <a:spcPts val="400"/>
              </a:spcAft>
              <a:defRPr sz="1600">
                <a:solidFill>
                  <a:srgbClr val="B4BAAE"/>
                </a:solidFill>
                <a:latin typeface="Aptos"/>
              </a:defRPr>
            </a:pPr>
            <a:r>
              <a:t>Maintains compatibility for fast Q&amp;A and simple context-grounded answers.</a:t>
            </a:r>
          </a:p>
          <a:p>
            <a:pPr>
              <a:spcAft>
                <a:spcPts val="400"/>
              </a:spcAft>
              <a:defRPr sz="1600">
                <a:solidFill>
                  <a:srgbClr val="B4BAAE"/>
                </a:solidFill>
                <a:latin typeface="Aptos"/>
              </a:defRPr>
            </a:pPr>
            <a:r>
              <a:t>Avoids forcing every chat request into agentic execution.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V1.10.0 SAFETY MODIFIER STILL ACTIVE IN V1.46.0</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Ask Execs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Introduced in `v1.10.0` and still part of the current `v1.26.0` surface, `Ask Execs` is the Multi-Turn-only safety modifier that makes Tlamatini ask before each state-changing Tool, MCP, wrapped agent, or skill-backed execution instead of running it immediately.</a:t>
            </a:r>
          </a:p>
          <a:p>
            <a:pPr>
              <a:spcAft>
                <a:spcPts val="400"/>
              </a:spcAft>
              <a:defRPr sz="1300">
                <a:solidFill>
                  <a:srgbClr val="B4BAAE"/>
                </a:solidFill>
                <a:latin typeface="Aptos"/>
              </a:defRPr>
            </a:pPr>
            <a:r>
              <a:t>The permission dialog is explicit and auditable: it names the Tool or Agent family, the underlying raw tool name, the full parameters, the program or command to be executed, and the shell or execution surface involved.</a:t>
            </a:r>
          </a:p>
          <a:p>
            <a:pPr>
              <a:spcAft>
                <a:spcPts val="400"/>
              </a:spcAft>
              <a:defRPr sz="1300">
                <a:solidFill>
                  <a:srgbClr val="B4BAAE"/>
                </a:solidFill>
                <a:latin typeface="Aptos"/>
              </a:defRPr>
            </a:pPr>
            <a:r>
              <a:t>Proceed runs that one step and then prompts again at the next state-changing step; Deny halts the entire chain immediately and appends a red `Execution interrupted` banner even when Exec Report itself is off.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mechanics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Under the hood, `agent/exec_permission.py` provides `ExecPermissionBroker`, which lets the synchronous worker-thread executor emit a permission request onto the WebSocket event loop and then block on a `threading.Event` until the browser replies.</a:t>
            </a:r>
          </a:p>
          <a:p>
            <a:pPr>
              <a:spcAft>
                <a:spcPts val="400"/>
              </a:spcAft>
              <a:defRPr sz="1300">
                <a:solidFill>
                  <a:srgbClr val="B4BAAE"/>
                </a:solidFill>
                <a:latin typeface="Aptos"/>
              </a:defRPr>
            </a:pPr>
            <a:r>
              <a:t>The gate sits after deduplication and quota checks, so skipped calls never prompt and denied calls never appear as executed rows; only work that truly ran lands in Exec Report.</a:t>
            </a:r>
          </a:p>
          <a:p>
            <a:pPr>
              <a:spcAft>
                <a:spcPts val="400"/>
              </a:spcAft>
              <a:defRPr sz="1300">
                <a:solidFill>
                  <a:srgbClr val="B4BAAE"/>
                </a:solidFill>
                <a:latin typeface="Aptos"/>
              </a:defRPr>
            </a:pPr>
            <a:r>
              <a:t>The round-trip is fail-safe: browser disconnect, emit failure, cancel, or broker shutdown all resolve to Deny, so an unconfirmed state-changing action never slips through just because the UI vanished at the wrong time.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TASKBAR FLASH AND UPPERCASE LOG BANNER WHEN SHE NEEDS YOU</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Windows Attention Issuing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Current mechanism</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current Windows attention path is explicit and local: the browser calls `POST /agent/flash_window/`, and the backend routes that request through `agent/window_flash.py`.</a:t>
            </a:r>
          </a:p>
          <a:p>
            <a:pPr>
              <a:spcAft>
                <a:spcPts val="400"/>
              </a:spcAft>
              <a:defRPr sz="1200">
                <a:solidFill>
                  <a:srgbClr val="B4BAAE"/>
                </a:solidFill>
                <a:latin typeface="Aptos"/>
              </a:defRPr>
            </a:pPr>
            <a:r>
              <a:t>That helper can flash the `Tlamatini.exe` console/taskbar window with `FlashWindowEx` and always prints an uppercase attention banner, so the signal survives in `tlamatini.log` even when the browser is minimized.</a:t>
            </a:r>
          </a:p>
          <a:p>
            <a:pPr>
              <a:spcAft>
                <a:spcPts val="400"/>
              </a:spcAft>
              <a:defRPr sz="1200">
                <a:solidFill>
                  <a:srgbClr val="B4BAAE"/>
                </a:solidFill>
                <a:latin typeface="Aptos"/>
              </a:defRPr>
            </a:pPr>
            <a:r>
              <a:t>Two concrete reasons are wired today: Ask Execs execution approval prompts and Notifier notifications. The path is best-effort and fail-safe, degrading cleanly on non-Windows or windowless launches.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the browser is buried, Tlamatini still has a local way to pull the operator back at the exact moment an approval prompt or notification matters.</a:t>
            </a:r>
          </a:p>
          <a:p>
            <a:pPr>
              <a:spcAft>
                <a:spcPts val="400"/>
              </a:spcAft>
              <a:defRPr sz="1200">
                <a:solidFill>
                  <a:srgbClr val="B4BAAE"/>
                </a:solidFill>
                <a:latin typeface="Aptos"/>
              </a:defRPr>
            </a:pPr>
            <a:r>
              <a:t>The path is concrete and auditable: `POST /agent/flash_window/`, `window_flash.py`, `FlashWindowEx`, and the matching uppercase banner in `tlamatini.log`.</a:t>
            </a:r>
          </a:p>
          <a:p>
            <a:pPr>
              <a:spcAft>
                <a:spcPts val="400"/>
              </a:spcAft>
              <a:defRPr sz="1200">
                <a:solidFill>
                  <a:srgbClr val="B4BAAE"/>
                </a:solidFill>
                <a:latin typeface="Aptos"/>
              </a:defRPr>
            </a:pPr>
            <a:r>
              <a:t>Because the helper is best-effort and fail-safe, a missed flash never breaks the request path or blocks the surrounding workflow.</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V1.11.0 UNINSTALL INTEGRATION CARRIED INTO V1.46.0</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Windows Installed-App Registration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Introduced in `v1.11.0` and still carried by the current `v1.26.0` release, the frozen install now behaves like a real Windows application: `install.py` writes a per-user HKCU Add/Remove Programs entry so Tlamatini appears in Settings -&gt; Apps -&gt; Installed apps and in the legacy Programs and Features list.</a:t>
            </a:r>
          </a:p>
          <a:p>
            <a:pPr>
              <a:spcAft>
                <a:spcPts val="400"/>
              </a:spcAft>
              <a:defRPr sz="1200">
                <a:solidFill>
                  <a:srgbClr val="B4BAAE"/>
                </a:solidFill>
                <a:latin typeface="Aptos"/>
              </a:defRPr>
            </a:pPr>
            <a:r>
              <a:t>The entry carries `DisplayName`, `DisplayVersion`, `InstallLocation`, `DisplayIcon`, `UninstallString`, `QuietUninstallString`, `NoModify`, `NoRepair`, and best-effort `EstimatedSize`, all pointing at the bundled `Uninstaller.exe` without requiring administrator rights.</a:t>
            </a:r>
          </a:p>
          <a:p>
            <a:pPr>
              <a:spcAft>
                <a:spcPts val="400"/>
              </a:spcAft>
              <a:defRPr sz="1200">
                <a:solidFill>
                  <a:srgbClr val="B4BAAE"/>
                </a:solidFill>
                <a:latin typeface="Aptos"/>
              </a:defRPr>
            </a:pPr>
            <a:r>
              <a:t>The matching runtime self-heal in `agent/apps.py` calls `windows_app_registration.self_heal_for_frozen()` on every frozen launch, so installs created before this feature existed can appear in Windows' uninstall UI after the next normal app start.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Packaged installs now show up in normal Windows uninstall surfaces instead of only leaving behind shortcuts and a loose `Uninstaller.exe` in the install folder.</a:t>
            </a:r>
          </a:p>
          <a:p>
            <a:pPr>
              <a:spcAft>
                <a:spcPts val="400"/>
              </a:spcAft>
              <a:defRPr sz="1200">
                <a:solidFill>
                  <a:srgbClr val="B4BAAE"/>
                </a:solidFill>
                <a:latin typeface="Aptos"/>
              </a:defRPr>
            </a:pPr>
            <a:r>
              <a:t>The registration is HKCU-only and non-elevated, matching the installer’s per-user design on Windows 10 and Windows 11.</a:t>
            </a:r>
          </a:p>
          <a:p>
            <a:pPr>
              <a:spcAft>
                <a:spcPts val="400"/>
              </a:spcAft>
              <a:defRPr sz="1200">
                <a:solidFill>
                  <a:srgbClr val="B4BAAE"/>
                </a:solidFill>
                <a:latin typeface="Aptos"/>
              </a:defRPr>
            </a:pPr>
            <a:r>
              <a:t>Because frozen startup self-heals the entry, even older installs can gain the uninstall surface after a later app launch without a reinstall.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V1.46.0 - PDFER DOCUMENT COMPOSER; TAG, MAIN, AND ORIGIN ALIGN AT 6207181F</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Current Release Focus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Release line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Git resolves the published product to `v1.46.0` at `6207181f`; local `main` and `origin/main` are aligned exactly at that tagged PDFer release, while the live source tree remains authoritative for generated counts and capability claims.</a:t>
            </a:r>
          </a:p>
          <a:p>
            <a:pPr>
              <a:spcAft>
                <a:spcPts val="400"/>
              </a:spcAft>
              <a:defRPr sz="1000">
                <a:solidFill>
                  <a:srgbClr val="B4BAAE"/>
                </a:solidFill>
                <a:latin typeface="Aptos"/>
              </a:defRPr>
            </a:pPr>
            <a:r>
              <a:t>`v1.46.0` adds PDFer as the document-composer agent and wrapped `chat_agent_pdfer` tool: it authors styled PDFs from Markdown, HTML, text, images, mixed content, or existing PDFs, with preflight refusal and Ask-Execs coverage for free-form destinations.</a:t>
            </a:r>
          </a:p>
          <a:p>
            <a:pPr>
              <a:spcAft>
                <a:spcPts val="400"/>
              </a:spcAft>
              <a:defRPr sz="1000">
                <a:solidFill>
                  <a:srgbClr val="B4BAAE"/>
                </a:solidFill>
                <a:latin typeface="Aptos"/>
              </a:defRPr>
            </a:pPr>
            <a:r>
              <a:t>`v1.41.4` fixes External-MCP structured-output consumption: stdio and network clients now provide both text `content` blocks and `structuredContent` to the LLM instead of handing it only a short pointer.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Reliability and flow</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shared formatter unwraps a sole `result` envelope, preserves errors and plain text, safely serializes structured data, caps oversized payloads, and is pinned by seven focused tests.</a:t>
            </a:r>
          </a:p>
          <a:p>
            <a:pPr>
              <a:spcAft>
                <a:spcPts val="400"/>
              </a:spcAft>
              <a:defRPr sz="1000">
                <a:solidFill>
                  <a:srgbClr val="B4BAAE"/>
                </a:solidFill>
                <a:latin typeface="Aptos"/>
              </a:defRPr>
            </a:pPr>
            <a:r>
              <a:t>`v1.41.3` keeps the Catalog of Prompts grouped into 13 categories with stable surviving ids, physical duplicate removal, gap-tolerant loading, and ranked fuzzy search.</a:t>
            </a:r>
          </a:p>
          <a:p>
            <a:pPr>
              <a:spcAft>
                <a:spcPts val="400"/>
              </a:spcAft>
              <a:defRPr sz="1000">
                <a:solidFill>
                  <a:srgbClr val="B4BAAE"/>
                </a:solidFill>
                <a:latin typeface="Aptos"/>
              </a:defRPr>
            </a:pPr>
            <a:r>
              <a:t>`v1.41.2` keeps Cancel latched to a per-user run epoch across RAG rebuilds, executor, retry, self-healing, Ask Execs, late answers, and frontend state without poisoning the next request.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IMAGE PATHS, PORT RECOVERY, HANDBOOK TRUTH, AND CARRIED FOUNDATIONS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Current Release Context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Flow and recovery</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`v1.41.0` keeps screenshot paste/drop path-native: validated images are re-encoded in guarded Temp storage, inserted at the remembered caret, and handed to Image-Interpreter through removable chips.</a:t>
            </a:r>
          </a:p>
          <a:p>
            <a:pPr>
              <a:spcAft>
                <a:spcPts val="400"/>
              </a:spcAft>
              <a:defRPr sz="1000">
                <a:solidFill>
                  <a:srgbClr val="B4BAAE"/>
                </a:solidFill>
                <a:latin typeface="Aptos"/>
              </a:defRPr>
            </a:pPr>
            <a:r>
              <a:t>That Phase 1 path covers supported PlatformIO `ststm32` boards from Blue Pill/F1 through mainstream F/G/L/H7/U5/WB families, shares zero-config PlatformIO bootstrap with ESP32er, and adds ST-LINK-aware upload safeguards.</a:t>
            </a:r>
          </a:p>
          <a:p>
            <a:pPr>
              <a:spcAft>
                <a:spcPts val="400"/>
              </a:spcAft>
              <a:defRPr sz="1000">
                <a:solidFill>
                  <a:srgbClr val="B4BAAE"/>
                </a:solidFill>
                <a:latin typeface="Aptos"/>
              </a:defRPr>
            </a:pPr>
            <a:r>
              <a:t>The existing STM32F407 Template-MCP route remains the automatic default for blank/STM32F4 requests, while C0/H5/WBA/N6 stay explicitly unsupported until the planned ST-native CubeCLT backend exists; released migrations add camera-verified stepwise demos and a one-time contiguous catalog renumber.</a:t>
            </a:r>
          </a:p>
          <a:p>
            <a:pPr>
              <a:spcAft>
                <a:spcPts val="400"/>
              </a:spcAft>
              <a:defRPr sz="1000">
                <a:solidFill>
                  <a:srgbClr val="B4BAAE"/>
                </a:solidFill>
                <a:latin typeface="Aptos"/>
              </a:defRPr>
            </a:pPr>
            <a:r>
              <a:t>README.md and BookOfTlamatini.md now carry a clearer plain-Python agent disclaimer: transparency enables user control but is not a security warranty, and execution remains under the user's jurisdiction and responsibility.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Security and source control</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README static badge and some Book release prose lag Git, so version identity comes from the live tag/commit graph rather than those historical text surfaces.</a:t>
            </a:r>
          </a:p>
          <a:p>
            <a:pPr>
              <a:spcAft>
                <a:spcPts val="400"/>
              </a:spcAft>
              <a:defRPr sz="1100">
                <a:solidFill>
                  <a:srgbClr val="B4BAAE"/>
                </a:solidFill>
                <a:latin typeface="Aptos"/>
              </a:defRPr>
            </a:pPr>
            <a:r>
              <a:t>The dirty worktree is counted without reproducing private values, credentials, endpoints, or machine-specific paths; this dossier does not stage, commit, or push it.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OLDER WAVES STILL CARRIED BY THE CURRENT DOSSIER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Release Continuity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Carried product story</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`v1.40.x` configurable-port and FlowPills work, Unreal 5.8 scaffold, Nmapper, self-healing, Create Flow, robotic loop, firmware/media agents, External MCPs, ACPX skills, and deterministic file tools remain carried product behavior.</a:t>
            </a:r>
          </a:p>
          <a:p>
            <a:pPr>
              <a:spcAft>
                <a:spcPts val="400"/>
              </a:spcAft>
              <a:defRPr sz="1100">
                <a:solidFill>
                  <a:srgbClr val="B4BAAE"/>
                </a:solidFill>
                <a:latin typeface="Aptos"/>
              </a:defRPr>
            </a:pPr>
            <a:r>
              <a:t>The `v1.45.x` lineage makes FlowCreator chat-callable, adds its guided catalog opener, and hardens oversized Multi-Turn context recovery; live agent/tool totals are derived from the registry and repository rather than inferred from release numbers.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Documentation contract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README.md and BookOfTlamatini.md still supply the complete MIT-licensed project, easy-start installation, Ollama setup, architecture, usage, agent, and responsibility narrative rather than a narrow changelog.</a:t>
            </a:r>
          </a:p>
          <a:p>
            <a:pPr>
              <a:spcAft>
                <a:spcPts val="400"/>
              </a:spcAft>
              <a:defRPr sz="1100">
                <a:solidFill>
                  <a:srgbClr val="B4BAAE"/>
                </a:solidFill>
                <a:latin typeface="Aptos"/>
              </a:defRPr>
            </a:pPr>
            <a:r>
              <a:t>The regenerated PDF/PPTX treats tagged behavior and local configuration-only changes separately while preserving the full system, history, file tree, and effective-line inventory.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V1.41.4 - SUCCESSFUL SERVER DATA REACHES THE MODEL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External MCP Structured Results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Failure mechanism</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Modern MCP servers may return a short human-readable pointer in `content` while placing the actual result in `structuredContent`; the old parser discarded that machine-readable payload.</a:t>
            </a:r>
          </a:p>
          <a:p>
            <a:pPr>
              <a:spcAft>
                <a:spcPts val="400"/>
              </a:spcAft>
              <a:defRPr sz="1100">
                <a:solidFill>
                  <a:srgbClr val="B4BAAE"/>
                </a:solidFill>
                <a:latin typeface="Aptos"/>
              </a:defRPr>
            </a:pPr>
            <a:r>
              <a:t>Without the actual data, the model could repeat the same valid tool call until Tlamatini's repetition breaker force-stopped the run, making a successful external server appear to auto-cancel.</a:t>
            </a:r>
          </a:p>
          <a:p>
            <a:pPr>
              <a:spcAft>
                <a:spcPts val="400"/>
              </a:spcAft>
              <a:defRPr sz="1100">
                <a:solidFill>
                  <a:srgbClr val="B4BAAE"/>
                </a:solidFill>
                <a:latin typeface="Aptos"/>
              </a:defRPr>
            </a:pPr>
            <a:r>
              <a:t>`_format_mcp_tool_result` is now the single formatter used by both `_StdioMcpClient.call_tool` and `_NetworkMcpClientBase.call_tool`, so transport choice no longer changes result fidelity.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Unified transport path</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Text blocks and non-text content are retained, while a sole `{"result": ...}` structured envelope is unwrapped before JSON serialization.</a:t>
            </a:r>
          </a:p>
          <a:p>
            <a:pPr>
              <a:spcAft>
                <a:spcPts val="400"/>
              </a:spcAft>
              <a:defRPr sz="1100">
                <a:solidFill>
                  <a:srgbClr val="B4BAAE"/>
                </a:solidFill>
                <a:latin typeface="Aptos"/>
              </a:defRPr>
            </a:pPr>
            <a:r>
              <a:t>`isError` still returns an explicit error and can now include structured-only error details; non-dict results are stringified safely.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CONTEXT PROTECTION, ERRORS, AND REGRESSION PROOF</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Structured Output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Payload safety</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Structured payloads are capped at 24,000 characters by default with an explicit truncation marker, protecting the model context from unexpectedly huge tool responses.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Coverage and release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Seven tests cover pointer-plus-data, unchanged plain text, envelope unwrapping, text and structured-only errors, payload capping, and non-dict input.</a:t>
            </a:r>
          </a:p>
          <a:p>
            <a:pPr>
              <a:spcAft>
                <a:spcPts val="400"/>
              </a:spcAft>
              <a:defRPr sz="1100">
                <a:solidFill>
                  <a:srgbClr val="B4BAAE"/>
                </a:solidFill>
                <a:latin typeface="Aptos"/>
              </a:defRPr>
            </a:pPr>
            <a:r>
              <a:t>The fix is released as `v1.41.4` at `cec16594` and is present on `origin/main`.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PUBLISHED IN TAGGED V1.42.0</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STM32er PlatformIO Release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Routing and coverage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Release status: STM32er PlatformIO Phase 1 was published in tagged `v1.42.0` at `c58b01ad`.</a:t>
            </a:r>
          </a:p>
          <a:p>
            <a:pPr>
              <a:spcAft>
                <a:spcPts val="400"/>
              </a:spcAft>
              <a:defRPr sz="1000">
                <a:solidFill>
                  <a:srgbClr val="B4BAAE"/>
                </a:solidFill>
                <a:latin typeface="Aptos"/>
              </a:defRPr>
            </a:pPr>
            <a:r>
              <a:t>`stm32_backend=auto` keeps the legacy Template-MCP path for blank/STM32F4 requests, but a board, a non-F4 device, or a PlatformIO-only action routes to the new direct PlatformIO backend.</a:t>
            </a:r>
          </a:p>
          <a:p>
            <a:pPr>
              <a:spcAft>
                <a:spcPts val="400"/>
              </a:spcAft>
              <a:defRPr sz="1000">
                <a:solidFill>
                  <a:srgbClr val="B4BAAE"/>
                </a:solidFill>
                <a:latin typeface="Aptos"/>
              </a:defRPr>
            </a:pPr>
            <a:r>
              <a:t>Friendly board aliases and device-to-board mappings include the STM32F103 Blue Pill, while raw PlatformIO board ids remain accepted for broader `ststm32` coverage.</a:t>
            </a:r>
          </a:p>
          <a:p>
            <a:pPr>
              <a:spcAft>
                <a:spcPts val="400"/>
              </a:spcAft>
              <a:defRPr sz="1000">
                <a:solidFill>
                  <a:srgbClr val="B4BAAE"/>
                </a:solidFill>
                <a:latin typeface="Aptos"/>
              </a:defRPr>
            </a:pPr>
            <a:r>
              <a:t>The backend mirrors ESP32er's zero-config bootstrap and shared per-user PlatformIO core, then supports environment, board, project, source, package, build, upload, monitor, QA, and artifact actions.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Preflight and safe composite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A preflight resolves the board/family, validates `platformio.ini`, probes PlatformIO and ST-LINK readiness, and requires hardware only for upload/monitor operations; compile-only actions remain boardless-safe.</a:t>
            </a:r>
          </a:p>
          <a:p>
            <a:pPr>
              <a:spcAft>
                <a:spcPts val="400"/>
              </a:spcAft>
              <a:defRPr sz="1000">
                <a:solidFill>
                  <a:srgbClr val="B4BAAE"/>
                </a:solidFill>
                <a:latin typeface="Aptos"/>
              </a:defRPr>
            </a:pPr>
            <a:r>
              <a:t>`scaffold_build_flash` creates or reuses a project, writes source, builds, and flashes only when ST-LINK is confidently detected; otherwise a successful build is reported with a clear connect-and-flash next step.</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WHAT STM32ER PHASE 1 IMPLEMENTS AND WHAT REMAINS PLANNED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PlatformIO Coverage Boundary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Deliberate refusal</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broad family parser recognizes the full ST line, but PlatformIO-incompatible newest families C0/H5/U0/WBA/N6 are deliberately refused instead of risking an incorrect linker or target.</a:t>
            </a:r>
          </a:p>
          <a:p>
            <a:pPr>
              <a:spcAft>
                <a:spcPts val="400"/>
              </a:spcAft>
              <a:defRPr sz="1100">
                <a:solidFill>
                  <a:srgbClr val="B4BAAE"/>
                </a:solidFill>
                <a:latin typeface="Aptos"/>
              </a:defRPr>
            </a:pPr>
            <a:r>
              <a:t>The planned CubeCLT/CubeMX backend remains proposal-only for those newest devices, especially STM32N6 signing and external-flash requirements.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New assets and tests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New assets include the all-families proposal and migrations `0177`-`0179`: one-call Blue Pill build/conditional flash, two stepwise camera-verified board walkthroughs, then a deliberate category-grouped no-gap catalog renumber.</a:t>
            </a:r>
          </a:p>
          <a:p>
            <a:pPr>
              <a:spcAft>
                <a:spcPts val="400"/>
              </a:spcAft>
              <a:defRPr sz="1000">
                <a:solidFill>
                  <a:srgbClr val="B4BAAE"/>
                </a:solidFill>
                <a:latin typeface="Aptos"/>
              </a:defRPr>
            </a:pPr>
            <a:r>
              <a:t>Registry, contracts, wrapped-tool defaults, config, agent code, descriptions, and tests move together; focused coverage pins family/routing safety plus catalog contiguity, prompt-name identity, category ordering, and demo presence.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BLUE PILL AND F407 DISCOVERY FROM DRIVER TO CAMERA EVIDENCE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STM32 Stepwise Proof Demos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Migration `0178_add_stm32_stepwise_blink_camera_prompts.py` adds two `firmware_iot` walkthroughs: STM32F103 Blue Pill over an external ST-LINK V2 and STM32F407G-DISC1 over its embedded ST-LINK/V2.</a:t>
            </a:r>
          </a:p>
          <a:p>
            <a:pPr>
              <a:spcAft>
                <a:spcPts val="400"/>
              </a:spcAft>
              <a:defRPr sz="1000">
                <a:solidFill>
                  <a:srgbClr val="B4BAAE"/>
                </a:solidFill>
                <a:latin typeface="Aptos"/>
              </a:defRPr>
            </a:pPr>
            <a:r>
              <a:t>Both prompts require Multi-Turn, Exec Report, and Step-by-Step mode, execute exactly one stage per turn, wait for the operator's `READY`, and verify each prerequisite before moving forward.</a:t>
            </a:r>
          </a:p>
          <a:p>
            <a:pPr>
              <a:spcAft>
                <a:spcPts val="400"/>
              </a:spcAft>
              <a:defRPr sz="1000">
                <a:solidFill>
                  <a:srgbClr val="B4BAAE"/>
                </a:solidFill>
                <a:latin typeface="Aptos"/>
              </a:defRPr>
            </a:pPr>
            <a:r>
              <a:t>The six-stage Blue Pill path covers driver/CLI readiness, four-wire SWD wiring and probe detection, PlatformIO bootstrap, project/source/build, ST-LINK flash, and camera proof of the PC13 LED.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Hardware and evidence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five-stage Discovery path uses the board's ST-LINK USB port, then bootstrap, project/source/build, embedded-probe flash, and camera proof of the green PD12 LED.</a:t>
            </a:r>
          </a:p>
          <a:p>
            <a:pPr>
              <a:spcAft>
                <a:spcPts val="400"/>
              </a:spcAft>
              <a:defRPr sz="1000">
                <a:solidFill>
                  <a:srgbClr val="B4BAAE"/>
                </a:solidFill>
                <a:latin typeface="Aptos"/>
              </a:defRPr>
            </a:pPr>
            <a:r>
              <a:t>Final evidence comes from `chat_agent_camcorder`; the prompt may pass the clip to Video-Analyzer or Image-Interpreter and must return a clear PASS or FAIL with the saved file path.</a:t>
            </a:r>
          </a:p>
          <a:p>
            <a:pPr>
              <a:spcAft>
                <a:spcPts val="400"/>
              </a:spcAft>
              <a:defRPr sz="1000">
                <a:solidFill>
                  <a:srgbClr val="B4BAAE"/>
                </a:solidFill>
                <a:latin typeface="Aptos"/>
              </a:defRPr>
            </a:pPr>
            <a:r>
              <a:t>These are seeded demonstrations and operator procedures, not a claim that hardware verification occurred during dossier generation.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V1.42.0 - DELIBERATE ONE-TIME PRIMARY-KEY MIGRATION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Prompt Catalog No-Gap Renumber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Migration mechanics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Released migration `0179_regroup_resort_prompts_no_gaps.py` is a one-time deliberate override of the earlier no-renumber convention; it runs after the two new STM32 walkthroughs are appended.</a:t>
            </a:r>
          </a:p>
          <a:p>
            <a:pPr>
              <a:spcAft>
                <a:spcPts val="400"/>
              </a:spcAft>
              <a:defRPr sz="1000">
                <a:solidFill>
                  <a:srgbClr val="B4BAAE"/>
                </a:solidFill>
                <a:latin typeface="Aptos"/>
              </a:defRPr>
            </a:pPr>
            <a:r>
              <a:t>Every Prompt is sorted by the same category-display rank used by the UI and then by its prior id, so each category becomes one contiguous block from beginner workflows through specialized surfaces and the `other` fallback.</a:t>
            </a:r>
          </a:p>
          <a:p>
            <a:pPr>
              <a:spcAft>
                <a:spcPts val="400"/>
              </a:spcAft>
              <a:defRPr sz="1000">
                <a:solidFill>
                  <a:srgbClr val="B4BAAE"/>
                </a:solidFill>
                <a:latin typeface="Aptos"/>
              </a:defRPr>
            </a:pPr>
            <a:r>
              <a:t>Because `idPrompt` is the primary key, the migration first parks rows above 1,000,000 and then assigns final ids 1..N, avoiding collisions while rewriting `promptName` to `prompt-&lt;id&gt;`.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Boundaries and proof</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migration is intentionally one-way: reverse is a no-op because original ids are not stored; the source documents that no runtime foreign key references fixed prompt numbers.</a:t>
            </a:r>
          </a:p>
          <a:p>
            <a:pPr>
              <a:spcAft>
                <a:spcPts val="400"/>
              </a:spcAft>
              <a:defRPr sz="1000">
                <a:solidFill>
                  <a:srgbClr val="B4BAAE"/>
                </a:solidFill>
                <a:latin typeface="Aptos"/>
              </a:defRPr>
            </a:pPr>
            <a:r>
              <a:t>Future additions still append at max(idPrompt)+1, preserving contiguity until another deletion; the frontend's gap-tolerant fallback remains a defensive compatibility path.</a:t>
            </a:r>
          </a:p>
          <a:p>
            <a:pPr>
              <a:spcAft>
                <a:spcPts val="400"/>
              </a:spcAft>
              <a:defRPr sz="1000">
                <a:solidFill>
                  <a:srgbClr val="B4BAAE"/>
                </a:solidFill>
                <a:latin typeface="Aptos"/>
              </a:defRPr>
            </a:pPr>
            <a:r>
              <a:t>`test_prompt_catalog_contiguous.py` adds four database tests for no gaps, promptName/id agreement, nondecreasing category rank, and presence of both STM32 board demos plus Camcorder evidence.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V1.41.3 - 13 CATEGORIES AND DUPLICATE REMOVAL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Prompt Catalog Reorganized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Migration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Migration `0175_prompt_category_and_dedup.py` classifies the 106 historical prompt rows into 13 named operator categories, from Getting Started and Files/Search through ACPX, firmware, security, messaging, media, and a fail-safe More bucket.</a:t>
            </a:r>
          </a:p>
          <a:p>
            <a:pPr>
              <a:spcAft>
                <a:spcPts val="400"/>
              </a:spcAft>
              <a:defRPr sz="1000">
                <a:solidFill>
                  <a:srgbClr val="B4BAAE"/>
                </a:solidFill>
                <a:latin typeface="Aptos"/>
              </a:defRPr>
            </a:pPr>
            <a:r>
              <a:t>Migration `0176_delete_duplicate_acpx_prompts.py` physically deletes ids 40-52: 13 banner/Gemini variants that duplicate the seven portable ACPX demos retained at ids 33-39; surviving ids are never renumbered.</a:t>
            </a:r>
          </a:p>
          <a:p>
            <a:pPr>
              <a:spcAft>
                <a:spcPts val="400"/>
              </a:spcAft>
              <a:defRPr sz="1000">
                <a:solidFill>
                  <a:srgbClr val="B4BAAE"/>
                </a:solidFill>
                <a:latin typeface="Aptos"/>
              </a:defRPr>
            </a:pPr>
            <a:r>
              <a:t>Gaps are now valid. `/agent/list_prompts/` returns all visible rows regardless of id continuity, and the offline `prompt-N` fallback skips a missing id instead of terminating the catalog at the first gap.</a:t>
            </a:r>
          </a:p>
          <a:p>
            <a:pPr>
              <a:spcAft>
                <a:spcPts val="400"/>
              </a:spcAft>
              <a:defRPr sz="1000">
                <a:solidFill>
                  <a:srgbClr val="B4BAAE"/>
                </a:solidFill>
                <a:latin typeface="Aptos"/>
              </a:defRPr>
            </a:pPr>
            <a:r>
              <a:t>`Prompt.category` and `Prompt.hidden` remain schema-level controls, while `PROMPT_CATEGORY_ORDER` gives every known category a stable display rank and routes unknown or future values into `other` rather than dropping them.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Stable identity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modal renders explicit category headers and counts, then restores that grouped basic-to-advanced order whenever the search query clears.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GROUPED AT REST, RANKED AND FLATTENED WHILE SEARCHING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Prompt Catalog Search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Search behavior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Live search accepts a prompt number, title words, mode labels, acronym, contiguous text, or fuzzy subsequence; it requires every query token, ranks best-first, highlights matched characters, and exposes Enter-to-open plus Escape/clear behavior.</a:t>
            </a:r>
          </a:p>
          <a:p>
            <a:pPr>
              <a:spcAft>
                <a:spcPts val="400"/>
              </a:spcAft>
              <a:defRPr sz="1100">
                <a:solidFill>
                  <a:srgbClr val="B4BAAE"/>
                </a:solidFill>
                <a:latin typeface="Aptos"/>
              </a:defRPr>
            </a:pPr>
            <a:r>
              <a:t>Prompt cards retain their One-Shot, Multi-Turn, ACPX, Exec Report, and Step-by-Step mode badges and continue to set the matching toolbar toggles when selected.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Viewport contract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catalog stays viewport-pinned and bounded in CSS so its header and search bar remain reachable independently of the chat input height, with no JavaScript geometry coupling reintroduced.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V1.41.2 - CANCELLED RUNS STAY CANCELLED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Hard Cancel Run Latch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Per-user epoch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`agent/cancellation.py` mints a monotonically increasing run epoch per user and permanently latches the highest cancelled epoch; clearing the legacy setup boolean can no longer resurrect that run.</a:t>
            </a:r>
          </a:p>
          <a:p>
            <a:pPr>
              <a:spcAft>
                <a:spcPts val="400"/>
              </a:spcAft>
              <a:defRPr sz="1000">
                <a:solidFill>
                  <a:srgbClr val="B4BAAE"/>
                </a:solidFill>
                <a:latin typeface="Aptos"/>
              </a:defRPr>
            </a:pPr>
            <a:r>
              <a:t>Cancellation is isolated per user, so a browser tab cannot kill another user's TeleTlamatini or concurrent browser run; a missing epoch is deliberately fail-open so a dropped payload field cannot poison all future requests.</a:t>
            </a:r>
          </a:p>
          <a:p>
            <a:pPr>
              <a:spcAft>
                <a:spcPts val="400"/>
              </a:spcAft>
              <a:defRPr sz="1000">
                <a:solidFill>
                  <a:srgbClr val="B4BAAE"/>
                </a:solidFill>
                <a:latin typeface="Aptos"/>
              </a:defRPr>
            </a:pPr>
            <a:r>
              <a:t>`ask_rag`, both unified-chain payload rebuilds, and `CapabilityAwareToolAgentExecutor` carry and check `run_epoch`, closing the prior gap where model retries or tool loops could continue after Cancel.</a:t>
            </a:r>
          </a:p>
          <a:p>
            <a:pPr>
              <a:spcAft>
                <a:spcPts val="400"/>
              </a:spcAft>
              <a:defRPr sz="1000">
                <a:solidFill>
                  <a:srgbClr val="B4BAAE"/>
                </a:solidFill>
                <a:latin typeface="Aptos"/>
              </a:defRPr>
            </a:pPr>
            <a:r>
              <a:t>The executor returns a structured cancelled result instead of raising, preserving already-completed tool evidence, Exec Report data, and Create Flow inputs without triggering a fabricated transient-error fallback.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Self-healing consults the same latch before retries, after watchdog waits, and before tactic announcements, so no new recovery tactic can be emitted once the operator cancels.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APPROVAL, RECOVERY, FRONTEND, AND REGRESSION COVERAGE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Hard Cancel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No resurrection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Ask Execs polls the run latch and resolves a blocked Proceed/Deny request as deny; consumer teardown revokes the exact status emitter so a dying run cannot re-arm the UI.</a:t>
            </a:r>
          </a:p>
          <a:p>
            <a:pPr>
              <a:spcAft>
                <a:spcPts val="400"/>
              </a:spcAft>
              <a:defRPr sz="1100">
                <a:solidFill>
                  <a:srgbClr val="B4BAAE"/>
                </a:solidFill>
                <a:latin typeface="Aptos"/>
              </a:defRPr>
            </a:pPr>
            <a:r>
              <a:t>Frontend `userCancelledRun` is mutable per-session state: late tactic frames become strict no-ops until the next submit/reconnect, preventing the Send button from flipping back to Cancel.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Coverage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Coverage includes 24 cancellation contract tests, focused Ask-Execs/self-healing tests, and visible browser regression harnesses for long tool chains, model steps, repeated cancels, next-request recovery, and approval-modal cancellation.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V1.41.0 - PASTE OR DROP AN IMAGE PATH INTO THE PROMPT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Screenshot To Chat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Ingestion path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chat accepts clipboard bitmaps through document-level Ctrl+V handling and image files dropped only onto the main chat column, avoiding conflict with the External-MCP dialog's document-level JSON drop surface.</a:t>
            </a:r>
          </a:p>
          <a:p>
            <a:pPr>
              <a:spcAft>
                <a:spcPts val="400"/>
              </a:spcAft>
              <a:defRPr sz="1000">
                <a:solidFill>
                  <a:srgbClr val="B4BAAE"/>
                </a:solidFill>
                <a:latin typeface="Aptos"/>
              </a:defRPr>
            </a:pPr>
            <a:r>
              <a:t>`POST /agent/paste_image/` validates the request, enforces a 25 MB ceiling, uses Pillow to flatten transparency onto white, re-encodes to JPEG, and writes a collision-safe `image_&lt;timestamp&gt;.jpg` under Tlamatini's guarded Temp directory.</a:t>
            </a:r>
          </a:p>
          <a:p>
            <a:pPr>
              <a:spcAft>
                <a:spcPts val="400"/>
              </a:spcAft>
              <a:defRPr sz="1000">
                <a:solidFill>
                  <a:srgbClr val="B4BAAE"/>
                </a:solidFill>
                <a:latin typeface="Aptos"/>
              </a:defRPr>
            </a:pPr>
            <a:r>
              <a:t>The browser inserts the saved absolute path at the remembered caret, including after focus moves to the page body during Alt+Tab, then renders one removable thumbnail chip per image.</a:t>
            </a:r>
          </a:p>
          <a:p>
            <a:pPr>
              <a:spcAft>
                <a:spcPts val="400"/>
              </a:spcAft>
              <a:defRPr sz="1000">
                <a:solidFill>
                  <a:srgbClr val="B4BAAE"/>
                </a:solidFill>
                <a:latin typeface="Aptos"/>
              </a:defRPr>
            </a:pPr>
            <a:r>
              <a:t>Removing a chip removes both its thumbnail and its exact path from the message, so an accidental paste can be reversed before submission.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Reversible input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path is the integration contract: Image-Interpreter reads local files, and `prompt.pmt` teaches Tlamatini to treat a fresh Temp image path as the user's supplied screenshot instead of asking for another attachment.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VISION HANDOFF, LAYOUT SAFETY, AND IMPLEMENTATION ASSETS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Image Ingestion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Vision and layout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`computeFormMinHeight()` measures the chips row and a ResizeObserver watches it, preventing the new row from pushing the textarea or Send button beyond the viewport.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Concrete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Implementation assets include `chat_image_paste.js`, the paste view/URL, template chip/drop-overlay nodes, `.chat-img-*` CSS, layout integration, self-knowledge/prompt guidance, and Temp-policy regression coverage.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V1.40.1 — ESCAPE RESERVED PORT 8000 WITHOUT REBUILDING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Configurable Web 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Why and where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`django_port` moves the web UI and chat WebSocket bind away from a hardcoded 8000: edit the integer in `config.json`, restart Tlamatini, and no rebuild or source edit is required.</a:t>
            </a:r>
          </a:p>
          <a:p>
            <a:pPr>
              <a:spcAft>
                <a:spcPts val="400"/>
              </a:spcAft>
              <a:defRPr sz="1000">
                <a:solidFill>
                  <a:srgbClr val="B4BAAE"/>
                </a:solidFill>
                <a:latin typeface="Aptos"/>
              </a:defRPr>
            </a:pPr>
            <a:r>
              <a:t>The motivating failure is Windows `WinError 10013`: Hyper-V, WSL, or Docker can reserve port 8000 inside a dynamic exclusion range, making a frozen build unable to bind until the port is changed.</a:t>
            </a:r>
          </a:p>
          <a:p>
            <a:pPr>
              <a:spcAft>
                <a:spcPts val="400"/>
              </a:spcAft>
              <a:defRPr sz="1000">
                <a:solidFill>
                  <a:srgbClr val="B4BAAE"/>
                </a:solidFill>
                <a:latin typeface="Aptos"/>
              </a:defRPr>
            </a:pPr>
            <a:r>
              <a:t>Three stdlib-only helpers run before Django imports: `_resolve_config_path()` chooses `CONFIG_PATH`, the frozen executable's neighbor, or source `agent/config.json`; `_resolve_django_port()` validates `1..65535`; `_apply_configured_port()` injects the result.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Every manage.py launch path</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completion pass calls `_apply_configured_port(sys.argv)` once from `main()`, outside the frozen branch, so frozen double-click, `.flw` association, browser auto-open, source `runserver`, and `startserver` all agree.</a:t>
            </a:r>
          </a:p>
          <a:p>
            <a:pPr>
              <a:spcAft>
                <a:spcPts val="400"/>
              </a:spcAft>
              <a:defRPr sz="1100">
                <a:solidFill>
                  <a:srgbClr val="B4BAAE"/>
                </a:solidFill>
                <a:latin typeface="Aptos"/>
              </a:defRPr>
            </a:pPr>
            <a:r>
              <a:t>Resolution is fail-open to 8000 for missing, unreadable, malformed, non-numeric, or out-of-range values, while an explicit CLI port such as `runserver 9100` always wins and is never double-appended.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FAIL-OPEN RESOLUTION, CLI PRECEDENCE, AND FOCUSED COVERAGE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Web Port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Deliberate boundaries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injected source-mode value is a bare port so Django keeps its loopback host; direct Daphne/Uvicorn bypasses `manage.py`, MCP listeners `8765`/`50051` use their own settings, and TeleTlamatini keeps its own base URL.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Regression contract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24-test `agent/test_django_port_config.py` suite AST-lifts the pre-Django helpers and pins path resolution, validation, fail-open behavior, CLI precedence, frozen/source wiring, and `startserver` forwarding without importing side-effectful `manage.py`.</a:t>
            </a:r>
          </a:p>
          <a:p>
            <a:pPr>
              <a:spcAft>
                <a:spcPts val="400"/>
              </a:spcAft>
              <a:defRPr sz="1200">
                <a:solidFill>
                  <a:srgbClr val="B4BAAE"/>
                </a:solidFill>
                <a:latin typeface="Aptos"/>
              </a:defRPr>
            </a:pPr>
            <a:r>
              <a:t>`freeingport8000.ps1` is a separate elevated Windows repair helper that resets dynamic TCP/UDP ranges, restarts WinNAT, reports excluded ranges, and performs a loopback bind test; changing `django_port` remains the safer normal remedy, and generated docs never reproduce the script's machine-specific log path.</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V1.40.0 — FIND AGENT TEMPLATES WITHOUT PYTHON OR DRIVE SCANS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FlowPills Companion Discovery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Lookup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Tlamatini-FlowPills reads `HKCU\Software\XAIHT\Tlamatini` first, especially the exact `AgentsRoot`, before falling back to Installed Apps, `.flw` association data, executable-relative roots, or source/preserved probes.</a:t>
            </a:r>
          </a:p>
          <a:p>
            <a:pPr>
              <a:spcAft>
                <a:spcPts val="400"/>
              </a:spcAft>
              <a:defRPr sz="1000">
                <a:solidFill>
                  <a:srgbClr val="B4BAAE"/>
                </a:solidFill>
                <a:latin typeface="Aptos"/>
              </a:defRPr>
            </a:pPr>
            <a:r>
              <a:t>The registry contract always rewrites six REG_SZ values — `InstallLocation`, `AgentsRoot`, `SourceAgentsRoot`, `AgentManifestPath`, `Version`, and `AgentCatalogVersion` — using an empty value when something is unknown so stale metadata cannot survive across source and frozen runs.</a:t>
            </a:r>
          </a:p>
          <a:p>
            <a:pPr>
              <a:spcAft>
                <a:spcPts val="400"/>
              </a:spcAft>
              <a:defRPr sz="1000">
                <a:solidFill>
                  <a:srgbClr val="B4BAAE"/>
                </a:solidFill>
                <a:latin typeface="Aptos"/>
              </a:defRPr>
            </a:pPr>
            <a:r>
              <a:t>`agent_manifest.py` discovers only complete templates, excludes `pools` and `__pycache__`, hashes script/config contents, computes a name-set catalog id, and writes atomically only when meaningful data changed.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Publication and preservation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Launch publication runs first in `AgentConfig.ready()` on a daemon thread with its own idempotency gate, so optional MCP, model, ACPX, or skill import failures cannot suppress companion discovery.</a:t>
            </a:r>
          </a:p>
          <a:p>
            <a:pPr>
              <a:spcAft>
                <a:spcPts val="400"/>
              </a:spcAft>
              <a:defRPr sz="1000">
                <a:solidFill>
                  <a:srgbClr val="B4BAAE"/>
                </a:solidFill>
                <a:latin typeface="Aptos"/>
              </a:defRPr>
            </a:pPr>
            <a:r>
              <a:t>An agents-preserving uninstall restamps the manifest as `preserved`, writes `.tlamatini-preserved-agents.json` with the manifest SHA-256, and keeps the discovery key pointing to the preserved catalog.</a:t>
            </a:r>
          </a:p>
          <a:p>
            <a:pPr>
              <a:spcAft>
                <a:spcPts val="400"/>
              </a:spcAft>
              <a:defRPr sz="1000">
                <a:solidFill>
                  <a:srgbClr val="B4BAAE"/>
                </a:solidFill>
                <a:latin typeface="Aptos"/>
              </a:defRPr>
            </a:pPr>
            <a:r>
              <a:t>The contract is HKCU-only, no-admin, fail-open, and read-only with respect to agent templates; the filesystem remains the final validity authority for companion applications.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V1.39.5 — TWO PROMPT FIELDS TO A READY-TO-BUILD C++ PROJECT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Unreal 5.8 Project Scaffold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Deterministic scaffold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new Unreal scaffold prompt asks for only project name and destination, locates or obtains `XaihtUnrealEngineMCP`, and invokes its deterministic `scaffold_unreal_project.py` helper.</a:t>
            </a:r>
          </a:p>
          <a:p>
            <a:pPr>
              <a:spcAft>
                <a:spcPts val="400"/>
              </a:spcAft>
              <a:defRPr sz="1000">
                <a:solidFill>
                  <a:srgbClr val="B4BAAE"/>
                </a:solidFill>
                <a:latin typeface="Aptos"/>
              </a:defRPr>
            </a:pPr>
            <a:r>
              <a:t>The scaffold copies and renames `MCPGameProject`, sets EngineAssociation 5.8, finds an installed UE 5.8 even when it is not registered, bundles UnrealMCP, and generates the Visual Studio 2026 solution.</a:t>
            </a:r>
          </a:p>
          <a:p>
            <a:pPr>
              <a:spcAft>
                <a:spcPts val="400"/>
              </a:spcAft>
              <a:defRPr sz="1000">
                <a:solidFill>
                  <a:srgbClr val="B4BAAE"/>
                </a:solidFill>
                <a:latin typeface="Aptos"/>
              </a:defRPr>
            </a:pPr>
            <a:r>
              <a:t>UE 5.8 build compatibility is explicit: V7 build settings, `Unreal5_8` include order, a `Directory.Build.targets` mitigation for the Windows environment-length limit, and a pre-fixed Visual Studio Tools plugin.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Build and editor handoff</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prompt instructs operators to build the project target rather than the entire solution, then open the editor; UnrealMCP starts its TCP listener at `127.0.0.1:55557` for Unrealer.</a:t>
            </a:r>
          </a:p>
          <a:p>
            <a:pPr>
              <a:spcAft>
                <a:spcPts val="400"/>
              </a:spcAft>
              <a:defRPr sz="1000">
                <a:solidFill>
                  <a:srgbClr val="B4BAAE"/>
                </a:solidFill>
                <a:latin typeface="Aptos"/>
              </a:defRPr>
            </a:pPr>
            <a:r>
              <a:t>Unrealer normalizes disk-style `/Content` references to `/Game`, maps the friendly material `slot` input to `slot_index`, and forwards one command per TCP connection into the live editor.</a:t>
            </a:r>
          </a:p>
          <a:p>
            <a:pPr>
              <a:spcAft>
                <a:spcPts val="400"/>
              </a:spcAft>
              <a:defRPr sz="1000">
                <a:solidFill>
                  <a:srgbClr val="B4BAAE"/>
                </a:solidFill>
                <a:latin typeface="Aptos"/>
              </a:defRPr>
            </a:pPr>
            <a:r>
              <a:t>Migrations `0173` and `0174`, Unrealer code/config comments, README/Book entries, and the current release metadata carry the scaffold workflow across source, catalog, and operator documentation.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BOUNDED WAITS, ACCURATE PARTIAL RESULTS, AND REQUEST ISOLATION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v1.39.5 Runtime Hardening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Responsiveness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`v1.39.5` smoothness wave focuses on bounded waits, concurrency isolation, accurate partial-result reporting, and lossless final answers rather than a new agent count.</a:t>
            </a:r>
          </a:p>
          <a:p>
            <a:pPr>
              <a:spcAft>
                <a:spcPts val="400"/>
              </a:spcAft>
              <a:defRPr sz="1000">
                <a:solidFill>
                  <a:srgbClr val="B4BAAE"/>
                </a:solidFill>
                <a:latin typeface="Aptos"/>
              </a:defRPr>
            </a:pPr>
            <a:r>
              <a:t>Image-Interpreter now bounds Ollama connect/read gaps; the System-Metrics WebSocket bounds receive time; External MCP warm-connect/supervisor gates recover if thread start fails; and command/ACPX output decoding is UTF-8-safe.</a:t>
            </a:r>
          </a:p>
          <a:p>
            <a:pPr>
              <a:spcAft>
                <a:spcPts val="400"/>
              </a:spcAft>
              <a:defRPr sz="1000">
                <a:solidFill>
                  <a:srgbClr val="B4BAAE"/>
                </a:solidFill>
                <a:latin typeface="Aptos"/>
              </a:defRPr>
            </a:pPr>
            <a:r>
              <a:t>Nmapper assigns per-host budgets to slow actions, keeps the outer kill budget above them, preserves partial output, uses collision-proof filenames for parallel scans, and labels hard timeouts honestly.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Safety and result integrity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Multi-Turn folds deferred completion deliverables into every exit path, while orphan-survivor state is keyed by conversation user so simultaneous requests cannot consume or clear each other's evidence.</a:t>
            </a:r>
          </a:p>
          <a:p>
            <a:pPr>
              <a:spcAft>
                <a:spcPts val="400"/>
              </a:spcAft>
              <a:defRPr sz="1000">
                <a:solidFill>
                  <a:srgbClr val="B4BAAE"/>
                </a:solidFill>
                <a:latin typeface="Aptos"/>
              </a:defRPr>
            </a:pPr>
            <a:r>
              <a:t>`.flw` export redaction covers ordinary secret paths and URI userinfo, and the command parser distinguishes Windows trailing backslashes from escaped inner quotes at assignment boundaries.</a:t>
            </a:r>
          </a:p>
          <a:p>
            <a:pPr>
              <a:spcAft>
                <a:spcPts val="400"/>
              </a:spcAft>
              <a:defRPr sz="1000">
                <a:solidFill>
                  <a:srgbClr val="B4BAAE"/>
                </a:solidFill>
                <a:latin typeface="Aptos"/>
              </a:defRPr>
            </a:pPr>
            <a:r>
              <a:t>These changes are now committed release behavior; the user's pre-refresh uncommitted configuration values remain private and are not quoted in this dossier.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USE-ONLY NMAP BRIDGE FOR AUTHORIZED TARGETS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Nmapper Local Recon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Nmapper is the `v1.39.3` local nmap bridge for authorized pentesting and CTF recon: it is a use-only integration, not a bundled scanner.</a:t>
            </a:r>
          </a:p>
          <a:p>
            <a:pPr>
              <a:spcAft>
                <a:spcPts val="400"/>
              </a:spcAft>
              <a:defRPr sz="1000">
                <a:solidFill>
                  <a:srgbClr val="B4BAAE"/>
                </a:solidFill>
                <a:latin typeface="Aptos"/>
              </a:defRPr>
            </a:pPr>
            <a:r>
              <a:t>The agent never ships or redistributes nmap; it resolves a user-installed `nmap` from explicit config, PATH, Program Files, or `%LOCALAPPDATA%`, and its `install` action launches the official free installer path.</a:t>
            </a:r>
          </a:p>
          <a:p>
            <a:pPr>
              <a:spcAft>
                <a:spcPts val="400"/>
              </a:spcAft>
              <a:defRPr sz="1000">
                <a:solidFill>
                  <a:srgbClr val="B4BAAE"/>
                </a:solidFill>
                <a:latin typeface="Aptos"/>
              </a:defRPr>
            </a:pPr>
            <a:r>
              <a:t>The default scan path is an unprivileged TCP connect scan (`-sT`), while raw-packet features such as SYN/OS/UDP are downgraded or refused safely when Npcap or elevated packet capture is unavailable.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Actions and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Supported actions include `quick`, `full`, `top_ports`, `version`, `scripts`, `host_discovery`, `udp`, `custom`, `validate`, and `install`, always for targets the operator owns or is explicitly authorized to assess.</a:t>
            </a:r>
          </a:p>
          <a:p>
            <a:pPr>
              <a:spcAft>
                <a:spcPts val="400"/>
              </a:spcAft>
              <a:defRPr sz="1000">
                <a:solidFill>
                  <a:srgbClr val="B4BAAE"/>
                </a:solidFill>
                <a:latin typeface="Aptos"/>
              </a:defRPr>
            </a:pPr>
            <a:r>
              <a:t>Each run emits one atomic `INI_SECTION_NMAPPER` block with action, target, scan technique, ports, return code, success state, hosts-up/open-port summaries, Npcap state, XML path/content, normal output, and stage.</a:t>
            </a:r>
          </a:p>
          <a:p>
            <a:pPr>
              <a:spcAft>
                <a:spcPts val="400"/>
              </a:spcAft>
              <a:defRPr sz="1000">
                <a:solidFill>
                  <a:srgbClr val="B4BAAE"/>
                </a:solidFill>
                <a:latin typeface="Aptos"/>
              </a:defRPr>
            </a:pPr>
            <a:r>
              <a:t>Implementation assets include `agent/agents/nmapper/`, migrations `0170`-`0172`, `test_nmapper_agent.py`, `chat_agent_nmapper`, `update_nmapper_connection`, contracts/Parametrizer fields, ACP connector assets, FlowCreator/FlowHypervisor entries, and handbook/docs updates.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V1.39.4 CLOSEABILITY PLUS CURRENT PROMPT LOCALIZATION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Startup And Prompt Polish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Startup dialog</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`v1.39.4` restored first-run/startup dialog closeability so a fresh launch can no longer be trapped behind an unclosable overlay.</a:t>
            </a:r>
          </a:p>
          <a:p>
            <a:pPr>
              <a:spcAft>
                <a:spcPts val="400"/>
              </a:spcAft>
              <a:defRPr sz="1200">
                <a:solidFill>
                  <a:srgbClr val="B4BAAE"/>
                </a:solidFill>
                <a:latin typeface="Aptos"/>
              </a:defRPr>
            </a:pPr>
            <a:r>
              <a:t>Commit `a45fe0e0` followed the public `v1.39.4` tag with Catalog-of-Prompts localization cleanup; that historical polish remains carried by current `v1.46.0`.</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 catalog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prompt catalog path stays centralized through the secure one-call `/agent/list_prompts/` endpoint ordered by category rank and stable surviving id, while the gap-tolerant probe loop remains only as an offline fallback.</a:t>
            </a:r>
          </a:p>
          <a:p>
            <a:pPr>
              <a:spcAft>
                <a:spcPts val="400"/>
              </a:spcAft>
              <a:defRPr sz="1200">
                <a:solidFill>
                  <a:srgbClr val="B4BAAE"/>
                </a:solidFill>
                <a:latin typeface="Aptos"/>
              </a:defRPr>
            </a:pPr>
            <a:r>
              <a:t>Frontend mutable-state tests and dialog templates continue to guard the chat/startup/overlay surfaces so future cleanup passes do not reintroduce const-poison or close-button regressions.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V1.38.0 — FROM BLANK PAGE TO OBSERVED HARDWARE BEHAVIOR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Robotic Loop Closed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Closed-loop chain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`v1.38.0` is the milestone where the Robotic-Loop-Training story became concrete: Tlamatini demonstrated a closed hardware loop by programming a robotic arm from a blank page and two cameras.</a:t>
            </a:r>
          </a:p>
          <a:p>
            <a:pPr>
              <a:spcAft>
                <a:spcPts val="400"/>
              </a:spcAft>
              <a:defRPr sz="1200">
                <a:solidFill>
                  <a:srgbClr val="B4BAAE"/>
                </a:solidFill>
                <a:latin typeface="Aptos"/>
              </a:defRPr>
            </a:pPr>
            <a:r>
              <a:t>The loop is intentionally composable rather than one monolith: STM32er writes/builds/flashes firmware, Camcorder records the physical attempt, Video-Analyzer judges the captured motion, and Forker routes the next branch.</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Verdict safety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Video-Analyzer keeps the loop conservative: a deterministic OpenCV gate rejects no-motion clips before model spending, then two independent Ollama cloud vision interpreters must agree before `PASS_OK` is emitted.</a:t>
            </a:r>
          </a:p>
          <a:p>
            <a:pPr>
              <a:spcAft>
                <a:spcPts val="400"/>
              </a:spcAft>
              <a:defRPr sz="1100">
                <a:solidFill>
                  <a:srgbClr val="B4BAAE"/>
                </a:solidFill>
                <a:latin typeface="Aptos"/>
              </a:defRPr>
            </a:pPr>
            <a:r>
              <a:t>Forker branches on substring-safe `TLM_VERDICT::&lt;TOKEN&gt;` markers, so `FAIL_NO_MOTION`, `FAIL_WRONG_MOTION`, `UNCLEAR`, or `ANALYSIS_ERROR` can never accidentally match the success route.</a:t>
            </a:r>
          </a:p>
          <a:p>
            <a:pPr>
              <a:spcAft>
                <a:spcPts val="400"/>
              </a:spcAft>
              <a:defRPr sz="1100">
                <a:solidFill>
                  <a:srgbClr val="B4BAAE"/>
                </a:solidFill>
                <a:latin typeface="Aptos"/>
              </a:defRPr>
            </a:pPr>
            <a:r>
              <a:t>The PDF and PPTX now describe that loop as a system capability, not merely a release-note flourish, because it explains how Tlamatini can iteratively improve real hardware with observed evidence.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MUTABLE-STATE RECOVERY AND ONE-CALL PROMPT CATALOG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v1.38.1 Frontend Hotfix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Const-poison recovery</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`v1.38.1` was the same-week frontend-state-recovery hotfix: `package.json` was aligned at the tagged commit `08efa1d2`, while the functional fix landed in `af356c31` after the `85ee4e6c` const-poison incident.</a:t>
            </a:r>
          </a:p>
          <a:p>
            <a:pPr>
              <a:spcAft>
                <a:spcPts val="400"/>
              </a:spcAft>
              <a:defRPr sz="1100">
                <a:solidFill>
                  <a:srgbClr val="B4BAAE"/>
                </a:solidFill>
                <a:latin typeface="Aptos"/>
              </a:defRPr>
            </a:pPr>
            <a:r>
              <a:t>The core contract is explicit: cross-file runtime globals in `agent_page_state.js` and `acp-globals.js` that other modules reassign must remain `let`, because per-file ESLint cannot see those cross-file writes.</a:t>
            </a:r>
          </a:p>
          <a:p>
            <a:pPr>
              <a:spcAft>
                <a:spcPts val="400"/>
              </a:spcAft>
              <a:defRPr sz="1100">
                <a:solidFill>
                  <a:srgbClr val="B4BAAE"/>
                </a:solidFill>
                <a:latin typeface="Aptos"/>
              </a:defRPr>
            </a:pPr>
            <a:r>
              <a:t>`agent/test_frontend_mutable_state.py` now guards both source files and collected staticfiles so an automated cleanup cannot silently turn chat state, ACP state, tools, agents, skills, history, or busy flags back into `const`.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 catalog path</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Catalog of Prompts now loads through one secure `GET /agent/list_prompts/` endpoint ordered by `idPrompt`, eliminating expected-404 console spam and preventing an `idPrompt` gap from hiding later prompts.</a:t>
            </a:r>
          </a:p>
          <a:p>
            <a:pPr>
              <a:spcAft>
                <a:spcPts val="400"/>
              </a:spcAft>
              <a:defRPr sz="1200">
                <a:solidFill>
                  <a:srgbClr val="B4BAAE"/>
                </a:solidFill>
                <a:latin typeface="Aptos"/>
              </a:defRPr>
            </a:pPr>
            <a:r>
              <a:t>The legacy prompt probe loop remains as an offline fallback, and the same fix also hardened dialogs: Configure-Mcps probe loops exit cleanly, About-video `play()` promises are guarded, and Esc closes About/Update overlays.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WATCHDOG-BOUNDED MODEL STEPS AND TRUTHFUL RECOVERY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Self-Healing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Recovery loop</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Every Multi-Turn model step now goes through `agent/self_healing.py::SelfHealingInvoker`, so model calls are bounded by `unified_agent_llm_step_timeout_seconds` and retried with distinct tactics instead of hanging silently.</a:t>
            </a:r>
          </a:p>
          <a:p>
            <a:pPr>
              <a:spcAft>
                <a:spcPts val="400"/>
              </a:spcAft>
              <a:defRPr sz="1200">
                <a:solidFill>
                  <a:srgbClr val="B4BAAE"/>
                </a:solidFill>
                <a:latin typeface="Aptos"/>
              </a:defRPr>
            </a:pPr>
            <a:r>
              <a:t>Recovery tactics include plain retry, short back-off, trimming oldest messages with `trim_messages`, and a tool-less summary fallback; the ladder can run up to `unified_agent_llm_step_max_tactics` unless the user presses Cancel.</a:t>
            </a:r>
          </a:p>
          <a:p>
            <a:pPr>
              <a:spcAft>
                <a:spcPts val="400"/>
              </a:spcAft>
              <a:defRPr sz="1200">
                <a:solidFill>
                  <a:srgbClr val="B4BAAE"/>
                </a:solidFill>
                <a:latin typeface="Aptos"/>
              </a:defRPr>
            </a:pPr>
            <a:r>
              <a:t>A status broadcaster registered by `consumers.py` sends live first-person recovery messages to the user's chat while the executor works in a worker thread.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recovery is exhausted after agents already ran, `mcp_agent.py` builds a degraded but truthful answer from real `ToolMessage` results, preserves Exec Report/Create Flow evidence, and prepends `recovery_preamble(...)` instead of claiming no tools ran.</a:t>
            </a:r>
          </a:p>
          <a:p>
            <a:pPr>
              <a:spcAft>
                <a:spcPts val="400"/>
              </a:spcAft>
              <a:defRPr sz="1200">
                <a:solidFill>
                  <a:srgbClr val="B4BAAE"/>
                </a:solidFill>
                <a:latin typeface="Aptos"/>
              </a:defRPr>
            </a:pPr>
            <a:r>
              <a:t>Coverage includes `agent/test_self_healing.py`, `agent/tests.py`, `Tlamatini/tests_e2e/test_self_healing_visual.py`, and `Tlamatini/tests_e2e/test_create_flow_visual.py` for visible browser validation.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SUCCESSFUL-ONLY FLOWS WITHOUT ANSWER_SUCCESS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Create Flow Gate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whole-answer SUCCESS/FAILURE classifier `agent/services/answer_analizer.py` was removed on 2026-07-06, so no extra LLM round trip computes `answer_success`.</a:t>
            </a:r>
          </a:p>
          <a:p>
            <a:pPr>
              <a:spcAft>
                <a:spcPts val="400"/>
              </a:spcAft>
              <a:defRPr sz="1300">
                <a:solidFill>
                  <a:srgbClr val="B4BAAE"/>
                </a:solidFill>
                <a:latin typeface="Aptos"/>
              </a:defRPr>
            </a:pPr>
            <a:r>
              <a:t>The browser now shows Create Flow when Multi-Turn ran, at least one successful tool call resolves to a registered canvas agent, and the user is not anonymous.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Successful tool calls are resolved through a punctuation/space/case-insensitive registry key, so display names such as `File Creator`, `File-Creator`, and `filecreator` converge to the live Agents sidebar entry.</a:t>
            </a:r>
          </a:p>
          <a:p>
            <a:pPr>
              <a:spcAft>
                <a:spcPts val="400"/>
              </a:spcAft>
              <a:defRPr sz="1100">
                <a:solidFill>
                  <a:srgbClr val="B4BAAE"/>
                </a:solidFill>
                <a:latin typeface="Aptos"/>
              </a:defRPr>
            </a:pPr>
            <a:r>
              <a:t>Generated `.flw` downloads keep only successful, resolvable tool-call entries, post a successful-only `tool_calls_log` to `/agent/flow_from_tool_calls/`, and drop failed or unregistered executions rather than turning them into broken workflow nodes.</a:t>
            </a:r>
          </a:p>
          <a:p>
            <a:pPr>
              <a:spcAft>
                <a:spcPts val="400"/>
              </a:spcAft>
              <a:defRPr sz="1100">
                <a:solidFill>
                  <a:srgbClr val="B4BAAE"/>
                </a:solidFill>
                <a:latin typeface="Aptos"/>
              </a:defRPr>
            </a:pPr>
            <a:r>
              <a:t>If the registry cannot load, the frontend fails open: the button stays available and the backend flow normalizer remains the final validation layer.</a:t>
            </a:r>
          </a:p>
          <a:p>
            <a:pPr>
              <a:spcAft>
                <a:spcPts val="400"/>
              </a:spcAft>
              <a:defRPr sz="1100">
                <a:solidFill>
                  <a:srgbClr val="B4BAAE"/>
                </a:solidFill>
                <a:latin typeface="Aptos"/>
              </a:defRPr>
            </a:pPr>
            <a:r>
              <a:t>Exec Report remains per-tool evidence, not a whole-answer verdict; the checkbox is disabled/greyed unless Multi-Turn is checked.</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STATUS FRAMES STAY BUSY UNTIL THE REAL FINAL ANSWER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Frontend Recovery Controls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Self-healing status frames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`agent_page_chat.js::appendChatMessage()` now has a self-healing status branch before the final-answer branch, so status frames render without calling `enableControlsAfterOperation()`.</a:t>
            </a:r>
          </a:p>
          <a:p>
            <a:pPr>
              <a:spcAft>
                <a:spcPts val="400"/>
              </a:spcAft>
              <a:defRPr sz="1000">
                <a:solidFill>
                  <a:srgbClr val="B4BAAE"/>
                </a:solidFill>
                <a:latin typeface="Aptos"/>
              </a:defRPr>
            </a:pPr>
            <a:r>
              <a:t>`disableControlsDuringOperation()` is re-applied idempotently for each live tactic status line, preserving the user's Cancel button while the worker thread continues.</a:t>
            </a:r>
          </a:p>
          <a:p>
            <a:pPr>
              <a:spcAft>
                <a:spcPts val="400"/>
              </a:spcAft>
              <a:defRPr sz="1000">
                <a:solidFill>
                  <a:srgbClr val="B4BAAE"/>
                </a:solidFill>
                <a:latin typeface="Aptos"/>
              </a:defRPr>
            </a:pPr>
            <a:r>
              <a:t>`agent_page_ui.js::isSelfHealingStatusMessage()` strips leading icons/symbols and then anchors on `Tactic #` / `Tactic '`, matching standalone status frames but not the final recovery summary.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Create Flow name resolution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Create Flow validation now uses `_resolveSuccessfulAgents()`, `_agentNameKey()`, and `_buildRegistryKeyMap()` to normalize display names against the live registry and skip only unresolved successful entries.</a:t>
            </a:r>
          </a:p>
          <a:p>
            <a:pPr>
              <a:spcAft>
                <a:spcPts val="400"/>
              </a:spcAft>
              <a:defRPr sz="1000">
                <a:solidFill>
                  <a:srgbClr val="B4BAAE"/>
                </a:solidFill>
                <a:latin typeface="Aptos"/>
              </a:defRPr>
            </a:pPr>
            <a:r>
              <a:t>`eslint.config.mjs` declares `isSelfHealingStatusMessage` as a global, while `docs/claude/frontend.md`, `docs/claude/multi-turn.md`, and `docs/claude/recent-fixes.md` document the gotcha and the no-substring rule.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PROJECTDISCOVERY KEY WITHOUT PROMPT-PASTED SECRETS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Discoverer PDCP Wiring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Configuration path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Discoverer now has an optional ProjectDiscovery Cloud Platform key (`pdcp_api_key` / `PDCP_API_KEY`) for cvemap/vulnx rate limits and nuclei `-ai` or cloud upload features.</a:t>
            </a:r>
          </a:p>
          <a:p>
            <a:pPr>
              <a:spcAft>
                <a:spcPts val="400"/>
              </a:spcAft>
              <a:defRPr sz="1100">
                <a:solidFill>
                  <a:srgbClr val="B4BAAE"/>
                </a:solidFill>
                <a:latin typeface="Aptos"/>
              </a:defRPr>
            </a:pPr>
            <a:r>
              <a:t>Config -&gt; Access Keys Wizard exposes `Security Recon (ProjectDiscovery)`, writes the key to `config.json`, `data.keys`, and `agent/agents/discoverer/config.yaml`, and blank fields preserve existing values.</a:t>
            </a:r>
          </a:p>
          <a:p>
            <a:pPr>
              <a:spcAft>
                <a:spcPts val="400"/>
              </a:spcAft>
              <a:defRPr sz="1100">
                <a:solidFill>
                  <a:srgbClr val="B4BAAE"/>
                </a:solidFill>
                <a:latin typeface="Aptos"/>
              </a:defRPr>
            </a:pPr>
            <a:r>
              <a:t>`tools._seed_global_agent_defaults` auto-injects the configured key into every `chat_agent_discoverer` run so prompts never paste the credential.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Redaction and prompt seed</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`agent_contracts.py` redacts `pdcp_api_key` from `.flw` exports, and `regen_secrets.py` scrubs it back to `PDCP_API_KEY` before a push-able tree.</a:t>
            </a:r>
          </a:p>
          <a:p>
            <a:pPr>
              <a:spcAft>
                <a:spcPts val="400"/>
              </a:spcAft>
              <a:defRPr sz="1100">
                <a:solidFill>
                  <a:srgbClr val="B4BAAE"/>
                </a:solidFill>
                <a:latin typeface="Aptos"/>
              </a:defRPr>
            </a:pPr>
            <a:r>
              <a:t>The new `0169_add_discoverer_cvemap_latest_demo_prompt.py` migration seeds a passive latest-CVE briefing prompt that uses cvemap/vulnx and reports whether `pdcp_used` was active.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CURRENT CVE SEARCH PLUS SOURCE-CONTROL PROTECTION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Discoverer Vulnx And Go Guard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vulnx CVE lane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ProjectDiscovery retired cvemap's CVE API in August 2025, so Tlamatini keeps the operator-facing `cvemap` tool key but installs and runs ProjectDiscovery's successor binary, `vulnx`.</a:t>
            </a:r>
          </a:p>
          <a:p>
            <a:pPr>
              <a:spcAft>
                <a:spcPts val="400"/>
              </a:spcAft>
              <a:defRPr sz="1000">
                <a:solidFill>
                  <a:srgbClr val="B4BAAE"/>
                </a:solidFill>
                <a:latin typeface="Aptos"/>
              </a:defRPr>
            </a:pPr>
            <a:r>
              <a:t>`discoverer.py` now maps `cvemap` to `github.com/projectdiscovery/cvemap/cmd/vulnx@latest`, resolves the installed binary as `vulnx`, and builds `vulnx id &lt;CVE&gt;` or `vulnx search --severity ... --product ... --limit ...` arguments.</a:t>
            </a:r>
          </a:p>
          <a:p>
            <a:pPr>
              <a:spcAft>
                <a:spcPts val="400"/>
              </a:spcAft>
              <a:defRPr sz="1000">
                <a:solidFill>
                  <a:srgbClr val="B4BAAE"/>
                </a:solidFill>
                <a:latin typeface="Aptos"/>
              </a:defRPr>
            </a:pPr>
            <a:r>
              <a:t>The findings counter now understands vulnx object JSON such as `{"count": N, "results": [...]}`, so Exec Report and Forker routing see the real result count instead of a misleading one-line object.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Go-deny guard</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private Go compiler and ProjectDiscovery tool binaries still install under `&lt;install_dir&gt;/Go` / `&lt;install_dir&gt;/Go/bin-tools`, keeping the runtime self-contained and avoiding any system Go or PATH mutation.</a:t>
            </a:r>
          </a:p>
          <a:p>
            <a:pPr>
              <a:spcAft>
                <a:spcPts val="400"/>
              </a:spcAft>
              <a:defRPr sz="1000">
                <a:solidFill>
                  <a:srgbClr val="B4BAAE"/>
                </a:solidFill>
                <a:latin typeface="Aptos"/>
              </a:defRPr>
            </a:pPr>
            <a:r>
              <a:t>The `.gitignore` Go-deny block, tracked `git_deny_go.py`, and its managed pre-commit hook prevent `Go/`, `bin-tools/`, `go-build/`, `pkg/mod/`, and downloaded Go archives from entering source control; ignored `Go/` content is not counted as project code.</a:t>
            </a:r>
          </a:p>
          <a:p>
            <a:pPr>
              <a:spcAft>
                <a:spcPts val="400"/>
              </a:spcAft>
              <a:defRPr sz="1000">
                <a:solidFill>
                  <a:srgbClr val="B4BAAE"/>
                </a:solidFill>
                <a:latin typeface="Aptos"/>
              </a:defRPr>
            </a:pPr>
            <a:r>
              <a:t>The committed asset wave also includes `0169_add_discoverer_cvemap_latest_demo_prompt.py`, `.claude/skills/tlamatini-daily-chat-test/harness/discoverer_1000.py`, and `Tlamatini/agent/test_discoverer_thousand.py` for latest-CVE and high-volume Discoverer validation.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VIDEO-ANALYZER, PROMPTS, AND GENERATED WORKFLOW LAYOUT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v1.36.0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Release identity: current public tag `v1.46.0` at `6207181f`, with local and remote main aligned exactly at that commit; PDFer, v1.45.0 FlowCreator wrapped chat-agent, v1.44.0 Catalog-of-Prompts parameter standardization, v1.43.5 recon free-run (OOB_shift_reaper), v1.42.0 STM32er PlatformIO, v1.41.4 External-MCP structured output, and earlier waves remain part of this release lineage.</a:t>
            </a:r>
          </a:p>
          <a:p>
            <a:pPr>
              <a:spcAft>
                <a:spcPts val="400"/>
              </a:spcAft>
              <a:defRPr sz="1100">
                <a:solidFill>
                  <a:srgbClr val="B4BAAE"/>
                </a:solidFill>
                <a:latin typeface="Aptos"/>
              </a:defRPr>
            </a:pPr>
            <a:r>
              <a:t>New agent: Video-Analyzer becomes the current media-verdict workflow agent and wrapped `chat_agent_video_analyzer`, complementing Image-Interpreter with video-specific motion analysis.</a:t>
            </a:r>
          </a:p>
          <a:p>
            <a:pPr>
              <a:spcAft>
                <a:spcPts val="400"/>
              </a:spcAft>
              <a:defRPr sz="1100">
                <a:solidFill>
                  <a:srgbClr val="B4BAAE"/>
                </a:solidFill>
                <a:latin typeface="Aptos"/>
              </a:defRPr>
            </a:pPr>
            <a:r>
              <a:t>Implementation assets: `agent/agents/video_analyzer/`, migrations `0166_add_video_analyzer.py`, `0167_add_chat_agent_video_analyzer_tool.py`, `0168_add_video_analyzer_demo_prompt.py`, `test_video_analyzer_agent.py`, `chat_agent_registry.py`, `mcp_agent.py`, and `services/agent_contracts.py` all move together.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contract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Model strategy: `interpreter_model_1` defaults to `qwen3-vl:235b-cloud`, `interpreter_model_2` defaults to `qwen3.5:cloud`, and `merging_model` defaults to `glm-5.2:cloud`, with independent calls merged only after both interpreters report.</a:t>
            </a:r>
          </a:p>
          <a:p>
            <a:pPr>
              <a:spcAft>
                <a:spcPts val="400"/>
              </a:spcAft>
              <a:defRPr sz="1100">
                <a:solidFill>
                  <a:srgbClr val="B4BAAE"/>
                </a:solidFill>
                <a:latin typeface="Aptos"/>
              </a:defRPr>
            </a:pPr>
            <a:r>
              <a:t>Routing contract: every run emits `INI_SECTION_VIDEO_ANALYZER` plus `TLM_VERDICT::&lt;TOKEN&gt;` markers such as `PASS_OK`, `FAIL_NO_MOTION`, `FAIL_WRONG_MOTION`, `UNCLEAR`, and `ANALYSIS_ERROR` for Forker and Parametrizer.</a:t>
            </a:r>
          </a:p>
          <a:p>
            <a:pPr>
              <a:spcAft>
                <a:spcPts val="400"/>
              </a:spcAft>
              <a:defRPr sz="1100">
                <a:solidFill>
                  <a:srgbClr val="B4BAAE"/>
                </a:solidFill>
                <a:latin typeface="Aptos"/>
              </a:defRPr>
            </a:pPr>
            <a:r>
              <a:t>Adjacent UI work: prompt search moved from exact-title hunting to substring, word-start, and fuzzy matching, and generated `.flw` files now use a serpentine layout to reduce visual congestion.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MOTION-VERDICT AGENT FOR ROBOTIC-LOOP TRAINING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Video-Analyzer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Video-Analyzer is Tlamatini's video-verdict agent: she receives `video_pathfilenames` as a direct file, wildcard, folder-newest rule, or Camcorder pool name and resolves the video before model calls begin.</a:t>
            </a:r>
          </a:p>
          <a:p>
            <a:pPr>
              <a:spcAft>
                <a:spcPts val="400"/>
              </a:spcAft>
              <a:defRPr sz="1100">
                <a:solidFill>
                  <a:srgbClr val="B4BAAE"/>
                </a:solidFill>
                <a:latin typeface="Aptos"/>
              </a:defRPr>
            </a:pPr>
            <a:r>
              <a:t>The first gate is deterministic and cheap: OpenCV/numpy frame sampling computes a motion score and returns `FAIL_NO_MOTION` without spending LLM calls when the recording clearly shows no movement.</a:t>
            </a:r>
          </a:p>
          <a:p>
            <a:pPr>
              <a:spcAft>
                <a:spcPts val="400"/>
              </a:spcAft>
              <a:defRPr sz="1100">
                <a:solidFill>
                  <a:srgbClr val="B4BAAE"/>
                </a:solidFill>
                <a:latin typeface="Aptos"/>
              </a:defRPr>
            </a:pPr>
            <a:r>
              <a:t>When motion exists, two Ollama cloud vision models run in parallel. One specializes in temporal/action evidence, the other provides an independent holistic judgement, and a merger model produces the final report.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Verdicts and routing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final answer is intentionally conservative: PASS requires both interpreters to agree; disagreement or weak evidence becomes `UNCLEAR`, and wrong movement becomes `FAIL_WRONG_MOTION` rather than a false pass.</a:t>
            </a:r>
          </a:p>
          <a:p>
            <a:pPr>
              <a:spcAft>
                <a:spcPts val="400"/>
              </a:spcAft>
              <a:defRPr sz="1100">
                <a:solidFill>
                  <a:srgbClr val="B4BAAE"/>
                </a:solidFill>
                <a:latin typeface="Aptos"/>
              </a:defRPr>
            </a:pPr>
            <a:r>
              <a:t>Structured output is `INI_SECTION_VIDEO_ANALYZER` with `video_path`, `verdict`, `verdict_token`, `confidence`, `motion_score`, `frames_analyzed`, model names, `status`, and the body report.</a:t>
            </a:r>
          </a:p>
          <a:p>
            <a:pPr>
              <a:spcAft>
                <a:spcPts val="400"/>
              </a:spcAft>
              <a:defRPr sz="1100">
                <a:solidFill>
                  <a:srgbClr val="B4BAAE"/>
                </a:solidFill>
                <a:latin typeface="Aptos"/>
              </a:defRPr>
            </a:pPr>
            <a:r>
              <a:t>The robotics loop is now explicit: STM32er can flash firmware, Camcorder can record the board, Video-Analyzer can judge the recorded motion, and Forker can branch on the `TLM_VERDICT::` token to retry or finish.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OPERATOR USABILITY AFTER THE CATALOG GREW</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Prompt Search And .flw Layout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Prompt search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Prompt search now behaves like an operator tool instead of a static dropdown: category grouping, numeric/acronym/substring/word-start/subsequence matching, best-first ranking, highlighted hits, and mode badges make the deduplicated catalog navigable.</a:t>
            </a:r>
          </a:p>
          <a:p>
            <a:pPr>
              <a:spcAft>
                <a:spcPts val="400"/>
              </a:spcAft>
              <a:defRPr sz="1300">
                <a:solidFill>
                  <a:srgbClr val="B4BAAE"/>
                </a:solidFill>
                <a:latin typeface="Aptos"/>
              </a:defRPr>
            </a:pPr>
            <a:r>
              <a:t>The prompt-card rendering keeps One-Shot, Multi-Turn, ACPX, Exec Report, and Step-by-Step families distinguishable while migrations `0175`-`0176` remove redundant ACPX variants without renumbering surviving prompt ids.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Generated flows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Generated `.flw` workflows now use a serpentine canvas layout with row capacity and alternating direction, preserving the logical Starter -&gt; Agent -&gt; ... -&gt; Ender order without pushing large chains into an unreadable line.</a:t>
            </a:r>
          </a:p>
          <a:p>
            <a:pPr>
              <a:spcAft>
                <a:spcPts val="400"/>
              </a:spcAft>
              <a:defRPr sz="1300">
                <a:solidFill>
                  <a:srgbClr val="B4BAAE"/>
                </a:solidFill>
                <a:latin typeface="Aptos"/>
              </a:defRPr>
            </a:pPr>
            <a:r>
              <a:t>This matters for documentation because the PDF and deck must describe not only new agents, but also the operator usability improvements that make the larger system actually usable.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ZAVUERER, MODEL DEFAULTS, CLEANUP, AND SAFETY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v1.33.2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Release identity: latest reachable public tag `v1.33.2`; the generated artifacts now describe the Zavuerer release family plus post-release cleanup while preserving the v1.32.0 quality-and-identity background.</a:t>
            </a:r>
          </a:p>
          <a:p>
            <a:pPr>
              <a:spcAft>
                <a:spcPts val="400"/>
              </a:spcAft>
              <a:defRPr sz="900">
                <a:solidFill>
                  <a:srgbClr val="B4BAAE"/>
                </a:solidFill>
                <a:latin typeface="Aptos"/>
              </a:defRPr>
            </a:pPr>
            <a:r>
              <a:t>New agent: Zavuerer becomes the 83rd workflow-agent type and the 60th wrapped chat-agent, adding `chat_agent_zavuerer` for Zavu unified messaging across SMS, WhatsApp, Telegram, Email, and Voice.</a:t>
            </a:r>
          </a:p>
          <a:p>
            <a:pPr>
              <a:spcAft>
                <a:spcPts val="400"/>
              </a:spcAft>
              <a:defRPr sz="900">
                <a:solidFill>
                  <a:srgbClr val="B4BAAE"/>
                </a:solidFill>
                <a:latin typeface="Aptos"/>
              </a:defRPr>
            </a:pPr>
            <a:r>
              <a:t>Configuration: Config -&gt; Access Keys Wizard now includes `Unified Messaging (Zavu)` and persists `zavu_api_key`, which the wrapped runtime seeds into Zavuerer without exposing the secret in prompts.</a:t>
            </a:r>
          </a:p>
          <a:p>
            <a:pPr>
              <a:spcAft>
                <a:spcPts val="400"/>
              </a:spcAft>
              <a:defRPr sz="900">
                <a:solidFill>
                  <a:srgbClr val="B4BAAE"/>
                </a:solidFill>
                <a:latin typeface="Aptos"/>
              </a:defRPr>
            </a:pPr>
            <a:r>
              <a:t>Canvas/runtime support: `agent_contracts.py`, `views.py`, `capability_registry.py`, `chat_agent_registry.py`, `tools.py`, frontend ACP JS/CSS, and migrations `0159`-`0164` all move together to make Zavuerer usable from both surfaces.</a:t>
            </a:r>
          </a:p>
          <a:p>
            <a:pPr>
              <a:spcAft>
                <a:spcPts val="400"/>
              </a:spcAft>
              <a:defRPr sz="900">
                <a:solidFill>
                  <a:srgbClr val="B4BAAE"/>
                </a:solidFill>
                <a:latin typeface="Aptos"/>
              </a:defRPr>
            </a:pPr>
            <a:r>
              <a:t>Follow-up defaults: `config.json` now favors `glm-5.2:cloud` across the primary chat/model slots, and the latest commits also adjust runtime parsing/middleware/settings surfaces around the release.</a:t>
            </a:r>
          </a:p>
          <a:p>
            <a:pPr>
              <a:spcAft>
                <a:spcPts val="400"/>
              </a:spcAft>
              <a:defRPr sz="900">
                <a:solidFill>
                  <a:srgbClr val="B4BAAE"/>
                </a:solidFill>
                <a:latin typeface="Aptos"/>
              </a:defRPr>
            </a:pPr>
            <a:r>
              <a:t>Cost and safety wording: sign-up for Zavu is free, but sends are pay-as-you-go per message; the docs keep the authorized, opted-in recipient boundary explicit for A2P, WhatsApp-window, consent, and GDPR-style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Recent implementation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`agent/agents/zavuerer/` carries the stdlib-only Zavu REST client and config template.</a:t>
            </a:r>
          </a:p>
          <a:p>
            <a:pPr>
              <a:spcAft>
                <a:spcPts val="400"/>
              </a:spcAft>
              <a:defRPr sz="1100">
                <a:solidFill>
                  <a:srgbClr val="B4BAAE"/>
                </a:solidFill>
                <a:latin typeface="Aptos"/>
              </a:defRPr>
            </a:pPr>
            <a:r>
              <a:t>`0159`-`0164` seed the Agent, Tool, prompts, and setup-wizard dedupe.</a:t>
            </a:r>
          </a:p>
          <a:p>
            <a:pPr>
              <a:spcAft>
                <a:spcPts val="400"/>
              </a:spcAft>
              <a:defRPr sz="1100">
                <a:solidFill>
                  <a:srgbClr val="B4BAAE"/>
                </a:solidFill>
                <a:latin typeface="Aptos"/>
              </a:defRPr>
            </a:pPr>
            <a:r>
              <a:t>`access_key_wizard.py`, `tools.py`, and `config.json` wire the Zavu key path.</a:t>
            </a:r>
          </a:p>
          <a:p>
            <a:pPr>
              <a:spcAft>
                <a:spcPts val="400"/>
              </a:spcAft>
              <a:defRPr sz="1100">
                <a:solidFill>
                  <a:srgbClr val="B4BAAE"/>
                </a:solidFill>
                <a:latin typeface="Aptos"/>
              </a:defRPr>
            </a:pPr>
            <a:r>
              <a:t>`config.json` now favors `glm-5.2:cloud` for the shipped cloud model baseline.</a:t>
            </a:r>
          </a:p>
          <a:p>
            <a:pPr>
              <a:spcAft>
                <a:spcPts val="400"/>
              </a:spcAft>
              <a:defRPr sz="1100">
                <a:solidFill>
                  <a:srgbClr val="B4BAAE"/>
                </a:solidFill>
                <a:latin typeface="Aptos"/>
              </a:defRPr>
            </a:pPr>
            <a:r>
              <a:t>`views.py`, ACP JS/CSS, and `agent_contracts.py` make canvas wiring and redaction work.</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NEW UNIFIED MESSAGING AGENT FOR ZAVU</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Zavuerer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Zavuerer is Tlamatini's new Zavu unified-messaging agent: one workflow node and one wrapped `chat_agent_zavuerer` tool can send SMS, WhatsApp, Telegram, Email, or Voice messages through Zavu's `/v1/messages` API.</a:t>
            </a:r>
          </a:p>
          <a:p>
            <a:pPr>
              <a:spcAft>
                <a:spcPts val="400"/>
              </a:spcAft>
              <a:defRPr sz="1200">
                <a:solidFill>
                  <a:srgbClr val="B4BAAE"/>
                </a:solidFill>
                <a:latin typeface="Aptos"/>
              </a:defRPr>
            </a:pPr>
            <a:r>
              <a:t>The operator configures one `zavu_api_key` through Config -&gt; Access Keys Wizard -&gt; Unified Messaging (Zavu), and the runtime seeds that key into Zavuerer automatically so prompts never need to repeat or expose the secret.</a:t>
            </a:r>
          </a:p>
          <a:p>
            <a:pPr>
              <a:spcAft>
                <a:spcPts val="400"/>
              </a:spcAft>
              <a:defRPr sz="1200">
                <a:solidFill>
                  <a:srgbClr val="B4BAAE"/>
                </a:solidFill>
                <a:latin typeface="Aptos"/>
              </a:defRPr>
            </a:pPr>
            <a:r>
              <a:t>The agent speaks direct HTTP through the Python standard library, has a safe `health` action, refuses sends when the key/recipient/body/channel are invalid, and always emits `INI_SECTION_ZAVUERER` for Parametrizer/Forker branching.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Implementation and safety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Canvas integration is complete: `agent_contracts.py` redacts `zavu_api_key`, `views.py` handles Zavuerer connections, frontend CSS/JS gives the node a visible identity, and migrations `0159`-`0164` seed the Agent, Tool, demo/catalog prompts, and setup-wizard dedupe.</a:t>
            </a:r>
          </a:p>
          <a:p>
            <a:pPr>
              <a:spcAft>
                <a:spcPts val="400"/>
              </a:spcAft>
              <a:defRPr sz="1200">
                <a:solidFill>
                  <a:srgbClr val="B4BAAE"/>
                </a:solidFill>
                <a:latin typeface="Aptos"/>
              </a:defRPr>
            </a:pPr>
            <a:r>
              <a:t>Cost and safety boundary: Zavu sign-up is free, but sending is pay-as-you-go per message; Zavuerer must only message authorized, opted-in recipients, with A2P, WhatsApp 24-hour-window, consent, and GDPR-style responsibilities called out explicitly.</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TRIPLE-MODEL VISION ANALYSIS WITH FAIL-SAFE MERGING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Image-Interpreter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Parallel vision pipeline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Image-Interpreter is now a triple-model vision analyst, not a single generic image describer: each image goes through two parallel interpreter calls and one merger pass.</a:t>
            </a:r>
          </a:p>
          <a:p>
            <a:pPr>
              <a:spcAft>
                <a:spcPts val="400"/>
              </a:spcAft>
              <a:defRPr sz="1100">
                <a:solidFill>
                  <a:srgbClr val="B4BAAE"/>
                </a:solidFill>
                <a:latin typeface="Aptos"/>
              </a:defRPr>
            </a:pPr>
            <a:r>
              <a:t>`interpreter_model_1` defaults to `qwen3.5:cloud` and is tuned for forensic OCR, mockup/GUI element inventories, percent-based positions/sizes, colors, fonts, and verbatim text.</a:t>
            </a:r>
          </a:p>
          <a:p>
            <a:pPr>
              <a:spcAft>
                <a:spcPts val="400"/>
              </a:spcAft>
              <a:defRPr sz="1100">
                <a:solidFill>
                  <a:srgbClr val="B4BAAE"/>
                </a:solidFill>
                <a:latin typeface="Aptos"/>
              </a:defRPr>
            </a:pPr>
            <a:r>
              <a:t>`interpreter_model_2` defaults to `gemma4:cloud` and reads the image holistically: design intent, visual hierarchy, scene meaning, people, and reasoned identity hypotheses.</a:t>
            </a:r>
          </a:p>
          <a:p>
            <a:pPr>
              <a:spcAft>
                <a:spcPts val="400"/>
              </a:spcAft>
              <a:defRPr sz="1100">
                <a:solidFill>
                  <a:srgbClr val="B4BAAE"/>
                </a:solidFill>
                <a:latin typeface="Aptos"/>
              </a:defRPr>
            </a:pPr>
            <a:r>
              <a:t>`merging_model` defaults to `glm-5.2:cloud`; it waits behind a barrier until both interpretations arrive, then emits one definitive report with union-of-facts, conflict notes, and discrepancy handling.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Prompts, output, and config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All four prompt surfaces (`prompt_user`, `prompt_interpreter_model_1`, `prompt_interpreter_model_2`, and `prompt_merging_model`) receive the image file name as an identity clue, because a file named after a person often depicts that person.</a:t>
            </a:r>
          </a:p>
          <a:p>
            <a:pPr>
              <a:spcAft>
                <a:spcPts val="400"/>
              </a:spcAft>
              <a:defRPr sz="1100">
                <a:solidFill>
                  <a:srgbClr val="B4BAAE"/>
                </a:solidFill>
                <a:latin typeface="Aptos"/>
              </a:defRPr>
            </a:pPr>
            <a:r>
              <a:t>Fail-safe behavior is explicit: one failed interpreter still lets the merger work from the survivor; a failed merger returns both raw interpretations concatenated instead of losing the analysis.</a:t>
            </a:r>
          </a:p>
          <a:p>
            <a:pPr>
              <a:spcAft>
                <a:spcPts val="400"/>
              </a:spcAft>
              <a:defRPr sz="1100">
                <a:solidFill>
                  <a:srgbClr val="B4BAAE"/>
                </a:solidFill>
                <a:latin typeface="Aptos"/>
              </a:defRPr>
            </a:pPr>
            <a:r>
              <a:t>The structured output is now `INI_SECTION_IMAGE_INTERPRETER` with `file_path`, `interpreter_model_1`, `interpreter_model_2`, `merging_model`, `status`, and the merged report body for Parametrizer/Forker routing.</a:t>
            </a:r>
          </a:p>
          <a:p>
            <a:pPr>
              <a:spcAft>
                <a:spcPts val="400"/>
              </a:spcAft>
              <a:defRPr sz="1100">
                <a:solidFill>
                  <a:srgbClr val="B4BAAE"/>
                </a:solidFill>
                <a:latin typeface="Aptos"/>
              </a:defRPr>
            </a:pPr>
            <a:r>
              <a:t>Config -&gt; Models now exposes all three Image-Interpreter model slots (`image_interpreter_model`, `image_interpreter_model_2`, `image_merging_model`), and older preserved configs receive defaults so Save is not blocked by empty new fields.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HOW TLAMATINI NOW REACHES TOOLS OUTSIDE HER BUNDLED RUNTIME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External MCPs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Operator model</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`v1.26.0` headline feature is the External MCP universal client: Tlamatini can now consume any MCP server declared in `external_mcps.json` instead of depending only on bundled MCP integrations.</a:t>
            </a:r>
          </a:p>
          <a:p>
            <a:pPr>
              <a:spcAft>
                <a:spcPts val="400"/>
              </a:spcAft>
              <a:defRPr sz="1200">
                <a:solidFill>
                  <a:srgbClr val="B4BAAE"/>
                </a:solidFill>
                <a:latin typeface="Aptos"/>
              </a:defRPr>
            </a:pPr>
            <a:r>
              <a:t>Four transports are supported in the current implementation — stdio, streamable HTTP, legacy SSE, and WebSocket — and the active server set is intentionally bounded so operators can expose high-value remote tools without flooding the planner.</a:t>
            </a:r>
          </a:p>
          <a:p>
            <a:pPr>
              <a:spcAft>
                <a:spcPts val="400"/>
              </a:spcAft>
              <a:defRPr sz="1200">
                <a:solidFill>
                  <a:srgbClr val="B4BAAE"/>
                </a:solidFill>
                <a:latin typeface="Aptos"/>
              </a:defRPr>
            </a:pPr>
            <a:r>
              <a:t>Once connected, remote MCP tools are wrapped into the same Multi-Turn execution surface under `ext__&lt;server&gt;__&lt;tool&gt;`, so they participate in planning, execution reporting, Ask Execs, and the rest of the operator guardrails instead of becoming a parallel hidden subsystem.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Concrete implementation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release is backed by real tracked assets rather than markdown-only claims: `agent/external_mcp_manager.py`, `agent/external_mcps.json`, the `agent/agents/mcp_doctor/` tree, the `0141`-`0143` migrations, `static/agent/js/external_mcps_dialog.js`, and `static/agent/css/external_mcps_dialog.css` are the core implementation wave.</a:t>
            </a:r>
          </a:p>
          <a:p>
            <a:pPr>
              <a:spcAft>
                <a:spcPts val="400"/>
              </a:spcAft>
              <a:defRPr sz="1000">
                <a:solidFill>
                  <a:srgbClr val="B4BAAE"/>
                </a:solidFill>
                <a:latin typeface="Aptos"/>
              </a:defRPr>
            </a:pPr>
            <a:r>
              <a:t>The current test surface proves this is not a shallow UI feature: `test_external_mcp_universal.py`, `test_external_mcp_transports.py`, `test_external_mcp_e2e.py`, `test_external_mcp_add_flow.py`, and `test_parametrizer_mcp_doctor.py` exercise the universal-client path and the onboarding diagnosis path.</a:t>
            </a:r>
          </a:p>
          <a:p>
            <a:pPr>
              <a:spcAft>
                <a:spcPts val="400"/>
              </a:spcAft>
              <a:defRPr sz="1000">
                <a:solidFill>
                  <a:srgbClr val="B4BAAE"/>
                </a:solidFill>
                <a:latin typeface="Aptos"/>
              </a:defRPr>
            </a:pPr>
            <a:r>
              <a:t>Handbook evidence now exists alongside the code too: the README tutorial, Book sections, capability/planner wiring, and the dialog assets all moved together in the same release wave, with later cleanup removing obsolete draft documentation from the tracked tree.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SAFE ONBOARDING AND DIAGNOSTICS BEFORE LIVE EXTERNAL MCP USE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MCP Doctor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MCP Doctor is the new onboarding and triage specialist added with the External MCP release: she inspects a configured server entry and tells the operator what is wrong before a live connection attempt wastes time.</a:t>
            </a:r>
          </a:p>
          <a:p>
            <a:pPr>
              <a:spcAft>
                <a:spcPts val="400"/>
              </a:spcAft>
              <a:defRPr sz="1200">
                <a:solidFill>
                  <a:srgbClr val="B4BAAE"/>
                </a:solidFill>
                <a:latin typeface="Aptos"/>
              </a:defRPr>
            </a:pPr>
            <a:r>
              <a:t>The diagnostic checks cover transport shape, runtime command availability on PATH, placeholder or missing secrets, endpoint/source/docs links, and the concrete next step the operator should take to make the server connectable.</a:t>
            </a:r>
          </a:p>
          <a:p>
            <a:pPr>
              <a:spcAft>
                <a:spcPts val="400"/>
              </a:spcAft>
              <a:defRPr sz="1200">
                <a:solidFill>
                  <a:srgbClr val="B4BAAE"/>
                </a:solidFill>
                <a:latin typeface="Aptos"/>
              </a:defRPr>
            </a:pPr>
            <a:r>
              <a:t>Operators can reach the same behavior from both surfaces that matter: the MCP Doctor workflow agent on the canvas and the wrapped `chat_agent_mcp_doctor` tool inside Multi-Turn.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use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Open `External -&gt; MCPs` to add or import a server, then run MCP Doctor before the first real connect if the runtime, endpoint, or secret story is still uncertain.</a:t>
            </a:r>
          </a:p>
          <a:p>
            <a:pPr>
              <a:spcAft>
                <a:spcPts val="400"/>
              </a:spcAft>
              <a:defRPr sz="1100">
                <a:solidFill>
                  <a:srgbClr val="B4BAAE"/>
                </a:solidFill>
                <a:latin typeface="Aptos"/>
              </a:defRPr>
            </a:pPr>
            <a:r>
              <a:t>In Multi-Turn, call `chat_agent_mcp_doctor` when you want the LLM to triage a server declaratively instead of guessing from prose about PATH, env vars, or transport settings.</a:t>
            </a:r>
          </a:p>
          <a:p>
            <a:pPr>
              <a:spcAft>
                <a:spcPts val="400"/>
              </a:spcAft>
              <a:defRPr sz="1100">
                <a:solidFill>
                  <a:srgbClr val="B4BAAE"/>
                </a:solidFill>
                <a:latin typeface="Aptos"/>
              </a:defRPr>
            </a:pPr>
            <a:r>
              <a:t>Because the diagnosis path is static and fail-safe, it surfaces onboarding mistakes early without leaking into a half-connected remote-tool session.</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THE NEW EASY-FOLLOW ONBOARDING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Start Here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Five-step path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BookOfTlamatini now leads with a five-step onboarding path because the easiest way to succeed with Tlamatini is to treat setup as one guided sequence instead of reading the whole handbook first.</a:t>
            </a:r>
          </a:p>
          <a:p>
            <a:pPr>
              <a:spcAft>
                <a:spcPts val="400"/>
              </a:spcAft>
              <a:defRPr sz="1000">
                <a:solidFill>
                  <a:srgbClr val="B4BAAE"/>
                </a:solidFill>
                <a:latin typeface="Aptos"/>
              </a:defRPr>
            </a:pPr>
            <a:r>
              <a:t>Recommended path for most operators: install the packaged release from GitHub Releases, launch the Start-menu shortcut, and let the bundled Python 3.12.10 plus dependencies carry the runtime without asking the user to install Python manually.</a:t>
            </a:r>
          </a:p>
          <a:p>
            <a:pPr>
              <a:spcAft>
                <a:spcPts val="400"/>
              </a:spcAft>
              <a:defRPr sz="1000">
                <a:solidFill>
                  <a:srgbClr val="B4BAAE"/>
                </a:solidFill>
                <a:latin typeface="Aptos"/>
              </a:defRPr>
            </a:pPr>
            <a:r>
              <a:t>Developer path stays available: clone the repo, create a virtual environment, install `requirements.txt`, run migrations, and start Django with `python Tlamatini/manage.py runserver` (the `--noreload` flag is optional since 2026-07-11 — plain `runserver` now boots clean and auto-reloads).</a:t>
            </a:r>
          </a:p>
          <a:p>
            <a:pPr>
              <a:spcAft>
                <a:spcPts val="400"/>
              </a:spcAft>
              <a:defRPr sz="1000">
                <a:solidFill>
                  <a:srgbClr val="B4BAAE"/>
                </a:solidFill>
                <a:latin typeface="Aptos"/>
              </a:defRPr>
            </a:pPr>
            <a:r>
              <a:t>After the app opens, the first in-app surfaces that matter are `Config -&gt; Models`, `Config -&gt; URLs`, and `Config -&gt; Access Keys Wizard`; those now form the real beginner path, not manual JSON editing.</a:t>
            </a:r>
          </a:p>
          <a:p>
            <a:pPr>
              <a:spcAft>
                <a:spcPts val="400"/>
              </a:spcAft>
              <a:defRPr sz="1000">
                <a:solidFill>
                  <a:srgbClr val="B4BAAE"/>
                </a:solidFill>
                <a:latin typeface="Aptos"/>
              </a:defRPr>
            </a:pPr>
            <a:r>
              <a:t>For ordinary question-answering keep Multi-Turn off; turn it on only when you want Tlamatini to execute tools, wrapped agents, or remote MCP capabilities instead of answering directly.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First configuration surfaces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Three new onboarding screenshots now anchor the first-run path: `Tlamatini/agent/images/MenuConfig.jpg`, `ConfigureModels.jpg`, and `ACPXKeysConfigureWizard.jpg`.</a:t>
            </a:r>
          </a:p>
          <a:p>
            <a:pPr>
              <a:spcAft>
                <a:spcPts val="400"/>
              </a:spcAft>
              <a:defRPr sz="1200">
                <a:solidFill>
                  <a:srgbClr val="B4BAAE"/>
                </a:solidFill>
                <a:latin typeface="Aptos"/>
              </a:defRPr>
            </a:pPr>
            <a:r>
              <a:t>`Config -&gt; Models` is the place where operators map embedding, chat, vision, and auxiliary model names to what Ollama actually exposes on the host machine.</a:t>
            </a:r>
          </a:p>
          <a:p>
            <a:pPr>
              <a:spcAft>
                <a:spcPts val="400"/>
              </a:spcAft>
              <a:defRPr sz="1200">
                <a:solidFill>
                  <a:srgbClr val="B4BAAE"/>
                </a:solidFill>
                <a:latin typeface="Aptos"/>
              </a:defRPr>
            </a:pPr>
            <a:r>
              <a:t>`Config -&gt; Access Keys Wizard` now carries an especially important rule: a localhost Ollama usually needs no Ollama token, while a remote Ollama endpoint may require one.</a:t>
            </a:r>
          </a:p>
          <a:p>
            <a:pPr>
              <a:spcAft>
                <a:spcPts val="400"/>
              </a:spcAft>
              <a:defRPr sz="1200">
                <a:solidFill>
                  <a:srgbClr val="B4BAAE"/>
                </a:solidFill>
                <a:latin typeface="Aptos"/>
              </a:defRPr>
            </a:pPr>
            <a:r>
              <a:t>Saved model, URL, or credential changes can invalidate the assumptions of the current session, so reconnecting after major Config edits is now part of the honest operator guidance.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HOW TO USE THE NEWEST RELEASE SURFACES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Blenderer And Self-Update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Blenderer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Blenderer was introduced in `v1.20.0` as the 77th workflow agent and remains the direct bridge to the official Blender MCP add-on, letting Tlamatini operate a live Blender session from either Multi-Turn chat or the visual workflow canvas.</a:t>
            </a:r>
          </a:p>
          <a:p>
            <a:pPr>
              <a:spcAft>
                <a:spcPts val="400"/>
              </a:spcAft>
              <a:defRPr sz="1200">
                <a:solidFill>
                  <a:srgbClr val="B4BAAE"/>
                </a:solidFill>
                <a:latin typeface="Aptos"/>
              </a:defRPr>
            </a:pPr>
            <a:r>
              <a:t>The bridge talks over a TCP socket (default `localhost:9876`) and supports both raw `execute_code` requests and higher-level scene/object/material/render actions, so operators can mix deterministic verbs with precise Python-driven 3D automation.</a:t>
            </a:r>
          </a:p>
          <a:p>
            <a:pPr>
              <a:spcAft>
                <a:spcPts val="400"/>
              </a:spcAft>
              <a:defRPr sz="1200">
                <a:solidFill>
                  <a:srgbClr val="B4BAAE"/>
                </a:solidFill>
                <a:latin typeface="Aptos"/>
              </a:defRPr>
            </a:pPr>
            <a:r>
              <a:t>This extends Tlamatini beyond code and firmware orchestration into DCC / 3D-production work: asset inspection, scene mutation, material changes, camera setup, and render-triggering now live inside the same operator surface as the rest of the 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Self-update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200">
                <a:solidFill>
                  <a:srgbClr val="B4BAAE"/>
                </a:solidFill>
                <a:latin typeface="Aptos"/>
              </a:defRPr>
            </a:pPr>
            <a:r>
              <a:t>The backend checks the latest GitHub release, downloads and stages the package, then hands off the locked-file swap to `apply_update.ps1`, which performs the replacement after the running executable exits and relaunches the updated app.</a:t>
            </a:r>
          </a:p>
          <a:p>
            <a:pPr>
              <a:spcAft>
                <a:spcPts val="400"/>
              </a:spcAft>
              <a:defRPr sz="1200">
                <a:solidFill>
                  <a:srgbClr val="B4BAAE"/>
                </a:solidFill>
                <a:latin typeface="Aptos"/>
              </a:defRPr>
            </a:pPr>
            <a:r>
              <a:t>The update path is state-preserving by design: it keeps `config.json`, user content, and one `agents_backup` generation, and it stages the user's database through `DB/ToLoad/` plus `post_update_migrate.flag` so the next launch restores and migrates that DB instead of wiping it.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GENERATED `TLAMATINISOURCECODE/` AND REBUILD CONTRACT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Self-Modify Source Snapshot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Snapshot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Self-modify builds now rely on `copy_source_assets.py` to generate `TlamatiniSourceCode/` as a fresh rebuild-oriented snapshot of the repository.</a:t>
            </a:r>
          </a:p>
          <a:p>
            <a:pPr>
              <a:spcAft>
                <a:spcPts val="400"/>
              </a:spcAft>
              <a:defRPr sz="1200">
                <a:solidFill>
                  <a:srgbClr val="B4BAAE"/>
                </a:solidFill>
                <a:latin typeface="Aptos"/>
              </a:defRPr>
            </a:pPr>
            <a:r>
              <a:t>That snapshot includes source, build scripts, docs, skills, and small required binaries while deliberately omitting or redacting heavy media and secrets; `_REBUILD_INSTRUCTIONS.md` plus `_SOURCE_SNAPSHOT_MANIFEST.json` explain how to restore the missing payloads.</a:t>
            </a:r>
          </a:p>
          <a:p>
            <a:pPr>
              <a:spcAft>
                <a:spcPts val="400"/>
              </a:spcAft>
              <a:defRPr sz="1200">
                <a:solidFill>
                  <a:srgbClr val="B4BAAE"/>
                </a:solidFill>
                <a:latin typeface="Aptos"/>
              </a:defRPr>
            </a:pPr>
            <a:r>
              <a:t>Because the snapshot is optional, the runtime contract remains strict: Tlamatini must verify that `TlamatiniSourceCode/` exists before claiming she can inspect, modify, or rebuild herself.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Access Keys, Updates, And File Writes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Config now includes an Access Keys Wizard / API-Keys Wizard path so operators can manage provider credentials from the browser instead of editing `config.json` directly.</a:t>
            </a:r>
          </a:p>
          <a:p>
            <a:pPr>
              <a:spcAft>
                <a:spcPts val="400"/>
              </a:spcAft>
              <a:defRPr sz="1000">
                <a:solidFill>
                  <a:srgbClr val="B4BAAE"/>
                </a:solidFill>
                <a:latin typeface="Aptos"/>
              </a:defRPr>
            </a:pPr>
            <a:r>
              <a:t>The backend exposes masked status plus explicit save endpoints, which keeps the operator flow convenient without echoing raw secrets back into the page.</a:t>
            </a:r>
          </a:p>
          <a:p>
            <a:pPr>
              <a:spcAft>
                <a:spcPts val="400"/>
              </a:spcAft>
              <a:defRPr sz="10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000">
                <a:solidFill>
                  <a:srgbClr val="B4BAAE"/>
                </a:solidFill>
                <a:latin typeface="Aptos"/>
              </a:defRPr>
            </a:pPr>
            <a:r>
              <a:t>The `v1.19.5` File-Creator hardening pass fixes the wrong-symbol / wrong-escape corruption path that hit backslash-dense Java, JSON, CSS, and regex files during wrapped chat-agent execution.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TALKER / WHISPERER FAMILY PLUS WATCHDOG HARDENING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Media, Voice, And Runtime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Media and voice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current media family spans capture, playback, and speech: Shoter (screen), Camcorder (camera-in), Recorder (mic-in), AudioPlayer (speakers-out), VideoPlayer (screen-out with audio), Talker (text-to-speech), and Whisperer (speech-to-text).</a:t>
            </a:r>
          </a:p>
          <a:p>
            <a:pPr>
              <a:spcAft>
                <a:spcPts val="400"/>
              </a:spcAft>
              <a:defRPr sz="1200">
                <a:solidFill>
                  <a:srgbClr val="B4BAAE"/>
                </a:solidFill>
                <a:latin typeface="Aptos"/>
              </a:defRPr>
            </a:pPr>
            <a:r>
              <a:t>Talker remains female-only by design and uses an Ollama neural TTS model with SNAC decoding, while Whisperer records the microphone itself or transcribes a file through faster-whisper locally or cloud Whisper APIs.</a:t>
            </a:r>
          </a:p>
          <a:p>
            <a:pPr>
              <a:spcAft>
                <a:spcPts val="400"/>
              </a:spcAft>
              <a:defRPr sz="1200">
                <a:solidFill>
                  <a:srgbClr val="B4BAAE"/>
                </a:solidFill>
                <a:latin typeface="Aptos"/>
              </a:defRPr>
            </a:pPr>
            <a:r>
              <a:t>Recent stability work matters here too: Talker now chunks long input by sentence for long-form speech, and media-output defaults were moved into the application `Temp` directory rather than user content folders.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Autonomous watchdog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A boot-time autonomous command watchdog now protects the chat against shell wrappers that stay alive while making zero CPU or I/O progress, the classic signature of a mangled prompt waiting forever on stdin.</a:t>
            </a:r>
          </a:p>
          <a:p>
            <a:pPr>
              <a:spcAft>
                <a:spcPts val="400"/>
              </a:spcAft>
              <a:defRPr sz="1200">
                <a:solidFill>
                  <a:srgbClr val="B4BAAE"/>
                </a:solidFill>
                <a:latin typeface="Aptos"/>
              </a:defRPr>
            </a:pPr>
            <a:r>
              <a:t>It never kills on elapsed time alone: the subtree must outlive the grace window and remain idle for a configured streak, so long builds, downloads, and compiles are preserved while only genuinely wedged interpreters are reaped.</a:t>
            </a:r>
          </a:p>
          <a:p>
            <a:pPr>
              <a:spcAft>
                <a:spcPts val="400"/>
              </a:spcAft>
              <a:defRPr sz="1200">
                <a:solidFill>
                  <a:srgbClr val="B4BAAE"/>
                </a:solidFill>
                <a:latin typeface="Aptos"/>
              </a:defRPr>
            </a:pPr>
            <a:r>
              <a:t>This watchdog complements rather than replaces the orphan reaper: the watchdog rescues blocked synchronous tool calls before they return, while the orphan reaper still handles post-return survivors and stale console companions.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BACKEND, FRONTEND, AND BUILD FILES ADDED OR UPGRADED RECENTLY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Newest Assets And Surfaces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Named assets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tagged `v1.41.4` wave adds the shared `_format_mcp_tool_result` path in `external_mcp_manager.py` plus seven focused cases in `test_external_mcp_universal.py` for machine-readable MCP results.</a:t>
            </a:r>
          </a:p>
          <a:p>
            <a:pPr>
              <a:spcAft>
                <a:spcPts val="400"/>
              </a:spcAft>
              <a:defRPr sz="1000">
                <a:solidFill>
                  <a:srgbClr val="B4BAAE"/>
                </a:solidFill>
                <a:latin typeface="Aptos"/>
              </a:defRPr>
            </a:pPr>
            <a:r>
              <a:t>The tagged `v1.42.0` STM32er/prompt wave adds over one thousand lines to `stm32er.py`, expands config/registry/contracts/tools/tests/docs, and tracks the all-families proposal, migrations `0177`-`0179`, and `test_prompt_catalog_contiguous.py`.</a:t>
            </a:r>
          </a:p>
          <a:p>
            <a:pPr>
              <a:spcAft>
                <a:spcPts val="400"/>
              </a:spcAft>
              <a:defRPr sz="1000">
                <a:solidFill>
                  <a:srgbClr val="B4BAAE"/>
                </a:solidFill>
                <a:latin typeface="Aptos"/>
              </a:defRPr>
            </a:pPr>
            <a:r>
              <a:t>The clearer disclaimer commit for README.md and BookOfTlamatini.md is included in the `v1.42.0` ancestry; neither handbook is modified by this generation pass.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Hardening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`v1.41.0` image-ingestion wave adds `chat_image_paste.js`, paste view/URL wiring, chat chip/drop-overlay template nodes, image CSS, layout observation, Temp-policy coverage, and matching README/Book/self-knowledge guidance.</a:t>
            </a:r>
          </a:p>
          <a:p>
            <a:pPr>
              <a:spcAft>
                <a:spcPts val="400"/>
              </a:spcAft>
              <a:defRPr sz="1000">
                <a:solidFill>
                  <a:srgbClr val="B4BAAE"/>
                </a:solidFill>
                <a:latin typeface="Aptos"/>
              </a:defRPr>
            </a:pPr>
            <a:r>
              <a:t>The `v1.41.2` cancellation wave adds `agent/cancellation.py`, `test_cancellation.py`, `test_ask_execs_allowlist.py`, expanded self-healing/frontend tests, and coordinated changes across consumers, executor, RAG, retry, permission, settings, and chat-state surfaces.</a:t>
            </a:r>
          </a:p>
          <a:p>
            <a:pPr>
              <a:spcAft>
                <a:spcPts val="400"/>
              </a:spcAft>
              <a:defRPr sz="1000">
                <a:solidFill>
                  <a:srgbClr val="B4BAAE"/>
                </a:solidFill>
                <a:latin typeface="Aptos"/>
              </a:defRPr>
            </a:pPr>
            <a:r>
              <a:t>Two browser regression harnesses under `.claude/skills/tlamatini-daily-chat-test/harness/` exercise repeated cancels, next-request recovery, model/tool-chain cancellation, Ask-Execs cancellation, and the destructive/human-contacting/network allowlist contract.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REMAINING CURRENT ASSET DELTAS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Newest Assets Appendix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Discoverer and frontend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`v1.41.3` prompt-catalog wave adds migrations `0175`-`0176`, Prompt category/hidden fields, ordered category metadata in `views.py`, and grouped, gap-tolerant, fuzzy-searchable catalog behavior in `tools_dialog.js`/`.css`.</a:t>
            </a:r>
          </a:p>
          <a:p>
            <a:pPr>
              <a:spcAft>
                <a:spcPts val="400"/>
              </a:spcAft>
              <a:defRPr sz="1000">
                <a:solidFill>
                  <a:srgbClr val="B4BAAE"/>
                </a:solidFill>
                <a:latin typeface="Aptos"/>
              </a:defRPr>
            </a:pPr>
            <a:r>
              <a:t>The same prompt wave physically removes 13 duplicate ACPX rows while retaining seven portable originals and stable surviving ids; the primary endpoint and offline fallback both tolerate the resulting gap.</a:t>
            </a:r>
          </a:p>
          <a:p>
            <a:pPr>
              <a:spcAft>
                <a:spcPts val="400"/>
              </a:spcAft>
              <a:defRPr sz="1000">
                <a:solidFill>
                  <a:srgbClr val="B4BAAE"/>
                </a:solidFill>
                <a:latin typeface="Aptos"/>
              </a:defRPr>
            </a:pPr>
            <a:r>
              <a:t>`freeingport8000.ps1` is the new Windows repair asset for resetting dynamic ranges, restarting WinNAT, reporting exclusions, and bind-testing 8000; its machine-specific scratch path is deliberately excluded from generated prose.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Frontend, port, and agent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committed Discoverer PDCP assets include `access_key_wizard.py` Security Recon fields, `tools.py` default seeding, `agent_contracts.py` `.flw` redaction, `regen_secrets.py` scrubbing, and migration `0169_add_discoverer_cvemap_latest_demo_prompt.py` for the latest-CVE prompt.</a:t>
            </a:r>
          </a:p>
          <a:p>
            <a:pPr>
              <a:spcAft>
                <a:spcPts val="400"/>
              </a:spcAft>
              <a:defRPr sz="1000">
                <a:solidFill>
                  <a:srgbClr val="B4BAAE"/>
                </a:solidFill>
                <a:latin typeface="Aptos"/>
              </a:defRPr>
            </a:pPr>
            <a:r>
              <a:t>Discoverer hardening assets now include `discoverer.py` changes for `cvemap` -&gt; `vulnx`, `.gitignore` Go-deny patterns, tracked `git_deny_go.py` guard/pre-commit installer, `discoverer_1000.py`, and `test_discoverer_thousand.py` validation coverage.</a:t>
            </a:r>
          </a:p>
          <a:p>
            <a:pPr>
              <a:spcAft>
                <a:spcPts val="400"/>
              </a:spcAft>
              <a:defRPr sz="1000">
                <a:solidFill>
                  <a:srgbClr val="B4BAAE"/>
                </a:solidFill>
                <a:latin typeface="Aptos"/>
              </a:defRPr>
            </a:pPr>
            <a:r>
              <a:t>The project inventory is rebuilt from `git ls-files` plus `git ls-files --others --exclude-standard` on every run, so any git-unignored local assets are counted while ignored runtime caches such as `Go/` remain outside the dossier.</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WHY THE INVENTORY AND LINE COUNTS CHANGED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Newest Assets Source Trail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Media and browser setup</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newest frontend assets include `agent_page_chat.js`, `agent_page_ui.js`, `eslint.config.mjs`, and the Claude frontend/Multi-Turn/recent-fixes notes that document self-healing status frames and Create Flow name resolution.</a:t>
            </a:r>
          </a:p>
          <a:p>
            <a:pPr>
              <a:spcAft>
                <a:spcPts val="400"/>
              </a:spcAft>
              <a:defRPr sz="1000">
                <a:solidFill>
                  <a:srgbClr val="B4BAAE"/>
                </a:solidFill>
                <a:latin typeface="Aptos"/>
              </a:defRPr>
            </a:pPr>
            <a:r>
              <a:t>The `v1.40.1` port assets span committed `manage.py`/`config.json`, source/startserver integration, the committed 24-test `agent/test_django_port_config.py` suite, version surfaces in `package.json`/`VERSIONING.md`, and operator contracts across README, Book, self-knowledge, prompt guidance, and `docs/claude`.</a:t>
            </a:r>
          </a:p>
          <a:p>
            <a:pPr>
              <a:spcAft>
                <a:spcPts val="400"/>
              </a:spcAft>
              <a:defRPr sz="1000">
                <a:solidFill>
                  <a:srgbClr val="B4BAAE"/>
                </a:solidFill>
                <a:latin typeface="Aptos"/>
              </a:defRPr>
            </a:pPr>
            <a:r>
              <a:t>The newest agent assets are concrete: `agent/agents/zavuerer/`, migrations `0159_add_zavuerer.py` through `0164_dedup_zavuerer_setup_wizards.py`, `test_zavuerer_agent.py`, Access Keys Wizard Zavu fields, planner capability hints, wrapped-tool registration, and ACP canvas styling/connection support.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Inventory meaning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latest cleanup/assets span also includes `GEMINI.md`, `FirstFinalPlanToSpeedUp.md`, `docs/claude/recent-fixes.md`, response-parser/runtime/settings/middleware touch-ups, and removal of the stale `Tlamatini/db.sqlite3.bak-prereseat` backup from the tracked surface.</a:t>
            </a:r>
          </a:p>
          <a:p>
            <a:pPr>
              <a:spcAft>
                <a:spcPts val="400"/>
              </a:spcAft>
              <a:defRPr sz="900">
                <a:solidFill>
                  <a:srgbClr val="B4BAAE"/>
                </a:solidFill>
                <a:latin typeface="Aptos"/>
              </a:defRPr>
            </a:pPr>
            <a:r>
              <a:t>The same wave preserves evidence-oriented tests and build guards such as `test_private_data_guard.py`, performance/visual checks, About-window authorship tests, and public-release verification rules that distinguish sensitive PII from valid creator names.</a:t>
            </a:r>
          </a:p>
          <a:p>
            <a:pPr>
              <a:spcAft>
                <a:spcPts val="400"/>
              </a:spcAft>
              <a:defRPr sz="900">
                <a:solidFill>
                  <a:srgbClr val="B4BAAE"/>
                </a:solidFill>
                <a:latin typeface="Aptos"/>
              </a:defRPr>
            </a:pPr>
            <a:r>
              <a:t>The same span refreshes shipped visual/media assets: `TlamatiniAbout.png` replaces the old `TlamatiniAbout.jpg`, and `agent/images/TlamatiniAndKyber.mp4` is part of the repository asset set described by the dossier.</a:t>
            </a:r>
          </a:p>
          <a:p>
            <a:pPr>
              <a:spcAft>
                <a:spcPts val="400"/>
              </a:spcAft>
              <a:defRPr sz="900">
                <a:solidFill>
                  <a:srgbClr val="B4BAAE"/>
                </a:solidFill>
                <a:latin typeface="Aptos"/>
              </a:defRPr>
            </a:pPr>
            <a:r>
              <a:t>The same recent window also retains the earlier self-modify/browser-setup asset wave — `copy_source_assets.py`, `agent/access_key_wizard.py`, `static/agent/js/access_keys_wizard.js`, `static/agent/css/access_keys_wizard.css`, and the Blender control surface in `agent/agents/blenderer/`.</a:t>
            </a:r>
          </a:p>
          <a:p>
            <a:pPr>
              <a:spcAft>
                <a:spcPts val="400"/>
              </a:spcAft>
              <a:defRPr sz="900">
                <a:solidFill>
                  <a:srgbClr val="B4BAAE"/>
                </a:solidFill>
                <a:latin typeface="Aptos"/>
              </a:defRPr>
            </a:pPr>
            <a:r>
              <a:t>Key operator/runtime files such as `prompt.pmt`, `chat_agent_registry.py`, `tools.py`, `views.py`, `urls.py`, `manage.py`, `file_extractor.py`, and the File-Creator/File-Extractor templates also changed, so the visible features are backed by concrete implementation assets rather than documentation-only promises.</a:t>
            </a:r>
          </a:p>
          <a:p>
            <a:pPr>
              <a:spcAft>
                <a:spcPts val="400"/>
              </a:spcAft>
              <a:defRPr sz="900">
                <a:solidFill>
                  <a:srgbClr val="B4BAAE"/>
                </a:solidFill>
                <a:latin typeface="Aptos"/>
              </a:defRPr>
            </a:pPr>
            <a:r>
              <a:t>Because the dossier already includes the full repository inventory (git-tracked files plus git-unignored working-tree additions) and the full line-count inventory, these named assets serve as the human-readable shortlist of what changed most materially in the latest release wave.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VISUAL WORKFLOW TEMPLE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Agentic Control Panel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ACP workflow</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Drag prebuilt agents onto the canvas and connect them visually.</a:t>
            </a:r>
          </a:p>
          <a:p>
            <a:pPr>
              <a:spcAft>
                <a:spcPts val="400"/>
              </a:spcAft>
              <a:defRPr sz="1500">
                <a:solidFill>
                  <a:srgbClr val="B4BAAE"/>
                </a:solidFill>
                <a:latin typeface="Aptos"/>
              </a:defRPr>
            </a:pPr>
            <a:r>
              <a:t>Configure deployed pool instances, not only static template folders.</a:t>
            </a:r>
          </a:p>
          <a:p>
            <a:pPr>
              <a:spcAft>
                <a:spcPts val="400"/>
              </a:spcAft>
              <a:defRPr sz="1500">
                <a:solidFill>
                  <a:srgbClr val="B4BAAE"/>
                </a:solidFill>
                <a:latin typeface="Aptos"/>
              </a:defRPr>
            </a:pPr>
            <a:r>
              <a:t>Validate structural rules before execution.</a:t>
            </a:r>
          </a:p>
          <a:p>
            <a:pPr>
              <a:spcAft>
                <a:spcPts val="400"/>
              </a:spcAft>
              <a:defRPr sz="1500">
                <a:solidFill>
                  <a:srgbClr val="B4BAAE"/>
                </a:solidFill>
                <a:latin typeface="Aptos"/>
              </a:defRPr>
            </a:pPr>
            <a:r>
              <a:t>Start through Starter, pause/resume through reanimation state, and stop through Ender semantics.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Flow files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Workflows save and load as `.flw` files.</a:t>
            </a:r>
          </a:p>
          <a:p>
            <a:pPr>
              <a:spcAft>
                <a:spcPts val="400"/>
              </a:spcAft>
              <a:defRPr sz="1600">
                <a:solidFill>
                  <a:srgbClr val="B4BAAE"/>
                </a:solidFill>
                <a:latin typeface="Aptos"/>
              </a:defRPr>
            </a:pPr>
            <a:r>
              <a:t>Generated flows from chat are starter drafts, not a replacement for ACP validation.</a:t>
            </a:r>
          </a:p>
          <a:p>
            <a:pPr>
              <a:spcAft>
                <a:spcPts val="400"/>
              </a:spcAft>
              <a:defRPr sz="1600">
                <a:solidFill>
                  <a:srgbClr val="B4BAAE"/>
                </a:solidFill>
                <a:latin typeface="Aptos"/>
              </a:defRPr>
            </a:pPr>
            <a:r>
              <a:t>LED indicators and logs show runtime health across the session pool.</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WORKFLOW AGENT CATALOG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The 86 Guardians</a:t>
            </a:r>
          </a:p>
        </p:txBody>
      </p:sp>
      <p:sp>
        <p:nvSpPr>
          <p:cNvPr id="9" name="Rounded Rectangle 8"/>
          <p:cNvSpPr/>
          <p:nvPr/>
        </p:nvSpPr>
        <p:spPr>
          <a:xfrm>
            <a:off x="658368" y="1426464"/>
            <a:ext cx="544068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26464"/>
            <a:ext cx="544068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27632"/>
            <a:ext cx="5038344" cy="310896"/>
          </a:xfrm>
          <a:prstGeom prst="rect">
            <a:avLst/>
          </a:prstGeom>
          <a:noFill/>
        </p:spPr>
        <p:txBody>
          <a:bodyPr wrap="square" anchor="t">
            <a:spAutoFit/>
          </a:bodyPr>
          <a:lstStyle/>
          <a:p>
            <a:pPr algn="l"/>
            <a:r>
              <a:rPr sz="1400" b="1">
                <a:solidFill>
                  <a:srgbClr val="C48052"/>
                </a:solidFill>
                <a:latin typeface="Aptos"/>
              </a:rPr>
              <a:t>Agent families</a:t>
            </a:r>
          </a:p>
        </p:txBody>
      </p:sp>
      <p:sp>
        <p:nvSpPr>
          <p:cNvPr id="12" name="TextBox 11"/>
          <p:cNvSpPr txBox="1"/>
          <p:nvPr/>
        </p:nvSpPr>
        <p:spPr>
          <a:xfrm>
            <a:off x="859536" y="2084832"/>
            <a:ext cx="5038344" cy="38587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Control: starter, ender, stopper, cleaner, barrier, flowbacker</a:t>
            </a:r>
          </a:p>
          <a:p>
            <a:pPr>
              <a:spcAft>
                <a:spcPts val="400"/>
              </a:spcAft>
              <a:defRPr sz="1300">
                <a:solidFill>
                  <a:srgbClr val="B4BAAE"/>
                </a:solidFill>
                <a:latin typeface="Aptos"/>
              </a:defRPr>
            </a:pPr>
            <a:r>
              <a:t>Execution and files: executer, pythonxer, pser, file_creator, file_extractor, file_interpreter, de_compresser, playwrighter, windower, unrealer, kalier, stm32er, esp32er, esphomer, arduiner, mover, deleter</a:t>
            </a:r>
          </a:p>
          <a:p>
            <a:pPr>
              <a:spcAft>
                <a:spcPts val="400"/>
              </a:spcAft>
              <a:defRPr sz="1300">
                <a:solidFill>
                  <a:srgbClr val="B4BAAE"/>
                </a:solidFill>
                <a:latin typeface="Aptos"/>
              </a:defRPr>
            </a:pPr>
            <a:r>
              <a:t>DevOps and infra: gitter, dockerer, kuberneter, jenkinser, ssher, scper</a:t>
            </a:r>
          </a:p>
          <a:p>
            <a:pPr>
              <a:spcAft>
                <a:spcPts val="400"/>
              </a:spcAft>
              <a:defRPr sz="1300">
                <a:solidFill>
                  <a:srgbClr val="B4BAAE"/>
                </a:solidFill>
                <a:latin typeface="Aptos"/>
              </a:defRPr>
            </a:pPr>
            <a:r>
              <a:t>Data and APIs: sqler, mongoxer, apirer, crawler, googler</a:t>
            </a:r>
          </a:p>
        </p:txBody>
      </p:sp>
      <p:sp>
        <p:nvSpPr>
          <p:cNvPr id="13" name="Rounded Rectangle 12"/>
          <p:cNvSpPr/>
          <p:nvPr/>
        </p:nvSpPr>
        <p:spPr>
          <a:xfrm>
            <a:off x="6327648" y="1426464"/>
            <a:ext cx="516636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26464"/>
            <a:ext cx="51663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27632"/>
            <a:ext cx="4764024" cy="310896"/>
          </a:xfrm>
          <a:prstGeom prst="rect">
            <a:avLst/>
          </a:prstGeom>
          <a:noFill/>
        </p:spPr>
        <p:txBody>
          <a:bodyPr wrap="square" anchor="t">
            <a:spAutoFit/>
          </a:bodyPr>
          <a:lstStyle/>
          <a:p>
            <a:pPr algn="l"/>
            <a:r>
              <a:rPr sz="1400" b="1">
                <a:solidFill>
                  <a:srgbClr val="48BF8F"/>
                </a:solidFill>
                <a:latin typeface="Aptos"/>
              </a:rPr>
              <a:t>More guardians</a:t>
            </a:r>
          </a:p>
        </p:txBody>
      </p:sp>
      <p:sp>
        <p:nvSpPr>
          <p:cNvPr id="16" name="TextBox 15"/>
          <p:cNvSpPr txBox="1"/>
          <p:nvPr/>
        </p:nvSpPr>
        <p:spPr>
          <a:xfrm>
            <a:off x="6528816" y="2084832"/>
            <a:ext cx="4764024" cy="38587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Monitoring and routing: monitor_log, monitor_netstat, flowhypervisor, forker, asker, counter, and, or</a:t>
            </a:r>
          </a:p>
          <a:p>
            <a:pPr>
              <a:spcAft>
                <a:spcPts val="400"/>
              </a:spcAft>
              <a:defRPr sz="1300">
                <a:solidFill>
                  <a:srgbClr val="B4BAAE"/>
                </a:solidFill>
                <a:latin typeface="Aptos"/>
              </a:defRPr>
            </a:pPr>
            <a:r>
              <a:t>Communication: notifier, emailer, recmailer, telegrammer, teletlamatini, whatsapper</a:t>
            </a:r>
          </a:p>
          <a:p>
            <a:pPr>
              <a:spcAft>
                <a:spcPts val="400"/>
              </a:spcAft>
              <a:defRPr sz="1300">
                <a:solidFill>
                  <a:srgbClr val="B4BAAE"/>
                </a:solidFill>
                <a:latin typeface="Aptos"/>
              </a:defRPr>
            </a:pPr>
            <a:r>
              <a:t>Security and media: kyber_keygen, kyber_cipher, kyber_decipher, image_interpreter, video_analyzer, shoter, camcorder, recorder, audioplayer, videoplayer, j_decompiler</a:t>
            </a:r>
          </a:p>
          <a:p>
            <a:pPr>
              <a:spcAft>
                <a:spcPts val="400"/>
              </a:spcAft>
              <a:defRPr sz="1300">
                <a:solidFill>
                  <a:srgbClr val="B4BAAE"/>
                </a:solidFill>
                <a:latin typeface="Aptos"/>
              </a:defRPr>
            </a:pPr>
            <a:r>
              <a:t>Workflow intelligence: flowcreator, gatewayer, gateway_relayer, node_manager, parametrizer, prompter, summarizer, acpxer</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COUNT AND DESCRIPTION SOURCE OF TRUTH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 Catalog Integrity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Count alignment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Templates on disk with config.yaml: 86</a:t>
            </a:r>
          </a:p>
          <a:p>
            <a:pPr>
              <a:spcAft>
                <a:spcPts val="400"/>
              </a:spcAft>
              <a:defRPr sz="1500">
                <a:solidFill>
                  <a:srgbClr val="B4BAAE"/>
                </a:solidFill>
                <a:latin typeface="Aptos"/>
              </a:defRPr>
            </a:pPr>
            <a:r>
              <a:t>Description rows in `agents_descriptions.md`: 87</a:t>
            </a:r>
          </a:p>
          <a:p>
            <a:pPr>
              <a:spcAft>
                <a:spcPts val="400"/>
              </a:spcAft>
              <a:defRPr sz="1500">
                <a:solidFill>
                  <a:srgbClr val="B4BAAE"/>
                </a:solidFill>
                <a:latin typeface="Aptos"/>
              </a:defRPr>
            </a:pPr>
            <a:r>
              <a:t>This dossier reconciles README and Book wording back to the same 86-agent inventory when older badges or legacy prose lines lag behind the live tree.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Description source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authoritative human-readable source for workflow-agent descriptions is `agents_descriptions.md` at the repo root, not an embedded JavaScript map or a hard-coded Django list.</a:t>
            </a:r>
          </a:p>
          <a:p>
            <a:pPr>
              <a:spcAft>
                <a:spcPts val="400"/>
              </a:spcAft>
              <a:defRPr sz="1400">
                <a:solidFill>
                  <a:srgbClr val="B4BAAE"/>
                </a:solidFill>
                <a:latin typeface="Aptos"/>
              </a:defRPr>
            </a:pPr>
            <a:r>
              <a:t>Current validation compares live template directories, `agents_descriptions.md` rows, and the README / Book bestiary counts so the generated dossier stays aligned with the running product.</a:t>
            </a:r>
          </a:p>
          <a:p>
            <a:pPr>
              <a:spcAft>
                <a:spcPts val="400"/>
              </a:spcAft>
              <a:defRPr sz="1400">
                <a:solidFill>
                  <a:srgbClr val="B4BAAE"/>
                </a:solidFill>
                <a:latin typeface="Aptos"/>
              </a:defRPr>
            </a:pPr>
            <a:r>
              <a:t>The ACP sidebar hover tooltip and the right-click Description dialog both resolve through that markdown file first; `README.md` is only a legacy fallback when the dedicated description file is absent.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NEW REVIEW AND SECURITY SURFACES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Reviewer And 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they do</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workflow catalog now includes two new high-value specialists: Reviewer and Analyzer, lifting the canvas inventory to 64 agents and the seed-skill catalog to 23 SKILL.md packages.</a:t>
            </a:r>
          </a:p>
          <a:p>
            <a:pPr>
              <a:spcAft>
                <a:spcPts val="400"/>
              </a:spcAft>
              <a:defRPr sz="1300">
                <a:solidFill>
                  <a:srgbClr val="B4BAAE"/>
                </a:solidFill>
                <a:latin typeface="Aptos"/>
              </a:defRPr>
            </a:pPr>
            <a:r>
              <a:t>Reviewer is LLM-powered: it resolves a git diff for `repo_path`, reviews it with a senior-engineer prompt, and emits an `INI_SECTION_REVIEWER` block whose first routable field is `verdict = APPROVE | REQUEST_CHANGES | COMMENT`.</a:t>
            </a:r>
          </a:p>
          <a:p>
            <a:pPr>
              <a:spcAft>
                <a:spcPts val="400"/>
              </a:spcAft>
              <a:defRPr sz="1300">
                <a:solidFill>
                  <a:srgbClr val="B4BAAE"/>
                </a:solidFill>
                <a:latin typeface="Aptos"/>
              </a:defRPr>
            </a:pPr>
            <a:r>
              <a:t>Analyzer is deterministic and scanner-driven: it runs whichever of `bandit`, `semgrep`, `ruff`, `eslint`, `gitleaks`, and `pip-audit` are installed on PATH over `target_path`, then emits an `INI_SECTION_ANALYZER` block with `status` and `total_findings` for downstream routing.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them</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Both agents always trigger `target_agents`, so a downstream Forker can branch on `{verdict}`, `{status}`, or `{total_findings}` instead of scraping prose.</a:t>
            </a:r>
          </a:p>
          <a:p>
            <a:pPr>
              <a:spcAft>
                <a:spcPts val="400"/>
              </a:spcAft>
              <a:defRPr sz="1300">
                <a:solidFill>
                  <a:srgbClr val="B4BAAE"/>
                </a:solidFill>
                <a:latin typeface="Aptos"/>
              </a:defRPr>
            </a:pPr>
            <a:r>
              <a:t>They are intentionally canvas-only workflow agents: there is no wrapped `chat_agent_reviewer` or `chat_agent_analyzer`, and therefore no duplicate Exec Report row family for those names.</a:t>
            </a:r>
          </a:p>
          <a:p>
            <a:pPr>
              <a:spcAft>
                <a:spcPts val="400"/>
              </a:spcAft>
              <a:defRPr sz="1300">
                <a:solidFill>
                  <a:srgbClr val="B4BAAE"/>
                </a:solidFill>
                <a:latin typeface="Aptos"/>
              </a:defRPr>
            </a:pPr>
            <a:r>
              <a:t>The chat-side counterparts live in the ACPX skill catalog instead: `code-review` exposes senior-engineer git-diff review, while `security-audit` exposes the deterministic multi-scanner sweep.</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README HEADER AND PLANNER-FACING INVENTORY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Operator Surface Counts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Current counts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live operator surface now stands at 86 workflow agents, 96 Multi-Turn tools, 12 ACPX tools, and 28 skills.</a:t>
            </a:r>
          </a:p>
          <a:p>
            <a:pPr>
              <a:spcAft>
                <a:spcPts val="400"/>
              </a:spcAft>
              <a:defRPr sz="1000">
                <a:solidFill>
                  <a:srgbClr val="B4BAAE"/>
                </a:solidFill>
                <a:latin typeface="Aptos"/>
              </a:defRPr>
            </a:pPr>
            <a:r>
              <a:t>Source inspection confirms the total: 64 distinct wrapped chat-agent tools bound from `chat_agent_registry.py`, which combines with 20 core Python tools and 12 ACPX/Skill tools for 96 Multi-Turn tools overall.</a:t>
            </a:r>
          </a:p>
          <a:p>
            <a:pPr>
              <a:spcAft>
                <a:spcPts val="400"/>
              </a:spcAft>
              <a:defRPr sz="1000">
                <a:solidFill>
                  <a:srgbClr val="B4BAAE"/>
                </a:solidFill>
                <a:latin typeface="Aptos"/>
              </a:defRPr>
            </a:pPr>
            <a:r>
              <a:t>The count growth over older public badges now comes from several stacked waves together: the deterministic file-navigation/file-edit trio (Globber, Grepper, Editor), the ESPHomer smart-home firmware lane, MCP Doctor for External MCP onboarding, Zavuerer unified messaging, Video-Analyzer for robotic video verdicts, and Nmapper for local authorized nmap reconnaissance.</a:t>
            </a:r>
          </a:p>
          <a:p>
            <a:pPr>
              <a:spcAft>
                <a:spcPts val="400"/>
              </a:spcAft>
              <a:defRPr sz="1000">
                <a:solidFill>
                  <a:srgbClr val="B4BAAE"/>
                </a:solidFill>
                <a:latin typeface="Aptos"/>
              </a:defRPr>
            </a:pPr>
            <a:r>
              <a:t>The workflow-agent and wrapped-tool totals are validated from the live tree even when some handbook badges or older prose lines lag behind the newest release wave, so the dossier stays tied to source truth instead of stale summaries.</a:t>
            </a:r>
          </a:p>
          <a:p>
            <a:pPr>
              <a:spcAft>
                <a:spcPts val="400"/>
              </a:spcAft>
              <a:defRPr sz="1000">
                <a:solidFill>
                  <a:srgbClr val="B4BAAE"/>
                </a:solidFill>
                <a:latin typeface="Aptos"/>
              </a:defRPr>
            </a:pPr>
            <a:r>
              <a:t>This matters operationally because the planner never binds everything at once: the documented default `max_selected_tools` cap stays at 20, so breadth of capability does not mean uncontrolled tool sprawl per 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the counts matter</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README now surfaces the same operator picture the app exposes in practice: broad capability, selective planner binding, and a capped tool budget per request.</a:t>
            </a:r>
          </a:p>
          <a:p>
            <a:pPr>
              <a:spcAft>
                <a:spcPts val="400"/>
              </a:spcAft>
              <a:defRPr sz="1300">
                <a:solidFill>
                  <a:srgbClr val="B4BAAE"/>
                </a:solidFill>
                <a:latin typeface="Aptos"/>
              </a:defRPr>
            </a:pPr>
            <a:r>
              <a:t>Those counts complement the 86-agent bestiary instead of replacing it: skills, wrapped tools, and ACPX tools are different layers of the same operating surface.</a:t>
            </a:r>
          </a:p>
          <a:p>
            <a:pPr>
              <a:spcAft>
                <a:spcPts val="400"/>
              </a:spcAft>
              <a:defRPr sz="1300">
                <a:solidFill>
                  <a:srgbClr val="B4BAAE"/>
                </a:solidFill>
                <a:latin typeface="Aptos"/>
              </a:defRPr>
            </a:pPr>
            <a:r>
              <a:t>For dossier readers, this closes a gap between the capability narrative and the quick-glance repo badges at the top of the handbook.</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EMBEDDED-CLIENT KALI LINUX CONTROL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Kalier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Kalier is Tlamatini’s current Kali Linux bridge: a direct client for MCP-Kali-Server that lets her drive authorized recon, enumeration, web scanning, and offensive-security workflows from chat or canvas.</a:t>
            </a:r>
          </a:p>
          <a:p>
            <a:pPr>
              <a:spcAft>
                <a:spcPts val="400"/>
              </a:spcAft>
              <a:defRPr sz="1200">
                <a:solidFill>
                  <a:srgbClr val="B4BAAE"/>
                </a:solidFill>
                <a:latin typeface="Aptos"/>
              </a:defRPr>
            </a:pPr>
            <a:r>
              <a:t>It can issue one capability per run, including `nmap`, `gobuster`, `dirb`, `nikto`, `sqlmap`, `metasploit`, `hydra`, `john`, `wpscan`, `enum4linux`, arbitrary `command`, or a safe `health` probe of the remote server.</a:t>
            </a:r>
          </a:p>
          <a:p>
            <a:pPr>
              <a:spcAft>
                <a:spcPts val="400"/>
              </a:spcAft>
              <a:defRPr sz="1200">
                <a:solidFill>
                  <a:srgbClr val="B4BAAE"/>
                </a:solidFill>
                <a:latin typeface="Aptos"/>
              </a:defRPr>
            </a:pPr>
            <a:r>
              <a:t>The agent emits `INI_SECTION_KALIER` with `action`, `endpoint`, `subject`, `return_code`, `success`, `timed_out`, and `server_url`, so downstream Forker or Parametrizer logic can branch on results without scraping prose.</a:t>
            </a:r>
          </a:p>
          <a:p>
            <a:pPr>
              <a:spcAft>
                <a:spcPts val="400"/>
              </a:spcAft>
              <a:defRPr sz="1200">
                <a:solidFill>
                  <a:srgbClr val="B4BAAE"/>
                </a:solidFill>
                <a:latin typeface="Aptos"/>
              </a:defRPr>
            </a:pPr>
            <a:r>
              <a:t>The practical operator result is simpler prompts: after the Kali box URL is configured once, normal Multi-Turn requests no longer repeat `server_url` unless you intentionally override it for a one-off 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`chat_agent_kalier` now auto-injects the configured `kali_server_url`, while the visual Kalier canvas node still stores `server_url` explicitly in YAML per node.</a:t>
            </a:r>
          </a:p>
          <a:p>
            <a:pPr>
              <a:spcAft>
                <a:spcPts val="400"/>
              </a:spcAft>
              <a:defRPr sz="1200">
                <a:solidFill>
                  <a:srgbClr val="B4BAAE"/>
                </a:solidFill>
                <a:latin typeface="Aptos"/>
              </a:defRPr>
            </a:pPr>
            <a:r>
              <a:t>Kalier talks straight to the Kali-side Flask API over HTTP using Python-stdlib `urllib`, so it stays self-contained in the pool subprocess and works the same in source or frozen builds; the embedded-client injection fails open if the config value is blank or unreadable.</a:t>
            </a:r>
          </a:p>
          <a:p>
            <a:pPr>
              <a:spcAft>
                <a:spcPts val="400"/>
              </a:spcAft>
              <a:defRPr sz="1200">
                <a:solidFill>
                  <a:srgbClr val="B4BAAE"/>
                </a:solidFill>
                <a:latin typeface="Aptos"/>
              </a:defRPr>
            </a:pPr>
            <a:r>
              <a:t>Authorized use only: the intended operator flow is an in-scope lab, CTF, or permitted engagement, often with `ssh -L 5000:localhost:5000 user@KALI_IP` tunneling a remote Kali box back to `http://127.0.0.1:5000`, and the repo now includes `Tlamatini-Kali-Setup.md` for the zero-client walkthrough.</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CRITICAL-MISSION STM32 FIRMWARE CONTROL WITH DUAL BACKENDS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STM32er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STM32er is Tlamatini's critical-mission STM32 bridge. The established route talks to the `STM32 Template Project MCP` for STM32F407, while released `v1.42.0` adds a direct PlatformIO route for supported mainstream STM32 boards without removing that flow.</a:t>
            </a:r>
          </a:p>
          <a:p>
            <a:pPr>
              <a:spcAft>
                <a:spcPts val="400"/>
              </a:spcAft>
              <a:defRPr sz="1200">
                <a:solidFill>
                  <a:srgbClr val="B4BAAE"/>
                </a:solidFill>
                <a:latin typeface="Aptos"/>
              </a:defRPr>
            </a:pPr>
            <a:r>
              <a:t>Both backends keep zero-config intent: the template route bootstraps its MCP dependencies, and the new route resolves or installs PlatformIO Core in the same shared per-user location used by ESP32er.</a:t>
            </a:r>
          </a:p>
          <a:p>
            <a:pPr>
              <a:spcAft>
                <a:spcPts val="400"/>
              </a:spcAft>
              <a:defRPr sz="1200">
                <a:solidFill>
                  <a:srgbClr val="B4BAAE"/>
                </a:solidFill>
                <a:latin typeface="Aptos"/>
              </a:defRPr>
            </a:pPr>
            <a:r>
              <a:t>Backend-specific preflight preserves target safety: compile-only work may proceed without attached hardware, but upload, reset, serial, and live operations are refused when the required toolchain, project, board mapping, programmer, or ST-LINK evidence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`chat_agent_stm32er` takes one `action` per call, while the visual STM32er canvas node stores the same fields in YAML and triggers downstream agents on both success and failure.</a:t>
            </a:r>
          </a:p>
          <a:p>
            <a:pPr>
              <a:spcAft>
                <a:spcPts val="400"/>
              </a:spcAft>
              <a:defRPr sz="1200">
                <a:solidFill>
                  <a:srgbClr val="B4BAAE"/>
                </a:solidFill>
                <a:latin typeface="Aptos"/>
              </a:defRPr>
            </a:pPr>
            <a:r>
              <a:t>The tool surface retains the 23 MCP verbs and locally adds PlatformIO environment, board, project, source, build, flash, monitor, package, QA, artifact, and safe scaffold composites; every run still emits one `INI_SECTION_STM32ER` block for routing.</a:t>
            </a:r>
          </a:p>
          <a:p>
            <a:pPr>
              <a:spcAft>
                <a:spcPts val="400"/>
              </a:spcAft>
              <a:defRPr sz="1200">
                <a:solidFill>
                  <a:srgbClr val="B4BAAE"/>
                </a:solidFill>
                <a:latin typeface="Aptos"/>
              </a:defRPr>
            </a:pPr>
            <a:r>
              <a:t>Config seeding supplies both MCP and PlatformIO defaults, while `stm32_backend=auto`, `board`, and `device` keep the normal prompt focused on firmware intent. Newest-silicon CubeCLT/N6 handling remains proposal-only and is not advertised as implemented.</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PLATFORMIO-DRIVEN ESP32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ESP32er is Tlamatini’s current PlatformIO Core bridge: she can scaffold, author, build, upload, and monitor ESP32-class firmware without relying on an external MCP server or IDE.</a:t>
            </a:r>
          </a:p>
          <a:p>
            <a:pPr>
              <a:spcAft>
                <a:spcPts val="400"/>
              </a:spcAft>
              <a:defRPr sz="1200">
                <a:solidFill>
                  <a:srgbClr val="B4BAAE"/>
                </a:solidFill>
                <a:latin typeface="Aptos"/>
              </a:defRPr>
            </a:pPr>
            <a:r>
              <a:t>The operator promise is zero-config bootstrap: leave `pio_executable` blank and ESP32er downloads or pip-falls-back to PlatformIO Core on first use, validates it, and caches it under a per-user directory so the user installs only the board USB driver plus Tlamatini.</a:t>
            </a:r>
          </a:p>
          <a:p>
            <a:pPr>
              <a:spcAft>
                <a:spcPts val="400"/>
              </a:spcAft>
              <a:defRPr sz="1200">
                <a:solidFill>
                  <a:srgbClr val="B4BAAE"/>
                </a:solidFill>
                <a:latin typeface="Aptos"/>
              </a:defRPr>
            </a:pPr>
            <a:r>
              <a:t>Before any build-or-upload action, ESP32er runs a serial-aware preflight over `pio` resolution, project shape, and connected ports; upload and monitor require a real serial device, while non-espressif32 targets are warned about rather than hard-refused because PlatformIO is intentionally multi-target.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Two operator surfaces ship in lock-step: the wrapped Multi-Turn tool `chat_agent_esp32er` takes one `action` per call, while the visual ESP32er canvas node stores the same fields in YAML and triggers downstream agents on both success and failure.</a:t>
            </a:r>
          </a:p>
          <a:p>
            <a:pPr>
              <a:spcAft>
                <a:spcPts val="400"/>
              </a:spcAft>
              <a:defRPr sz="1100">
                <a:solidFill>
                  <a:srgbClr val="B4BAAE"/>
                </a:solidFill>
                <a:latin typeface="Aptos"/>
              </a:defRPr>
            </a:pPr>
            <a:r>
              <a:t>The tool surface covers environment/meta (`bootstrap`, `validate`, `system_info`, `boards`), project lifecycle (`create_project`, `write_source`, `read_source`, `list_sources`, `clean`), build and flash (`build`, `upload`, `build_and_upload`, `list_artifacts`), serial HIL (`device_list`, `monitor`, `monitor_session`), and package / QA paths (`pkg_install`, `pkg_list`, `pkg_update`, `check`, `test`), with every run emitting an `INI_SECTION_ESP32ER` block for Forker or Parametrizer routing.</a:t>
            </a:r>
          </a:p>
          <a:p>
            <a:pPr>
              <a:spcAft>
                <a:spcPts val="400"/>
              </a:spcAft>
              <a:defRPr sz="1100">
                <a:solidFill>
                  <a:srgbClr val="B4BAAE"/>
                </a:solidFill>
                <a:latin typeface="Aptos"/>
              </a:defRPr>
            </a:pPr>
            <a:r>
              <a:t>Config -&gt; URLs now seeds the chat path with `pio_executable` and `pio_core_dir`, so firmware prompts usually describe only the board, project, and task while the wrapped tool auto-injects the PlatformIO runtime plumbing.</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KNOWN-GOOD PLATFORMIO BASELINE FOR ESP32ER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ESP32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new `ESP32TemplateProject` repository is the known-good baseline documented in BookOfTlamatini’s bonus chapter: a plain PlatformIO project, not a server, meant to prove an ESP32 board and toolchain are healthy before larger firmware work.</a:t>
            </a:r>
          </a:p>
          <a:p>
            <a:pPr>
              <a:spcAft>
                <a:spcPts val="400"/>
              </a:spcAft>
              <a:defRPr sz="1300">
                <a:solidFill>
                  <a:srgbClr val="B4BAAE"/>
                </a:solidFill>
                <a:latin typeface="Aptos"/>
              </a:defRPr>
            </a:pPr>
            <a:r>
              <a:t>It mirrors ESP32er’s grain: `platformio.ini`, `src/`, `include/`, `lib/`, `test/`, a blinking `main.cpp`, serial output at 115200, and GitHub-ready docs/CI so the reference project does not silently rot.</a:t>
            </a:r>
          </a:p>
          <a:p>
            <a:pPr>
              <a:spcAft>
                <a:spcPts val="400"/>
              </a:spcAft>
              <a:defRPr sz="1300">
                <a:solidFill>
                  <a:srgbClr val="B4BAAE"/>
                </a:solidFill>
                <a:latin typeface="Aptos"/>
              </a:defRPr>
            </a:pPr>
            <a:r>
              <a:t>Operationally, ESP32er can either point at a checkout of that template (`project_dir`) or scaffold an equivalent from scratch with `action='create_project'`, then carry the directory through build, upload, and monitor steps.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reference project gives Tlamatini a stable build/upload/monitor proving ground before a user asks her to generate larger ESP32 firmware.</a:t>
            </a:r>
          </a:p>
          <a:p>
            <a:pPr>
              <a:spcAft>
                <a:spcPts val="400"/>
              </a:spcAft>
              <a:defRPr sz="1300">
                <a:solidFill>
                  <a:srgbClr val="B4BAAE"/>
                </a:solidFill>
                <a:latin typeface="Aptos"/>
              </a:defRPr>
            </a:pPr>
            <a:r>
              <a:t>Because it is a plain PlatformIO repo, it matches the exact grain of `chat_agent_esp32er` and the visual ESP32er node instead of introducing another sidecar protocol.</a:t>
            </a:r>
          </a:p>
          <a:p>
            <a:pPr>
              <a:spcAft>
                <a:spcPts val="400"/>
              </a:spcAft>
              <a:defRPr sz="1300">
                <a:solidFill>
                  <a:srgbClr val="B4BAAE"/>
                </a:solidFill>
                <a:latin typeface="Aptos"/>
              </a:defRPr>
            </a:pPr>
            <a:r>
              <a:t>This closes the gap between the new agent and a practical first project a user can build, flash, and watch over serial on real silicon.</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ESPHOME-DRIVEN SMART-HOME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ESPHomer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ESPHomer is Tlamatini’s ESPHome bridge: she can author YAML-based smart-home device configs, validate them, compile firmware, upload over USB or OTA, and observe logs without introducing an extra MCP server or IDE.</a:t>
            </a:r>
          </a:p>
          <a:p>
            <a:pPr>
              <a:spcAft>
                <a:spcPts val="400"/>
              </a:spcAft>
              <a:defRPr sz="1200">
                <a:solidFill>
                  <a:srgbClr val="B4BAAE"/>
                </a:solidFill>
                <a:latin typeface="Aptos"/>
              </a:defRPr>
            </a:pPr>
            <a:r>
              <a:t>The operator promise is zero-config bootstrap: leave `esphome_executable` blank and ESPHomer installs or resolves ESPHome on first use, so the user installs only the board USB driver plus Tlamatini.</a:t>
            </a:r>
          </a:p>
          <a:p>
            <a:pPr>
              <a:spcAft>
                <a:spcPts val="400"/>
              </a:spcAft>
              <a:defRPr sz="1200">
                <a:solidFill>
                  <a:srgbClr val="B4BAAE"/>
                </a:solidFill>
                <a:latin typeface="Aptos"/>
              </a:defRPr>
            </a:pPr>
            <a:r>
              <a:t>Before any compile-or-upload action, ESPHomer runs a fail-safe preflight over `esphome` resolution, YAML existence, and serial-or-OTA readiness; upload, run, and logs require a real serial board or an OTA host because the first flash is always USB.</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`chat_agent_esphomer` takes one `action` per call, while the visual ESPHomer canvas node stores the same fields in YAML and triggers downstream agents on both success and failure.</a:t>
            </a:r>
          </a:p>
          <a:p>
            <a:pPr>
              <a:spcAft>
                <a:spcPts val="400"/>
              </a:spcAft>
              <a:defRPr sz="1200">
                <a:solidFill>
                  <a:srgbClr val="B4BAAE"/>
                </a:solidFill>
                <a:latin typeface="Aptos"/>
              </a:defRPr>
            </a:pPr>
            <a:r>
              <a:t>The tool surface covers environment/meta (`bootstrap`, `validate`, `version`), device-YAML lifecycle (`new_config`, `write_config`, `read_config`, `config`, `clean`), build and flash (`compile`, `upload`, `run`, `list_artifacts`), bounded observation (`logs`), and the one-shot `scaffold_compile_upload` lifecycle.</a:t>
            </a:r>
          </a:p>
          <a:p>
            <a:pPr>
              <a:spcAft>
                <a:spcPts val="400"/>
              </a:spcAft>
              <a:defRPr sz="1200">
                <a:solidFill>
                  <a:srgbClr val="B4BAAE"/>
                </a:solidFill>
                <a:latin typeface="Aptos"/>
              </a:defRPr>
            </a:pPr>
            <a:r>
              <a:t>Config -&gt; URLs now seeds the chat path with `esphome_executable`, so smart-home firmware prompts usually describe only the device, board, and task while the wrapped tool auto-injects the ESPHome runtime plumbing.</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KNOWN-GOOD YAML BASELINE FOR ESPHOMER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ESPHome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bundled `ESPHomeTemplateProject` is the known-good ESPHome baseline documented in README and Book: a phone-controllable light with native `api`, `ota`, `wifi`, and a board LED output, shipped as `agent/agents/esphomer/ESPHomeTemplateProject/tlamatini-light.yaml`.</a:t>
            </a:r>
          </a:p>
          <a:p>
            <a:pPr>
              <a:spcAft>
                <a:spcPts val="400"/>
              </a:spcAft>
              <a:defRPr sz="1300">
                <a:solidFill>
                  <a:srgbClr val="B4BAAE"/>
                </a:solidFill>
                <a:latin typeface="Aptos"/>
              </a:defRPr>
            </a:pPr>
            <a:r>
              <a:t>It matters because ESPHomer’s source-of-truth is a YAML device file, not a C++ project tree: that sample proves the first real workflow of `new_config` -&gt; `config` -&gt; `compile` -&gt; `upload` without forcing users to invent a valid starter config from memory.</a:t>
            </a:r>
          </a:p>
          <a:p>
            <a:pPr>
              <a:spcAft>
                <a:spcPts val="400"/>
              </a:spcAft>
              <a:defRPr sz="1300">
                <a:solidFill>
                  <a:srgbClr val="B4BAAE"/>
                </a:solidFill>
                <a:latin typeface="Aptos"/>
              </a:defRPr>
            </a:pPr>
            <a:r>
              <a:t>Operationally, the sample closes the gap between the new agent and a practical first build a user can validate, compile, flash, and then control from a smart-home hub such as Home Assistant.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bundled sample gives Tlamatini a stable validate/compile/upload proving ground before a user asks her to generate a custom ESPHome device.</a:t>
            </a:r>
          </a:p>
          <a:p>
            <a:pPr>
              <a:spcAft>
                <a:spcPts val="400"/>
              </a:spcAft>
              <a:defRPr sz="1300">
                <a:solidFill>
                  <a:srgbClr val="B4BAAE"/>
                </a:solidFill>
                <a:latin typeface="Aptos"/>
              </a:defRPr>
            </a:pPr>
            <a:r>
              <a:t>Because the source-of-truth is a single YAML file, it matches the exact grain of `chat_agent_esphomer` and the visual ESPHomer node instead of introducing a separate project-server protocol.</a:t>
            </a:r>
          </a:p>
          <a:p>
            <a:pPr>
              <a:spcAft>
                <a:spcPts val="400"/>
              </a:spcAft>
              <a:defRPr sz="1300">
                <a:solidFill>
                  <a:srgbClr val="B4BAAE"/>
                </a:solidFill>
                <a:latin typeface="Aptos"/>
              </a:defRPr>
            </a:pPr>
            <a:r>
              <a:t>This closes the gap between the new agent and a practical first device a user can build, flash, and then control from a smart-home hub.</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WHO SHE IS AND HOW SHE CAN IMPROVE HERSELF</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Self-Knowledge And Self-Modify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Version `1.8.0` gives Tlamatini a first-person self-knowledge map in `Tlamatini/agent/Tlamatini.md`, so she can answer more accurately about her own architecture, runtime modes, open ports, pages, and internal capability surface.</a:t>
            </a:r>
          </a:p>
          <a:p>
            <a:pPr>
              <a:spcAft>
                <a:spcPts val="400"/>
              </a:spcAft>
              <a:defRPr sz="1300">
                <a:solidFill>
                  <a:srgbClr val="B4BAAE"/>
                </a:solidFill>
                <a:latin typeface="Aptos"/>
              </a:defRPr>
            </a:pPr>
            <a:r>
              <a:t>That self-reference is injected into all prompt chains through `prompt.pmt` and `agent/rag/config.py`, but it fails open if the file is missing or unreadable and it never overrides a user-loaded project when the request is a generic summary of the provided context.</a:t>
            </a:r>
          </a:p>
          <a:p>
            <a:pPr>
              <a:spcAft>
                <a:spcPts val="400"/>
              </a:spcAft>
              <a:defRPr sz="1300">
                <a:solidFill>
                  <a:srgbClr val="B4BAAE"/>
                </a:solidFill>
                <a:latin typeface="Aptos"/>
              </a:defRPr>
            </a:pPr>
            <a:r>
              <a:t>The language contract matters too: when a pronoun is used for Tlamatini in the documentation or prompt guidance, she is referred to as `she` / `her`, matching the updated handbook identity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Self-modify and autonomy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Self-modification is a separate capability axis from frozen-vs-source runtime: only builds created with `python build.py --self-modify` bundle `TlamatiniSourceCode/` next to the application.</a:t>
            </a:r>
          </a:p>
          <a:p>
            <a:pPr>
              <a:spcAft>
                <a:spcPts val="400"/>
              </a:spcAft>
              <a:defRPr sz="1100">
                <a:solidFill>
                  <a:srgbClr val="B4BAAE"/>
                </a:solidFill>
                <a:latin typeface="Aptos"/>
              </a:defRPr>
            </a:pPr>
            <a:r>
              <a:t>When that directory is present, she can inspect and modify her own shipped source tree; when it is absent, she must say so plainly and fall back to her injected self-knowledge plus the surrounding docs.</a:t>
            </a:r>
          </a:p>
          <a:p>
            <a:pPr>
              <a:spcAft>
                <a:spcPts val="400"/>
              </a:spcAft>
              <a:defRPr sz="1100">
                <a:solidFill>
                  <a:srgbClr val="B4BAAE"/>
                </a:solidFill>
                <a:latin typeface="Aptos"/>
              </a:defRPr>
            </a:pPr>
            <a:r>
              <a:t>The build pipeline now announces that choice explicitly, so operators can tell whether a release is self-modify-capable before asking her to work on herself.</a:t>
            </a:r>
          </a:p>
          <a:p>
            <a:pPr>
              <a:spcAft>
                <a:spcPts val="400"/>
              </a:spcAft>
              <a:defRPr sz="1100">
                <a:solidFill>
                  <a:srgbClr val="B4BAAE"/>
                </a:solidFill>
                <a:latin typeface="Aptos"/>
              </a:defRPr>
            </a:pPr>
            <a:r>
              <a:t>The unified-agent loop now defaults to 4096 iterations instead of 256, giving long autonomous operator runs much more room before they exhaust the turn budget.</a:t>
            </a:r>
          </a:p>
          <a:p>
            <a:pPr>
              <a:spcAft>
                <a:spcPts val="400"/>
              </a:spcAft>
              <a:defRPr sz="1100">
                <a:solidFill>
                  <a:srgbClr val="B4BAAE"/>
                </a:solidFill>
                <a:latin typeface="Aptos"/>
              </a:defRPr>
            </a:pPr>
            <a:r>
              <a:t>That expansion is about conversational/tool-loop depth, not about blindly firing more tools at once: the planner’s selected-tool cap still keeps the tool surface bounded per request.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DESKTOP WINDOW MANAGEMENT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Windower In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Windower is the new 66th workflow agent: a deterministic Win32 window manager that finds an application window by title and performs one lifecycle operation on the window itself instead of clicking inside it.</a:t>
            </a:r>
          </a:p>
          <a:p>
            <a:pPr>
              <a:spcAft>
                <a:spcPts val="400"/>
              </a:spcAft>
              <a:defRPr sz="1300">
                <a:solidFill>
                  <a:srgbClr val="B4BAAE"/>
                </a:solidFill>
                <a:latin typeface="Aptos"/>
              </a:defRPr>
            </a:pPr>
            <a:r>
              <a:t>It supports `focus`, `minimize`, `maximize`, `restore`, `move`, `resize`, `move_resize`, `close`, `topmost`, `untopmost`, `arrange`, and `list`, with `substring`, `exact`, or `regex` title matching plus `match_index` for duplicate titles.</a:t>
            </a:r>
          </a:p>
          <a:p>
            <a:pPr>
              <a:spcAft>
                <a:spcPts val="400"/>
              </a:spcAft>
              <a:defRPr sz="1300">
                <a:solidFill>
                  <a:srgbClr val="B4BAAE"/>
                </a:solidFill>
                <a:latin typeface="Aptos"/>
              </a:defRPr>
            </a:pPr>
            <a:r>
              <a:t>The agent emits `INI_SECTION_WINDOWER` with `action`, `window_title`, `matched`, `match_count`, `state`, `left`, `top`, `width`, and `height`, so downstream Forker or Parametrizer logic can branch on presence, state, or geometry.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Two operator surfaces ship in lock-step: the wrapped Multi-Turn tool `chat_agent_windower` accepts free-form key=value requests, while the visual Windower canvas node stores the same operation fields in YAML.</a:t>
            </a:r>
          </a:p>
          <a:p>
            <a:pPr>
              <a:spcAft>
                <a:spcPts val="400"/>
              </a:spcAft>
              <a:defRPr sz="1300">
                <a:solidFill>
                  <a:srgbClr val="B4BAAE"/>
                </a:solidFill>
                <a:latin typeface="Aptos"/>
              </a:defRPr>
            </a:pPr>
            <a:r>
              <a:t>Windower is the desktop-window sibling of Mouser and Keyboarder: use Windower when the goal is the window as a whole, Mouser for controls inside it, and Keyboarder for text entry into it.</a:t>
            </a:r>
          </a:p>
          <a:p>
            <a:pPr>
              <a:spcAft>
                <a:spcPts val="400"/>
              </a:spcAft>
              <a:defRPr sz="1300">
                <a:solidFill>
                  <a:srgbClr val="B4BAAE"/>
                </a:solidFill>
                <a:latin typeface="Aptos"/>
              </a:defRPr>
            </a:pPr>
            <a:r>
              <a:t>Because Windower changes real window state, its executions appear in Exec Report and it always triggers `target_agents` whether the action succeeds or fails.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REAL-BROWSER AUTOMATION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Playwrighter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Playwrighter is the new 65th workflow agent in `v1.5.0`: a deterministic Playwright-powered browser automator for Chromium, Firefox, or WebKit that executes ordered interactive steps instead of static fetches.</a:t>
            </a:r>
          </a:p>
          <a:p>
            <a:pPr>
              <a:spcAft>
                <a:spcPts val="400"/>
              </a:spcAft>
              <a:defRPr sz="1300">
                <a:solidFill>
                  <a:srgbClr val="B4BAAE"/>
                </a:solidFill>
                <a:latin typeface="Aptos"/>
              </a:defRPr>
            </a:pPr>
            <a:r>
              <a:t>It covers the gap between Crawler and Googler: logins, multi-step forms, wizard clicks, JS-rendered SPA scraping, screenshots after interaction, assertions, downloads, and authenticated end-to-end UI checks.</a:t>
            </a:r>
          </a:p>
          <a:p>
            <a:pPr>
              <a:spcAft>
                <a:spcPts val="400"/>
              </a:spcAft>
              <a:defRPr sz="1300">
                <a:solidFill>
                  <a:srgbClr val="B4BAAE"/>
                </a:solidFill>
                <a:latin typeface="Aptos"/>
              </a:defRPr>
            </a:pPr>
            <a:r>
              <a:t>The agent emits `INI_SECTION_PLAYWRIGHTER` with `start_url`, `final_url`, `status`, `steps_run`, `assert_result`, and extracted values so downstream Forker or Parametrizer logic can branch on pass/fail or reuse scraped data.</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Two operator surfaces ship in lock-step: the wrapped Multi-Turn tool `chat_agent_playwrighter` takes the whole script as `steps_json`, while the visual Playwrighter canvas node stores the same declarative step list in YAML.</a:t>
            </a:r>
          </a:p>
          <a:p>
            <a:pPr>
              <a:spcAft>
                <a:spcPts val="400"/>
              </a:spcAft>
              <a:defRPr sz="1300">
                <a:solidFill>
                  <a:srgbClr val="B4BAAE"/>
                </a:solidFill>
                <a:latin typeface="Aptos"/>
              </a:defRPr>
            </a:pPr>
            <a:r>
              <a:t>Session continuity is built in: `headless: false` lets operators watch it drive, and `storage_state_in` / `storage_state_out` carry login state across runs without forcing a manual browser setup each time.</a:t>
            </a:r>
          </a:p>
          <a:p>
            <a:pPr>
              <a:spcAft>
                <a:spcPts val="400"/>
              </a:spcAft>
              <a:defRPr sz="1300">
                <a:solidFill>
                  <a:srgbClr val="B4BAAE"/>
                </a:solidFill>
                <a:latin typeface="Aptos"/>
              </a:defRPr>
            </a:pPr>
            <a:r>
              <a:t>Because Playwrighter is state-changing, its executions appear in Exec Report and it always triggers `target_agents` whether the run succeeds or fails.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COMMIT-STATE AND SECRET-HANDLING REFINEMENT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Reviewer Precision In v1.4.1</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Behavioral accuracy patch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`v1.4.1` Reviewer refinement tightened accuracy rather than adding a new surface: when `diff_ref` is empty, the review prompt labels the diff as the uncommitted working tree plus staged area, so the model must not describe those findings as already committed or pushed.</a:t>
            </a:r>
          </a:p>
          <a:p>
            <a:pPr>
              <a:spcAft>
                <a:spcPts val="400"/>
              </a:spcAft>
              <a:defRPr sz="1200">
                <a:solidFill>
                  <a:srgbClr val="B4BAAE"/>
                </a:solidFill>
                <a:latin typeface="Aptos"/>
              </a:defRPr>
            </a:pPr>
            <a:r>
              <a:t>The same patch teaches the model Tlamatini’s managed-secret convention: `agent/config.json` and selected `agent/agents/*/config.yaml` files can hold live local credentials in a keyed working copy, while `regen_secrets.py --mode push-able` scrubs them back to placeholders before commit.</a:t>
            </a:r>
          </a:p>
          <a:p>
            <a:pPr>
              <a:spcAft>
                <a:spcPts val="400"/>
              </a:spcAft>
              <a:defRPr sz="1200">
                <a:solidFill>
                  <a:srgbClr val="B4BAAE"/>
                </a:solidFill>
                <a:latin typeface="Aptos"/>
              </a:defRPr>
            </a:pPr>
            <a:r>
              <a:t>That guidance is mirrored into the `code-review` SKILL.md package too, keeping the chat-surface review behavior and the canvas Reviewer agent aligned on commit-state wording and secret-severity expectations.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Local working-copy credentials in managed config files are no longer described as already committed when the diff is still uncommitted or only staged.</a:t>
            </a:r>
          </a:p>
          <a:p>
            <a:pPr>
              <a:spcAft>
                <a:spcPts val="400"/>
              </a:spcAft>
              <a:defRPr sz="1300">
                <a:solidFill>
                  <a:srgbClr val="B4BAAE"/>
                </a:solidFill>
                <a:latin typeface="Aptos"/>
              </a:defRPr>
            </a:pPr>
            <a:r>
              <a:t>Review findings stay stricter on true secrets in source code or outside the managed scrub-path set, so the patch reduces noise without weakening real security findings.</a:t>
            </a:r>
          </a:p>
          <a:p>
            <a:pPr>
              <a:spcAft>
                <a:spcPts val="400"/>
              </a:spcAft>
              <a:defRPr sz="1300">
                <a:solidFill>
                  <a:srgbClr val="B4BAAE"/>
                </a:solidFill>
                <a:latin typeface="Aptos"/>
              </a:defRPr>
            </a:pPr>
            <a:r>
              <a:t>The same rules apply in both the canvas Reviewer agent and the `code-review` skill, keeping the two review surfaces behaviorally aligned.</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TKINTER REMOVED FROM THE UNSTABLE RUNTIME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Native Dialogs In v1.4.2</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current tagged release `v1.4.2` removes Tkinter from the unstable runtime-facing dialog path and replaces it with `Tlamatini/agent/native_dialogs.py`, a native Windows dialog bridge used by browser-triggered pickers.</a:t>
            </a:r>
          </a:p>
          <a:p>
            <a:pPr>
              <a:spcAft>
                <a:spcPts val="400"/>
              </a:spcAft>
              <a:defRPr sz="1300">
                <a:solidFill>
                  <a:srgbClr val="B4BAAE"/>
                </a:solidFill>
                <a:latin typeface="Aptos"/>
              </a:defRPr>
            </a:pPr>
            <a:r>
              <a:t>This change pairs with the existing DB and operator dialogs: file and folder selection still feels local and GUI-first, but the fragile Tkinter dependency is no longer part of the interactive runtime path that users trigger from chat or ACP surfaces.</a:t>
            </a:r>
          </a:p>
          <a:p>
            <a:pPr>
              <a:spcAft>
                <a:spcPts val="400"/>
              </a:spcAft>
              <a:defRPr sz="1300">
                <a:solidFill>
                  <a:srgbClr val="B4BAAE"/>
                </a:solidFill>
                <a:latin typeface="Aptos"/>
              </a:defRPr>
            </a:pPr>
            <a:r>
              <a:t>The patch arrived with dedicated tests (`test_native_dialogs.py`) and with follow-up orphan-reaper/runtime adjustments, so the release reads as a stability pass rather than a cosmetic refactor.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Release meaning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This stability-focused patch sits immediately before the current `v1.5.0` Playwrighter release and remains part of the current operator/runtime story.</a:t>
            </a:r>
          </a:p>
          <a:p>
            <a:pPr>
              <a:spcAft>
                <a:spcPts val="400"/>
              </a:spcAft>
              <a:defRPr sz="1300">
                <a:solidFill>
                  <a:srgbClr val="B4BAAE"/>
                </a:solidFill>
                <a:latin typeface="Aptos"/>
              </a:defRPr>
            </a:pPr>
            <a:r>
              <a:t>It preserves the operator experience of Browse-driven file and folder picking while removing a UI technology that was destabilizing the application.</a:t>
            </a:r>
          </a:p>
          <a:p>
            <a:pPr>
              <a:spcAft>
                <a:spcPts val="400"/>
              </a:spcAft>
              <a:defRPr sz="1300">
                <a:solidFill>
                  <a:srgbClr val="B4BAAE"/>
                </a:solidFill>
                <a:latin typeface="Aptos"/>
              </a:defRPr>
            </a:pPr>
            <a:r>
              <a:t>Because the fix landed with tests and runtime cleanup updates, it belongs in the technical dossier even though the markdown handbook has not yet been fully rewritten around it.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INBOUND AUTOMATION BOUNDARY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Gatewayer And External Signals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Ingress role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Receives HTTP webhook events or optional folder-drop files.</a:t>
            </a:r>
          </a:p>
          <a:p>
            <a:pPr>
              <a:spcAft>
                <a:spcPts val="400"/>
              </a:spcAft>
              <a:defRPr sz="1500">
                <a:solidFill>
                  <a:srgbClr val="B4BAAE"/>
                </a:solidFill>
                <a:latin typeface="Aptos"/>
              </a:defRPr>
            </a:pPr>
            <a:r>
              <a:t>Normalizes, persists, queues, and dispatches events into downstream workflow agents.</a:t>
            </a:r>
          </a:p>
          <a:p>
            <a:pPr>
              <a:spcAft>
                <a:spcPts val="400"/>
              </a:spcAft>
              <a:defRPr sz="1500">
                <a:solidFill>
                  <a:srgbClr val="B4BAAE"/>
                </a:solidFill>
                <a:latin typeface="Aptos"/>
              </a:defRPr>
            </a:pPr>
            <a:r>
              <a:t>Supports bearer/HMAC-style auth patterns, IP allowlists, dedup files, and crash recovery state.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Operating note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Gatewayer is a workflow trigger, not a chat-router clone.</a:t>
            </a:r>
          </a:p>
          <a:p>
            <a:pPr>
              <a:spcAft>
                <a:spcPts val="400"/>
              </a:spcAft>
              <a:defRPr sz="1600">
                <a:solidFill>
                  <a:srgbClr val="B4BAAE"/>
                </a:solidFill>
                <a:latin typeface="Aptos"/>
              </a:defRPr>
            </a:pPr>
            <a:r>
              <a:t>Declared config fields are now documented with clear caveats where enforcement is not complete.</a:t>
            </a:r>
          </a:p>
          <a:p>
            <a:pPr>
              <a:spcAft>
                <a:spcPts val="400"/>
              </a:spcAft>
              <a:defRPr sz="1600">
                <a:solidFill>
                  <a:srgbClr val="B4BAAE"/>
                </a:solidFill>
                <a:latin typeface="Aptos"/>
              </a:defRPr>
            </a:pPr>
            <a:r>
              <a:t>Stable log markers let Monitor Log and Summarizer watch gateway health.</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Run from source: create a virtual environment, install requirements, migrate, create a superuser, collect static files, and start Django.</a:t>
            </a:r>
          </a:p>
          <a:p>
            <a:pPr>
              <a:spcAft>
                <a:spcPts val="400"/>
              </a:spcAft>
              <a:defRPr sz="1100">
                <a:solidFill>
                  <a:srgbClr val="B4BAAE"/>
                </a:solidFill>
                <a:latin typeface="Aptos"/>
              </a:defRPr>
            </a:pPr>
            <a:r>
              <a:t>Open `/agent/` for chat. Load a file or directory context before asking codebase-specific questions.</a:t>
            </a:r>
          </a:p>
          <a:p>
            <a:pPr>
              <a:spcAft>
                <a:spcPts val="400"/>
              </a:spcAft>
              <a:defRPr sz="1100">
                <a:solidFill>
                  <a:srgbClr val="B4BAAE"/>
                </a:solidFill>
                <a:latin typeface="Aptos"/>
              </a:defRPr>
            </a:pPr>
            <a:r>
              <a:t>Keep Multi-Turn unchecked for direct Q&amp;A; enable Multi-Turn for tasks that need tools, wrapped agents, monitoring, or workflow seeding.</a:t>
            </a:r>
          </a:p>
          <a:p>
            <a:pPr>
              <a:spcAft>
                <a:spcPts val="400"/>
              </a:spcAft>
              <a:defRPr sz="1100">
                <a:solidFill>
                  <a:srgbClr val="B4BAAE"/>
                </a:solidFill>
                <a:latin typeface="Aptos"/>
              </a:defRPr>
            </a:pPr>
            <a:r>
              <a:t>Use `chat_agent_globber` to find files by pattern, `chat_agent_grepper` to locate matching content, and `chat_agent_editor` when you need an exact in-place change instead of rewriting a whole file or shelling out to grep/findstr/sed.</a:t>
            </a:r>
          </a:p>
          <a:p>
            <a:pPr>
              <a:spcAft>
                <a:spcPts val="400"/>
              </a:spcAft>
              <a:defRPr sz="1100">
                <a:solidFill>
                  <a:srgbClr val="B4BAAE"/>
                </a:solidFill>
                <a:latin typeface="Aptos"/>
              </a:defRPr>
            </a:pPr>
            <a:r>
              <a:t>To use the External MCP capability, open `External -&gt; MCPs`, register or import a server into `external_mcps.json`, choose the transport/runtime fields, and let the dialog connect it before expecting its `ext__&lt;server&gt;__&lt;tool&gt;` tools to appear in Multi-Turn.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When you are using a packaged install on Windows 10 or Windows 11, uninstall it through Settings -&gt; Apps -&gt; Installed apps or the legacy Programs and Features entry, not by manually deleting the folder.</a:t>
            </a:r>
          </a:p>
          <a:p>
            <a:pPr>
              <a:spcAft>
                <a:spcPts val="400"/>
              </a:spcAft>
              <a:defRPr sz="1000">
                <a:solidFill>
                  <a:srgbClr val="B4BAAE"/>
                </a:solidFill>
                <a:latin typeface="Aptos"/>
              </a:defRPr>
            </a:pPr>
            <a:r>
              <a:t>If an Ask Execs approval dialog or a Notifier event needs you while the browser is buried, watch for Tlamatini’s taskbar-attention flash and the matching uppercase banner in `tlamatini.log`.</a:t>
            </a:r>
          </a:p>
          <a:p>
            <a:pPr>
              <a:spcAft>
                <a:spcPts val="400"/>
              </a:spcAft>
              <a:defRPr sz="1000">
                <a:solidFill>
                  <a:srgbClr val="B4BAAE"/>
                </a:solidFill>
                <a:latin typeface="Aptos"/>
              </a:defRPr>
            </a:pPr>
            <a:r>
              <a:t>If you want her to inspect or modify herself, verify that `TlamatiniSourceCode/` exists in the current build first; self-modify is optional and absent builds must be treated honestly as read-only about their own code tree.</a:t>
            </a:r>
          </a:p>
          <a:p>
            <a:pPr>
              <a:spcAft>
                <a:spcPts val="400"/>
              </a:spcAft>
              <a:defRPr sz="1000">
                <a:solidFill>
                  <a:srgbClr val="B4BAAE"/>
                </a:solidFill>
                <a:latin typeface="Aptos"/>
              </a:defRPr>
            </a:pPr>
            <a:r>
              <a:t>For authorized Kali Linux assessments, run MCP-Kali-Server on the Kali box, set `Config -&gt; URLs -&gt; Kali server (Kalier)` once, and then call `chat_agent_kalier` from Multi-Turn with the desired `action` and `target` without repeating the box URL each turn.</a:t>
            </a:r>
          </a:p>
          <a:p>
            <a:pPr>
              <a:spcAft>
                <a:spcPts val="400"/>
              </a:spcAft>
              <a:defRPr sz="1000">
                <a:solidFill>
                  <a:srgbClr val="B4BAAE"/>
                </a:solidFill>
                <a:latin typeface="Aptos"/>
              </a:defRPr>
            </a:pPr>
            <a:r>
              <a:t>For local nmap reconnaissance, install nmap yourself or call `chat_agent_nmapper` with `action='install'` to launch the official free installer; then use `quick`, `full`, `top_ports`, `version`, `scripts`, `host_discovery`, `udp`, `custom`, or `validate` only against hosts you own or are explicitly authorized to test.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When you are onboarding or debugging an external MCP, call `chat_agent_mcp_doctor` first or use the MCP Doctor workflow node; it can tell you whether the issue is transport selection, a missing runtime on PATH, placeholder secrets, or a bad endpoint before you spend time on a live connect attempt.</a:t>
            </a:r>
          </a:p>
          <a:p>
            <a:pPr>
              <a:spcAft>
                <a:spcPts val="400"/>
              </a:spcAft>
              <a:defRPr sz="1000">
                <a:solidFill>
                  <a:srgbClr val="B4BAAE"/>
                </a:solidFill>
                <a:latin typeface="Aptos"/>
              </a:defRPr>
            </a:pPr>
            <a:r>
              <a:t>If you want a guided external-MCP onboarding flow, use the Step-by-Step mode in the External MCP dialog so each required field is introduced progressively instead of dumping the whole connection contract at once.</a:t>
            </a:r>
          </a:p>
          <a:p>
            <a:pPr>
              <a:spcAft>
                <a:spcPts val="400"/>
              </a:spcAft>
              <a:defRPr sz="1000">
                <a:solidFill>
                  <a:srgbClr val="B4BAAE"/>
                </a:solidFill>
                <a:latin typeface="Aptos"/>
              </a:defRPr>
            </a:pPr>
            <a:r>
              <a:t>Use Config -&gt; Access Keys Wizard when you need to wire or update provider credentials without editing `config.json` manually.</a:t>
            </a:r>
          </a:p>
          <a:p>
            <a:pPr>
              <a:spcAft>
                <a:spcPts val="400"/>
              </a:spcAft>
              <a:defRPr sz="1000">
                <a:solidFill>
                  <a:srgbClr val="B4BAAE"/>
                </a:solidFill>
                <a:latin typeface="Aptos"/>
              </a:defRPr>
            </a:pPr>
            <a:r>
              <a:t>Use About -&gt; Check for updates on packaged installs when you want Tlamatini to fetch and stage the latest release without manually replacing the install folder.</a:t>
            </a:r>
          </a:p>
          <a:p>
            <a:pPr>
              <a:spcAft>
                <a:spcPts val="400"/>
              </a:spcAft>
              <a:defRPr sz="1000">
                <a:solidFill>
                  <a:srgbClr val="B4BAAE"/>
                </a:solidFill>
                <a:latin typeface="Aptos"/>
              </a:defRPr>
            </a:pPr>
            <a:r>
              <a:t>Tick `Ask Execs` when you want human approval before each state-changing Multi-Turn step; it is disabled until Multi-Turn is on, and a single Deny stops the whole chain with an explicit red interruption banner.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For STM32 firmware work, install STM32CubeIDE, leave `Config -&gt; URLs -&gt; STM32 MCP server script` blank for zero-config bootstrap, and then call `chat_agent_stm32er` from Multi-Turn with one `action` at a time such as `validate`, `create_project`, `write_source`, `build`, `build_and_flash`, `serial_session`, or `live_monitor`.</a:t>
            </a:r>
          </a:p>
          <a:p>
            <a:pPr>
              <a:spcAft>
                <a:spcPts val="400"/>
              </a:spcAft>
              <a:defRPr sz="900">
                <a:solidFill>
                  <a:srgbClr val="B4BAAE"/>
                </a:solidFill>
                <a:latin typeface="Aptos"/>
              </a:defRPr>
            </a:pPr>
            <a:r>
              <a:t>For ESP32 firmware work, leave `Config -&gt; URLs -&gt; pio_executable` blank for zero-config PlatformIO bootstrap, then call `chat_agent_esp32er` from Multi-Turn with actions like `bootstrap`, `validate`, `create_project`, `write_source`, `build`, `upload`, `build_and_upload`, `monitor`, or `monitor_session`.</a:t>
            </a:r>
          </a:p>
          <a:p>
            <a:pPr>
              <a:spcAft>
                <a:spcPts val="400"/>
              </a:spcAft>
              <a:defRPr sz="900">
                <a:solidFill>
                  <a:srgbClr val="B4BAAE"/>
                </a:solidFill>
                <a:latin typeface="Aptos"/>
              </a:defRPr>
            </a:pPr>
            <a:r>
              <a:t>For ESPHome smart-home firmware work, leave `Config -&gt; URLs -&gt; esphome_executable` blank for zero-config bootstrap, then call `chat_agent_esphomer` from Multi-Turn with actions like `bootstrap`, `validate`, `new_config`, `config`, `compile`, `upload`, `logs`, or the one-shot `scaffold_compile_upload` flow.</a:t>
            </a:r>
          </a:p>
          <a:p>
            <a:pPr>
              <a:spcAft>
                <a:spcPts val="400"/>
              </a:spcAft>
              <a:defRPr sz="900">
                <a:solidFill>
                  <a:srgbClr val="B4BAAE"/>
                </a:solidFill>
                <a:latin typeface="Aptos"/>
              </a:defRPr>
            </a:pPr>
            <a:r>
              <a:t>For desktop-window control, call `chat_agent_windower` from Multi-Turn to focus, tile, resize, list, or close a window by title, or model the same action in ACP with the Windower node.</a:t>
            </a:r>
          </a:p>
          <a:p>
            <a:pPr>
              <a:spcAft>
                <a:spcPts val="400"/>
              </a:spcAft>
              <a:defRPr sz="900">
                <a:solidFill>
                  <a:srgbClr val="B4BAAE"/>
                </a:solidFill>
                <a:latin typeface="Aptos"/>
              </a:defRPr>
            </a:pPr>
            <a:r>
              <a:t>For interactive web automation, call `chat_agent_playwrighter` from Multi-Turn with a `steps_json` script, or author the same step list visually with the Playwrighter node on the canvas.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For Blender work, enable the official Blender MCP add-on in Blender, make sure its TCP listener is reachable (default `localhost:9876`), then call `chat_agent_blenderer` from Multi-Turn or use the Blenderer node on the canvas.</a:t>
            </a:r>
          </a:p>
          <a:p>
            <a:pPr>
              <a:spcAft>
                <a:spcPts val="400"/>
              </a:spcAft>
              <a:defRPr sz="1100">
                <a:solidFill>
                  <a:srgbClr val="B4BAAE"/>
                </a:solidFill>
                <a:latin typeface="Aptos"/>
              </a:defRPr>
            </a:pPr>
            <a:r>
              <a:t>For Unreal Engine work, enable the Unreal MCP plugin inside a live UE5 project first, then call `chat_agent_unrealer` from Multi-Turn or use the visual Unrealer node on the canvas.</a:t>
            </a:r>
          </a:p>
          <a:p>
            <a:pPr>
              <a:spcAft>
                <a:spcPts val="400"/>
              </a:spcAft>
              <a:defRPr sz="1100">
                <a:solidFill>
                  <a:srgbClr val="B4BAAE"/>
                </a:solidFill>
                <a:latin typeface="Aptos"/>
              </a:defRPr>
            </a:pPr>
            <a:r>
              <a:t>Archive jobs can now be described directly in Multi-Turn or modeled visually in ACP: De-Compresser infers compress vs decompress from the `input` or `output` extension.</a:t>
            </a:r>
          </a:p>
          <a:p>
            <a:pPr>
              <a:spcAft>
                <a:spcPts val="400"/>
              </a:spcAft>
              <a:defRPr sz="1100">
                <a:solidFill>
                  <a:srgbClr val="B4BAAE"/>
                </a:solidFill>
                <a:latin typeface="Aptos"/>
              </a:defRPr>
            </a:pPr>
            <a:r>
              <a:t>If a second post-answer warning bubble ever lists surviving `name + PID` entries, treat it as an honest cleanup report and end the listed processes manually from Task Manager if needed.</a:t>
            </a:r>
          </a:p>
          <a:p>
            <a:pPr>
              <a:spcAft>
                <a:spcPts val="400"/>
              </a:spcAft>
              <a:defRPr sz="1100">
                <a:solidFill>
                  <a:srgbClr val="B4BAAE"/>
                </a:solidFill>
                <a:latin typeface="Aptos"/>
              </a:defRPr>
            </a:pPr>
            <a:r>
              <a:t>Use the `ACPX-Skills` navbar menu when you need to browse, enable/disable, diagnose, or reload the shipped SKILL.md catalog without asking the LLM to be your admin surface.</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Use the DB dropdown when you need a safe database snapshot or want to stage a different `db.sqlite3` for the next start-up without hot-swapping the live SQLite file.</a:t>
            </a:r>
          </a:p>
          <a:p>
            <a:pPr>
              <a:spcAft>
                <a:spcPts val="400"/>
              </a:spcAft>
              <a:defRPr sz="1400">
                <a:solidFill>
                  <a:srgbClr val="B4BAAE"/>
                </a:solidFill>
                <a:latin typeface="Aptos"/>
              </a:defRPr>
            </a:pPr>
            <a:r>
              <a:t>Open `/agentic_control_panel/` to drag agents, connect them, configure each node, validate, start, pause/resume, stop, and save `.flw` workflows.</a:t>
            </a:r>
          </a:p>
          <a:p>
            <a:pPr>
              <a:spcAft>
                <a:spcPts val="400"/>
              </a:spcAft>
              <a:defRPr sz="1400">
                <a:solidFill>
                  <a:srgbClr val="B4BAAE"/>
                </a:solidFill>
                <a:latin typeface="Aptos"/>
              </a:defRPr>
            </a:pPr>
            <a:r>
              <a:t>Use `python build.py`, `python build_uninstaller.py`, and `python build_installer.py` only when producing a packaged Windows release.</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COMMANDS THAT MATTER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Source Mode Bootstrap</a:t>
            </a:r>
          </a:p>
        </p:txBody>
      </p:sp>
      <p:sp>
        <p:nvSpPr>
          <p:cNvPr id="9" name="TextBox 8"/>
          <p:cNvSpPr txBox="1"/>
          <p:nvPr/>
        </p:nvSpPr>
        <p:spPr>
          <a:xfrm>
            <a:off x="841248" y="1600200"/>
            <a:ext cx="10378440" cy="2743200"/>
          </a:xfrm>
          <a:prstGeom prst="rect">
            <a:avLst/>
          </a:prstGeom>
          <a:noFill/>
        </p:spPr>
        <p:txBody>
          <a:bodyPr wrap="square" anchor="t">
            <a:spAutoFit/>
          </a:bodyPr>
          <a:lstStyle/>
          <a:p>
            <a:pPr algn="l"/>
            <a:r>
              <a:rPr sz="1800" b="0">
                <a:solidFill>
                  <a:srgbClr val="E8E8DE"/>
                </a:solidFill>
                <a:latin typeface="Cascadia Mono"/>
              </a:rPr>
              <a:t>python -m venv venv
venv\Scripts\activate
pip install -r requirements.txt
python Tlamatini/manage.py migrate
python Tlamatini/manage.py createsuperuser
python Tlamatini/manage.py collectstatic --noinput
python Tlamatini/manage.py runserver --noreload</a:t>
            </a:r>
          </a:p>
        </p:txBody>
      </p:sp>
      <p:sp>
        <p:nvSpPr>
          <p:cNvPr id="10" name="Rounded Rectangle 9"/>
          <p:cNvSpPr/>
          <p:nvPr/>
        </p:nvSpPr>
        <p:spPr>
          <a:xfrm>
            <a:off x="841248" y="4663440"/>
            <a:ext cx="10378440" cy="107899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1248" y="4663440"/>
            <a:ext cx="103784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6" y="4864607"/>
            <a:ext cx="9976104" cy="310896"/>
          </a:xfrm>
          <a:prstGeom prst="rect">
            <a:avLst/>
          </a:prstGeom>
          <a:noFill/>
        </p:spPr>
        <p:txBody>
          <a:bodyPr wrap="square" anchor="t">
            <a:spAutoFit/>
          </a:bodyPr>
          <a:lstStyle/>
          <a:p>
            <a:pPr algn="l"/>
            <a:r>
              <a:rPr sz="1400" b="1">
                <a:solidFill>
                  <a:srgbClr val="48BF8F"/>
                </a:solidFill>
                <a:latin typeface="Aptos"/>
              </a:rPr>
              <a:t>First run checklist</a:t>
            </a:r>
          </a:p>
        </p:txBody>
      </p:sp>
      <p:sp>
        <p:nvSpPr>
          <p:cNvPr id="13" name="TextBox 12"/>
          <p:cNvSpPr txBox="1"/>
          <p:nvPr/>
        </p:nvSpPr>
        <p:spPr>
          <a:xfrm>
            <a:off x="1042416" y="5321807"/>
            <a:ext cx="9976104" cy="274319"/>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Open the browser, log in with your source-mode superuser, load a context path, and decide whether the task needs Multi-Turn.</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Installation And Configuration</a:t>
            </a:r>
          </a:p>
        </p:txBody>
      </p:sp>
      <p:sp>
        <p:nvSpPr>
          <p:cNvPr id="9" name="Rounded Rectangle 8"/>
          <p:cNvSpPr/>
          <p:nvPr/>
        </p:nvSpPr>
        <p:spPr>
          <a:xfrm>
            <a:off x="713232" y="146304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46903" cy="310896"/>
          </a:xfrm>
          <a:prstGeom prst="rect">
            <a:avLst/>
          </a:prstGeom>
          <a:noFill/>
        </p:spPr>
        <p:txBody>
          <a:bodyPr wrap="square" anchor="t">
            <a:spAutoFit/>
          </a:bodyPr>
          <a:lstStyle/>
          <a:p>
            <a:pPr algn="l"/>
            <a:r>
              <a:rPr sz="1400" b="1">
                <a:solidFill>
                  <a:srgbClr val="48BF8F"/>
                </a:solidFill>
                <a:latin typeface="Aptos"/>
              </a:rPr>
              <a:t>Install essentials</a:t>
            </a:r>
          </a:p>
        </p:txBody>
      </p:sp>
      <p:sp>
        <p:nvSpPr>
          <p:cNvPr id="12" name="TextBox 11"/>
          <p:cNvSpPr txBox="1"/>
          <p:nvPr/>
        </p:nvSpPr>
        <p:spPr>
          <a:xfrm>
            <a:off x="914400" y="2121408"/>
            <a:ext cx="494690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easiest path for most users is the packaged installer from GitHub Releases: no manual Python install is required because the release already carries Python 3.12.10 and the project dependencies.</a:t>
            </a:r>
          </a:p>
          <a:p>
            <a:pPr>
              <a:spcAft>
                <a:spcPts val="400"/>
              </a:spcAft>
              <a:defRPr sz="1000">
                <a:solidFill>
                  <a:srgbClr val="B4BAAE"/>
                </a:solidFill>
                <a:latin typeface="Aptos"/>
              </a:defRPr>
            </a:pPr>
            <a:r>
              <a:t>Source mode remains the developer path: clone the repo, create a virtual environment, install `requirements.txt`, run migrations, create a superuser, collect static files, and then launch Django.</a:t>
            </a:r>
          </a:p>
          <a:p>
            <a:pPr>
              <a:spcAft>
                <a:spcPts val="400"/>
              </a:spcAft>
              <a:defRPr sz="1000">
                <a:solidFill>
                  <a:srgbClr val="B4BAAE"/>
                </a:solidFill>
                <a:latin typeface="Aptos"/>
              </a:defRPr>
            </a:pPr>
            <a:r>
              <a:t>Packaged Windows installs open the browser at `http://127.0.0.1:8000/` and create the default `user / changeme` login; manual source installs use your own `createsuperuser` account instead.</a:t>
            </a:r>
          </a:p>
          <a:p>
            <a:pPr>
              <a:spcAft>
                <a:spcPts val="400"/>
              </a:spcAft>
              <a:defRPr sz="1000">
                <a:solidFill>
                  <a:srgbClr val="B4BAAE"/>
                </a:solidFill>
                <a:latin typeface="Aptos"/>
              </a:defRPr>
            </a:pPr>
            <a:r>
              <a:t>Port 8000 is only the default: `config.json`'s `django_port` moves the web UI to any free port on every launch path, which is the fix when Windows or Hyper-V has RESERVED port 8000 and startup fails with `WinError 10013`.</a:t>
            </a:r>
          </a:p>
          <a:p>
            <a:pPr>
              <a:spcAft>
                <a:spcPts val="400"/>
              </a:spcAft>
              <a:defRPr sz="1000">
                <a:solidFill>
                  <a:srgbClr val="B4BAAE"/>
                </a:solidFill>
                <a:latin typeface="Aptos"/>
              </a:defRPr>
            </a:pPr>
            <a:r>
              <a:t>When a newer packaged release exists, the intended upgrade path is in-app: `About -&gt; Check for updates`, not manual folder replacement.</a:t>
            </a:r>
          </a:p>
          <a:p>
            <a:pPr>
              <a:spcAft>
                <a:spcPts val="400"/>
              </a:spcAft>
              <a:defRPr sz="1000">
                <a:solidFill>
                  <a:srgbClr val="B4BAAE"/>
                </a:solidFill>
                <a:latin typeface="Aptos"/>
              </a:defRPr>
            </a:pPr>
            <a:r>
              <a:t>You can run either the checked-in cloud/back-end defaults from `Tlamatini/agent/config.json` or a local/remote Ollama-backed configuration with matching model names.</a:t>
            </a:r>
          </a:p>
        </p:txBody>
      </p:sp>
      <p:sp>
        <p:nvSpPr>
          <p:cNvPr id="13" name="Rounded Rectangle 12"/>
          <p:cNvSpPr/>
          <p:nvPr/>
        </p:nvSpPr>
        <p:spPr>
          <a:xfrm>
            <a:off x="6327648"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64208"/>
            <a:ext cx="4672583" cy="310896"/>
          </a:xfrm>
          <a:prstGeom prst="rect">
            <a:avLst/>
          </a:prstGeom>
          <a:noFill/>
        </p:spPr>
        <p:txBody>
          <a:bodyPr wrap="square" anchor="t">
            <a:spAutoFit/>
          </a:bodyPr>
          <a:lstStyle/>
          <a:p>
            <a:pPr algn="l"/>
            <a:r>
              <a:rPr sz="1400" b="1">
                <a:solidFill>
                  <a:srgbClr val="C48052"/>
                </a:solidFill>
                <a:latin typeface="Aptos"/>
              </a:rPr>
              <a:t>Config essentials</a:t>
            </a:r>
          </a:p>
        </p:txBody>
      </p:sp>
      <p:sp>
        <p:nvSpPr>
          <p:cNvPr id="16" name="TextBox 15"/>
          <p:cNvSpPr txBox="1"/>
          <p:nvPr/>
        </p:nvSpPr>
        <p:spPr>
          <a:xfrm>
            <a:off x="6528816"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Source mode resolves `Tlamatini/agent/config.json`; frozen builds resolve `config.json` next to the executable; `CONFIG_PATH` overrides both.</a:t>
            </a:r>
          </a:p>
          <a:p>
            <a:pPr>
              <a:spcAft>
                <a:spcPts val="400"/>
              </a:spcAft>
              <a:defRPr sz="1100">
                <a:solidFill>
                  <a:srgbClr val="B4BAAE"/>
                </a:solidFill>
                <a:latin typeface="Aptos"/>
              </a:defRPr>
            </a:pPr>
            <a:r>
              <a:t>Core keys include `embeding-model`, `chained-model`, `ollama_base_url`, `ollama_token`, `enable_unified_agent`, `unified_agent_model`, and `unified_agent_max_iterations`.</a:t>
            </a:r>
          </a:p>
          <a:p>
            <a:pPr>
              <a:spcAft>
                <a:spcPts val="400"/>
              </a:spcAft>
              <a:defRPr sz="1100">
                <a:solidFill>
                  <a:srgbClr val="B4BAAE"/>
                </a:solidFill>
                <a:latin typeface="Aptos"/>
              </a:defRPr>
            </a:pPr>
            <a:r>
              <a:t>The checked-in default model baseline moved again in the recent Git window: the shared config now favors `glm-5.2:cloud`, so source or frozen installs that keep the shipped config should be documented as cloud-first unless the operator intentionally swaps models.</a:t>
            </a:r>
          </a:p>
          <a:p>
            <a:pPr>
              <a:spcAft>
                <a:spcPts val="400"/>
              </a:spcAft>
              <a:defRPr sz="1100">
                <a:solidFill>
                  <a:srgbClr val="B4BAAE"/>
                </a:solidFill>
                <a:latin typeface="Aptos"/>
              </a:defRPr>
            </a:pPr>
            <a:r>
              <a:t>URL configuration now also includes `kali_server_url`, the STM32er bootstrap fields `stm32_mcp_server_script`, `stm32_mcp_python`, `stm32_template_dir`, `stm32_ide_root`, `stm32_mcp_repo_url`, and `stm32_mcp_install_dir`, plus ESP32er’s `pio_executable` and `pio_core_dir`, all edited from `Config -&gt; URLs` and inherited automatically by the chat-side wrapped tools.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Configuration Essentials (continued)</a:t>
            </a:r>
          </a:p>
        </p:txBody>
      </p:sp>
      <p:sp>
        <p:nvSpPr>
          <p:cNvPr id="9" name="Rounded Rectangle 8"/>
          <p:cNvSpPr/>
          <p:nvPr/>
        </p:nvSpPr>
        <p:spPr>
          <a:xfrm>
            <a:off x="749808" y="1463040"/>
            <a:ext cx="105613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46304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10158984" cy="310896"/>
          </a:xfrm>
          <a:prstGeom prst="rect">
            <a:avLst/>
          </a:prstGeom>
          <a:noFill/>
        </p:spPr>
        <p:txBody>
          <a:bodyPr wrap="square" anchor="t">
            <a:spAutoFit/>
          </a:bodyPr>
          <a:lstStyle/>
          <a:p>
            <a:pPr algn="l"/>
            <a:r>
              <a:rPr sz="1400" b="1">
                <a:solidFill>
                  <a:srgbClr val="C48052"/>
                </a:solidFill>
                <a:latin typeface="Aptos"/>
              </a:rPr>
              <a:t>Config essentials</a:t>
            </a:r>
          </a:p>
        </p:txBody>
      </p:sp>
      <p:sp>
        <p:nvSpPr>
          <p:cNvPr id="12" name="TextBox 11"/>
          <p:cNvSpPr txBox="1"/>
          <p:nvPr/>
        </p:nvSpPr>
        <p:spPr>
          <a:xfrm>
            <a:off x="950976" y="2121408"/>
            <a:ext cx="1015898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Credential configuration is no longer hand-edit-only: Config -&gt; Access Keys Wizard provides a browser-side path for ACPX, provider secrets, unified messaging, and Security Recon (ProjectDiscovery) keys such as `pdcp_api_key` while preserving masked status in the UI.</a:t>
            </a:r>
          </a:p>
          <a:p>
            <a:pPr>
              <a:spcAft>
                <a:spcPts val="400"/>
              </a:spcAft>
              <a:defRPr sz="1400">
                <a:solidFill>
                  <a:srgbClr val="B4BAAE"/>
                </a:solidFill>
                <a:latin typeface="Aptos"/>
              </a:defRPr>
            </a:pPr>
            <a:r>
              <a:t>The chat-side Config -&gt; Models and Config -&gt; URLs dialogs are now first-class configuration surfaces, and they can explicitly ask the operator to reconnect when saved values change live-session assumptions.</a:t>
            </a:r>
          </a:p>
          <a:p>
            <a:pPr>
              <a:spcAft>
                <a:spcPts val="400"/>
              </a:spcAft>
              <a:defRPr sz="1400">
                <a:solidFill>
                  <a:srgbClr val="B4BAAE"/>
                </a:solidFill>
                <a:latin typeface="Aptos"/>
              </a:defRPr>
            </a:pPr>
            <a:r>
              <a:t>The separate DB dropdown is not a config editor: it is a maintenance surface for copying the live SQLite database out or staging a replacement for the next full start-up.</a:t>
            </a:r>
          </a:p>
          <a:p>
            <a:pPr>
              <a:spcAft>
                <a:spcPts val="400"/>
              </a:spcAft>
              <a:defRPr sz="1400">
                <a:solidFill>
                  <a:srgbClr val="B4BAAE"/>
                </a:solidFill>
                <a:latin typeface="Aptos"/>
              </a:defRPr>
            </a:pPr>
            <a:r>
              <a:t>Multi-Turn is toggled from the chat toolbar, but it depends on the unified-agent configuration and the selected model/base-url pairing being valid; the current default iteration ceiling is 4096, and Ask Execs only becomes available when Multi-Turn itself is on.</a:t>
            </a:r>
          </a:p>
          <a:p>
            <a:pPr>
              <a:spcAft>
                <a:spcPts val="400"/>
              </a:spcAft>
              <a:defRPr sz="1400">
                <a:solidFill>
                  <a:srgbClr val="B4BAAE"/>
                </a:solidFill>
                <a:latin typeface="Aptos"/>
              </a:defRPr>
            </a:pPr>
            <a:r>
              <a:t>Image-Interpreter now uses three model slots from Config -&gt; Models: `image_interpreter_model` for the first forensic interpreter, `image_interpreter_model_2` for the second holistic interpreter, and `image_merging_model` for the final report merger.</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OPERATOR-SURFACE DOCUMENTATION UPDATES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ACPX-Skills And Prompts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ACPX-Skills menu</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new `ACPX-Skills` navbar menu gives operators four direct actions over the skill catalog: Browse Skills, Configure Skills, Diagnostics, and Reload Registry.</a:t>
            </a:r>
          </a:p>
          <a:p>
            <a:pPr>
              <a:spcAft>
                <a:spcPts val="400"/>
              </a:spcAft>
              <a:defRPr sz="1400">
                <a:solidFill>
                  <a:srgbClr val="B4BAAE"/>
                </a:solidFill>
                <a:latin typeface="Aptos"/>
              </a:defRPr>
            </a:pPr>
            <a:r>
              <a:t>`Configure Skills` flips `Skill.enabled` exactly the way MCPs and Tools are toggled, so disabled skills disappear from `list_skills` and reject `invoke_skill` with `SKILL_DISABLED` instead of silently half-working.</a:t>
            </a:r>
          </a:p>
          <a:p>
            <a:pPr>
              <a:spcAft>
                <a:spcPts val="400"/>
              </a:spcAft>
              <a:defRPr sz="1400">
                <a:solidFill>
                  <a:srgbClr val="B4BAAE"/>
                </a:solidFill>
                <a:latin typeface="Aptos"/>
              </a:defRPr>
            </a:pPr>
            <a:r>
              <a:t>The diagnostics view cross-checks skill dependencies against disabled tools, disabled MCPs, missing ACPX agents, and orphan database rows whose SKILL.md disappeared from disk.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 catalog and readability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Version `1.3.2` tightened the HTML answer contract with a Prime Directive on visual readability: explicit background and text color, no grey-on-dark body text, and safer table-body defaults.</a:t>
            </a:r>
          </a:p>
          <a:p>
            <a:pPr>
              <a:spcAft>
                <a:spcPts val="400"/>
              </a:spcAft>
              <a:defRPr sz="1000">
                <a:solidFill>
                  <a:srgbClr val="B4BAAE"/>
                </a:solidFill>
                <a:latin typeface="Aptos"/>
              </a:defRPr>
            </a:pPr>
            <a:r>
              <a:t>The seeded `Prompts` dropdown was also re-sorted into a learner path: context-only Q&amp;A first, then metrics, files search, shell, code generation, vision, specialized single-tool actions, agent control, Unrealer, and heavier Multi-Turn/ACPX demos last.</a:t>
            </a:r>
          </a:p>
          <a:p>
            <a:pPr>
              <a:spcAft>
                <a:spcPts val="400"/>
              </a:spcAft>
              <a:defRPr sz="1000">
                <a:solidFill>
                  <a:srgbClr val="B4BAAE"/>
                </a:solidFill>
                <a:latin typeface="Aptos"/>
              </a:defRPr>
            </a:pPr>
            <a:r>
              <a:t>The `v1.35.0` prompt-search pass then makes that larger catalog easier to operate: prompt cards support substring, word-start, and fuzzy matching, with mode badges that keep one-shot, Multi-Turn, ACPX, Exec Report, and Step-by-Step demos visually distinct.</a:t>
            </a:r>
          </a:p>
          <a:p>
            <a:pPr>
              <a:spcAft>
                <a:spcPts val="400"/>
              </a:spcAft>
              <a:defRPr sz="1000">
                <a:solidFill>
                  <a:srgbClr val="B4BAAE"/>
                </a:solidFill>
                <a:latin typeface="Aptos"/>
              </a:defRPr>
            </a:pPr>
            <a:r>
              <a:t>Those readability rules remain in force in the current documentation set; `v1.46.0` carries PDFer and the chat-callable FlowCreator on top of v1.44.0 Catalog-of-Prompts standardization, v1.41.4 External-MCP structured-output delivery, v1.41.3 category grouping, gap-tolerant loading, and ranked fuzzy search while preserving the broader operator context.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OPERATOR-FACING DATABASE MAINTENANCE SURFACE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DB Menu And Startup Swap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Backup and Set DB</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The new DB dropdown gives operators two GUI-first maintenance paths: `Backup database` copies the live SQLite file out, and `Set DB` stages a chosen `db.sqlite3` for the next full start-up.</a:t>
            </a:r>
          </a:p>
          <a:p>
            <a:pPr>
              <a:spcAft>
                <a:spcPts val="400"/>
              </a:spcAft>
              <a:defRPr sz="1500">
                <a:solidFill>
                  <a:srgbClr val="B4BAAE"/>
                </a:solidFill>
                <a:latin typeface="Aptos"/>
              </a:defRPr>
            </a:pPr>
            <a:r>
              <a:t>Both dialogs are live-validated in the browser and now expose Browse buttons that open native host-side pickers for folders or `db.sqlite3` files.</a:t>
            </a:r>
          </a:p>
          <a:p>
            <a:pPr>
              <a:spcAft>
                <a:spcPts val="400"/>
              </a:spcAft>
              <a:defRPr sz="1500">
                <a:solidFill>
                  <a:srgbClr val="B4BAAE"/>
                </a:solidFill>
                <a:latin typeface="Aptos"/>
              </a:defRPr>
            </a:pPr>
            <a:r>
              <a:t>Backup is read-only and uses the currently live database path; Set DB never hot-swaps the file mid-session because Django already holds SQLite open.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What happens on next start-up</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Set DB writes the selected file to `DB/ToLoad/db.sqlite3`; the real swap happens only at the top of `manage.py` before Django imports anything.</a:t>
            </a:r>
          </a:p>
          <a:p>
            <a:pPr>
              <a:spcAft>
                <a:spcPts val="400"/>
              </a:spcAft>
              <a:defRPr sz="1400">
                <a:solidFill>
                  <a:srgbClr val="B4BAAE"/>
                </a:solidFill>
                <a:latin typeface="Aptos"/>
              </a:defRPr>
            </a:pPr>
            <a:r>
              <a:t>When that swap runs, the previous live database is moved into `DB/Older/&lt;timestamp&gt;/db.sqlite3`, creating a built-in rollback trail instead of overwriting history.</a:t>
            </a:r>
          </a:p>
          <a:p>
            <a:pPr>
              <a:spcAft>
                <a:spcPts val="400"/>
              </a:spcAft>
              <a:defRPr sz="1400">
                <a:solidFill>
                  <a:srgbClr val="B4BAAE"/>
                </a:solidFill>
                <a:latin typeface="Aptos"/>
              </a:defRPr>
            </a:pPr>
            <a:r>
              <a:t>Reconnect is not enough for this path: the operator must fully restart Tlamatini so the pre-Django swap window opens again.</a:t>
            </a:r>
          </a:p>
          <a:p>
            <a:pPr>
              <a:spcAft>
                <a:spcPts val="400"/>
              </a:spcAft>
              <a:defRPr sz="1400">
                <a:solidFill>
                  <a:srgbClr val="B4BAAE"/>
                </a:solidFill>
                <a:latin typeface="Aptos"/>
              </a:defRPr>
            </a:pPr>
            <a:r>
              <a:t>If the staged file is bad or locked, startup fails open: Tlamatini logs the error and continues with the previous live database.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RELEASE-IDENTITY WORK ACROSS RUNTIME AND BUILDS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Versioning System</a:t>
            </a:r>
          </a:p>
        </p:txBody>
      </p:sp>
      <p:sp>
        <p:nvSpPr>
          <p:cNvPr id="9" name="Rounded Rectangle 8"/>
          <p:cNvSpPr/>
          <p:nvPr/>
        </p:nvSpPr>
        <p:spPr>
          <a:xfrm>
            <a:off x="713232" y="1463040"/>
            <a:ext cx="539496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SemVer and resolver</a:t>
            </a:r>
          </a:p>
        </p:txBody>
      </p:sp>
      <p:sp>
        <p:nvSpPr>
          <p:cNvPr id="12" name="TextBox 11"/>
          <p:cNvSpPr txBox="1"/>
          <p:nvPr/>
        </p:nvSpPr>
        <p:spPr>
          <a:xfrm>
            <a:off x="914400" y="2121408"/>
            <a:ext cx="4992624" cy="3383280"/>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Tlamatini now follows Semantic Versioning 2.0.0 with git tags as the single source of truth: you tag, then you build, instead of hand-editing version strings across files.</a:t>
            </a:r>
          </a:p>
          <a:p>
            <a:pPr>
              <a:spcAft>
                <a:spcPts val="400"/>
              </a:spcAft>
              <a:defRPr sz="1500">
                <a:solidFill>
                  <a:srgbClr val="B4BAAE"/>
                </a:solidFill>
                <a:latin typeface="Aptos"/>
              </a:defRPr>
            </a:pPr>
            <a:r>
              <a:t>The build path resolves a version once and propagates it into generated runtime metadata, Win32 VERSIONINFO resources, and the release-folder naming convention.</a:t>
            </a:r>
          </a:p>
          <a:p>
            <a:pPr>
              <a:spcAft>
                <a:spcPts val="400"/>
              </a:spcAft>
              <a:defRPr sz="1500">
                <a:solidFill>
                  <a:srgbClr val="B4BAAE"/>
                </a:solidFill>
                <a:latin typeface="Aptos"/>
              </a:defRPr>
            </a:pPr>
            <a:r>
              <a:t>On untagged commits the resolver falls back honestly to a git-derived development version instead of failing the build or lying about the release state.</a:t>
            </a:r>
          </a:p>
        </p:txBody>
      </p:sp>
      <p:sp>
        <p:nvSpPr>
          <p:cNvPr id="13" name="Rounded Rectangle 12"/>
          <p:cNvSpPr/>
          <p:nvPr/>
        </p:nvSpPr>
        <p:spPr>
          <a:xfrm>
            <a:off x="6355080" y="1463040"/>
            <a:ext cx="507492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Where version appears</a:t>
            </a:r>
          </a:p>
        </p:txBody>
      </p:sp>
      <p:sp>
        <p:nvSpPr>
          <p:cNvPr id="16" name="TextBox 15"/>
          <p:cNvSpPr txBox="1"/>
          <p:nvPr/>
        </p:nvSpPr>
        <p:spPr>
          <a:xfrm>
            <a:off x="6556248" y="2121408"/>
            <a:ext cx="4672583" cy="3383280"/>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Operators can now see the running version in the About dialog, the startup banner, the open `GET /agent/version/` health-check endpoint, and Windows file properties on the built executables.</a:t>
            </a:r>
          </a:p>
          <a:p>
            <a:pPr>
              <a:spcAft>
                <a:spcPts val="400"/>
              </a:spcAft>
              <a:defRPr sz="1200">
                <a:solidFill>
                  <a:srgbClr val="B4BAAE"/>
                </a:solidFill>
                <a:latin typeface="Aptos"/>
              </a:defRPr>
            </a:pPr>
            <a:r>
              <a:t>Packaged installs also project the same release identity into Windows' Installed-apps metadata through the ARP `DisplayVersion` field, so the uninstall surface and the binaries agree on the version being removed.</a:t>
            </a:r>
          </a:p>
          <a:p>
            <a:pPr>
              <a:spcAft>
                <a:spcPts val="400"/>
              </a:spcAft>
              <a:defRPr sz="1200">
                <a:solidFill>
                  <a:srgbClr val="B4BAAE"/>
                </a:solidFill>
                <a:latin typeface="Aptos"/>
              </a:defRPr>
            </a:pPr>
            <a:r>
              <a:t>The runtime resolver lives in `Tlamatini/agent/version.py`, while the build-oriented coordination logic lives in the repo-root `versioning.py` and the longer policy notes live in `VERSIONING.md`.</a:t>
            </a:r>
          </a:p>
          <a:p>
            <a:pPr>
              <a:spcAft>
                <a:spcPts val="400"/>
              </a:spcAft>
              <a:defRPr sz="1200">
                <a:solidFill>
                  <a:srgbClr val="B4BAAE"/>
                </a:solidFill>
                <a:latin typeface="Aptos"/>
              </a:defRPr>
            </a:pPr>
            <a:r>
              <a:t>Build overrides are supported in a predictable order: CLI `--version`, then `TLAMATINI_VERSION`, then git describe, then the sentinel `0.0.0+unknown`.</a:t>
            </a:r>
          </a:p>
        </p:txBody>
      </p:sp>
      <p:sp>
        <p:nvSpPr>
          <p:cNvPr id="17" name="TextBox 16"/>
          <p:cNvSpPr txBox="1"/>
          <p:nvPr/>
        </p:nvSpPr>
        <p:spPr>
          <a:xfrm>
            <a:off x="841248" y="5797296"/>
            <a:ext cx="10149840" cy="201168"/>
          </a:xfrm>
          <a:prstGeom prst="rect">
            <a:avLst/>
          </a:prstGeom>
          <a:noFill/>
        </p:spPr>
        <p:txBody>
          <a:bodyPr wrap="square" anchor="t">
            <a:spAutoFit/>
          </a:bodyPr>
          <a:lstStyle/>
          <a:p>
            <a:pPr algn="l"/>
            <a:r>
              <a:rPr sz="900" b="0">
                <a:solidFill>
                  <a:srgbClr val="B4BAAE"/>
                </a:solidFill>
                <a:latin typeface="Cascadia Mono"/>
              </a:rPr>
              <a:t>Resolved current version: 1.46.0 | build: 1.46.0</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ARCHIVE COMPRESSION AND DECOMPRESSION WORKER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De-Compresser Agent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De-Compresser is the deterministic archive worker for compression and decompression tasks, deciding direction from whichever side exposes a recognized archive extension.</a:t>
            </a:r>
          </a:p>
          <a:p>
            <a:pPr>
              <a:spcAft>
                <a:spcPts val="400"/>
              </a:spcAft>
              <a:defRPr sz="1500">
                <a:solidFill>
                  <a:srgbClr val="B4BAAE"/>
                </a:solidFill>
                <a:latin typeface="Aptos"/>
              </a:defRPr>
            </a:pPr>
            <a:r>
              <a:t>Supported archive families are `.gz`, `.zip`, `.7z`, `.tar.gz`, and `.gz.tar`; file-to-folder extraction and file-or-directory packing are both documented in the README and Book.</a:t>
            </a:r>
          </a:p>
          <a:p>
            <a:pPr>
              <a:spcAft>
                <a:spcPts val="400"/>
              </a:spcAft>
              <a:defRPr sz="1500">
                <a:solidFill>
                  <a:srgbClr val="B4BAAE"/>
                </a:solidFill>
                <a:latin typeface="Aptos"/>
              </a:defRPr>
            </a:pPr>
            <a:r>
              <a:t>Password handling is explicit: `passwordless=true` skips it, while `passwordless=false` requires the `DE_COMPRESSER_PWD` environment variable and fails fast if the secret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Integration and fallbacks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agent is reachable from both operator surfaces: ACP canvas nodes wire through dedicated connection-update views, and checked Multi-Turn can invoke it through `chat_agent_de_compresser`.</a:t>
            </a:r>
          </a:p>
          <a:p>
            <a:pPr>
              <a:spcAft>
                <a:spcPts val="400"/>
              </a:spcAft>
              <a:defRPr sz="1300">
                <a:solidFill>
                  <a:srgbClr val="B4BAAE"/>
                </a:solidFill>
                <a:latin typeface="Aptos"/>
              </a:defRPr>
            </a:pPr>
            <a:r>
              <a:t>Format engines are practical rather than magical: stdlib `gzip` and `zipfile` cover core cases, `7z` is preferred for encrypted `7z` or `zip`, and `py7zr` was added to `requirements.txt` as the Python fallback.</a:t>
            </a:r>
          </a:p>
          <a:p>
            <a:pPr>
              <a:spcAft>
                <a:spcPts val="400"/>
              </a:spcAft>
              <a:defRPr sz="1300">
                <a:solidFill>
                  <a:srgbClr val="B4BAAE"/>
                </a:solidFill>
                <a:latin typeface="Aptos"/>
              </a:defRPr>
            </a:pPr>
            <a:r>
              <a:t>Every run emits an `INI_SECTION_DE_COMPRESSER&lt;&lt;&lt; ... &gt;&gt;&gt;END_SECTION_DE_COMPRESSER` block and still triggers `target_agents`, so downstream Parametrizer or Raiser logic can branch on `success=true|false` instead of guessing from prose.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UE5 EDITOR BRIDGE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Unreal MCP And Unrealer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Unreal MCP is a UE5 plugin that runs inside the editor and listens on `127.0.0.1:55557` for one JSON command per TCP connection; Tlamatini is the client side of that link, not the plugin host.</a:t>
            </a:r>
          </a:p>
          <a:p>
            <a:pPr>
              <a:spcAft>
                <a:spcPts val="400"/>
              </a:spcAft>
              <a:defRPr sz="1200">
                <a:solidFill>
                  <a:srgbClr val="B4BAAE"/>
                </a:solidFill>
                <a:latin typeface="Aptos"/>
              </a:defRPr>
            </a:pPr>
            <a:r>
              <a:t>The Unrealer workflow agent forwards any command the connected plugin build exposes, up to a 53-command surface across nine categories: actor manipulation (incl. viewport screenshots), Blueprint authoring and node wiring, input mappings, UMG widget building, in-editor Python/console execution, level I/O, asset import, and material authoring. Headless build/cook/test is out of scope (it needs UnrealEditor-Cmd, not the editor socket).</a:t>
            </a:r>
          </a:p>
          <a:p>
            <a:pPr>
              <a:spcAft>
                <a:spcPts val="400"/>
              </a:spcAft>
              <a:defRPr sz="1200">
                <a:solidFill>
                  <a:srgbClr val="B4BAAE"/>
                </a:solidFill>
                <a:latin typeface="Aptos"/>
              </a:defRPr>
            </a:pPr>
            <a:r>
              <a:t>The same integration is available in both operator surfaces: checked Multi-Turn via `chat_agent_unrealer`, and ACP canvas flows via the visual Unrealer node plus Parametrizer chaining.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Install and runtime path</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Install the upstream plugin into `&lt;YourProject&gt;/Plugins/UnrealMCP/`, enable it from `Edit -&gt; Plugins`, restart UE5, and confirm the Output Log says `UnrealMCP listening on 127.0.0.1:55557`.</a:t>
            </a:r>
          </a:p>
          <a:p>
            <a:pPr>
              <a:spcAft>
                <a:spcPts val="400"/>
              </a:spcAft>
              <a:defRPr sz="1200">
                <a:solidFill>
                  <a:srgbClr val="B4BAAE"/>
                </a:solidFill>
                <a:latin typeface="Aptos"/>
              </a:defRPr>
            </a:pPr>
            <a:r>
              <a:t>Tlamatini does not compile or embed the plugin; the Unreal editor must already be running with the listener bound before any Unrealer call can succeed.</a:t>
            </a:r>
          </a:p>
          <a:p>
            <a:pPr>
              <a:spcAft>
                <a:spcPts val="400"/>
              </a:spcAft>
              <a:defRPr sz="1200">
                <a:solidFill>
                  <a:srgbClr val="B4BAAE"/>
                </a:solidFill>
                <a:latin typeface="Aptos"/>
              </a:defRPr>
            </a:pPr>
            <a:r>
              <a:t>A seeded smoke test ships in the Prompts table: `Unreal MCP End-to-End Editor Drive` walks through sanity-check, actor spawn, Blueprint creation/compile, and UMG widget assembly.</a:t>
            </a:r>
          </a:p>
          <a:p>
            <a:pPr>
              <a:spcAft>
                <a:spcPts val="400"/>
              </a:spcAft>
              <a:defRPr sz="1200">
                <a:solidFill>
                  <a:srgbClr val="B4BAAE"/>
                </a:solidFill>
                <a:latin typeface="Aptos"/>
              </a:defRPr>
            </a:pPr>
            <a:r>
              <a:t>Each Unrealer run is one command: load `config.yaml`, open a fresh TCP socket, send `{"type": command, "params": params}`, read until valid JSON arrives, and log one atomic `INI_SECTION_UNREALER&lt;&lt;&lt; ... &gt;&gt;&gt;END_SECTION_UNREALER` block.</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THE 53-COMMAND FORK AND WHY IT MATTERS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Extended Unrealer Surface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Extended fork</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Unrealer’s documentation now points at the public `XAIHT/XaihtUnrealEngineMCP` fork, the Unreal Engine MCP variant developed specifically for Tlamatini.</a:t>
            </a:r>
          </a:p>
          <a:p>
            <a:pPr>
              <a:spcAft>
                <a:spcPts val="400"/>
              </a:spcAft>
              <a:defRPr sz="1300">
                <a:solidFill>
                  <a:srgbClr val="B4BAAE"/>
                </a:solidFill>
                <a:latin typeface="Aptos"/>
              </a:defRPr>
            </a:pPr>
            <a:r>
              <a:t>That fork exposes the extended 53-command, nine-category surface documented in README and Book: not only the base editor/Blueprint/UMG verbs, but also system, level, asset, material, screenshot, viewport, and in-editor Python paths.</a:t>
            </a:r>
          </a:p>
          <a:p>
            <a:pPr>
              <a:spcAft>
                <a:spcPts val="400"/>
              </a:spcAft>
              <a:defRPr sz="1300">
                <a:solidFill>
                  <a:srgbClr val="B4BAAE"/>
                </a:solidFill>
                <a:latin typeface="Aptos"/>
              </a:defRPr>
            </a:pPr>
            <a:r>
              <a:t>The practical message for operators is simple: Unrealer forwards the connected plugin’s verb surface directly, so Tlamatini’s client does not need a new release every time the plugin adds another supported command.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consequences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wrapped-tool path stores chat runs under `agent/agents/pools/_chat_runs_/unrealer_&lt;seq&gt;_&lt;id&gt;/`, while visual flows use normal `unrealer_&lt;n&gt;` pool folders and can chain response fields through Parametrizer mappings.</a:t>
            </a:r>
          </a:p>
          <a:p>
            <a:pPr>
              <a:spcAft>
                <a:spcPts val="400"/>
              </a:spcAft>
              <a:defRPr sz="1200">
                <a:solidFill>
                  <a:srgbClr val="B4BAAE"/>
                </a:solidFill>
                <a:latin typeface="Aptos"/>
              </a:defRPr>
            </a:pPr>
            <a:r>
              <a:t>Exec Report treats Unrealer as its own row family, and troubleshooting stays concrete: connection-refused means the plugin is not listening, while read-timeout usually means UE5's game thread is busy.</a:t>
            </a:r>
          </a:p>
          <a:p>
            <a:pPr>
              <a:spcAft>
                <a:spcPts val="400"/>
              </a:spcAft>
              <a:defRPr sz="1200">
                <a:solidFill>
                  <a:srgbClr val="B4BAAE"/>
                </a:solidFill>
                <a:latin typeface="Aptos"/>
              </a:defRPr>
            </a:pPr>
            <a:r>
              <a:t>The seeded Unreal demo prompts now cover screenshots, scene-building, and in-editor Python/introspection paths on top of the original blueprint flow.</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WINDOWS PROCESS-HYGIENE AND SURVIVOR REPORTING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Orphan-Process Cleanup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Three-tier reaper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Tlamatini now ships a three-tier orphan reaper in `Tlamatini/agent/orphan_reaper.py` focused on Windows console-host leftovers such as `conhost.exe` and `openconsole.exe`.</a:t>
            </a:r>
          </a:p>
          <a:p>
            <a:pPr>
              <a:spcAft>
                <a:spcPts val="400"/>
              </a:spcAft>
              <a:defRPr sz="1300">
                <a:solidFill>
                  <a:srgbClr val="B4BAAE"/>
                </a:solidFill>
                <a:latin typeface="Aptos"/>
              </a:defRPr>
            </a:pPr>
            <a:r>
              <a:t>Tier 1 runs after spawn-capable Multi-Turn tool calls, Tier 2 runs once after the final answer in a background thread, and Tier 3 runs again during application shutdown through the same cleanup path that already tears down pools.</a:t>
            </a:r>
          </a:p>
          <a:p>
            <a:pPr>
              <a:spcAft>
                <a:spcPts val="400"/>
              </a:spcAft>
              <a:defRPr sz="1300">
                <a:solidFill>
                  <a:srgbClr val="B4BAAE"/>
                </a:solidFill>
                <a:latin typeface="Aptos"/>
              </a:defRPr>
            </a:pPr>
            <a:r>
              <a:t>The candidate set stays narrow on purpose: dead descendants of the current process tree, orphaned console hosts tied to that tree, and pool-linked processes whose `cmdline` still points into `agents/pools/...` even though tracking records are gone.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Prevention and survivor reporting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Prevention landed alongside cleanup: Windows spawn sites now use `CREATE_NO_WINDOW | DETACHED_PROCESS | CREATE_NEW_PROCESS_GROUP` with stdio piped to `DEVNULL`, so the console host is usually never allocated in the first place.</a:t>
            </a:r>
          </a:p>
          <a:p>
            <a:pPr>
              <a:spcAft>
                <a:spcPts val="400"/>
              </a:spcAft>
              <a:defRPr sz="1300">
                <a:solidFill>
                  <a:srgbClr val="B4BAAE"/>
                </a:solidFill>
                <a:latin typeface="Aptos"/>
              </a:defRPr>
            </a:pPr>
            <a:r>
              <a:t>The ACPX runtime now kills full process trees instead of only top-level wrappers, and pool-agent scripts gained a conservative `subprocess.Popen` guard so forgotten descendants still inherit `CREATE_NO_WINDOW`.</a:t>
            </a:r>
          </a:p>
          <a:p>
            <a:pPr>
              <a:spcAft>
                <a:spcPts val="400"/>
              </a:spcAft>
              <a:defRPr sz="1300">
                <a:solidFill>
                  <a:srgbClr val="B4BAAE"/>
                </a:solidFill>
                <a:latin typeface="Aptos"/>
              </a:defRPr>
            </a:pPr>
            <a:r>
              <a:t>If something survives both cleanup tiers, Tlamatini sends a second chat bubble listing each surviving `name + PID`; the reaper never raises into the user path because a cleanup crash would be worse than the leftovers it tried to remove.</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LOCAL MODEL SETUP ON WINDOWS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Ollama Without Admin Rights</a:t>
            </a:r>
          </a:p>
        </p:txBody>
      </p:sp>
      <p:sp>
        <p:nvSpPr>
          <p:cNvPr id="9" name="TextBox 8"/>
          <p:cNvSpPr txBox="1"/>
          <p:nvPr/>
        </p:nvSpPr>
        <p:spPr>
          <a:xfrm>
            <a:off x="777240" y="1572768"/>
            <a:ext cx="10561320" cy="2926080"/>
          </a:xfrm>
          <a:prstGeom prst="rect">
            <a:avLst/>
          </a:prstGeom>
          <a:noFill/>
        </p:spPr>
        <p:txBody>
          <a:bodyPr wrap="square" anchor="t">
            <a:spAutoFit/>
          </a:bodyPr>
          <a:lstStyle/>
          <a:p>
            <a:pPr algn="l"/>
            <a:r>
              <a:rPr sz="900" b="0">
                <a:solidFill>
                  <a:srgbClr val="E8E8DE"/>
                </a:solidFill>
                <a:latin typeface="Cascadia Mono"/>
              </a:rPr>
              <a:t>$env:OLLAMA_INSTALL_DIR = "$env:LOCALAPPDATA\Programs\Ollama"
irm https://ollama.com/install.ps1 | iex
ollama --version
ollama signin
ollama serve
Invoke-WebRequest http://127.0.0.1:11434/api/tags -UseBasicParsing
ollama pull Nomic-Embed-Text:latest
ollama pull glm-5.2:cloud
ollama pull qwen3.5:cloud
ollama pull gpt-oss:120b-cloud
ollama pull qwen3.5:397b-cloud
ollama pull glm-5.1:cloud</a:t>
            </a:r>
          </a:p>
        </p:txBody>
      </p:sp>
      <p:sp>
        <p:nvSpPr>
          <p:cNvPr id="10" name="Rounded Rectangle 9"/>
          <p:cNvSpPr/>
          <p:nvPr/>
        </p:nvSpPr>
        <p:spPr>
          <a:xfrm>
            <a:off x="777240" y="4590288"/>
            <a:ext cx="10561320" cy="17373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59028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4791455"/>
            <a:ext cx="10158984" cy="310896"/>
          </a:xfrm>
          <a:prstGeom prst="rect">
            <a:avLst/>
          </a:prstGeom>
          <a:noFill/>
        </p:spPr>
        <p:txBody>
          <a:bodyPr wrap="square" anchor="t">
            <a:spAutoFit/>
          </a:bodyPr>
          <a:lstStyle/>
          <a:p>
            <a:pPr algn="l"/>
            <a:r>
              <a:rPr sz="1400" b="1">
                <a:solidFill>
                  <a:srgbClr val="E0AB5D"/>
                </a:solidFill>
                <a:latin typeface="Aptos"/>
              </a:rPr>
              <a:t>Checklist</a:t>
            </a:r>
          </a:p>
        </p:txBody>
      </p:sp>
      <p:sp>
        <p:nvSpPr>
          <p:cNvPr id="13" name="TextBox 12"/>
          <p:cNvSpPr txBox="1"/>
          <p:nvPr/>
        </p:nvSpPr>
        <p:spPr>
          <a:xfrm>
            <a:off x="978408" y="5248655"/>
            <a:ext cx="10158984" cy="93268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Open a normal PowerShell window, not an elevated one, for the safest no-admin Windows installation path.</a:t>
            </a:r>
          </a:p>
          <a:p>
            <a:pPr>
              <a:spcAft>
                <a:spcPts val="400"/>
              </a:spcAft>
              <a:defRPr sz="1400">
                <a:solidFill>
                  <a:srgbClr val="B4BAAE"/>
                </a:solidFill>
                <a:latin typeface="Aptos"/>
              </a:defRPr>
            </a:pPr>
            <a:r>
              <a:t>Install into `%LOCALAPPDATA%\Programs\Ollama` with the official PowerShell installer script and then reopen PowerShell so PATH updates are visible.</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SERVICE, API, AND MODEL PULLS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Ollama Readiness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Service and API</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you plan to use the default `:cloud` models from the shipped config, sign in with `ollama signin` so the host is linked to your Ollama account before you test the app.</a:t>
            </a:r>
          </a:p>
          <a:p>
            <a:pPr>
              <a:spcAft>
                <a:spcPts val="400"/>
              </a:spcAft>
              <a:defRPr sz="1200">
                <a:solidFill>
                  <a:srgbClr val="B4BAAE"/>
                </a:solidFill>
                <a:latin typeface="Aptos"/>
              </a:defRPr>
            </a:pPr>
            <a:r>
              <a:t>Verify the CLI with `ollama --version`, start `ollama serve` if the background service is not already active, and confirm `http://127.0.0.1:11434/api/tags` responds.</a:t>
            </a:r>
          </a:p>
          <a:p>
            <a:pPr>
              <a:spcAft>
                <a:spcPts val="400"/>
              </a:spcAft>
              <a:defRPr sz="1200">
                <a:solidFill>
                  <a:srgbClr val="B4BAAE"/>
                </a:solidFill>
                <a:latin typeface="Aptos"/>
              </a:defRPr>
            </a:pPr>
            <a:r>
              <a:t>Pull the default repository model tags exactly as written if you want the shipped config and agent templates to work unchanged.</a:t>
            </a:r>
          </a:p>
          <a:p>
            <a:pPr>
              <a:spcAft>
                <a:spcPts val="400"/>
              </a:spcAft>
              <a:defRPr sz="1200">
                <a:solidFill>
                  <a:srgbClr val="B4BAAE"/>
                </a:solidFill>
                <a:latin typeface="Aptos"/>
              </a:defRPr>
            </a:pPr>
            <a:r>
              <a:t>The Book now clarifies the token rule: a localhost Ollama usually needs no Ollama bearer token in Tlamatini, while a remote Ollama endpoint may require one in `Config -&gt; Access Keys Wizard` or the matching config key.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Default pull set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Nomic-Embed-Text:latest</a:t>
            </a:r>
          </a:p>
          <a:p>
            <a:pPr>
              <a:spcAft>
                <a:spcPts val="400"/>
              </a:spcAft>
              <a:defRPr sz="1500">
                <a:solidFill>
                  <a:srgbClr val="B4BAAE"/>
                </a:solidFill>
                <a:latin typeface="Aptos"/>
              </a:defRPr>
            </a:pPr>
            <a:r>
              <a:t>glm-5.2:cloud</a:t>
            </a:r>
          </a:p>
          <a:p>
            <a:pPr>
              <a:spcAft>
                <a:spcPts val="400"/>
              </a:spcAft>
              <a:defRPr sz="1500">
                <a:solidFill>
                  <a:srgbClr val="B4BAAE"/>
                </a:solidFill>
                <a:latin typeface="Aptos"/>
              </a:defRPr>
            </a:pPr>
            <a:r>
              <a:t>qwen3.5:cloud</a:t>
            </a:r>
          </a:p>
          <a:p>
            <a:pPr>
              <a:spcAft>
                <a:spcPts val="400"/>
              </a:spcAft>
              <a:defRPr sz="1500">
                <a:solidFill>
                  <a:srgbClr val="B4BAAE"/>
                </a:solidFill>
                <a:latin typeface="Aptos"/>
              </a:defRPr>
            </a:pPr>
            <a:r>
              <a:t>gpt-oss:120b-cloud</a:t>
            </a:r>
          </a:p>
          <a:p>
            <a:pPr>
              <a:spcAft>
                <a:spcPts val="400"/>
              </a:spcAft>
              <a:defRPr sz="1500">
                <a:solidFill>
                  <a:srgbClr val="B4BAAE"/>
                </a:solidFill>
                <a:latin typeface="Aptos"/>
              </a:defRPr>
            </a:pPr>
            <a:r>
              <a:t>qwen3.5:397b-cloud</a:t>
            </a:r>
          </a:p>
          <a:p>
            <a:pPr>
              <a:spcAft>
                <a:spcPts val="400"/>
              </a:spcAft>
              <a:defRPr sz="1500">
                <a:solidFill>
                  <a:srgbClr val="B4BAAE"/>
                </a:solidFill>
                <a:latin typeface="Aptos"/>
              </a:defRPr>
            </a:pPr>
            <a:r>
              <a:t>glm-5.1:cloud</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README AND BOOK DRIVEN OPERATOR SAFEGUARDS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GPU Guard And Reconnect UX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Embedding-memory pre-flight guard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README and BookOfTlamatini now document an embedding-memory pre-flight guard for GPU hosts before a directory-context load starts its FAISS embedding burst.</a:t>
            </a:r>
          </a:p>
          <a:p>
            <a:pPr>
              <a:spcAft>
                <a:spcPts val="400"/>
              </a:spcAft>
              <a:defRPr sz="1300">
                <a:solidFill>
                  <a:srgbClr val="B4BAAE"/>
                </a:solidFill>
                <a:latin typeface="Aptos"/>
              </a:defRPr>
            </a:pPr>
            <a:r>
              <a:t>On supported NVIDIA hosts it estimates embedding-model VRAM pressure, and when the projected load is too high it emits a non-blocking warning chat bubble instead of silently letting RAM&lt;-&gt;VRAM thrash surprise the operator.</a:t>
            </a:r>
          </a:p>
          <a:p>
            <a:pPr>
              <a:spcAft>
                <a:spcPts val="400"/>
              </a:spcAft>
              <a:defRPr sz="1300">
                <a:solidFill>
                  <a:srgbClr val="B4BAAE"/>
                </a:solidFill>
                <a:latin typeface="Aptos"/>
              </a:defRPr>
            </a:pPr>
            <a:r>
              <a:t>CPU-only, AMD, and Apple-Silicon hosts stay fail-open: the guard becomes a no-op when the NVIDIA probe does not apply.</a:t>
            </a:r>
          </a:p>
          <a:p>
            <a:pPr>
              <a:spcAft>
                <a:spcPts val="400"/>
              </a:spcAft>
              <a:defRPr sz="1300">
                <a:solidFill>
                  <a:srgbClr val="B4BAAE"/>
                </a:solidFill>
                <a:latin typeface="Aptos"/>
              </a:defRPr>
            </a:pPr>
            <a:r>
              <a:t>The practical operator response is straightforward: switch to a smaller embedding model, reconnect if needed, or proceed knowingly with the heavier model.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Reconnect and restart safeguards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Config -&gt; Models and Config -&gt; URLs dialogs now track their pre-edit baseline and can show a reconnect-required dialog when the saved values change what the live chat session should trust.</a:t>
            </a:r>
          </a:p>
          <a:p>
            <a:pPr>
              <a:spcAft>
                <a:spcPts val="400"/>
              </a:spcAft>
              <a:defRPr sz="900">
                <a:solidFill>
                  <a:srgbClr val="B4BAAE"/>
                </a:solidFill>
                <a:latin typeface="Aptos"/>
              </a:defRPr>
            </a:pPr>
            <a:r>
              <a:t>The restored-session autoload path now buffers early WebSocket frames so context-loading spinners and disabled-input state are not lost during automatic reconnect/restore flows.</a:t>
            </a:r>
          </a:p>
          <a:p>
            <a:pPr>
              <a:spcAft>
                <a:spcPts val="400"/>
              </a:spcAft>
              <a:defRPr sz="900">
                <a:solidFill>
                  <a:srgbClr val="B4BAAE"/>
                </a:solidFill>
                <a:latin typeface="Aptos"/>
              </a:defRPr>
            </a:pPr>
            <a:r>
              <a:t>Startup and restart behavior now also re-apply GPU performance and Ollama keep-alive hooks in the background on supported NVIDIA Windows hosts, improving warm-model readiness without blocking Django boot.</a:t>
            </a:r>
          </a:p>
          <a:p>
            <a:pPr>
              <a:spcAft>
                <a:spcPts val="400"/>
              </a:spcAft>
              <a:defRPr sz="900">
                <a:solidFill>
                  <a:srgbClr val="B4BAAE"/>
                </a:solidFill>
                <a:latin typeface="Aptos"/>
              </a:defRPr>
            </a:pPr>
            <a:r>
              <a:t>Browser-driven attention routing is now part of that operator-safety layer too: Ask Execs prompts and Notifier events can raise a taskbar flash plus a log banner without relying on the browser window already being visible.</a:t>
            </a:r>
          </a:p>
          <a:p>
            <a:pPr>
              <a:spcAft>
                <a:spcPts val="400"/>
              </a:spcAft>
              <a:defRPr sz="900">
                <a:solidFill>
                  <a:srgbClr val="B4BAAE"/>
                </a:solidFill>
                <a:latin typeface="Aptos"/>
              </a:defRPr>
            </a:pPr>
            <a:r>
              <a:t>Windows process hygiene is now part of that safety story too: detached no-window spawns and the three-tier orphan reaper reduce the chance that Task Manager shows stale Tlamatini-icon console helpers after long runs.</a:t>
            </a:r>
          </a:p>
          <a:p>
            <a:pPr>
              <a:spcAft>
                <a:spcPts val="400"/>
              </a:spcAft>
              <a:defRPr sz="900">
                <a:solidFill>
                  <a:srgbClr val="B4BAAE"/>
                </a:solidFill>
                <a:latin typeface="Aptos"/>
              </a:defRPr>
            </a:pPr>
            <a:r>
              <a:t>Ask Execs extends that safety story into execution approval itself: the operator can now stop a destructive chain before the next mutation instead of only auditing it after the fact in Exec Report.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DEVELOPMENT, MCP BOOTSTRAP, AND ASGI</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Running Modes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How to run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Development server: `python Tlamatini/manage.py runserver` — the `--noreload` flag is now OPTIONAL (plain `runserver` boots clean and auto-reloads since the 2026-07-11 `agent/apps.py` reloader-aware fix; it used to double-start the MCP helper ports :8765 / :50051 and crash with WinError 10048).</a:t>
            </a:r>
          </a:p>
          <a:p>
            <a:pPr>
              <a:spcAft>
                <a:spcPts val="400"/>
              </a:spcAft>
              <a:defRPr sz="900">
                <a:solidFill>
                  <a:srgbClr val="B4BAAE"/>
                </a:solidFill>
                <a:latin typeface="Aptos"/>
              </a:defRPr>
            </a:pPr>
            <a:r>
              <a:t>Preferred async/dev bootstrap: `python Tlamatini/manage.py startserver`, which starts MCP services before the Django server.</a:t>
            </a:r>
          </a:p>
          <a:p>
            <a:pPr>
              <a:spcAft>
                <a:spcPts val="400"/>
              </a:spcAft>
              <a:defRPr sz="900">
                <a:solidFill>
                  <a:srgbClr val="B4BAAE"/>
                </a:solidFill>
                <a:latin typeface="Aptos"/>
              </a:defRPr>
            </a:pPr>
            <a:r>
              <a:t>Production-style ASGI entrypoint: `daphne -b 127.0.0.1 -p 8000 tlamatini.asgi:application` — this path bypasses `manage.py`, so it does not read `django_port` and the port must be passed on the command line.</a:t>
            </a:r>
          </a:p>
          <a:p>
            <a:pPr>
              <a:spcAft>
                <a:spcPts val="400"/>
              </a:spcAft>
              <a:defRPr sz="900">
                <a:solidFill>
                  <a:srgbClr val="B4BAAE"/>
                </a:solidFill>
                <a:latin typeface="Aptos"/>
              </a:defRPr>
            </a:pPr>
            <a:r>
              <a:t>Current startup also re-applies GPU-performance / Ollama-pinning hooks in the background on supported NVIDIA Windows hosts, so restart-time behavior stays closer to the tuned development baseline.</a:t>
            </a:r>
          </a:p>
          <a:p>
            <a:pPr>
              <a:spcAft>
                <a:spcPts val="400"/>
              </a:spcAft>
              <a:defRPr sz="900">
                <a:solidFill>
                  <a:srgbClr val="B4BAAE"/>
                </a:solidFill>
                <a:latin typeface="Aptos"/>
              </a:defRPr>
            </a:pPr>
            <a:r>
              <a:t>That same early startup window is also where a staged `DB/ToLoad/db.sqlite3` file is promoted into the live database path, before Django opens SQLite.</a:t>
            </a:r>
          </a:p>
          <a:p>
            <a:pPr>
              <a:spcAft>
                <a:spcPts val="400"/>
              </a:spcAft>
              <a:defRPr sz="900">
                <a:solidFill>
                  <a:srgbClr val="B4BAAE"/>
                </a:solidFill>
                <a:latin typeface="Aptos"/>
              </a:defRPr>
            </a:pPr>
            <a:r>
              <a:t>In frozen mode, startup now also self-heals the per-user Windows Installed-apps entry when `Uninstaller.exe` is present beside `Tlamatini.exe`, so old installs can gain a standard uninstall surface without a reinstall.</a:t>
            </a:r>
          </a:p>
          <a:p>
            <a:pPr>
              <a:spcAft>
                <a:spcPts val="400"/>
              </a:spcAft>
              <a:defRPr sz="900">
                <a:solidFill>
                  <a:srgbClr val="B4BAAE"/>
                </a:solidFill>
                <a:latin typeface="Aptos"/>
              </a:defRPr>
            </a:pPr>
            <a:r>
              <a:t>Startup now also prints a `--- [VERSION] Tlamatini ...` banner, making the running build visible in both the console and `tlamatini.log` without an HTTP call.</a:t>
            </a:r>
          </a:p>
          <a:p>
            <a:pPr>
              <a:spcAft>
                <a:spcPts val="400"/>
              </a:spcAft>
              <a:defRPr sz="900">
                <a:solidFill>
                  <a:srgbClr val="B4BAAE"/>
                </a:solidFill>
                <a:latin typeface="Aptos"/>
              </a:defRPr>
            </a:pPr>
            <a:r>
              <a:t>Startup cleans pool state, repopulates the agent registry, launches MCP metrics/file-search servers, and then serves HTTP plus WebSocket traffic.</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What startup does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Initializes Django and runtime guards in manage.py.</a:t>
            </a:r>
          </a:p>
          <a:p>
            <a:pPr>
              <a:spcAft>
                <a:spcPts val="400"/>
              </a:spcAft>
              <a:defRPr sz="1500">
                <a:solidFill>
                  <a:srgbClr val="B4BAAE"/>
                </a:solidFill>
                <a:latin typeface="Aptos"/>
              </a:defRPr>
            </a:pPr>
            <a:r>
              <a:t>Cleans pool state and repopulates the Agent table from current disk templates.</a:t>
            </a:r>
          </a:p>
          <a:p>
            <a:pPr>
              <a:spcAft>
                <a:spcPts val="400"/>
              </a:spcAft>
              <a:defRPr sz="1500">
                <a:solidFill>
                  <a:srgbClr val="B4BAAE"/>
                </a:solidFill>
                <a:latin typeface="Aptos"/>
              </a:defRPr>
            </a:pPr>
            <a:r>
              <a:t>Launches MCP metrics and gRPC file-search servers before steady-state traffic.</a:t>
            </a:r>
          </a:p>
          <a:p>
            <a:pPr>
              <a:spcAft>
                <a:spcPts val="400"/>
              </a:spcAft>
              <a:defRPr sz="1500">
                <a:solidFill>
                  <a:srgbClr val="B4BAAE"/>
                </a:solidFill>
                <a:latin typeface="Aptos"/>
              </a:defRPr>
            </a:pPr>
            <a:r>
              <a:t>Self-heals the frozen Windows Installed-apps entry when `Uninstaller.exe` is present beside the executable.</a:t>
            </a:r>
          </a:p>
          <a:p>
            <a:pPr>
              <a:spcAft>
                <a:spcPts val="400"/>
              </a:spcAft>
              <a:defRPr sz="1500">
                <a:solidFill>
                  <a:srgbClr val="B4BAAE"/>
                </a:solidFill>
                <a:latin typeface="Aptos"/>
              </a:defRPr>
            </a:pPr>
            <a:r>
              <a:t>Handles shutdown by killing tracked/untracked agent processes and clearing pool artifacts.</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SOURCE USAGE IS SEPARATE FROM RELEASE BUILDING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Packaging Path</a:t>
            </a:r>
          </a:p>
        </p:txBody>
      </p:sp>
      <p:sp>
        <p:nvSpPr>
          <p:cNvPr id="9" name="Rounded Rectangle 8"/>
          <p:cNvSpPr/>
          <p:nvPr/>
        </p:nvSpPr>
        <p:spPr>
          <a:xfrm>
            <a:off x="105156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4712" y="1993392"/>
            <a:ext cx="1444752" cy="256032"/>
          </a:xfrm>
          <a:prstGeom prst="rect">
            <a:avLst/>
          </a:prstGeom>
          <a:noFill/>
        </p:spPr>
        <p:txBody>
          <a:bodyPr wrap="square" anchor="t">
            <a:spAutoFit/>
          </a:bodyPr>
          <a:lstStyle/>
          <a:p>
            <a:pPr algn="ctr"/>
            <a:r>
              <a:rPr sz="1000" b="1">
                <a:solidFill>
                  <a:srgbClr val="E8E8DE"/>
                </a:solidFill>
                <a:latin typeface="Aptos"/>
              </a:rPr>
              <a:t>build.py</a:t>
            </a:r>
          </a:p>
        </p:txBody>
      </p:sp>
      <p:sp>
        <p:nvSpPr>
          <p:cNvPr id="11" name="TextBox 10"/>
          <p:cNvSpPr txBox="1"/>
          <p:nvPr/>
        </p:nvSpPr>
        <p:spPr>
          <a:xfrm>
            <a:off x="2642615"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2" name="Rounded Rectangle 11"/>
          <p:cNvSpPr/>
          <p:nvPr/>
        </p:nvSpPr>
        <p:spPr>
          <a:xfrm>
            <a:off x="2889503"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62656" y="1993392"/>
            <a:ext cx="1444752" cy="256032"/>
          </a:xfrm>
          <a:prstGeom prst="rect">
            <a:avLst/>
          </a:prstGeom>
          <a:noFill/>
        </p:spPr>
        <p:txBody>
          <a:bodyPr wrap="square" anchor="t">
            <a:spAutoFit/>
          </a:bodyPr>
          <a:lstStyle/>
          <a:p>
            <a:pPr algn="ctr"/>
            <a:r>
              <a:rPr sz="1000" b="1">
                <a:solidFill>
                  <a:srgbClr val="E8E8DE"/>
                </a:solidFill>
                <a:latin typeface="Aptos"/>
              </a:rPr>
              <a:t>pkg.zip</a:t>
            </a:r>
          </a:p>
        </p:txBody>
      </p:sp>
      <p:sp>
        <p:nvSpPr>
          <p:cNvPr id="14" name="TextBox 13"/>
          <p:cNvSpPr txBox="1"/>
          <p:nvPr/>
        </p:nvSpPr>
        <p:spPr>
          <a:xfrm>
            <a:off x="4480559"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5" name="Rounded Rectangle 14"/>
          <p:cNvSpPr/>
          <p:nvPr/>
        </p:nvSpPr>
        <p:spPr>
          <a:xfrm>
            <a:off x="4727448"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993392"/>
            <a:ext cx="1444752" cy="256032"/>
          </a:xfrm>
          <a:prstGeom prst="rect">
            <a:avLst/>
          </a:prstGeom>
          <a:noFill/>
        </p:spPr>
        <p:txBody>
          <a:bodyPr wrap="square" anchor="t">
            <a:spAutoFit/>
          </a:bodyPr>
          <a:lstStyle/>
          <a:p>
            <a:pPr algn="ctr"/>
            <a:r>
              <a:rPr sz="1000" b="1">
                <a:solidFill>
                  <a:srgbClr val="E8E8DE"/>
                </a:solidFill>
                <a:latin typeface="Aptos"/>
              </a:rPr>
              <a:t>build_uninstaller</a:t>
            </a:r>
          </a:p>
        </p:txBody>
      </p:sp>
      <p:sp>
        <p:nvSpPr>
          <p:cNvPr id="17" name="TextBox 16"/>
          <p:cNvSpPr txBox="1"/>
          <p:nvPr/>
        </p:nvSpPr>
        <p:spPr>
          <a:xfrm>
            <a:off x="6318504"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8" name="Rounded Rectangle 17"/>
          <p:cNvSpPr/>
          <p:nvPr/>
        </p:nvSpPr>
        <p:spPr>
          <a:xfrm>
            <a:off x="6565392"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1993392"/>
            <a:ext cx="1444752" cy="256032"/>
          </a:xfrm>
          <a:prstGeom prst="rect">
            <a:avLst/>
          </a:prstGeom>
          <a:noFill/>
        </p:spPr>
        <p:txBody>
          <a:bodyPr wrap="square" anchor="t">
            <a:spAutoFit/>
          </a:bodyPr>
          <a:lstStyle/>
          <a:p>
            <a:pPr algn="ctr"/>
            <a:r>
              <a:rPr sz="1000" b="1">
                <a:solidFill>
                  <a:srgbClr val="E8E8DE"/>
                </a:solidFill>
                <a:latin typeface="Aptos"/>
              </a:rPr>
              <a:t>Uninstaller</a:t>
            </a:r>
          </a:p>
        </p:txBody>
      </p:sp>
      <p:sp>
        <p:nvSpPr>
          <p:cNvPr id="20" name="TextBox 19"/>
          <p:cNvSpPr txBox="1"/>
          <p:nvPr/>
        </p:nvSpPr>
        <p:spPr>
          <a:xfrm>
            <a:off x="8156448"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21" name="Rounded Rectangle 20"/>
          <p:cNvSpPr/>
          <p:nvPr/>
        </p:nvSpPr>
        <p:spPr>
          <a:xfrm>
            <a:off x="8403336"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76488" y="1993392"/>
            <a:ext cx="1444752" cy="256032"/>
          </a:xfrm>
          <a:prstGeom prst="rect">
            <a:avLst/>
          </a:prstGeom>
          <a:noFill/>
        </p:spPr>
        <p:txBody>
          <a:bodyPr wrap="square" anchor="t">
            <a:spAutoFit/>
          </a:bodyPr>
          <a:lstStyle/>
          <a:p>
            <a:pPr algn="ctr"/>
            <a:r>
              <a:rPr sz="1000" b="1">
                <a:solidFill>
                  <a:srgbClr val="E8E8DE"/>
                </a:solidFill>
                <a:latin typeface="Aptos"/>
              </a:rPr>
              <a:t>build_installer</a:t>
            </a:r>
          </a:p>
        </p:txBody>
      </p:sp>
      <p:sp>
        <p:nvSpPr>
          <p:cNvPr id="23" name="TextBox 22"/>
          <p:cNvSpPr txBox="1"/>
          <p:nvPr/>
        </p:nvSpPr>
        <p:spPr>
          <a:xfrm>
            <a:off x="9994392"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24" name="Rounded Rectangle 23"/>
          <p:cNvSpPr/>
          <p:nvPr/>
        </p:nvSpPr>
        <p:spPr>
          <a:xfrm>
            <a:off x="1024128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14432" y="1993392"/>
            <a:ext cx="1444752" cy="256032"/>
          </a:xfrm>
          <a:prstGeom prst="rect">
            <a:avLst/>
          </a:prstGeom>
          <a:noFill/>
        </p:spPr>
        <p:txBody>
          <a:bodyPr wrap="square" anchor="t">
            <a:spAutoFit/>
          </a:bodyPr>
          <a:lstStyle/>
          <a:p>
            <a:pPr algn="ctr"/>
            <a:r>
              <a:rPr sz="1000" b="1">
                <a:solidFill>
                  <a:srgbClr val="E8E8DE"/>
                </a:solidFill>
                <a:latin typeface="Aptos"/>
              </a:rPr>
              <a:t>Release</a:t>
            </a:r>
          </a:p>
        </p:txBody>
      </p:sp>
      <p:sp>
        <p:nvSpPr>
          <p:cNvPr id="26" name="Rounded Rectangle 25"/>
          <p:cNvSpPr/>
          <p:nvPr/>
        </p:nvSpPr>
        <p:spPr>
          <a:xfrm>
            <a:off x="841248" y="3063240"/>
            <a:ext cx="10378440" cy="233172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3063240"/>
            <a:ext cx="103784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3264408"/>
            <a:ext cx="9976104" cy="310896"/>
          </a:xfrm>
          <a:prstGeom prst="rect">
            <a:avLst/>
          </a:prstGeom>
          <a:noFill/>
        </p:spPr>
        <p:txBody>
          <a:bodyPr wrap="square" anchor="t">
            <a:spAutoFit/>
          </a:bodyPr>
          <a:lstStyle/>
          <a:p>
            <a:pPr algn="l"/>
            <a:r>
              <a:rPr sz="1400" b="1">
                <a:solidFill>
                  <a:srgbClr val="E0AB5D"/>
                </a:solidFill>
                <a:latin typeface="Aptos"/>
              </a:rPr>
              <a:t>Release rule</a:t>
            </a:r>
          </a:p>
        </p:txBody>
      </p:sp>
      <p:sp>
        <p:nvSpPr>
          <p:cNvPr id="29" name="TextBox 28"/>
          <p:cNvSpPr txBox="1"/>
          <p:nvPr/>
        </p:nvSpPr>
        <p:spPr>
          <a:xfrm>
            <a:off x="1042416" y="3721608"/>
            <a:ext cx="9976104" cy="152704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Run packaging only when preparing a Windows distribution.</a:t>
            </a:r>
          </a:p>
          <a:p>
            <a:pPr>
              <a:spcAft>
                <a:spcPts val="400"/>
              </a:spcAft>
              <a:defRPr sz="1500">
                <a:solidFill>
                  <a:srgbClr val="B4BAAE"/>
                </a:solidFill>
                <a:latin typeface="Aptos"/>
              </a:defRPr>
            </a:pPr>
            <a:r>
              <a:t>The final distributable is the full `dist/Tlamatini_Release_v&lt;version&gt;/` folder, not one executable copied out of context.</a:t>
            </a:r>
          </a:p>
          <a:p>
            <a:pPr>
              <a:spcAft>
                <a:spcPts val="400"/>
              </a:spcAft>
              <a:defRPr sz="1500">
                <a:solidFill>
                  <a:srgbClr val="B4BAAE"/>
                </a:solidFill>
                <a:latin typeface="Aptos"/>
              </a:defRPr>
            </a:pPr>
            <a:r>
              <a:t>Installer scripts register shortcuts, `.flw` file associations, the bundled uninstaller, and the per-user Installed-apps entry.</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SHOW-YOUR-WORK VISIBILITY FOR MULTI-TURN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Exec Report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Why it exists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Exec Report is a Multi-Turn-only transparency layer that appends one operation table per state-changing agent family to the final answer.</a:t>
            </a:r>
          </a:p>
          <a:p>
            <a:pPr>
              <a:spcAft>
                <a:spcPts val="400"/>
              </a:spcAft>
              <a:defRPr sz="1400">
                <a:solidFill>
                  <a:srgbClr val="B4BAAE"/>
                </a:solidFill>
                <a:latin typeface="Aptos"/>
              </a:defRPr>
            </a:pPr>
            <a:r>
              <a:t>Rows are recorded from the live tool-call stream rather than guessed from the LLM prose, so the report is the operational ground truth.</a:t>
            </a:r>
          </a:p>
          <a:p>
            <a:pPr>
              <a:spcAft>
                <a:spcPts val="400"/>
              </a:spcAft>
              <a:defRPr sz="1400">
                <a:solidFill>
                  <a:srgbClr val="B4BAAE"/>
                </a:solidFill>
                <a:latin typeface="Aptos"/>
              </a:defRPr>
            </a:pPr>
            <a:r>
              <a:t>Each row receives a SUCCESS/FAILURE verdict from raw tool returns, making long installs, deployments, and remediations inspectable after the fact.</a:t>
            </a:r>
          </a:p>
          <a:p>
            <a:pPr>
              <a:spcAft>
                <a:spcPts val="400"/>
              </a:spcAft>
              <a:defRPr sz="1400">
                <a:solidFill>
                  <a:srgbClr val="B4BAAE"/>
                </a:solidFill>
                <a:latin typeface="Aptos"/>
              </a:defRPr>
            </a:pPr>
            <a:r>
              <a:t>When Ask Execs is enabled, Exec Report and the red denial banner complement each other: already-executed steps still render as tables, while the denied step stays out of the tables and is surfaced only through the interruption banner.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effect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Tables appear only for state-changing agent families that actually fired.</a:t>
            </a:r>
          </a:p>
          <a:p>
            <a:pPr>
              <a:spcAft>
                <a:spcPts val="400"/>
              </a:spcAft>
              <a:defRPr sz="1500">
                <a:solidFill>
                  <a:srgbClr val="B4BAAE"/>
                </a:solidFill>
                <a:latin typeface="Aptos"/>
              </a:defRPr>
            </a:pPr>
            <a:r>
              <a:t>Verdicts are derived from real tool returns, not inferred from prose summaries.</a:t>
            </a:r>
          </a:p>
          <a:p>
            <a:pPr>
              <a:spcAft>
                <a:spcPts val="400"/>
              </a:spcAft>
              <a:defRPr sz="1500">
                <a:solidFill>
                  <a:srgbClr val="B4BAAE"/>
                </a:solidFill>
                <a:latin typeface="Aptos"/>
              </a:defRPr>
            </a:pPr>
            <a:r>
              <a:t>This is the audit surface that makes long jobs debuggable from the chat output itself.</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EXTERNAL CODING-AGENT RUNTIME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ACPX And Skills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ACPX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ACPX lets Tlamatini spawn external coding-agent CLIs such as Codex, Claude Code, Cursor, Gemini, Qwen, and others as managed child processes.</a:t>
            </a:r>
          </a:p>
          <a:p>
            <a:pPr>
              <a:spcAft>
                <a:spcPts val="400"/>
              </a:spcAft>
              <a:defRPr sz="1400">
                <a:solidFill>
                  <a:srgbClr val="B4BAAE"/>
                </a:solidFill>
                <a:latin typeface="Aptos"/>
              </a:defRPr>
            </a:pPr>
            <a:r>
              <a:t>It pairs those agents with markdown-driven `SKILL.md` packages, validated I/O contracts, permission gating, and append-only audit logs.</a:t>
            </a:r>
          </a:p>
          <a:p>
            <a:pPr>
              <a:spcAft>
                <a:spcPts val="400"/>
              </a:spcAft>
              <a:defRPr sz="1400">
                <a:solidFill>
                  <a:srgbClr val="B4BAAE"/>
                </a:solidFill>
                <a:latin typeface="Aptos"/>
              </a:defRPr>
            </a:pPr>
            <a:r>
              <a:t>Transport-aware drain rules and bounded event bodies reduce latency while protecting the LLM context budget during external-agent relays.</a:t>
            </a:r>
          </a:p>
          <a:p>
            <a:pPr>
              <a:spcAft>
                <a:spcPts val="400"/>
              </a:spcAft>
              <a:defRPr sz="1400">
                <a:solidFill>
                  <a:srgbClr val="B4BAAE"/>
                </a:solidFill>
                <a:latin typeface="Aptos"/>
              </a:defRPr>
            </a:pPr>
            <a:r>
              <a:t>The operator-facing references are `README.md` and `ACPX.md`, while the implementation lives under `agent/acpx/`, `agent/skills/`, and `agent/skills_pkg/`.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Files and operator model</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`agent/acpx/` hosts the runtime, permission gate, registry, and tools.</a:t>
            </a:r>
          </a:p>
          <a:p>
            <a:pPr>
              <a:spcAft>
                <a:spcPts val="400"/>
              </a:spcAft>
              <a:defRPr sz="1500">
                <a:solidFill>
                  <a:srgbClr val="B4BAAE"/>
                </a:solidFill>
                <a:latin typeface="Aptos"/>
              </a:defRPr>
            </a:pPr>
            <a:r>
              <a:t>`agent/skills/` and `agent/skills_pkg/` host the in-process skill harness and markdown catalog.</a:t>
            </a:r>
          </a:p>
          <a:p>
            <a:pPr>
              <a:spcAft>
                <a:spcPts val="400"/>
              </a:spcAft>
              <a:defRPr sz="1500">
                <a:solidFill>
                  <a:srgbClr val="B4BAAE"/>
                </a:solidFill>
                <a:latin typeface="Aptos"/>
              </a:defRPr>
            </a:pPr>
            <a:r>
              <a:t>Transcripts and audit logs are persisted so external delegation stays replayable.</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TLAMATINI.LOG AS FORENSIC TRUTH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Application Log</a:t>
            </a:r>
          </a:p>
        </p:txBody>
      </p:sp>
      <p:sp>
        <p:nvSpPr>
          <p:cNvPr id="9" name="Rounded Rectangle 8"/>
          <p:cNvSpPr/>
          <p:nvPr/>
        </p:nvSpPr>
        <p:spPr>
          <a:xfrm>
            <a:off x="777240" y="1600200"/>
            <a:ext cx="1046988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46988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067544" cy="310896"/>
          </a:xfrm>
          <a:prstGeom prst="rect">
            <a:avLst/>
          </a:prstGeom>
          <a:noFill/>
        </p:spPr>
        <p:txBody>
          <a:bodyPr wrap="square" anchor="t">
            <a:spAutoFit/>
          </a:bodyPr>
          <a:lstStyle/>
          <a:p>
            <a:pPr algn="l"/>
            <a:r>
              <a:rPr sz="1400" b="1">
                <a:solidFill>
                  <a:srgbClr val="E0AB5D"/>
                </a:solidFill>
                <a:latin typeface="Aptos"/>
              </a:rPr>
              <a:t>How the log works</a:t>
            </a:r>
          </a:p>
        </p:txBody>
      </p:sp>
      <p:sp>
        <p:nvSpPr>
          <p:cNvPr id="12" name="TextBox 11"/>
          <p:cNvSpPr txBox="1"/>
          <p:nvPr/>
        </p:nvSpPr>
        <p:spPr>
          <a:xfrm>
            <a:off x="978408" y="2258568"/>
            <a:ext cx="10067544" cy="3401568"/>
          </a:xfrm>
          <a:prstGeom prst="rect">
            <a:avLst/>
          </a:prstGeom>
          <a:noFill/>
        </p:spPr>
        <p:txBody>
          <a:bodyPr wrap="square" anchor="t" lIns="38100" rIns="38100" tIns="25400" bIns="25400">
            <a:normAutofit/>
          </a:bodyPr>
          <a:lstStyle/>
          <a:p>
            <a:pPr>
              <a:spcAft>
                <a:spcPts val="400"/>
              </a:spcAft>
              <a:defRPr sz="1700">
                <a:solidFill>
                  <a:srgbClr val="B4BAAE"/>
                </a:solidFill>
                <a:latin typeface="Aptos"/>
              </a:defRPr>
            </a:pPr>
            <a:r>
              <a:t>The built-in `tlamatini.log` file captures both stdout and stderr through a tee stream initialized in `manage.py` before Django starts.</a:t>
            </a:r>
          </a:p>
          <a:p>
            <a:pPr>
              <a:spcAft>
                <a:spcPts val="400"/>
              </a:spcAft>
              <a:defRPr sz="1700">
                <a:solidFill>
                  <a:srgbClr val="B4BAAE"/>
                </a:solidFill>
                <a:latin typeface="Aptos"/>
              </a:defRPr>
            </a:pPr>
            <a:r>
              <a:t>In source mode the log sits next to `manage.py`; in frozen mode it lives next to the executable.</a:t>
            </a:r>
          </a:p>
          <a:p>
            <a:pPr>
              <a:spcAft>
                <a:spcPts val="400"/>
              </a:spcAft>
              <a:defRPr sz="1700">
                <a:solidFill>
                  <a:srgbClr val="B4BAAE"/>
                </a:solidFill>
                <a:latin typeface="Aptos"/>
              </a:defRPr>
            </a:pPr>
            <a:r>
              <a:t>Immediate flush behavior makes the log the primary forensic artifact for startup problems, warnings, tracebacks, and runtime diagnostics.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CURRENT HEAD INVENTORY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Facts</a:t>
            </a:r>
          </a:p>
        </p:txBody>
      </p:sp>
      <p:sp>
        <p:nvSpPr>
          <p:cNvPr id="9" name="Rounded Rectangle 8"/>
          <p:cNvSpPr/>
          <p:nvPr/>
        </p:nvSpPr>
        <p:spPr>
          <a:xfrm>
            <a:off x="74980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37360"/>
            <a:ext cx="1307592" cy="219456"/>
          </a:xfrm>
          <a:prstGeom prst="rect">
            <a:avLst/>
          </a:prstGeom>
          <a:noFill/>
        </p:spPr>
        <p:txBody>
          <a:bodyPr wrap="square" anchor="t">
            <a:spAutoFit/>
          </a:bodyPr>
          <a:lstStyle/>
          <a:p>
            <a:pPr algn="l"/>
            <a:r>
              <a:rPr sz="800" b="1">
                <a:solidFill>
                  <a:srgbClr val="48BF8F"/>
                </a:solidFill>
                <a:latin typeface="Aptos"/>
              </a:rPr>
              <a:t>REPO FILES</a:t>
            </a:r>
          </a:p>
        </p:txBody>
      </p:sp>
      <p:sp>
        <p:nvSpPr>
          <p:cNvPr id="11" name="TextBox 10"/>
          <p:cNvSpPr txBox="1"/>
          <p:nvPr/>
        </p:nvSpPr>
        <p:spPr>
          <a:xfrm>
            <a:off x="896112" y="1984248"/>
            <a:ext cx="1307592" cy="347472"/>
          </a:xfrm>
          <a:prstGeom prst="rect">
            <a:avLst/>
          </a:prstGeom>
          <a:noFill/>
        </p:spPr>
        <p:txBody>
          <a:bodyPr wrap="square" anchor="t">
            <a:spAutoFit/>
          </a:bodyPr>
          <a:lstStyle/>
          <a:p>
            <a:pPr algn="l"/>
            <a:r>
              <a:rPr sz="2000" b="1">
                <a:solidFill>
                  <a:srgbClr val="E8E8DE"/>
                </a:solidFill>
                <a:latin typeface="Aptos"/>
              </a:rPr>
              <a:t>883</a:t>
            </a:r>
          </a:p>
        </p:txBody>
      </p:sp>
      <p:sp>
        <p:nvSpPr>
          <p:cNvPr id="12" name="Rounded Rectangle 11"/>
          <p:cNvSpPr/>
          <p:nvPr/>
        </p:nvSpPr>
        <p:spPr>
          <a:xfrm>
            <a:off x="2624327"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0632" y="1737360"/>
            <a:ext cx="1307592" cy="219456"/>
          </a:xfrm>
          <a:prstGeom prst="rect">
            <a:avLst/>
          </a:prstGeom>
          <a:noFill/>
        </p:spPr>
        <p:txBody>
          <a:bodyPr wrap="square" anchor="t">
            <a:spAutoFit/>
          </a:bodyPr>
          <a:lstStyle/>
          <a:p>
            <a:pPr algn="l"/>
            <a:r>
              <a:rPr sz="800" b="1">
                <a:solidFill>
                  <a:srgbClr val="C48052"/>
                </a:solidFill>
                <a:latin typeface="Aptos"/>
              </a:rPr>
              <a:t>AGENTS</a:t>
            </a:r>
          </a:p>
        </p:txBody>
      </p:sp>
      <p:sp>
        <p:nvSpPr>
          <p:cNvPr id="14" name="TextBox 13"/>
          <p:cNvSpPr txBox="1"/>
          <p:nvPr/>
        </p:nvSpPr>
        <p:spPr>
          <a:xfrm>
            <a:off x="2770632" y="1984248"/>
            <a:ext cx="1307592" cy="347472"/>
          </a:xfrm>
          <a:prstGeom prst="rect">
            <a:avLst/>
          </a:prstGeom>
          <a:noFill/>
        </p:spPr>
        <p:txBody>
          <a:bodyPr wrap="square" anchor="t">
            <a:spAutoFit/>
          </a:bodyPr>
          <a:lstStyle/>
          <a:p>
            <a:pPr algn="l"/>
            <a:r>
              <a:rPr sz="2000" b="1">
                <a:solidFill>
                  <a:srgbClr val="E8E8DE"/>
                </a:solidFill>
                <a:latin typeface="Aptos"/>
              </a:rPr>
              <a:t>86</a:t>
            </a:r>
          </a:p>
        </p:txBody>
      </p:sp>
      <p:sp>
        <p:nvSpPr>
          <p:cNvPr id="15" name="Rounded Rectangle 14"/>
          <p:cNvSpPr/>
          <p:nvPr/>
        </p:nvSpPr>
        <p:spPr>
          <a:xfrm>
            <a:off x="449884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2" y="1737360"/>
            <a:ext cx="1307592" cy="219456"/>
          </a:xfrm>
          <a:prstGeom prst="rect">
            <a:avLst/>
          </a:prstGeom>
          <a:noFill/>
        </p:spPr>
        <p:txBody>
          <a:bodyPr wrap="square" anchor="t">
            <a:spAutoFit/>
          </a:bodyPr>
          <a:lstStyle/>
          <a:p>
            <a:pPr algn="l"/>
            <a:r>
              <a:rPr sz="800" b="1">
                <a:solidFill>
                  <a:srgbClr val="48BF8F"/>
                </a:solidFill>
                <a:latin typeface="Aptos"/>
              </a:rPr>
              <a:t>MIGRATIONS</a:t>
            </a:r>
          </a:p>
        </p:txBody>
      </p:sp>
      <p:sp>
        <p:nvSpPr>
          <p:cNvPr id="17" name="TextBox 16"/>
          <p:cNvSpPr txBox="1"/>
          <p:nvPr/>
        </p:nvSpPr>
        <p:spPr>
          <a:xfrm>
            <a:off x="4645152" y="1984248"/>
            <a:ext cx="1307592" cy="347472"/>
          </a:xfrm>
          <a:prstGeom prst="rect">
            <a:avLst/>
          </a:prstGeom>
          <a:noFill/>
        </p:spPr>
        <p:txBody>
          <a:bodyPr wrap="square" anchor="t">
            <a:spAutoFit/>
          </a:bodyPr>
          <a:lstStyle/>
          <a:p>
            <a:pPr algn="l"/>
            <a:r>
              <a:rPr sz="2000" b="1">
                <a:solidFill>
                  <a:srgbClr val="E8E8DE"/>
                </a:solidFill>
                <a:latin typeface="Aptos"/>
              </a:rPr>
              <a:t>190</a:t>
            </a:r>
          </a:p>
        </p:txBody>
      </p:sp>
      <p:sp>
        <p:nvSpPr>
          <p:cNvPr id="18" name="Rounded Rectangle 17"/>
          <p:cNvSpPr/>
          <p:nvPr/>
        </p:nvSpPr>
        <p:spPr>
          <a:xfrm>
            <a:off x="637336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1737360"/>
            <a:ext cx="1307592" cy="219456"/>
          </a:xfrm>
          <a:prstGeom prst="rect">
            <a:avLst/>
          </a:prstGeom>
          <a:noFill/>
        </p:spPr>
        <p:txBody>
          <a:bodyPr wrap="square" anchor="t">
            <a:spAutoFit/>
          </a:bodyPr>
          <a:lstStyle/>
          <a:p>
            <a:pPr algn="l"/>
            <a:r>
              <a:rPr sz="800" b="1">
                <a:solidFill>
                  <a:srgbClr val="C48052"/>
                </a:solidFill>
                <a:latin typeface="Aptos"/>
              </a:rPr>
              <a:t>JS</a:t>
            </a:r>
          </a:p>
        </p:txBody>
      </p:sp>
      <p:sp>
        <p:nvSpPr>
          <p:cNvPr id="20" name="TextBox 19"/>
          <p:cNvSpPr txBox="1"/>
          <p:nvPr/>
        </p:nvSpPr>
        <p:spPr>
          <a:xfrm>
            <a:off x="6519672" y="1984248"/>
            <a:ext cx="1307592" cy="347472"/>
          </a:xfrm>
          <a:prstGeom prst="rect">
            <a:avLst/>
          </a:prstGeom>
          <a:noFill/>
        </p:spPr>
        <p:txBody>
          <a:bodyPr wrap="square" anchor="t">
            <a:spAutoFit/>
          </a:bodyPr>
          <a:lstStyle/>
          <a:p>
            <a:pPr algn="l"/>
            <a:r>
              <a:rPr sz="2000" b="1">
                <a:solidFill>
                  <a:srgbClr val="E8E8DE"/>
                </a:solidFill>
                <a:latin typeface="Aptos"/>
              </a:rPr>
              <a:t>33</a:t>
            </a:r>
          </a:p>
        </p:txBody>
      </p:sp>
      <p:sp>
        <p:nvSpPr>
          <p:cNvPr id="21" name="Rounded Rectangle 20"/>
          <p:cNvSpPr/>
          <p:nvPr/>
        </p:nvSpPr>
        <p:spPr>
          <a:xfrm>
            <a:off x="824788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94192" y="1737360"/>
            <a:ext cx="1307592" cy="219456"/>
          </a:xfrm>
          <a:prstGeom prst="rect">
            <a:avLst/>
          </a:prstGeom>
          <a:noFill/>
        </p:spPr>
        <p:txBody>
          <a:bodyPr wrap="square" anchor="t">
            <a:spAutoFit/>
          </a:bodyPr>
          <a:lstStyle/>
          <a:p>
            <a:pPr algn="l"/>
            <a:r>
              <a:rPr sz="800" b="1">
                <a:solidFill>
                  <a:srgbClr val="48BF8F"/>
                </a:solidFill>
                <a:latin typeface="Aptos"/>
              </a:rPr>
              <a:t>CSS</a:t>
            </a:r>
          </a:p>
        </p:txBody>
      </p:sp>
      <p:sp>
        <p:nvSpPr>
          <p:cNvPr id="23" name="TextBox 22"/>
          <p:cNvSpPr txBox="1"/>
          <p:nvPr/>
        </p:nvSpPr>
        <p:spPr>
          <a:xfrm>
            <a:off x="8394192" y="1984248"/>
            <a:ext cx="1307592" cy="347472"/>
          </a:xfrm>
          <a:prstGeom prst="rect">
            <a:avLst/>
          </a:prstGeom>
          <a:noFill/>
        </p:spPr>
        <p:txBody>
          <a:bodyPr wrap="square" anchor="t">
            <a:spAutoFit/>
          </a:bodyPr>
          <a:lstStyle/>
          <a:p>
            <a:pPr algn="l"/>
            <a:r>
              <a:rPr sz="2000" b="1">
                <a:solidFill>
                  <a:srgbClr val="E8E8DE"/>
                </a:solidFill>
                <a:latin typeface="Aptos"/>
              </a:rPr>
              <a:t>10</a:t>
            </a:r>
          </a:p>
        </p:txBody>
      </p:sp>
      <p:sp>
        <p:nvSpPr>
          <p:cNvPr id="24" name="Rounded Rectangle 23"/>
          <p:cNvSpPr/>
          <p:nvPr/>
        </p:nvSpPr>
        <p:spPr>
          <a:xfrm>
            <a:off x="1012240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68712" y="1737360"/>
            <a:ext cx="1307592" cy="219456"/>
          </a:xfrm>
          <a:prstGeom prst="rect">
            <a:avLst/>
          </a:prstGeom>
          <a:noFill/>
        </p:spPr>
        <p:txBody>
          <a:bodyPr wrap="square" anchor="t">
            <a:spAutoFit/>
          </a:bodyPr>
          <a:lstStyle/>
          <a:p>
            <a:pPr algn="l"/>
            <a:r>
              <a:rPr sz="800" b="1">
                <a:solidFill>
                  <a:srgbClr val="C48052"/>
                </a:solidFill>
                <a:latin typeface="Aptos"/>
              </a:rPr>
              <a:t>HTML</a:t>
            </a:r>
          </a:p>
        </p:txBody>
      </p:sp>
      <p:sp>
        <p:nvSpPr>
          <p:cNvPr id="26" name="TextBox 25"/>
          <p:cNvSpPr txBox="1"/>
          <p:nvPr/>
        </p:nvSpPr>
        <p:spPr>
          <a:xfrm>
            <a:off x="10268712" y="1984248"/>
            <a:ext cx="1307592" cy="347472"/>
          </a:xfrm>
          <a:prstGeom prst="rect">
            <a:avLst/>
          </a:prstGeom>
          <a:noFill/>
        </p:spPr>
        <p:txBody>
          <a:bodyPr wrap="square" anchor="t">
            <a:spAutoFit/>
          </a:bodyPr>
          <a:lstStyle/>
          <a:p>
            <a:pPr algn="l"/>
            <a:r>
              <a:rPr sz="2000" b="1">
                <a:solidFill>
                  <a:srgbClr val="E8E8DE"/>
                </a:solidFill>
                <a:latin typeface="Aptos"/>
              </a:rPr>
              <a:t>4</a:t>
            </a:r>
          </a:p>
        </p:txBody>
      </p:sp>
      <p:sp>
        <p:nvSpPr>
          <p:cNvPr id="27" name="Rounded Rectangle 26"/>
          <p:cNvSpPr/>
          <p:nvPr/>
        </p:nvSpPr>
        <p:spPr>
          <a:xfrm>
            <a:off x="960120" y="2834640"/>
            <a:ext cx="9921240" cy="3063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60120" y="2834640"/>
            <a:ext cx="99212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61288" y="3035808"/>
            <a:ext cx="9518904" cy="310896"/>
          </a:xfrm>
          <a:prstGeom prst="rect">
            <a:avLst/>
          </a:prstGeom>
          <a:noFill/>
        </p:spPr>
        <p:txBody>
          <a:bodyPr wrap="square" anchor="t">
            <a:spAutoFit/>
          </a:bodyPr>
          <a:lstStyle/>
          <a:p>
            <a:pPr algn="l"/>
            <a:r>
              <a:rPr sz="1400" b="1">
                <a:solidFill>
                  <a:srgbClr val="E0AB5D"/>
                </a:solidFill>
                <a:latin typeface="Aptos"/>
              </a:rPr>
              <a:t>Current HEAD</a:t>
            </a:r>
          </a:p>
        </p:txBody>
      </p:sp>
      <p:sp>
        <p:nvSpPr>
          <p:cNvPr id="30" name="TextBox 29"/>
          <p:cNvSpPr txBox="1"/>
          <p:nvPr/>
        </p:nvSpPr>
        <p:spPr>
          <a:xfrm>
            <a:off x="1161288" y="3493008"/>
            <a:ext cx="9518904" cy="225856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6207181f - Implemented PDFer, a powerfull PDF maker agent, by angelahack1</a:t>
            </a:r>
          </a:p>
          <a:p>
            <a:pPr>
              <a:spcAft>
                <a:spcPts val="400"/>
              </a:spcAft>
              <a:defRPr sz="1500">
                <a:solidFill>
                  <a:srgbClr val="B4BAAE"/>
                </a:solidFill>
                <a:latin typeface="Aptos"/>
              </a:defRPr>
            </a:pPr>
            <a:r>
              <a:t>Resolved version: 1.46.0 (git)</a:t>
            </a:r>
          </a:p>
          <a:p>
            <a:pPr>
              <a:spcAft>
                <a:spcPts val="400"/>
              </a:spcAft>
              <a:defRPr sz="1500">
                <a:solidFill>
                  <a:srgbClr val="B4BAAE"/>
                </a:solidFill>
                <a:latin typeface="Aptos"/>
              </a:defRPr>
            </a:pPr>
            <a:r>
              <a:t>Generated on July 26, 2026 02:53 PM UTC-0600</a:t>
            </a:r>
          </a:p>
          <a:p>
            <a:pPr>
              <a:spcAft>
                <a:spcPts val="400"/>
              </a:spcAft>
              <a:defRPr sz="1500">
                <a:solidFill>
                  <a:srgbClr val="B4BAAE"/>
                </a:solidFill>
                <a:latin typeface="Aptos"/>
              </a:defRPr>
            </a:pPr>
            <a:r>
              <a:t>Inventory scope: 883 files = 883 tracked + 0 git-unignored working-tree additions</a:t>
            </a:r>
          </a:p>
          <a:p>
            <a:pPr>
              <a:spcAft>
                <a:spcPts val="400"/>
              </a:spcAft>
              <a:defRPr sz="1500">
                <a:solidFill>
                  <a:srgbClr val="B4BAAE"/>
                </a:solidFill>
                <a:latin typeface="Aptos"/>
              </a:defRPr>
            </a:pPr>
            <a:r>
              <a:t>Multi-Turn tools: 96; wrapped chat-agent tools: 64; skills: 28</a:t>
            </a:r>
          </a:p>
          <a:p>
            <a:pPr>
              <a:spcAft>
                <a:spcPts val="400"/>
              </a:spcAft>
              <a:defRPr sz="1500">
                <a:solidFill>
                  <a:srgbClr val="B4BAAE"/>
                </a:solidFill>
                <a:latin typeface="Aptos"/>
              </a:defRPr>
            </a:pPr>
            <a:r>
              <a:t>Python requirements: 79; authoritative agent-description rows: 87</a:t>
            </a:r>
          </a:p>
          <a:p>
            <a:pPr>
              <a:spcAft>
                <a:spcPts val="400"/>
              </a:spcAft>
              <a:defRPr sz="1500">
                <a:solidFill>
                  <a:srgbClr val="B4BAAE"/>
                </a:solidFill>
                <a:latin typeface="Aptos"/>
              </a:defRPr>
            </a:pPr>
            <a:r>
              <a:t>Binary or asset inventory files skipped from line count: 47</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IMPORTANT CHANGES SINCE THE LAST COMMITTED PDF/PPTX UPDATE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Since Last Dossier Refresh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Baseline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df1240f4 on 2026-07-21</a:t>
            </a:r>
          </a:p>
          <a:p>
            <a:pPr>
              <a:spcAft>
                <a:spcPts val="400"/>
              </a:spcAft>
              <a:defRPr sz="1300">
                <a:solidFill>
                  <a:srgbClr val="B4BAAE"/>
                </a:solidFill>
                <a:latin typeface="Aptos"/>
              </a:defRPr>
            </a:pPr>
            <a:r>
              <a:t>Updating and bumping to Tlamatini v1.44.0, by angelahack1</a:t>
            </a:r>
          </a:p>
          <a:p>
            <a:pPr>
              <a:spcAft>
                <a:spcPts val="400"/>
              </a:spcAft>
              <a:defRPr sz="1300">
                <a:solidFill>
                  <a:srgbClr val="B4BAAE"/>
                </a:solidFill>
                <a:latin typeface="Aptos"/>
              </a:defRPr>
            </a:pPr>
            <a:r>
              <a:t>Commits since then: 10</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Key changes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published release is `v1.46.0` at `6207181f`; local `main` and `origin/main` are aligned exactly at that tagged PDFer release, and the git-derived version correctly remains `1.46.0`.</a:t>
            </a:r>
          </a:p>
          <a:p>
            <a:pPr>
              <a:spcAft>
                <a:spcPts val="400"/>
              </a:spcAft>
              <a:defRPr sz="1000">
                <a:solidFill>
                  <a:srgbClr val="B4BAAE"/>
                </a:solidFill>
                <a:latin typeface="Aptos"/>
              </a:defRPr>
            </a:pPr>
            <a:r>
              <a:t>The release delta adds PDFer to the visual-agent and wrapped-tool registries, ships migrations 0188-0190 plus real-renderer coverage, and carries the wrapped FlowCreator and its 0186/0187 guided catalog path; existing local configuration-only worktree changes remain private and are neither reproduced nor modified by dossier generation.</a:t>
            </a:r>
          </a:p>
          <a:p>
            <a:pPr>
              <a:spcAft>
                <a:spcPts val="400"/>
              </a:spcAft>
              <a:defRPr sz="1000">
                <a:solidFill>
                  <a:srgbClr val="B4BAAE"/>
                </a:solidFill>
                <a:latin typeface="Aptos"/>
              </a:defRPr>
            </a:pPr>
            <a:r>
              <a:t>The newest committed reliability wave adds `agent/self_healing.py`, routes Multi-Turn model calls through `SelfHealingInvoker`, broadcasts live recovery status, trims or retries context when model calls fail, and preserves already-executed tool evidence for a degraded but truthful final answer.</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VERIFIED IMPLEMENTATION CHANGES 4-6</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Dossier Delta Continued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Runtime and UI</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same refresh window also delivered the in-app self-update path: `self_update.py`, new update endpoints, staged release downloads, and the external `apply_update.ps1` swap helper that preserves operator state during upgrade.</a:t>
            </a:r>
          </a:p>
          <a:p>
            <a:pPr>
              <a:spcAft>
                <a:spcPts val="400"/>
              </a:spcAft>
              <a:defRPr sz="1000">
                <a:solidFill>
                  <a:srgbClr val="B4BAAE"/>
                </a:solidFill>
                <a:latin typeface="Aptos"/>
              </a:defRPr>
            </a:pPr>
            <a:r>
              <a:t>The self-knowledge and optional self-modification surface has matured into the current baseline: she can describe her runtime honestly and, when `TlamatiniSourceCode/` is present, inspect the bundled rebuildable source tree that explains how she works.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Data and operator contract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markdown handbooks themselves were revised during that span, so this dossier refresh is carrying forward not only code/runtime changes but also the corrected operator-language and release-story wording.</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V1.46.0 RELEASE LINEAGE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Platform Additions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Recent agents and execution surfaces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PDFer (v1.46.0): visual and wrapped document composer for Markdown, HTML, text, images, mixed reports, and PDF merging, with safe preflight and real-renderer tests.</a:t>
            </a:r>
          </a:p>
          <a:p>
            <a:pPr>
              <a:spcAft>
                <a:spcPts val="400"/>
              </a:spcAft>
              <a:defRPr sz="1000">
                <a:solidFill>
                  <a:srgbClr val="B4BAAE"/>
                </a:solidFill>
                <a:latin typeface="Aptos"/>
              </a:defRPr>
            </a:pPr>
            <a:r>
              <a:t>STM32er (v1.42.0): device-aware PlatformIO routing adds Blue Pill/mainstream-family build and safe flash; new stepwise Blue Pill/F407 demos finish with camera evidence.</a:t>
            </a:r>
          </a:p>
          <a:p>
            <a:pPr>
              <a:spcAft>
                <a:spcPts val="400"/>
              </a:spcAft>
              <a:defRPr sz="1000">
                <a:solidFill>
                  <a:srgbClr val="B4BAAE"/>
                </a:solidFill>
                <a:latin typeface="Aptos"/>
              </a:defRPr>
            </a:pPr>
            <a:r>
              <a:t>Prompt catalog (v1.42.0): migration 0179 deliberately regroups and renumbers every row to contiguous 1..N category blocks, backed by four database invariants tests.</a:t>
            </a:r>
          </a:p>
          <a:p>
            <a:pPr>
              <a:spcAft>
                <a:spcPts val="400"/>
              </a:spcAft>
              <a:defRPr sz="1000">
                <a:solidFill>
                  <a:srgbClr val="B4BAAE"/>
                </a:solidFill>
                <a:latin typeface="Aptos"/>
              </a:defRPr>
            </a:pPr>
            <a:r>
              <a:t>Prompt catalog (v1.41.3): 13 categories, 13 duplicate ACPX rows removed, stable surviving ids, gap-tolerant loading, and ranked fuzzy search.</a:t>
            </a:r>
          </a:p>
          <a:p>
            <a:pPr>
              <a:spcAft>
                <a:spcPts val="400"/>
              </a:spcAft>
              <a:defRPr sz="1000">
                <a:solidFill>
                  <a:srgbClr val="B4BAAE"/>
                </a:solidFill>
                <a:latin typeface="Aptos"/>
              </a:defRPr>
            </a:pPr>
            <a:r>
              <a:t>Hard Cancel (v1.41.2): per-user run epochs stop executor/retry/self-healing resurrection while preserving completed tool evidence and the next request.</a:t>
            </a:r>
          </a:p>
          <a:p>
            <a:pPr>
              <a:spcAft>
                <a:spcPts val="400"/>
              </a:spcAft>
              <a:defRPr sz="1000">
                <a:solidFill>
                  <a:srgbClr val="B4BAAE"/>
                </a:solidFill>
                <a:latin typeface="Aptos"/>
              </a:defRPr>
            </a:pPr>
            <a:r>
              <a:t>Screenshot chat, configurable port, FlowPills discovery, and Unreal 5.8 scaffolding remain carried foundations; no new workflow-agent type landed.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Lifecycle, policy, and monitoring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Resolved identity: tag v1.46.0, `origin/main`, and local `main` all align at `6207181f`; local configuration values are not reproduced here.</a:t>
            </a:r>
          </a:p>
          <a:p>
            <a:pPr>
              <a:spcAft>
                <a:spcPts val="400"/>
              </a:spcAft>
              <a:defRPr sz="1000">
                <a:solidFill>
                  <a:srgbClr val="B4BAAE"/>
                </a:solidFill>
                <a:latin typeface="Aptos"/>
              </a:defRPr>
            </a:pPr>
            <a:r>
              <a:t>The stronger disclaimer says plain-Python transparency enables user control but is not a security warranty; the operator owns authorization, permissions, review, and consequences.</a:t>
            </a:r>
          </a:p>
          <a:p>
            <a:pPr>
              <a:spcAft>
                <a:spcPts val="400"/>
              </a:spcAft>
              <a:defRPr sz="1000">
                <a:solidFill>
                  <a:srgbClr val="B4BAAE"/>
                </a:solidFill>
                <a:latin typeface="Aptos"/>
              </a:defRPr>
            </a:pPr>
            <a:r>
              <a:t>The dossier distinguishes tagged behavior from local configuration-only changes, preserves private-data discipline, and does not stage, commit, or push.</a:t>
            </a:r>
          </a:p>
          <a:p>
            <a:pPr>
              <a:spcAft>
                <a:spcPts val="400"/>
              </a:spcAft>
              <a:defRPr sz="1000">
                <a:solidFill>
                  <a:srgbClr val="B4BAAE"/>
                </a:solidFill>
                <a:latin typeface="Aptos"/>
              </a:defRPr>
            </a:pPr>
            <a:r>
              <a:t>Operator setup: easy-start install, Ollama guidance, Config dialogs, DB menu, and Windows Installed-apps registration stay in the dossier.</a:t>
            </a:r>
          </a:p>
          <a:p>
            <a:pPr>
              <a:spcAft>
                <a:spcPts val="400"/>
              </a:spcAft>
              <a:defRPr sz="1000">
                <a:solidFill>
                  <a:srgbClr val="B4BAAE"/>
                </a:solidFill>
                <a:latin typeface="Aptos"/>
              </a:defRPr>
            </a:pPr>
            <a:r>
              <a:t>Catalog now stands at 86 workflow agents and 96 Multi-Turn tools (64 wrapped chat-agent + 12 ACPX/Skill + 20 core), with 28 skills.</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NO COMMENTS, NO BLANKS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Effective Lines By Language</a:t>
            </a:r>
          </a:p>
        </p:txBody>
      </p:sp>
      <p:sp>
        <p:nvSpPr>
          <p:cNvPr id="9" name="Rounded Rectangle 8"/>
          <p:cNvSpPr/>
          <p:nvPr/>
        </p:nvSpPr>
        <p:spPr>
          <a:xfrm>
            <a:off x="822960" y="1499616"/>
            <a:ext cx="214884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636775"/>
            <a:ext cx="1856232" cy="219456"/>
          </a:xfrm>
          <a:prstGeom prst="rect">
            <a:avLst/>
          </a:prstGeom>
          <a:noFill/>
        </p:spPr>
        <p:txBody>
          <a:bodyPr wrap="square" anchor="t">
            <a:spAutoFit/>
          </a:bodyPr>
          <a:lstStyle/>
          <a:p>
            <a:pPr algn="l"/>
            <a:r>
              <a:rPr sz="800" b="1">
                <a:solidFill>
                  <a:srgbClr val="C48052"/>
                </a:solidFill>
                <a:latin typeface="Aptos"/>
              </a:rPr>
              <a:t>TOTAL EFFECTIVE</a:t>
            </a:r>
          </a:p>
        </p:txBody>
      </p:sp>
      <p:sp>
        <p:nvSpPr>
          <p:cNvPr id="11" name="TextBox 10"/>
          <p:cNvSpPr txBox="1"/>
          <p:nvPr/>
        </p:nvSpPr>
        <p:spPr>
          <a:xfrm>
            <a:off x="969264" y="1883664"/>
            <a:ext cx="1856232" cy="347472"/>
          </a:xfrm>
          <a:prstGeom prst="rect">
            <a:avLst/>
          </a:prstGeom>
          <a:noFill/>
        </p:spPr>
        <p:txBody>
          <a:bodyPr wrap="square" anchor="t">
            <a:spAutoFit/>
          </a:bodyPr>
          <a:lstStyle/>
          <a:p>
            <a:pPr algn="l"/>
            <a:r>
              <a:rPr sz="2000" b="1">
                <a:solidFill>
                  <a:srgbClr val="E8E8DE"/>
                </a:solidFill>
                <a:latin typeface="Aptos"/>
              </a:rPr>
              <a:t>184,178</a:t>
            </a:r>
          </a:p>
        </p:txBody>
      </p:sp>
      <p:sp>
        <p:nvSpPr>
          <p:cNvPr id="12" name="Rounded Rectangle 11"/>
          <p:cNvSpPr/>
          <p:nvPr/>
        </p:nvSpPr>
        <p:spPr>
          <a:xfrm>
            <a:off x="3246120" y="1499616"/>
            <a:ext cx="214884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2424" y="1636775"/>
            <a:ext cx="1856232" cy="219456"/>
          </a:xfrm>
          <a:prstGeom prst="rect">
            <a:avLst/>
          </a:prstGeom>
          <a:noFill/>
        </p:spPr>
        <p:txBody>
          <a:bodyPr wrap="square" anchor="t">
            <a:spAutoFit/>
          </a:bodyPr>
          <a:lstStyle/>
          <a:p>
            <a:pPr algn="l"/>
            <a:r>
              <a:rPr sz="800" b="1">
                <a:solidFill>
                  <a:srgbClr val="48BF8F"/>
                </a:solidFill>
                <a:latin typeface="Aptos"/>
              </a:rPr>
              <a:t>TOTAL PHYSICAL</a:t>
            </a:r>
          </a:p>
        </p:txBody>
      </p:sp>
      <p:sp>
        <p:nvSpPr>
          <p:cNvPr id="14" name="TextBox 13"/>
          <p:cNvSpPr txBox="1"/>
          <p:nvPr/>
        </p:nvSpPr>
        <p:spPr>
          <a:xfrm>
            <a:off x="3392424" y="1883664"/>
            <a:ext cx="1856232" cy="347472"/>
          </a:xfrm>
          <a:prstGeom prst="rect">
            <a:avLst/>
          </a:prstGeom>
          <a:noFill/>
        </p:spPr>
        <p:txBody>
          <a:bodyPr wrap="square" anchor="t">
            <a:spAutoFit/>
          </a:bodyPr>
          <a:lstStyle/>
          <a:p>
            <a:pPr algn="l"/>
            <a:r>
              <a:rPr sz="2000" b="1">
                <a:solidFill>
                  <a:srgbClr val="E8E8DE"/>
                </a:solidFill>
                <a:latin typeface="Aptos"/>
              </a:rPr>
              <a:t>259,741</a:t>
            </a:r>
          </a:p>
        </p:txBody>
      </p:sp>
      <p:sp>
        <p:nvSpPr>
          <p:cNvPr id="15" name="Rounded Rectangle 14"/>
          <p:cNvSpPr/>
          <p:nvPr/>
        </p:nvSpPr>
        <p:spPr>
          <a:xfrm>
            <a:off x="5669280" y="1499616"/>
            <a:ext cx="214884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15584" y="1636775"/>
            <a:ext cx="1856232" cy="219456"/>
          </a:xfrm>
          <a:prstGeom prst="rect">
            <a:avLst/>
          </a:prstGeom>
          <a:noFill/>
        </p:spPr>
        <p:txBody>
          <a:bodyPr wrap="square" anchor="t">
            <a:spAutoFit/>
          </a:bodyPr>
          <a:lstStyle/>
          <a:p>
            <a:pPr algn="l"/>
            <a:r>
              <a:rPr sz="800" b="1">
                <a:solidFill>
                  <a:srgbClr val="E0AB5D"/>
                </a:solidFill>
                <a:latin typeface="Aptos"/>
              </a:rPr>
              <a:t>TEXT LANGUAGES</a:t>
            </a:r>
          </a:p>
        </p:txBody>
      </p:sp>
      <p:sp>
        <p:nvSpPr>
          <p:cNvPr id="17" name="TextBox 16"/>
          <p:cNvSpPr txBox="1"/>
          <p:nvPr/>
        </p:nvSpPr>
        <p:spPr>
          <a:xfrm>
            <a:off x="5815584" y="1883664"/>
            <a:ext cx="1856232" cy="347472"/>
          </a:xfrm>
          <a:prstGeom prst="rect">
            <a:avLst/>
          </a:prstGeom>
          <a:noFill/>
        </p:spPr>
        <p:txBody>
          <a:bodyPr wrap="square" anchor="t">
            <a:spAutoFit/>
          </a:bodyPr>
          <a:lstStyle/>
          <a:p>
            <a:pPr algn="l"/>
            <a:r>
              <a:rPr sz="2000" b="1">
                <a:solidFill>
                  <a:srgbClr val="E8E8DE"/>
                </a:solidFill>
                <a:latin typeface="Aptos"/>
              </a:rPr>
              <a:t>14</a:t>
            </a:r>
          </a:p>
        </p:txBody>
      </p:sp>
      <p:sp>
        <p:nvSpPr>
          <p:cNvPr id="18" name="TextBox 17"/>
          <p:cNvSpPr txBox="1"/>
          <p:nvPr/>
        </p:nvSpPr>
        <p:spPr>
          <a:xfrm>
            <a:off x="841248" y="2788920"/>
            <a:ext cx="10378440" cy="2926080"/>
          </a:xfrm>
          <a:prstGeom prst="rect">
            <a:avLst/>
          </a:prstGeom>
          <a:noFill/>
        </p:spPr>
        <p:txBody>
          <a:bodyPr wrap="square" anchor="t">
            <a:spAutoFit/>
          </a:bodyPr>
          <a:lstStyle/>
          <a:p>
            <a:pPr algn="l"/>
            <a:r>
              <a:rPr sz="800" b="0">
                <a:solidFill>
                  <a:srgbClr val="E8E8DE"/>
                </a:solidFill>
                <a:latin typeface="Cascadia Mono"/>
              </a:rPr>
              <a:t>LANGUAGE                 FILES   EFFECTIVE      TOTAL   SHARE
Python                   503     133,656    192,114  72.6%
Markdown                 162      21,049     28,074  11.4%
JavaScript                33      16,919     21,581   9.2%
CSS                       10       5,918      7,492   3.2%
YAML                      91       2,031      5,164   1.1%
HTML                       4       1,087      1,111   0.6%
Prompt template            2       1,060      1,182   0.6%
PowerShell                 7         724      1,052   0.4%
JSON                       8         548        548   0.3%
Other text                 8         515        617   0.3%
JavaScript module          1         421        502   0.2%
Text                       5         215        242   0.1%
Protocol Buffers           1          20         33   0.0%
Batch                      1          15         29   0.0%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WHERE MOST AUTHORED TEXT LIVES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Largest Files By Effective Lines</a:t>
            </a:r>
          </a:p>
        </p:txBody>
      </p:sp>
      <p:sp>
        <p:nvSpPr>
          <p:cNvPr id="9" name="TextBox 8"/>
          <p:cNvSpPr txBox="1"/>
          <p:nvPr/>
        </p:nvSpPr>
        <p:spPr>
          <a:xfrm>
            <a:off x="777240" y="1572768"/>
            <a:ext cx="10698480" cy="4434840"/>
          </a:xfrm>
          <a:prstGeom prst="rect">
            <a:avLst/>
          </a:prstGeom>
          <a:noFill/>
        </p:spPr>
        <p:txBody>
          <a:bodyPr wrap="square" anchor="t">
            <a:spAutoFit/>
          </a:bodyPr>
          <a:lstStyle/>
          <a:p>
            <a:pPr algn="l"/>
            <a:r>
              <a:rPr sz="800" b="0">
                <a:solidFill>
                  <a:srgbClr val="E8E8DE"/>
                </a:solidFill>
                <a:latin typeface="Cascadia Mono"/>
              </a:rPr>
              <a:t>PATH                                                     LANGUAGE     EFFECTIVE   TOTAL
Tlamatini/agent/views.py                                Python         8,493  12,390
Tlamatini/agent/tests.py                                Python         5,557   7,249
Tlamatini/agent/doc_generation/complete_project_docs.py Python         3,683   4,097
Tlamatini/agent/tools.py                                Python         3,121   4,576
BookOfTlamatini.md                                      Markdown       2,512   3,566
Tlamatini/agent/agents/flowcreator/agentic_skill.md     Markdown       2,305   2,545
...ini/agent/static/agent/css/agentic_control_panel.css CSS            2,051   2,742
Tlamatini/agent/agents/stm32er/stm32er.py               Python         1,983   2,694
Tlamatini/agent/external_mcp_manager.py                 Python         1,873   2,336
Tlamatini/agent/chat_agent_registry.py                  Python         1,824   1,861
Tlamatini/agent/static/agent/css/agent_page.css         CSS            1,760   2,192
Tlamatini/agent/static/agent/js/agent_page_chat.js      JavaScript     1,697   2,337
Tlamatini/agent/static/agent/js/acp-agent-connectors.js JavaScript     1,541   1,717
Tlamatini/agent/mcp_agent.py                            Python         1,495   2,444</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Git Window (1/2)</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a:sp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published release resolves to `v1.46.0` at `6207181f`; local `main` and `origin/main` are aligned exactly at that tagged PDFer release, while the version resolver correctly remains on the latest tag. Git/source inspection extends README.md and BookOfTlamatini.md before the generated inventory tables derive the current agent, tool, skill, asset, and effective-line totals.</a:t>
            </a:r>
          </a:p>
          <a:p>
            <a:pPr>
              <a:spcAft>
                <a:spcPts val="400"/>
              </a:spcAft>
              <a:defRPr sz="1100">
                <a:solidFill>
                  <a:srgbClr val="B4BAAE"/>
                </a:solidFill>
                <a:latin typeface="Aptos"/>
              </a:defRPr>
            </a:pPr>
            <a:r>
              <a:t>The current published version is `v1.46.0`, which adds **PDFer** as the visual and wrapped document-composer agent, with zero-new-dependency Markdown/HTML/text/image/mixed/merge rendering and migrations 0188-0190. The `v1.45.3` oversized-context recovery, `v1.45.1` FlowCreator Step-by-Step opener, `v1.45.0` wrapped FlowCreator, `v1.44.0` prompt grammar, `v1.43.5` recon free-run, `v1.42.0` STM32er PlatformIO expansion, and `v1.41.4` External-MCP structured output remain carried foundations.</a:t>
            </a:r>
          </a:p>
          <a:p>
            <a:pPr>
              <a:spcAft>
                <a:spcPts val="400"/>
              </a:spcAft>
              <a:defRPr sz="1100">
                <a:solidFill>
                  <a:srgbClr val="B4BAAE"/>
                </a:solidFill>
                <a:latin typeface="Aptos"/>
              </a:defRPr>
            </a:pPr>
            <a:r>
              <a:t>The newest committed reliability wave adds `agent/self_healing.py`: every Multi-Turn model step now runs under a watchdog, switches recovery tactics on transient failures, broadcasts live recovery status, and preserves already-executed agent work instead of discarding it.</a:t>
            </a:r>
          </a:p>
          <a:p>
            <a:pPr>
              <a:spcAft>
                <a:spcPts val="400"/>
              </a:spcAft>
              <a:defRPr sz="1100">
                <a:solidFill>
                  <a:srgbClr val="B4BAAE"/>
                </a:solidFill>
                <a:latin typeface="Aptos"/>
              </a:defRPr>
            </a:pPr>
            <a:r>
              <a:t>The tagged `v1.26.0` release now includes ESPHomer as a fourth firmware lane, bridging Tlamatini to ESPHome so she can author YAML device configs, validate, compile, upload, and observe smart-home firmware from chat or canvas.</a:t>
            </a:r>
          </a:p>
          <a:p>
            <a:pPr>
              <a:spcAft>
                <a:spcPts val="400"/>
              </a:spcAft>
              <a:defRPr sz="1100">
                <a:solidFill>
                  <a:srgbClr val="B4BAAE"/>
                </a:solidFill>
                <a:latin typeface="Aptos"/>
              </a:defRPr>
            </a:pPr>
            <a:r>
              <a:t>The in-app self-update path itself is now mature across the current Git window: packaged installs can check GitHub releases, stage a download, hand the locked-file replacement to `apply_update.ps1`, and preserve both operator state and one `agents_backup` generation.</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Git Window (2/2)</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a:sp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The latest dossier pass resolves the product at `v1.46.0` with `main` and `origin/main` in sync at tagged commit `6207181f`, combines README.md and BookOfTlamatini.md with source/Git truth, and retains the complete installation, Ollama, architecture, usage, tree, line inventory, and responsibility context.</a:t>
            </a:r>
          </a:p>
          <a:p>
            <a:pPr>
              <a:spcAft>
                <a:spcPts val="400"/>
              </a:spcAft>
              <a:defRPr sz="1500">
                <a:solidFill>
                  <a:srgbClr val="B4BAAE"/>
                </a:solidFill>
                <a:latin typeface="Aptos"/>
              </a:defRPr>
            </a:pPr>
            <a:r>
              <a:t>Self-awareness is now part of the steady baseline rather than a one-off milestone: Tlamatini carries a first-person self-knowledge map and, in self-modify builds, can inspect the bundled source snapshot that describes how she actually works.</a:t>
            </a:r>
          </a:p>
          <a:p>
            <a:pPr>
              <a:spcAft>
                <a:spcPts val="400"/>
              </a:spcAft>
              <a:defRPr sz="1500">
                <a:solidFill>
                  <a:srgbClr val="B4BAAE"/>
                </a:solidFill>
                <a:latin typeface="Aptos"/>
              </a:defRPr>
            </a:pPr>
            <a:r>
              <a:t>Release-identity work also remains relevant: the SemVer policy, git-tag sourcing, runtime version surfaces, and build-time embedding across the Windows artefacts now define how Tlamatini reports her version.</a:t>
            </a:r>
          </a:p>
          <a:p>
            <a:pPr>
              <a:spcAft>
                <a:spcPts val="400"/>
              </a:spcAft>
              <a:defRPr sz="1500">
                <a:solidFill>
                  <a:srgbClr val="B4BAAE"/>
                </a:solidFill>
                <a:latin typeface="Aptos"/>
              </a:defRPr>
            </a:pPr>
            <a:r>
              <a:t>Multi-Turn behavior kept evolving across the period through quota tuning, execution-table persistence, autonomous-action improvements, and broader tool enablement.</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Visual Dossier Change Appendix 1/2</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2026-07-26 | 6207181f | Implemented PDFer, a powerfull PDF maker agent, by angelahack1</a:t>
            </a:r>
          </a:p>
          <a:p>
            <a:pPr>
              <a:spcAft>
                <a:spcPts val="400"/>
              </a:spcAft>
              <a:defRPr sz="1200">
                <a:solidFill>
                  <a:srgbClr val="B4BAAE"/>
                </a:solidFill>
                <a:latin typeface="Aptos"/>
              </a:defRPr>
            </a:pPr>
            <a:r>
              <a:t>2026-07-25 | 89ed8a12 | Ensuring self-update and self-modify up to this version (1.45.3), by Tlamatini's-AutoBot.</a:t>
            </a:r>
          </a:p>
          <a:p>
            <a:pPr>
              <a:spcAft>
                <a:spcPts val="400"/>
              </a:spcAft>
              <a:defRPr sz="1200">
                <a:solidFill>
                  <a:srgbClr val="B4BAAE"/>
                </a:solidFill>
                <a:latin typeface="Aptos"/>
              </a:defRPr>
            </a:pPr>
            <a:r>
              <a:t>2026-07-25 | e9616aa5 | Fix oversized-context Multi-Turn failure: cap tool output, recover by trimming, truthful fallback, by Claude, and Tlamatini's-AutoBot.</a:t>
            </a:r>
          </a:p>
          <a:p>
            <a:pPr>
              <a:spcAft>
                <a:spcPts val="400"/>
              </a:spcAft>
              <a:defRPr sz="1200">
                <a:solidFill>
                  <a:srgbClr val="B4BAAE"/>
                </a:solidFill>
                <a:latin typeface="Aptos"/>
              </a:defRPr>
            </a:pPr>
            <a:r>
              <a:t>2026-07-25 | 1973414e | Improvements in messagging services, by angelahack1</a:t>
            </a:r>
          </a:p>
          <a:p>
            <a:pPr>
              <a:spcAft>
                <a:spcPts val="400"/>
              </a:spcAft>
              <a:defRPr sz="1200">
                <a:solidFill>
                  <a:srgbClr val="B4BAAE"/>
                </a:solidFill>
                <a:latin typeface="Aptos"/>
              </a:defRPr>
            </a:pPr>
            <a:r>
              <a:t>2026-07-24 | 813c21fb | Some messaging patches and tests, by Tlamatini's--AutoBot.</a:t>
            </a:r>
          </a:p>
          <a:p>
            <a:pPr>
              <a:spcAft>
                <a:spcPts val="400"/>
              </a:spcAft>
              <a:defRPr sz="1200">
                <a:solidFill>
                  <a:srgbClr val="B4BAAE"/>
                </a:solidFill>
                <a:latin typeface="Aptos"/>
              </a:defRPr>
            </a:pPr>
            <a:r>
              <a:t>2026-07-23 | 9f5b9951 | Bumping to version 1.45.1, by angelahack1</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Visual Dossier Change Appendix 2/2</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2026-07-23 | 7acb55a2 | Adding SbS prompt for FlowCreator, by Tlamatini's-AutoBot.</a:t>
            </a:r>
          </a:p>
          <a:p>
            <a:pPr>
              <a:spcAft>
                <a:spcPts val="400"/>
              </a:spcAft>
              <a:defRPr sz="1200">
                <a:solidFill>
                  <a:srgbClr val="B4BAAE"/>
                </a:solidFill>
                <a:latin typeface="Aptos"/>
              </a:defRPr>
            </a:pPr>
            <a:r>
              <a:t>2026-07-22 | bb5cb70d | Updatin all of the documentation for Flow-Creator wrapping chat agent, by Tlamatini's-AutoBot.</a:t>
            </a:r>
          </a:p>
          <a:p>
            <a:pPr>
              <a:spcAft>
                <a:spcPts val="400"/>
              </a:spcAft>
              <a:defRPr sz="1200">
                <a:solidFill>
                  <a:srgbClr val="B4BAAE"/>
                </a:solidFill>
                <a:latin typeface="Aptos"/>
              </a:defRPr>
            </a:pPr>
            <a:r>
              <a:t>2026-07-22 | 3fd8bd3f | Adding FowCreator as a wrapped chat agent, and updating contextual markdown files for differente LLMs, by Tlamatini's-AutoBot.</a:t>
            </a:r>
          </a:p>
          <a:p>
            <a:pPr>
              <a:spcAft>
                <a:spcPts val="400"/>
              </a:spcAft>
              <a:defRPr sz="1200">
                <a:solidFill>
                  <a:srgbClr val="B4BAAE"/>
                </a:solidFill>
                <a:latin typeface="Aptos"/>
              </a:defRPr>
            </a:pPr>
            <a:r>
              <a:t>2026-07-22 | 441839ca | A context template fix, by Tlamatini's-AutoBot.</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1/1</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2026-07-26 | 6207181f | Implemented PDFer, a powerfull PDF maker agent, by angelahack1</a:t>
            </a:r>
          </a:p>
          <a:p>
            <a:pPr>
              <a:spcAft>
                <a:spcPts val="400"/>
              </a:spcAft>
              <a:defRPr sz="1200">
                <a:solidFill>
                  <a:srgbClr val="B4BAAE"/>
                </a:solidFill>
                <a:latin typeface="Aptos"/>
              </a:defRPr>
            </a:pPr>
            <a:r>
              <a:t>2026-07-25 | 89ed8a12 | Ensuring self-update and self-modify up to this version (1.45.3), by Tlamatini's-AutoBot.</a:t>
            </a:r>
          </a:p>
          <a:p>
            <a:pPr>
              <a:spcAft>
                <a:spcPts val="400"/>
              </a:spcAft>
              <a:defRPr sz="1200">
                <a:solidFill>
                  <a:srgbClr val="B4BAAE"/>
                </a:solidFill>
                <a:latin typeface="Aptos"/>
              </a:defRPr>
            </a:pPr>
            <a:r>
              <a:t>2026-07-25 | e9616aa5 | Fix oversized-context Multi-Turn failure: cap tool output, recover by trimming, truthful fallback, by Claude, and Tlamatini's-AutoBot.</a:t>
            </a:r>
          </a:p>
          <a:p>
            <a:pPr>
              <a:spcAft>
                <a:spcPts val="400"/>
              </a:spcAft>
              <a:defRPr sz="1200">
                <a:solidFill>
                  <a:srgbClr val="B4BAAE"/>
                </a:solidFill>
                <a:latin typeface="Aptos"/>
              </a:defRPr>
            </a:pPr>
            <a:r>
              <a:t>2026-07-25 | 1973414e | Improvements in messagging services, by angelahack1</a:t>
            </a:r>
          </a:p>
          <a:p>
            <a:pPr>
              <a:spcAft>
                <a:spcPts val="400"/>
              </a:spcAft>
              <a:defRPr sz="1200">
                <a:solidFill>
                  <a:srgbClr val="B4BAAE"/>
                </a:solidFill>
                <a:latin typeface="Aptos"/>
              </a:defRPr>
            </a:pPr>
            <a:r>
              <a:t>2026-07-24 | 813c21fb | Some messaging patches and tests, by Tlamatini's--AutoBot.</a:t>
            </a:r>
          </a:p>
          <a:p>
            <a:pPr>
              <a:spcAft>
                <a:spcPts val="400"/>
              </a:spcAft>
              <a:defRPr sz="1200">
                <a:solidFill>
                  <a:srgbClr val="B4BAAE"/>
                </a:solidFill>
                <a:latin typeface="Aptos"/>
              </a:defRPr>
            </a:pPr>
            <a:r>
              <a:t>2026-07-23 | 9f5b9951 | Bumping to version 1.45.1, by angelahack1</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Tlamatini/
|-- .gitignore
|-- .mcp.json
|-- _acpx_pipeline_demo_report.md
|-- ACPX.md
|-- agents_descriptions.md
|-- apply_update.ps1
|-- BookOfTlamatini.md
|-- build.py
|-- build_all.cmd
|-- build_complete_private_release.py
|-- build_complete_public_release.py
|-- build_installer.py
|-- build_uninstaller.py
|-- check_private_data.py
|-- Claude-Desktop-KALI-MCP-Session.md
|-- CLAUDE.md
|-- copy_source_assets.py
|-- CreateShortcut.json
|-- CreateShortcut.ps1
|-- Discoverier-new-agent.md
|-- eslint.config.mjs
|-- example_of_prompt_to_make_de-compresser_agent.txt
|-- FirstFinalPlanToSpeedUp.md
|-- freeingport8000.ps1
|-- GEMINI.md
|-- git_deny_go.py
|-- install.py
|-- KIMI.md
|-- LICENSE
|-- MessagingConnectorAssistant_Design.md</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OllamaPricing.png
|-- OOB_shift_reaper-and-NAMU-Design.pdf
|-- package.json
|-- PIVOT_CHANGES.md
|-- pnpm-lock.yaml
|-- README.md
|-- regen_secrets.py
|-- register_flw.ps1
|-- RemoveShortcut.ps1
|-- requirements.txt
|-- surgical_improving_speed_of_Tlamatini_by_a_factor_of_3X.md
|-- test_author_banner.py
|-- test_check_private_data.py
|-- test_perf_3x_visual.py
|-- test_private_data_guard.py
|-- Tlamatini-Kali-Setup.md
|-- Tlamatini-Moded-For-FlowPills-2nd-Sprint.md
|-- Tlamatini-Moded-For-Flowpills.md
|-- Tlamatini.ico
|-- Tlamatini.jpg
|-- Tlamatini.ps1
|-- tlamatini_acpx.py
|-- tlamatini_app_summary.pdf
|-- Tlamatini_eXtended_Artificial_Intelligence_Humanly_Tempered.pptx
|-- TLAMATINI_MCP.md
|-- tlamatini_mcp_server.py
|-- Tlamatini_NIGHTLY_PERFORMANCE_REPORT.md
|-- TlamatiniJudgementDay.md
|-- uninstall.py
|-- unregister_flw.ps1
|-- VERSIONING.md</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versioning.py
|-- .claude/
|   |-- settings.json
|   |-- hooks/
|   |   |-- announce_skills.py
|   |   `-- test_announce_skills.py
|   |-- memory/
|   |   |-- feedback_agent_naming_conventions.md
|   |   |-- feedback_dont_overbuild_exec_safety.md
|   |   |-- feedback_hard_real_scenario_tests.md
|   |   |-- feedback_main_branch_only.md
|   |   |-- feedback_package_json_version_bump.md
|   |   |-- feedback_run_tlamatini_agents_visible.md
|   |   |-- feedback_state_constraints_upfront.md
|   |   |-- feedback_track_changes_pivot_file.md
|   |   |-- feedback_update_agent_docs.md
|   |   |-- feedback_user_owns_git.md
|   |   |-- MEMORY.md
|   |   |-- project_acpx_oneshot_prompt.md
|   |   |-- project_acpx_skills_menu.md
|   |   |-- project_acpx_toggle_skills.md
|   |   |-- project_acpxer_added.md
|   |   |-- project_arduiner_agent.md
|   |   |-- project_ask_execs_feature.md
|   |   |-- project_audioplayer_agent.md
|   |   |-- project_build_concurrency_guard.md
|   |   |-- project_build_tests_and_installer_enterkey.md
|   |   |-- project_camcorder_agent.md
|   |   |-- project_carried_python_for_agents.md
|   |   |-- project_conjunction_parser_fix.md
|   |   |-- project_daily_chat_test_skill.md</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4/35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project_desktop_ui_lifecycle.md
|   |   |-- project_director_virtuoso_demo_prompts.md
|   |   |-- project_doc_refresh_2026_05_06.md
|   |   |-- project_doc_refresh_2026_05_08.md
|   |   |-- project_doc_refresh_2026_05_09.md
|   |   |-- project_eight_fixes_2026_05_07.md
|   |   |-- project_emailer_recmailer_oneshot.md
|   |   |-- project_embedding_memory_guard.md
|   |   |-- project_esp32er_agent.md
|   |   |-- project_execute_command_bounded_fix.md
|   |   |-- project_execute_file_foreground_fix.md
|   |   |-- project_external_exec_safety_layer.md
|   |   |-- project_flow_compiler_dialog_wins.md
|   |   |-- project_kalier_agent.md
|   |   |-- project_keyboarder_wrapped_2026_05_07.md
|   |   |-- project_living_canvas_dropped.md
|   |   |-- project_mouser_wrapped_2026_05_07.md
|   |   |-- project_native_picker_tcltk_fix.md
|   |   |-- project_native_toast.md
|   |   |-- project_numpy_pyinstaller.md
|   |   |-- project_ollama_source_build_breaks_embeddings.md
|   |   |-- project_planner_followup.md
|   |   |-- project_playwrighter_agent.md
|   |   |-- project_playwrighter_hold_open.md
|   |   |-- project_prompt_catalog_mode_badges.md
|   |   |-- project_pythonxer_forkbomb_fix.md
|   |   |-- project_pythonxer_strict_ruff_gate.md
|   |   |-- project_quote_apostrophe_fix_2026_05_07.md
|   |   |-- project_reaper_console_window_fix.md
|   |   |-- project_recorder_agent.md
|   |   |-- project_reviewer_analyzer_agents.md</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5/35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project_reviewer_analyzer_demo_prompts.md
|   |   |-- project_reviewer_committed_secrets_falsepos.md
|   |   |-- project_secret_leak_recovery.md
|   |   |-- project_stm32er_agent.md
|   |   |-- project_stm32er_bootstrap_preflight.md
|   |   |-- project_stm32er_demo_prompts.md
|   |   |-- project_stm32er_docs_libs_parametrizer.md
|   |   |-- project_stm32er_hil_serial_proof_fix.md
|   |   |-- project_stm32er_tests.md
|   |   |-- project_summarizer_oneshot_mode.md
|   |   |-- project_taskbar_flash_attention.md
|   |   |-- project_teletlamatini_acpx.md
|   |   |-- project_temp_templates_policy.md
|   |   |-- project_unity_mcp_declined.md
|   |   |-- project_unrealer_expanded_surface.md
|   |   |-- project_versioning_2026_05_15.md
|   |   |-- project_videoplayer_agent.md
|   |   |-- project_windower_agent.md
|   |   `-- user_profile.md
|   `-- skills/
|       |-- tlamatini-agent-creation/
|       |   `-- SKILL.md
|       |-- tlamatini-agent-naming/
|       |   `-- SKILL.md
|       |-- tlamatini-daily-chat-test/
|       |   |-- .gitignore
|       |   |-- SKILL.md
|       |   `-- harness/
|       |       |-- ask_execs_regression.py
|       |       |-- cancel_regression.py
|       |       |-- config.py</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6/35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cyber_watchdog_test.py
|       |       |-- discoverer_1000.py
|       |       |-- flowcreator_wizard_e2e.py
|       |       |-- mcp_playwright_suite.py
|       |       |-- qualify.py
|       |       |-- questions.py
|       |       |-- README.md
|       |       |-- requirements.txt
|       |       |-- run_test.py
|       |       |-- step_by_step_catalog.py
|       |       |-- talk_test.py
|       |       `-- wrapped_questions.py
|       |-- tlamatini-self-modify-inclusion/
|       |   |-- SKILL.md
|       |   `-- scripts/
|       |       `-- sweep_self_modify.py
|       `-- tlamatini-self-update-inclusion/
|           |-- SKILL.md
|           `-- scripts/
|               `-- sweep_self_update.py
|-- .codex/
|   `-- skills/
|       |-- full-project-pdf-dossier/
|       |   `-- SKILL.md
|       `-- overlap-safe-pptx-dossier/
|           `-- SKILL.md
|-- .github/
|   `-- workflows/
|       `-- name-guard.yml
|-- .scanning/
|   `-- finding-policy.json</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7/35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AuxTests/
|   `-- mypdf2.py
|-- demo_flows/
|   |-- demo1_globber_to_parametrizer_to_zavuerer.flw
|   |-- demo2_apirer_to_parametrizer_to_zavuerer.flw
|   `-- demo3_zavuerer_health_to_parametrizer_to_filecreator.flw
|-- docs/
|   |-- companion-app-discovery.md
|   |-- stm32er_all_families_proposal.md
|   `-- claude/
|       |-- acpx.md
|       |-- agents.md
|       |-- architecture.md
|       |-- exec-report.md
|       |-- frontend.md
|       |-- gotchas.md
|       |-- INDEX.md
|       |-- mcp-tools.md
|       |-- multi-turn.md
|       `-- recent-fixes.md
|-- pyinstaller_hooks/
|   |-- hook-numpy.py
|   `-- hook-torch.py
|-- Tests/
|   |-- test_about_window_name_visible.py
|   `-- test_perf_3x_visual.py
`-- Tlamatini/
    |-- cat_art.py
    |-- manage.py
    |-- .agents/
    |   `-- workflows/</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8/35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create_new_agent.md
    |-- .mcps/
    |   `-- create_new_mcp.md
    |-- .skills/
    |   `-- create_new_skill.md
    |-- agent/
    |   |-- __init__.py
    |   |-- access_key_wizard.py
    |   |-- admin.py
    |   |-- agent_manifest.py
    |   |-- apps.py
    |   |-- cancellation.py
    |   |-- capability_registry.py
    |   |-- chain_files_search_lcel.py
    |   |-- chain_system_lcel.py
    |   |-- chat_agent_registry.py
    |   |-- chat_agent_runtime.py
    |   |-- chat_history_loader.py
    |   |-- command_togen_pb2.txt
    |   |-- command_watchdog.py
    |   |-- config.json
    |   |-- config_loader.py
    |   |-- constants.py
    |   |-- consumers.py
    |   |-- contacts.py
    |   |-- embedding_memory_guard.py
    |   |-- exec_permission.py
    |   |-- external_mcp_manager.py
    |   |-- filesearch.proto
    |   |-- filesearch_pb2.py
    |   |-- filesearch_pb2_grpc.py</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9/35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global_execution_planner.py
    |   |-- global_state.py
    |   |-- gpu_perf.py
    |   |-- inet_determiner.py
    |   |-- llm_timing.py
    |   |-- mcp_agent.py
    |   |-- mcp_files_search_client.py
    |   |-- mcp_files_search_server.py
    |   |-- mcp_system_client.py
    |   |-- mcp_system_server.py
    |   |-- models.py
    |   |-- native_dialogs.py
    |   |-- orphan_reaper.py
    |   |-- path_guard.py
    |   |-- prompt.pmt
    |   |-- rag_enhancements.py
    |   |-- routing.py
    |   |-- self_healing.py
    |   |-- self_update.py
    |   |-- test_access_key_wizard.py
    |   |-- test_agent_manifest.py
    |   |-- test_arduiner_agent.py
    |   |-- test_ask_execs_allowlist.py
    |   |-- test_audioplayer_agent.py
    |   |-- test_blenderer_agent.py
    |   |-- test_build_scripts.py
    |   |-- test_camcorder_agent.py
    |   |-- test_cancellation.py
    |   |-- test_chat_bridge_bots.py
    |   |-- test_chat_history_window.py
    |   |-- test_command_watchdog.py</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10/35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test_contacts.py
    |   |-- test_crawler_agent.py
    |   |-- test_createsuperuser_wizard.py
    |   |-- test_de_compresser.py
    |   |-- test_discoverer_agent.py
    |   |-- test_discoverer_thousand.py
    |   |-- test_django_port_config.py
    |   |-- test_editor_agent.py
    |   |-- test_embedding_memory_guard.py
    |   |-- test_esp32er_agent.py
    |   |-- test_esphomer_agent.py
    |   |-- test_execute_command_bounded.py
    |   |-- test_external_mcp_add_flow.py
    |   |-- test_external_mcp_e2e.py
    |   |-- test_external_mcp_transports.py
    |   |-- test_external_mcp_universal.py
    |   |-- test_file_extractor_reader.py
    |   |-- test_flow_contracts.py
    |   |-- test_frontend_mutable_state.py
    |   |-- test_globber_agent.py
    |   |-- test_googler_agent.py
    |   |-- test_grepper_agent.py
    |   |-- test_image_interpreter_agent.py
    |   |-- test_instant_messaging_doctor.py
    |   |-- test_j_decompiler_agent.py
    |   |-- test_kalier_agent.py
    |   |-- test_native_dialogs.py
    |   |-- test_nmapper_agent.py
    |   |-- test_orphan_reaper.py
    |   |-- test_parametrizer_mcp_doctor.py
    |   |-- test_password_quoting.py</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11/35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test_pdfer_agent.py
    |   |-- test_playwrighter_agent.py
    |   |-- test_prompt_catalog_contiguous.py
    |   |-- test_recorder_agent.py
    |   |-- test_self_healing.py
    |   |-- test_self_update.py
    |   |-- test_step_by_step_mode.py
    |   |-- test_stm32er_agent.py
    |   |-- test_talker_agent.py
    |   |-- test_telegrammer_identity.py
    |   |-- test_temp_dir_policy.py
    |   |-- test_tool_failure_recovery.py
    |   |-- test_unrealer_agent.py
    |   |-- test_video_analyzer_agent.py
    |   |-- test_videoplayer_agent.py
    |   |-- test_watchdog_foreground_exemption.py
    |   |-- test_whatsapper_identity.py
    |   |-- test_whisperer_agent.py
    |   |-- test_windower_agent.py
    |   |-- test_windows_app_registration.py
    |   |-- test_zavuerer_agent.py
    |   |-- tests.py
    |   |-- tests_perf_3x.py
    |   |-- Tlamatini.md
    |   |-- tools.py
    |   |-- urls.py
    |   |-- version.py
    |   |-- views.py
    |   |-- web_search_llm.py
    |   |-- window_flash.py
    |   |-- windows_app_registration.py</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12/35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acpx/
    |   |   |-- __init__.py
    |   |   |-- agent_registry.py
    |   |   |-- config.py
    |   |   |-- permissions.py
    |   |   |-- runtime.py
    |   |   |-- service.py
    |   |   |-- session_store.py
    |   |   |-- tests.py
    |   |   |-- tools.py
    |   |   `-- windows_spawn.py
    |   |-- agents/
    |   |   |-- acpxer/
    |   |   |   |-- acpxer.py
    |   |   |   `-- config.yaml
    |   |   |-- analyzer/
    |   |   |   |-- analyzer.py
    |   |   |   `-- config.yaml
    |   |   |-- and/
    |   |   |   |-- and.py
    |   |   |   `-- config.yaml
    |   |   |-- apirer/
    |   |   |   |-- apirer.py
    |   |   |   `-- config.yaml
    |   |   |-- arduiner/
    |   |   |   |-- arduiner.py
    |   |   |   |-- config.yaml
    |   |   |   `-- ArduinoTemplateProject/
    |   |   |       |-- ArduinoTemplateProject.ino
    |   |   |       |-- README.md
    |   |   |       |-- sketch.yaml</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13/35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src/
    |   |   |           |-- Heartbeat.cpp
    |   |   |           `-- Heartbeat.h
    |   |   |-- asker/
    |   |   |   |-- asker.py
    |   |   |   `-- config.yaml
    |   |   |-- audioplayer/
    |   |   |   |-- audioplayer.py
    |   |   |   `-- config.yaml
    |   |   |-- barrier/
    |   |   |   |-- barrier.py
    |   |   |   |-- config.yaml
    |   |   |   `-- test_barrier.py
    |   |   |-- blenderer/
    |   |   |   |-- blenderer.py
    |   |   |   `-- config.yaml
    |   |   |-- camcorder/
    |   |   |   |-- camcorder.py
    |   |   |   `-- config.yaml
    |   |   |-- cleaner/
    |   |   |   |-- __init__.py
    |   |   |   |-- cleaner.py
    |   |   |   `-- config.yaml
    |   |   |-- counter/
    |   |   |   |-- config.yaml
    |   |   |   `-- counter.py
    |   |   |-- crawler/
    |   |   |   |-- config.yaml
    |   |   |   `-- crawler.py
    |   |   |-- croner/
    |   |   |   |-- config.yaml</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14/35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croner.py
    |   |   |-- de_compresser/
    |   |   |   |-- config.yaml
    |   |   |   `-- de_compresser.py
    |   |   |-- deleter/
    |   |   |   |-- config.yaml
    |   |   |   `-- deleter.py
    |   |   |-- discoverer/
    |   |   |   |-- config.yaml
    |   |   |   `-- discoverer.py
    |   |   |-- dockerer/
    |   |   |   |-- config.yaml
    |   |   |   `-- dockerer.py
    |   |   |-- editor/
    |   |   |   |-- config.yaml
    |   |   |   `-- editor.py
    |   |   |-- emailer/
    |   |   |   |-- config.yaml
    |   |   |   `-- emailer.py
    |   |   |-- ender/
    |   |   |   |-- config.yaml
    |   |   |   `-- ender.py
    |   |   |-- esp32er/
    |   |   |   |-- config.yaml
    |   |   |   `-- esp32er.py
    |   |   |-- esphomer/
    |   |   |   |-- config.yaml
    |   |   |   |-- esphomer.py
    |   |   |   `-- ESPHomeTemplateProject/
    |   |   |       |-- README.md
    |   |   |       `-- tlamatini-light.yaml</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15/35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executer/
    |   |   |   |-- config.yaml
    |   |   |   `-- executer.py
    |   |   |-- file_creator/
    |   |   |   |-- config.yaml
    |   |   |   `-- file_creator.py
    |   |   |-- file_extractor/
    |   |   |   |-- config.yaml
    |   |   |   `-- file_extractor.py
    |   |   |-- file_interpreter/
    |   |   |   |-- config.yaml
    |   |   |   `-- file_interpreter.py
    |   |   |-- flowbacker/
    |   |   |   |-- config.yaml
    |   |   |   `-- flowbacker.py
    |   |   |-- flowcreator/
    |   |   |   |-- agentic_skill.md
    |   |   |   |-- config.yaml
    |   |   |   |-- flowcreator.py
    |   |   |   `-- result_to_flw.py
    |   |   |-- flowhypervisor/
    |   |   |   |-- config.yaml
    |   |   |   |-- flowhypervisor.py
    |   |   |   |-- hypervisor_alert.wav
    |   |   |   `-- monitoring-prompt.pmt
    |   |   |-- forker/
    |   |   |   |-- config.yaml
    |   |   |   `-- forker.py
    |   |   |-- gateway_relayer/
    |   |   |   |-- config.yaml
    |   |   |   |-- gateway_relayer.md</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16/35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gateway_relayer.py
    |   |   |-- gatewayer/
    |   |   |   |-- config.yaml
    |   |   |   |-- gatewayer.md
    |   |   |   |-- gatewayer.py
    |   |   |   `-- gatewayer_explanation.md
    |   |   |-- gitter/
    |   |   |   |-- config.yaml
    |   |   |   `-- gitter.py
    |   |   |-- globber/
    |   |   |   |-- config.yaml
    |   |   |   `-- globber.py
    |   |   |-- googler/
    |   |   |   |-- config.yaml
    |   |   |   `-- googler.py
    |   |   |-- grepper/
    |   |   |   |-- config.yaml
    |   |   |   `-- grepper.py
    |   |   |-- image_interpreter/
    |   |   |   |-- config.yaml
    |   |   |   `-- image_interpreter.py
    |   |   |-- instant_messaging_doctor/
    |   |   |   |-- config.yaml
    |   |   |   `-- instant_messaging_doctor.py
    |   |   |-- j_decompiler/
    |   |   |   |-- config.yaml
    |   |   |   `-- j_decompiler.py
    |   |   |-- jenkinser/
    |   |   |   |-- config.yaml
    |   |   |   `-- jenkinser.py
    |   |   |-- kalier/</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17/35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kalier.py
    |   |   |-- keyboarder/
    |   |   |   |-- config.yaml
    |   |   |   `-- keyboarder.py
    |   |   |-- kuberneter/
    |   |   |   |-- config.yaml
    |   |   |   `-- kuberneter.py
    |   |   |-- kyber_cipher/
    |   |   |   |-- config.yaml
    |   |   |   `-- kyber_cipher.py
    |   |   |-- kyber_decipher/
    |   |   |   |-- config.yaml
    |   |   |   `-- kyber_decipher.py
    |   |   |-- kyber_keygen/
    |   |   |   |-- config.yaml
    |   |   |   `-- kyber_keygen.py
    |   |   |-- mcp_doctor/
    |   |   |   |-- config.yaml
    |   |   |   `-- mcp_doctor.py
    |   |   |-- mongoxer/
    |   |   |   |-- config.yaml
    |   |   |   `-- mongoxer.py
    |   |   |-- monitor_log/
    |   |   |   |-- config.yaml
    |   |   |   `-- monitor_log.py
    |   |   |-- monitor_netstat/
    |   |   |   |-- config.yaml
    |   |   |   `-- monitor_netstat.py
    |   |   |-- mouser/
    |   |   |   |-- config.yaml</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18/35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mouser.py
    |   |   |-- mover/
    |   |   |   |-- config.yaml
    |   |   |   `-- mover.py
    |   |   |-- nmapper/
    |   |   |   |-- config.yaml
    |   |   |   `-- nmapper.py
    |   |   |-- node_manager/
    |   |   |   |-- config.yaml
    |   |   |   |-- node_manager.md
    |   |   |   |-- node_manager.py
    |   |   |   |-- nodes_example.json
    |   |   |   `-- nodes_example.yaml
    |   |   |-- notifier/
    |   |   |   |-- config.yaml
    |   |   |   `-- notifier.py
    |   |   |-- or/
    |   |   |   |-- config.yaml
    |   |   |   `-- or.py
    |   |   |-- parametrizer/
    |   |   |   |-- config.yaml
    |   |   |   `-- parametrizer.py
    |   |   |-- pdfer/
    |   |   |   |-- config.yaml
    |   |   |   `-- pdfer.py
    |   |   |-- playwrighter/
    |   |   |   |-- config.yaml
    |   |   |   `-- playwrighter.py
    |   |   |-- prompter/
    |   |   |   |-- config.yaml
    |   |   |   `-- prompter.py</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19/35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pser/
    |   |   |   |-- config.yaml
    |   |   |   `-- pser.py
    |   |   |-- pythonxer/
    |   |   |   |-- config.yaml
    |   |   |   `-- pythonxer.py
    |   |   |-- raiser/
    |   |   |   |-- config.yaml
    |   |   |   `-- raiser.py
    |   |   |-- recmailer/
    |   |   |   |-- config.yaml
    |   |   |   `-- recmailer.py
    |   |   |-- recorder/
    |   |   |   |-- config.yaml
    |   |   |   `-- recorder.py
    |   |   |-- reviewer/
    |   |   |   |-- config.yaml
    |   |   |   `-- reviewer.py
    |   |   |-- scper/
    |   |   |   |-- config.yaml
    |   |   |   `-- scper.py
    |   |   |-- shoter/
    |   |   |   |-- config.yaml
    |   |   |   `-- shoter.py
    |   |   |-- sleeper/
    |   |   |   |-- config.yaml
    |   |   |   `-- sleeper.py
    |   |   |-- sqler/
    |   |   |   |-- config.yaml
    |   |   |   `-- sqler.py
    |   |   |-- ssher/</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20/35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ssher.py
    |   |   |-- starter/
    |   |   |   |-- config.yaml
    |   |   |   `-- starter.py
    |   |   |-- stm32er/
    |   |   |   |-- config.yaml
    |   |   |   `-- stm32er.py
    |   |   |-- stopper/
    |   |   |   |-- config.yaml
    |   |   |   `-- stopper.py
    |   |   |-- summarizer/
    |   |   |   |-- config.yaml
    |   |   |   `-- summarizer.py
    |   |   |-- talker/
    |   |   |   |-- config.yaml
    |   |   |   `-- talker.py
    |   |   |-- telegrammer/
    |   |   |   |-- config.yaml
    |   |   |   |-- HOW_TO_GET_YOUR_TELEGRAM_ASSETS.md
    |   |   |   |-- telegrammer.py
    |   |   |   `-- guide_assets/
    |   |   |       |-- telegram_01_botfather_search.jpg
    |   |   |       |-- telegram_02_newbot_token.jpg
    |   |   |       |-- telegram_03_start_bot_getupdates.jpg
    |   |   |       `-- telegram_04_tlamatini_contacts.jpg
    |   |   |-- teletlamatini/
    |   |   |   |-- config.yaml
    |   |   |   `-- teletlamatini.py
    |   |   |-- unrealer/
    |   |   |   |-- config.yaml</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21/35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unrealer.py
    |   |   |-- video_analyzer/
    |   |   |   |-- config.yaml
    |   |   |   `-- video_analyzer.py
    |   |   |-- videoplayer/
    |   |   |   |-- config.yaml
    |   |   |   `-- videoplayer.py
    |   |   |-- whatsapper/
    |   |   |   |-- config.yaml
    |   |   |   |-- HOW_TO_GET_YOUR_WHATSAPP_ASSETS.md
    |   |   |   |-- whatsapper.py
    |   |   |   `-- guide_assets/
    |   |   |       |-- whatsapp_01_meta_create_app.jpg
    |   |   |       |-- whatsapp_02_api_setup_keys.jpg
    |   |   |       |-- whatsapp_03_test_recipient_send.jpg
    |   |   |       |-- whatsapp_04_system_user_token.jpg
    |   |   |       `-- whatsapp_05_tlamatini_contacts.jpg
    |   |   |-- whisperer/
    |   |   |   |-- config.yaml
    |   |   |   `-- whisperer.py
    |   |   |-- windower/
    |   |   |   |-- config.yaml
    |   |   |   `-- windower.py
    |   |   `-- zavuerer/
    |   |       |-- config.yaml
    |   |       `-- zavuerer.py
    |   |-- doc_generation/
    |   |   |-- complete_project_docs.py
    |   |   |-- mardown_to_pdf.py
    |   |   |-- refresh_project_docs.py
    |   |   `-- test_output.pdf</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22/35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images/
    |   |   |-- FlowPill.jpg
    |   |   |-- HiIamTlamatini.png
    |   |   |-- LabInEnglish.mp4
    |   |   |-- LabInSpanish.mp4
    |   |   |-- mockup.jpg
    |   |   |-- Modify_the_last_video_keepi.mp4
    |   |   |-- RealisticTlamatini.png
    |   |   |-- ShouldersUoTlamatini.png
    |   |   |-- Tlamatini AI Agentic Advisor Video.mp4
    |   |   |-- TlamatiniAndKyber.mp4
    |   |   |-- TlamatiniClosedMouthClosedEyes.jpg
    |   |   |-- TlamatiniClosedMouthOpenedEyes.jpg
    |   |   |-- TlamatiniDrawings.png
    |   |   |-- TlamatiniOpenedMouthClosedEyes.jpg
    |   |   |-- TlamattiniOpenedMouthOpenedEyes.jpg
    |   |   |-- TlammatiniLetsMakeSomeMagic.mp4
    |   |   |-- TorsoTlamatini.png
    |   |   `-- XAIHT-Tlamatini.mp4
    |   |-- imaging/
    |   |   |-- converter.py
    |   |   |-- image_interpreter.py
    |   |   `-- screenshot.py
    |   |-- management/
    |   |   |-- __init__.py
    |   |   `-- commands/
    |   |       |-- acpx_lint.py
    |   |       `-- startserver.py
    |   |-- migrations/
    |   |   |-- 0001_initial.py
    |   |   |-- 0002_populate_db.py</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23/35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|-- 0003_add_cleaner.py
    |   |   |-- 0004_add_deleter.py
    |   |   |-- 0005_add_executer.py
    |   |   |-- 0006_add_notifier.py
    |   |   |-- 0007_add_stopper.py
    |   |   |-- 0008_add_recmailer.py
    |   |   |-- 0009_add_whatsapper.py
    |   |   |-- 0010_add_pythonxer.py
    |   |   |-- 0011_add_asker.py
    |   |   |-- 0012_repopulate_all_agents.py
    |   |   |-- 0013_add_forker.py
    |   |   |-- 0014_repopulate_all_agents.py
    |   |   |-- 0015_add_shoter.py
    |   |   |-- 0016_repopulate_all_agents.py
    |   |   |-- 0017_add_ssher.py
    |   |   |-- 0018_repopulate_all_agents.py
    |   |   |-- 0019_add_scper.py
    |   |   |-- 0020_repopulate_all_agents.py
    |   |   |-- 0021_add_telegramrx.py
    |   |   |-- 0022_repopulate_all_agents.py
    |   |   |-- 0023_add_mongoxer.py
    |   |   |-- 0024_repopulate_all_agents.py
    |   |   |-- 0025_add_telegramer.py
    |   |   |-- 0026_repopulate_all_agents.py
    |   |   |-- 0027_add_sqler.py
    |   |   |-- 0028_repopulate_all_agents.py
    |   |   |-- 0029_add_prompter.py
    |   |   |-- 0030_repopulate_all_agents.py
    |   |   |-- 0031_add_flowcreator.py
    |   |   |-- 0032_repopulate_all_agents.py
    |   |   |-- 0033_add_gitter.py</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24/35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|-- 0034_add_dockerer.py
    |   |   |-- 0035_add_pser.py
    |   |   |-- 0036_add_kuberneter.py
    |   |   |-- 0037_add_apirer.py
    |   |   |-- 0038_add_jenkinser.py
    |   |   |-- 0039_add_crawler.py
    |   |   |-- 0040_add_summarizer.py
    |   |   |-- 0041_add_flowhypervisor.py
    |   |   |-- 0042_add_mouser.py
    |   |   |-- 0043_agentmessage_conversation_user.py
    |   |   |-- 0044_add_counter.py
    |   |   |-- 0045_add_file_interpreter.py
    |   |   |-- 0046_add_image_interpreter.py
    |   |   |-- 0047_add_gatewayer.py
    |   |   |-- 0048_add_gateway_relayer.py
    |   |   |-- 0049_add_node_manager.py
    |   |   |-- 0050_add_file_creator.py
    |   |   |-- 0051_add_file_extractor.py
    |   |   |-- 0052_add_kyber_keygen.py
    |   |   |-- 0053_add_kyber_cipher.py
    |   |   |-- 0054_add_kyber_decipher.py
    |   |   |-- 0055_fix_kyber_cipher_names.py
    |   |   |-- 0056_add_parametrizer.py
    |   |   |-- 0057_add_flowbacker.py
    |   |   |-- 0058_add_barrier.py
    |   |   |-- 0059_add_j_decompiler.py
    |   |   |-- 0060_add_agent_parametrizer_tool.py
    |   |   |-- 0061_add_agent_starter_tool.py
    |   |   |-- 0062_sync_agent_control_tools_and_prompts.py
    |   |   |-- 0063_add_agent_parametrizer_prompt.py
    |   |   |-- 0064_add_chat_agent_run_model.py</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25/35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|-- 0065_add_chat_wrapped_agent_tools.py
    |   |   |-- 0066_add_keyboarder.py
    |   |   |-- 0067_add_multi_turn_demo_prompts.py
    |   |   |-- 0068_add_googler_tool.py
    |   |   |-- 0069_add_googler_agent.py
    |   |   |-- 0070_add_teletlamatini.py
    |   |   |-- 0071_acpx_skills.py
    |   |   |-- 0072_add_acpx_demo_prompts.py
    |   |   |-- 0073_acpx_demo_gemini_uplift.py
    |   |   |-- 0074_simplify_demo_prompts.py
    |   |   |-- 0075_add_acpx_tool_surface.py
    |   |   |-- 0076_add_acpxer.py
    |   |   |-- 0077_add_whatstlamatini.py
    |   |   |-- 0078_add_chat_agent_keyboarder_tool.py
    |   |   |-- 0079_add_chat_agent_mouser_tool.py
    |   |   |-- 0080_add_chat_agent_sleeper_tool.py
    |   |   |-- 0081_add_window_present_and_run_wait_tools.py
    |   |   |-- 0082_add_chat_agent_j_decompiler_tool.py
    |   |   |-- 0083_add_de_compresser.py
    |   |   |-- 0084_add_chat_agent_de_compresser_tool.py
    |   |   |-- 0085_add_unrealer.py
    |   |   |-- 0086_add_chat_agent_unrealer_tool.py
    |   |   |-- 0087_add_unrealer_demo_prompt.py
    |   |   |-- 0088_add_reviewer.py
    |   |   |-- 0089_add_analyzer.py
    |   |   |-- 0090_add_reviewer_analyzer_demo_prompts.py
    |   |   |-- 0091_add_playwrighter.py
    |   |   |-- 0092_add_chat_agent_playwrighter_tool.py
    |   |   |-- 0093_add_windower.py
    |   |   |-- 0094_add_chat_agent_windower_tool.py
    |   |   |-- 0095_add_windower_playwrighter_demo_prompts.py</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26/35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|-- 0096_add_director_virtuoso_demo_prompts.py
    |   |   |-- 0097_add_kalier.py
    |   |   |-- 0098_add_chat_agent_kalier_tool.py
    |   |   |-- 0099_add_kalier_demo_prompts.py
    |   |   |-- 0100_add_unrealer_extended_demo_prompts.py
    |   |   |-- 0101_add_stm32er.py
    |   |   |-- 0102_add_chat_agent_stm32er_tool.py
    |   |   |-- 0103_add_stm32er_demo_prompts.py
    |   |   |-- 0104_fix_stm32er_hil_serial_proof.py
    |   |   |-- 0105_add_esp32er.py
    |   |   |-- 0106_add_chat_agent_esp32er_tool.py
    |   |   |-- 0107_add_esp32er_demo_prompts.py
    |   |   |-- 0108_add_flow_making_demo_prompt.py
    |   |   |-- 0109_add_arduiner.py
    |   |   |-- 0110_add_chat_agent_arduiner_tool.py
    |   |   |-- 0111_add_arduiner_demo_prompts.py
    |   |   |-- 0112_add_camcorder.py
    |   |   |-- 0113_add_chat_agent_camcorder_tool.py
    |   |   |-- 0114_add_recorder.py
    |   |   |-- 0115_add_chat_agent_recorder_tool.py
    |   |   |-- 0116_add_audioplayer.py
    |   |   |-- 0117_add_chat_agent_audioplayer_tool.py
    |   |   |-- 0118_add_videoplayer.py
    |   |   |-- 0119_add_chat_agent_videoplayer_tool.py
    |   |   |-- 0120_add_talker.py
    |   |   |-- 0121_add_chat_agent_talker_tool.py
    |   |   |-- 0122_add_talker_demo_prompt.py
    |   |   |-- 0123_add_whisperer.py
    |   |   |-- 0124_add_chat_agent_whisperer_tool.py
    |   |   |-- 0125_add_whisperer_demo_prompt.py
    |   |   |-- 0126_add_blenderer.py</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27/35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|-- 0127_add_chat_agent_blenderer_tool.py
    |   |   |-- 0128_add_blenderer_demo_prompts.py
    |   |   |-- 0129_add_editor.py
    |   |   |-- 0130_add_chat_agent_editor_tool.py
    |   |   |-- 0131_add_editor_demo_prompts.py
    |   |   |-- 0132_add_grepper.py
    |   |   |-- 0133_add_chat_agent_grepper_tool.py
    |   |   |-- 0134_add_grepper_demo_prompts.py
    |   |   |-- 0135_add_globber.py
    |   |   |-- 0136_add_chat_agent_globber_tool.py
    |   |   |-- 0137_add_globber_demo_prompts.py
    |   |   |-- 0138_add_esphomer.py
    |   |   |-- 0139_add_chat_agent_esphomer_tool.py
    |   |   |-- 0140_add_esphomer_demo_prompts.py
    |   |   |-- 0141_add_mcp_doctor.py
    |   |   |-- 0142_add_chat_agent_mcp_doctor_tool.py
    |   |   |-- 0143_add_mcp_doctor_demo_prompt.py
    |   |   |-- 0144_insert_java17_maven_demo_prompt_at_5.py
    |   |   |-- 0145_insert_createsuperuser_wizard_prompt_at_1.py
    |   |   |-- 0146_update_createsuperuser_wizard_continuation.py
    |   |   |-- 0147_add_unreal_game_demo_prompts.py
    |   |   |-- 0148_add_discoverer_demo_prompts.py
    |   |   |-- 0149_add_discoverer.py
    |   |   |-- 0150_add_chat_agent_discoverer_tool.py
    |   |   |-- 0151_retire_old_messaging_add_telegrammer.py
    |   |   |-- 0152_add_instant_messaging_doctor.py
    |   |   |-- 0153_add_chat_agent_instant_messaging_doctor_tool.py
    |   |   |-- 0154_add_instant_messaging_doctor_demo_prompt.py
    |   |   |-- 0155_add_contact_scaffold_demo_prompt.py
    |   |   |-- 0156_add_telegrammer_identity_demo_prompts.py
    |   |   |-- 0157_add_whatsapper_identity_demo_prompt.py</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28/35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|-- 0158_redesign_messaging_demo_prompts.py
    |   |   |-- 0159_add_zavuerer.py
    |   |   |-- 0160_add_chat_agent_zavuerer_tool.py
    |   |   |-- 0161_add_zavuerer_demo_prompts.py
    |   |   |-- 0162_add_zavuerer_catalog_prompts.py
    |   |   |-- 0163_add_zavuerer_get_key_wizard_prompt.py
    |   |   |-- 0164_dedup_zavuerer_setup_wizards.py
    |   |   |-- 0165_add_image_interpreter_triple_model_demo_prompt.py
    |   |   |-- 0166_add_video_analyzer.py
    |   |   |-- 0167_add_chat_agent_video_analyzer_tool.py
    |   |   |-- 0168_add_video_analyzer_demo_prompt.py
    |   |   |-- 0169_add_discoverer_cvemap_latest_demo_prompt.py
    |   |   |-- 0170_add_nmapper.py
    |   |   |-- 0171_add_chat_agent_nmapper_tool.py
    |   |   |-- 0172_add_nmapper_demo_prompts.py
    |   |   |-- 0173_add_unreal_scaffold_demo_prompt.py
    |   |   |-- 0174_unreal_scaffold_build_project_tip.py
    |   |   |-- 0175_prompt_category_and_dedup.py
    |   |   |-- 0176_delete_duplicate_acpx_prompts.py
    |   |   |-- 0177_add_stm32er_platformio_demo_prompt.py
    |   |   |-- 0178_add_stm32_stepwise_blink_camera_prompts.py
    |   |   |-- 0179_regroup_resort_prompts_no_gaps.py
    |   |   |-- 0180_add_kalier_setup_wizard_prompt.py
    |   |   |-- 0181_prompt_sort_rank.py
    |   |   |-- 0182_add_step_by_step_section_openers.py
    |   |   |-- 0183_standardize_security_recon_prompts.py
    |   |   |-- 0184_standardize_prompt_params_batch2.py
    |   |   |-- 0185_standardize_prompt_params_batch3.py
    |   |   |-- 0186_add_chat_agent_flowcreator.py
    |   |   |-- 0187_add_flowcreator_end_to_end_wizard_prompt.py
    |   |   |-- 0188_add_pdfer.py</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29/35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|-- 0189_add_chat_agent_pdfer_tool.py
    |   |   |-- 0190_add_pdfer_demo_prompts.py
    |   |   `-- __init__.py
    |   |-- monitors/
    |   |   `-- monitor_sql.py
    |   |-- opus_client/
    |   |   |-- claude_opus_client.py
    |   |   |-- examples.py
    |   |   `-- README.md
    |   |-- rag/
    |   |   |-- __init__.py
    |   |   |-- config.py
    |   |   |-- factory.py
    |   |   |-- interaction.py
    |   |   |-- interface.py
    |   |   |-- loaders.py
    |   |   |-- prompts.py
    |   |   |-- retrieval.py
    |   |   |-- splitters.py
    |   |   |-- utils.py
    |   |   `-- chains/
    |   |       |-- base.py
    |   |       |-- basic.py
    |   |       |-- history_aware.py
    |   |       `-- unified.py
    |   |-- services/
    |   |   |-- __init__.py
    |   |   |-- agent_contracts.py
    |   |   |-- agent_paths.py
    |   |   |-- filesystem.py
    |   |   |-- flow_compiler.py</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30/35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flow_spec.py
    |   |   `-- response_parser.py
    |   |-- skills/
    |   |   |-- __init__.py
    |   |   |-- frontmatter.py
    |   |   |-- harness.py
    |   |   |-- io_contract.py
    |   |   `-- registry.py
    |   |-- skills_pkg/
    |   |   |-- _meta/
    |   |   |   |-- lint.py
    |   |   |   `-- schema.json
    |   |   |-- acp_router/
    |   |   |   `-- SKILL.md
    |   |   |-- code_review/
    |   |   |   `-- SKILL.md
    |   |   |-- create_new_agent/
    |   |   |   `-- SKILL.md
    |   |   |-- create_new_mcp/
    |   |   |   `-- SKILL.md
    |   |   |-- flow_making/
    |   |   |   |-- SKILL.md
    |   |   |   |-- references/
    |   |   |   |   `-- flw_schema.md
    |   |   |   `-- scripts/
    |   |   |       |-- make_flow.py
    |   |   |       `-- result_to_flw.py
    |   |   |-- github/
    |   |   |   `-- SKILL.md
    |   |   |-- gmail/
    |   |   |   `-- SKILL.md</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31/35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hello_world/
    |   |   |   `-- SKILL.md
    |   |   |-- jira/
    |   |   |   `-- SKILL.md
    |   |   |-- kali_pentest/
    |   |   |   `-- SKILL.md
    |   |   |-- notion/
    |   |   |   `-- SKILL.md
    |   |   |-- roblox_studio/
    |   |   |   `-- SKILL.md
    |   |   |-- security_audit/
    |   |   |   `-- SKILL.md
    |   |   |-- setup_new_acpx_key/
    |   |   |   `-- SKILL.md
    |   |   |-- skill_creator/
    |   |   |   |-- SKILL.md
    |   |   |   `-- scripts/
    |   |   |       `-- quick_validate.py
    |   |   |-- slack/
    |   |   |   `-- SKILL.md
    |   |   |-- summarize/
    |   |   |   `-- SKILL.md
    |   |   |-- tlamatini_allowed_hosts_tighten/
    |   |   |   `-- SKILL.md
    |   |   |-- tlamatini_csrf_exempt_audit/
    |   |   |   `-- SKILL.md
    |   |   |-- tlamatini_exec_report_row_adder/
    |   |   |   `-- SKILL.md
    |   |   |-- tlamatini_flow_from_objective/
    |   |   |   `-- SKILL.md
    |   |   |-- tlamatini_flw_doctor/</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32/35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SKILL.md
    |   |   |-- tlamatini_new_acp_agent/
    |   |   |   `-- SKILL.md
    |   |   |-- tlamatini_planner_trace_replay/
    |   |   |   `-- SKILL.md
    |   |   |-- tlamatini_static_version_bumper/
    |   |   |   `-- SKILL.md
    |   |   |-- todoist/
    |   |   |   `-- SKILL.md
    |   |   |-- trello/
    |   |   |   `-- SKILL.md
    |   |   `-- weather/
    |   |       `-- SKILL.md
    |   |-- static/
    |   |   `-- agent/
    |   |       |-- css/
    |   |       |   |-- access_keys_wizard.css
    |   |       |   |-- agent_page.css
    |   |       |   |-- agentic_control_panel.css
    |   |       |   |-- avatar.css
    |   |       |   |-- contacts_dialog.css
    |   |       |   |-- external_mcps_dialog.css
    |   |       |   |-- login.css
    |   |       |   |-- skills_dialog.css
    |   |       |   |-- tools_dialog.css
    |   |       |   `-- welcome.css
    |   |       |-- img/
    |   |       |   |-- spinner.svg
    |   |       |   |-- Tlamatini.ico
    |   |       |   `-- avatar/
    |   |       |       |-- ec_mc.jpg</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33/35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ec_mo.jpg
    |   |       |       |-- eo_mc.jpg
    |   |       |       `-- eo_mo.jpg
    |   |       |-- js/
    |   |       |   |-- access_keys_wizard.js
    |   |       |   |-- acp-agent-connectors.js
    |   |       |   |-- acp-canvas-core.js
    |   |       |   |-- acp-canvas-undo.js
    |   |       |   |-- acp-control-buttons.js
    |   |       |   |-- acp-file-io.js
    |   |       |   |-- acp-flow-snapshot.js
    |   |       |   |-- acp-globals.js
    |   |       |   |-- acp-layout.js
    |   |       |   |-- acp-parametrizer-dialog.js
    |   |       |   |-- acp-running-state.js
    |   |       |   |-- acp-session.js
    |   |       |   |-- acp-undo-manager.js
    |   |       |   |-- acp-validate.js
    |   |       |   |-- agent_page_canvas.js
    |   |       |   |-- agent_page_chat.js
    |   |       |   |-- agent_page_context.js
    |   |       |   |-- agent_page_dialogs.js
    |   |       |   |-- agent_page_init.js
    |   |       |   |-- agent_page_layout.js
    |   |       |   |-- agent_page_state.js
    |   |       |   |-- agent_page_ui.js
    |   |       |   |-- agentic_control_panel.js
    |   |       |   |-- avatar.js
    |   |       |   |-- canvas_item_dialog.js
    |   |       |   |-- chat_image_paste.js
    |   |       |   |-- chat_page_runtime_poller.js</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34/35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contacts_dialog.js
    |   |       |   |-- contextual_menus.js
    |   |       |   |-- external_mcps_dialog.js
    |   |       |   |-- shared-runtime-dialogs.js
    |   |       |   |-- skills_dialog.js
    |   |       |   `-- tools_dialog.js
    |   |       |-- sounds/
    |   |       |   |-- hypervisor_alert.wav
    |   |       |   `-- notification.wav
    |   |       `-- video/
    |   |           `-- XAIHT-Tlamatini.mp4
    |   |-- templates/
    |   |   `-- agent/
    |   |       |-- agent_page.html
    |   |       |-- agentic_control_panel.html
    |   |       |-- login.html
    |   |       `-- welcome.html
    |   |-- test_fixtures/
    |   |   `-- talker_orpheus_tokens.txt
    |   `-- TlamatiniSourceCode/
    |       `-- README.md
    |-- DB/
    |   |-- Older/
    |   |   `-- README.md
    |   `-- ToLoad/
    |       `-- README.md
    |-- jd-cli/
    |   |-- jd-cli.bat</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35/35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jd-cli.jar
    |-- tests_e2e/
    |   |-- oob_child_helper.py
    |   |-- README.md
    |   |-- test_create_flow_visual.py
    |   |-- test_oob_browser_visible.py
    |   |-- test_oob_namu_unit.py
    |   |-- test_self_healing_visual.py
    |   |-- test_voice_visual.py
    |   |-- Tlamatini-Overnight-100.py
    |   `-- Tlamatini-Whatsapper-Daily-Tests.py
    `-- tlamatini/
        |-- __init__.py
        |-- asgi.py
        |-- context_processors.py
        |-- logging_filters.py
        |-- middleware.py
        |-- settings.py
        |-- urls.py
        `-- wsgi.py</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FUTURE REFRESH DISCIPLINE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Keep Docs Excellent</a:t>
            </a:r>
          </a:p>
        </p:txBody>
      </p:sp>
      <p:sp>
        <p:nvSpPr>
          <p:cNvPr id="9" name="Rounded Rectangle 8"/>
          <p:cNvSpPr/>
          <p:nvPr/>
        </p:nvSpPr>
        <p:spPr>
          <a:xfrm>
            <a:off x="777240" y="1600200"/>
            <a:ext cx="1056132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158984" cy="310896"/>
          </a:xfrm>
          <a:prstGeom prst="rect">
            <a:avLst/>
          </a:prstGeom>
          <a:noFill/>
        </p:spPr>
        <p:txBody>
          <a:bodyPr wrap="square" anchor="t">
            <a:spAutoFit/>
          </a:bodyPr>
          <a:lstStyle/>
          <a:p>
            <a:pPr algn="l"/>
            <a:r>
              <a:rPr sz="1400" b="1">
                <a:solidFill>
                  <a:srgbClr val="C48052"/>
                </a:solidFill>
                <a:latin typeface="Aptos"/>
              </a:rPr>
              <a:t>Recommended practice</a:t>
            </a:r>
          </a:p>
        </p:txBody>
      </p:sp>
      <p:sp>
        <p:nvSpPr>
          <p:cNvPr id="12" name="TextBox 11"/>
          <p:cNvSpPr txBox="1"/>
          <p:nvPr/>
        </p:nvSpPr>
        <p:spPr>
          <a:xfrm>
            <a:off x="978408" y="2258568"/>
            <a:ext cx="10158984" cy="3401568"/>
          </a:xfrm>
          <a:prstGeom prst="rect">
            <a:avLst/>
          </a:prstGeom>
          <a:noFill/>
        </p:spPr>
        <p:txBody>
          <a:bodyPr wrap="square" anchor="t" lIns="38100" rIns="38100" tIns="25400" bIns="25400">
            <a:normAutofit/>
          </a:bodyPr>
          <a:lstStyle/>
          <a:p>
            <a:pPr>
              <a:spcAft>
                <a:spcPts val="400"/>
              </a:spcAft>
              <a:defRPr sz="1700">
                <a:solidFill>
                  <a:srgbClr val="B4BAAE"/>
                </a:solidFill>
                <a:latin typeface="Aptos"/>
              </a:defRPr>
            </a:pPr>
            <a:r>
              <a:t>Regenerate the PDF and deck whenever README, architecture, agent catalog, line inventory, or packaging behavior changes.</a:t>
            </a:r>
          </a:p>
          <a:p>
            <a:pPr>
              <a:spcAft>
                <a:spcPts val="400"/>
              </a:spcAft>
              <a:defRPr sz="1700">
                <a:solidFill>
                  <a:srgbClr val="B4BAAE"/>
                </a:solidFill>
                <a:latin typeface="Aptos"/>
              </a:defRPr>
            </a:pPr>
            <a:r>
              <a:t>Keep the PDF exhaustive and evidence-heavy; keep the PPT visual, split dense appendices, and audit geometry before delivery.</a:t>
            </a:r>
          </a:p>
          <a:p>
            <a:pPr>
              <a:spcAft>
                <a:spcPts val="400"/>
              </a:spcAft>
              <a:defRPr sz="1700">
                <a:solidFill>
                  <a:srgbClr val="B4BAAE"/>
                </a:solidFill>
                <a:latin typeface="Aptos"/>
              </a:defRPr>
            </a:pPr>
            <a:r>
              <a:t>Use the new Skills in `.codex/skills/` so future refreshes follow the same no-overlap and full-dossier rules.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