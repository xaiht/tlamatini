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XAIHT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Tlamatini: eXtended Artificial Intelligence Humanly Tempered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Code-verified deck rebuilt from the current source tree, the refreshed README, the current PDF extraction, and focused April 1, 2026 test runs.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74519"/>
            <a:ext cx="3648456" cy="12344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anchor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HEAD 29f081e23748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 tracked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templates, 102 app routes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74519"/>
            <a:ext cx="3648456" cy="123444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Why this refresh exists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Previous deck anchor: e3d77576b0c9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Previous PDF anchor: 47e19f6f45d3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April 1 chat runtime layer was not present in the old deck.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74519"/>
            <a:ext cx="3648456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Evidence used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Current codebase and last commit diff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Refreshed README.md and current PDF 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Focused agent.tests reruns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401568"/>
            <a:ext cx="11365992" cy="19659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73B6C"/>
                </a:solidFill>
                <a:latin typeface="Segoe UI"/>
              </a:rPr>
              <a:t>This version replaces a March 29 narrative with an April 1 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64557"/>
                </a:solidFill>
                <a:latin typeface="Segoe UI"/>
              </a:rPr>
              <a:t>The deck now centers the new main-chat multi-turn executor, the wrapped chat-agent runtime layer, ChatAgentRun persistence, ACP isolation from __chat_runs__, and the recomputed 324 / 194 / 24 / 55 / 102 / 13 repository shape.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364557"/>
                </a:solidFill>
                <a:latin typeface="Segoe UI"/>
              </a:rPr>
              <a:t>Every count on this deck comes from the live tree, not from the previous PowerPoint.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MAP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Agenda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narrative moves from evidence anchors into product surface, architecture, ACP behavior, agent inventory, and current caveats.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01 Evidence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Anchors, stale artifacts,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what changed in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April 1 commit.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02 Product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What Tlamatini is,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who it serves, and which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surfaces users operate.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5" y="182880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03 Runtime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Architecture, RAG, config,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WebSocket control plane,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tool behavior.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04 Main Chat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MultiTurnToolAgentExecutor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and the wrapped chat-agent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runtime layer.</a:t>
            </a:r>
          </a:p>
        </p:txBody>
      </p:sp>
      <p:sp>
        <p:nvSpPr>
          <p:cNvPr id="13" name="CARD_12"/>
          <p:cNvSpPr/>
          <p:nvPr/>
        </p:nvSpPr>
        <p:spPr>
          <a:xfrm>
            <a:off x="4270248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05 ACP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Canvas, pause/stop/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reanimation, validation,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Barrier, and FlowBacker.</a:t>
            </a:r>
          </a:p>
        </p:txBody>
      </p:sp>
      <p:sp>
        <p:nvSpPr>
          <p:cNvPr id="14" name="CARD_13"/>
          <p:cNvSpPr/>
          <p:nvPr/>
        </p:nvSpPr>
        <p:spPr>
          <a:xfrm>
            <a:off x="8129015" y="3566160"/>
            <a:ext cx="3648456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06 Alignment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README/PDF/deck status,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focused tests, and open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metadata mismatches.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609344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EVIDENCE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What was stale and what is now the truth anchor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Code, README, PDF extraction, and the previous deck were all audited before rebuilding the narrative.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3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4173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code truth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HEAD 29f081e23748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 tracked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templates and 102 app routes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41732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PDF before deck refresh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 extracted: 47e19f6f45d3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Already refreshed to April 1 facts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Used as an audit input, not as source authority over code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41732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Previous deck before overwrite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Anchor audited: e3d77576b0c9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Still March 29 narrative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Did not cover the April 1 chat-runtime additions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566160"/>
            <a:ext cx="1136599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173B6C"/>
                </a:solidFill>
                <a:latin typeface="Segoe UI"/>
              </a:rPr>
              <a:t>The April 1 commit changed the chat surface more than the ACP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364557"/>
                </a:solidFill>
                <a:latin typeface="Segoe UI"/>
              </a:rPr>
              <a:t>Last commit title: Implemented the multi-turn agentic loop in main chat, I hope it works so, so, by angelahack1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364557"/>
                </a:solidFill>
                <a:latin typeface="Segoe UI"/>
              </a:rPr>
              <a:t>The new truth set is the source tree plus focused verification, then README, PDF, and deck are updated to match that truth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609344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SNAPSHOT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Current code-verified system shape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These counts were recomputed directly from the live repository and form the baseline for the refreshed README, PDF, and deck.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4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Tracked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324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Python footprint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194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56,511 lines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5" y="182880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JavaScript footprint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24 files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11,866 lines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Agent templates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55 verified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excluding pools/__pycache__</a:t>
            </a:r>
          </a:p>
        </p:txBody>
      </p:sp>
      <p:sp>
        <p:nvSpPr>
          <p:cNvPr id="13" name="CARD_12"/>
          <p:cNvSpPr/>
          <p:nvPr/>
        </p:nvSpPr>
        <p:spPr>
          <a:xfrm>
            <a:off x="4270248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Routing surface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102 app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 project + 1 WS</a:t>
            </a:r>
          </a:p>
        </p:txBody>
      </p:sp>
      <p:sp>
        <p:nvSpPr>
          <p:cNvPr id="14" name="CARD_13"/>
          <p:cNvSpPr/>
          <p:nvPr/>
        </p:nvSpPr>
        <p:spPr>
          <a:xfrm>
            <a:off x="8129015" y="3337560"/>
            <a:ext cx="3648456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Database models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13 models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including ChatAgentRun</a:t>
            </a:r>
          </a:p>
        </p:txBody>
      </p:sp>
      <p:sp>
        <p:nvSpPr>
          <p:cNvPr id="15" name="CARD_14"/>
          <p:cNvSpPr/>
          <p:nvPr/>
        </p:nvSpPr>
        <p:spPr>
          <a:xfrm>
            <a:off x="411480" y="4892040"/>
            <a:ext cx="11365992" cy="8686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650" b="1">
                <a:solidFill>
                  <a:srgbClr val="173B6C"/>
                </a:solidFill>
                <a:latin typeface="Segoe UI"/>
              </a:rPr>
              <a:t>Readout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364557"/>
                </a:solidFill>
                <a:latin typeface="Segoe UI"/>
              </a:rPr>
              <a:t>The repo is now materially larger than the deck it replaced: more files, more agents, more routes, and a new chat runtime layer that changes how the main UI actually behaves.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PRODUCT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What Tlamatini is and where users touch it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application is no longer describable as only a chat UI; it is a local-first technical platform with both conversational and visual automation surfaces.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5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1600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Definition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Django + Channels application for technical assistance, code-aware retrieval, tool use, visual workflow orchestration, and Windows-local operation.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It combines authenticated chat, persistent context, workflow agents, RAG, MCP integrations, and packaging tooling in one product.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1600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Visible user surfaces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Authenticated chat and canvas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Agentic Control Panel / Flow Designer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Open in... desktop integrations and packaged Windows release flow</a:t>
            </a:r>
          </a:p>
        </p:txBody>
      </p:sp>
      <p:sp>
        <p:nvSpPr>
          <p:cNvPr id="11" name="CARD_10"/>
          <p:cNvSpPr/>
          <p:nvPr/>
        </p:nvSpPr>
        <p:spPr>
          <a:xfrm>
            <a:off x="411480" y="3703320"/>
            <a:ext cx="5559552" cy="14173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Primary users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Developers, operators, analysts, and technical users who need local context, file control, repeatable automation, and explicit supervision surfaces.</a:t>
            </a:r>
          </a:p>
        </p:txBody>
      </p:sp>
      <p:sp>
        <p:nvSpPr>
          <p:cNvPr id="12" name="CARD_11"/>
          <p:cNvSpPr/>
          <p:nvPr/>
        </p:nvSpPr>
        <p:spPr>
          <a:xfrm>
            <a:off x="6217920" y="3703320"/>
            <a:ext cx="5559552" cy="14173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Value proposition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RAG aware of local code and files, a chat surface that can use tools, and a workflow canvas that externalizes long-running automation into visible agent graphs.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204825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ARCHITECTURE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Layers and request path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runtime spans browser UI, Django/Channels state, the retrieval subsystem, tool-enabled chat, and per-session workflow pools.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6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Browser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Chat UI, canvas,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ACP, Open in...</a:t>
            </a:r>
          </a:p>
        </p:txBody>
      </p:sp>
      <p:sp>
        <p:nvSpPr>
          <p:cNvPr id="10" name="CARD_9"/>
          <p:cNvSpPr/>
          <p:nvPr/>
        </p:nvSpPr>
        <p:spPr>
          <a:xfrm>
            <a:off x="2660904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Django + Channels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views.py, urls.py,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AgentConsumer,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SessionState</a:t>
            </a:r>
          </a:p>
        </p:txBody>
      </p:sp>
      <p:sp>
        <p:nvSpPr>
          <p:cNvPr id="11" name="CARD_10"/>
          <p:cNvSpPr/>
          <p:nvPr/>
        </p:nvSpPr>
        <p:spPr>
          <a:xfrm>
            <a:off x="4910328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RAG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Loaders, FAISS,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BM25, RRF,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budgeting</a:t>
            </a:r>
          </a:p>
        </p:txBody>
      </p:sp>
      <p:sp>
        <p:nvSpPr>
          <p:cNvPr id="12" name="CARD_11"/>
          <p:cNvSpPr/>
          <p:nvPr/>
        </p:nvSpPr>
        <p:spPr>
          <a:xfrm>
            <a:off x="7159752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Unified chat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Tool calling,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MultiTurnToolAgentExecutor,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MCP surface</a:t>
            </a:r>
          </a:p>
        </p:txBody>
      </p:sp>
      <p:sp>
        <p:nvSpPr>
          <p:cNvPr id="13" name="CARD_12"/>
          <p:cNvSpPr/>
          <p:nvPr/>
        </p:nvSpPr>
        <p:spPr>
          <a:xfrm>
            <a:off x="9409176" y="1828800"/>
            <a:ext cx="2121408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Workflow runtime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Pools, logs, pids,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reanim files,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364557"/>
                </a:solidFill>
                <a:latin typeface="Segoe UI"/>
              </a:rPr>
              <a:t>__chat_runs__</a:t>
            </a:r>
          </a:p>
        </p:txBody>
      </p:sp>
      <p:sp>
        <p:nvSpPr>
          <p:cNvPr id="14" name="CARD_13"/>
          <p:cNvSpPr/>
          <p:nvPr/>
        </p:nvSpPr>
        <p:spPr>
          <a:xfrm>
            <a:off x="411480" y="3611880"/>
            <a:ext cx="11365992" cy="17830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50" b="1">
                <a:solidFill>
                  <a:srgbClr val="173B6C"/>
                </a:solidFill>
                <a:latin typeface="Segoe UI"/>
              </a:rPr>
              <a:t>Real request path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1. Authenticated WebSocket request enters AgentConsumer.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2. Prior session context and UI-selected files/directories are restored if present.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3. The system chooses a chain and may run hybrid retrieval before inference.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4. The unified chat path can invoke tools across multiple turns instead of a single pass.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5. Results, status, and persisted side effects return through the same UI surface.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RUNTIME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Checked-in defaults and control surface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repo is local-first in posture, but the checked-in model identifiers show a mixed cloud/local runtime stance today.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7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57600" cy="32461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model defaults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embeding-model: qwen3-embedding:8b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chained-model: glm-5:cloud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unified_agent_model: glm-5:cloud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image_interpreter_model: qwen3.5:cloud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internet/web/mcp search: glm-5:cloud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57600" cy="32461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HTTP and route families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102 app routes, 3 project routes, 1 WebSocket route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update_* 52 | load_* 9 | check_* 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execute_* 4 | save_* 4 | clear_*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delete_* 2 | detect_* 1 | open_* 1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461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WebSocket client control plane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17 explicit client message types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Context: set/unset canvas, directory, and file context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Runtime: cancel-current, reconnect, clean-history-and-reconnect, cancel-all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Config: set-file-omissions, set-mcps, set-tools, set-agents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Other: save-files-from-db, view-context-dir-in-canvas, internet on/off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719072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MAIN CHAT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The multi-turn tool loop added in the April 1 commit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chat backend now acts more like an explicit agent runtime and less like a single opaque prompt-response call.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8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1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Enabled tools come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from get_mcp_tools().</a:t>
            </a:r>
          </a:p>
        </p:txBody>
      </p:sp>
      <p:sp>
        <p:nvSpPr>
          <p:cNvPr id="10" name="CARD_9"/>
          <p:cNvSpPr/>
          <p:nvPr/>
        </p:nvSpPr>
        <p:spPr>
          <a:xfrm>
            <a:off x="2660904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2 Bind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configured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chat model is bound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to the tool surface.</a:t>
            </a:r>
          </a:p>
        </p:txBody>
      </p:sp>
      <p:sp>
        <p:nvSpPr>
          <p:cNvPr id="11" name="CARD_10"/>
          <p:cNvSpPr/>
          <p:nvPr/>
        </p:nvSpPr>
        <p:spPr>
          <a:xfrm>
            <a:off x="4910328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3 Invoke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model sees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user request plus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system prompt.</a:t>
            </a:r>
          </a:p>
        </p:txBody>
      </p:sp>
      <p:sp>
        <p:nvSpPr>
          <p:cNvPr id="12" name="CARD_11"/>
          <p:cNvSpPr/>
          <p:nvPr/>
        </p:nvSpPr>
        <p:spPr>
          <a:xfrm>
            <a:off x="7159752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4 Execute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tool_calls are run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in-process and appended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as ToolMessage results.</a:t>
            </a:r>
          </a:p>
        </p:txBody>
      </p:sp>
      <p:sp>
        <p:nvSpPr>
          <p:cNvPr id="13" name="CARD_12"/>
          <p:cNvSpPr/>
          <p:nvPr/>
        </p:nvSpPr>
        <p:spPr>
          <a:xfrm>
            <a:off x="9409176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5 Finish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The loop stops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a final answer or the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20">
                <a:solidFill>
                  <a:srgbClr val="364557"/>
                </a:solidFill>
                <a:latin typeface="Segoe UI"/>
              </a:rPr>
              <a:t>iteration cap.</a:t>
            </a:r>
          </a:p>
        </p:txBody>
      </p:sp>
      <p:sp>
        <p:nvSpPr>
          <p:cNvPr id="14" name="CARD_13"/>
          <p:cNvSpPr/>
          <p:nvPr/>
        </p:nvSpPr>
        <p:spPr>
          <a:xfrm>
            <a:off x="411480" y="3611880"/>
            <a:ext cx="5559552" cy="16459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code details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create_unified_agent() now builds MultiTurnToolAgentExecutor.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default cap is 20 turns unless unified_agent_max_iterations is configured.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prompt contract explicitly tells the model to poll wrapped runtime state by run_id instead of inventing success.</a:t>
            </a:r>
          </a:p>
        </p:txBody>
      </p:sp>
      <p:sp>
        <p:nvSpPr>
          <p:cNvPr id="15" name="CARD_14"/>
          <p:cNvSpPr/>
          <p:nvPr/>
        </p:nvSpPr>
        <p:spPr>
          <a:xfrm>
            <a:off x="6217920" y="3611880"/>
            <a:ext cx="5559552" cy="164592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Why this matters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main chat can now perform longer tool-mediated work, including launching wrapped workflow-agent runtimes and revisiting them through follow-up status/log/stop tools inside the same conversation.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2377439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WRAPPED RUNTIME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How chat launches isolated workflow-agent copies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new runtime layer lets the chat surface launch selected agent templates without mutating the templates in place.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9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Launcher call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User request reaches 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chat_agent_* tool.</a:t>
            </a:r>
          </a:p>
        </p:txBody>
      </p:sp>
      <p:sp>
        <p:nvSpPr>
          <p:cNvPr id="10" name="CARD_9"/>
          <p:cNvSpPr/>
          <p:nvPr/>
        </p:nvSpPr>
        <p:spPr>
          <a:xfrm>
            <a:off x="2660904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Copy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Template agent is copied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under __chat_runs__.</a:t>
            </a:r>
          </a:p>
        </p:txBody>
      </p:sp>
      <p:sp>
        <p:nvSpPr>
          <p:cNvPr id="11" name="CARD_10"/>
          <p:cNvSpPr/>
          <p:nvPr/>
        </p:nvSpPr>
        <p:spPr>
          <a:xfrm>
            <a:off x="4910328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Apply config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Natural-language key=value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assignments patch config.yaml.</a:t>
            </a:r>
          </a:p>
        </p:txBody>
      </p:sp>
      <p:sp>
        <p:nvSpPr>
          <p:cNvPr id="12" name="CARD_11"/>
          <p:cNvSpPr/>
          <p:nvPr/>
        </p:nvSpPr>
        <p:spPr>
          <a:xfrm>
            <a:off x="7159752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Spawn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Detached subprocess starts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from the runtime copy.</a:t>
            </a:r>
          </a:p>
        </p:txBody>
      </p:sp>
      <p:sp>
        <p:nvSpPr>
          <p:cNvPr id="13" name="CARD_12"/>
          <p:cNvSpPr/>
          <p:nvPr/>
        </p:nvSpPr>
        <p:spPr>
          <a:xfrm>
            <a:off x="9409176" y="1828800"/>
            <a:ext cx="2121408" cy="13716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Persist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ChatAgentRun stores run_id,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364557"/>
                </a:solidFill>
                <a:latin typeface="Segoe UI"/>
              </a:rPr>
              <a:t>paths, pid, and status.</a:t>
            </a:r>
          </a:p>
        </p:txBody>
      </p:sp>
      <p:sp>
        <p:nvSpPr>
          <p:cNvPr id="14" name="CARD_13"/>
          <p:cNvSpPr/>
          <p:nvPr/>
        </p:nvSpPr>
        <p:spPr>
          <a:xfrm>
            <a:off x="411480" y="3611880"/>
            <a:ext cx="5559552" cy="17830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Surface area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32 wrapped chat-agent launchers now exist.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4 are flagged long-running in the registry.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Families cover execution, DevOps, data access, files, comms, crawling, monitoring, prompting, and Kyber operations.</a:t>
            </a:r>
          </a:p>
        </p:txBody>
      </p:sp>
      <p:sp>
        <p:nvSpPr>
          <p:cNvPr id="15" name="CARD_14"/>
          <p:cNvSpPr/>
          <p:nvPr/>
        </p:nvSpPr>
        <p:spPr>
          <a:xfrm>
            <a:off x="6217920" y="3611880"/>
            <a:ext cx="5559552" cy="17830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Lifecycle follow-up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chat_agent_run_list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chat_agent_run_status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chat_agent_run_log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chat_agent_run_stop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Returned JSON includes run_id, status, runtime_dir, log_path, and log_excerpt.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Agentic Control Panel / Flow Designer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ACP remains the defining differentiator: a real drag-and-drop orchestration surface backed by routes, pools, logs, and deployment artifacts.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10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5087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Canvas behavior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Drag-and-drop agent placement, connection wiring, .flw save/load, undo/redo, logs, LEDs, and restart controls.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50876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Backend surface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52 update_* routes drive canvas auto-configuration.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Pause, reanimation, validation, and session management are all real views, not frontend-only affordances.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50876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Deployed runtime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Flows deploy into per-session pools with logs, pid files, reanimation artifacts, and agent-local config state.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703320"/>
            <a:ext cx="11365992" cy="16916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173B6C"/>
                </a:solidFill>
                <a:latin typeface="Segoe UI"/>
              </a:rPr>
              <a:t>Operational reading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364557"/>
                </a:solidFill>
                <a:latin typeface="Segoe UI"/>
              </a:rPr>
              <a:t>The ACP is not a conceptual diagrammer. It is the runtime control surface for long-running agent graphs, with stateful deployment, process management, and topology validation behind each visible 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Pause, Stop, and Reanimation of a Flow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correct behavior is derived from the current ACP code path and the refreshed README, not from older documentation snapshots.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1828800"/>
          </a:xfrm>
          <a:prstGeom prst="roundRect">
            <a:avLst/>
          </a:prstGeom>
          <a:solidFill>
            <a:srgbClr val="FBF1DB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Pause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Captures the live session set in paused_agents.reanim.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Kills the session processes without discarding logs or reanimation files.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This is the credit-control action for long-running flows with non-deterministic agents.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182880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Resume / Reanimate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Start from PAUSED reanimates instead of deploying fresh.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Pause pressed again while already paused also enters the resume path.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Relaunched agents receive AGENT_REANIMATED=1 and reload their reanim* state.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182880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Stop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Cuts execution and closes the reanimation path.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next Start is a fresh run rather than a resume.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The ACP resets visible flow state and clears restart context where appropriate.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3977639"/>
            <a:ext cx="11365992" cy="14173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Visual semantics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LEDs are green for running, yellow blinking for paused, gray for stopped/idle, and red when a node expected to be running is not alive. Pause saves further model/API spend while preserving the flow's reanimation path; Stop ends that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18872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ACP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Validation rules, Barrier, and FlowBacker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current canvas implements stricter topology rules and now includes a real synchronization node.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12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333756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validation shape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Starter cannot have incoming edges.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Ender can only output to Cleaner or FlowBacker.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Cleaner accepts only Ender or FlowBacker inputs, never both in one branch.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FlowBacker accepts Starter, Ender, Forker, or Asker inputs and can only output to Cleaner.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Self-connections, missing inputs on non-Starters, and dangling references are still rejected.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333756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Barrier and end-of-flow control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Barrier waits for all configured source arrivals before releasing its downstream targets.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Each source launch creates a barrier input process; the first arrival becomes the output coordinator.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364557"/>
                </a:solidFill>
                <a:latin typeface="Segoe UI"/>
              </a:rPr>
              <a:t>FlowBacker formalizes return/recycle logic near the end of a flow and is now part of validation rules rather than an undocumented add-on.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389888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AGENTS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Verified agent map I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Every name below is present in the current agent template tree and contributes to the code-verified count of 55 templates.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13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6118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Control and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starter, ender, stopper, cleaner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counter, raiser, sleeper, forker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asker, and, or, croner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barrier, flowbacker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6118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Monitoring and communication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monitor_log, monitor_netstat, notifier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summarizer, flowhypervisor, emailer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recmailer, whatsapper, telegramer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telegramrx, pser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6118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Execution and infrastructure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executer, pythonxer, sqler, mongoxer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ssher, scper, gitter, dockerer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kuberneter, jenkinser, shoter, mouser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mover, deleter, j_decompiler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389888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AGENTS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Verified agent map II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second half of the map explains why Tlamatini behaves like an orchestration platform rather than a single-assistant shell.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14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2240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Ingress and integration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apirer, crawler, gatewayer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gateway_relayer, node_manager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2240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Files and interpretation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file_creator, file_extractor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file_interpreter, image_interpreter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flowcreator, prompter, parametrizer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2240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Crypto primitives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kyber_keygen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kyber_cipher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>
                <a:solidFill>
                  <a:srgbClr val="364557"/>
                </a:solidFill>
                <a:latin typeface="Segoe UI"/>
              </a:rPr>
              <a:t>kyber_decipher</a:t>
            </a:r>
          </a:p>
        </p:txBody>
      </p:sp>
      <p:sp>
        <p:nvSpPr>
          <p:cNvPr id="12" name="CARD_11"/>
          <p:cNvSpPr/>
          <p:nvPr/>
        </p:nvSpPr>
        <p:spPr>
          <a:xfrm>
            <a:off x="411480" y="4389120"/>
            <a:ext cx="11365992" cy="1005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What the inventory means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The current tree exposes 55 templates, while the main chat wraps a selected subset of 32 of them for isolated runtime launch from the conversational surface.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204825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PARAMETRIZER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Structured-output wiring as a first-class runtime feature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README, code, and deck now align on Parametrizer's actual parser surface and deployment behavior.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15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11365992" cy="118872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50" b="1">
                <a:solidFill>
                  <a:srgbClr val="173B6C"/>
                </a:solidFill>
                <a:latin typeface="Segoe UI"/>
              </a:rPr>
              <a:t>What it does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Parametrizer forms a one-to-one source/target bridge: parse structured source output, map fields to target config.yaml, write the target config, then start the target agent sequentially for each output block.</a:t>
            </a:r>
          </a:p>
        </p:txBody>
      </p:sp>
      <p:sp>
        <p:nvSpPr>
          <p:cNvPr id="10" name="CARD_9"/>
          <p:cNvSpPr/>
          <p:nvPr/>
        </p:nvSpPr>
        <p:spPr>
          <a:xfrm>
            <a:off x="411480" y="3337560"/>
            <a:ext cx="5559552" cy="2057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15 supported source parsers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apirer, gitter, kuberneter, crawler, summarizer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file_interpreter, image_interpreter, file_extractor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prompter, flowcreator, kyber_keygen, kyber_cipher, kyber_decipher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gatewayer, gateway_relayer</a:t>
            </a:r>
          </a:p>
        </p:txBody>
      </p:sp>
      <p:sp>
        <p:nvSpPr>
          <p:cNvPr id="11" name="CARD_10"/>
          <p:cNvSpPr/>
          <p:nvPr/>
        </p:nvSpPr>
        <p:spPr>
          <a:xfrm>
            <a:off x="6217920" y="3337560"/>
            <a:ext cx="5559552" cy="205740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Important code nuance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The interconnection-scheme.csv is saved for the deployed Parametrizer pool instance.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It is not shipped as a static template file inside agents/parametrizer/.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That distinction matters when auditing live flow behavior versus template directories.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STATE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Persistence, session behavior, and runtime artifacts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runtime is stateful across chat, ACP flows, and wrapped chat-agent runs, but the state is segmented by purpose and directory.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16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83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Key models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13 total Django models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SessionState persists user context across reconnects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AgentProcess tracks flow PIDs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ChatAgentRun tracks wrapped chat-agent runs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Runtime artifacts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.log and .pid files per deployed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paused_agents.reanim for paused ACP sessions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reanim.pos / reanim.counter style state files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>
                <a:solidFill>
                  <a:srgbClr val="364557"/>
                </a:solidFill>
                <a:latin typeface="Segoe UI"/>
              </a:rPr>
              <a:t>pools for deployed flows and __chat_runs__ for wrapped chat runtimes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83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Session and startup behavior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Authenticated WebSocket plus session-restored 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17 explicit client control messages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App startup clears AgentProcess and ChatAgentRun and repopulates Agent metadata from the live template tree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719072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HARDENING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Security posture, isolation, and current caveats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correct narrative is neither 'wide open' nor 'fully closed': the code has real controls, but the focused test run still shows concrete issues.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17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29184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Controls present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secure_get / secure_post around critical views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Authenticated WebSocket consumer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Path guards and validation on tool/runtime inputs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Prompt-level wrapped-agent security hints in rag/interface.py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2918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Isolation present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Per-session flow pools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Wrapped runtime copies instead of template mutation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>
                <a:solidFill>
                  <a:srgbClr val="364557"/>
                </a:solidFill>
                <a:latin typeface="Segoe UI"/>
              </a:rPr>
              <a:t>ACP status/kill scans intentionally skip __chat_runs__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9184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Caveat posture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The focused suite is not fully green.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One WebSocket event-loop failure remains.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Default CP1252 console runs still hit UnicodeEncodeError in rag/interface.py debug output.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RELEASE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Configuration, packaging, and desktop distribution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Tlamatini is built to run locally and can be packaged for Windows distribution; it is not only a development-time repository.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18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8328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Configuration posture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config.json centralizes models, retrieval, tool, and connector defaults.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MCP system metrics use a local WebSocket service and file search uses local gRPC.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>
                <a:solidFill>
                  <a:srgbClr val="364557"/>
                </a:solidFill>
                <a:latin typeface="Segoe UI"/>
              </a:rPr>
              <a:t>Current checked-in model ids still point several runtime roles at cloud identifiers.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832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Windows packaging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build.py creates pkg.zip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build_uninstaller.py creates Uninstaller.exe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build_installer.py assembles dist/Tlamatini_Release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8328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Desktop-facing surfaces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detect_installed_apps and open_in_app support local tool handoff.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The web interface therefore coordinates local files, local processes, and packaged desktop distribution together.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719072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ALIGNMENT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README, PDF, and deck after the April 1 refresh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goal of this pass is not optimism; it is documentary honesty across all three artifacts.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19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33756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README now aligned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Documents MultiTurnToolAgentExecutor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Documents wrapped chat-agent runtime tools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Uses current 55 / 102 / 13 counts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Uses current WebSocket message names and Parametrizer parser surface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33756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PDF now aligned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Current PDF is an April 1 code-verified summary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It records the new chat runtime layer and the current repository shape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364557"/>
                </a:solidFill>
                <a:latin typeface="Segoe UI"/>
              </a:rPr>
              <a:t>It superseded the prior PDF anchor 47e19f6f45d3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33756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Remaining metadata mismatches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README and LICENSE describe GPLv3 while package.json still says ISC.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README clone instructions point at github.com/XAIHT/Tlamatini while package.json still points at angelahack1/Tlamatini.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90">
                <a:solidFill>
                  <a:srgbClr val="364557"/>
                </a:solidFill>
                <a:latin typeface="Segoe UI"/>
              </a:rPr>
              <a:t>Historical changelog bullets should not be treated as current-state inventory.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499616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QUALITY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Focused tests and current open issues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refreshed artifacts report the known issues directly instead of hiding them behind a generic success narrative.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20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5559552" cy="1965960"/>
          </a:xfrm>
          <a:prstGeom prst="roundRect">
            <a:avLst/>
          </a:prstGeom>
          <a:solidFill>
            <a:srgbClr val="E7F4EA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UTF-8 console rerun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26 tests, 25 passed, 1 error.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Remaining failure: test_anonymous_websocket_connection_is_rejected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Error: RuntimeError: no running event loop</a:t>
            </a:r>
          </a:p>
        </p:txBody>
      </p:sp>
      <p:sp>
        <p:nvSpPr>
          <p:cNvPr id="10" name="CARD_9"/>
          <p:cNvSpPr/>
          <p:nvPr/>
        </p:nvSpPr>
        <p:spPr>
          <a:xfrm>
            <a:off x="6217920" y="1828800"/>
            <a:ext cx="5559552" cy="1965960"/>
          </a:xfrm>
          <a:prstGeom prst="roundRect">
            <a:avLst/>
          </a:prstGeom>
          <a:solidFill>
            <a:srgbClr val="FBE7E7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Default console rerun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26 tests, 22 passed, 4 errors.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Same WebSocket event-loop failure remains.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364557"/>
                </a:solidFill>
                <a:latin typeface="Segoe UI"/>
              </a:rPr>
              <a:t>Three extra failures are CP1252 UnicodeEncodeError cases from rag/interface.py debug prints.</a:t>
            </a:r>
          </a:p>
        </p:txBody>
      </p:sp>
      <p:sp>
        <p:nvSpPr>
          <p:cNvPr id="11" name="CARD_10"/>
          <p:cNvSpPr/>
          <p:nvPr/>
        </p:nvSpPr>
        <p:spPr>
          <a:xfrm>
            <a:off x="411480" y="4160520"/>
            <a:ext cx="11365992" cy="11887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Interpretation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0">
                <a:solidFill>
                  <a:srgbClr val="364557"/>
                </a:solidFill>
                <a:latin typeface="Segoe UI"/>
              </a:rPr>
              <a:t>These failures are part of runtime hardening and console behavior, not proof that the ACP or the April 1 wrapped chat-agent runtime layer is absent or nonfunctional.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IGNORE_top_bar"/>
          <p:cNvSpPr/>
          <p:nvPr/>
        </p:nvSpPr>
        <p:spPr>
          <a:xfrm>
            <a:off x="0" y="0"/>
            <a:ext cx="12192000" cy="118872"/>
          </a:xfrm>
          <a:prstGeom prst="rect">
            <a:avLst/>
          </a:prstGeom>
          <a:solidFill>
            <a:srgbClr val="173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ARD_tag_2"/>
          <p:cNvSpPr/>
          <p:nvPr/>
        </p:nvSpPr>
        <p:spPr>
          <a:xfrm>
            <a:off x="411480" y="292608"/>
            <a:ext cx="1280160" cy="310896"/>
          </a:xfrm>
          <a:prstGeom prst="roundRect">
            <a:avLst/>
          </a:prstGeom>
          <a:solidFill>
            <a:srgbClr val="FAEDE5"/>
          </a:solidFill>
          <a:ln w="1397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BF6635"/>
                </a:solidFill>
                <a:latin typeface="Segoe UI"/>
              </a:rPr>
              <a:t>CLOSE</a:t>
            </a:r>
          </a:p>
        </p:txBody>
      </p:sp>
      <p:sp>
        <p:nvSpPr>
          <p:cNvPr id="4" name="CARD_title_3"/>
          <p:cNvSpPr txBox="1"/>
          <p:nvPr/>
        </p:nvSpPr>
        <p:spPr>
          <a:xfrm>
            <a:off x="411480" y="713232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550">
                <a:solidFill>
                  <a:srgbClr val="173B6C"/>
                </a:solidFill>
                <a:latin typeface="Segoe UI"/>
              </a:rPr>
              <a:t>Reading XAIHT through the current codebase</a:t>
            </a:r>
          </a:p>
        </p:txBody>
      </p:sp>
      <p:sp>
        <p:nvSpPr>
          <p:cNvPr id="5" name="CARD_subtitle_4"/>
          <p:cNvSpPr txBox="1"/>
          <p:nvPr/>
        </p:nvSpPr>
        <p:spPr>
          <a:xfrm>
            <a:off x="411480" y="1133856"/>
            <a:ext cx="1106424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40">
                <a:solidFill>
                  <a:srgbClr val="677382"/>
                </a:solidFill>
                <a:latin typeface="Segoe UI"/>
              </a:rPr>
              <a:t>The clearest reading of the product comes from its explicit control surfaces rather than from slogans.</a:t>
            </a:r>
          </a:p>
        </p:txBody>
      </p:sp>
      <p:sp>
        <p:nvSpPr>
          <p:cNvPr id="6" name="IGNORE_footer_line"/>
          <p:cNvSpPr/>
          <p:nvPr/>
        </p:nvSpPr>
        <p:spPr>
          <a:xfrm>
            <a:off x="411480" y="6318504"/>
            <a:ext cx="11356848" cy="18288"/>
          </a:xfrm>
          <a:prstGeom prst="rect">
            <a:avLst/>
          </a:prstGeom>
          <a:solidFill>
            <a:srgbClr val="C7D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GNORE_footer_left"/>
          <p:cNvSpPr txBox="1"/>
          <p:nvPr/>
        </p:nvSpPr>
        <p:spPr>
          <a:xfrm>
            <a:off x="411480" y="640080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77382"/>
                </a:solidFill>
                <a:latin typeface="Segoe UI"/>
              </a:rPr>
              <a:t>Tlamatini | April 1, 2026 | 29f081e23748</a:t>
            </a:r>
          </a:p>
        </p:txBody>
      </p:sp>
      <p:sp>
        <p:nvSpPr>
          <p:cNvPr id="8" name="IGNORE_footer_right"/>
          <p:cNvSpPr txBox="1"/>
          <p:nvPr/>
        </p:nvSpPr>
        <p:spPr>
          <a:xfrm>
            <a:off x="10698480" y="640080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77382"/>
                </a:solidFill>
                <a:latin typeface="Segoe UI"/>
              </a:rPr>
              <a:t>21</a:t>
            </a:r>
          </a:p>
        </p:txBody>
      </p:sp>
      <p:sp>
        <p:nvSpPr>
          <p:cNvPr id="9" name="CARD_8"/>
          <p:cNvSpPr/>
          <p:nvPr/>
        </p:nvSpPr>
        <p:spPr>
          <a:xfrm>
            <a:off x="411480" y="1828800"/>
            <a:ext cx="3648456" cy="3291840"/>
          </a:xfrm>
          <a:prstGeom prst="roundRect">
            <a:avLst/>
          </a:prstGeom>
          <a:solidFill>
            <a:srgbClr val="E8F0F8"/>
          </a:solidFill>
          <a:ln w="17780">
            <a:solidFill>
              <a:srgbClr val="173B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Extended AI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Hybrid retrieval, tool use, MCP integrations, multimodal interpretation, and a heterogeneous agent inventory extend the assistant far beyond single-model chat.</a:t>
            </a:r>
          </a:p>
        </p:txBody>
      </p:sp>
      <p:sp>
        <p:nvSpPr>
          <p:cNvPr id="10" name="CARD_9"/>
          <p:cNvSpPr/>
          <p:nvPr/>
        </p:nvSpPr>
        <p:spPr>
          <a:xfrm>
            <a:off x="4270248" y="1828800"/>
            <a:ext cx="3648456" cy="3291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7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Humanly Tempered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80">
                <a:solidFill>
                  <a:srgbClr val="364557"/>
                </a:solidFill>
                <a:latin typeface="Segoe UI"/>
              </a:rPr>
              <a:t>Context selection, tool enablement, workflow wiring, validation, pause, stop, resume, and packaging are all user-visible control surfaces.</a:t>
            </a:r>
          </a:p>
        </p:txBody>
      </p:sp>
      <p:sp>
        <p:nvSpPr>
          <p:cNvPr id="11" name="CARD_10"/>
          <p:cNvSpPr/>
          <p:nvPr/>
        </p:nvSpPr>
        <p:spPr>
          <a:xfrm>
            <a:off x="8129016" y="1828800"/>
            <a:ext cx="3648456" cy="3291840"/>
          </a:xfrm>
          <a:prstGeom prst="roundRect">
            <a:avLst/>
          </a:prstGeom>
          <a:solidFill>
            <a:srgbClr val="FAEDE5"/>
          </a:solidFill>
          <a:ln w="17780">
            <a:solidFill>
              <a:srgbClr val="BF6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152400" tIns="127000" bIns="101600">
            <a:norm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73B6C"/>
                </a:solidFill>
                <a:latin typeface="Segoe UI"/>
              </a:rPr>
              <a:t>Current reality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>
                <a:solidFill>
                  <a:srgbClr val="364557"/>
                </a:solidFill>
                <a:latin typeface="Segoe UI"/>
              </a:rPr>
              <a:t>The platform is real, larger, and more agentic than the old deck showed, but it still carries test and metadata caveats that documentation should continue to report honestly.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Tlamatini eXtended Artificial Intelligence Humanly Tempered</dc:title>
  <dc:subject>April 1, 2026 code-verified deck refresh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