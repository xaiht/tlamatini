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6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84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713232"/>
            <a:ext cx="164592" cy="5394960"/>
          </a:xfrm>
          <a:prstGeom prst="rect">
            <a:avLst/>
          </a:prstGeom>
          <a:solidFill>
            <a:srgbClr val="E0B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658368"/>
            <a:ext cx="1060704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F4F8FB"/>
                </a:solidFill>
                <a:latin typeface="Aptos Display"/>
              </a:defRPr>
            </a:pPr>
            <a:r>
              <a:t>Tlamatini: eXtended Artificial Intelligence Humanly Tempered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1261872"/>
            <a:ext cx="10424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B9CFE0"/>
                </a:solidFill>
                <a:latin typeface="Aptos"/>
              </a:defRPr>
            </a:pPr>
            <a:r>
              <a:t>Multi-Turn architecture refresh grounded in the current repository, current README, and the April 6 verification rerun.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6446520"/>
            <a:ext cx="10789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DB4C7"/>
                </a:solidFill>
                <a:latin typeface="Aptos"/>
              </a:defRPr>
            </a:pPr>
            <a:r>
              <a:t>Tlamatini | April 6, 2026 | bd06b4680877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0080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D4DEE7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1920240"/>
            <a:ext cx="2148840" cy="1170432"/>
          </a:xfrm>
          <a:prstGeom prst="roundRect">
            <a:avLst/>
          </a:prstGeom>
          <a:solidFill>
            <a:srgbClr val="13273D"/>
          </a:solidFill>
          <a:ln>
            <a:solidFill>
              <a:srgbClr val="4976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066544"/>
            <a:ext cx="1819656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200">
                <a:solidFill>
                  <a:srgbClr val="F4F8FB"/>
                </a:solidFill>
                <a:latin typeface="Aptos Display"/>
              </a:defRPr>
            </a:pPr>
            <a:r>
              <a:t>352</a:t>
            </a:r>
          </a:p>
          <a:p>
            <a:pPr>
              <a:defRPr sz="1000">
                <a:solidFill>
                  <a:srgbClr val="A5BFD2"/>
                </a:solidFill>
                <a:latin typeface="Aptos"/>
              </a:defRPr>
            </a:pPr>
            <a:r>
              <a:t>Tracked files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18688" y="1920240"/>
            <a:ext cx="2148840" cy="1170432"/>
          </a:xfrm>
          <a:prstGeom prst="roundRect">
            <a:avLst/>
          </a:prstGeom>
          <a:solidFill>
            <a:srgbClr val="13273D"/>
          </a:solidFill>
          <a:ln>
            <a:solidFill>
              <a:srgbClr val="4976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0" y="2066544"/>
            <a:ext cx="1819656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200">
                <a:solidFill>
                  <a:srgbClr val="F4F8FB"/>
                </a:solidFill>
                <a:latin typeface="Aptos Display"/>
              </a:defRPr>
            </a:pPr>
            <a:r>
              <a:t>56</a:t>
            </a:r>
          </a:p>
          <a:p>
            <a:pPr>
              <a:defRPr sz="1000">
                <a:solidFill>
                  <a:srgbClr val="A5BFD2"/>
                </a:solidFill>
                <a:latin typeface="Aptos"/>
              </a:defRPr>
            </a:pPr>
            <a:r>
              <a:t>Templates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68696" y="1920240"/>
            <a:ext cx="2148840" cy="1170432"/>
          </a:xfrm>
          <a:prstGeom prst="roundRect">
            <a:avLst/>
          </a:prstGeom>
          <a:solidFill>
            <a:srgbClr val="13273D"/>
          </a:solidFill>
          <a:ln>
            <a:solidFill>
              <a:srgbClr val="4976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33288" y="2066544"/>
            <a:ext cx="1819656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200">
                <a:solidFill>
                  <a:srgbClr val="F4F8FB"/>
                </a:solidFill>
                <a:latin typeface="Aptos Display"/>
              </a:defRPr>
            </a:pPr>
            <a:r>
              <a:t>49</a:t>
            </a:r>
          </a:p>
          <a:p>
            <a:pPr>
              <a:defRPr sz="1000">
                <a:solidFill>
                  <a:srgbClr val="A5BFD2"/>
                </a:solidFill>
                <a:latin typeface="Aptos"/>
              </a:defRPr>
            </a:pPr>
            <a:r>
              <a:t>Tools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18704" y="1920240"/>
            <a:ext cx="2148840" cy="1170432"/>
          </a:xfrm>
          <a:prstGeom prst="roundRect">
            <a:avLst/>
          </a:prstGeom>
          <a:solidFill>
            <a:srgbClr val="13273D"/>
          </a:solidFill>
          <a:ln>
            <a:solidFill>
              <a:srgbClr val="4976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83296" y="2066544"/>
            <a:ext cx="1819656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200">
                <a:solidFill>
                  <a:srgbClr val="F4F8FB"/>
                </a:solidFill>
                <a:latin typeface="Aptos Display"/>
              </a:defRPr>
            </a:pPr>
            <a:r>
              <a:t>63/63</a:t>
            </a:r>
          </a:p>
          <a:p>
            <a:pPr>
              <a:defRPr sz="1000">
                <a:solidFill>
                  <a:srgbClr val="A5BFD2"/>
                </a:solidFill>
                <a:latin typeface="Aptos"/>
              </a:defRPr>
            </a:pPr>
            <a:r>
              <a:t>Tests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" y="3840480"/>
            <a:ext cx="10241280" cy="1325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EAF0F5"/>
                </a:solidFill>
                <a:latin typeface="Aptos"/>
              </a:defRPr>
            </a:pPr>
            <a:r>
              <a:t>This deck replaces the earlier April 4 documentation story with the current Phase 1 to Phase 3 Multi-Turn implementation and validation state.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6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84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713232"/>
            <a:ext cx="164592" cy="5394960"/>
          </a:xfrm>
          <a:prstGeom prst="rect">
            <a:avLst/>
          </a:prstGeom>
          <a:solidFill>
            <a:srgbClr val="E0B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658368"/>
            <a:ext cx="1060704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F4F8FB"/>
                </a:solidFill>
                <a:latin typeface="Aptos Display"/>
              </a:defRPr>
            </a:pPr>
            <a:r>
              <a:t>Why the doc set needed a rebuild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1261872"/>
            <a:ext cx="10424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B9CFE0"/>
                </a:solidFill>
                <a:latin typeface="Aptos"/>
              </a:defRPr>
            </a:pPr>
            <a:r>
              <a:t>The current chat surface is no longer just an explicit loop. It is now an opt-in orchestrated path with preserved legacy behavior when unchecked.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6446520"/>
            <a:ext cx="10789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DB4C7"/>
                </a:solidFill>
                <a:latin typeface="Aptos"/>
              </a:defRPr>
            </a:pPr>
            <a:r>
              <a:t>Tlamatini | April 6, 2026 | bd06b4680877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0080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D4DEE7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783080"/>
            <a:ext cx="10469880" cy="4389120"/>
          </a:xfrm>
          <a:prstGeom prst="rect">
            <a:avLst/>
          </a:prstGeom>
          <a:noFill/>
        </p:spPr>
        <p:txBody>
          <a:bodyPr wrap="square" lIns="0" rIns="0" tIns="0" anchor="t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EAF0F5"/>
                </a:solidFill>
                <a:latin typeface="Aptos"/>
              </a:defRPr>
            </a:pPr>
            <a:r>
              <a:t>• The toolbar now exposes Multi-Turn as a user-visible execution mode beside Clear history.</a:t>
            </a:r>
          </a:p>
          <a:p>
            <a:pPr>
              <a:spcAft>
                <a:spcPts val="800"/>
              </a:spcAft>
              <a:defRPr sz="1800">
                <a:solidFill>
                  <a:srgbClr val="EAF0F5"/>
                </a:solidFill>
                <a:latin typeface="Aptos"/>
              </a:defRPr>
            </a:pPr>
            <a:r>
              <a:t>• Checked mode adds capability selection, context selection, and a request-scoped execution DAG.</a:t>
            </a:r>
          </a:p>
          <a:p>
            <a:pPr>
              <a:spcAft>
                <a:spcPts val="800"/>
              </a:spcAft>
              <a:defRPr sz="1800">
                <a:solidFill>
                  <a:srgbClr val="EAF0F5"/>
                </a:solidFill>
                <a:latin typeface="Aptos"/>
              </a:defRPr>
            </a:pPr>
            <a:r>
              <a:t>• Unchecked mode stays intentionally legacy: original prompt validation, legacy prefetch, full-tool binding, visible console launches.</a:t>
            </a:r>
          </a:p>
          <a:p>
            <a:pPr>
              <a:spcAft>
                <a:spcPts val="800"/>
              </a:spcAft>
              <a:defRPr sz="1800">
                <a:solidFill>
                  <a:srgbClr val="EAF0F5"/>
                </a:solidFill>
                <a:latin typeface="Aptos"/>
              </a:defRPr>
            </a:pPr>
            <a:r>
              <a:t>• The PDF and the deck had to be rebuilt because the old narrative no longer matched how the chat system actually behaves.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6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84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713232"/>
            <a:ext cx="164592" cy="5394960"/>
          </a:xfrm>
          <a:prstGeom prst="rect">
            <a:avLst/>
          </a:prstGeom>
          <a:solidFill>
            <a:srgbClr val="E0B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658368"/>
            <a:ext cx="1060704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F4F8FB"/>
                </a:solidFill>
                <a:latin typeface="Aptos Display"/>
              </a:defRPr>
            </a:pPr>
            <a:r>
              <a:t>Current verified repository shape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1261872"/>
            <a:ext cx="10424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B9CFE0"/>
                </a:solidFill>
                <a:latin typeface="Aptos"/>
              </a:defRPr>
            </a:pPr>
            <a:r>
              <a:t>These numbers were recomputed before regenerating the artifacts.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6446520"/>
            <a:ext cx="10789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DB4C7"/>
                </a:solidFill>
                <a:latin typeface="Aptos"/>
              </a:defRPr>
            </a:pPr>
            <a:r>
              <a:t>Tlamatini | April 6, 2026 | bd06b4680877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0080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D4DEE7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1920240"/>
            <a:ext cx="2148840" cy="1170432"/>
          </a:xfrm>
          <a:prstGeom prst="roundRect">
            <a:avLst/>
          </a:prstGeom>
          <a:solidFill>
            <a:srgbClr val="13273D"/>
          </a:solidFill>
          <a:ln>
            <a:solidFill>
              <a:srgbClr val="4976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066544"/>
            <a:ext cx="1819656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200">
                <a:solidFill>
                  <a:srgbClr val="F4F8FB"/>
                </a:solidFill>
                <a:latin typeface="Aptos Display"/>
              </a:defRPr>
            </a:pPr>
            <a:r>
              <a:t>bd06b4680877</a:t>
            </a:r>
          </a:p>
          <a:p>
            <a:pPr>
              <a:defRPr sz="1000">
                <a:solidFill>
                  <a:srgbClr val="A5BFD2"/>
                </a:solidFill>
                <a:latin typeface="Aptos"/>
              </a:defRPr>
            </a:pPr>
            <a:r>
              <a:t>HEAD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18688" y="1920240"/>
            <a:ext cx="2148840" cy="1170432"/>
          </a:xfrm>
          <a:prstGeom prst="roundRect">
            <a:avLst/>
          </a:prstGeom>
          <a:solidFill>
            <a:srgbClr val="13273D"/>
          </a:solidFill>
          <a:ln>
            <a:solidFill>
              <a:srgbClr val="4976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0" y="2066544"/>
            <a:ext cx="1819656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200">
                <a:solidFill>
                  <a:srgbClr val="F4F8FB"/>
                </a:solidFill>
                <a:latin typeface="Aptos Display"/>
              </a:defRPr>
            </a:pPr>
            <a:r>
              <a:t>103</a:t>
            </a:r>
          </a:p>
          <a:p>
            <a:pPr>
              <a:defRPr sz="1000">
                <a:solidFill>
                  <a:srgbClr val="A5BFD2"/>
                </a:solidFill>
                <a:latin typeface="Aptos"/>
              </a:defRPr>
            </a:pPr>
            <a:r>
              <a:t>App routes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68696" y="1920240"/>
            <a:ext cx="2148840" cy="1170432"/>
          </a:xfrm>
          <a:prstGeom prst="roundRect">
            <a:avLst/>
          </a:prstGeom>
          <a:solidFill>
            <a:srgbClr val="13273D"/>
          </a:solidFill>
          <a:ln>
            <a:solidFill>
              <a:srgbClr val="4976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33288" y="2066544"/>
            <a:ext cx="1819656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200">
                <a:solidFill>
                  <a:srgbClr val="F4F8FB"/>
                </a:solidFill>
                <a:latin typeface="Aptos Display"/>
              </a:defRPr>
            </a:pPr>
            <a:r>
              <a:t>3</a:t>
            </a:r>
          </a:p>
          <a:p>
            <a:pPr>
              <a:defRPr sz="1000">
                <a:solidFill>
                  <a:srgbClr val="A5BFD2"/>
                </a:solidFill>
                <a:latin typeface="Aptos"/>
              </a:defRPr>
            </a:pPr>
            <a:r>
              <a:t>Project routes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18704" y="1920240"/>
            <a:ext cx="2148840" cy="1170432"/>
          </a:xfrm>
          <a:prstGeom prst="roundRect">
            <a:avLst/>
          </a:prstGeom>
          <a:solidFill>
            <a:srgbClr val="13273D"/>
          </a:solidFill>
          <a:ln>
            <a:solidFill>
              <a:srgbClr val="4976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83296" y="2066544"/>
            <a:ext cx="1819656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200">
                <a:solidFill>
                  <a:srgbClr val="F4F8FB"/>
                </a:solidFill>
                <a:latin typeface="Aptos Display"/>
              </a:defRPr>
            </a:pPr>
            <a:r>
              <a:t>32</a:t>
            </a:r>
          </a:p>
          <a:p>
            <a:pPr>
              <a:defRPr sz="1000">
                <a:solidFill>
                  <a:srgbClr val="A5BFD2"/>
                </a:solidFill>
                <a:latin typeface="Aptos"/>
              </a:defRPr>
            </a:pPr>
            <a:r>
              <a:t>Wrapped launchers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3346704"/>
            <a:ext cx="2148840" cy="1170432"/>
          </a:xfrm>
          <a:prstGeom prst="roundRect">
            <a:avLst/>
          </a:prstGeom>
          <a:solidFill>
            <a:srgbClr val="13273D"/>
          </a:solidFill>
          <a:ln>
            <a:solidFill>
              <a:srgbClr val="4976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3272" y="3493008"/>
            <a:ext cx="1819656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200">
                <a:solidFill>
                  <a:srgbClr val="F4F8FB"/>
                </a:solidFill>
                <a:latin typeface="Aptos Display"/>
              </a:defRPr>
            </a:pPr>
            <a:r>
              <a:t>4</a:t>
            </a:r>
          </a:p>
          <a:p>
            <a:pPr>
              <a:defRPr sz="1000">
                <a:solidFill>
                  <a:srgbClr val="A5BFD2"/>
                </a:solidFill>
                <a:latin typeface="Aptos"/>
              </a:defRPr>
            </a:pPr>
            <a:r>
              <a:t>Long-running wrapped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18688" y="3346704"/>
            <a:ext cx="2148840" cy="1170432"/>
          </a:xfrm>
          <a:prstGeom prst="roundRect">
            <a:avLst/>
          </a:prstGeom>
          <a:solidFill>
            <a:srgbClr val="13273D"/>
          </a:solidFill>
          <a:ln>
            <a:solidFill>
              <a:srgbClr val="4976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83280" y="3493008"/>
            <a:ext cx="1819656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200">
                <a:solidFill>
                  <a:srgbClr val="F4F8FB"/>
                </a:solidFill>
                <a:latin typeface="Aptos Display"/>
              </a:defRPr>
            </a:pPr>
            <a:r>
              <a:t>56</a:t>
            </a:r>
          </a:p>
          <a:p>
            <a:pPr>
              <a:defRPr sz="1000">
                <a:solidFill>
                  <a:srgbClr val="A5BFD2"/>
                </a:solidFill>
                <a:latin typeface="Aptos"/>
              </a:defRPr>
            </a:pPr>
            <a:r>
              <a:t>Template agents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568696" y="3346704"/>
            <a:ext cx="2148840" cy="1170432"/>
          </a:xfrm>
          <a:prstGeom prst="roundRect">
            <a:avLst/>
          </a:prstGeom>
          <a:solidFill>
            <a:srgbClr val="13273D"/>
          </a:solidFill>
          <a:ln>
            <a:solidFill>
              <a:srgbClr val="4976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33288" y="3493008"/>
            <a:ext cx="1819656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200">
                <a:solidFill>
                  <a:srgbClr val="F4F8FB"/>
                </a:solidFill>
                <a:latin typeface="Aptos Display"/>
              </a:defRPr>
            </a:pPr>
            <a:r>
              <a:t>16</a:t>
            </a:r>
          </a:p>
          <a:p>
            <a:pPr>
              <a:defRPr sz="1000">
                <a:solidFill>
                  <a:srgbClr val="A5BFD2"/>
                </a:solidFill>
                <a:latin typeface="Aptos"/>
              </a:defRPr>
            </a:pPr>
            <a:r>
              <a:t>Test classes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18704" y="3346704"/>
            <a:ext cx="2148840" cy="1170432"/>
          </a:xfrm>
          <a:prstGeom prst="roundRect">
            <a:avLst/>
          </a:prstGeom>
          <a:solidFill>
            <a:srgbClr val="13273D"/>
          </a:solidFill>
          <a:ln>
            <a:solidFill>
              <a:srgbClr val="4976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83296" y="3493008"/>
            <a:ext cx="1819656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200">
                <a:solidFill>
                  <a:srgbClr val="F4F8FB"/>
                </a:solidFill>
                <a:latin typeface="Aptos Display"/>
              </a:defRPr>
            </a:pPr>
            <a:r>
              <a:t>63</a:t>
            </a:r>
          </a:p>
          <a:p>
            <a:pPr>
              <a:defRPr sz="1000">
                <a:solidFill>
                  <a:srgbClr val="A5BFD2"/>
                </a:solidFill>
                <a:latin typeface="Aptos"/>
              </a:defRPr>
            </a:pPr>
            <a:r>
              <a:t>Test methods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6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84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713232"/>
            <a:ext cx="164592" cy="5394960"/>
          </a:xfrm>
          <a:prstGeom prst="rect">
            <a:avLst/>
          </a:prstGeom>
          <a:solidFill>
            <a:srgbClr val="E0B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658368"/>
            <a:ext cx="1060704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F4F8FB"/>
                </a:solidFill>
                <a:latin typeface="Aptos Display"/>
              </a:defRPr>
            </a:pPr>
            <a:r>
              <a:t>User-visible Multi-Turn control surface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1261872"/>
            <a:ext cx="10424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B9CFE0"/>
                </a:solidFill>
                <a:latin typeface="Aptos"/>
              </a:defRPr>
            </a:pPr>
            <a:r>
              <a:t>The feature is exposed as a mode switch, not as an invisible backend fork.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6446520"/>
            <a:ext cx="10789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DB4C7"/>
                </a:solidFill>
                <a:latin typeface="Aptos"/>
              </a:defRPr>
            </a:pPr>
            <a:r>
              <a:t>Tlamatini | April 6, 2026 | bd06b4680877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0080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D4DEE7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783080"/>
            <a:ext cx="10469880" cy="4389120"/>
          </a:xfrm>
          <a:prstGeom prst="rect">
            <a:avLst/>
          </a:prstGeom>
          <a:noFill/>
        </p:spPr>
        <p:txBody>
          <a:bodyPr wrap="square" lIns="0" rIns="0" tIns="0" anchor="t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EAF0F5"/>
                </a:solidFill>
                <a:latin typeface="Aptos"/>
              </a:defRPr>
            </a:pPr>
            <a:r>
              <a:t>• A dedicated Multi-Turn checkbox now lives beside Clear history in the main chat toolbar.</a:t>
            </a:r>
          </a:p>
          <a:p>
            <a:pPr>
              <a:spcAft>
                <a:spcPts val="800"/>
              </a:spcAft>
              <a:defRPr sz="1800">
                <a:solidFill>
                  <a:srgbClr val="EAF0F5"/>
                </a:solidFill>
                <a:latin typeface="Aptos"/>
              </a:defRPr>
            </a:pPr>
            <a:r>
              <a:t>• The Add internet context checkbox now uses the same visual style and sits directly after Multi-Turn.</a:t>
            </a:r>
          </a:p>
          <a:p>
            <a:pPr>
              <a:spcAft>
                <a:spcPts val="800"/>
              </a:spcAft>
              <a:defRPr sz="1800">
                <a:solidFill>
                  <a:srgbClr val="EAF0F5"/>
                </a:solidFill>
                <a:latin typeface="Aptos"/>
              </a:defRPr>
            </a:pPr>
            <a:r>
              <a:t>• The frontend persists the Multi-Turn choice per browser session and sends multi_turn_enabled with each plain chat request.</a:t>
            </a:r>
          </a:p>
          <a:p>
            <a:pPr>
              <a:spcAft>
                <a:spcPts val="800"/>
              </a:spcAft>
              <a:defRPr sz="1800">
                <a:solidFill>
                  <a:srgbClr val="EAF0F5"/>
                </a:solidFill>
                <a:latin typeface="Aptos"/>
              </a:defRPr>
            </a:pPr>
            <a:r>
              <a:t>• The system therefore supports controlled experimentation: checked requests use the new planner path, unchecked requests stay old-style.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6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84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713232"/>
            <a:ext cx="164592" cy="5394960"/>
          </a:xfrm>
          <a:prstGeom prst="rect">
            <a:avLst/>
          </a:prstGeom>
          <a:solidFill>
            <a:srgbClr val="E0B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658368"/>
            <a:ext cx="1060704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F4F8FB"/>
                </a:solidFill>
                <a:latin typeface="Aptos Display"/>
              </a:defRPr>
            </a:pPr>
            <a:r>
              <a:t>Checked request lifecycle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1261872"/>
            <a:ext cx="10424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B9CFE0"/>
                </a:solidFill>
                <a:latin typeface="Aptos"/>
              </a:defRPr>
            </a:pPr>
            <a:r>
              <a:t>The current request path is a staged orchestration flow rather than a single tool exposure bundle.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6446520"/>
            <a:ext cx="10789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DB4C7"/>
                </a:solidFill>
                <a:latin typeface="Aptos"/>
              </a:defRPr>
            </a:pPr>
            <a:r>
              <a:t>Tlamatini | April 6, 2026 | bd06b4680877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0080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D4DEE7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783080"/>
            <a:ext cx="10469880" cy="4389120"/>
          </a:xfrm>
          <a:prstGeom prst="rect">
            <a:avLst/>
          </a:prstGeom>
          <a:noFill/>
        </p:spPr>
        <p:txBody>
          <a:bodyPr wrap="square" lIns="0" rIns="0" tIns="0" anchor="t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EAF0F5"/>
                </a:solidFill>
                <a:latin typeface="Aptos"/>
              </a:defRPr>
            </a:pPr>
            <a:r>
              <a:t>• 1. Prompt enters ask_rag() with multi_turn_enabled=true.</a:t>
            </a:r>
          </a:p>
          <a:p>
            <a:pPr>
              <a:spcAft>
                <a:spcPts val="800"/>
              </a:spcAft>
              <a:defRPr sz="1800">
                <a:solidFill>
                  <a:srgbClr val="EAF0F5"/>
                </a:solidFill>
                <a:latin typeface="Aptos"/>
              </a:defRPr>
            </a:pPr>
            <a:r>
              <a:t>• 2. Prompt-shape validation is bypassed only for this mode; broader access validation still applies.</a:t>
            </a:r>
          </a:p>
          <a:p>
            <a:pPr>
              <a:spcAft>
                <a:spcPts val="800"/>
              </a:spcAft>
              <a:defRPr sz="1800">
                <a:solidFill>
                  <a:srgbClr val="EAF0F5"/>
                </a:solidFill>
                <a:latin typeface="Aptos"/>
              </a:defRPr>
            </a:pPr>
            <a:r>
              <a:t>• 3. rag/factory.py builds a request-scoped global execution plan and prefetches only the selected MCP contexts.</a:t>
            </a:r>
          </a:p>
          <a:p>
            <a:pPr>
              <a:spcAft>
                <a:spcPts val="800"/>
              </a:spcAft>
              <a:defRPr sz="1800">
                <a:solidFill>
                  <a:srgbClr val="EAF0F5"/>
                </a:solidFill>
                <a:latin typeface="Aptos"/>
              </a:defRPr>
            </a:pPr>
            <a:r>
              <a:t>• 4. The executor binds only the relevant planned tool subset or, for context-only requests, no tools at all.</a:t>
            </a:r>
          </a:p>
          <a:p>
            <a:pPr>
              <a:spcAft>
                <a:spcPts val="800"/>
              </a:spcAft>
              <a:defRPr sz="1800">
                <a:solidFill>
                  <a:srgbClr val="EAF0F5"/>
                </a:solidFill>
                <a:latin typeface="Aptos"/>
              </a:defRPr>
            </a:pPr>
            <a:r>
              <a:t>• 5. The final answer is synthesized from prefetched context, tool results, and any monitored wrapped-run observations.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6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84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713232"/>
            <a:ext cx="164592" cy="5394960"/>
          </a:xfrm>
          <a:prstGeom prst="rect">
            <a:avLst/>
          </a:prstGeom>
          <a:solidFill>
            <a:srgbClr val="E0B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658368"/>
            <a:ext cx="1060704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F4F8FB"/>
                </a:solidFill>
                <a:latin typeface="Aptos Display"/>
              </a:defRPr>
            </a:pPr>
            <a:r>
              <a:t>Phase 1: capability selection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1261872"/>
            <a:ext cx="10424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B9CFE0"/>
                </a:solidFill>
                <a:latin typeface="Aptos"/>
              </a:defRPr>
            </a:pPr>
            <a:r>
              <a:t>capability_registry.py turns a flat tool list into a scored request-specific capability surface.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6446520"/>
            <a:ext cx="10789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DB4C7"/>
                </a:solidFill>
                <a:latin typeface="Aptos"/>
              </a:defRPr>
            </a:pPr>
            <a:r>
              <a:t>Tlamatini | April 6, 2026 | bd06b4680877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0080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D4DEE7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783080"/>
            <a:ext cx="10469880" cy="4389120"/>
          </a:xfrm>
          <a:prstGeom prst="rect">
            <a:avLst/>
          </a:prstGeom>
          <a:noFill/>
        </p:spPr>
        <p:txBody>
          <a:bodyPr wrap="square" lIns="0" rIns="0" tIns="0" anchor="t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EAF0F5"/>
                </a:solidFill>
                <a:latin typeface="Aptos"/>
              </a:defRPr>
            </a:pPr>
            <a:r>
              <a:t>• Normal tools, template-agent tools, wrapped chat-agent launchers, and run-control tools are all scored against the request.</a:t>
            </a:r>
          </a:p>
          <a:p>
            <a:pPr>
              <a:spcAft>
                <a:spcPts val="800"/>
              </a:spcAft>
              <a:defRPr sz="1800">
                <a:solidFill>
                  <a:srgbClr val="EAF0F5"/>
                </a:solidFill>
                <a:latin typeface="Aptos"/>
              </a:defRPr>
            </a:pPr>
            <a:r>
              <a:t>• Selection uses aliases, example requests, token overlap, and security-hint phrases.</a:t>
            </a:r>
          </a:p>
          <a:p>
            <a:pPr>
              <a:spcAft>
                <a:spcPts val="800"/>
              </a:spcAft>
              <a:defRPr sz="1800">
                <a:solidFill>
                  <a:srgbClr val="EAF0F5"/>
                </a:solidFill>
                <a:latin typeface="Aptos"/>
              </a:defRPr>
            </a:pPr>
            <a:r>
              <a:t>• If wrapped agents or run ids are implied, follow-up monitoring tools are added automatically.</a:t>
            </a:r>
          </a:p>
          <a:p>
            <a:pPr>
              <a:spcAft>
                <a:spcPts val="800"/>
              </a:spcAft>
              <a:defRPr sz="1800">
                <a:solidFill>
                  <a:srgbClr val="EAF0F5"/>
                </a:solidFill>
                <a:latin typeface="Aptos"/>
              </a:defRPr>
            </a:pPr>
            <a:r>
              <a:t>• The practical effect is smaller prompt/tool clutter and more precise action surfaces for checked requests.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6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84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713232"/>
            <a:ext cx="164592" cy="5394960"/>
          </a:xfrm>
          <a:prstGeom prst="rect">
            <a:avLst/>
          </a:prstGeom>
          <a:solidFill>
            <a:srgbClr val="E0B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658368"/>
            <a:ext cx="1060704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F4F8FB"/>
                </a:solidFill>
                <a:latin typeface="Aptos Display"/>
              </a:defRPr>
            </a:pPr>
            <a:r>
              <a:t>Phase 2: context capability selection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1261872"/>
            <a:ext cx="10424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B9CFE0"/>
                </a:solidFill>
                <a:latin typeface="Aptos"/>
              </a:defRPr>
            </a:pPr>
            <a:r>
              <a:t>The current context selector narrows MCP prefetch instead of always fanning out.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6446520"/>
            <a:ext cx="10789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DB4C7"/>
                </a:solidFill>
                <a:latin typeface="Aptos"/>
              </a:defRPr>
            </a:pPr>
            <a:r>
              <a:t>Tlamatini | April 6, 2026 | bd06b4680877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0080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D4DEE7"/>
                </a:solidFill>
                <a:latin typeface="Aptos"/>
              </a:defRPr>
            </a:pPr>
            <a: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783080"/>
            <a:ext cx="10469880" cy="4389120"/>
          </a:xfrm>
          <a:prstGeom prst="rect">
            <a:avLst/>
          </a:prstGeom>
          <a:noFill/>
        </p:spPr>
        <p:txBody>
          <a:bodyPr wrap="square" lIns="0" rIns="0" tIns="0" anchor="t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EAF0F5"/>
                </a:solidFill>
                <a:latin typeface="Aptos"/>
              </a:defRPr>
            </a:pPr>
            <a:r>
              <a:t>• system_context is selected for host-state, usage, performance, process, and network questions.</a:t>
            </a:r>
          </a:p>
          <a:p>
            <a:pPr>
              <a:spcAft>
                <a:spcPts val="800"/>
              </a:spcAft>
              <a:defRPr sz="1800">
                <a:solidFill>
                  <a:srgbClr val="EAF0F5"/>
                </a:solidFill>
                <a:latin typeface="Aptos"/>
              </a:defRPr>
            </a:pPr>
            <a:r>
              <a:t>• files_context is selected for project, path, file, repository, and code-content questions.</a:t>
            </a:r>
          </a:p>
          <a:p>
            <a:pPr>
              <a:spcAft>
                <a:spcPts val="800"/>
              </a:spcAft>
              <a:defRPr sz="1800">
                <a:solidFill>
                  <a:srgbClr val="EAF0F5"/>
                </a:solidFill>
                <a:latin typeface="Aptos"/>
              </a:defRPr>
            </a:pPr>
            <a:r>
              <a:t>• Project-home file prompts such as root README.md requests are now narrowed more deterministically.</a:t>
            </a:r>
          </a:p>
          <a:p>
            <a:pPr>
              <a:spcAft>
                <a:spcPts val="800"/>
              </a:spcAft>
              <a:defRPr sz="1800">
                <a:solidFill>
                  <a:srgbClr val="EAF0F5"/>
                </a:solidFill>
                <a:latin typeface="Aptos"/>
              </a:defRPr>
            </a:pPr>
            <a:r>
              <a:t>• Exact single-file reads in checked mode no longer dump the whole file manifest unless the request is truly a listing request.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6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84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713232"/>
            <a:ext cx="164592" cy="5394960"/>
          </a:xfrm>
          <a:prstGeom prst="rect">
            <a:avLst/>
          </a:prstGeom>
          <a:solidFill>
            <a:srgbClr val="E0B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658368"/>
            <a:ext cx="1060704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F4F8FB"/>
                </a:solidFill>
                <a:latin typeface="Aptos Display"/>
              </a:defRPr>
            </a:pPr>
            <a:r>
              <a:t>Phase 3: global execution planner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1261872"/>
            <a:ext cx="10424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B9CFE0"/>
                </a:solidFill>
                <a:latin typeface="Aptos"/>
              </a:defRPr>
            </a:pPr>
            <a:r>
              <a:t>global_execution_planner.py now provides a real request-scoped DAG.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6446520"/>
            <a:ext cx="10789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DB4C7"/>
                </a:solidFill>
                <a:latin typeface="Aptos"/>
              </a:defRPr>
            </a:pPr>
            <a:r>
              <a:t>Tlamatini | April 6, 2026 | bd06b4680877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0080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D4DEE7"/>
                </a:solidFill>
                <a:latin typeface="Aptos"/>
              </a:defRPr>
            </a:pPr>
            <a: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783080"/>
            <a:ext cx="10469880" cy="4389120"/>
          </a:xfrm>
          <a:prstGeom prst="rect">
            <a:avLst/>
          </a:prstGeom>
          <a:noFill/>
        </p:spPr>
        <p:txBody>
          <a:bodyPr wrap="square" lIns="0" rIns="0" tIns="0" anchor="t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EAF0F5"/>
                </a:solidFill>
                <a:latin typeface="Aptos"/>
              </a:defRPr>
            </a:pPr>
            <a:r>
              <a:t>• The planner emits execution modes: direct_model, context_only, or tool_augmented.</a:t>
            </a:r>
          </a:p>
          <a:p>
            <a:pPr>
              <a:spcAft>
                <a:spcPts val="800"/>
              </a:spcAft>
              <a:defRPr sz="1800">
                <a:solidFill>
                  <a:srgbClr val="EAF0F5"/>
                </a:solidFill>
                <a:latin typeface="Aptos"/>
              </a:defRPr>
            </a:pPr>
            <a:r>
              <a:t>• Node stages are explicit: prefetch, execute, monitor, and answer.</a:t>
            </a:r>
          </a:p>
          <a:p>
            <a:pPr>
              <a:spcAft>
                <a:spcPts val="800"/>
              </a:spcAft>
              <a:defRPr sz="1800">
                <a:solidFill>
                  <a:srgbClr val="EAF0F5"/>
                </a:solidFill>
                <a:latin typeface="Aptos"/>
              </a:defRPr>
            </a:pPr>
            <a:r>
              <a:t>• A planner summary is injected back into the executor so the model follows the selected path instead of rediscovering it.</a:t>
            </a:r>
          </a:p>
          <a:p>
            <a:pPr>
              <a:spcAft>
                <a:spcPts val="800"/>
              </a:spcAft>
              <a:defRPr sz="1800">
                <a:solidFill>
                  <a:srgbClr val="EAF0F5"/>
                </a:solidFill>
                <a:latin typeface="Aptos"/>
              </a:defRPr>
            </a:pPr>
            <a:r>
              <a:t>• This is the architectural step that turns checked Multi-Turn requests into a real orchestration flow rather than just a better heuristic selector.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6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84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713232"/>
            <a:ext cx="164592" cy="5394960"/>
          </a:xfrm>
          <a:prstGeom prst="rect">
            <a:avLst/>
          </a:prstGeom>
          <a:solidFill>
            <a:srgbClr val="E0B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658368"/>
            <a:ext cx="1060704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F4F8FB"/>
                </a:solidFill>
                <a:latin typeface="Aptos Display"/>
              </a:defRPr>
            </a:pPr>
            <a:r>
              <a:t>Wrapped runtimes and runtime hardening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1261872"/>
            <a:ext cx="10424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B9CFE0"/>
                </a:solidFill>
                <a:latin typeface="Aptos"/>
              </a:defRPr>
            </a:pPr>
            <a:r>
              <a:t>The wrapped chat-agent layer remains central, but its checked-mode behavior is now smoother.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6446520"/>
            <a:ext cx="10789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DB4C7"/>
                </a:solidFill>
                <a:latin typeface="Aptos"/>
              </a:defRPr>
            </a:pPr>
            <a:r>
              <a:t>Tlamatini | April 6, 2026 | bd06b4680877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0080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D4DEE7"/>
                </a:solidFill>
                <a:latin typeface="Aptos"/>
              </a:defRPr>
            </a:pPr>
            <a: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783080"/>
            <a:ext cx="10469880" cy="4389120"/>
          </a:xfrm>
          <a:prstGeom prst="rect">
            <a:avLst/>
          </a:prstGeom>
          <a:noFill/>
        </p:spPr>
        <p:txBody>
          <a:bodyPr wrap="square" lIns="0" rIns="0" tIns="0" anchor="t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EAF0F5"/>
                </a:solidFill>
                <a:latin typeface="Aptos"/>
              </a:defRPr>
            </a:pPr>
            <a:r>
              <a:t>• The chat surface still exposes 32 wrapped launchers plus 4 runtime follow-up tools.</a:t>
            </a:r>
          </a:p>
          <a:p>
            <a:pPr>
              <a:spcAft>
                <a:spcPts val="800"/>
              </a:spcAft>
              <a:defRPr sz="1800">
                <a:solidFill>
                  <a:srgbClr val="EAF0F5"/>
                </a:solidFill>
                <a:latin typeface="Aptos"/>
              </a:defRPr>
            </a:pPr>
            <a:r>
              <a:t>• Wrapped runs remain isolated in __chat_runs__ and are still separated from ACP flow pause/kill logic.</a:t>
            </a:r>
          </a:p>
          <a:p>
            <a:pPr>
              <a:spcAft>
                <a:spcPts val="800"/>
              </a:spcAft>
              <a:defRPr sz="1800">
                <a:solidFill>
                  <a:srgbClr val="EAF0F5"/>
                </a:solidFill>
                <a:latin typeface="Aptos"/>
              </a:defRPr>
            </a:pPr>
            <a:r>
              <a:t>• Checked Multi-Turn launches now suppress visible console windows through request-scoped state flags and detached/headless subprocess settings.</a:t>
            </a:r>
          </a:p>
          <a:p>
            <a:pPr>
              <a:spcAft>
                <a:spcPts val="800"/>
              </a:spcAft>
              <a:defRPr sz="1800">
                <a:solidFill>
                  <a:srgbClr val="EAF0F5"/>
                </a:solidFill>
                <a:latin typeface="Aptos"/>
              </a:defRPr>
            </a:pPr>
            <a:r>
              <a:t>• That change removes one of the most visible rough edges of using the richer chat execution path on Windows.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6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84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713232"/>
            <a:ext cx="164592" cy="5394960"/>
          </a:xfrm>
          <a:prstGeom prst="rect">
            <a:avLst/>
          </a:prstGeom>
          <a:solidFill>
            <a:srgbClr val="E0B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658368"/>
            <a:ext cx="1060704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F4F8FB"/>
                </a:solidFill>
                <a:latin typeface="Aptos Display"/>
              </a:defRPr>
            </a:pPr>
            <a:r>
              <a:t>Legacy guarantee and frozen-mode behavior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1261872"/>
            <a:ext cx="10424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B9CFE0"/>
                </a:solidFill>
                <a:latin typeface="Aptos"/>
              </a:defRPr>
            </a:pPr>
            <a:r>
              <a:t>The implementation matters because it is explicit about what changes and what must not change.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6446520"/>
            <a:ext cx="10789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DB4C7"/>
                </a:solidFill>
                <a:latin typeface="Aptos"/>
              </a:defRPr>
            </a:pPr>
            <a:r>
              <a:t>Tlamatini | April 6, 2026 | bd06b4680877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0080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D4DEE7"/>
                </a:solidFill>
                <a:latin typeface="Aptos"/>
              </a:defRPr>
            </a:pPr>
            <a: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783080"/>
            <a:ext cx="10469880" cy="4389120"/>
          </a:xfrm>
          <a:prstGeom prst="rect">
            <a:avLst/>
          </a:prstGeom>
          <a:noFill/>
        </p:spPr>
        <p:txBody>
          <a:bodyPr wrap="square" lIns="0" rIns="0" tIns="0" anchor="t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EAF0F5"/>
                </a:solidFill>
                <a:latin typeface="Aptos"/>
              </a:defRPr>
            </a:pPr>
            <a:r>
              <a:t>• Unchecked Multi-Turn requests keep the original prompt validation, legacy prefetch behavior, legacy full-tool binding, and legacy visible-console launches.</a:t>
            </a:r>
          </a:p>
          <a:p>
            <a:pPr>
              <a:spcAft>
                <a:spcPts val="800"/>
              </a:spcAft>
              <a:defRPr sz="1800">
                <a:solidFill>
                  <a:srgbClr val="EAF0F5"/>
                </a:solidFill>
                <a:latin typeface="Aptos"/>
              </a:defRPr>
            </a:pPr>
            <a:r>
              <a:t>• config_loader.py resolves CONFIG_PATH, executable-local config.json, then module-local config.json.</a:t>
            </a:r>
          </a:p>
          <a:p>
            <a:pPr>
              <a:spcAft>
                <a:spcPts val="800"/>
              </a:spcAft>
              <a:defRPr sz="1800">
                <a:solidFill>
                  <a:srgbClr val="EAF0F5"/>
                </a:solidFill>
                <a:latin typeface="Aptos"/>
              </a:defRPr>
            </a:pPr>
            <a:r>
              <a:t>• FileSearchRAGChain now resolves its default config from the executable directory in frozen mode.</a:t>
            </a:r>
          </a:p>
          <a:p>
            <a:pPr>
              <a:spcAft>
                <a:spcPts val="800"/>
              </a:spcAft>
              <a:defRPr sz="1800">
                <a:solidFill>
                  <a:srgbClr val="EAF0F5"/>
                </a:solidFill>
                <a:latin typeface="Aptos"/>
              </a:defRPr>
            </a:pPr>
            <a:r>
              <a:t>• Template-agent discovery supports both install-root agents/ and nested Tlamatini/agent/agents layouts in packaged builds.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6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84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713232"/>
            <a:ext cx="164592" cy="5394960"/>
          </a:xfrm>
          <a:prstGeom prst="rect">
            <a:avLst/>
          </a:prstGeom>
          <a:solidFill>
            <a:srgbClr val="E0B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658368"/>
            <a:ext cx="1060704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F4F8FB"/>
                </a:solidFill>
                <a:latin typeface="Aptos Display"/>
              </a:defRPr>
            </a:pPr>
            <a:r>
              <a:t>Files that now define the Multi-Turn truth surface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1261872"/>
            <a:ext cx="10424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B9CFE0"/>
                </a:solidFill>
                <a:latin typeface="Aptos"/>
              </a:defRPr>
            </a:pPr>
            <a:r>
              <a:t>These modules should be read together when auditing the feature.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6446520"/>
            <a:ext cx="10789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DB4C7"/>
                </a:solidFill>
                <a:latin typeface="Aptos"/>
              </a:defRPr>
            </a:pPr>
            <a:r>
              <a:t>Tlamatini | April 6, 2026 | bd06b4680877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0080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D4DEE7"/>
                </a:solidFill>
                <a:latin typeface="Aptos"/>
              </a:defRPr>
            </a:pPr>
            <a: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783080"/>
            <a:ext cx="10469880" cy="4389120"/>
          </a:xfrm>
          <a:prstGeom prst="rect">
            <a:avLst/>
          </a:prstGeom>
          <a:noFill/>
        </p:spPr>
        <p:txBody>
          <a:bodyPr wrap="square" lIns="0" rIns="0" tIns="0" anchor="t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EAF0F5"/>
                </a:solidFill>
                <a:latin typeface="Aptos"/>
              </a:defRPr>
            </a:pPr>
            <a:r>
              <a:t>• README.md: public contract, current architecture narrative, and changelog.</a:t>
            </a:r>
          </a:p>
          <a:p>
            <a:pPr>
              <a:spcAft>
                <a:spcPts val="800"/>
              </a:spcAft>
              <a:defRPr sz="1800">
                <a:solidFill>
                  <a:srgbClr val="EAF0F5"/>
                </a:solidFill>
                <a:latin typeface="Aptos"/>
              </a:defRPr>
            </a:pPr>
            <a:r>
              <a:t>• agent/capability_registry.py: scoring and selection layer for tools, wrapped agents, and MCP contexts.</a:t>
            </a:r>
          </a:p>
          <a:p>
            <a:pPr>
              <a:spcAft>
                <a:spcPts val="800"/>
              </a:spcAft>
              <a:defRPr sz="1800">
                <a:solidFill>
                  <a:srgbClr val="EAF0F5"/>
                </a:solidFill>
                <a:latin typeface="Aptos"/>
              </a:defRPr>
            </a:pPr>
            <a:r>
              <a:t>• agent/global_execution_planner.py: request-scoped DAG and execution modes.</a:t>
            </a:r>
          </a:p>
          <a:p>
            <a:pPr>
              <a:spcAft>
                <a:spcPts val="800"/>
              </a:spcAft>
              <a:defRPr sz="1800">
                <a:solidFill>
                  <a:srgbClr val="EAF0F5"/>
                </a:solidFill>
                <a:latin typeface="Aptos"/>
              </a:defRPr>
            </a:pPr>
            <a:r>
              <a:t>• agent/mcp_agent.py plus rag/factory.py plus rag/chains/unified.py: planner forwarding, dynamic binding, and execution loop.</a:t>
            </a:r>
          </a:p>
          <a:p>
            <a:pPr>
              <a:spcAft>
                <a:spcPts val="800"/>
              </a:spcAft>
              <a:defRPr sz="1800">
                <a:solidFill>
                  <a:srgbClr val="EAF0F5"/>
                </a:solidFill>
                <a:latin typeface="Aptos"/>
              </a:defRPr>
            </a:pPr>
            <a:r>
              <a:t>• agent/chain_files_search_lcel.py, agent/tools.py, and agent/global_state.py: runtime hardening, file narrowing, frozen paths, and console suppression.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6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84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713232"/>
            <a:ext cx="164592" cy="5394960"/>
          </a:xfrm>
          <a:prstGeom prst="rect">
            <a:avLst/>
          </a:prstGeom>
          <a:solidFill>
            <a:srgbClr val="E0B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658368"/>
            <a:ext cx="1060704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F4F8FB"/>
                </a:solidFill>
                <a:latin typeface="Aptos Display"/>
              </a:defRPr>
            </a:pPr>
            <a:r>
              <a:t>Verification and current reading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1261872"/>
            <a:ext cx="10424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B9CFE0"/>
                </a:solidFill>
                <a:latin typeface="Aptos"/>
              </a:defRPr>
            </a:pPr>
            <a:r>
              <a:t>The refreshed documentation is backed by test results, not by optimistic paraphrase.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6446520"/>
            <a:ext cx="10789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DB4C7"/>
                </a:solidFill>
                <a:latin typeface="Aptos"/>
              </a:defRPr>
            </a:pPr>
            <a:r>
              <a:t>Tlamatini | April 6, 2026 | bd06b4680877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0080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D4DEE7"/>
                </a:solidFill>
                <a:latin typeface="Aptos"/>
              </a:defRPr>
            </a:pPr>
            <a: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783080"/>
            <a:ext cx="10469880" cy="4389120"/>
          </a:xfrm>
          <a:prstGeom prst="rect">
            <a:avLst/>
          </a:prstGeom>
          <a:noFill/>
        </p:spPr>
        <p:txBody>
          <a:bodyPr wrap="square" lIns="0" rIns="0" tIns="0" anchor="t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EAF0F5"/>
                </a:solidFill>
                <a:latin typeface="Aptos"/>
              </a:defRPr>
            </a:pPr>
            <a:r>
              <a:t>• python Tlamatini/manage.py test agent.tests --verbosity 1 completed with 63/63 passing tests in this workspace.</a:t>
            </a:r>
          </a:p>
          <a:p>
            <a:pPr>
              <a:spcAft>
                <a:spcPts val="800"/>
              </a:spcAft>
              <a:defRPr sz="1800">
                <a:solidFill>
                  <a:srgbClr val="EAF0F5"/>
                </a:solidFill>
                <a:latin typeface="Aptos"/>
              </a:defRPr>
            </a:pPr>
            <a:r>
              <a:t>• Focused regression coverage now includes planner creation, context gating, prompt bypass scope, background launch suppression, and frozen-mode compatibility.</a:t>
            </a:r>
          </a:p>
          <a:p>
            <a:pPr>
              <a:spcAft>
                <a:spcPts val="800"/>
              </a:spcAft>
              <a:defRPr sz="1800">
                <a:solidFill>
                  <a:srgbClr val="EAF0F5"/>
                </a:solidFill>
                <a:latin typeface="Aptos"/>
              </a:defRPr>
            </a:pPr>
            <a:r>
              <a:t>• The strongest reading of the current product is this: Multi-Turn is now a real opt-in orchestration mode, and the legacy chat path is still preserved exactly when the checkbox is off.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