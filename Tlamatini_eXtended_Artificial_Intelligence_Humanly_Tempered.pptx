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XAIHT</a:t>
            </a:r>
          </a:p>
        </p:txBody>
      </p:sp>
      <p:sp>
        <p:nvSpPr>
          <p:cNvPr id="3" name="title-1"/>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Tlamatini: eXtended Artificial Intelligence Humanly Tempered</a:t>
            </a:r>
          </a:p>
        </p:txBody>
      </p:sp>
      <p:sp>
        <p:nvSpPr>
          <p:cNvPr id="4" name="subtitle-1"/>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Code-verified deck rebuilt from the current source tree, the refreshed README, the refreshed PDF, and focused April 4, 2026 test runs.</a:t>
            </a:r>
          </a:p>
        </p:txBody>
      </p:sp>
      <p:sp>
        <p:nvSpPr>
          <p:cNvPr id="5" name="footer-left-1"/>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a:t>
            </a:r>
          </a:p>
        </p:txBody>
      </p:sp>
      <p:sp>
        <p:nvSpPr>
          <p:cNvPr id="7" name="Rounded Rectangle 6"/>
          <p:cNvSpPr/>
          <p:nvPr/>
        </p:nvSpPr>
        <p:spPr>
          <a:xfrm>
            <a:off x="502920" y="1417320"/>
            <a:ext cx="3474720" cy="123444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anchor</a:t>
            </a:r>
          </a:p>
          <a:p>
            <a:r>
              <a:rPr sz="1150">
                <a:solidFill>
                  <a:srgbClr val="334155"/>
                </a:solidFill>
                <a:latin typeface="Aptos"/>
              </a:rPr>
              <a:t>HEAD 235f7bd7f1f3</a:t>
            </a:r>
          </a:p>
          <a:p>
            <a:r>
              <a:rPr sz="1150">
                <a:solidFill>
                  <a:srgbClr val="334155"/>
                </a:solidFill>
                <a:latin typeface="Aptos"/>
              </a:rPr>
              <a:t>329 tracked files</a:t>
            </a:r>
          </a:p>
          <a:p>
            <a:r>
              <a:rPr sz="1150">
                <a:solidFill>
                  <a:srgbClr val="334155"/>
                </a:solidFill>
                <a:latin typeface="Aptos"/>
              </a:rPr>
              <a:t>56 templates, 103 app routes</a:t>
            </a:r>
          </a:p>
        </p:txBody>
      </p:sp>
      <p:sp>
        <p:nvSpPr>
          <p:cNvPr id="8" name="Rounded Rectangle 7"/>
          <p:cNvSpPr/>
          <p:nvPr/>
        </p:nvSpPr>
        <p:spPr>
          <a:xfrm>
            <a:off x="4160520" y="1417320"/>
            <a:ext cx="3611880" cy="123444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Previous docs anchor</a:t>
            </a:r>
          </a:p>
          <a:p>
            <a:r>
              <a:rPr sz="1150">
                <a:solidFill>
                  <a:srgbClr val="334155"/>
                </a:solidFill>
                <a:latin typeface="Aptos"/>
              </a:rPr>
              <a:t>Previous deck/PDF anchor: 4fd33b480086</a:t>
            </a:r>
          </a:p>
          <a:p>
            <a:r>
              <a:rPr sz="1150">
                <a:solidFill>
                  <a:srgbClr val="334155"/>
                </a:solidFill>
                <a:latin typeface="Aptos"/>
              </a:rPr>
              <a:t>April 3 documentation snapshot</a:t>
            </a:r>
          </a:p>
          <a:p>
            <a:r>
              <a:rPr sz="1150">
                <a:solidFill>
                  <a:srgbClr val="334155"/>
                </a:solidFill>
                <a:latin typeface="Aptos"/>
              </a:rPr>
              <a:t>Did not include the recent April 4 truth surface</a:t>
            </a:r>
          </a:p>
        </p:txBody>
      </p:sp>
      <p:sp>
        <p:nvSpPr>
          <p:cNvPr id="9" name="Rounded Rectangle 8"/>
          <p:cNvSpPr/>
          <p:nvPr/>
        </p:nvSpPr>
        <p:spPr>
          <a:xfrm>
            <a:off x="7955279" y="1417320"/>
            <a:ext cx="3657600" cy="123444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Evidence used</a:t>
            </a:r>
          </a:p>
          <a:p>
            <a:r>
              <a:rPr sz="1150">
                <a:solidFill>
                  <a:srgbClr val="334155"/>
                </a:solidFill>
                <a:latin typeface="Aptos"/>
              </a:rPr>
              <a:t>Current codebase and commit range</a:t>
            </a:r>
          </a:p>
          <a:p>
            <a:r>
              <a:rPr sz="1150">
                <a:solidFill>
                  <a:srgbClr val="334155"/>
                </a:solidFill>
                <a:latin typeface="Aptos"/>
              </a:rPr>
              <a:t>Refreshed README.md and refreshed PDF text</a:t>
            </a:r>
          </a:p>
          <a:p>
            <a:r>
              <a:rPr sz="1150">
                <a:solidFill>
                  <a:srgbClr val="334155"/>
                </a:solidFill>
                <a:latin typeface="Aptos"/>
              </a:rPr>
              <a:t>Focused agent.tests reruns</a:t>
            </a:r>
          </a:p>
        </p:txBody>
      </p:sp>
      <p:sp>
        <p:nvSpPr>
          <p:cNvPr id="10" name="Rounded Rectangle 9"/>
          <p:cNvSpPr/>
          <p:nvPr/>
        </p:nvSpPr>
        <p:spPr>
          <a:xfrm>
            <a:off x="502920" y="2880360"/>
            <a:ext cx="11109960" cy="128016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Why this version exists</a:t>
            </a:r>
          </a:p>
          <a:p>
            <a:r>
              <a:rPr sz="1150">
                <a:solidFill>
                  <a:srgbClr val="334155"/>
                </a:solidFill>
                <a:latin typeface="Aptos"/>
              </a:rPr>
              <a:t>This rebuild replaces an April 3 deck with an April 4 one. The story now includes main-chat context state sync, loaded-documents RAG fallback propagation, runtime limits now set to 100, demo prompt seeding, keyboarder ACP wiring, Mouser click actions, and the current 31-test status.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2"/>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MAP</a:t>
            </a:r>
          </a:p>
        </p:txBody>
      </p:sp>
      <p:sp>
        <p:nvSpPr>
          <p:cNvPr id="3" name="title-2"/>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Agenda</a:t>
            </a:r>
          </a:p>
        </p:txBody>
      </p:sp>
      <p:sp>
        <p:nvSpPr>
          <p:cNvPr id="4" name="subtitle-2"/>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narrative moves from evidence anchors into product surface, runtime, workflow control, infrastructure, and current caveats.</a:t>
            </a:r>
          </a:p>
        </p:txBody>
      </p:sp>
      <p:sp>
        <p:nvSpPr>
          <p:cNvPr id="5" name="footer-left-2"/>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2"/>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2</a:t>
            </a:r>
          </a:p>
        </p:txBody>
      </p:sp>
      <p:sp>
        <p:nvSpPr>
          <p:cNvPr id="7" name="Rounded Rectangle 6"/>
          <p:cNvSpPr/>
          <p:nvPr/>
        </p:nvSpPr>
        <p:spPr>
          <a:xfrm>
            <a:off x="548640" y="1417320"/>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01</a:t>
            </a:r>
          </a:p>
          <a:p>
            <a:r>
              <a:rPr sz="1150">
                <a:solidFill>
                  <a:srgbClr val="334155"/>
                </a:solidFill>
                <a:latin typeface="Aptos"/>
              </a:rPr>
              <a:t>01 Evidence anchors, stale artifacts, and what changed after the April 3 docs pass.</a:t>
            </a:r>
          </a:p>
        </p:txBody>
      </p:sp>
      <p:sp>
        <p:nvSpPr>
          <p:cNvPr id="8" name="Rounded Rectangle 7"/>
          <p:cNvSpPr/>
          <p:nvPr/>
        </p:nvSpPr>
        <p:spPr>
          <a:xfrm>
            <a:off x="6126479" y="1417320"/>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02</a:t>
            </a:r>
          </a:p>
          <a:p>
            <a:r>
              <a:rPr sz="1150">
                <a:solidFill>
                  <a:srgbClr val="334155"/>
                </a:solidFill>
                <a:latin typeface="Aptos"/>
              </a:rPr>
              <a:t>02 Product surface, architecture, and the runtime/control plane.</a:t>
            </a:r>
          </a:p>
        </p:txBody>
      </p:sp>
      <p:sp>
        <p:nvSpPr>
          <p:cNvPr id="9" name="Rounded Rectangle 8"/>
          <p:cNvSpPr/>
          <p:nvPr/>
        </p:nvSpPr>
        <p:spPr>
          <a:xfrm>
            <a:off x="548640" y="2770632"/>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03</a:t>
            </a:r>
          </a:p>
          <a:p>
            <a:r>
              <a:rPr sz="1150">
                <a:solidFill>
                  <a:srgbClr val="334155"/>
                </a:solidFill>
                <a:latin typeface="Aptos"/>
              </a:rPr>
              <a:t>03 Main chat, loaded-doc fallback behavior, and wrapped runtime controls.</a:t>
            </a:r>
          </a:p>
        </p:txBody>
      </p:sp>
      <p:sp>
        <p:nvSpPr>
          <p:cNvPr id="10" name="Rounded Rectangle 9"/>
          <p:cNvSpPr/>
          <p:nvPr/>
        </p:nvSpPr>
        <p:spPr>
          <a:xfrm>
            <a:off x="6126479" y="2770632"/>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04</a:t>
            </a:r>
          </a:p>
          <a:p>
            <a:r>
              <a:rPr sz="1150">
                <a:solidFill>
                  <a:srgbClr val="334155"/>
                </a:solidFill>
                <a:latin typeface="Aptos"/>
              </a:rPr>
              <a:t>04 ACP, state sync, pause/reanimation, validation, and workflow inventory.</a:t>
            </a:r>
          </a:p>
        </p:txBody>
      </p:sp>
      <p:sp>
        <p:nvSpPr>
          <p:cNvPr id="11" name="Rounded Rectangle 10"/>
          <p:cNvSpPr/>
          <p:nvPr/>
        </p:nvSpPr>
        <p:spPr>
          <a:xfrm>
            <a:off x="548640" y="4123944"/>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05</a:t>
            </a:r>
          </a:p>
          <a:p>
            <a:r>
              <a:rPr sz="1150">
                <a:solidFill>
                  <a:srgbClr val="334155"/>
                </a:solidFill>
                <a:latin typeface="Aptos"/>
              </a:rPr>
              <a:t>05 Keyboarder, Mouser, Parametrizer, persistence, packaging, and metadata drift.</a:t>
            </a:r>
          </a:p>
        </p:txBody>
      </p:sp>
      <p:sp>
        <p:nvSpPr>
          <p:cNvPr id="12" name="Rounded Rectangle 11"/>
          <p:cNvSpPr/>
          <p:nvPr/>
        </p:nvSpPr>
        <p:spPr>
          <a:xfrm>
            <a:off x="6126479" y="4123944"/>
            <a:ext cx="5166360" cy="987552"/>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06</a:t>
            </a:r>
          </a:p>
          <a:p>
            <a:r>
              <a:rPr sz="1150">
                <a:solidFill>
                  <a:srgbClr val="334155"/>
                </a:solidFill>
                <a:latin typeface="Aptos"/>
              </a:rPr>
              <a:t>06 Current tests, known issues, and the April 4 operational reading.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3"/>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EVIDENCE</a:t>
            </a:r>
          </a:p>
        </p:txBody>
      </p:sp>
      <p:sp>
        <p:nvSpPr>
          <p:cNvPr id="3" name="title-3"/>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What was stale and what is now the truth anchor</a:t>
            </a:r>
          </a:p>
        </p:txBody>
      </p:sp>
      <p:sp>
        <p:nvSpPr>
          <p:cNvPr id="4" name="subtitle-3"/>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Code, README, the prior PDF extraction, and the prior deck were all audited before rebuilding the narrative.</a:t>
            </a:r>
          </a:p>
        </p:txBody>
      </p:sp>
      <p:sp>
        <p:nvSpPr>
          <p:cNvPr id="5" name="footer-left-3"/>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3"/>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3</a:t>
            </a:r>
          </a:p>
        </p:txBody>
      </p:sp>
      <p:sp>
        <p:nvSpPr>
          <p:cNvPr id="7" name="Rounded Rectangle 6"/>
          <p:cNvSpPr/>
          <p:nvPr/>
        </p:nvSpPr>
        <p:spPr>
          <a:xfrm>
            <a:off x="502920" y="1417320"/>
            <a:ext cx="3520440" cy="11430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code truth</a:t>
            </a:r>
          </a:p>
          <a:p>
            <a:r>
              <a:rPr sz="1150">
                <a:solidFill>
                  <a:srgbClr val="334155"/>
                </a:solidFill>
                <a:latin typeface="Aptos"/>
              </a:rPr>
              <a:t>HEAD 235f7bd7f1f3</a:t>
            </a:r>
          </a:p>
          <a:p>
            <a:r>
              <a:rPr sz="1150">
                <a:solidFill>
                  <a:srgbClr val="334155"/>
                </a:solidFill>
                <a:latin typeface="Aptos"/>
              </a:rPr>
              <a:t>329 tracked files</a:t>
            </a:r>
          </a:p>
          <a:p>
            <a:r>
              <a:rPr sz="1150">
                <a:solidFill>
                  <a:srgbClr val="334155"/>
                </a:solidFill>
                <a:latin typeface="Aptos"/>
              </a:rPr>
              <a:t>56 templates and 103 app routes</a:t>
            </a:r>
          </a:p>
        </p:txBody>
      </p:sp>
      <p:sp>
        <p:nvSpPr>
          <p:cNvPr id="8" name="Rounded Rectangle 7"/>
          <p:cNvSpPr/>
          <p:nvPr/>
        </p:nvSpPr>
        <p:spPr>
          <a:xfrm>
            <a:off x="4160520" y="1417320"/>
            <a:ext cx="3520440" cy="11430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Previous PDF before overwrite</a:t>
            </a:r>
          </a:p>
          <a:p>
            <a:r>
              <a:rPr sz="1150">
                <a:solidFill>
                  <a:srgbClr val="334155"/>
                </a:solidFill>
                <a:latin typeface="Aptos"/>
              </a:rPr>
              <a:t>Anchor extracted: 4fd33b480086</a:t>
            </a:r>
          </a:p>
          <a:p>
            <a:r>
              <a:rPr sz="1150">
                <a:solidFill>
                  <a:srgbClr val="334155"/>
                </a:solidFill>
                <a:latin typeface="Aptos"/>
              </a:rPr>
              <a:t>April 3 snapshot</a:t>
            </a:r>
          </a:p>
          <a:p>
            <a:r>
              <a:rPr sz="1150">
                <a:solidFill>
                  <a:srgbClr val="334155"/>
                </a:solidFill>
                <a:latin typeface="Aptos"/>
              </a:rPr>
              <a:t>Predated the April 4 changes</a:t>
            </a:r>
          </a:p>
        </p:txBody>
      </p:sp>
      <p:sp>
        <p:nvSpPr>
          <p:cNvPr id="9" name="Rounded Rectangle 8"/>
          <p:cNvSpPr/>
          <p:nvPr/>
        </p:nvSpPr>
        <p:spPr>
          <a:xfrm>
            <a:off x="7818120" y="1417320"/>
            <a:ext cx="3794760" cy="11430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Previous deck before overwrite</a:t>
            </a:r>
          </a:p>
          <a:p>
            <a:r>
              <a:rPr sz="1150">
                <a:solidFill>
                  <a:srgbClr val="334155"/>
                </a:solidFill>
                <a:latin typeface="Aptos"/>
              </a:rPr>
              <a:t>Anchor audited: 4fd33b480086</a:t>
            </a:r>
          </a:p>
          <a:p>
            <a:r>
              <a:rPr sz="1150">
                <a:solidFill>
                  <a:srgbClr val="334155"/>
                </a:solidFill>
                <a:latin typeface="Aptos"/>
              </a:rPr>
              <a:t>Still April 3 narrative</a:t>
            </a:r>
          </a:p>
          <a:p>
            <a:r>
              <a:rPr sz="1150">
                <a:solidFill>
                  <a:srgbClr val="334155"/>
                </a:solidFill>
                <a:latin typeface="Aptos"/>
              </a:rPr>
              <a:t>Predated the April 4 changes</a:t>
            </a:r>
          </a:p>
        </p:txBody>
      </p:sp>
      <p:sp>
        <p:nvSpPr>
          <p:cNvPr id="10" name="Rounded Rectangle 9"/>
          <p:cNvSpPr/>
          <p:nvPr/>
        </p:nvSpPr>
        <p:spPr>
          <a:xfrm>
            <a:off x="502920" y="2743200"/>
            <a:ext cx="11109960" cy="182880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commit line behind the refresh</a:t>
            </a:r>
          </a:p>
          <a:p>
            <a:r>
              <a:rPr sz="1150">
                <a:solidFill>
                  <a:srgbClr val="334155"/>
                </a:solidFill>
                <a:latin typeface="Aptos"/>
              </a:rPr>
              <a:t>Recent commits:</a:t>
            </a:r>
          </a:p>
          <a:p>
            <a:r>
              <a:rPr sz="1150">
                <a:solidFill>
                  <a:srgbClr val="334155"/>
                </a:solidFill>
                <a:latin typeface="Aptos"/>
              </a:rPr>
              <a:t>235f7bd Fixing some stateful variables and state machines, and improving requirements.txt, by angelahack1</a:t>
            </a:r>
          </a:p>
          <a:p>
            <a:r>
              <a:rPr sz="1150">
                <a:solidFill>
                  <a:srgbClr val="334155"/>
                </a:solidFill>
                <a:latin typeface="Aptos"/>
              </a:rPr>
              <a:t>1c8e75c Just lintint Javascript, by angelahack1</a:t>
            </a:r>
          </a:p>
          <a:p>
            <a:r>
              <a:rPr sz="1150">
                <a:solidFill>
                  <a:srgbClr val="334155"/>
                </a:solidFill>
                <a:latin typeface="Aptos"/>
              </a:rPr>
              <a:t>871d9d1 Enhancing the RAG with a new fall-back, by angelahack1</a:t>
            </a:r>
          </a:p>
          <a:p>
            <a:r>
              <a:rPr sz="1150">
                <a:solidFill>
                  <a:srgbClr val="334155"/>
                </a:solidFill>
                <a:latin typeface="Aptos"/>
              </a:rPr>
              <a:t>5669bcd An additional fix tied to the last change implemented, by angrlahack1</a:t>
            </a:r>
          </a:p>
          <a:p>
            <a:r>
              <a:rPr sz="1150">
                <a:solidFill>
                  <a:srgbClr val="334155"/>
                </a:solidFill>
                <a:latin typeface="Aptos"/>
              </a:rPr>
              <a:t>1903857 Fixing multiturn limit to 100 and configurable, by angelahack1</a:t>
            </a:r>
          </a:p>
          <a:p>
            <a:r>
              <a:rPr sz="1150">
                <a:solidFill>
                  <a:srgbClr val="334155"/>
                </a:solidFill>
                <a:latin typeface="Aptos"/>
              </a:rPr>
              <a:t>1d4ecea Creatin g multi-turn agentic example prompts, by angelahack1</a:t>
            </a:r>
          </a:p>
        </p:txBody>
      </p:sp>
      <p:sp>
        <p:nvSpPr>
          <p:cNvPr id="11" name="Rounded Rectangle 10"/>
          <p:cNvSpPr/>
          <p:nvPr/>
        </p:nvSpPr>
        <p:spPr>
          <a:xfrm>
            <a:off x="502920" y="4800600"/>
            <a:ext cx="11109960" cy="100584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README now updated in this pass</a:t>
            </a:r>
          </a:p>
          <a:p>
            <a:r>
              <a:rPr sz="1100">
                <a:solidFill>
                  <a:srgbClr val="334155"/>
                </a:solidFill>
                <a:latin typeface="Aptos"/>
              </a:rPr>
              <a:t>The refreshed README now corrects the 55/102 drift, adds the keyboarder workflow row, fixes Open in behavior for file contexts, includes the keyboarder/flowbacker API rows, and reports the April 4 test rerun accurately.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4"/>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SNAPSHOT</a:t>
            </a:r>
          </a:p>
        </p:txBody>
      </p:sp>
      <p:sp>
        <p:nvSpPr>
          <p:cNvPr id="3" name="title-4"/>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Current code-verified system shape</a:t>
            </a:r>
          </a:p>
        </p:txBody>
      </p:sp>
      <p:sp>
        <p:nvSpPr>
          <p:cNvPr id="4" name="subtitle-4"/>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These counts were recomputed directly from the live repository and form the baseline for the refreshed README, PDF, and deck.</a:t>
            </a:r>
          </a:p>
        </p:txBody>
      </p:sp>
      <p:sp>
        <p:nvSpPr>
          <p:cNvPr id="5" name="footer-left-4"/>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4"/>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4</a:t>
            </a:r>
          </a:p>
        </p:txBody>
      </p:sp>
      <p:sp>
        <p:nvSpPr>
          <p:cNvPr id="7" name="Rounded Rectangle 6"/>
          <p:cNvSpPr/>
          <p:nvPr/>
        </p:nvSpPr>
        <p:spPr>
          <a:xfrm>
            <a:off x="566928" y="1508760"/>
            <a:ext cx="3337560" cy="13258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Tracked files</a:t>
            </a:r>
          </a:p>
          <a:p>
            <a:r>
              <a:rPr sz="1150">
                <a:solidFill>
                  <a:srgbClr val="334155"/>
                </a:solidFill>
                <a:latin typeface="Aptos"/>
              </a:rPr>
              <a:t>329</a:t>
            </a:r>
          </a:p>
        </p:txBody>
      </p:sp>
      <p:sp>
        <p:nvSpPr>
          <p:cNvPr id="8" name="Rounded Rectangle 7"/>
          <p:cNvSpPr/>
          <p:nvPr/>
        </p:nvSpPr>
        <p:spPr>
          <a:xfrm>
            <a:off x="4315968" y="1508760"/>
            <a:ext cx="3337560" cy="13258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Python footprint</a:t>
            </a:r>
          </a:p>
          <a:p>
            <a:r>
              <a:rPr sz="1150">
                <a:solidFill>
                  <a:srgbClr val="334155"/>
                </a:solidFill>
                <a:latin typeface="Aptos"/>
              </a:rPr>
              <a:t>198 files</a:t>
            </a:r>
          </a:p>
          <a:p>
            <a:r>
              <a:rPr sz="1150">
                <a:solidFill>
                  <a:srgbClr val="334155"/>
                </a:solidFill>
                <a:latin typeface="Aptos"/>
              </a:rPr>
              <a:t>57,730 lines</a:t>
            </a:r>
          </a:p>
        </p:txBody>
      </p:sp>
      <p:sp>
        <p:nvSpPr>
          <p:cNvPr id="9" name="Rounded Rectangle 8"/>
          <p:cNvSpPr/>
          <p:nvPr/>
        </p:nvSpPr>
        <p:spPr>
          <a:xfrm>
            <a:off x="8065007" y="1508760"/>
            <a:ext cx="3337560" cy="13258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JavaScript footprint</a:t>
            </a:r>
          </a:p>
          <a:p>
            <a:r>
              <a:rPr sz="1150">
                <a:solidFill>
                  <a:srgbClr val="334155"/>
                </a:solidFill>
                <a:latin typeface="Aptos"/>
              </a:rPr>
              <a:t>24 files</a:t>
            </a:r>
          </a:p>
          <a:p>
            <a:r>
              <a:rPr sz="1150">
                <a:solidFill>
                  <a:srgbClr val="334155"/>
                </a:solidFill>
                <a:latin typeface="Aptos"/>
              </a:rPr>
              <a:t>12,292 lines</a:t>
            </a:r>
          </a:p>
        </p:txBody>
      </p:sp>
      <p:sp>
        <p:nvSpPr>
          <p:cNvPr id="10" name="Rounded Rectangle 9"/>
          <p:cNvSpPr/>
          <p:nvPr/>
        </p:nvSpPr>
        <p:spPr>
          <a:xfrm>
            <a:off x="566928" y="3108960"/>
            <a:ext cx="3337560" cy="13258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CSS footprint</a:t>
            </a:r>
          </a:p>
          <a:p>
            <a:r>
              <a:rPr sz="1150">
                <a:solidFill>
                  <a:srgbClr val="334155"/>
                </a:solidFill>
                <a:latin typeface="Aptos"/>
              </a:rPr>
              <a:t>5 files</a:t>
            </a:r>
          </a:p>
          <a:p>
            <a:r>
              <a:rPr sz="1150">
                <a:solidFill>
                  <a:srgbClr val="334155"/>
                </a:solidFill>
                <a:latin typeface="Aptos"/>
              </a:rPr>
              <a:t>2,960 lines</a:t>
            </a:r>
          </a:p>
        </p:txBody>
      </p:sp>
      <p:sp>
        <p:nvSpPr>
          <p:cNvPr id="11" name="Rounded Rectangle 10"/>
          <p:cNvSpPr/>
          <p:nvPr/>
        </p:nvSpPr>
        <p:spPr>
          <a:xfrm>
            <a:off x="4315968" y="3108960"/>
            <a:ext cx="3337560" cy="13258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Agent templates</a:t>
            </a:r>
          </a:p>
          <a:p>
            <a:r>
              <a:rPr sz="1150">
                <a:solidFill>
                  <a:srgbClr val="334155"/>
                </a:solidFill>
                <a:latin typeface="Aptos"/>
              </a:rPr>
              <a:t>56 verified</a:t>
            </a:r>
          </a:p>
          <a:p>
            <a:r>
              <a:rPr sz="1150">
                <a:solidFill>
                  <a:srgbClr val="334155"/>
                </a:solidFill>
                <a:latin typeface="Aptos"/>
              </a:rPr>
              <a:t>excluding pools/__pycache__</a:t>
            </a:r>
          </a:p>
        </p:txBody>
      </p:sp>
      <p:sp>
        <p:nvSpPr>
          <p:cNvPr id="12" name="Rounded Rectangle 11"/>
          <p:cNvSpPr/>
          <p:nvPr/>
        </p:nvSpPr>
        <p:spPr>
          <a:xfrm>
            <a:off x="8065007" y="3108960"/>
            <a:ext cx="3337560" cy="13258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Routing and models</a:t>
            </a:r>
          </a:p>
          <a:p>
            <a:r>
              <a:rPr sz="1150">
                <a:solidFill>
                  <a:srgbClr val="334155"/>
                </a:solidFill>
                <a:latin typeface="Aptos"/>
              </a:rPr>
              <a:t>103 app + 3 project + 1 WS</a:t>
            </a:r>
          </a:p>
          <a:p>
            <a:r>
              <a:rPr sz="1150">
                <a:solidFill>
                  <a:srgbClr val="334155"/>
                </a:solidFill>
                <a:latin typeface="Aptos"/>
              </a:rPr>
              <a:t>13 Django models</a:t>
            </a:r>
          </a:p>
        </p:txBody>
      </p:sp>
      <p:sp>
        <p:nvSpPr>
          <p:cNvPr id="13" name="Rounded Rectangle 12"/>
          <p:cNvSpPr/>
          <p:nvPr/>
        </p:nvSpPr>
        <p:spPr>
          <a:xfrm>
            <a:off x="566928" y="4892040"/>
            <a:ext cx="10972800" cy="82296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Readout</a:t>
            </a:r>
          </a:p>
          <a:p>
            <a:r>
              <a:rPr sz="1150">
                <a:solidFill>
                  <a:srgbClr val="334155"/>
                </a:solidFill>
                <a:latin typeface="Aptos"/>
              </a:rPr>
              <a:t>Compared with the April 3 deck, the repository grew to 329 tracked files, 198 Python files, 56 workflow templates, and 103 app routes. The most visible user-facing changes are state restoration fidelity, keyboarder, and the strengthened RAG fallback story.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5"/>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DELTA</a:t>
            </a:r>
          </a:p>
        </p:txBody>
      </p:sp>
      <p:sp>
        <p:nvSpPr>
          <p:cNvPr id="3" name="title-5"/>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What changed after the April 3 documentation pass</a:t>
            </a:r>
          </a:p>
        </p:txBody>
      </p:sp>
      <p:sp>
        <p:nvSpPr>
          <p:cNvPr id="4" name="subtitle-5"/>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recent commits are mostly behavior and release-flow commits, not top-level topology explosions.</a:t>
            </a:r>
          </a:p>
        </p:txBody>
      </p:sp>
      <p:sp>
        <p:nvSpPr>
          <p:cNvPr id="5" name="footer-left-5"/>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5"/>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5</a:t>
            </a:r>
          </a:p>
        </p:txBody>
      </p:sp>
      <p:sp>
        <p:nvSpPr>
          <p:cNvPr id="7" name="Rounded Rectangle 6"/>
          <p:cNvSpPr/>
          <p:nvPr/>
        </p:nvSpPr>
        <p:spPr>
          <a:xfrm>
            <a:off x="566928" y="1463040"/>
            <a:ext cx="5212080" cy="9601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Chat state sync</a:t>
            </a:r>
          </a:p>
          <a:p>
            <a:r>
              <a:rPr sz="1050">
                <a:solidFill>
                  <a:srgbClr val="334155"/>
                </a:solidFill>
                <a:latin typeface="Aptos"/>
              </a:rPr>
              <a:t>agent_page_ui.js centralizes applyContextUiState().</a:t>
            </a:r>
          </a:p>
          <a:p>
            <a:r>
              <a:rPr sz="1050">
                <a:solidFill>
                  <a:srgbClr val="334155"/>
                </a:solidFill>
                <a:latin typeface="Aptos"/>
              </a:rPr>
              <a:t>session-restored and context-path-set now share the same UI-state path.</a:t>
            </a:r>
          </a:p>
        </p:txBody>
      </p:sp>
      <p:sp>
        <p:nvSpPr>
          <p:cNvPr id="8" name="Rounded Rectangle 7"/>
          <p:cNvSpPr/>
          <p:nvPr/>
        </p:nvSpPr>
        <p:spPr>
          <a:xfrm>
            <a:off x="6053328" y="1463040"/>
            <a:ext cx="5212080" cy="9601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File-context navigation</a:t>
            </a:r>
          </a:p>
          <a:p>
            <a:r>
              <a:rPr sz="1050">
                <a:solidFill>
                  <a:srgbClr val="334155"/>
                </a:solidFill>
                <a:latin typeface="Aptos"/>
              </a:rPr>
              <a:t>File contexts now derive a parent-directory-backed actualContextDir.</a:t>
            </a:r>
          </a:p>
          <a:p>
            <a:r>
              <a:rPr sz="1050">
                <a:solidFill>
                  <a:srgbClr val="334155"/>
                </a:solidFill>
                <a:latin typeface="Aptos"/>
              </a:rPr>
              <a:t>Open in and View context dir stay aligned after reconnects.</a:t>
            </a:r>
          </a:p>
        </p:txBody>
      </p:sp>
      <p:sp>
        <p:nvSpPr>
          <p:cNvPr id="9" name="Rounded Rectangle 8"/>
          <p:cNvSpPr/>
          <p:nvPr/>
        </p:nvSpPr>
        <p:spPr>
          <a:xfrm>
            <a:off x="566928" y="2743200"/>
            <a:ext cx="5212080" cy="9601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Loaded-doc fallback</a:t>
            </a:r>
          </a:p>
          <a:p>
            <a:r>
              <a:rPr sz="1050">
                <a:solidFill>
                  <a:srgbClr val="334155"/>
                </a:solidFill>
                <a:latin typeface="Aptos"/>
              </a:rPr>
              <a:t>rag/factory.py now preserves loaded documents as a FILE MANIFEST plus packed fallback context when retrieval construction fails.</a:t>
            </a:r>
          </a:p>
        </p:txBody>
      </p:sp>
      <p:sp>
        <p:nvSpPr>
          <p:cNvPr id="10" name="Rounded Rectangle 9"/>
          <p:cNvSpPr/>
          <p:nvPr/>
        </p:nvSpPr>
        <p:spPr>
          <a:xfrm>
            <a:off x="6053328" y="2743200"/>
            <a:ext cx="5212080" cy="9601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Runtime limits</a:t>
            </a:r>
          </a:p>
          <a:p>
            <a:r>
              <a:rPr sz="1050">
                <a:solidFill>
                  <a:srgbClr val="334155"/>
                </a:solidFill>
                <a:latin typeface="Aptos"/>
              </a:rPr>
              <a:t>config.json now sets unified_agent_max_iterations and chat_agent_limit_runs to 100, and config_loader.py centralizes reading.</a:t>
            </a:r>
          </a:p>
        </p:txBody>
      </p:sp>
      <p:sp>
        <p:nvSpPr>
          <p:cNvPr id="11" name="Rounded Rectangle 10"/>
          <p:cNvSpPr/>
          <p:nvPr/>
        </p:nvSpPr>
        <p:spPr>
          <a:xfrm>
            <a:off x="566928" y="4023360"/>
            <a:ext cx="5212080" cy="9601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Prompt seeding</a:t>
            </a:r>
          </a:p>
          <a:p>
            <a:r>
              <a:rPr sz="1050">
                <a:solidFill>
                  <a:srgbClr val="334155"/>
                </a:solidFill>
                <a:latin typeface="Aptos"/>
              </a:rPr>
              <a:t>Prompt migrations now seed three multi-turn demos for local files, web research, and monitoring flows.</a:t>
            </a:r>
          </a:p>
        </p:txBody>
      </p:sp>
      <p:sp>
        <p:nvSpPr>
          <p:cNvPr id="12" name="Rounded Rectangle 11"/>
          <p:cNvSpPr/>
          <p:nvPr/>
        </p:nvSpPr>
        <p:spPr>
          <a:xfrm>
            <a:off x="6053328" y="4023360"/>
            <a:ext cx="5212080" cy="9601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Keyboarder + Mouser</a:t>
            </a:r>
          </a:p>
          <a:p>
            <a:r>
              <a:rPr sz="1050">
                <a:solidFill>
                  <a:srgbClr val="334155"/>
                </a:solidFill>
                <a:latin typeface="Aptos"/>
              </a:rPr>
              <a:t>Keyboarder now has ACP auto-wiring. Mouser now supports localized post-move button_click actions.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6"/>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PRODUCT</a:t>
            </a:r>
          </a:p>
        </p:txBody>
      </p:sp>
      <p:sp>
        <p:nvSpPr>
          <p:cNvPr id="3" name="title-6"/>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What Tlamatini is and where users touch it</a:t>
            </a:r>
          </a:p>
        </p:txBody>
      </p:sp>
      <p:sp>
        <p:nvSpPr>
          <p:cNvPr id="4" name="subtitle-6"/>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application remains a local-first technical platform rather than only a chat shell.</a:t>
            </a:r>
          </a:p>
        </p:txBody>
      </p:sp>
      <p:sp>
        <p:nvSpPr>
          <p:cNvPr id="5" name="footer-left-6"/>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6"/>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6</a:t>
            </a:r>
          </a:p>
        </p:txBody>
      </p:sp>
      <p:sp>
        <p:nvSpPr>
          <p:cNvPr id="7" name="Rounded Rectangle 6"/>
          <p:cNvSpPr/>
          <p:nvPr/>
        </p:nvSpPr>
        <p:spPr>
          <a:xfrm>
            <a:off x="530352" y="1417320"/>
            <a:ext cx="365760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Definition</a:t>
            </a:r>
          </a:p>
          <a:p>
            <a:r>
              <a:rPr sz="1150">
                <a:solidFill>
                  <a:srgbClr val="334155"/>
                </a:solidFill>
                <a:latin typeface="Aptos"/>
              </a:rPr>
              <a:t>Django + Channels application for technical assistance, code-aware retrieval, tool use, visual workflow orchestration, and Windows-local operation.</a:t>
            </a:r>
          </a:p>
        </p:txBody>
      </p:sp>
      <p:sp>
        <p:nvSpPr>
          <p:cNvPr id="8" name="Rounded Rectangle 7"/>
          <p:cNvSpPr/>
          <p:nvPr/>
        </p:nvSpPr>
        <p:spPr>
          <a:xfrm>
            <a:off x="4315968" y="1417320"/>
            <a:ext cx="365760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Visible user surfaces</a:t>
            </a:r>
          </a:p>
          <a:p>
            <a:r>
              <a:rPr sz="1150">
                <a:solidFill>
                  <a:srgbClr val="334155"/>
                </a:solidFill>
                <a:latin typeface="Aptos"/>
              </a:rPr>
              <a:t>Authenticated chat and canvas</a:t>
            </a:r>
          </a:p>
          <a:p>
            <a:r>
              <a:rPr sz="1150">
                <a:solidFill>
                  <a:srgbClr val="334155"/>
                </a:solidFill>
                <a:latin typeface="Aptos"/>
              </a:rPr>
              <a:t>Agentic Control Panel / Flow Designer</a:t>
            </a:r>
          </a:p>
          <a:p>
            <a:r>
              <a:rPr sz="1150">
                <a:solidFill>
                  <a:srgbClr val="334155"/>
                </a:solidFill>
                <a:latin typeface="Aptos"/>
              </a:rPr>
              <a:t>Open in desktop integrations</a:t>
            </a:r>
          </a:p>
          <a:p>
            <a:r>
              <a:rPr sz="1150">
                <a:solidFill>
                  <a:srgbClr val="334155"/>
                </a:solidFill>
                <a:latin typeface="Aptos"/>
              </a:rPr>
              <a:t>Packaged Windows release flow</a:t>
            </a:r>
          </a:p>
        </p:txBody>
      </p:sp>
      <p:sp>
        <p:nvSpPr>
          <p:cNvPr id="9" name="Rounded Rectangle 8"/>
          <p:cNvSpPr/>
          <p:nvPr/>
        </p:nvSpPr>
        <p:spPr>
          <a:xfrm>
            <a:off x="8101583" y="1417320"/>
            <a:ext cx="352044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Primary users</a:t>
            </a:r>
          </a:p>
          <a:p>
            <a:r>
              <a:rPr sz="1150">
                <a:solidFill>
                  <a:srgbClr val="334155"/>
                </a:solidFill>
                <a:latin typeface="Aptos"/>
              </a:rPr>
              <a:t>Developers, operators, analysts, and technical users who need local context, file control, repeatable automation, and explicit supervision surfaces.</a:t>
            </a:r>
          </a:p>
        </p:txBody>
      </p:sp>
      <p:sp>
        <p:nvSpPr>
          <p:cNvPr id="10" name="Rounded Rectangle 9"/>
          <p:cNvSpPr/>
          <p:nvPr/>
        </p:nvSpPr>
        <p:spPr>
          <a:xfrm>
            <a:off x="530352" y="3246120"/>
            <a:ext cx="11091672" cy="141732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Value proposition</a:t>
            </a:r>
          </a:p>
          <a:p>
            <a:r>
              <a:rPr sz="1150">
                <a:solidFill>
                  <a:srgbClr val="334155"/>
                </a:solidFill>
                <a:latin typeface="Aptos"/>
              </a:rPr>
              <a:t>RAG aware of local code and files, a chat surface that can use tools, and a workflow canvas that externalizes long-running automation into visible agent graphs. The April 4 truth reading is that the platform is both a chat assistant and an explicit orchestration/control surface.</a:t>
            </a:r>
          </a:p>
        </p:txBody>
      </p:sp>
      <p:sp>
        <p:nvSpPr>
          <p:cNvPr id="11" name="Rounded Rectangle 10"/>
          <p:cNvSpPr/>
          <p:nvPr/>
        </p:nvSpPr>
        <p:spPr>
          <a:xfrm>
            <a:off x="530352" y="4892040"/>
            <a:ext cx="11091672" cy="786384"/>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top-line facts</a:t>
            </a:r>
          </a:p>
          <a:p>
            <a:r>
              <a:rPr sz="1150">
                <a:solidFill>
                  <a:srgbClr val="334155"/>
                </a:solidFill>
                <a:latin typeface="Aptos"/>
              </a:rPr>
              <a:t>56 workflow templates | 32 wrapped chat launchers | 17 explicit WebSocket client control messages | 103 app routes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7"/>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ARCHITECTURE</a:t>
            </a:r>
          </a:p>
        </p:txBody>
      </p:sp>
      <p:sp>
        <p:nvSpPr>
          <p:cNvPr id="3" name="title-7"/>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Layers and request path</a:t>
            </a:r>
          </a:p>
        </p:txBody>
      </p:sp>
      <p:sp>
        <p:nvSpPr>
          <p:cNvPr id="4" name="subtitle-7"/>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runtime spans browser UI, Django/Channels state, retrieval, tool-enabled chat, and per-session workflow pools.</a:t>
            </a:r>
          </a:p>
        </p:txBody>
      </p:sp>
      <p:sp>
        <p:nvSpPr>
          <p:cNvPr id="5" name="footer-left-7"/>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7"/>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7</a:t>
            </a:r>
          </a:p>
        </p:txBody>
      </p:sp>
      <p:sp>
        <p:nvSpPr>
          <p:cNvPr id="7" name="Rounded Rectangle 6"/>
          <p:cNvSpPr/>
          <p:nvPr/>
        </p:nvSpPr>
        <p:spPr>
          <a:xfrm>
            <a:off x="530352" y="1463040"/>
            <a:ext cx="2011680" cy="105156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Browser</a:t>
            </a:r>
          </a:p>
          <a:p>
            <a:r>
              <a:rPr sz="1150">
                <a:solidFill>
                  <a:srgbClr val="334155"/>
                </a:solidFill>
                <a:latin typeface="Aptos"/>
              </a:rPr>
              <a:t>Chat UI</a:t>
            </a:r>
          </a:p>
          <a:p>
            <a:r>
              <a:rPr sz="1150">
                <a:solidFill>
                  <a:srgbClr val="334155"/>
                </a:solidFill>
                <a:latin typeface="Aptos"/>
              </a:rPr>
              <a:t>Canvas</a:t>
            </a:r>
          </a:p>
          <a:p>
            <a:r>
              <a:rPr sz="1150">
                <a:solidFill>
                  <a:srgbClr val="334155"/>
                </a:solidFill>
                <a:latin typeface="Aptos"/>
              </a:rPr>
              <a:t>ACP</a:t>
            </a:r>
          </a:p>
          <a:p>
            <a:r>
              <a:rPr sz="1150">
                <a:solidFill>
                  <a:srgbClr val="334155"/>
                </a:solidFill>
                <a:latin typeface="Aptos"/>
              </a:rPr>
              <a:t>Open in</a:t>
            </a:r>
          </a:p>
        </p:txBody>
      </p:sp>
      <p:sp>
        <p:nvSpPr>
          <p:cNvPr id="8" name="Rounded Rectangle 7"/>
          <p:cNvSpPr/>
          <p:nvPr/>
        </p:nvSpPr>
        <p:spPr>
          <a:xfrm>
            <a:off x="2697480" y="1463040"/>
            <a:ext cx="2240280" cy="105156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Django + Channels</a:t>
            </a:r>
          </a:p>
          <a:p>
            <a:r>
              <a:rPr sz="1150">
                <a:solidFill>
                  <a:srgbClr val="334155"/>
                </a:solidFill>
                <a:latin typeface="Aptos"/>
              </a:rPr>
              <a:t>views.py</a:t>
            </a:r>
          </a:p>
          <a:p>
            <a:r>
              <a:rPr sz="1150">
                <a:solidFill>
                  <a:srgbClr val="334155"/>
                </a:solidFill>
                <a:latin typeface="Aptos"/>
              </a:rPr>
              <a:t>urls.py</a:t>
            </a:r>
          </a:p>
          <a:p>
            <a:r>
              <a:rPr sz="1150">
                <a:solidFill>
                  <a:srgbClr val="334155"/>
                </a:solidFill>
                <a:latin typeface="Aptos"/>
              </a:rPr>
              <a:t>AgentConsumer</a:t>
            </a:r>
          </a:p>
          <a:p>
            <a:r>
              <a:rPr sz="1150">
                <a:solidFill>
                  <a:srgbClr val="334155"/>
                </a:solidFill>
                <a:latin typeface="Aptos"/>
              </a:rPr>
              <a:t>SessionState</a:t>
            </a:r>
          </a:p>
        </p:txBody>
      </p:sp>
      <p:sp>
        <p:nvSpPr>
          <p:cNvPr id="9" name="Rounded Rectangle 8"/>
          <p:cNvSpPr/>
          <p:nvPr/>
        </p:nvSpPr>
        <p:spPr>
          <a:xfrm>
            <a:off x="5093208" y="1463040"/>
            <a:ext cx="2057400" cy="105156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RAG</a:t>
            </a:r>
          </a:p>
          <a:p>
            <a:r>
              <a:rPr sz="1150">
                <a:solidFill>
                  <a:srgbClr val="334155"/>
                </a:solidFill>
                <a:latin typeface="Aptos"/>
              </a:rPr>
              <a:t>Loaders</a:t>
            </a:r>
          </a:p>
          <a:p>
            <a:r>
              <a:rPr sz="1150">
                <a:solidFill>
                  <a:srgbClr val="334155"/>
                </a:solidFill>
                <a:latin typeface="Aptos"/>
              </a:rPr>
              <a:t>FAISS</a:t>
            </a:r>
          </a:p>
          <a:p>
            <a:r>
              <a:rPr sz="1150">
                <a:solidFill>
                  <a:srgbClr val="334155"/>
                </a:solidFill>
                <a:latin typeface="Aptos"/>
              </a:rPr>
              <a:t>BM25</a:t>
            </a:r>
          </a:p>
          <a:p>
            <a:r>
              <a:rPr sz="1150">
                <a:solidFill>
                  <a:srgbClr val="334155"/>
                </a:solidFill>
                <a:latin typeface="Aptos"/>
              </a:rPr>
              <a:t>RRF</a:t>
            </a:r>
          </a:p>
          <a:p>
            <a:r>
              <a:rPr sz="1150">
                <a:solidFill>
                  <a:srgbClr val="334155"/>
                </a:solidFill>
                <a:latin typeface="Aptos"/>
              </a:rPr>
              <a:t>Budgeting</a:t>
            </a:r>
          </a:p>
        </p:txBody>
      </p:sp>
      <p:sp>
        <p:nvSpPr>
          <p:cNvPr id="10" name="Rounded Rectangle 9"/>
          <p:cNvSpPr/>
          <p:nvPr/>
        </p:nvSpPr>
        <p:spPr>
          <a:xfrm>
            <a:off x="7306056" y="1463040"/>
            <a:ext cx="2240280" cy="105156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Unified chat</a:t>
            </a:r>
          </a:p>
          <a:p>
            <a:r>
              <a:rPr sz="1150">
                <a:solidFill>
                  <a:srgbClr val="334155"/>
                </a:solidFill>
                <a:latin typeface="Aptos"/>
              </a:rPr>
              <a:t>Tool calling</a:t>
            </a:r>
          </a:p>
          <a:p>
            <a:r>
              <a:rPr sz="1150">
                <a:solidFill>
                  <a:srgbClr val="334155"/>
                </a:solidFill>
                <a:latin typeface="Aptos"/>
              </a:rPr>
              <a:t>MultiTurnToolAgentExecutor</a:t>
            </a:r>
          </a:p>
          <a:p>
            <a:r>
              <a:rPr sz="1150">
                <a:solidFill>
                  <a:srgbClr val="334155"/>
                </a:solidFill>
                <a:latin typeface="Aptos"/>
              </a:rPr>
              <a:t>MCP surface</a:t>
            </a:r>
          </a:p>
        </p:txBody>
      </p:sp>
      <p:sp>
        <p:nvSpPr>
          <p:cNvPr id="11" name="Rounded Rectangle 10"/>
          <p:cNvSpPr/>
          <p:nvPr/>
        </p:nvSpPr>
        <p:spPr>
          <a:xfrm>
            <a:off x="9701784" y="1463040"/>
            <a:ext cx="1938528" cy="105156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Workflow runtime</a:t>
            </a:r>
          </a:p>
          <a:p>
            <a:r>
              <a:rPr sz="1150">
                <a:solidFill>
                  <a:srgbClr val="334155"/>
                </a:solidFill>
                <a:latin typeface="Aptos"/>
              </a:rPr>
              <a:t>Pools</a:t>
            </a:r>
          </a:p>
          <a:p>
            <a:r>
              <a:rPr sz="1150">
                <a:solidFill>
                  <a:srgbClr val="334155"/>
                </a:solidFill>
                <a:latin typeface="Aptos"/>
              </a:rPr>
              <a:t>Logs</a:t>
            </a:r>
          </a:p>
          <a:p>
            <a:r>
              <a:rPr sz="1150">
                <a:solidFill>
                  <a:srgbClr val="334155"/>
                </a:solidFill>
                <a:latin typeface="Aptos"/>
              </a:rPr>
              <a:t>PIDs</a:t>
            </a:r>
          </a:p>
          <a:p>
            <a:r>
              <a:rPr sz="1150">
                <a:solidFill>
                  <a:srgbClr val="334155"/>
                </a:solidFill>
                <a:latin typeface="Aptos"/>
              </a:rPr>
              <a:t>reanim files</a:t>
            </a:r>
          </a:p>
          <a:p>
            <a:r>
              <a:rPr sz="1150">
                <a:solidFill>
                  <a:srgbClr val="334155"/>
                </a:solidFill>
                <a:latin typeface="Aptos"/>
              </a:rPr>
              <a:t>__chat_runs__</a:t>
            </a:r>
          </a:p>
        </p:txBody>
      </p:sp>
      <p:sp>
        <p:nvSpPr>
          <p:cNvPr id="12" name="Rounded Rectangle 11"/>
          <p:cNvSpPr/>
          <p:nvPr/>
        </p:nvSpPr>
        <p:spPr>
          <a:xfrm>
            <a:off x="530352" y="2880360"/>
            <a:ext cx="11091672" cy="219456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Real request path</a:t>
            </a:r>
          </a:p>
          <a:p>
            <a:r>
              <a:rPr sz="1200">
                <a:solidFill>
                  <a:srgbClr val="334155"/>
                </a:solidFill>
                <a:latin typeface="Aptos"/>
              </a:rPr>
              <a:t>1. Authenticated WebSocket request enters AgentConsumer.</a:t>
            </a:r>
          </a:p>
          <a:p>
            <a:r>
              <a:rPr sz="1200">
                <a:solidFill>
                  <a:srgbClr val="334155"/>
                </a:solidFill>
                <a:latin typeface="Aptos"/>
              </a:rPr>
              <a:t>2. Prior session context and UI-selected files/directories are restored if present.</a:t>
            </a:r>
          </a:p>
          <a:p>
            <a:r>
              <a:rPr sz="1200">
                <a:solidFill>
                  <a:srgbClr val="334155"/>
                </a:solidFill>
                <a:latin typeface="Aptos"/>
              </a:rPr>
              <a:t>3. The system chooses a chain and may run hybrid retrieval before inference.</a:t>
            </a:r>
          </a:p>
          <a:p>
            <a:r>
              <a:rPr sz="1200">
                <a:solidFill>
                  <a:srgbClr val="334155"/>
                </a:solidFill>
                <a:latin typeface="Aptos"/>
              </a:rPr>
              <a:t>4. The model may call MCP tools or wrapped chat-agent tools through the explicit multi-turn executor.</a:t>
            </a:r>
          </a:p>
          <a:p>
            <a:r>
              <a:rPr sz="1200">
                <a:solidFill>
                  <a:srgbClr val="334155"/>
                </a:solidFill>
                <a:latin typeface="Aptos"/>
              </a:rPr>
              <a:t>5. ACP-deployed flows run separately from chat-launched wrapped runtimes under session-specific pools.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8"/>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RUNTIME</a:t>
            </a:r>
          </a:p>
        </p:txBody>
      </p:sp>
      <p:sp>
        <p:nvSpPr>
          <p:cNvPr id="3" name="title-8"/>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Checked-in defaults and control surface</a:t>
            </a:r>
          </a:p>
        </p:txBody>
      </p:sp>
      <p:sp>
        <p:nvSpPr>
          <p:cNvPr id="4" name="subtitle-8"/>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repo is local-first in posture, but the checked-in model identifiers still show a mixed cloud/local runtime stance.</a:t>
            </a:r>
          </a:p>
        </p:txBody>
      </p:sp>
      <p:sp>
        <p:nvSpPr>
          <p:cNvPr id="5" name="footer-left-8"/>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8"/>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8</a:t>
            </a:r>
          </a:p>
        </p:txBody>
      </p:sp>
      <p:sp>
        <p:nvSpPr>
          <p:cNvPr id="7" name="Rounded Rectangle 6"/>
          <p:cNvSpPr/>
          <p:nvPr/>
        </p:nvSpPr>
        <p:spPr>
          <a:xfrm>
            <a:off x="530352" y="1417320"/>
            <a:ext cx="544068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model defaults</a:t>
            </a:r>
          </a:p>
          <a:p>
            <a:r>
              <a:rPr sz="1100">
                <a:solidFill>
                  <a:srgbClr val="334155"/>
                </a:solidFill>
                <a:latin typeface="Aptos"/>
              </a:rPr>
              <a:t>embeding-model: qwen3-embedding:8b</a:t>
            </a:r>
          </a:p>
          <a:p>
            <a:r>
              <a:rPr sz="1100">
                <a:solidFill>
                  <a:srgbClr val="334155"/>
                </a:solidFill>
                <a:latin typeface="Aptos"/>
              </a:rPr>
              <a:t>chained-model: glm-5:cloud</a:t>
            </a:r>
          </a:p>
          <a:p>
            <a:r>
              <a:rPr sz="1100">
                <a:solidFill>
                  <a:srgbClr val="334155"/>
                </a:solidFill>
                <a:latin typeface="Aptos"/>
              </a:rPr>
              <a:t>unified_agent_model: glm-5:cloud</a:t>
            </a:r>
          </a:p>
          <a:p>
            <a:r>
              <a:rPr sz="1100">
                <a:solidFill>
                  <a:srgbClr val="334155"/>
                </a:solidFill>
                <a:latin typeface="Aptos"/>
              </a:rPr>
              <a:t>unified_agent_max_iterations: 100</a:t>
            </a:r>
          </a:p>
          <a:p>
            <a:r>
              <a:rPr sz="1100">
                <a:solidFill>
                  <a:srgbClr val="334155"/>
                </a:solidFill>
                <a:latin typeface="Aptos"/>
              </a:rPr>
              <a:t>image_interpreter_model: qwen3.5:cloud</a:t>
            </a:r>
          </a:p>
          <a:p>
            <a:r>
              <a:rPr sz="1100">
                <a:solidFill>
                  <a:srgbClr val="334155"/>
                </a:solidFill>
                <a:latin typeface="Aptos"/>
              </a:rPr>
              <a:t>internet/web/mcp search: glm-5:cloud</a:t>
            </a:r>
          </a:p>
        </p:txBody>
      </p:sp>
      <p:sp>
        <p:nvSpPr>
          <p:cNvPr id="8" name="Rounded Rectangle 7"/>
          <p:cNvSpPr/>
          <p:nvPr/>
        </p:nvSpPr>
        <p:spPr>
          <a:xfrm>
            <a:off x="6144768" y="1417320"/>
            <a:ext cx="548640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HTTP and route families</a:t>
            </a:r>
          </a:p>
          <a:p>
            <a:r>
              <a:rPr sz="1100">
                <a:solidFill>
                  <a:srgbClr val="334155"/>
                </a:solidFill>
                <a:latin typeface="Aptos"/>
              </a:rPr>
              <a:t>103 app routes, 3 project routes, 1 WebSocket route</a:t>
            </a:r>
          </a:p>
          <a:p>
            <a:r>
              <a:rPr sz="1100">
                <a:solidFill>
                  <a:srgbClr val="334155"/>
                </a:solidFill>
                <a:latin typeface="Aptos"/>
              </a:rPr>
              <a:t>update_* 53 | load_* 9 | check_* 6</a:t>
            </a:r>
          </a:p>
          <a:p>
            <a:r>
              <a:rPr sz="1100">
                <a:solidFill>
                  <a:srgbClr val="334155"/>
                </a:solidFill>
                <a:latin typeface="Aptos"/>
              </a:rPr>
              <a:t>execute_* 4 | save_* 4 | clear_* 4</a:t>
            </a:r>
          </a:p>
          <a:p>
            <a:r>
              <a:rPr sz="1100">
                <a:solidFill>
                  <a:srgbClr val="334155"/>
                </a:solidFill>
                <a:latin typeface="Aptos"/>
              </a:rPr>
              <a:t>delete_* 2 | detect_* 1 | open_* 1</a:t>
            </a:r>
          </a:p>
        </p:txBody>
      </p:sp>
      <p:sp>
        <p:nvSpPr>
          <p:cNvPr id="9" name="Rounded Rectangle 8"/>
          <p:cNvSpPr/>
          <p:nvPr/>
        </p:nvSpPr>
        <p:spPr>
          <a:xfrm>
            <a:off x="530352" y="3246120"/>
            <a:ext cx="11091672" cy="178308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WebSocket client control plane</a:t>
            </a:r>
          </a:p>
          <a:p>
            <a:r>
              <a:rPr sz="1150">
                <a:solidFill>
                  <a:srgbClr val="334155"/>
                </a:solidFill>
                <a:latin typeface="Aptos"/>
              </a:rPr>
              <a:t>17 explicit client message types.</a:t>
            </a:r>
          </a:p>
          <a:p>
            <a:r>
              <a:rPr sz="1150">
                <a:solidFill>
                  <a:srgbClr val="334155"/>
                </a:solidFill>
                <a:latin typeface="Aptos"/>
              </a:rPr>
              <a:t>Context: set/unset canvas, directory, and file context.</a:t>
            </a:r>
          </a:p>
          <a:p>
            <a:r>
              <a:rPr sz="1150">
                <a:solidFill>
                  <a:srgbClr val="334155"/>
                </a:solidFill>
                <a:latin typeface="Aptos"/>
              </a:rPr>
              <a:t>Runtime: cancel-current, reconnect, clean-history-and-reconnect, cancel-all.</a:t>
            </a:r>
          </a:p>
          <a:p>
            <a:r>
              <a:rPr sz="1150">
                <a:solidFill>
                  <a:srgbClr val="334155"/>
                </a:solidFill>
                <a:latin typeface="Aptos"/>
              </a:rPr>
              <a:t>Config: set-file-omissions, set-mcps, set-tools, set-agents.</a:t>
            </a:r>
          </a:p>
          <a:p>
            <a:r>
              <a:rPr sz="1150">
                <a:solidFill>
                  <a:srgbClr val="334155"/>
                </a:solidFill>
                <a:latin typeface="Aptos"/>
              </a:rPr>
              <a:t>Canvas/file flow: save-files-from-db and view-context-dir-in-canvas.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9"/>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MAIN CHAT</a:t>
            </a:r>
          </a:p>
        </p:txBody>
      </p:sp>
      <p:sp>
        <p:nvSpPr>
          <p:cNvPr id="3" name="title-9"/>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The April 1 multi-turn runtime layer still defines the chat surface</a:t>
            </a:r>
          </a:p>
        </p:txBody>
      </p:sp>
      <p:sp>
        <p:nvSpPr>
          <p:cNvPr id="4" name="subtitle-9"/>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recent April 4 changes sit on top of the April 1 runtime layer rather than replacing it.</a:t>
            </a:r>
          </a:p>
        </p:txBody>
      </p:sp>
      <p:sp>
        <p:nvSpPr>
          <p:cNvPr id="5" name="footer-left-9"/>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9"/>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9</a:t>
            </a:r>
          </a:p>
        </p:txBody>
      </p:sp>
      <p:sp>
        <p:nvSpPr>
          <p:cNvPr id="7" name="Rounded Rectangle 6"/>
          <p:cNvSpPr/>
          <p:nvPr/>
        </p:nvSpPr>
        <p:spPr>
          <a:xfrm>
            <a:off x="530352" y="1417320"/>
            <a:ext cx="5257800" cy="214884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Explicit multi-turn loop</a:t>
            </a:r>
          </a:p>
          <a:p>
            <a:r>
              <a:rPr sz="1150">
                <a:solidFill>
                  <a:srgbClr val="334155"/>
                </a:solidFill>
                <a:latin typeface="Aptos"/>
              </a:rPr>
              <a:t>1 Build: enabled tools come from get_mcp_tools().</a:t>
            </a:r>
          </a:p>
          <a:p>
            <a:r>
              <a:rPr sz="1150">
                <a:solidFill>
                  <a:srgbClr val="334155"/>
                </a:solidFill>
                <a:latin typeface="Aptos"/>
              </a:rPr>
              <a:t>2 Bind: the configured chat model is bound to the tool surface.</a:t>
            </a:r>
          </a:p>
          <a:p>
            <a:r>
              <a:rPr sz="1150">
                <a:solidFill>
                  <a:srgbClr val="334155"/>
                </a:solidFill>
                <a:latin typeface="Aptos"/>
              </a:rPr>
              <a:t>3 Invoke: the model sees the user request plus the system prompt.</a:t>
            </a:r>
          </a:p>
          <a:p>
            <a:r>
              <a:rPr sz="1150">
                <a:solidFill>
                  <a:srgbClr val="334155"/>
                </a:solidFill>
                <a:latin typeface="Aptos"/>
              </a:rPr>
              <a:t>4 Execute: tool_calls are run in-process and appended as ToolMessage results.</a:t>
            </a:r>
          </a:p>
          <a:p>
            <a:r>
              <a:rPr sz="1150">
                <a:solidFill>
                  <a:srgbClr val="334155"/>
                </a:solidFill>
                <a:latin typeface="Aptos"/>
              </a:rPr>
              <a:t>5 Finish: the loop stops at a final answer or the iteration cap.</a:t>
            </a:r>
          </a:p>
        </p:txBody>
      </p:sp>
      <p:sp>
        <p:nvSpPr>
          <p:cNvPr id="8" name="Rounded Rectangle 7"/>
          <p:cNvSpPr/>
          <p:nvPr/>
        </p:nvSpPr>
        <p:spPr>
          <a:xfrm>
            <a:off x="5943600" y="1417320"/>
            <a:ext cx="5669280" cy="214884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code details</a:t>
            </a:r>
          </a:p>
          <a:p>
            <a:r>
              <a:rPr sz="1140">
                <a:solidFill>
                  <a:srgbClr val="334155"/>
                </a:solidFill>
                <a:latin typeface="Aptos"/>
              </a:rPr>
              <a:t>create_unified_agent() still builds MultiTurnToolAgentExecutor.</a:t>
            </a:r>
          </a:p>
          <a:p>
            <a:r>
              <a:rPr sz="1140">
                <a:solidFill>
                  <a:srgbClr val="334155"/>
                </a:solidFill>
                <a:latin typeface="Aptos"/>
              </a:rPr>
              <a:t>The default cap is now 100 turns, sourced from config.json.</a:t>
            </a:r>
          </a:p>
          <a:p>
            <a:r>
              <a:rPr sz="1140">
                <a:solidFill>
                  <a:srgbClr val="334155"/>
                </a:solidFill>
                <a:latin typeface="Aptos"/>
              </a:rPr>
              <a:t>chat_agent_run_list now also defaults to chat_agent_limit_runs = 100.</a:t>
            </a:r>
          </a:p>
          <a:p>
            <a:r>
              <a:rPr sz="1140">
                <a:solidFill>
                  <a:srgbClr val="334155"/>
                </a:solidFill>
                <a:latin typeface="Aptos"/>
              </a:rPr>
              <a:t>The system prompt still tells the model to poll wrapped runtime state instead of guessing.</a:t>
            </a:r>
          </a:p>
        </p:txBody>
      </p:sp>
      <p:sp>
        <p:nvSpPr>
          <p:cNvPr id="9" name="Rounded Rectangle 8"/>
          <p:cNvSpPr/>
          <p:nvPr/>
        </p:nvSpPr>
        <p:spPr>
          <a:xfrm>
            <a:off x="530352" y="3794760"/>
            <a:ext cx="11091672" cy="141732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Wrapped runtime layer still current</a:t>
            </a:r>
          </a:p>
          <a:p>
            <a:r>
              <a:rPr sz="1200">
                <a:solidFill>
                  <a:srgbClr val="334155"/>
                </a:solidFill>
                <a:latin typeface="Aptos"/>
              </a:rPr>
              <a:t>32 launchers, 4 flagged long-running, and the same four ChatAgentRun lifecycle tools remain part of the truthful story at HEAD 235f7bd7f1f3.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0"/>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CONTEXT</a:t>
            </a:r>
          </a:p>
        </p:txBody>
      </p:sp>
      <p:sp>
        <p:nvSpPr>
          <p:cNvPr id="3" name="title-10"/>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State sync and Open in behavior are more precise than the April 3 deck said</a:t>
            </a:r>
          </a:p>
        </p:txBody>
      </p:sp>
      <p:sp>
        <p:nvSpPr>
          <p:cNvPr id="4" name="subtitle-10"/>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latest user-visible fix is not a new page; it is better state continuity for restored and file-based contexts.</a:t>
            </a:r>
          </a:p>
        </p:txBody>
      </p:sp>
      <p:sp>
        <p:nvSpPr>
          <p:cNvPr id="5" name="footer-left-10"/>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0"/>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10</a:t>
            </a:r>
          </a:p>
        </p:txBody>
      </p:sp>
      <p:sp>
        <p:nvSpPr>
          <p:cNvPr id="7" name="Rounded Rectangle 6"/>
          <p:cNvSpPr/>
          <p:nvPr/>
        </p:nvSpPr>
        <p:spPr>
          <a:xfrm>
            <a:off x="530352" y="1417320"/>
            <a:ext cx="5349240" cy="16459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What changed</a:t>
            </a:r>
          </a:p>
          <a:p>
            <a:r>
              <a:rPr sz="1140">
                <a:solidFill>
                  <a:srgbClr val="334155"/>
                </a:solidFill>
                <a:latin typeface="Aptos"/>
              </a:rPr>
              <a:t>agent_page_ui.js now centralizes applyContextUiState() and resolveContextDirectory().</a:t>
            </a:r>
          </a:p>
          <a:p>
            <a:r>
              <a:rPr sz="1140">
                <a:solidFill>
                  <a:srgbClr val="334155"/>
                </a:solidFill>
                <a:latin typeface="Aptos"/>
              </a:rPr>
              <a:t>agent_page_chat.js now uses that shared path for session-restored and context-path-set messages.</a:t>
            </a:r>
          </a:p>
        </p:txBody>
      </p:sp>
      <p:sp>
        <p:nvSpPr>
          <p:cNvPr id="8" name="Rounded Rectangle 7"/>
          <p:cNvSpPr/>
          <p:nvPr/>
        </p:nvSpPr>
        <p:spPr>
          <a:xfrm>
            <a:off x="6035040" y="1417320"/>
            <a:ext cx="5596128" cy="16459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Operational effect</a:t>
            </a:r>
          </a:p>
          <a:p>
            <a:r>
              <a:rPr sz="1140">
                <a:solidFill>
                  <a:srgbClr val="334155"/>
                </a:solidFill>
                <a:latin typeface="Aptos"/>
              </a:rPr>
              <a:t>File contexts no longer leave Open in and View context dir disconnected from the real directory target.</a:t>
            </a:r>
          </a:p>
          <a:p>
            <a:r>
              <a:rPr sz="1140">
                <a:solidFill>
                  <a:srgbClr val="334155"/>
                </a:solidFill>
                <a:latin typeface="Aptos"/>
              </a:rPr>
              <a:t>When filename metadata is present, the UI resolves the parent directory and keeps directory-oriented actions enabled correctly.</a:t>
            </a:r>
          </a:p>
        </p:txBody>
      </p:sp>
      <p:sp>
        <p:nvSpPr>
          <p:cNvPr id="9" name="Rounded Rectangle 8"/>
          <p:cNvSpPr/>
          <p:nvPr/>
        </p:nvSpPr>
        <p:spPr>
          <a:xfrm>
            <a:off x="530352" y="3383280"/>
            <a:ext cx="11091672" cy="141732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README consequence</a:t>
            </a:r>
          </a:p>
          <a:p>
            <a:r>
              <a:rPr sz="1160">
                <a:solidFill>
                  <a:srgbClr val="334155"/>
                </a:solidFill>
                <a:latin typeface="Aptos"/>
              </a:rPr>
              <a:t>The old claim that file-based contexts do not enable Open in was false at the new code level and is now corrected in README. The deck, PDF, and README now all tell the same April 4 story about context restoration and directory-aware navigation.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1"/>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ACP</a:t>
            </a:r>
          </a:p>
        </p:txBody>
      </p:sp>
      <p:sp>
        <p:nvSpPr>
          <p:cNvPr id="3" name="title-11"/>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Descriptions, pause control, and validation remain central</a:t>
            </a:r>
          </a:p>
        </p:txBody>
      </p:sp>
      <p:sp>
        <p:nvSpPr>
          <p:cNvPr id="4" name="subtitle-11"/>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ACP is still where Tlamatini most clearly exposes user-visible control over agentic automation.</a:t>
            </a:r>
          </a:p>
        </p:txBody>
      </p:sp>
      <p:sp>
        <p:nvSpPr>
          <p:cNvPr id="5" name="footer-left-11"/>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1"/>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11</a:t>
            </a:r>
          </a:p>
        </p:txBody>
      </p:sp>
      <p:sp>
        <p:nvSpPr>
          <p:cNvPr id="7" name="Rounded Rectangle 6"/>
          <p:cNvSpPr/>
          <p:nvPr/>
        </p:nvSpPr>
        <p:spPr>
          <a:xfrm>
            <a:off x="530352" y="1417320"/>
            <a:ext cx="365760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README-backed descriptions</a:t>
            </a:r>
          </a:p>
          <a:p>
            <a:r>
              <a:rPr sz="1110">
                <a:solidFill>
                  <a:srgbClr val="334155"/>
                </a:solidFill>
                <a:latin typeface="Aptos"/>
              </a:rPr>
              <a:t>views.py still parses the Workflow Agents Purpose column from README.md into agent_purpose_map.</a:t>
            </a:r>
          </a:p>
          <a:p>
            <a:r>
              <a:rPr sz="1110">
                <a:solidFill>
                  <a:srgbClr val="334155"/>
                </a:solidFill>
                <a:latin typeface="Aptos"/>
              </a:rPr>
              <a:t>Sidebar hover tooltips and the Description modal therefore remain live documentation surfaces.</a:t>
            </a:r>
          </a:p>
        </p:txBody>
      </p:sp>
      <p:sp>
        <p:nvSpPr>
          <p:cNvPr id="8" name="Rounded Rectangle 7"/>
          <p:cNvSpPr/>
          <p:nvPr/>
        </p:nvSpPr>
        <p:spPr>
          <a:xfrm>
            <a:off x="4343400" y="1417320"/>
            <a:ext cx="365760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Pause, Stop, Reanimate</a:t>
            </a:r>
          </a:p>
          <a:p>
            <a:r>
              <a:rPr sz="1110">
                <a:solidFill>
                  <a:srgbClr val="334155"/>
                </a:solidFill>
                <a:latin typeface="Aptos"/>
              </a:rPr>
              <a:t>Pause captures paused_agents.reanim, kills current processes, and preserves resumable state.</a:t>
            </a:r>
          </a:p>
          <a:p>
            <a:r>
              <a:rPr sz="1110">
                <a:solidFill>
                  <a:srgbClr val="334155"/>
                </a:solidFill>
                <a:latin typeface="Aptos"/>
              </a:rPr>
              <a:t>This remains the credit-control action for long-running non-deterministic flows.</a:t>
            </a:r>
          </a:p>
          <a:p>
            <a:r>
              <a:rPr sz="1110">
                <a:solidFill>
                  <a:srgbClr val="334155"/>
                </a:solidFill>
                <a:latin typeface="Aptos"/>
              </a:rPr>
              <a:t>Stop exits the reanimation path.</a:t>
            </a:r>
          </a:p>
        </p:txBody>
      </p:sp>
      <p:sp>
        <p:nvSpPr>
          <p:cNvPr id="9" name="Rounded Rectangle 8"/>
          <p:cNvSpPr/>
          <p:nvPr/>
        </p:nvSpPr>
        <p:spPr>
          <a:xfrm>
            <a:off x="8156448" y="1417320"/>
            <a:ext cx="347472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Validation</a:t>
            </a:r>
          </a:p>
          <a:p>
            <a:r>
              <a:rPr sz="1110">
                <a:solidFill>
                  <a:srgbClr val="334155"/>
                </a:solidFill>
                <a:latin typeface="Aptos"/>
              </a:rPr>
              <a:t>Starter cannot have incoming edges.</a:t>
            </a:r>
          </a:p>
          <a:p>
            <a:r>
              <a:rPr sz="1110">
                <a:solidFill>
                  <a:srgbClr val="334155"/>
                </a:solidFill>
                <a:latin typeface="Aptos"/>
              </a:rPr>
              <a:t>Ender can only output to Cleaner or FlowBacker.</a:t>
            </a:r>
          </a:p>
          <a:p>
            <a:r>
              <a:rPr sz="1110">
                <a:solidFill>
                  <a:srgbClr val="334155"/>
                </a:solidFill>
                <a:latin typeface="Aptos"/>
              </a:rPr>
              <a:t>Cleaner and FlowBacker rules remain enforced.</a:t>
            </a:r>
          </a:p>
          <a:p>
            <a:r>
              <a:rPr sz="1110">
                <a:solidFill>
                  <a:srgbClr val="334155"/>
                </a:solidFill>
                <a:latin typeface="Aptos"/>
              </a:rPr>
              <a:t>Barrier still coordinates fan-in.</a:t>
            </a:r>
          </a:p>
        </p:txBody>
      </p:sp>
      <p:sp>
        <p:nvSpPr>
          <p:cNvPr id="10" name="Rounded Rectangle 9"/>
          <p:cNvSpPr/>
          <p:nvPr/>
        </p:nvSpPr>
        <p:spPr>
          <a:xfrm>
            <a:off x="530352" y="3291840"/>
            <a:ext cx="11091672" cy="132588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visual semantics</a:t>
            </a:r>
          </a:p>
          <a:p>
            <a:r>
              <a:rPr sz="1160">
                <a:solidFill>
                  <a:srgbClr val="334155"/>
                </a:solidFill>
                <a:latin typeface="Aptos"/>
              </a:rPr>
              <a:t>LEDs are green for running, yellow blinking for paused, gray for stopped/idle, and red when a node expected to be running is not alive. These semantics remain part of the current truthful README/PDF/deck 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2"/>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AGENTS</a:t>
            </a:r>
          </a:p>
        </p:txBody>
      </p:sp>
      <p:sp>
        <p:nvSpPr>
          <p:cNvPr id="3" name="title-12"/>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Verified workflow inventory I</a:t>
            </a:r>
          </a:p>
        </p:txBody>
      </p:sp>
      <p:sp>
        <p:nvSpPr>
          <p:cNvPr id="4" name="subtitle-12"/>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Every name below is present in the current template tree and contributes to the code-verified count of 56 templates.</a:t>
            </a:r>
          </a:p>
        </p:txBody>
      </p:sp>
      <p:sp>
        <p:nvSpPr>
          <p:cNvPr id="5" name="footer-left-12"/>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2"/>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12</a:t>
            </a:r>
          </a:p>
        </p:txBody>
      </p:sp>
      <p:sp>
        <p:nvSpPr>
          <p:cNvPr id="7" name="Rounded Rectangle 6"/>
          <p:cNvSpPr/>
          <p:nvPr/>
        </p:nvSpPr>
        <p:spPr>
          <a:xfrm>
            <a:off x="530352" y="1417320"/>
            <a:ext cx="5440680" cy="150876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Control and flow</a:t>
            </a:r>
          </a:p>
          <a:p>
            <a:r>
              <a:rPr sz="1200">
                <a:solidFill>
                  <a:srgbClr val="334155"/>
                </a:solidFill>
                <a:latin typeface="Aptos"/>
              </a:rPr>
              <a:t>starter, ender, stopper, cleaner</a:t>
            </a:r>
          </a:p>
          <a:p>
            <a:r>
              <a:rPr sz="1200">
                <a:solidFill>
                  <a:srgbClr val="334155"/>
                </a:solidFill>
                <a:latin typeface="Aptos"/>
              </a:rPr>
              <a:t>counter, raiser, sleeper, croner</a:t>
            </a:r>
          </a:p>
          <a:p>
            <a:r>
              <a:rPr sz="1200">
                <a:solidFill>
                  <a:srgbClr val="334155"/>
                </a:solidFill>
                <a:latin typeface="Aptos"/>
              </a:rPr>
              <a:t>barrier, flowbacker</a:t>
            </a:r>
          </a:p>
        </p:txBody>
      </p:sp>
      <p:sp>
        <p:nvSpPr>
          <p:cNvPr id="8" name="Rounded Rectangle 7"/>
          <p:cNvSpPr/>
          <p:nvPr/>
        </p:nvSpPr>
        <p:spPr>
          <a:xfrm>
            <a:off x="6144768" y="1417320"/>
            <a:ext cx="5486400" cy="150876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Logic and routing</a:t>
            </a:r>
          </a:p>
          <a:p>
            <a:r>
              <a:rPr sz="1200">
                <a:solidFill>
                  <a:srgbClr val="334155"/>
                </a:solidFill>
                <a:latin typeface="Aptos"/>
              </a:rPr>
              <a:t>asker, forker, and, or</a:t>
            </a:r>
          </a:p>
          <a:p>
            <a:r>
              <a:rPr sz="1200">
                <a:solidFill>
                  <a:srgbClr val="334155"/>
                </a:solidFill>
                <a:latin typeface="Aptos"/>
              </a:rPr>
              <a:t>Interactive choice, automated branch routing,</a:t>
            </a:r>
          </a:p>
          <a:p>
            <a:r>
              <a:rPr sz="1200">
                <a:solidFill>
                  <a:srgbClr val="334155"/>
                </a:solidFill>
                <a:latin typeface="Aptos"/>
              </a:rPr>
              <a:t>and boolean flow control</a:t>
            </a:r>
          </a:p>
        </p:txBody>
      </p:sp>
      <p:sp>
        <p:nvSpPr>
          <p:cNvPr id="9" name="Rounded Rectangle 8"/>
          <p:cNvSpPr/>
          <p:nvPr/>
        </p:nvSpPr>
        <p:spPr>
          <a:xfrm>
            <a:off x="530352" y="3200400"/>
            <a:ext cx="5440680" cy="16459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Monitoring and communication</a:t>
            </a:r>
          </a:p>
          <a:p>
            <a:r>
              <a:rPr sz="1160">
                <a:solidFill>
                  <a:srgbClr val="334155"/>
                </a:solidFill>
                <a:latin typeface="Aptos"/>
              </a:rPr>
              <a:t>monitor_log, monitor_netstat, notifier</a:t>
            </a:r>
          </a:p>
          <a:p>
            <a:r>
              <a:rPr sz="1160">
                <a:solidFill>
                  <a:srgbClr val="334155"/>
                </a:solidFill>
                <a:latin typeface="Aptos"/>
              </a:rPr>
              <a:t>summarizer, flowhypervisor</a:t>
            </a:r>
          </a:p>
          <a:p>
            <a:r>
              <a:rPr sz="1160">
                <a:solidFill>
                  <a:srgbClr val="334155"/>
                </a:solidFill>
                <a:latin typeface="Aptos"/>
              </a:rPr>
              <a:t>emailer, recmailer, whatsapper</a:t>
            </a:r>
          </a:p>
          <a:p>
            <a:r>
              <a:rPr sz="1160">
                <a:solidFill>
                  <a:srgbClr val="334155"/>
                </a:solidFill>
                <a:latin typeface="Aptos"/>
              </a:rPr>
              <a:t>telegramer, telegramrx</a:t>
            </a:r>
          </a:p>
        </p:txBody>
      </p:sp>
      <p:sp>
        <p:nvSpPr>
          <p:cNvPr id="10" name="Rounded Rectangle 9"/>
          <p:cNvSpPr/>
          <p:nvPr/>
        </p:nvSpPr>
        <p:spPr>
          <a:xfrm>
            <a:off x="6144768" y="3200400"/>
            <a:ext cx="5486400" cy="16459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Execution and infrastructure</a:t>
            </a:r>
          </a:p>
          <a:p>
            <a:r>
              <a:rPr sz="1160">
                <a:solidFill>
                  <a:srgbClr val="334155"/>
                </a:solidFill>
                <a:latin typeface="Aptos"/>
              </a:rPr>
              <a:t>executer, pythonxer, sqler, mongoxer</a:t>
            </a:r>
          </a:p>
          <a:p>
            <a:r>
              <a:rPr sz="1160">
                <a:solidFill>
                  <a:srgbClr val="334155"/>
                </a:solidFill>
                <a:latin typeface="Aptos"/>
              </a:rPr>
              <a:t>ssher, scper, gitter, dockerer</a:t>
            </a:r>
          </a:p>
          <a:p>
            <a:r>
              <a:rPr sz="1160">
                <a:solidFill>
                  <a:srgbClr val="334155"/>
                </a:solidFill>
                <a:latin typeface="Aptos"/>
              </a:rPr>
              <a:t>kuberneter, pser, apirer, jenkinser</a:t>
            </a:r>
          </a:p>
          <a:p>
            <a:r>
              <a:rPr sz="1160">
                <a:solidFill>
                  <a:srgbClr val="334155"/>
                </a:solidFill>
                <a:latin typeface="Aptos"/>
              </a:rPr>
              <a:t>crawler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3"/>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AGENTS</a:t>
            </a:r>
          </a:p>
        </p:txBody>
      </p:sp>
      <p:sp>
        <p:nvSpPr>
          <p:cNvPr id="3" name="title-13"/>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Verified workflow inventory II</a:t>
            </a:r>
          </a:p>
        </p:txBody>
      </p:sp>
      <p:sp>
        <p:nvSpPr>
          <p:cNvPr id="4" name="subtitle-13"/>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second half of the map explains why Tlamatini behaves like an orchestration platform rather than a single-assistant shell.</a:t>
            </a:r>
          </a:p>
        </p:txBody>
      </p:sp>
      <p:sp>
        <p:nvSpPr>
          <p:cNvPr id="5" name="footer-left-13"/>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3"/>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13</a:t>
            </a:r>
          </a:p>
        </p:txBody>
      </p:sp>
      <p:sp>
        <p:nvSpPr>
          <p:cNvPr id="7" name="Rounded Rectangle 6"/>
          <p:cNvSpPr/>
          <p:nvPr/>
        </p:nvSpPr>
        <p:spPr>
          <a:xfrm>
            <a:off x="530352" y="1417320"/>
            <a:ext cx="5440680" cy="14173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Ingress and integration</a:t>
            </a:r>
          </a:p>
          <a:p>
            <a:r>
              <a:rPr sz="1180">
                <a:solidFill>
                  <a:srgbClr val="334155"/>
                </a:solidFill>
                <a:latin typeface="Aptos"/>
              </a:rPr>
              <a:t>gatewayer, gateway_relayer, node_manager</a:t>
            </a:r>
          </a:p>
          <a:p>
            <a:r>
              <a:rPr sz="1180">
                <a:solidFill>
                  <a:srgbClr val="334155"/>
                </a:solidFill>
                <a:latin typeface="Aptos"/>
              </a:rPr>
              <a:t>Inbound events, relay bridges, and node-state infrastructure</a:t>
            </a:r>
          </a:p>
        </p:txBody>
      </p:sp>
      <p:sp>
        <p:nvSpPr>
          <p:cNvPr id="8" name="Rounded Rectangle 7"/>
          <p:cNvSpPr/>
          <p:nvPr/>
        </p:nvSpPr>
        <p:spPr>
          <a:xfrm>
            <a:off x="6144768" y="1417320"/>
            <a:ext cx="5486400" cy="14173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Files and interpretation</a:t>
            </a:r>
          </a:p>
          <a:p>
            <a:r>
              <a:rPr sz="1180">
                <a:solidFill>
                  <a:srgbClr val="334155"/>
                </a:solidFill>
                <a:latin typeface="Aptos"/>
              </a:rPr>
              <a:t>file_creator, file_extractor, file_interpreter, image_interpreter</a:t>
            </a:r>
          </a:p>
          <a:p>
            <a:r>
              <a:rPr sz="1180">
                <a:solidFill>
                  <a:srgbClr val="334155"/>
                </a:solidFill>
                <a:latin typeface="Aptos"/>
              </a:rPr>
              <a:t>flowcreator, prompter, j_decompiler</a:t>
            </a:r>
          </a:p>
        </p:txBody>
      </p:sp>
      <p:sp>
        <p:nvSpPr>
          <p:cNvPr id="9" name="Rounded Rectangle 8"/>
          <p:cNvSpPr/>
          <p:nvPr/>
        </p:nvSpPr>
        <p:spPr>
          <a:xfrm>
            <a:off x="530352" y="3154680"/>
            <a:ext cx="5440680" cy="14173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Crypto and user-input automation</a:t>
            </a:r>
          </a:p>
          <a:p>
            <a:r>
              <a:rPr sz="1180">
                <a:solidFill>
                  <a:srgbClr val="334155"/>
                </a:solidFill>
                <a:latin typeface="Aptos"/>
              </a:rPr>
              <a:t>kyber_keygen, kyber_cipher, kyber_decipher</a:t>
            </a:r>
          </a:p>
          <a:p>
            <a:r>
              <a:rPr sz="1180">
                <a:solidFill>
                  <a:srgbClr val="334155"/>
                </a:solidFill>
                <a:latin typeface="Aptos"/>
              </a:rPr>
              <a:t>mouser, keyboarder, mover, deleter, shoter</a:t>
            </a:r>
          </a:p>
        </p:txBody>
      </p:sp>
      <p:sp>
        <p:nvSpPr>
          <p:cNvPr id="10" name="Rounded Rectangle 9"/>
          <p:cNvSpPr/>
          <p:nvPr/>
        </p:nvSpPr>
        <p:spPr>
          <a:xfrm>
            <a:off x="6144768" y="3154680"/>
            <a:ext cx="5486400" cy="14173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Inventory meaning</a:t>
            </a:r>
          </a:p>
          <a:p>
            <a:r>
              <a:rPr sz="1180">
                <a:solidFill>
                  <a:srgbClr val="334155"/>
                </a:solidFill>
                <a:latin typeface="Aptos"/>
              </a:rPr>
              <a:t>56 templates in the ACP.</a:t>
            </a:r>
          </a:p>
          <a:p>
            <a:r>
              <a:rPr sz="1180">
                <a:solidFill>
                  <a:srgbClr val="334155"/>
                </a:solidFill>
                <a:latin typeface="Aptos"/>
              </a:rPr>
              <a:t>32 wrapped chat launchers.</a:t>
            </a:r>
          </a:p>
          <a:p>
            <a:r>
              <a:rPr sz="1180">
                <a:solidFill>
                  <a:srgbClr val="334155"/>
                </a:solidFill>
                <a:latin typeface="Aptos"/>
              </a:rPr>
              <a:t>Keyboarder is the newest template-count change since the April 3 docs anchor.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4"/>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PARAMETRIZER</a:t>
            </a:r>
          </a:p>
        </p:txBody>
      </p:sp>
      <p:sp>
        <p:nvSpPr>
          <p:cNvPr id="3" name="title-14"/>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Structured-output wiring still matters because it turns logs into configuration</a:t>
            </a:r>
          </a:p>
        </p:txBody>
      </p:sp>
      <p:sp>
        <p:nvSpPr>
          <p:cNvPr id="4" name="subtitle-14"/>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April 1 Parametrizer story remains correct, and the current README/PDF/deck still need to keep its concrete parser surface truthful.</a:t>
            </a:r>
          </a:p>
        </p:txBody>
      </p:sp>
      <p:sp>
        <p:nvSpPr>
          <p:cNvPr id="5" name="footer-left-14"/>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4"/>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14</a:t>
            </a:r>
          </a:p>
        </p:txBody>
      </p:sp>
      <p:sp>
        <p:nvSpPr>
          <p:cNvPr id="7" name="Rounded Rectangle 6"/>
          <p:cNvSpPr/>
          <p:nvPr/>
        </p:nvSpPr>
        <p:spPr>
          <a:xfrm>
            <a:off x="530352" y="1417320"/>
            <a:ext cx="3657600" cy="16002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What it does</a:t>
            </a:r>
          </a:p>
          <a:p>
            <a:r>
              <a:rPr sz="1120">
                <a:solidFill>
                  <a:srgbClr val="334155"/>
                </a:solidFill>
                <a:latin typeface="Aptos"/>
              </a:rPr>
              <a:t>Forms a one-to-one source/target bridge:</a:t>
            </a:r>
          </a:p>
          <a:p>
            <a:r>
              <a:rPr sz="1120">
                <a:solidFill>
                  <a:srgbClr val="334155"/>
                </a:solidFill>
                <a:latin typeface="Aptos"/>
              </a:rPr>
              <a:t>parse structured source output</a:t>
            </a:r>
          </a:p>
          <a:p>
            <a:r>
              <a:rPr sz="1120">
                <a:solidFill>
                  <a:srgbClr val="334155"/>
                </a:solidFill>
                <a:latin typeface="Aptos"/>
              </a:rPr>
              <a:t>map fields to target config.yaml</a:t>
            </a:r>
          </a:p>
          <a:p>
            <a:r>
              <a:rPr sz="1120">
                <a:solidFill>
                  <a:srgbClr val="334155"/>
                </a:solidFill>
                <a:latin typeface="Aptos"/>
              </a:rPr>
              <a:t>write config</a:t>
            </a:r>
          </a:p>
          <a:p>
            <a:r>
              <a:rPr sz="1120">
                <a:solidFill>
                  <a:srgbClr val="334155"/>
                </a:solidFill>
                <a:latin typeface="Aptos"/>
              </a:rPr>
              <a:t>start target sequentially per output block</a:t>
            </a:r>
          </a:p>
        </p:txBody>
      </p:sp>
      <p:sp>
        <p:nvSpPr>
          <p:cNvPr id="8" name="Rounded Rectangle 7"/>
          <p:cNvSpPr/>
          <p:nvPr/>
        </p:nvSpPr>
        <p:spPr>
          <a:xfrm>
            <a:off x="4343400" y="1417320"/>
            <a:ext cx="3657600" cy="16002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parser surface</a:t>
            </a:r>
          </a:p>
          <a:p>
            <a:r>
              <a:rPr sz="1090">
                <a:solidFill>
                  <a:srgbClr val="334155"/>
                </a:solidFill>
                <a:latin typeface="Aptos"/>
              </a:rPr>
              <a:t>15 supported source parsers:</a:t>
            </a:r>
          </a:p>
          <a:p>
            <a:r>
              <a:rPr sz="1090">
                <a:solidFill>
                  <a:srgbClr val="334155"/>
                </a:solidFill>
                <a:latin typeface="Aptos"/>
              </a:rPr>
              <a:t>apirer, gitter, kuberneter, crawler, summarizer</a:t>
            </a:r>
          </a:p>
          <a:p>
            <a:r>
              <a:rPr sz="1090">
                <a:solidFill>
                  <a:srgbClr val="334155"/>
                </a:solidFill>
                <a:latin typeface="Aptos"/>
              </a:rPr>
              <a:t>file_interpreter, image_interpreter, file_extractor</a:t>
            </a:r>
          </a:p>
          <a:p>
            <a:r>
              <a:rPr sz="1090">
                <a:solidFill>
                  <a:srgbClr val="334155"/>
                </a:solidFill>
                <a:latin typeface="Aptos"/>
              </a:rPr>
              <a:t>prompter, flowcreator, kyber_keygen/cipher/decipher</a:t>
            </a:r>
          </a:p>
          <a:p>
            <a:r>
              <a:rPr sz="1090">
                <a:solidFill>
                  <a:srgbClr val="334155"/>
                </a:solidFill>
                <a:latin typeface="Aptos"/>
              </a:rPr>
              <a:t>gatewayer, gateway_relayer</a:t>
            </a:r>
          </a:p>
        </p:txBody>
      </p:sp>
      <p:sp>
        <p:nvSpPr>
          <p:cNvPr id="9" name="Rounded Rectangle 8"/>
          <p:cNvSpPr/>
          <p:nvPr/>
        </p:nvSpPr>
        <p:spPr>
          <a:xfrm>
            <a:off x="8156448" y="1417320"/>
            <a:ext cx="3474720" cy="16002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Nested target mapping</a:t>
            </a:r>
          </a:p>
          <a:p>
            <a:r>
              <a:rPr sz="1100">
                <a:solidFill>
                  <a:srgbClr val="334155"/>
                </a:solidFill>
                <a:latin typeface="Aptos"/>
              </a:rPr>
              <a:t>The dialog still flattens nested target config dictionaries into dot-notation keys, and runtime writes those dotted targets back into nested YAML structures.</a:t>
            </a:r>
          </a:p>
        </p:txBody>
      </p:sp>
      <p:sp>
        <p:nvSpPr>
          <p:cNvPr id="10" name="Rounded Rectangle 9"/>
          <p:cNvSpPr/>
          <p:nvPr/>
        </p:nvSpPr>
        <p:spPr>
          <a:xfrm>
            <a:off x="530352" y="3337560"/>
            <a:ext cx="11091672" cy="114300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note</a:t>
            </a:r>
          </a:p>
          <a:p>
            <a:r>
              <a:rPr sz="1160">
                <a:solidFill>
                  <a:srgbClr val="334155"/>
                </a:solidFill>
                <a:latin typeface="Aptos"/>
              </a:rPr>
              <a:t>The deployed interconnection scheme is saved per pool instance, not as a permanent template-truth file in every agent template directory. That distinction still matters when explaining Parametrizer honestly.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5"/>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AUTOMATION</a:t>
            </a:r>
          </a:p>
        </p:txBody>
      </p:sp>
      <p:sp>
        <p:nvSpPr>
          <p:cNvPr id="3" name="title-15"/>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Keyboarder and Mouser now form a clearer user-input automation surface</a:t>
            </a:r>
          </a:p>
        </p:txBody>
      </p:sp>
      <p:sp>
        <p:nvSpPr>
          <p:cNvPr id="4" name="subtitle-15"/>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These agents matter because they turn Tlamatini from passive observation into active local UI interaction.</a:t>
            </a:r>
          </a:p>
        </p:txBody>
      </p:sp>
      <p:sp>
        <p:nvSpPr>
          <p:cNvPr id="5" name="footer-left-15"/>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5"/>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15</a:t>
            </a:r>
          </a:p>
        </p:txBody>
      </p:sp>
      <p:sp>
        <p:nvSpPr>
          <p:cNvPr id="7" name="Rounded Rectangle 6"/>
          <p:cNvSpPr/>
          <p:nvPr/>
        </p:nvSpPr>
        <p:spPr>
          <a:xfrm>
            <a:off x="530352" y="1417320"/>
            <a:ext cx="5394960" cy="18288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Keyboarder</a:t>
            </a:r>
          </a:p>
          <a:p>
            <a:r>
              <a:rPr sz="1120">
                <a:solidFill>
                  <a:srgbClr val="334155"/>
                </a:solidFill>
                <a:latin typeface="Aptos"/>
              </a:rPr>
              <a:t>PyAutoGUI-based keyboard automation agent.</a:t>
            </a:r>
          </a:p>
          <a:p>
            <a:r>
              <a:rPr sz="1120">
                <a:solidFill>
                  <a:srgbClr val="334155"/>
                </a:solidFill>
                <a:latin typeface="Aptos"/>
              </a:rPr>
              <a:t>Parses comma-separated steps, quoted literal strings, and + hotkey chords.</a:t>
            </a:r>
          </a:p>
          <a:p>
            <a:r>
              <a:rPr sz="1120">
                <a:solidFill>
                  <a:srgbClr val="334155"/>
                </a:solidFill>
                <a:latin typeface="Aptos"/>
              </a:rPr>
              <a:t>Uses stride_delay between actions.</a:t>
            </a:r>
          </a:p>
          <a:p>
            <a:r>
              <a:rPr sz="1120">
                <a:solidFill>
                  <a:srgbClr val="334155"/>
                </a:solidFill>
                <a:latin typeface="Aptos"/>
              </a:rPr>
              <a:t>Can launch downstream agents after the sequence completes.</a:t>
            </a:r>
          </a:p>
        </p:txBody>
      </p:sp>
      <p:sp>
        <p:nvSpPr>
          <p:cNvPr id="8" name="Rounded Rectangle 7"/>
          <p:cNvSpPr/>
          <p:nvPr/>
        </p:nvSpPr>
        <p:spPr>
          <a:xfrm>
            <a:off x="6126480" y="1417320"/>
            <a:ext cx="5504688" cy="18288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Mouser</a:t>
            </a:r>
          </a:p>
          <a:p>
            <a:r>
              <a:rPr sz="1120">
                <a:solidFill>
                  <a:srgbClr val="334155"/>
                </a:solidFill>
                <a:latin typeface="Aptos"/>
              </a:rPr>
              <a:t>Random or localized cursor movement.</a:t>
            </a:r>
          </a:p>
          <a:p>
            <a:r>
              <a:rPr sz="1120">
                <a:solidFill>
                  <a:srgbClr val="334155"/>
                </a:solidFill>
                <a:latin typeface="Aptos"/>
              </a:rPr>
              <a:t>Localized mode now supports button_click values: none, left, right, middle, double-left, double-right, double-middle.</a:t>
            </a:r>
          </a:p>
          <a:p>
            <a:r>
              <a:rPr sz="1120">
                <a:solidFill>
                  <a:srgbClr val="334155"/>
                </a:solidFill>
                <a:latin typeface="Aptos"/>
              </a:rPr>
              <a:t>The runtime only issues the click after the destination is actually reached.</a:t>
            </a:r>
          </a:p>
        </p:txBody>
      </p:sp>
      <p:sp>
        <p:nvSpPr>
          <p:cNvPr id="9" name="Rounded Rectangle 8"/>
          <p:cNvSpPr/>
          <p:nvPr/>
        </p:nvSpPr>
        <p:spPr>
          <a:xfrm>
            <a:off x="530352" y="3566160"/>
            <a:ext cx="11091672" cy="123444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ACP wiring truth</a:t>
            </a:r>
          </a:p>
          <a:p>
            <a:r>
              <a:rPr sz="1140">
                <a:solidFill>
                  <a:srgbClr val="334155"/>
                </a:solidFill>
                <a:latin typeface="Aptos"/>
              </a:rPr>
              <a:t>The canvas now has a dedicated /update_keyboarder_connection/&lt;agent_name&gt;/ endpoint, and README now documents keyboarder in the workflow table so the ACP can surface a truthful Purpose entry for it. Mouser remains connection-aware through its own update route and dialog state logic.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6"/>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STATE</a:t>
            </a:r>
          </a:p>
        </p:txBody>
      </p:sp>
      <p:sp>
        <p:nvSpPr>
          <p:cNvPr id="3" name="title-16"/>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Persistence, isolation, and current controls</a:t>
            </a:r>
          </a:p>
        </p:txBody>
      </p:sp>
      <p:sp>
        <p:nvSpPr>
          <p:cNvPr id="4" name="subtitle-16"/>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runtime is stateful across chat, ACP flows, and wrapped chat-agent runs, but the state is segmented by purpose and directory.</a:t>
            </a:r>
          </a:p>
        </p:txBody>
      </p:sp>
      <p:sp>
        <p:nvSpPr>
          <p:cNvPr id="5" name="footer-left-16"/>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6"/>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16</a:t>
            </a:r>
          </a:p>
        </p:txBody>
      </p:sp>
      <p:sp>
        <p:nvSpPr>
          <p:cNvPr id="7" name="Rounded Rectangle 6"/>
          <p:cNvSpPr/>
          <p:nvPr/>
        </p:nvSpPr>
        <p:spPr>
          <a:xfrm>
            <a:off x="530352" y="1417320"/>
            <a:ext cx="3657600" cy="16002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Key models</a:t>
            </a:r>
          </a:p>
          <a:p>
            <a:r>
              <a:rPr sz="1130">
                <a:solidFill>
                  <a:srgbClr val="334155"/>
                </a:solidFill>
                <a:latin typeface="Aptos"/>
              </a:rPr>
              <a:t>13 total Django models.</a:t>
            </a:r>
          </a:p>
          <a:p>
            <a:r>
              <a:rPr sz="1130">
                <a:solidFill>
                  <a:srgbClr val="334155"/>
                </a:solidFill>
                <a:latin typeface="Aptos"/>
              </a:rPr>
              <a:t>SessionState persists user context across reconnects.</a:t>
            </a:r>
          </a:p>
          <a:p>
            <a:r>
              <a:rPr sz="1130">
                <a:solidFill>
                  <a:srgbClr val="334155"/>
                </a:solidFill>
                <a:latin typeface="Aptos"/>
              </a:rPr>
              <a:t>AgentProcess tracks flow PIDs.</a:t>
            </a:r>
          </a:p>
          <a:p>
            <a:r>
              <a:rPr sz="1130">
                <a:solidFill>
                  <a:srgbClr val="334155"/>
                </a:solidFill>
                <a:latin typeface="Aptos"/>
              </a:rPr>
              <a:t>ChatAgentRun tracks wrapped chat-agent runs.</a:t>
            </a:r>
          </a:p>
        </p:txBody>
      </p:sp>
      <p:sp>
        <p:nvSpPr>
          <p:cNvPr id="8" name="Rounded Rectangle 7"/>
          <p:cNvSpPr/>
          <p:nvPr/>
        </p:nvSpPr>
        <p:spPr>
          <a:xfrm>
            <a:off x="4343400" y="1417320"/>
            <a:ext cx="3657600" cy="16002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Runtime artifacts</a:t>
            </a:r>
          </a:p>
          <a:p>
            <a:r>
              <a:rPr sz="1100">
                <a:solidFill>
                  <a:srgbClr val="334155"/>
                </a:solidFill>
                <a:latin typeface="Aptos"/>
              </a:rPr>
              <a:t>.log and .pid files per deployed agent</a:t>
            </a:r>
          </a:p>
          <a:p>
            <a:r>
              <a:rPr sz="1100">
                <a:solidFill>
                  <a:srgbClr val="334155"/>
                </a:solidFill>
                <a:latin typeface="Aptos"/>
              </a:rPr>
              <a:t>paused_agents.reanim for paused ACP sessions</a:t>
            </a:r>
          </a:p>
          <a:p>
            <a:r>
              <a:rPr sz="1100">
                <a:solidFill>
                  <a:srgbClr val="334155"/>
                </a:solidFill>
                <a:latin typeface="Aptos"/>
              </a:rPr>
              <a:t>reanim.pos / reanim.counter style state files</a:t>
            </a:r>
          </a:p>
          <a:p>
            <a:r>
              <a:rPr sz="1100">
                <a:solidFill>
                  <a:srgbClr val="334155"/>
                </a:solidFill>
                <a:latin typeface="Aptos"/>
              </a:rPr>
              <a:t>pools for deployed flows and __chat_runs__ for chat runtimes</a:t>
            </a:r>
          </a:p>
        </p:txBody>
      </p:sp>
      <p:sp>
        <p:nvSpPr>
          <p:cNvPr id="9" name="Rounded Rectangle 8"/>
          <p:cNvSpPr/>
          <p:nvPr/>
        </p:nvSpPr>
        <p:spPr>
          <a:xfrm>
            <a:off x="8156448" y="1417320"/>
            <a:ext cx="3474720" cy="16002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Controls and guards</a:t>
            </a:r>
          </a:p>
          <a:p>
            <a:r>
              <a:rPr sz="1110">
                <a:solidFill>
                  <a:srgbClr val="334155"/>
                </a:solidFill>
                <a:latin typeface="Aptos"/>
              </a:rPr>
              <a:t>secure_get / secure_post around critical views</a:t>
            </a:r>
          </a:p>
          <a:p>
            <a:r>
              <a:rPr sz="1110">
                <a:solidFill>
                  <a:srgbClr val="334155"/>
                </a:solidFill>
                <a:latin typeface="Aptos"/>
              </a:rPr>
              <a:t>Path guards and validation on tool/runtime inputs</a:t>
            </a:r>
          </a:p>
          <a:p>
            <a:r>
              <a:rPr sz="1110">
                <a:solidFill>
                  <a:srgbClr val="334155"/>
                </a:solidFill>
                <a:latin typeface="Aptos"/>
              </a:rPr>
              <a:t>ACP scans skip __chat_runs__</a:t>
            </a:r>
          </a:p>
        </p:txBody>
      </p:sp>
      <p:sp>
        <p:nvSpPr>
          <p:cNvPr id="10" name="Rounded Rectangle 9"/>
          <p:cNvSpPr/>
          <p:nvPr/>
        </p:nvSpPr>
        <p:spPr>
          <a:xfrm>
            <a:off x="530352" y="3429000"/>
            <a:ext cx="11091672" cy="118872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Isolation reading</a:t>
            </a:r>
          </a:p>
          <a:p>
            <a:r>
              <a:rPr sz="1160">
                <a:solidFill>
                  <a:srgbClr val="334155"/>
                </a:solidFill>
                <a:latin typeface="Aptos"/>
              </a:rPr>
              <a:t>The system keeps ACP-deployed flows separate from chat-launched runtimes, and the current April 4 documentation refresh now reports that state segmentation more precisely than the April 3 deck did.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7"/>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RELEASE</a:t>
            </a:r>
          </a:p>
        </p:txBody>
      </p:sp>
      <p:sp>
        <p:nvSpPr>
          <p:cNvPr id="3" name="title-17"/>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Packaging, config, and metadata truth</a:t>
            </a:r>
          </a:p>
        </p:txBody>
      </p:sp>
      <p:sp>
        <p:nvSpPr>
          <p:cNvPr id="4" name="subtitle-17"/>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release pipeline and repository metadata still need to be described with the same honesty as the runtime.</a:t>
            </a:r>
          </a:p>
        </p:txBody>
      </p:sp>
      <p:sp>
        <p:nvSpPr>
          <p:cNvPr id="5" name="footer-left-17"/>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7"/>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17</a:t>
            </a:r>
          </a:p>
        </p:txBody>
      </p:sp>
      <p:sp>
        <p:nvSpPr>
          <p:cNvPr id="7" name="Rounded Rectangle 6"/>
          <p:cNvSpPr/>
          <p:nvPr/>
        </p:nvSpPr>
        <p:spPr>
          <a:xfrm>
            <a:off x="530352" y="1417320"/>
            <a:ext cx="3657600" cy="16459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Packaging / installer</a:t>
            </a:r>
          </a:p>
          <a:p>
            <a:r>
              <a:rPr sz="1120">
                <a:solidFill>
                  <a:srgbClr val="334155"/>
                </a:solidFill>
                <a:latin typeface="Aptos"/>
              </a:rPr>
              <a:t>build.py still requires README.md and jd-cli.</a:t>
            </a:r>
          </a:p>
          <a:p>
            <a:r>
              <a:rPr sz="1120">
                <a:solidFill>
                  <a:srgbClr val="334155"/>
                </a:solidFill>
                <a:latin typeface="Aptos"/>
              </a:rPr>
              <a:t>install.py still uses cleaned helper environments to reduce frozen-install stalls.</a:t>
            </a:r>
          </a:p>
          <a:p>
            <a:r>
              <a:rPr sz="1120">
                <a:solidFill>
                  <a:srgbClr val="334155"/>
                </a:solidFill>
                <a:latin typeface="Aptos"/>
              </a:rPr>
              <a:t>jd-cli delivery remains part of the release truth.</a:t>
            </a:r>
          </a:p>
        </p:txBody>
      </p:sp>
      <p:sp>
        <p:nvSpPr>
          <p:cNvPr id="8" name="Rounded Rectangle 7"/>
          <p:cNvSpPr/>
          <p:nvPr/>
        </p:nvSpPr>
        <p:spPr>
          <a:xfrm>
            <a:off x="4343400" y="1417320"/>
            <a:ext cx="3657600" cy="164592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Config loading</a:t>
            </a:r>
          </a:p>
          <a:p>
            <a:r>
              <a:rPr sz="1120">
                <a:solidFill>
                  <a:srgbClr val="334155"/>
                </a:solidFill>
                <a:latin typeface="Aptos"/>
              </a:rPr>
              <a:t>config_loader.py is new relative to older decks.</a:t>
            </a:r>
          </a:p>
          <a:p>
            <a:r>
              <a:rPr sz="1120">
                <a:solidFill>
                  <a:srgbClr val="334155"/>
                </a:solidFill>
                <a:latin typeface="Aptos"/>
              </a:rPr>
              <a:t>It resolves CONFIG_PATH, frozen executable-local config.json, or the module-local config.json and caches the parsed dict.</a:t>
            </a:r>
          </a:p>
        </p:txBody>
      </p:sp>
      <p:sp>
        <p:nvSpPr>
          <p:cNvPr id="9" name="Rounded Rectangle 8"/>
          <p:cNvSpPr/>
          <p:nvPr/>
        </p:nvSpPr>
        <p:spPr>
          <a:xfrm>
            <a:off x="8156448" y="1417320"/>
            <a:ext cx="3474720" cy="164592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Metadata drift</a:t>
            </a:r>
          </a:p>
          <a:p>
            <a:r>
              <a:rPr sz="1100">
                <a:solidFill>
                  <a:srgbClr val="334155"/>
                </a:solidFill>
                <a:latin typeface="Aptos"/>
              </a:rPr>
              <a:t>README and LICENSE still say GPLv3.</a:t>
            </a:r>
          </a:p>
          <a:p>
            <a:r>
              <a:rPr sz="1100">
                <a:solidFill>
                  <a:srgbClr val="334155"/>
                </a:solidFill>
                <a:latin typeface="Aptos"/>
              </a:rPr>
              <a:t>package.json still says ISC.</a:t>
            </a:r>
          </a:p>
          <a:p>
            <a:r>
              <a:rPr sz="1100">
                <a:solidFill>
                  <a:srgbClr val="334155"/>
                </a:solidFill>
                <a:latin typeface="Aptos"/>
              </a:rPr>
              <a:t>README/remote point at XAIHT, package.json points at angelahack1.</a:t>
            </a:r>
          </a:p>
        </p:txBody>
      </p:sp>
      <p:sp>
        <p:nvSpPr>
          <p:cNvPr id="10" name="Rounded Rectangle 9"/>
          <p:cNvSpPr/>
          <p:nvPr/>
        </p:nvSpPr>
        <p:spPr>
          <a:xfrm>
            <a:off x="530352" y="3474720"/>
            <a:ext cx="11091672" cy="109728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Small but real supporting change</a:t>
            </a:r>
          </a:p>
          <a:p>
            <a:r>
              <a:rPr sz="1150">
                <a:solidFill>
                  <a:srgbClr val="334155"/>
                </a:solidFill>
                <a:latin typeface="Aptos"/>
              </a:rPr>
              <a:t>requirements.txt now explicitly includes chardet. That is not a product-surface feature by itself, but it is part of the current repository state and the recent commit 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8"/>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ALIGNMENT</a:t>
            </a:r>
          </a:p>
        </p:txBody>
      </p:sp>
      <p:sp>
        <p:nvSpPr>
          <p:cNvPr id="3" name="title-18"/>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README, PDF, and deck after the April 4 refresh</a:t>
            </a:r>
          </a:p>
        </p:txBody>
      </p:sp>
      <p:sp>
        <p:nvSpPr>
          <p:cNvPr id="4" name="subtitle-18"/>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goal of this pass is not optimism; it is documentary honesty across all three artifacts.</a:t>
            </a:r>
          </a:p>
        </p:txBody>
      </p:sp>
      <p:sp>
        <p:nvSpPr>
          <p:cNvPr id="5" name="footer-left-18"/>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8"/>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18</a:t>
            </a:r>
          </a:p>
        </p:txBody>
      </p:sp>
      <p:sp>
        <p:nvSpPr>
          <p:cNvPr id="7" name="Rounded Rectangle 6"/>
          <p:cNvSpPr/>
          <p:nvPr/>
        </p:nvSpPr>
        <p:spPr>
          <a:xfrm>
            <a:off x="530352" y="1417320"/>
            <a:ext cx="5440680" cy="18288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README now aligned</a:t>
            </a:r>
          </a:p>
          <a:p>
            <a:r>
              <a:rPr sz="1130">
                <a:solidFill>
                  <a:srgbClr val="334155"/>
                </a:solidFill>
                <a:latin typeface="Aptos"/>
              </a:rPr>
              <a:t>Documents 103 routes and 56 templates.</a:t>
            </a:r>
          </a:p>
          <a:p>
            <a:r>
              <a:rPr sz="1130">
                <a:solidFill>
                  <a:srgbClr val="334155"/>
                </a:solidFill>
                <a:latin typeface="Aptos"/>
              </a:rPr>
              <a:t>Adds the keyboarder workflow row.</a:t>
            </a:r>
          </a:p>
          <a:p>
            <a:r>
              <a:rPr sz="1130">
                <a:solidFill>
                  <a:srgbClr val="334155"/>
                </a:solidFill>
                <a:latin typeface="Aptos"/>
              </a:rPr>
              <a:t>Corrects Open in behavior for file contexts.</a:t>
            </a:r>
          </a:p>
          <a:p>
            <a:r>
              <a:rPr sz="1130">
                <a:solidFill>
                  <a:srgbClr val="334155"/>
                </a:solidFill>
                <a:latin typeface="Aptos"/>
              </a:rPr>
              <a:t>Includes keyboarder and flowbacker connection routes.</a:t>
            </a:r>
          </a:p>
          <a:p>
            <a:r>
              <a:rPr sz="1130">
                <a:solidFill>
                  <a:srgbClr val="334155"/>
                </a:solidFill>
                <a:latin typeface="Aptos"/>
              </a:rPr>
              <a:t>Reports the April 4 31-test rerun accurately.</a:t>
            </a:r>
          </a:p>
        </p:txBody>
      </p:sp>
      <p:sp>
        <p:nvSpPr>
          <p:cNvPr id="8" name="Rounded Rectangle 7"/>
          <p:cNvSpPr/>
          <p:nvPr/>
        </p:nvSpPr>
        <p:spPr>
          <a:xfrm>
            <a:off x="6144768" y="1417320"/>
            <a:ext cx="5486400" cy="18288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PDF and deck now aligned</a:t>
            </a:r>
          </a:p>
          <a:p>
            <a:r>
              <a:rPr sz="1120">
                <a:solidFill>
                  <a:srgbClr val="334155"/>
                </a:solidFill>
                <a:latin typeface="Aptos"/>
              </a:rPr>
              <a:t>Both artifacts are being regenerated from the same April 4 fact bundle.</a:t>
            </a:r>
          </a:p>
          <a:p>
            <a:r>
              <a:rPr sz="1120">
                <a:solidFill>
                  <a:srgbClr val="334155"/>
                </a:solidFill>
                <a:latin typeface="Aptos"/>
              </a:rPr>
              <a:t>Both replace the previous 4fd33b480086 snapshot rather than extending it in place.</a:t>
            </a:r>
          </a:p>
          <a:p>
            <a:r>
              <a:rPr sz="1120">
                <a:solidFill>
                  <a:srgbClr val="334155"/>
                </a:solidFill>
                <a:latin typeface="Aptos"/>
              </a:rPr>
              <a:t>Both now state the recent commit delta, current counts, and current test results.</a:t>
            </a:r>
          </a:p>
        </p:txBody>
      </p:sp>
      <p:sp>
        <p:nvSpPr>
          <p:cNvPr id="9" name="Rounded Rectangle 8"/>
          <p:cNvSpPr/>
          <p:nvPr/>
        </p:nvSpPr>
        <p:spPr>
          <a:xfrm>
            <a:off x="530352" y="3566160"/>
            <a:ext cx="11091672" cy="114300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Remaining drift still stated openly</a:t>
            </a:r>
          </a:p>
          <a:p>
            <a:r>
              <a:rPr sz="1150">
                <a:solidFill>
                  <a:srgbClr val="334155"/>
                </a:solidFill>
                <a:latin typeface="Aptos"/>
              </a:rPr>
              <a:t>The refresh does not hide the package metadata mismatch or the known test failures. Those caveats remain part of the truthful repository story.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19"/>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QUALITY</a:t>
            </a:r>
          </a:p>
        </p:txBody>
      </p:sp>
      <p:sp>
        <p:nvSpPr>
          <p:cNvPr id="3" name="title-19"/>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Focused tests and current open issues</a:t>
            </a:r>
          </a:p>
        </p:txBody>
      </p:sp>
      <p:sp>
        <p:nvSpPr>
          <p:cNvPr id="4" name="subtitle-19"/>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refreshed artifacts report the known issues directly instead of hiding them behind a generic success narrative.</a:t>
            </a:r>
          </a:p>
        </p:txBody>
      </p:sp>
      <p:sp>
        <p:nvSpPr>
          <p:cNvPr id="5" name="footer-left-19"/>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19"/>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19</a:t>
            </a:r>
          </a:p>
        </p:txBody>
      </p:sp>
      <p:sp>
        <p:nvSpPr>
          <p:cNvPr id="7" name="Rounded Rectangle 6"/>
          <p:cNvSpPr/>
          <p:nvPr/>
        </p:nvSpPr>
        <p:spPr>
          <a:xfrm>
            <a:off x="530352" y="1417320"/>
            <a:ext cx="361188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UTF-8 console rerun</a:t>
            </a:r>
          </a:p>
          <a:p>
            <a:r>
              <a:rPr sz="1100">
                <a:solidFill>
                  <a:srgbClr val="334155"/>
                </a:solidFill>
                <a:latin typeface="Aptos"/>
              </a:rPr>
              <a:t>31 tests, 30 passed, 1 error.</a:t>
            </a:r>
          </a:p>
          <a:p>
            <a:r>
              <a:rPr sz="1100">
                <a:solidFill>
                  <a:srgbClr val="334155"/>
                </a:solidFill>
                <a:latin typeface="Aptos"/>
              </a:rPr>
              <a:t>Remaining failure: test_anonymous_websocket_connection_is_rejected</a:t>
            </a:r>
          </a:p>
          <a:p>
            <a:r>
              <a:rPr sz="1100">
                <a:solidFill>
                  <a:srgbClr val="334155"/>
                </a:solidFill>
                <a:latin typeface="Aptos"/>
              </a:rPr>
              <a:t>Error: RuntimeError: no running event loop</a:t>
            </a:r>
          </a:p>
        </p:txBody>
      </p:sp>
      <p:sp>
        <p:nvSpPr>
          <p:cNvPr id="8" name="Rounded Rectangle 7"/>
          <p:cNvSpPr/>
          <p:nvPr/>
        </p:nvSpPr>
        <p:spPr>
          <a:xfrm>
            <a:off x="4297680" y="1417320"/>
            <a:ext cx="361188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Default console rerun</a:t>
            </a:r>
          </a:p>
          <a:p>
            <a:r>
              <a:rPr sz="1100">
                <a:solidFill>
                  <a:srgbClr val="334155"/>
                </a:solidFill>
                <a:latin typeface="Aptos"/>
              </a:rPr>
              <a:t>31 tests, 27 passed, 4 errors.</a:t>
            </a:r>
          </a:p>
          <a:p>
            <a:r>
              <a:rPr sz="1100">
                <a:solidFill>
                  <a:srgbClr val="334155"/>
                </a:solidFill>
                <a:latin typeface="Aptos"/>
              </a:rPr>
              <a:t>The same WebSocket event-loop failure remains.</a:t>
            </a:r>
          </a:p>
          <a:p>
            <a:r>
              <a:rPr sz="1100">
                <a:solidFill>
                  <a:srgbClr val="334155"/>
                </a:solidFill>
                <a:latin typeface="Aptos"/>
              </a:rPr>
              <a:t>Three extra failures are CP1252 UnicodeEncodeError cases from rag/interface.py debug prints.</a:t>
            </a:r>
          </a:p>
        </p:txBody>
      </p:sp>
      <p:sp>
        <p:nvSpPr>
          <p:cNvPr id="9" name="Rounded Rectangle 8"/>
          <p:cNvSpPr/>
          <p:nvPr/>
        </p:nvSpPr>
        <p:spPr>
          <a:xfrm>
            <a:off x="8065008" y="1417320"/>
            <a:ext cx="356616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What is not failing</a:t>
            </a:r>
          </a:p>
          <a:p>
            <a:r>
              <a:rPr sz="1100">
                <a:solidFill>
                  <a:srgbClr val="334155"/>
                </a:solidFill>
                <a:latin typeface="Aptos"/>
              </a:rPr>
              <a:t>The new loaded-documents fallback tests pass.</a:t>
            </a:r>
          </a:p>
          <a:p>
            <a:r>
              <a:rPr sz="1100">
                <a:solidFill>
                  <a:srgbClr val="334155"/>
                </a:solidFill>
                <a:latin typeface="Aptos"/>
              </a:rPr>
              <a:t>The refreshed README corrections are code-backed.</a:t>
            </a:r>
          </a:p>
          <a:p>
            <a:r>
              <a:rPr sz="1100">
                <a:solidFill>
                  <a:srgbClr val="334155"/>
                </a:solidFill>
                <a:latin typeface="Aptos"/>
              </a:rPr>
              <a:t>No new failure was surfaced around keyboarder or file-context state sync.</a:t>
            </a:r>
          </a:p>
        </p:txBody>
      </p:sp>
      <p:sp>
        <p:nvSpPr>
          <p:cNvPr id="10" name="Rounded Rectangle 9"/>
          <p:cNvSpPr/>
          <p:nvPr/>
        </p:nvSpPr>
        <p:spPr>
          <a:xfrm>
            <a:off x="530352" y="3474720"/>
            <a:ext cx="11091672" cy="109728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Interpretation</a:t>
            </a:r>
          </a:p>
          <a:p>
            <a:r>
              <a:rPr sz="1160">
                <a:solidFill>
                  <a:srgbClr val="334155"/>
                </a:solidFill>
                <a:latin typeface="Aptos"/>
              </a:rPr>
              <a:t>These failures are part of runtime hardening and console behavior, not proof that the April 4 README/PDF/deck changes are unsupported. The test surface actually expanded from 28 to 31 tests in this cycle.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20"/>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READING</a:t>
            </a:r>
          </a:p>
        </p:txBody>
      </p:sp>
      <p:sp>
        <p:nvSpPr>
          <p:cNvPr id="3" name="title-20"/>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What the April 4 changes mean operationally</a:t>
            </a:r>
          </a:p>
        </p:txBody>
      </p:sp>
      <p:sp>
        <p:nvSpPr>
          <p:cNvPr id="4" name="subtitle-20"/>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recent commits make Tlamatini more explicit about continuity, degradation mode, and local UI automation without changing its top-level product identity.</a:t>
            </a:r>
          </a:p>
        </p:txBody>
      </p:sp>
      <p:sp>
        <p:nvSpPr>
          <p:cNvPr id="5" name="footer-left-20"/>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20"/>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20</a:t>
            </a:r>
          </a:p>
        </p:txBody>
      </p:sp>
      <p:sp>
        <p:nvSpPr>
          <p:cNvPr id="7" name="Rounded Rectangle 6"/>
          <p:cNvSpPr/>
          <p:nvPr/>
        </p:nvSpPr>
        <p:spPr>
          <a:xfrm>
            <a:off x="530352" y="1417320"/>
            <a:ext cx="356616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More truthful continuity</a:t>
            </a:r>
          </a:p>
          <a:p>
            <a:r>
              <a:rPr sz="1110">
                <a:solidFill>
                  <a:srgbClr val="334155"/>
                </a:solidFill>
                <a:latin typeface="Aptos"/>
              </a:rPr>
              <a:t>Restored sessions and file contexts now behave more like users expect, because directory-backed actions stay connected to the real context target.</a:t>
            </a:r>
          </a:p>
        </p:txBody>
      </p:sp>
      <p:sp>
        <p:nvSpPr>
          <p:cNvPr id="8" name="Rounded Rectangle 7"/>
          <p:cNvSpPr/>
          <p:nvPr/>
        </p:nvSpPr>
        <p:spPr>
          <a:xfrm>
            <a:off x="4297680" y="1417320"/>
            <a:ext cx="3566160" cy="155448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More resilient degraded mode</a:t>
            </a:r>
          </a:p>
          <a:p>
            <a:r>
              <a:rPr sz="1110">
                <a:solidFill>
                  <a:srgbClr val="334155"/>
                </a:solidFill>
                <a:latin typeface="Aptos"/>
              </a:rPr>
              <a:t>When retrieval construction fails after documents are loaded, the system stays grounded in those loaded files rather than collapsing into an empty-context chat path.</a:t>
            </a:r>
          </a:p>
        </p:txBody>
      </p:sp>
      <p:sp>
        <p:nvSpPr>
          <p:cNvPr id="9" name="Rounded Rectangle 8"/>
          <p:cNvSpPr/>
          <p:nvPr/>
        </p:nvSpPr>
        <p:spPr>
          <a:xfrm>
            <a:off x="8065008" y="1417320"/>
            <a:ext cx="3566160" cy="155448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Richer local automation</a:t>
            </a:r>
          </a:p>
          <a:p>
            <a:r>
              <a:rPr sz="1110">
                <a:solidFill>
                  <a:srgbClr val="334155"/>
                </a:solidFill>
                <a:latin typeface="Aptos"/>
              </a:rPr>
              <a:t>Keyboarder and Mouser together give the workflow layer a clearer local input-automation surface, which matters for end-to-end desktop workflows.</a:t>
            </a:r>
          </a:p>
        </p:txBody>
      </p:sp>
      <p:sp>
        <p:nvSpPr>
          <p:cNvPr id="10" name="Rounded Rectangle 9"/>
          <p:cNvSpPr/>
          <p:nvPr/>
        </p:nvSpPr>
        <p:spPr>
          <a:xfrm>
            <a:off x="530352" y="3474720"/>
            <a:ext cx="11091672" cy="109728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Bottom line</a:t>
            </a:r>
          </a:p>
          <a:p>
            <a:r>
              <a:rPr sz="1160">
                <a:solidFill>
                  <a:srgbClr val="334155"/>
                </a:solidFill>
                <a:latin typeface="Aptos"/>
              </a:rPr>
              <a:t>The system is real, broader than older decks showed, and still best understood through its explicit control surfaces, runtime caveats, and verified code paths rather than through slogans.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yebrow-21"/>
          <p:cNvSpPr txBox="1"/>
          <p:nvPr/>
        </p:nvSpPr>
        <p:spPr>
          <a:xfrm>
            <a:off x="438912" y="182880"/>
            <a:ext cx="2011680" cy="256032"/>
          </a:xfrm>
          <a:prstGeom prst="rect">
            <a:avLst/>
          </a:prstGeom>
          <a:noFill/>
        </p:spPr>
        <p:txBody>
          <a:bodyPr wrap="square" anchor="t">
            <a:spAutoFit/>
          </a:bodyPr>
          <a:lstStyle/>
          <a:p>
            <a:pPr algn="l"/>
            <a:r>
              <a:rPr sz="1100" b="1">
                <a:solidFill>
                  <a:srgbClr val="1D4ED8"/>
                </a:solidFill>
                <a:latin typeface="Aptos"/>
              </a:rPr>
              <a:t>CLOSE</a:t>
            </a:r>
          </a:p>
        </p:txBody>
      </p:sp>
      <p:sp>
        <p:nvSpPr>
          <p:cNvPr id="3" name="title-21"/>
          <p:cNvSpPr txBox="1"/>
          <p:nvPr/>
        </p:nvSpPr>
        <p:spPr>
          <a:xfrm>
            <a:off x="438912" y="438912"/>
            <a:ext cx="7223760" cy="384048"/>
          </a:xfrm>
          <a:prstGeom prst="rect">
            <a:avLst/>
          </a:prstGeom>
          <a:noFill/>
        </p:spPr>
        <p:txBody>
          <a:bodyPr wrap="square" anchor="t">
            <a:spAutoFit/>
          </a:bodyPr>
          <a:lstStyle/>
          <a:p>
            <a:pPr algn="l"/>
            <a:r>
              <a:rPr sz="2500" b="1">
                <a:solidFill>
                  <a:srgbClr val="0F172A"/>
                </a:solidFill>
                <a:latin typeface="Aptos"/>
              </a:rPr>
              <a:t>Reading XAIHT through the current codebase</a:t>
            </a:r>
          </a:p>
        </p:txBody>
      </p:sp>
      <p:sp>
        <p:nvSpPr>
          <p:cNvPr id="4" name="subtitle-21"/>
          <p:cNvSpPr txBox="1"/>
          <p:nvPr/>
        </p:nvSpPr>
        <p:spPr>
          <a:xfrm>
            <a:off x="438912" y="868680"/>
            <a:ext cx="10881360" cy="384048"/>
          </a:xfrm>
          <a:prstGeom prst="rect">
            <a:avLst/>
          </a:prstGeom>
          <a:noFill/>
        </p:spPr>
        <p:txBody>
          <a:bodyPr wrap="square" anchor="t">
            <a:spAutoFit/>
          </a:bodyPr>
          <a:lstStyle/>
          <a:p>
            <a:pPr algn="l"/>
            <a:r>
              <a:rPr sz="1150" b="0">
                <a:solidFill>
                  <a:srgbClr val="475569"/>
                </a:solidFill>
                <a:latin typeface="Aptos"/>
              </a:rPr>
              <a:t>The clearest reading of the product still comes from its explicit control surfaces rather than from slogans.</a:t>
            </a:r>
          </a:p>
        </p:txBody>
      </p:sp>
      <p:sp>
        <p:nvSpPr>
          <p:cNvPr id="5" name="footer-left-21"/>
          <p:cNvSpPr txBox="1"/>
          <p:nvPr/>
        </p:nvSpPr>
        <p:spPr>
          <a:xfrm>
            <a:off x="438912" y="6473952"/>
            <a:ext cx="4389120" cy="201168"/>
          </a:xfrm>
          <a:prstGeom prst="rect">
            <a:avLst/>
          </a:prstGeom>
          <a:noFill/>
        </p:spPr>
        <p:txBody>
          <a:bodyPr wrap="square" anchor="t">
            <a:spAutoFit/>
          </a:bodyPr>
          <a:lstStyle/>
          <a:p>
            <a:pPr algn="l"/>
            <a:r>
              <a:rPr sz="900" b="0">
                <a:solidFill>
                  <a:srgbClr val="334155"/>
                </a:solidFill>
                <a:latin typeface="Aptos"/>
              </a:rPr>
              <a:t>Tlamatini | April 4, 2026 | 235f7bd7f1f3</a:t>
            </a:r>
          </a:p>
        </p:txBody>
      </p:sp>
      <p:sp>
        <p:nvSpPr>
          <p:cNvPr id="6" name="footer-right-21"/>
          <p:cNvSpPr txBox="1"/>
          <p:nvPr/>
        </p:nvSpPr>
        <p:spPr>
          <a:xfrm>
            <a:off x="11384280" y="6473952"/>
            <a:ext cx="365760" cy="201168"/>
          </a:xfrm>
          <a:prstGeom prst="rect">
            <a:avLst/>
          </a:prstGeom>
          <a:noFill/>
        </p:spPr>
        <p:txBody>
          <a:bodyPr wrap="square" anchor="t">
            <a:spAutoFit/>
          </a:bodyPr>
          <a:lstStyle/>
          <a:p>
            <a:pPr algn="r"/>
            <a:r>
              <a:rPr sz="900" b="0">
                <a:solidFill>
                  <a:srgbClr val="334155"/>
                </a:solidFill>
                <a:latin typeface="Aptos"/>
              </a:rPr>
              <a:t>21</a:t>
            </a:r>
          </a:p>
        </p:txBody>
      </p:sp>
      <p:sp>
        <p:nvSpPr>
          <p:cNvPr id="7" name="Rounded Rectangle 6"/>
          <p:cNvSpPr/>
          <p:nvPr/>
        </p:nvSpPr>
        <p:spPr>
          <a:xfrm>
            <a:off x="530352" y="1508760"/>
            <a:ext cx="3657600" cy="18288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Extended AI</a:t>
            </a:r>
          </a:p>
          <a:p>
            <a:r>
              <a:rPr sz="1150">
                <a:solidFill>
                  <a:srgbClr val="334155"/>
                </a:solidFill>
                <a:latin typeface="Aptos"/>
              </a:rPr>
              <a:t>Hybrid retrieval, tool use, MCP integrations, multimodal interpretation, and a heterogeneous agent inventory extend the assistant far beyond single-model chat.</a:t>
            </a:r>
          </a:p>
        </p:txBody>
      </p:sp>
      <p:sp>
        <p:nvSpPr>
          <p:cNvPr id="8" name="Rounded Rectangle 7"/>
          <p:cNvSpPr/>
          <p:nvPr/>
        </p:nvSpPr>
        <p:spPr>
          <a:xfrm>
            <a:off x="4343400" y="1508760"/>
            <a:ext cx="3657600" cy="1828800"/>
          </a:xfrm>
          <a:prstGeom prst="roundRect">
            <a:avLst/>
          </a:prstGeom>
          <a:solidFill>
            <a:srgbClr val="EFF6FF"/>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Humanly Tempered</a:t>
            </a:r>
          </a:p>
          <a:p>
            <a:r>
              <a:rPr sz="1150">
                <a:solidFill>
                  <a:srgbClr val="334155"/>
                </a:solidFill>
                <a:latin typeface="Aptos"/>
              </a:rPr>
              <a:t>Context selection, tool enablement, workflow wiring, descriptions, validation, pause, stop, resume, and packaging are all user-visible control surfaces.</a:t>
            </a:r>
          </a:p>
        </p:txBody>
      </p:sp>
      <p:sp>
        <p:nvSpPr>
          <p:cNvPr id="9" name="Rounded Rectangle 8"/>
          <p:cNvSpPr/>
          <p:nvPr/>
        </p:nvSpPr>
        <p:spPr>
          <a:xfrm>
            <a:off x="8156448" y="1508760"/>
            <a:ext cx="3474720" cy="1828800"/>
          </a:xfrm>
          <a:prstGeom prst="roundRect">
            <a:avLst/>
          </a:prstGeom>
          <a:solidFill>
            <a:srgbClr val="DBEAFE"/>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Current reality</a:t>
            </a:r>
          </a:p>
          <a:p>
            <a:r>
              <a:rPr sz="1130">
                <a:solidFill>
                  <a:srgbClr val="334155"/>
                </a:solidFill>
                <a:latin typeface="Aptos"/>
              </a:rPr>
              <a:t>The platform is larger and more explicit than older decks showed, but it still carries test and metadata caveats that the documentation should continue to report honestly.</a:t>
            </a:r>
          </a:p>
        </p:txBody>
      </p:sp>
      <p:sp>
        <p:nvSpPr>
          <p:cNvPr id="10" name="Rounded Rectangle 9"/>
          <p:cNvSpPr/>
          <p:nvPr/>
        </p:nvSpPr>
        <p:spPr>
          <a:xfrm>
            <a:off x="530352" y="3794760"/>
            <a:ext cx="11091672" cy="1051560"/>
          </a:xfrm>
          <a:prstGeom prst="roundRect">
            <a:avLst/>
          </a:prstGeom>
          <a:solidFill>
            <a:srgbClr val="F1F5F9"/>
          </a:solidFill>
          <a:ln w="12700">
            <a:solidFill>
              <a:srgbClr val="DBEAF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r>
              <a:rPr sz="1400" b="1">
                <a:solidFill>
                  <a:srgbClr val="0F172A"/>
                </a:solidFill>
                <a:latin typeface="Aptos"/>
              </a:rPr>
              <a:t>April 4 truth anchor</a:t>
            </a:r>
          </a:p>
          <a:p>
            <a:r>
              <a:rPr sz="1150">
                <a:solidFill>
                  <a:srgbClr val="334155"/>
                </a:solidFill>
                <a:latin typeface="Aptos"/>
              </a:rPr>
              <a:t>Current deck anchor: 235f7bd7f1f3 | Previous docs anchor: 4fd33b480086 | Current counts: 329 tracked files, 56 templates, 103 app routes, 31 focused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