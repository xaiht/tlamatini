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76200" tIns="12700" bIns="12700">
            <a:norm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76200" tIns="12700" bIns="12700">
            <a:normAutofit/>
          </a:bodyPr>
          <a:lstStyle/>
          <a:p>
            <a:pPr algn="l"/>
            <a:r>
              <a:rPr sz="1700" b="0">
                <a:solidFill>
                  <a:srgbClr val="B4BAAE"/>
                </a:solidFill>
                <a:latin typeface="Aptos"/>
              </a:rPr>
              <a:t>Self-hosted AI developer assistant (cloud LLMs by default) with RAG, Multi-Turn orchestration, 89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1498</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89</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76200" tIns="12700" bIns="12700">
            <a:norm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76200" tIns="12700" bIns="12700">
            <a:normAutofit/>
          </a:bodyPr>
          <a:lstStyle/>
          <a:p>
            <a:pPr algn="l"/>
            <a:r>
              <a:rPr sz="2000" b="1">
                <a:solidFill>
                  <a:srgbClr val="E8E8DE"/>
                </a:solidFill>
                <a:latin typeface="Aptos"/>
              </a:rPr>
              <a:t>383,447</a:t>
            </a:r>
          </a:p>
        </p:txBody>
      </p:sp>
      <p:sp>
        <p:nvSpPr>
          <p:cNvPr id="20" name="TextBox 19"/>
          <p:cNvSpPr txBox="1"/>
          <p:nvPr/>
        </p:nvSpPr>
        <p:spPr>
          <a:xfrm>
            <a:off x="822960" y="5138928"/>
            <a:ext cx="5669280" cy="292608"/>
          </a:xfrm>
          <a:prstGeom prst="rect">
            <a:avLst/>
          </a:prstGeom>
          <a:noFill/>
        </p:spPr>
        <p:txBody>
          <a:bodyPr wrap="square" anchor="t" lIns="12700" rIns="76200" tIns="12700" bIns="12700">
            <a:normAutofit/>
          </a:bodyPr>
          <a:lstStyle/>
          <a:p>
            <a:pPr algn="l"/>
            <a:r>
              <a:rPr sz="1000" b="1">
                <a:solidFill>
                  <a:srgbClr val="C48052"/>
                </a:solidFill>
                <a:latin typeface="Aptos"/>
              </a:rPr>
              <a:t>Created by Angela López Mendoza · @angelahack1</a:t>
            </a:r>
          </a:p>
        </p:txBody>
      </p:sp>
      <p:sp>
        <p:nvSpPr>
          <p:cNvPr id="21" name="TextBox 20"/>
          <p:cNvSpPr txBox="1"/>
          <p:nvPr/>
        </p:nvSpPr>
        <p:spPr>
          <a:xfrm>
            <a:off x="822960" y="5806440"/>
            <a:ext cx="5669280" cy="292608"/>
          </a:xfrm>
          <a:prstGeom prst="rect">
            <a:avLst/>
          </a:prstGeom>
          <a:noFill/>
        </p:spPr>
        <p:txBody>
          <a:bodyPr wrap="square" anchor="t" lIns="12700" rIns="76200" tIns="12700" bIns="12700">
            <a:normAutofit/>
          </a:bodyPr>
          <a:lstStyle/>
          <a:p>
            <a:pPr algn="l"/>
            <a:r>
              <a:rPr sz="900" b="0">
                <a:solidFill>
                  <a:srgbClr val="B4BAAE"/>
                </a:solidFill>
                <a:latin typeface="Aptos"/>
              </a:rPr>
              <a:t>v1.63.0 · Generated September 20, 2026 09:04 AM UTC-0600 at HEAD 64abcdd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76200" tIns="12700" bIns="12700">
            <a:norm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OPERATOR-CONTROLLED WINDOWS DEFENSE, NOT AN AUTONOMOUS AGENT ROW</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Security Toolkit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Purpose and assets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`security/` directory is an administrator-operated Windows defensive toolkit, not a new chat tool or database-backed workflow Agent row. Tlamatini helps collect and respond to signals only on systems the operator owns or is explicitly authorized to defend.</a:t>
            </a:r>
          </a:p>
          <a:p>
            <a:pPr>
              <a:spcAft>
                <a:spcPts val="400"/>
              </a:spcAft>
              <a:defRPr sz="1100">
                <a:solidFill>
                  <a:srgbClr val="B4BAAE"/>
                </a:solidFill>
                <a:latin typeface="Aptos"/>
              </a:defRPr>
            </a:pPr>
            <a:r>
              <a:t>The six shipped assets are `README.md`, `enable_tlamatini_v2.bat`, `tlamatini_whitelist_v2.ps1`, `run_defender.bat`, `tlamatini_defender.ps1`, and `automated_tests_of_security_assets.py`; runtime evidence is written under git-ignored `security_logs/`.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Safe enablement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Use the safe sequence validate -&gt; record a Windows baseline -&gt; enable -&gt; restart -&gt; run detect-only -&gt; investigate -&gt; arm only when justified. There is no bundled rollback script, so Defender, ASR, CFA, firewall, execution-policy, audit-policy, and Security-log state must be recorded before elevation.</a:t>
            </a:r>
          </a:p>
          <a:p>
            <a:pPr>
              <a:spcAft>
                <a:spcPts val="400"/>
              </a:spcAft>
              <a:defRPr sz="1100">
                <a:solidFill>
                  <a:srgbClr val="B4BAAE"/>
                </a:solidFill>
                <a:latin typeface="Aptos"/>
              </a:defRPr>
            </a:pPr>
            <a:r>
              <a:t>The visible non-destructive harness parses both PowerShell files, exercises the self-safe classifier, validates official ASR/audit GUIDs, watch timing, UAC path handling, launcher failure propagation, Shoter capture, and headed-browser proof. The audited run passed 40/40 checks, but it does not apply Windows policy or execute an armed sweep.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PERSISTENT HOST CHANGES PLUS TEN EVIDENCE FAMILIES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Controls And Monitoring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Enablement and audit controls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Enablement keeps core Defender/firewall services running but deliberately adds the Tlamatini root and selected executables to Defender exclusions, allows `Tlamatini.exe` through Controlled Folder Access, moves six selected ASR rules to action 6 (Audit), sets current-user PowerShell to RemoteSigned, and creates broad outbound application rules.</a:t>
            </a:r>
          </a:p>
          <a:p>
            <a:pPr>
              <a:spcAft>
                <a:spcPts val="400"/>
              </a:spcAft>
              <a:defRPr sz="1000">
                <a:solidFill>
                  <a:srgbClr val="B4BAAE"/>
                </a:solidFill>
                <a:latin typeface="Aptos"/>
              </a:defRPr>
            </a:pPr>
            <a:r>
              <a:t>The ASR rules cover Office child processes, LSASS credential stealing, WMI event-subscription persistence, email/webmail executables, untrusted or unsigned USB processes, and PSExec/WMI child processes. The script uses Microsoft's published IDs and reads Defender's effective ID/action arrays back before reporting success.</a:t>
            </a:r>
          </a:p>
          <a:p>
            <a:pPr>
              <a:spcAft>
                <a:spcPts val="400"/>
              </a:spcAft>
              <a:defRPr sz="1000">
                <a:solidFill>
                  <a:srgbClr val="B4BAAE"/>
                </a:solidFill>
                <a:latin typeface="Aptos"/>
              </a:defRPr>
            </a:pPr>
            <a:r>
              <a:t>Audit setup uses stable subcategory GUIDs for Logon, Credential Validation, Process Creation, Sensitive Privilege Use, and User Account Management, and checks every `auditpol` exit code. Command-line event 4688 and PowerShell Script Block Logging improve evidence but can record sensitive arguments.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the defender examines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ten monitor families are Defender health, logons, established TCP/listeners, processes, scheduled tasks, services, registry persistence, recently changed critical files, ransomware/recovery tampering, and account/administrator-group events.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DETECT FIRST; INVESTIGATE BEFORE CONTAINMENT OR ATTRIBUTION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Response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Armed behavior and self protection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Detect-only logs `WOULD BLOCK` and `WOULD KILL`. Default armed mode may add persistent inbound/outbound firewall blocks after repeated non-local failed logons and may force-stop known attacker-tool process-name matches; most other findings alert only.</a:t>
            </a:r>
          </a:p>
          <a:p>
            <a:pPr>
              <a:spcAft>
                <a:spcPts val="400"/>
              </a:spcAft>
              <a:defRPr sz="1000">
                <a:solidFill>
                  <a:srgbClr val="B4BAAE"/>
                </a:solidFill>
                <a:latin typeface="Aptos"/>
              </a:defRPr>
            </a:pPr>
            <a:r>
              <a:t>Dual-use names alert unless `-Aggressive` is supplied. Recognized Tlamatini paths are protected from auto-kill, but that is only a path-prefix check, not signature or provenance proof; malicious content inside an excluded/self path can inherit a blind spot.</a:t>
            </a:r>
          </a:p>
          <a:p>
            <a:pPr>
              <a:spcAft>
                <a:spcPts val="400"/>
              </a:spcAft>
              <a:defRPr sz="1000">
                <a:solidFill>
                  <a:srgbClr val="B4BAAE"/>
                </a:solidFill>
                <a:latin typeface="Aptos"/>
              </a:defRPr>
            </a:pPr>
            <a:r>
              <a:t>Watch mode is a foreground loop with `-IntervalSeconds` constrained to 5..86400. It is not a service or scheduled task, and `run_defender.bat` deliberately selects one default armed sweep, so baseline runs should invoke the PowerShell script directly with `-DetectOnly`.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privacy, and packaging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`alerts.log` and `monitor.log` append sensitive usernames, IP addresses, paths, command lines, task/registry details, and response records without built-in rotation, deduplication, automatic unblock, or SIEM forwarding. Treat every severity as triage priority, not certainty.</a:t>
            </a:r>
          </a:p>
          <a:p>
            <a:pPr>
              <a:spcAft>
                <a:spcPts val="400"/>
              </a:spcAft>
              <a:defRPr sz="1000">
                <a:solidFill>
                  <a:srgbClr val="B4BAAE"/>
                </a:solidFill>
                <a:latin typeface="Aptos"/>
              </a:defRPr>
            </a:pPr>
            <a:r>
              <a:t>The batch launchers preserve paths containing spaces through UAC and propagate PowerShell failures. `build.py` ships the security source while excluding logs; self-modify snapshots likewise prune `security_logs/` so screenshots and host telemetry are not published.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(1/9)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762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Answers codebase questions with file/directory context and reads PDFs in the canvas. Use as context indexes the whole PDF, with optional Image-Interpreter analysis.</a:t>
            </a:r>
          </a:p>
          <a:p>
            <a:pPr>
              <a:spcAft>
                <a:spcPts val="400"/>
              </a:spcAft>
              <a:defRPr sz="1200">
                <a:solidFill>
                  <a:srgbClr val="B4BAAE"/>
                </a:solidFill>
                <a:latin typeface="Aptos"/>
              </a:defRPr>
            </a:pPr>
            <a:r>
              <a:t>Uses hybrid retrieval to extract metadata, split content, rank source chunks, and respect context budgets.</a:t>
            </a:r>
          </a:p>
          <a:p>
            <a:pPr>
              <a:spcAft>
                <a:spcPts val="400"/>
              </a:spcAft>
              <a:defRPr sz="1200">
                <a:solidFill>
                  <a:srgbClr val="B4BAAE"/>
                </a:solidFill>
                <a:latin typeface="Aptos"/>
              </a:defRPr>
            </a:pPr>
            <a:r>
              <a:t>Can discover files by glob pattern, search their contents by regex through Grepper's BOM-first UTF-8/16/32 and cp1252/Latin-1 decoder while skipping genuine binary data, and make surgical in-place replacements through Editor.</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762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Makes those SQLite operations WAL-safe: online backup reads through committed WAL pages, creates a self-contained destination, verifies it with `quick_check`, and keeps sidecars attached to the database they belong to.</a:t>
            </a:r>
          </a:p>
          <a:p>
            <a:pPr>
              <a:spcAft>
                <a:spcPts val="400"/>
              </a:spcAft>
              <a:defRPr sz="1100">
                <a:solidFill>
                  <a:srgbClr val="B4BAAE"/>
                </a:solidFill>
                <a:latin typeface="Aptos"/>
              </a:defRPr>
            </a:pPr>
            <a:r>
              <a:t>Can measure this machine's Internet connection through NetSpeed-Calculator, reporting throughput with confidence intervals, latency, jitter, loss, bufferbloat grade, and provider heterogeneity instead of trusting one speed-test endpoint.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(2/9)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762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762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(3/9)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4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400">
                <a:solidFill>
                  <a:srgbClr val="B4BAAE"/>
                </a:solidFill>
                <a:latin typeface="Aptos"/>
              </a:defRPr>
            </a:pPr>
            <a:r>
              <a:t>Can support operator-controlled Windows Blue-hat monitoring through the host-side `security/` toolkit, with persistent enablement tradeoffs, detect-only baselining, ten signal families, bounded armed response, and explicit evidence/privacy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(4/9)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14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4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(5/9)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14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1400">
                <a:solidFill>
                  <a:srgbClr val="B4BAAE"/>
                </a:solidFill>
                <a:latin typeface="Aptos"/>
              </a:defRPr>
            </a:pPr>
            <a:r>
              <a:t>Can SPEAK and LISTEN: Talker (text-to-speech) renders input_text to a 24 kHz WAV through an Ollama neural TTS model (selected in Config &gt; Models &gt; Speech)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(6/9)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manage real desktop windows by title: focus them, tile them, resize them, list them, and close them deterministically through Win32 calls.</a:t>
            </a:r>
          </a:p>
          <a:p>
            <a:pPr>
              <a:spcAft>
                <a:spcPts val="400"/>
              </a:spcAft>
              <a:defRPr sz="1400">
                <a:solidFill>
                  <a:srgbClr val="B4BAAE"/>
                </a:solidFill>
                <a:latin typeface="Aptos"/>
              </a:defRPr>
            </a:pPr>
            <a:r>
              <a:t>Can search with Googler through four plain-HTTP server-rendered routes first and, if empty, visible installed Chrome/bundled Chromium across seven browser routes, using bounded retries, manual query operators or a visual/pool structured dork builder, and URL-only output for indexed-file workflows.</a:t>
            </a:r>
          </a:p>
          <a:p>
            <a:pPr>
              <a:spcAft>
                <a:spcPts val="400"/>
              </a:spcAft>
              <a:defRPr sz="1400">
                <a:solidFill>
                  <a:srgbClr val="B4BAAE"/>
                </a:solidFill>
                <a:latin typeface="Aptos"/>
              </a:defRPr>
            </a:pPr>
            <a:r>
              <a:t>Can drive a real Playwright browser through scripted interactive steps for logins, forms, assertions, downloads, extraction, and end-to-end UI checks.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(7/9)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drive a live Unreal Engine 5 editor through the Unreal MCP plugin, from either Multi-Turn chat or the visual workflow canvas.</a:t>
            </a:r>
          </a:p>
          <a:p>
            <a:pPr>
              <a:spcAft>
                <a:spcPts val="400"/>
              </a:spcAft>
              <a:defRPr sz="14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4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(8/9)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4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400">
                <a:solidFill>
                  <a:srgbClr val="B4BAAE"/>
                </a:solidFill>
                <a:latin typeface="Aptos"/>
              </a:defRPr>
            </a:pPr>
            <a:r>
              <a:t>Launches wrapped copies of selected workflow agents in isolated runtime folders without mutating templates.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(9/9)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 PDF preparation supplies a complete private text/image index through a user-bound signed token; normal retrieval and model limits still apply.</a:t>
            </a:r>
          </a:p>
          <a:p>
            <a:pPr>
              <a:spcAft>
                <a:spcPts val="400"/>
              </a:spcAft>
              <a:defRPr sz="900">
                <a:solidFill>
                  <a:srgbClr val="B4BAAE"/>
                </a:solidFill>
                <a:latin typeface="Aptos"/>
              </a:defRPr>
            </a:pPr>
            <a:r>
              <a:t>DB-menu actions validate directories or SQLite files in the browser, then call Django views that use `sqlite_copy.consistent_copy()` to read through WAL, create a self-contained checked destination, and either back it up or stage it under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decodes BOM-marked UTF-8/16/32 before cp1252/Latin-1 fallbacks while pruning genuine binary/noisy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`apply_update.ps1`; the preserve contract retains operator state and `Uninstaller.exe`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`adding-external-mcp` skill applies that machinery in one guarded sequence: classify transport, import secret-separated configuration, diagnose, activate only on intent, wait for healthy tools, inspect status/list output, then call.</a:t>
            </a:r>
          </a:p>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NetSpeed-Calculator path opens parallel keyless-provider streams, drops the slow-start warmup, samples byte derivatives, rejects outliers, computes Student-t intervals, and pools provider estimates with inverse-variance or DerSimonian-Laird random effects; `validate` and `providers` are read-only, while throughput actions are metered tier-D work.</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13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13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13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13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1300">
                <a:solidFill>
                  <a:srgbClr val="B4BAAE"/>
                </a:solidFill>
                <a:latin typeface="Aptos"/>
              </a:defRPr>
            </a:pPr>
            <a:r>
              <a:t>The Unrealer path opens a TCP socket to the Unreal MCP plugin, sends one `{"type": command, "params": {...}}` payload, captures the JSON reply, and emits one `INI_SECTION_UNREALER` block for downstream logic.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12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archives the previous database with its WAL/SHM/journal sidecars under `DB/Older/&lt;timestamp&gt;/`, clears stale destination sidecars, and only then promotes the verified staged database before Django imports.</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while the explicit private builder can synchronize same-machine contacts into gitignored private staging without exposing them in public output.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76200" tIns="12700" bIns="12700">
            <a:norm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V1.10.0 SAFETY MODIFIER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Introduced in `v1.10.0` and still part of the current release,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V1.11.0 UNINSTALL INTEGRATION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Introduced in `v1.11.0` and still carried by the current release, the frozen install behaves like a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V1.64.0-0-G64ABCDD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Release Identity and Runtime Foundations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reachable local tag v1.64.0 resolves to 64abcdd. Current source HEAD is 64abcdd, 0 commit(s) beyond that tag. Fetched origin/main resolves to 64abcdd. Origin does not advertise v1.64.0; it is a local tag. Runtime version resolution remains Git/build-derived. A source revision beyond the tag is not a new tagged release.</a:t>
            </a:r>
          </a:p>
          <a:p>
            <a:pPr>
              <a:spcAft>
                <a:spcPts val="400"/>
              </a:spcAft>
              <a:defRPr sz="1000">
                <a:solidFill>
                  <a:srgbClr val="B4BAAE"/>
                </a:solidFill>
                <a:latin typeface="Aptos"/>
              </a:defRPr>
            </a:pPr>
            <a:r>
              <a:t>Commit `c8cf369` makes console output non-blocking. `manage.py::_ConsoleWriter` drains a bounded 10,000-chunk queue on one daemon thread, while `_TeeStream` writes `tlamatini.log` first on the caller thread. Frozen builds ship `console_quick_edit: false`; source runs leave the developer's terminal mode untouched. Ctrl+C is forced on, verified after the mode change, and the original mode is restored if that bit does not survive. The 600-line `agent/test_console_shield.py` contains 28 focused tests.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MCP, research, service, and privacy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same commit adds the 92-line `welcome_enter_default.js`: the existing Go to Chat link receives focus after login, while a guarded document fallback handles plain Enter only when no button, link, input, or editable element already owns it. Modifier chords, IME composition, claimed events, missing links, and failed focus all fail open. The earlier `00ecdc9` shim still centralizes correct `.exe`, Python, `.cmd`, and `.bat` startup across ACPX and runtime provisioning.</a:t>
            </a:r>
          </a:p>
          <a:p>
            <a:pPr>
              <a:spcAft>
                <a:spcPts val="400"/>
              </a:spcAft>
              <a:defRPr sz="1000">
                <a:solidFill>
                  <a:srgbClr val="B4BAAE"/>
                </a:solidFill>
                <a:latin typeface="Aptos"/>
              </a:defRPr>
            </a:pPr>
            <a:r>
              <a:t>The shared v1.51.2/v1.51.3 tag commit adds `agent/acpx/child_health.py`, live readiness probes, named non-delivery verdicts, and transport overrides. PDFer's upgrade and v1.51.1 program/snippet collision repair remain carried. The repository facts section derives current agent, tool, frontend and migration counts directly from source.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AGENT 88 - MEASURED THROUGHPUT WITH UNCERTAINTY, NOT A SINGLE FLATTERING NUMBER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NetSpeed-Calculator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Measurement method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Actions are `full`, `download`, `upload`, `latency`, `validate`, and `providers`. `validate` checks reachability and `providers` lists the catalog; neither runs a throughput transfer.</a:t>
            </a:r>
          </a:p>
          <a:p>
            <a:pPr>
              <a:spcAft>
                <a:spcPts val="400"/>
              </a:spcAft>
              <a:defRPr sz="1000">
                <a:solidFill>
                  <a:srgbClr val="B4BAAE"/>
                </a:solidFill>
                <a:latin typeface="Aptos"/>
              </a:defRPr>
            </a:pPr>
            <a:r>
              <a:t>Each throughput direction uses parallel TCP flows, discards the configured warmup/slow-start interval, and samples d(bytes)/dt so the excluded ramp cannot contaminate the estimate.</a:t>
            </a:r>
          </a:p>
          <a:p>
            <a:pPr>
              <a:spcAft>
                <a:spcPts val="400"/>
              </a:spcAft>
              <a:defRPr sz="1000">
                <a:solidFill>
                  <a:srgbClr val="B4BAAE"/>
                </a:solidFill>
                <a:latin typeface="Aptos"/>
              </a:defRPr>
            </a:pPr>
            <a:r>
              <a:t>Per-provider samples are cleaned with Tukey-IQR or MAD rejection, summarized with a trimmed mean, and assigned a small-sample Student-t confidence interval.</a:t>
            </a:r>
          </a:p>
          <a:p>
            <a:pPr>
              <a:spcAft>
                <a:spcPts val="400"/>
              </a:spcAft>
              <a:defRPr sz="1000">
                <a:solidFill>
                  <a:srgbClr val="B4BAAE"/>
                </a:solidFill>
                <a:latin typeface="Aptos"/>
              </a:defRPr>
            </a:pPr>
            <a:r>
              <a:t>Cross-provider fusion starts with inverse-variance weighting and switches to DerSimonian-Laird random effects when Cochran's Q shows genuine disagreement; I-squared quantifies heterogeneity.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Safety, evidence, and operation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Bufferbloat is the RTT increase while the link is saturated, graded A+ through F. A fast idle Mbps number does not excuse poor latency under load.</a:t>
            </a:r>
          </a:p>
          <a:p>
            <a:pPr>
              <a:spcAft>
                <a:spcPts val="400"/>
              </a:spcAft>
              <a:defRPr sz="1000">
                <a:solidFill>
                  <a:srgbClr val="B4BAAE"/>
                </a:solidFill>
                <a:latin typeface="Aptos"/>
              </a:defRPr>
            </a:pPr>
            <a:r>
              <a:t>A zero-byte transfer records and reports its endpoint/network cause instead of masquerading as a measured 0.00 Mbps connection.</a:t>
            </a:r>
          </a:p>
          <a:p>
            <a:pPr>
              <a:spcAft>
                <a:spcPts val="400"/>
              </a:spcAft>
              <a:defRPr sz="1000">
                <a:solidFill>
                  <a:srgbClr val="B4BAAE"/>
                </a:solidFill>
                <a:latin typeface="Aptos"/>
              </a:defRPr>
            </a:pPr>
            <a:r>
              <a:t>Full runs commonly transfer 100-200 MB and deliberately saturate the link. The agent is Ask-Execs tier D; run once with explicit operator awareness and do not repeat only to seek a prettier result.</a:t>
            </a:r>
          </a:p>
          <a:p>
            <a:pPr>
              <a:spcAft>
                <a:spcPts val="400"/>
              </a:spcAft>
              <a:defRPr sz="1000">
                <a:solidFill>
                  <a:srgbClr val="B4BAAE"/>
                </a:solidFill>
                <a:latin typeface="Aptos"/>
              </a:defRPr>
            </a:pPr>
            <a:r>
              <a:t>The network/measurement stack uses Python's standard library; existing PyYAML reads `config.yaml`. JSON evidence lands under `&lt;app&gt;/Temp/NetSpeedCalculator`, and `INI_SECTION_NETSPEED_CALCULATOR` feeds Parametrizer/Forker and Exec Report.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VALID DORK SYNTAX, INDEXED-FILE WORKFLOWS, AND A CLEAR RESPONSIBILITY BOUNDARY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Googler Structured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Builder, presets, and operators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visual/pool Googler compiles structured fields into valid Google syntax: operator colons have no following space, exact phrases are double-quoted, alternatives use uppercase OR inside parentheses, and exclusions use `-term` without a gap.</a:t>
            </a:r>
          </a:p>
          <a:p>
            <a:pPr>
              <a:spcAft>
                <a:spcPts val="400"/>
              </a:spcAft>
              <a:defRPr sz="1000">
                <a:solidFill>
                  <a:srgbClr val="B4BAAE"/>
                </a:solidFill>
                <a:latin typeface="Aptos"/>
              </a:defRPr>
            </a:pPr>
            <a:r>
              <a:t>Presets are `book`, `book_public`, `paper`, `manual`, `docs`, `slides`, `sheets`, and `directory`. A preset fills only empty fields, so an explicit user value always wins.</a:t>
            </a:r>
          </a:p>
          <a:p>
            <a:pPr>
              <a:spcAft>
                <a:spcPts val="400"/>
              </a:spcAft>
              <a:defRPr sz="1000">
                <a:solidFill>
                  <a:srgbClr val="B4BAAE"/>
                </a:solidFill>
                <a:latin typeface="Aptos"/>
              </a:defRPr>
            </a:pPr>
            <a:r>
              <a:t>File aliases expand `ebook`, `book`, `docs`, `slides`, `sheets`, `text`, `code`, and `data`; multiple file types or sites become grouped OR clauses, while excluded sites become `-site:` filters.</a:t>
            </a:r>
          </a:p>
          <a:p>
            <a:pPr>
              <a:spcAft>
                <a:spcPts val="400"/>
              </a:spcAft>
              <a:defRPr sz="1000">
                <a:solidFill>
                  <a:srgbClr val="B4BAAE"/>
                </a:solidFill>
                <a:latin typeface="Aptos"/>
              </a:defRPr>
            </a:pPr>
            <a:r>
              <a:t>The remaining fields cover exact/author phrases; title, URL, text, and anchor operators; alternatives; AROUND proximity; numeric ranges; before/after dates; related/cache/define/source discovery; and term exclusions.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File workflow and responsible use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For PDF, EPUB, document, slide, sheet, code, or data hunts, `content_mode: links_only` is the correct success path: Googler returns URL/title records without trying to extract text from a binary response.</a:t>
            </a:r>
          </a:p>
          <a:p>
            <a:pPr>
              <a:spcAft>
                <a:spcPts val="400"/>
              </a:spcAft>
              <a:defRPr sz="1000">
                <a:solidFill>
                  <a:srgbClr val="B4BAAE"/>
                </a:solidFill>
                <a:latin typeface="Aptos"/>
              </a:defRPr>
            </a:pPr>
            <a:r>
              <a:t>A typical downstream flow is Googler (`links_only`) -&gt; Parametrizer -&gt; Apirer (authorized download) -&gt; File-Extractor or File-Interpreter -&gt; Summarizer. Crawler remains appropriate when the target is an already-known web page.</a:t>
            </a:r>
          </a:p>
          <a:p>
            <a:pPr>
              <a:spcAft>
                <a:spcPts val="400"/>
              </a:spcAft>
              <a:defRPr sz="1000">
                <a:solidFill>
                  <a:srgbClr val="B4BAAE"/>
                </a:solidFill>
                <a:latin typeface="Aptos"/>
              </a:defRPr>
            </a:pPr>
            <a:r>
              <a:t>The direct Multi-Turn `googler` tool accepts equivalent hand-written operators inside `query`; the structured fields and presets belong to the visual/pool agent and must not be advertised as direct-tool parameters.</a:t>
            </a:r>
          </a:p>
          <a:p>
            <a:pPr>
              <a:spcAft>
                <a:spcPts val="400"/>
              </a:spcAft>
              <a:defRPr sz="1000">
                <a:solidFill>
                  <a:srgbClr val="B4BAAE"/>
                </a:solidFill>
                <a:latin typeface="Aptos"/>
              </a:defRPr>
            </a:pPr>
            <a:r>
              <a:t>Googler locates publicly indexed URLs only and does not bypass access controls. Indexing is not permission: copyright, licensing, authorization, downloading, and use remain the operator's responsibility.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PLAIN HTTP FIRST, SEVEN BROWSER ROUTES SECOND, BOUNDED RETRIES, AND HONEST ATTRIBUTION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Googler Search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Measured failure and browser policy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 measured failure drove the redesign: bundled headless Chromium returned zero results even for a plain control query, and the old single DuckDuckGo fallback returned an error page, while the same dork in visible installed Chrome returned real EPUB URLs.</a:t>
            </a:r>
          </a:p>
          <a:p>
            <a:pPr>
              <a:spcAft>
                <a:spcPts val="400"/>
              </a:spcAft>
              <a:defRPr sz="1000">
                <a:solidFill>
                  <a:srgbClr val="B4BAAE"/>
                </a:solidFill>
                <a:latin typeface="Aptos"/>
              </a:defRPr>
            </a:pPr>
            <a:r>
              <a:t>Tier 0 uses plain `urllib` before any browser: DuckDuckGo HTML, Bing, DuckDuckGo Lite, and Mojeek provide server-rendered pages without browser fingerprints or CSS-selector dependence. v1.50.3 unescapes HTML entities, decodes Bing `ck/a` Base64URL targets, and filters Mojeek's own promotional links before the first non-empty result set wins.</a:t>
            </a:r>
          </a:p>
          <a:p>
            <a:pPr>
              <a:spcAft>
                <a:spcPts val="400"/>
              </a:spcAft>
              <a:defRPr sz="1000">
                <a:solidFill>
                  <a:srgbClr val="B4BAAE"/>
                </a:solidFill>
                <a:latin typeface="Aptos"/>
              </a:defRPr>
            </a:pPr>
            <a:r>
              <a:t>If Tier 0 is empty, Tier 1 defaults to visible installed Chrome, falls back to bundled Chromium, and walks seven direct-result browser routes: DuckDuckGo HTML/Lite, Mojeek, Bing, Google, Brave, Startpage. Headless remains opt-in and more refusal-prone.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Fallback, semantics, and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Each browser route receives `attempts_per_engine` bounded attempts with polite jittered backoff. The log names the route that actually answered instead of implying every result came from Google.</a:t>
            </a:r>
          </a:p>
          <a:p>
            <a:pPr>
              <a:spcAft>
                <a:spcPts val="400"/>
              </a:spcAft>
              <a:defRPr sz="1000">
                <a:solidFill>
                  <a:srgbClr val="B4BAAE"/>
                </a:solidFill>
                <a:latin typeface="Aptos"/>
              </a:defRPr>
            </a:pPr>
            <a:r>
              <a:t>`engines` can pin a browser route such as `[google]` and deliberately skips Tier 0. Empty selection enables both documented tiers; tolerant booleans keep wrapped string `false` from silently becoming true.</a:t>
            </a:r>
          </a:p>
          <a:p>
            <a:pPr>
              <a:spcAft>
                <a:spcPts val="400"/>
              </a:spcAft>
              <a:defRPr sz="1000">
                <a:solidFill>
                  <a:srgbClr val="B4BAAE"/>
                </a:solidFill>
                <a:latin typeface="Aptos"/>
              </a:defRPr>
            </a:pPr>
            <a:r>
              <a:t>`site:` and `filetype:` work broadly, but `before:`, `after:`, `AROUND()`, and numeric-range semantics are Google-specific. A fallback engine may return broader candidates, so exact full-vocabulary work should pin Google and reports must preserve the answering-engine truth.</a:t>
            </a:r>
          </a:p>
          <a:p>
            <a:pPr>
              <a:spcAft>
                <a:spcPts val="400"/>
              </a:spcAft>
              <a:defRPr sz="1000">
                <a:solidFill>
                  <a:srgbClr val="B4BAAE"/>
                </a:solidFill>
                <a:latin typeface="Aptos"/>
              </a:defRPr>
            </a:pPr>
            <a:r>
              <a:t>The 73-test deterministic suite covers query compilation, config defaults, HTTP-before-browser order, seven-route browser order, retry/fallback stopping, pinned-engine Tier-0 bypass, tolerant booleans, and redirect unwrapping. The optional headed dork-hunt harness stores public/open-source proof under Tlamatini `Temp`; the v1.50.3 tag records the first paired-Tlamatinis Googler improvement phase.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BACKUP DB, SET DB, AND STARTUP PROMOTION NOW PRESERVE COMMITTED SQLITE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WAL-Safe Database Movement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Consistent copy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SQLite WAL mode can hold committed pages in `db.sqlite3-wal`, so copying only the main file can silently produce an old backup while claiming success.</a:t>
            </a:r>
          </a:p>
          <a:p>
            <a:pPr>
              <a:spcAft>
                <a:spcPts val="400"/>
              </a:spcAft>
              <a:defRPr sz="1100">
                <a:solidFill>
                  <a:srgbClr val="B4BAAE"/>
                </a:solidFill>
                <a:latin typeface="Aptos"/>
              </a:defRPr>
            </a:pPr>
            <a:r>
              <a:t>`sqlite_copy.consistent_copy()` uses SQLite's online backup API to read through WAL, converts the destination to DELETE journal mode, and requires `PRAGMA quick_check` before success.</a:t>
            </a:r>
          </a:p>
          <a:p>
            <a:pPr>
              <a:spcAft>
                <a:spcPts val="400"/>
              </a:spcAft>
              <a:defRPr sz="1100">
                <a:solidFill>
                  <a:srgbClr val="B4BAAE"/>
                </a:solidFill>
                <a:latin typeface="Aptos"/>
              </a:defRPr>
            </a:pPr>
            <a:r>
              <a:t>Backup DB writes that verified self-contained copy to the selected directory. Set DB writes the same safe form into `DB/ToLoad/db.sqlite3` without touching Django's open live connection.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Sidecar-safe promotion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Before Django imports, `manage.py::_apply_pending_db_swap()` archives the outgoing main database plus WAL/SHM/journal sidecars under `DB/Older/&lt;timestamp&gt;/`.</a:t>
            </a:r>
          </a:p>
          <a:p>
            <a:pPr>
              <a:spcAft>
                <a:spcPts val="400"/>
              </a:spcAft>
              <a:defRPr sz="1100">
                <a:solidFill>
                  <a:srgbClr val="B4BAAE"/>
                </a:solidFill>
                <a:latin typeface="Aptos"/>
              </a:defRPr>
            </a:pPr>
            <a:r>
              <a:t>The swap removes stale sidecars beside the destination before promotion, preventing SQLite from replaying pages belonging to the previous database over the selected replacement.</a:t>
            </a:r>
          </a:p>
          <a:p>
            <a:pPr>
              <a:spcAft>
                <a:spcPts val="400"/>
              </a:spcAft>
              <a:defRPr sz="1100">
                <a:solidFill>
                  <a:srgbClr val="B4BAAE"/>
                </a:solidFill>
                <a:latin typeface="Aptos"/>
              </a:defRPr>
            </a:pPr>
            <a:r>
              <a:t>Database copy truth is fail-safe: unreadable, inconsistent, or unchecked output is failure. The previous live database remains available if promotion cannot finish safely.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GUIDED ONBOARDING, A DEEP-RESEARCH STARTER, AND STRICT PII BOUNDARIES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MCP, Research, And Private Builds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MCP and research lifecycle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External MCP Adder skill's eight-step lifecycle is transport classification, secret-separated configuration, import, Doctor, intentional activation, healthy wait, status/list inspection, and remote call.</a:t>
            </a:r>
          </a:p>
          <a:p>
            <a:pPr>
              <a:spcAft>
                <a:spcPts val="400"/>
              </a:spcAft>
              <a:defRPr sz="1100">
                <a:solidFill>
                  <a:srgbClr val="B4BAAE"/>
                </a:solidFill>
                <a:latin typeface="Aptos"/>
              </a:defRPr>
            </a:pPr>
            <a:r>
              <a:t>Memory and Sequential Thinking remain inactive shipped defaults; deletion tombstones and persistent per-user state are respected, and at most five catalog servers are active at once.</a:t>
            </a:r>
          </a:p>
          <a:p>
            <a:pPr>
              <a:spcAft>
                <a:spcPts val="400"/>
              </a:spcAft>
              <a:defRPr sz="1100">
                <a:solidFill>
                  <a:srgbClr val="B4BAAE"/>
                </a:solidFill>
                <a:latin typeface="Aptos"/>
              </a:defRPr>
            </a:pPr>
            <a:r>
              <a:t>Deep Internet Research is append-only prompt 118 (`getting_started`, `sort_rank=100`). It requests Multi-Turn plus Exec Report for a long, link-rich search and may use authorized MCPs/agents without making them hidden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Service and privacy boundary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Ollama Pro or higher is the documented minimum tier for complete intended cloud-model operation. This is not sponsorship, and plan pricing/limits must be checked with Ollama.</a:t>
            </a:r>
          </a:p>
          <a:p>
            <a:pPr>
              <a:spcAft>
                <a:spcPts val="400"/>
              </a:spcAft>
              <a:defRPr sz="1100">
                <a:solidFill>
                  <a:srgbClr val="B4BAAE"/>
                </a:solidFill>
                <a:latin typeface="Aptos"/>
              </a:defRPr>
            </a:pPr>
            <a:r>
              <a:t>The explicit private builder merges same-machine contact sources into gitignored `contacts.private.json` using normalized names, alias union, and non-empty-value preservation.</a:t>
            </a:r>
          </a:p>
          <a:p>
            <a:pPr>
              <a:spcAft>
                <a:spcPts val="400"/>
              </a:spcAft>
              <a:defRPr sz="1100">
                <a:solidFill>
                  <a:srgbClr val="B4BAAE"/>
                </a:solidFill>
                <a:latin typeface="Aptos"/>
              </a:defRPr>
            </a:pPr>
            <a:r>
              <a:t>Public builds ship an empty contacts book; self-modify snapshots contain no contact files; generated dossiers never reproduce contact values, credentials, or live catalog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CLOSED STATUS VOCABULARY, CANONICAL RESULT FIELDS, AND RUNTIME SAFEGUARDS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`agent/agent_verdict.py` now owns the CLOSED `KNOWN_STATUSES` union of five disjoint sets: `DIAGNOSTIC_COMPLETED_STATUSES`, `WORK_COMPLETED_STATUSES`, `WORK_DEGRADED_STATUSES`, `WORK_NOT_DONE_STATUSES`, and `AGENT_ERROR_STATUSES`. The first two are green; the last three are red. R8b remains fail-open for unknown runtime input, while `agent/test_status_vocabulary.py` rejects unknown literals before release.</a:t>
            </a:r>
          </a:p>
          <a:p>
            <a:pPr>
              <a:spcAft>
                <a:spcPts val="400"/>
              </a:spcAft>
              <a:defRPr sz="1000">
                <a:solidFill>
                  <a:srgbClr val="B4BAAE"/>
                </a:solidFill>
                <a:latin typeface="Aptos"/>
              </a:defRPr>
            </a:pPr>
            <a:r>
              <a:t>Grepper detects BOM-marked UTF-8/16/32 before cp1252/Latin-1 fallbacks and before the NUL-byte binary test. The self-report outranks process exit code; Kuberneter emits `returncode`, `success`, and semantic `status: ok|failed`. Source-derived tests stop status, supervisor, prompt, and catalog drift.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Database startup safeguard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`agent/sqlite_copy.py` routes Backup DB, Set DB, and pre-Django hot-swap through SQLite's online backup API. Destinations become self-contained DELETE-journal files, must pass `PRAGMA quick_check`, and keep or clear WAL/SHM/journal sidecars in the correct order before promotion.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V1.48.16 - V1.48.17 SAFETY LINEAGE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Dialog And Bundle Proof</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Uniform dismissal and themed pop-ups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Frontend dialogs now share one visual language through `dialog_theme.css` and one fail-open dismissal contract through `dialog_policy.js`: an outside click never dismisses, while Escape finds the topmost open dialog and invokes that dialog's own X/Cancel path so permission denials, confirmation-false results, and scroll-lock cleanup remain intact. A sealed downloading updater is the single exception and refuses Escape/reload shortcuts. `tlmAlert` / `tlmConfirm` replace the remaining native pop-ups inside Contacts and External MCP dialogs, while `release_notes_renderer.js` safely renders update notes.</a:t>
            </a:r>
          </a:p>
          <a:p>
            <a:pPr>
              <a:spcAft>
                <a:spcPts val="400"/>
              </a:spcAft>
              <a:defRPr sz="1000">
                <a:solidFill>
                  <a:srgbClr val="B4BAAE"/>
                </a:solidFill>
                <a:latin typeface="Aptos"/>
              </a:defRPr>
            </a:pPr>
            <a:r>
              <a:t>The bubble-phase dispatcher closes only the topmost layer through its own dismiss control; no affirmative action is selected and one Escape cannot close two stacked dialogs.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Frozen payload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`v1.48.16` build proof names fail-open imports explicitly with hidden-import flags, opens the PyInstaller archive it just produced, and aborts if any of seven required `agent.*` modules is genuinely absent. Unreadable archive formats warn rather than fabricate failure, but a readable archive missing a required module cannot ship.</a:t>
            </a:r>
          </a:p>
          <a:p>
            <a:pPr>
              <a:spcAft>
                <a:spcPts val="400"/>
              </a:spcAft>
              <a:defRPr sz="1000">
                <a:solidFill>
                  <a:srgbClr val="B4BAAE"/>
                </a:solidFill>
                <a:latin typeface="Aptos"/>
              </a:defRPr>
            </a:pPr>
            <a:r>
              <a:t>Evidence: 35 focused dismissal-policy tests, a visible headed-Chrome proof runner, the tree-wide `closeOnEscape: false` guard, and build tests for CArchive/PYZ inspection.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Menus, logging, and whole-desktop capture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a:p>
            <a:pPr>
              <a:spcAft>
                <a:spcPts val="400"/>
              </a:spcAft>
              <a:defRPr sz="1000">
                <a:solidFill>
                  <a:srgbClr val="B4BAAE"/>
                </a:solidFill>
                <a:latin typeface="Aptos"/>
              </a:defRPr>
            </a:pPr>
            <a:r>
              <a:t>Shoter captures the whole desktop by default, supports an exact basename, and emits physical capture bounds, analyzed-image dimensions, monitor geometry and capture time. Unproven geometry is marked unknown. Mouser maps explicit physical/window/screenshot coordinates and rejects ambiguous targets; Keyboarder binds checked Unicode SendInput to a window and stops on focus loss. Input delivery is distinct from verified application success.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FlowCreator selects from all 89 installed agents, then uses selected guide sections and current configuration/connection contracts. It validates references, branch slots, singleton wiring and Parametrizer mappings, supports bounded repair, and reports failure if the .flw cannot be written. The generated catalog exports field types rather than local configuration values, and deployment refreshes runtime knowledge.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Published inventory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Since the last committed dossier revision, the inspected checkout adds 2 files including 2 untracked working additions. The delta removes 0 paths (including pending deletions), with 0 under output/. The current tracked output inventory has 0 files. Local leftovers never establish publication.</a:t>
            </a:r>
          </a:p>
          <a:p>
            <a:pPr>
              <a:spcAft>
                <a:spcPts val="400"/>
              </a:spcAft>
              <a:defRPr sz="1100">
                <a:solidFill>
                  <a:srgbClr val="B4BAAE"/>
                </a:solidFill>
                <a:latin typeface="Aptos"/>
              </a:defRPr>
            </a:pPr>
            <a:r>
              <a:t>The new-asset table lists the actual delta from the committed dossier baseline, not the older PDF-canvas rollout. The four additions are Video-Analyzer's README, video_content.py, migration 0207 and the content regression suite. PDF.js and release gates are already tracked. Binary fonts, character maps, decoders and media have no line count.</a:t>
            </a:r>
          </a:p>
          <a:p>
            <a:pPr>
              <a:spcAft>
                <a:spcPts val="400"/>
              </a:spcAft>
              <a:defRPr sz="1100">
                <a:solidFill>
                  <a:srgbClr val="B4BAAE"/>
                </a:solidFill>
                <a:latin typeface="Aptos"/>
              </a:defRPr>
            </a:pPr>
            <a:r>
              <a:t>Current inventory: 1,496 tracked plus 2 pending files, 494,930 physical text lines, 383,447 effective lines, and 256 binary assets. Counts include source and documentation plus vendored third-party code. Ignored galleries, caches and runtime state are excluded. 0 index paths are absent from disk and excluded from line/binary totals. Config values are never reproduced.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Source and evidence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Changes after dossier commit 64abcdd are listed in the Git appendix. Video audio transcription, summaries and external-MCP scalar repair join the whole-system coverage. The tag and later source commits are distinguished. Runtime avatar JPGs remain tracked despite the earlier removal of the old output corpus.</a:t>
            </a:r>
          </a:p>
          <a:p>
            <a:pPr>
              <a:spcAft>
                <a:spcPts val="400"/>
              </a:spcAft>
              <a:defRPr sz="1000">
                <a:solidFill>
                  <a:srgbClr val="B4BAAE"/>
                </a:solidFill>
                <a:latin typeface="Aptos"/>
              </a:defRPr>
            </a:pPr>
            <a:r>
              <a:t>Git history at 46a18c8 retains the older atomic-renderer report: 313 transitions, 10,609 paints, minimum coverage 100%, reported clean=True. It describes that earlier renderer, not a fresh canvas verification. Focused source regressions and document validation are checked separately. Document rendering and layout inspection are the only new visual evidence.</a:t>
            </a:r>
          </a:p>
          <a:p>
            <a:pPr>
              <a:spcAft>
                <a:spcPts val="400"/>
              </a:spcAft>
              <a:defRPr sz="1000">
                <a:solidFill>
                  <a:srgbClr val="B4BAAE"/>
                </a:solidFill>
                <a:latin typeface="Aptos"/>
              </a:defRPr>
            </a:pPr>
            <a:r>
              <a:t>Historical v1.62.0 handbook snapshots precede the current 1.63.0 release; the September 16 commit-assets instructions describe already tracked files. Historical 108-tool/66-wrapper labels, 204 migrations and old line totals were reconciled to live source. Django is pinned at 5.2.15. The viewer exposes navigation and text selection; no dedicated find control exists. These dossiers use source-derived counts and actual Git refs, preserving historical evidence.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Central Model Configuration</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Config &gt; Models exposes 38 model, engine and voice settings for core services and 21 model-backed agents. Six searchable categories: Core 7, Vision 7, Speech 7, Workflows 6, Documents 5, Monitoring &amp; messaging 6.</a:t>
            </a:r>
          </a:p>
          <a:p>
            <a:pPr>
              <a:spcAft>
                <a:spcPts val="400"/>
              </a:spcAft>
              <a:defRPr sz="1300">
                <a:solidFill>
                  <a:srgbClr val="B4BAAE"/>
                </a:solidFill>
                <a:latin typeface="Aptos"/>
              </a:defRPr>
            </a:pPr>
            <a:r>
              <a:t>Talker model/voice, Whisperer recognition engine/local/cloud/cleanup models, Video-Analyzer local audio, vision observers/mergers, workflows, documents and monitors all have dedicated choices. External ACPX/MCP providers retain their own settings.</a:t>
            </a:r>
          </a:p>
          <a:p>
            <a:pPr>
              <a:spcAft>
                <a:spcPts val="400"/>
              </a:spcAft>
              <a:defRPr sz="1300">
                <a:solidFill>
                  <a:srgbClr val="B4BAAE"/>
                </a:solidFill>
                <a:latin typeface="Aptos"/>
              </a:defRPr>
            </a:pPr>
            <a:r>
              <a:t>Save submits all 38 values, preserves unrelated configuration and downloads no weights. Changed Ollama choices are checked against the catalog; local and provider names are separate. Catalog presence is not a capability or entitlement test.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Reconnect chat to rebuild clients. Agent choices apply at their next configuration load; restart an already running monitor when needed. Existing literal workflow choices are not silently rewritten by a global save.</a:t>
            </a:r>
          </a:p>
          <a:p>
            <a:pPr>
              <a:spcAft>
                <a:spcPts val="400"/>
              </a:spcAft>
              <a:defRPr sz="1300">
                <a:solidFill>
                  <a:srgbClr val="B4BAAE"/>
                </a:solidFill>
                <a:latin typeface="Aptos"/>
              </a:defRPr>
            </a:pPr>
            <a:r>
              <a:t>Quoted @config or a missing registered YAML field inherits. Canvas literals remain overrides. Wrapped chat seeds globals before explicit tool arguments; standalone MCP resolves template inheritance before invocation overrides.</a:t>
            </a:r>
          </a:p>
          <a:p>
            <a:pPr>
              <a:spcAft>
                <a:spcPts val="400"/>
              </a:spcAft>
              <a:defRPr sz="1300">
                <a:solidFill>
                  <a:srgbClr val="B4BAAE"/>
                </a:solidFill>
                <a:latin typeface="Aptos"/>
              </a:defRPr>
            </a:pPr>
            <a:r>
              <a:t>The full key/default/YAML-path reference, validation API and troubleshooting are in docs/model_configuration.md. The stdlib-only model_settings.py registry supplies metadata for the UI and portable agent loaders.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Model Compatibility and Coverage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Talker requires an Orpheus-compatible audio-token model; ordinary chat models cannot speak. Supported voices: tara, leah, jess, mia, zoe. The SNAC 24 kHz decoder remains an internal format dependency.</a:t>
            </a:r>
          </a:p>
          <a:p>
            <a:pPr>
              <a:spcAft>
                <a:spcPts val="400"/>
              </a:spcAft>
              <a:defRPr sz="1400">
                <a:solidFill>
                  <a:srgbClr val="B4BAAE"/>
                </a:solidFill>
                <a:latin typeface="Aptos"/>
              </a:defRPr>
            </a:pPr>
            <a:r>
              <a:t>Whisperer engines: faster-whisper, cloud-groq, cloud-openai. Empty cloud model uses the code's provider default. Keys/endpoints remain agent settings. Selecting the cleanup model does not enable ollama_cleanup.</a:t>
            </a:r>
          </a:p>
          <a:p>
            <a:pPr>
              <a:spcAft>
                <a:spcPts val="400"/>
              </a:spcAft>
              <a:defRPr sz="1400">
                <a:solidFill>
                  <a:srgbClr val="B4BAAE"/>
                </a:solidFill>
                <a:latin typeface="Aptos"/>
              </a:defRPr>
            </a:pPr>
            <a:r>
              <a:t>Video audio uses an independent local faster-whisper model, initially base. Whisperer's cloud engine and microphone settings do not apply. Empty LaTeXer repair model disables model repair.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Video vision initially uses gemma4:cloud and jcyhsiao/qwen3.5cloud:latest, merged by glm-5.3:cloud. Each observer must support images. Defaults record application choices, not permanent provider availability.</a:t>
            </a:r>
          </a:p>
          <a:p>
            <a:pPr>
              <a:spcAft>
                <a:spcPts val="400"/>
              </a:spcAft>
              <a:defRPr sz="1300">
                <a:solidFill>
                  <a:srgbClr val="B4BAAE"/>
                </a:solidFill>
                <a:latin typeface="Aptos"/>
              </a:defRPr>
            </a:pPr>
            <a:r>
              <a:t>Summary observer HTTP 401/403/404/410 failures disable that observer only for the current run. Healthy observers continue; status remains partial. visual_coverage distinguishes frames seen by any observer from those seen by both.</a:t>
            </a:r>
          </a:p>
          <a:p>
            <a:pPr>
              <a:spcAft>
                <a:spcPts val="400"/>
              </a:spcAft>
              <a:defRPr sz="1300">
                <a:solidFill>
                  <a:srgbClr val="B4BAAE"/>
                </a:solidFill>
                <a:latin typeface="Aptos"/>
              </a:defRPr>
            </a:pPr>
            <a:r>
              <a:t>Errors retain model, HTTP status and provider explanation. A retired HTTP 410 selection needs an available replacement and a check of existing workflow overrides. Robotics still requires two explicit independent passes for PASS_OK.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Source and Frozen Model Runtime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Source config: Tlamatini/agent/config.json. Installed config: beside Tlamatini.exe. CONFIG_PATH overrides either. Portable agents locate the ancestor agents root; copied agents outside it need an explicit config path and helper.</a:t>
            </a:r>
          </a:p>
          <a:p>
            <a:pPr>
              <a:spcAft>
                <a:spcPts val="400"/>
              </a:spcAft>
              <a:defRPr sz="1400">
                <a:solidFill>
                  <a:srgbClr val="B4BAAE"/>
                </a:solidFill>
                <a:latin typeface="Aptos"/>
              </a:defRPr>
            </a:pPr>
            <a:r>
              <a:t>Frozen web code imports compiled agent.agents.model_settings. Portable helpers come from get_agents_root(), not synthetic _internal module paths. Non-model agents prepare without a loose registry; reusable pools refresh helpers.</a:t>
            </a:r>
          </a:p>
          <a:p>
            <a:pPr>
              <a:spcAft>
                <a:spcPts val="400"/>
              </a:spcAft>
              <a:defRPr sz="1400">
                <a:solidFill>
                  <a:srgbClr val="B4BAAE"/>
                </a:solidFill>
                <a:latin typeface="Aptos"/>
              </a:defRPr>
            </a:pPr>
            <a:r>
              <a:t>Monitor-Log, Monitor-Netstat and RecMailer read UTF-8 YAML including a BOM. The execution gate checks actual model loaders under Windows' default code page as well as normal source operation.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build.py must carry check_agent_runtimes and execute it in the new frozen executable before packaging. The self-modify snapshot carries registry, runtime code, command, tests and documentation. Source snapshots remain optional at runtime.</a:t>
            </a:r>
          </a:p>
          <a:p>
            <a:pPr>
              <a:spcAft>
                <a:spcPts val="400"/>
              </a:spcAft>
              <a:defRPr sz="1300">
                <a:solidFill>
                  <a:srgbClr val="B4BAAE"/>
                </a:solidFill>
                <a:latin typeface="Aptos"/>
              </a:defRPr>
            </a:pPr>
            <a:r>
              <a:t>September 20 checks passed 89 runtime preparations, 21 model loaders, 3 catalog refreshes and exact File-Creator bytes in source, fresh frozen, snapshot-absent frozen and installed modes. Wrapped-chat and standalone MCP File-Creator also passed.</a:t>
            </a:r>
          </a:p>
          <a:p>
            <a:pPr>
              <a:spcAft>
                <a:spcPts val="400"/>
              </a:spcAft>
              <a:defRPr sz="1300">
                <a:solidFill>
                  <a:srgbClr val="B4BAAE"/>
                </a:solidFill>
                <a:latin typeface="Aptos"/>
              </a:defRPr>
            </a:pPr>
            <a:r>
              <a:t>Dated regression evidence: 394 passed, 5 skipped. Visible Models save/reopen changed Talker voice to jess, confirmed loader resolution, restored tara and reconnected. This does not exercise every provider or hardware action. See docs/model-configuration-verification.md.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Video Analysis and MCP Updates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Video-Analyzer keeps analysis_type=robotics by default. Transcription reads selected video audio tracks with local faster-whisper, preserving stream offsets, segment timestamps and optional word timestamps.</a:t>
            </a:r>
          </a:p>
          <a:p>
            <a:pPr>
              <a:spcAft>
                <a:spcPts val="400"/>
              </a:spcAft>
              <a:defRPr sz="1300">
                <a:solidFill>
                  <a:srgbClr val="B4BAAE"/>
                </a:solidFill>
                <a:latin typeface="Aptos"/>
              </a:defRPr>
            </a:pPr>
            <a:r>
              <a:t>Summary combines audio evidence with two independent visual observers per sampled frame batch and hierarchical text synthesis. Scenes, actions, readable text, numbers, procedures, decisions and limitations are retained with timestamps.</a:t>
            </a:r>
          </a:p>
          <a:p>
            <a:pPr>
              <a:spcAft>
                <a:spcPts val="400"/>
              </a:spcAft>
              <a:defRPr sz="1300">
                <a:solidFill>
                  <a:srgbClr val="B4BAAE"/>
                </a:solidFill>
                <a:latin typeface="Aptos"/>
              </a:defRPr>
            </a:pPr>
            <a:r>
              <a:t>The portable video_content.py helper bounds decoding and model context. Reports include UTF-8 transcript text, timestamped JSON and visual observations. Embedded subtitle streams are not extracted. Content modes bypass motion rejection and never emit a robotics PASS.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Parametrizer, the agent registry, workflow controls, root MCP and prompt migration 0207 expose the same modes and result fields. PyAV 17.1.0 is pinned and the helper is carried by frozen builds and source snapshots.</a:t>
            </a:r>
          </a:p>
          <a:p>
            <a:pPr>
              <a:spcAft>
                <a:spcPts val="400"/>
              </a:spcAft>
              <a:defRPr sz="1300">
                <a:solidFill>
                  <a:srgbClr val="B4BAAE"/>
                </a:solidFill>
                <a:latin typeface="Aptos"/>
              </a:defRPr>
            </a:pPr>
            <a:r>
              <a:t>External MCP calls repair only unambiguous scalar type mismatches before server-schema validation. Boolean/string enum spelling and numeric strings can be normalized; ambiguous inputs still fail validation.</a:t>
            </a:r>
          </a:p>
          <a:p>
            <a:pPr>
              <a:spcAft>
                <a:spcPts val="400"/>
              </a:spcAft>
              <a:defRPr sz="1300">
                <a:solidFill>
                  <a:srgbClr val="B4BAAE"/>
                </a:solidFill>
                <a:latin typeface="Aptos"/>
              </a:defRPr>
            </a:pPr>
            <a:r>
              <a:t>Repository facts report actual HEAD and fetched origin/main separately from the requested 1.63.0 document/build version and reachable tags. The checkout includes uncommitted model/runtime changes; no tag is moved by this refresh.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Latest Defaults and Prompt Migrations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Source commit 2bac945 follows the v1.62.2 tag. Whisperer now waits for 3.5 seconds of trailing silence by default. record_seconds=0 enables the gate, while the 300-second maximum recording ceiling remains unchanged.</a:t>
            </a:r>
          </a:p>
          <a:p>
            <a:pPr>
              <a:spcAft>
                <a:spcPts val="400"/>
              </a:spcAft>
              <a:defRPr sz="1300">
                <a:solidFill>
                  <a:srgbClr val="B4BAAE"/>
                </a:solidFill>
                <a:latin typeface="Aptos"/>
              </a:defRPr>
            </a:pPr>
            <a:r>
              <a:t>The console uses fractional-second formatting, so the operator sees 3.5 rather than a rounded 4. Migration 0205 replaces old default text only in Voice Commands prompts 74, 121 and 122. Missing or differently edited passages are left alone.</a:t>
            </a:r>
          </a:p>
          <a:p>
            <a:pPr>
              <a:spcAft>
                <a:spcPts val="400"/>
              </a:spcAft>
              <a:defRPr sz="1300">
                <a:solidFill>
                  <a:srgbClr val="B4BAAE"/>
                </a:solidFill>
                <a:latin typeface="Aptos"/>
              </a:defRPr>
            </a:pPr>
            <a:r>
              <a:t>The configured vision model tag changes from qwen3.5:cloud to jcyhsiao/qwen3.5cloud:latest in application defaults, agent templates and prompts. This records repository configuration, not a fresh model-service availability check.</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Migration 0206 rewrites matching promptContent values across the catalog. Both migrations preserve prompt IDs, names, categories, sort ranks and visibility. Their reverse operations restore the preceding default text or model tag.</a:t>
            </a:r>
          </a:p>
          <a:p>
            <a:pPr>
              <a:spcAft>
                <a:spcPts val="400"/>
              </a:spcAft>
              <a:defRPr sz="1300">
                <a:solidFill>
                  <a:srgbClr val="B4BAAE"/>
                </a:solidFill>
                <a:latin typeface="Aptos"/>
              </a:defRPr>
            </a:pPr>
            <a:r>
              <a:t>Fresh seed migrations 0165/0168 and existing prompt-update paths use the new tag. Image-Interpreter slot 1 and Video-Analyzer slot 2 use it. The other configured vision and merger models are configurable in Config &gt; Models.</a:t>
            </a:r>
          </a:p>
          <a:p>
            <a:pPr>
              <a:spcAft>
                <a:spcPts val="400"/>
              </a:spcAft>
              <a:defRPr sz="1300">
                <a:solidFill>
                  <a:srgbClr val="B4BAAE"/>
                </a:solidFill>
                <a:latin typeface="Aptos"/>
              </a:defRPr>
            </a:pPr>
            <a:r>
              <a:t>Migration 0207 adds Video-Analyzer content prompts; 0208 points matching robotics demo text to Config &gt; Models. Repository facts derive the migration count from source. This dossier does not apply migrations. September 20 source/frozen runtime evidence is recorded separately from document rendering.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PDF Canvas Reading</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Open or Reopen accepts PDF beside ordinary text files. The isolated PDF.js frame supports selectable text, page navigation, fit width/page, zoom, rotation and continuous/single-page scrolling. Password entry stays in the viewer.</a:t>
            </a:r>
          </a:p>
          <a:p>
            <a:pPr>
              <a:spcAft>
                <a:spcPts val="400"/>
              </a:spcAft>
              <a:defRPr sz="1300">
                <a:solidFill>
                  <a:srgbClr val="B4BAAE"/>
                </a:solidFill>
                <a:latin typeface="Aptos"/>
              </a:defRPr>
            </a:pPr>
            <a:r>
              <a:t>Copy extracts selectable text from every page and reports image-only scans. Save As returns the original PDF bytes. Clear, text selection or generated text removes the frame and worker. Generation checks reject stale asynchronous reads.</a:t>
            </a:r>
          </a:p>
          <a:p>
            <a:pPr>
              <a:spcAft>
                <a:spcPts val="400"/>
              </a:spcAft>
              <a:defRPr sz="1300">
                <a:solidFill>
                  <a:srgbClr val="B4BAAE"/>
                </a:solidFill>
                <a:latin typeface="Aptos"/>
              </a:defRPr>
            </a:pPr>
            <a:r>
              <a:t>Opening uses File.slice range requests of 256 KiB with streaming and auto-fetch disabled. It uploads no document and invokes no model. There is no application size/page cutoff, but memory, disk and document complexity still limit capacity.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Visible/nearby pages render within an 8-megapixel canvas budget and 16,384-pixel dimension limit. Above 10,000 pages PDF.js selects single-page scrolling. Copying all text still allocates that text in memory. These are policies, not unlimited capacity.</a:t>
            </a:r>
          </a:p>
          <a:p>
            <a:pPr>
              <a:spcAft>
                <a:spcPts val="400"/>
              </a:spcAft>
              <a:defRPr sz="1300">
                <a:solidFill>
                  <a:srgbClr val="B4BAAE"/>
                </a:solidFill>
                <a:latin typeface="Aptos"/>
              </a:defRPr>
            </a:pPr>
            <a:r>
              <a:t>Divider pointer capture survives movement across the PDF frame. Release, cancelled touch, lost capture and focus loss end resizing. Keyboard resizing remains. The frame bridge checks source window, same origin and a fixed channel.</a:t>
            </a:r>
          </a:p>
          <a:p>
            <a:pPr>
              <a:spcAft>
                <a:spcPts val="400"/>
              </a:spcAft>
              <a:defRPr sz="1300">
                <a:solidFill>
                  <a:srgbClr val="B4BAAE"/>
                </a:solidFill>
                <a:latin typeface="Aptos"/>
              </a:defRPr>
            </a:pPr>
            <a:r>
              <a:t>Source: agent_page_pdf.js, pdf_canvas_viewer.js and pdf/canvas.html. PDF scripting is disabled. The custom toolbar has no find/search control or PDFFindController wiring, despite search wording in the handbooks. This refresh does not add one.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Whole-Document PDF Context</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Use as context first opens an options dialog. Process images starts unchecked every time. Continue is required before upload or preparation. Earlier Cancel, Escape or close leaves the existing context unchanged.</a:t>
            </a:r>
          </a:p>
          <a:p>
            <a:pPr>
              <a:spcAft>
                <a:spcPts val="400"/>
              </a:spcAft>
              <a:defRPr sz="1200">
                <a:solidFill>
                  <a:srgbClr val="B4BAAE"/>
                </a:solidFill>
                <a:latin typeface="Aptos"/>
              </a:defRPr>
            </a:pPr>
            <a:r>
              <a:t>Text-only extracts every page with PyMuPDF and skips rendering, image extraction and vision calls. A scan without selectable text refuses with an image-mode hint. Mixed documents mark pages without text. Each mode keeps a separate cache.</a:t>
            </a:r>
          </a:p>
          <a:p>
            <a:pPr>
              <a:spcAft>
                <a:spcPts val="400"/>
              </a:spcAft>
              <a:defRPr sz="1200">
                <a:solidFill>
                  <a:srgbClr val="B4BAAE"/>
                </a:solidFill>
                <a:latin typeface="Aptos"/>
              </a:defRPr>
            </a:pPr>
            <a:r>
              <a:t>Image mode renders every page preview and extracts unique embedded images. The saved Image-Interpreter configuration drives two parallel vision calls and a merger for each artifact. PDF-specific instructions request OCR, chart/table interpretation and explicit uncertainty. Configured model services may be remote.</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Continue uploads to the configured Tlamatini server, which can be reached over LAN. A serial background queue prepares source.pdf, document.txt and optional images/reports under context_files/pdf_canvas/&lt;user-id&gt;/&lt;document-id&gt;/. Login, CSRF, method guards and user-bound signed tokens protect prepare/status/cancel and RAG handoff.</a:t>
            </a:r>
          </a:p>
          <a:p>
            <a:pPr>
              <a:spcAft>
                <a:spcPts val="400"/>
              </a:spcAft>
              <a:defRPr sz="1100">
                <a:solidFill>
                  <a:srgbClr val="B4BAAE"/>
                </a:solidFill>
                <a:latin typeface="Aptos"/>
              </a:defRPr>
            </a:pPr>
            <a:r>
              <a:t>All extracted text and complete image reports remain in the index. Normal RAG retrieval and model context limits still govern each answer. Reading the full index does not mean sending every page to the model on every turn. Text-only preparation needs no vision service, but later RAG/chat uses the configured services.</a:t>
            </a:r>
          </a:p>
          <a:p>
            <a:pPr>
              <a:spcAft>
                <a:spcPts val="400"/>
              </a:spcAft>
              <a:defRPr sz="1100">
                <a:solidFill>
                  <a:srgbClr val="B4BAAE"/>
                </a:solidFill>
                <a:latin typeface="Aptos"/>
              </a:defRPr>
            </a:pPr>
            <a:r>
              <a:t>Successful packages persist for session restoration. Failed/cancelled preparation removes its own incomplete package and upload staging. Passwords stay in parsing memory, outside storage/context/logs. Job status is process-local, with completed entries pruned after one hour during later activity. Restarted jobs require retry.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PDF Progress and Cancellation</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Four progress rows separate upload bytes, extracted pages, analyzed images and context loading. Text-only marks images Skipped. The elapsed timer starts at Continue and RAG stays indeterminate until the consumer acknowledges completion.</a:t>
            </a:r>
          </a:p>
          <a:p>
            <a:pPr>
              <a:spcAft>
                <a:spcPts val="400"/>
              </a:spcAft>
              <a:defRPr sz="1300">
                <a:solidFill>
                  <a:srgbClr val="B4BAAE"/>
                </a:solidFill>
                <a:latin typeface="Aptos"/>
              </a:defRPr>
            </a:pPr>
            <a:r>
              <a:t>Cancel aborts browser requests and signals a user-scoped UUID, including uploads whose job response has not arrived. Workers check between chunks, pages and image calls. An in-flight model request may finish before cancellation takes effect.</a:t>
            </a:r>
          </a:p>
          <a:p>
            <a:pPr>
              <a:spcAft>
                <a:spcPts val="400"/>
              </a:spcAft>
              <a:defRPr sz="1300">
                <a:solidFill>
                  <a:srgbClr val="B4BAAE"/>
                </a:solidFill>
                <a:latin typeface="Aptos"/>
              </a:defRPr>
            </a:pPr>
            <a:r>
              <a:t>After RAG loading starts, Close dismisses the dialog without cancelling that phase. Success closes automatically. Failure remains visible and allows retry. Incomplete image analyses remain in saved reports and the viewer warning, not a false clean result.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PDF and chat own separate busy indicators. Reopen prepares a replacement before rebuilding active context. Preparation cancellation keeps prior backend context. A UUID fallback uses crypto.getRandomValues when randomUUID is unavailable on HTTP LAN.</a:t>
            </a:r>
          </a:p>
          <a:p>
            <a:pPr>
              <a:spcAft>
                <a:spcPts val="400"/>
              </a:spcAft>
              <a:defRPr sz="1300">
                <a:solidFill>
                  <a:srgbClr val="B4BAAE"/>
                </a:solidFill>
                <a:latin typeface="Aptos"/>
              </a:defRPr>
            </a:pPr>
            <a:r>
              <a:t>docs/pdf-canvas.md records earlier September 16 results: 12 browser/static tests and 32 Django/image/JS-gate tests, plus a 256 MB sparse fixture and page 10,001. Later frozen-carriage changes explicitly have source-review evidence only.</a:t>
            </a:r>
          </a:p>
          <a:p>
            <a:pPr>
              <a:spcAft>
                <a:spcPts val="400"/>
              </a:spcAft>
              <a:defRPr sz="1300">
                <a:solidFill>
                  <a:srgbClr val="B4BAAE"/>
                </a:solidFill>
                <a:latin typeface="Aptos"/>
              </a:defRPr>
            </a:pPr>
            <a:r>
              <a:t>This dossier refresh does not run the app server, cloud model calls, collectstatic or a frozen build. Earlier application test results remain dated historical evidence. Document rendering establishes dossier layout evidence only, not runtime behavior.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PDF Distribution and Tracked Assets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Mozilla PDF.js 6.3.289 supplies the viewer, fonts, CMaps, annotation artwork, ICC profile and WASM decoders. scripts/vendor_pdfjs.py checks a pinned npm archive's SHA-512 before extracting an explicit subset. Runtime rendering needs neither npm nor a CDN when all assets are present.</a:t>
            </a:r>
          </a:p>
          <a:p>
            <a:pPr>
              <a:spcAft>
                <a:spcPts val="400"/>
              </a:spcAft>
              <a:defRPr sz="1400">
                <a:solidFill>
                  <a:srgbClr val="B4BAAE"/>
                </a:solidFill>
                <a:latin typeface="Aptos"/>
              </a:defRPr>
            </a:pPr>
            <a:r>
              <a:t>Tracked PDF.js contribution: 288 files, 111,113 physical and 108,812 effective text lines. These third-party lines are included in repository totals and should not be mistaken for new Tlamatini-authored logic. Binary resources count as files only.</a:t>
            </a:r>
          </a:p>
          <a:p>
            <a:pPr>
              <a:spcAft>
                <a:spcPts val="400"/>
              </a:spcAft>
              <a:defRPr sz="1400">
                <a:solidFill>
                  <a:srgbClr val="B4BAAE"/>
                </a:solidFill>
                <a:latin typeface="Aptos"/>
              </a:defRPr>
            </a:pPr>
            <a:r>
              <a:t>Both required PDF.js build modules are present in the tracked inventory.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No local-only PDF.js build modules were found in this checkout.</a:t>
            </a:r>
          </a:p>
          <a:p>
            <a:pPr>
              <a:spcAft>
                <a:spcPts val="400"/>
              </a:spcAft>
              <a:defRPr sz="1300">
                <a:solidFill>
                  <a:srgbClr val="B4BAAE"/>
                </a:solidFill>
                <a:latin typeface="Aptos"/>
              </a:defRPr>
            </a:pPr>
            <a:r>
              <a:t>PyMuPDF 1.26.5 already existed in requirements. Frozen web imports now explicitly include four PDF services, the reusable Image-Interpreter and PyMuPDF. hook-pymupdf.py collects native MuPDF libraries. Carried pool Python cannot supply imports inside Tlamatini.exe.</a:t>
            </a:r>
          </a:p>
          <a:p>
            <a:pPr>
              <a:spcAft>
                <a:spcPts val="400"/>
              </a:spcAft>
              <a:defRPr sz="1300">
                <a:solidFill>
                  <a:srgbClr val="B4BAAE"/>
                </a:solidFill>
                <a:latin typeface="Aptos"/>
              </a:defRPr>
            </a:pPr>
            <a:r>
              <a:t>Django and WhiteNoise override .mjs and .wasm MIME types on Windows. The September 16 handbook records 354 pre-change static files matching a v1.62.0 ZIP in both frozen locations, plus native MuPDF extensions/DLL. The v1.63.0 source carries local frontend libraries and stricter build gates; those changes have not been built or runtime-tested during this refresh.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Local Frontend and Release Budget</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v1.63.0 source carries the removal of CDN resource tags from all four application templates. Bootstrap 5.3.3, jQuery 3.7.1, jQuery UI 1.13.3, highlight.js 11.9.0 and Nunito 400/700 are local. The duplicate Bootstrap 5.3.0 load is removed; UI ordering is retained and new URLs use the startup cache stamp plus an offline suffix.</a:t>
            </a:r>
          </a:p>
          <a:p>
            <a:pPr>
              <a:spcAft>
                <a:spcPts val="400"/>
              </a:spcAft>
              <a:defRPr sz="1100">
                <a:solidFill>
                  <a:srgbClr val="B4BAAE"/>
                </a:solidFill>
                <a:latin typeface="Aptos"/>
              </a:defRPr>
            </a:pPr>
            <a:r>
              <a:t>scripts/vendor_frontend.py reproduces 50 files plus a vendor manifest: 2.18 MB before ZIP compression. Pinned npm archives are SHA-512 checked; licenses, font subsets and SHA-256 receipts ship locally. Builds do not invoke this download script. Model/API and Internet-agent traffic still needs networking.</a:t>
            </a:r>
          </a:p>
          <a:p>
            <a:pPr>
              <a:spcAft>
                <a:spcPts val="400"/>
              </a:spcAft>
              <a:defRPr sz="1100">
                <a:solidFill>
                  <a:srgbClr val="B4BAAE"/>
                </a:solidFill>
                <a:latin typeface="Aptos"/>
              </a:defRPr>
            </a:pPr>
            <a:r>
              <a:t>build_runtime_assets.py inventories source static, collected Django assets, templates, agents, skills and required helpers. Byte checks detect missing or stale source-to-collected/frozen copies. Literal static tags and CSS resources must resolve; reintroduced template CDN loads stop packaging.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Missing Java/Git/active Playwright revisions, required copies or unreadable frozen module archives now fail closed. Frozen migration, default-user setup, collectstatic and executable rename must succeed. Session/pool/cache files are not shipped as agent templates. Snapshot rules carry the new helper/assets.</a:t>
            </a:r>
          </a:p>
          <a:p>
            <a:pPr>
              <a:spcAft>
                <a:spcPts val="400"/>
              </a:spcAft>
              <a:defRPr sz="1100">
                <a:solidFill>
                  <a:srgbClr val="B4BAAE"/>
                </a:solidFill>
                <a:latin typeface="Aptos"/>
              </a:defRPr>
            </a:pPr>
            <a:r>
              <a:t>A runtime-assets.json receipt hashes every assembled payload file. ZIP membership and streamed SHA-256/CRC are checked before pkg.zip.part is published; installer assembly verifies the receipt and version again. Both complete-release wrappers cap the final outer ZIP at 1,990,000,000 bytes.</a:t>
            </a:r>
          </a:p>
          <a:p>
            <a:pPr>
              <a:spcAft>
                <a:spcPts val="400"/>
              </a:spcAft>
              <a:defRPr sz="1100">
                <a:solidFill>
                  <a:srgbClr val="B4BAAE"/>
                </a:solidFill>
                <a:latin typeface="Aptos"/>
              </a:defRPr>
            </a:pPr>
            <a:r>
              <a:t>The September 16 handbook records a v1.62.0 ZIP of 1,905,278,037 bytes: 84,721,963 bytes below the ceiling. This is historical headroom, not a current build result. Oversized final output stays .pending.zip and fails; required files are not removed. The dossier refresh checks source and rendered documents; no release build is claimed.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Self-Modify and Update Carriage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 --self-modify build generates a fresh sanitized TlamatiniSourceCode tree and self-knowledge file. Default builds omit both. --no-self-modify wins if both flags appear. Missing required inputs, generation errors and copy failures now abort packaging instead of falling back to a stale tree.</a:t>
            </a:r>
          </a:p>
          <a:p>
            <a:pPr>
              <a:spcAft>
                <a:spcPts val="400"/>
              </a:spcAft>
              <a:defRPr sz="1200">
                <a:solidFill>
                  <a:srgbClr val="B4BAAE"/>
                </a:solidFill>
                <a:latin typeface="Aptos"/>
              </a:defRPr>
            </a:pPr>
            <a:r>
              <a:t>The exact PDF.js vendor/build directory bypasses the generic build-directory snapshot exclusion. Fonts, CMaps, decoders and licenses travel with that source snapshot. Secret/state exclusions retain priority. This is independent of Git's ignore rules.</a:t>
            </a:r>
          </a:p>
          <a:p>
            <a:pPr>
              <a:spcAft>
                <a:spcPts val="400"/>
              </a:spcAft>
              <a:defRPr sz="1200">
                <a:solidFill>
                  <a:srgbClr val="B4BAAE"/>
                </a:solidFill>
                <a:latin typeface="Aptos"/>
              </a:defRPr>
            </a:pPr>
            <a:r>
              <a:t>Snapshots omit .git and generated version modules. Rebuild instructions therefore require an intentional TLAMATINI_VERSION for all three build scripts. Restore omitted required binaries using the manifest, install dependencies and regenerate static files before a separate authorized rebuild.</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apply_update.ps1, preserved_user_state.json, sqlite_copy.py and the runtime integrity helper are mandatory carried assets. The checker is also embedded in the app and installer. Downloaded ZIP and staging receipts are verified before shutdown.</a:t>
            </a:r>
          </a:p>
          <a:p>
            <a:pPr>
              <a:spcAft>
                <a:spcPts val="400"/>
              </a:spcAft>
              <a:defRPr sz="1100">
                <a:solidFill>
                  <a:srgbClr val="B4BAAE"/>
                </a:solidFill>
                <a:latin typeface="Aptos"/>
              </a:defRPr>
            </a:pPr>
            <a:r>
              <a:t>Backup prerequisites are checked before shutdown. Carried Python runs the helper with -I -B -S, avoiding bytecode and site startup hooks. SQLite online backup includes committed WAL pages and atomically stages one standalone DB in DB/ToLoad. Failure stops before agents rename or file replacement. Only success creates the migration marker.</a:t>
            </a:r>
          </a:p>
          <a:p>
            <a:pPr>
              <a:spcAft>
                <a:spcPts val="400"/>
              </a:spcAft>
              <a:defRPr sz="1100">
                <a:solidFill>
                  <a:srgbClr val="B4BAAE"/>
                </a:solidFill>
                <a:latin typeface="Aptos"/>
              </a:defRPr>
            </a:pPr>
            <a:r>
              <a:t>The shared 13-name preservation contract retains configuration, contacts, DB, context and generated content. Reinstall retains the live DB/WAL and requests migration. Security-evidence stash failure stops deletion. The September 16 guide records 740 snapshot inputs and 15 PDFer ornaments. September 20 reran both inclusion sweeps clean; execution evidence is separate.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Document-Agent Result Contracts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PDFer creation confirms a file exists. layout_audit=true on the atelier route supplies layout_clean and detailed findings. Blank audit evidence is unverified. Zero overlaps does not exclude contrast, blank-page or off-sheet problems. Legacy CSS, image-only and merged pages retain their own layouts.</a:t>
            </a:r>
          </a:p>
          <a:p>
            <a:pPr>
              <a:spcAft>
                <a:spcPts val="400"/>
              </a:spcAft>
              <a:defRPr sz="1100">
                <a:solidFill>
                  <a:srgbClr val="B4BAAE"/>
                </a:solidFill>
                <a:latin typeface="Aptos"/>
              </a:defRPr>
            </a:pPr>
            <a:r>
              <a:t>PPTXer reports status/success alongside layout_clean, ground_truth, render_tier and slides_rendered. Native rendering does not itself prove full measurement coverage. created_with_findings may still have success=true. Required missing media and skipped audit measurements must remain explicit.</a:t>
            </a:r>
          </a:p>
          <a:p>
            <a:pPr>
              <a:spcAft>
                <a:spcPts val="400"/>
              </a:spcAft>
              <a:defRPr sz="1100">
                <a:solidFill>
                  <a:srgbClr val="B4BAAE"/>
                </a:solidFill>
                <a:latin typeface="Aptos"/>
              </a:defRPr>
            </a:pPr>
            <a:r>
              <a:t>PPTXer's auto rendering tries PowerPoint, LibreOffice, then an approximate Pillow preview. None skips slide images while geometry may still be measured. Styles use nuance, with no separate style parameter. Native applications remain optional for creation; 256 characters is a stress case, not a content limit.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LaTeXer compiled_with_errors and degraded mean an existing but incomplete/errored PDF with success=false. Clean compiled output is the stopping point unless a remaining requirement warrants edits. Compilation does not certify visual layout. Catalog/source actions work without a TeX engine.</a:t>
            </a:r>
          </a:p>
          <a:p>
            <a:pPr>
              <a:spcAft>
                <a:spcPts val="400"/>
              </a:spcAft>
              <a:defRPr sz="1200">
                <a:solidFill>
                  <a:srgbClr val="B4BAAE"/>
                </a:solidFill>
                <a:latin typeface="Aptos"/>
              </a:defRPr>
            </a:pPr>
            <a:r>
              <a:t>LaTeXer repair_write_back=false preserves source through a fixed copy. Model failure/timeout blocks destructive bisect; decoded base64 edit fields take precedence. Beamer scaffolds expect frame bodies. A full explicit frame sequence belongs in complete source without a style override.</a:t>
            </a:r>
          </a:p>
          <a:p>
            <a:pPr>
              <a:spcAft>
                <a:spcPts val="400"/>
              </a:spcAft>
              <a:defRPr sz="1200">
                <a:solidFill>
                  <a:srgbClr val="B4BAAE"/>
                </a:solidFill>
                <a:latin typeface="Aptos"/>
              </a:defRPr>
            </a:pPr>
            <a:r>
              <a:t>The current commit also detaches/restores global logging handlers in five regression harnesses. TLAMATINI_NO_AUDIO suppresses real AudioPlayer output, while a marked fake sounddevice can exercise callback frame math. These source changes are recorded without executing the tests.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PPTXer Presentations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PPTXer creates editable PowerPoint from text, Markdown, outlines or JSON. Actions: create, outline, render, audit, info, fonts and validate. It supports 16:9, 4:3 and vertical decks with native tables/charts, diagrams and embedded media.</a:t>
            </a:r>
          </a:p>
          <a:p>
            <a:pPr>
              <a:spcAft>
                <a:spcPts val="400"/>
              </a:spcAft>
              <a:defRPr sz="1300">
                <a:solidFill>
                  <a:srgbClr val="B4BAAE"/>
                </a:solidFill>
                <a:latin typeface="Aptos"/>
              </a:defRPr>
            </a:pPr>
            <a:r>
              <a:t>The registry has 36 treatments: 24 content treatments plus 12 explicit visual styles. Empty nuance retains automatic classification. nuance=blueprint or nuance=botanical selects a preset. Color, background, density and font overrides remain available.</a:t>
            </a:r>
          </a:p>
          <a:p>
            <a:pPr>
              <a:spcAft>
                <a:spcPts val="400"/>
              </a:spcAft>
              <a:defRPr sz="1300">
                <a:solidFill>
                  <a:srgbClr val="B4BAAE"/>
                </a:solidFill>
                <a:latin typeface="Aptos"/>
              </a:defRPr>
            </a:pPr>
            <a:r>
              <a:t>Seventeen font pairings resolve against installed fonts. Measurements account for face, tracking, line spacing and text insets. Dense content continues onto additional slides. The 256-character fixtures describe a tested length, not an input limit.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Read status, layout_clean, ground_truth and report confidence together. created_with_findings requires review. Disabled audits leave the verdict unavailable. Native PowerPoint evidence, LibreOffice and geometric previews have different scopes.</a:t>
            </a:r>
          </a:p>
          <a:p>
            <a:pPr>
              <a:spcAft>
                <a:spcPts val="400"/>
              </a:spcAft>
              <a:defRPr sz="1300">
                <a:solidFill>
                  <a:srgbClr val="B4BAAE"/>
                </a:solidFill>
                <a:latin typeface="Aptos"/>
              </a:defRPr>
            </a:pPr>
            <a:r>
              <a:t>Migrations 0202/0203 register the agent and chat_agent_pptxer. Migration 0204 adds Documents prompts 123/124 at ranks 56/58, between PDFer and LaTeXer. Native rendering needs PowerPoint for its strongest evidence, although writing the deck does not.</a:t>
            </a:r>
          </a:p>
          <a:p>
            <a:pPr>
              <a:spcAft>
                <a:spcPts val="400"/>
              </a:spcAft>
              <a:defRPr sz="1300">
                <a:solidFill>
                  <a:srgbClr val="B4BAAE"/>
                </a:solidFill>
                <a:latin typeface="Aptos"/>
              </a:defRPr>
            </a:pPr>
            <a:r>
              <a:t>Source: agents/pptxer/ and its STYLES.md. The guide records 126 implementation tests and a 151-slide native run for the twelve new 16:9 styles. Those runs were not repeated here. scripts/verify_pptxer_styles.py regenerates the ignored gallery.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PDFer Signature Styles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PDFer adds 24 explicit visual identities across playful, cyberpunk, cosmic, electronics and Tlamatini families. The original 20 semantic themes remain. mode=styles lists IDs and aliases without creating a PDF.</a:t>
            </a:r>
          </a:p>
          <a:p>
            <a:pPr>
              <a:spcAft>
                <a:spcPts val="400"/>
              </a:spcAft>
              <a:defRPr sz="1300">
                <a:solidFill>
                  <a:srgbClr val="B4BAAE"/>
                </a:solidFill>
                <a:latin typeface="Aptos"/>
              </a:defRPr>
            </a:pPr>
            <a:r>
              <a:t>style selects appearance while nuance describes document purpose. For example, style=tlamatini_celestial with nuance=marketing selects a celestial brochure. Legal, clinical and financial semantics keep their no-ornament ceiling.</a:t>
            </a:r>
          </a:p>
          <a:p>
            <a:pPr>
              <a:spcAft>
                <a:spcPts val="400"/>
              </a:spcAft>
              <a:defRPr sz="1300">
                <a:solidFill>
                  <a:srgbClr val="B4BAAE"/>
                </a:solidFill>
                <a:latin typeface="Aptos"/>
              </a:defRPr>
            </a:pPr>
            <a:r>
              <a:t>predominant_color recolors the palette. Explicit role colors, typography and page settings override defaults before contrast repair. Host font availability affects the resolved face. Unknown style names retain the semantic theme with a diagnostic.</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Styles apply to the atelier renderer. Custom-CSS legacy rendering, image-only composition and merged PDFs keep their own layouts. Deterministic vector artwork adds no external image service or font download.</a:t>
            </a:r>
          </a:p>
          <a:p>
            <a:pPr>
              <a:spcAft>
                <a:spcPts val="400"/>
              </a:spcAft>
              <a:defRPr sz="1300">
                <a:solidFill>
                  <a:srgbClr val="B4BAAE"/>
                </a:solidFill>
                <a:latin typeface="Aptos"/>
              </a:defRPr>
            </a:pPr>
            <a:r>
              <a:t>The new helpers measure covers and reserve footer/page-number space. Complete titles can continue across pages. Check layout_clean and the detailed audit, including off-page ink and contrast. status=created alone establishes only file creation.</a:t>
            </a:r>
          </a:p>
          <a:p>
            <a:pPr>
              <a:spcAft>
                <a:spcPts val="400"/>
              </a:spcAft>
              <a:defRPr sz="1300">
                <a:solidFill>
                  <a:srgbClr val="B4BAAE"/>
                </a:solidFill>
                <a:latin typeface="Aptos"/>
              </a:defRPr>
            </a:pPr>
            <a:r>
              <a:t>Source: pdfer_styles.py, pdfer_artwork.py and STYLES.md. The guide records 130 implementation tests and 24 two-page style samples with clean audits. scripts/verify_pdfer_styles.py can regenerate the ignored gallery. No such run occurred here.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LaTeXer Signature Styles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LaTeXer adds 30 explicit styles in six families, independent of its eight document templates. action=list_styles returns IDs, aliases, motifs and style_count=30 without probing or requiring a TeX engine.</a:t>
            </a:r>
          </a:p>
          <a:p>
            <a:pPr>
              <a:spcAft>
                <a:spcPts val="400"/>
              </a:spcAft>
              <a:defRPr sz="1300">
                <a:solidFill>
                  <a:srgbClr val="B4BAAE"/>
                </a:solidFill>
                <a:latin typeface="Aptos"/>
              </a:defRPr>
            </a:pPr>
            <a:r>
              <a:t>Select template=report and style=tlamatini_celestial for a styled report. screen retains the preset ground. print uses white paper. style_decoration accepts none/restrained/rich. style_cover=false gives a compact document title.</a:t>
            </a:r>
          </a:p>
          <a:p>
            <a:pPr>
              <a:spcAft>
                <a:spcPts val="400"/>
              </a:spcAft>
              <a:defRPr sz="1300">
                <a:solidFill>
                  <a:srgbClr val="B4BAAE"/>
                </a:solidFill>
                <a:latin typeface="Aptos"/>
              </a:defRPr>
            </a:pPr>
            <a:r>
              <a:t>Article, report, book, beamer, letter, cv, homework and spanish-article remain distinct structures. Beamer uses a separate frame recipe and retains its title frame when cover art is disabled. Metadata and body remain LaTeX, so escape special characters.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Styles work on scaffolds and fragment compile with auto_preamble=true. Complete TeX sources own their preamble, so an explicit style is refused on that route. Empty/none/plain/default preserves legacy generation. Unknown names fail clearly.</a:t>
            </a:r>
          </a:p>
          <a:p>
            <a:pPr>
              <a:spcAft>
                <a:spcPts val="400"/>
              </a:spcAft>
              <a:defRPr sz="1300">
                <a:solidFill>
                  <a:srgbClr val="B4BAAE"/>
                </a:solidFill>
                <a:latin typeface="Aptos"/>
              </a:defRPr>
            </a:pPr>
            <a:r>
              <a:t>Original TikZ geometry and Latin Modern fonts travel with editable TeX. Assigned text palettes target 4.5:1 contrast. Custom content still needs review. Check status/success before output_path. The runtime has no layout_clean field.</a:t>
            </a:r>
          </a:p>
          <a:p>
            <a:pPr>
              <a:spcAft>
                <a:spcPts val="400"/>
              </a:spcAft>
              <a:defRPr sz="1300">
                <a:solidFill>
                  <a:srgbClr val="B4BAAE"/>
                </a:solidFill>
                <a:latin typeface="Aptos"/>
              </a:defRPr>
            </a:pPr>
            <a:r>
              <a:t>Source: latexer_styles.py, latexer_design.py, latexer_artwork.py and STYLES.md. The guide records 483 tests and 132 fresh real-engine builds at implementation time. scripts/verify_latexer_styles.py regenerates the ignored gallery. No engines ran here.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Desktop Input Contracts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Mouser declares coordinate_space: screen, desktop, normalized, window, window_normalized or screenshot. Physical screen coordinates support negative monitor origins. Monitor gaps and ambiguous targets produce explicit failures.</a:t>
            </a:r>
          </a:p>
          <a:p>
            <a:pPr>
              <a:spcAft>
                <a:spcPts val="400"/>
              </a:spcAft>
              <a:defRPr sz="1300">
                <a:solidFill>
                  <a:srgbClr val="B4BAAE"/>
                </a:solidFill>
                <a:latin typeface="Aptos"/>
              </a:defRPr>
            </a:pPr>
            <a:r>
              <a:t>Shoter reports image dimensions, the physical capture rectangle, monitor geometry and capture time. Screenshot targets require all six geometry fields and Mouser's screenshot space. Cropping/resizing must update the corresponding geometry.</a:t>
            </a:r>
          </a:p>
          <a:p>
            <a:pPr>
              <a:spcAft>
                <a:spcPts val="400"/>
              </a:spcAft>
              <a:defRPr sz="1300">
                <a:solidFill>
                  <a:srgbClr val="B4BAAE"/>
                </a:solidFill>
                <a:latin typeface="Aptos"/>
              </a:defRPr>
            </a:pPr>
            <a:r>
              <a:t>The screenshot transform scales image coordinates into the captured desktop rectangle. It cannot establish which button occupies a point or repair a stale image. Reobserve after movement. inspect reads geometry without sending input.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Keyboarder binds an HWND/PID, verifies foreground ownership during delivery and stops on focus loss. input_mode=text sends literal Unicode through checked SendInput. sequence keeps key/chord grammar. The clipboard remains untouched.</a:t>
            </a:r>
          </a:p>
          <a:p>
            <a:pPr>
              <a:spcAft>
                <a:spcPts val="400"/>
              </a:spcAft>
              <a:defRPr sz="1300">
                <a:solidFill>
                  <a:srgbClr val="B4BAAE"/>
                </a:solidFill>
                <a:latin typeface="Aptos"/>
              </a:defRPr>
            </a:pPr>
            <a:r>
              <a:t>input_sent proves delivery only. It does not prove editing, saving or application acceptance. Inspect partial-delivery counts and error receipts before replay. Target agents still receive failure notifications, so branch deliberately.</a:t>
            </a:r>
          </a:p>
          <a:p>
            <a:pPr>
              <a:spcAft>
                <a:spcPts val="400"/>
              </a:spcAft>
              <a:defRPr sz="1300">
                <a:solidFill>
                  <a:srgbClr val="B4BAAE"/>
                </a:solidFill>
                <a:latin typeface="Aptos"/>
              </a:defRPr>
            </a:pPr>
            <a:r>
              <a:t>Source: mouser_coordinates.py, keyboarder_input.py and shoter.py. Pool/chat refresh copies the helpers. Serialize desktop control within one interactive session. docs/GUI-Manager-design.md is a proposal, not an installed agent or global broker.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Flow Planning Contracts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FlowCreator first selects from all 89 installed types, then receives relevant guide sections and current schemas. Starter, Ender and Parametrizer remain available. Unknown or unselected types fail validation before publication.</a:t>
            </a:r>
          </a:p>
          <a:p>
            <a:pPr>
              <a:spcAft>
                <a:spcPts val="400"/>
              </a:spcAft>
              <a:defRPr sz="1300">
                <a:solidFill>
                  <a:srgbClr val="B4BAAE"/>
                </a:solidFill>
                <a:latin typeface="Aptos"/>
              </a:defRPr>
            </a:pPr>
            <a:r>
              <a:t>The validator checks references, branch slots, configuration types, singleton wiring and mapping fields. Counter's two branches are explicit. Ender's target_agents is a kill list and output_agents is its execution output.</a:t>
            </a:r>
          </a:p>
          <a:p>
            <a:pPr>
              <a:spcAft>
                <a:spcPts val="400"/>
              </a:spcAft>
              <a:defRPr sz="1300">
                <a:solidFill>
                  <a:srgbClr val="B4BAAE"/>
                </a:solidFill>
                <a:latin typeface="Aptos"/>
              </a:defRPr>
            </a:pPr>
            <a:r>
              <a:t>Bounded requests use llm.num_ctx=65536, max_prompt_chars=180000 and two repair attempts by default. These requests depend on provider support. Graph validation does not establish valid credentials or successful live application behavior.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Parametrizer registers 53 declared structured-output producers. It preserves CRLF and empty values, converts typed scalar mappings and requires every mapping to succeed before writing or launching the target.</a:t>
            </a:r>
          </a:p>
          <a:p>
            <a:pPr>
              <a:spcAft>
                <a:spcPts val="400"/>
              </a:spcAft>
              <a:defRPr sz="1300">
                <a:solidFill>
                  <a:srgbClr val="B4BAAE"/>
                </a:solidFill>
                <a:latin typeface="Aptos"/>
              </a:defRPr>
            </a:pPr>
            <a:r>
              <a:t>Interrupted desktop segments at config_applied or waiting_target stop for inspection instead of replaying input. FlowHypervisor separates execution, kill and observation relationships and retains current desktop receipts and timing.</a:t>
            </a:r>
          </a:p>
          <a:p>
            <a:pPr>
              <a:spcAft>
                <a:spcPts val="400"/>
              </a:spcAft>
              <a:defRPr sz="1300">
                <a:solidFill>
                  <a:srgbClr val="B4BAAE"/>
                </a:solidFill>
                <a:latin typeface="Aptos"/>
              </a:defRPr>
            </a:pPr>
            <a:r>
              <a:t>services/flow_knowledge.py exports field names/types without local values. Deployment refreshes the shipped catalog and guides. docs/agent-coverage.md records discoverability, not successful execution of every workflow. Catalog and regression scripts were not run here.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Canvas Avatar Presence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Four opaque 1024x1024 RGB JPGs combine open/closed eyes with neutral/smiling mouth. They share one square viewport. Existing non-rigid expression differences remain.</a:t>
            </a:r>
          </a:p>
          <a:p>
            <a:pPr>
              <a:spcAft>
                <a:spcPts val="400"/>
              </a:spcAft>
              <a:defRPr sz="1300">
                <a:solidFill>
                  <a:srgbClr val="B4BAAE"/>
                </a:solidFill>
                <a:latin typeface="Aptos"/>
              </a:defRPr>
            </a:pPr>
            <a:r>
              <a:t>The former 90 ms full-image opacity transition exposed the dark background. At two half-opaque frames, combined coverage is 75%. The recorded reproduction measured approximately 75.3%. Django collectstatic copied the JPG bytes correctly.</a:t>
            </a:r>
          </a:p>
          <a:p>
            <a:pPr>
              <a:spcAft>
                <a:spcPts val="400"/>
              </a:spcAft>
              <a:defRPr sz="1300">
                <a:solidFill>
                  <a:srgbClr val="B4BAAE"/>
                </a:solidFill>
                <a:latin typeface="Aptos"/>
              </a:defRPr>
            </a:pPr>
            <a:r>
              <a:t>avatar_presence.js now draws four decoded portraits on one 2D canvas. Eye/mouth weights form a convex blend with full coverage. Each corner is pre-scaled on resize. The old opaque image stack remains a fail-open fallback if canvas startup fails.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Native speechSynthesis boundary events anchor a text-derived mouth track. Vowels open it, m/b/p close it, and punctuation introduces rests. Timing falls back to an estimated speaking rate when the voice exposes no word boundaries. There is no audio-amplitude analyzer, video stream, neural lip model or dedicated-GPU requirement.</a:t>
            </a:r>
          </a:p>
          <a:p>
            <a:pPr>
              <a:spcAft>
                <a:spcPts val="400"/>
              </a:spcAft>
              <a:defRPr sz="1200">
                <a:solidFill>
                  <a:srgbClr val="B4BAAE"/>
                </a:solidFill>
                <a:latin typeface="Aptos"/>
              </a:defRPr>
            </a:pPr>
            <a:r>
              <a:t>Blink timing uses 55 ms closing, 25 ms hold and 130 ms opening, with randomized intervals. Adaptive 12/20/30/60 FPS tiers respond to drawing cost. Portrait translation was removed, so the head/body coordinate system remains fixed.</a:t>
            </a:r>
          </a:p>
          <a:p>
            <a:pPr>
              <a:spcAft>
                <a:spcPts val="400"/>
              </a:spcAft>
              <a:defRPr sz="1200">
                <a:solidFill>
                  <a:srgbClr val="B4BAAE"/>
                </a:solidFill>
                <a:latin typeface="Aptos"/>
              </a:defRPr>
            </a:pPr>
            <a:r>
              <a:t>The current presence renderer intentionally keeps animating when the system requests reduced motion. This differs from the earlier atomic renderer. Resize by dragging the corner handle, arrow keys, or double-click presets. The chosen size persists in localStorage. Handle clicks do not trigger the greeting/stop control.</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Visible Avatar Test Runner</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Current canvas regression: .\python\python.exe Tests\run_avatar_tests.py --presence-only --auto-close</a:t>
            </a:r>
          </a:p>
          <a:p>
            <a:pPr>
              <a:spcAft>
                <a:spcPts val="400"/>
              </a:spcAft>
              <a:defRPr sz="1500">
                <a:solidFill>
                  <a:srgbClr val="B4BAAE"/>
                </a:solidFill>
                <a:latin typeface="Aptos"/>
              </a:defRPr>
            </a:pPr>
            <a:r>
              <a:t>Use --check for dependency validation, --prepare-only for database/static preparation, or --auto-close to close the visible browser and its server after passing.</a:t>
            </a:r>
          </a:p>
          <a:p>
            <a:pPr>
              <a:spcAft>
                <a:spcPts val="400"/>
              </a:spcAft>
              <a:defRPr sz="1500">
                <a:solidFill>
                  <a:srgbClr val="B4BAAE"/>
                </a:solidFill>
                <a:latin typeface="Aptos"/>
              </a:defRPr>
            </a:pPr>
            <a:r>
              <a:t>The launcher prepares the isolated Temp/avatar_flash_fix database, applies migrations, creates the ordinary user/changeme test account, runs collectstatic, and starts real Django on 127.0.0.1:8001. It leaves the frozen app and normal database untouched.</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presence suite uses Python Playwright, headed Chrome/Edge/Chromium and disabled GPU acceleration. It checks real canvas pixels, mouth-track correlation, native speech instrumentation, reduced-motion behavior, resizing and a 6x CPU throttle. No Node.js is needed for --presence-only. Simulated speech proves rendering, not microphone ASR.</a:t>
            </a:r>
          </a:p>
          <a:p>
            <a:pPr>
              <a:spcAft>
                <a:spcPts val="400"/>
              </a:spcAft>
              <a:defRPr sz="1100">
                <a:solidFill>
                  <a:srgbClr val="B4BAAE"/>
                </a:solidFill>
                <a:latin typeface="Aptos"/>
              </a:defRPr>
            </a:pPr>
            <a:r>
              <a:t>Current reports and whole-desktop Shoter photographs land in Temp/avatar_presence. Tests/run_presence_tests.ps1 is an alternative launcher. The older default suite uses Node.js and writes output/avatar_flash_fix/visible-test. Its atomic-state assumptions are historical. Use the presence-only command for the current renderer. The generic test credential must not become a production password.</a:t>
            </a:r>
          </a:p>
          <a:p>
            <a:pPr>
              <a:spcAft>
                <a:spcPts val="400"/>
              </a:spcAft>
              <a:defRPr sz="1100">
                <a:solidFill>
                  <a:srgbClr val="B4BAAE"/>
                </a:solidFill>
                <a:latin typeface="Aptos"/>
              </a:defRPr>
            </a:pPr>
            <a:r>
              <a:t>Recorded verification from 2026-09-12: all 74 presence checks passed in a visible browser. The separate Django run passed 110 Whisperer, voice-catalog and Gitter tests. These historical runs were not repeated for this refresh. They do not prove real microphone transcription, audible voice synchronization on every host, or a rebuilt frozen installation.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Whisperer Silence Gate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Whisperer captures microphone audio itself or accepts an audio file. Local faster-whisper uses GPU when available and falls back to CPU. Cloud Whisper is an alternative engine. Ollama is optional transcript cleanup, never audio ASR.</a:t>
            </a:r>
          </a:p>
          <a:p>
            <a:pPr>
              <a:spcAft>
                <a:spcPts val="400"/>
              </a:spcAft>
              <a:defRPr sz="1200">
                <a:solidFill>
                  <a:srgbClr val="B4BAAE"/>
                </a:solidFill>
                <a:latin typeface="Aptos"/>
              </a:defRPr>
            </a:pPr>
            <a:r>
              <a:t>record_seconds=0 now selects the silence gate. Default trailing silence is 3.5 s and the hard ceiling is 300 s. A positive record_seconds selects fixed duration in auto mode. Explicit silence_gate=on forces gating, while off uses fixed capture.</a:t>
            </a:r>
          </a:p>
          <a:p>
            <a:pPr>
              <a:spcAft>
                <a:spcPts val="400"/>
              </a:spcAft>
              <a:defRPr sz="1200">
                <a:solidFill>
                  <a:srgbClr val="B4BAAE"/>
                </a:solidFill>
                <a:latin typeface="Aptos"/>
              </a:defRPr>
            </a:pPr>
            <a:r>
              <a:t>A 20 ms RMS callback tracks noise with a 9 dB margin, two-block attack and 3 dB hysteresis. The floor starts at -50 dBFS to retain immediate speech. A 15 s sustained sound rebase handles steady noise. A negative threshold overrides automatic calibration. The console VU includes a silence countdown and stop reason.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result reports actual duration_seconds and appends capture_mode, stop_reason, silence_timeout_seconds and speech_seconds. A device backend without InputStream uses explicitly labeled fixed_fallback. Parametrizer's generic KV parser accepts the appended fields without a special parser rewrite.</a:t>
            </a:r>
          </a:p>
          <a:p>
            <a:pPr>
              <a:spcAft>
                <a:spcPts val="400"/>
              </a:spcAft>
              <a:defRPr sz="1400">
                <a:solidFill>
                  <a:srgbClr val="B4BAAE"/>
                </a:solidFill>
                <a:latin typeface="Aptos"/>
              </a:defRPr>
            </a:pPr>
            <a:r>
              <a:t>Migration 0200 updates prompt 74, TLAMATINI LISTENS, without changing its identity or ordering. Registry instructions omit duration unless the user requests one. FlowHypervisor tolerates the bounded gate wait and no longer calls it stuck. Existing workflows with positive durations deliberately keep fixed recording.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Voice Commands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Migration 0201 appends prompts 121 and 122. views.PROMPT_CATEGORY_ORDER places voice_commands first. This is an explicit record-and-transcribe command, not an always-listening assistant or wake-word service.</a:t>
            </a:r>
          </a:p>
          <a:p>
            <a:pPr>
              <a:spcAft>
                <a:spcPts val="400"/>
              </a:spcAft>
              <a:defRPr sz="1300">
                <a:solidFill>
                  <a:srgbClr val="B4BAAE"/>
                </a:solidFill>
                <a:latin typeface="Aptos"/>
              </a:defRPr>
            </a:pPr>
            <a:r>
              <a:t>YOUR FIRST VOICE COMMAND (121) is a read-only rehearsal with Multi-Turn, Step-by-Step and Exec Report, without ACPX. SPEAK YOUR PROMPT (122) enables Multi-Turn, Exec Report and ACPX, with Step-by-Step off. The existing JS classifier derives these modes from prompt text. No frontend asset bump was required for this catalog change.</a:t>
            </a:r>
          </a:p>
          <a:p>
            <a:pPr>
              <a:spcAft>
                <a:spcPts val="400"/>
              </a:spcAft>
              <a:defRPr sz="1300">
                <a:solidFill>
                  <a:srgbClr val="B4BAAE"/>
                </a:solidFill>
                <a:latin typeface="Aptos"/>
              </a:defRPr>
            </a:pPr>
            <a:r>
              <a:t>The second card preserves the author's requested sentence verbatim. Whisperer records until the silence gate closes, then the transcript becomes the next prompt through the existing planner and tools. Omit duration unless the user specifies it.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Display or read back the transcript verbatim before execution. Stop on empty or engine_unavailable results rather than inventing instructions. Irreversible or external actions require typed confirmation under the voice-command contract.</a:t>
            </a:r>
          </a:p>
          <a:p>
            <a:pPr>
              <a:spcAft>
                <a:spcPts val="400"/>
              </a:spcAft>
              <a:defRPr sz="1500">
                <a:solidFill>
                  <a:srgbClr val="B4BAAE"/>
                </a:solidFill>
                <a:latin typeface="Aptos"/>
              </a:defRPr>
            </a:pPr>
            <a:r>
              <a:t>Coverage spans prompt rule 18e, self-knowledge, FlowCreator, FlowHypervisor and agent-creation guidance. test_voice_commands_catalog.py checks ordering, sentence fidelity and classifier parity. The headed catalog harness checks browser cards and toggles, but does not prove real microphone recognition or spoken task execution.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Grepper Line Reading</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After the v1.51.9 tag, commit 4ae6da6 adds output_mode=lines to Grepper. It reads one text file without a regex. Existing content/files/count search modes remain available. Globber can select the file before the read.</a:t>
            </a:r>
          </a:p>
          <a:p>
            <a:pPr>
              <a:spcAft>
                <a:spcPts val="400"/>
              </a:spcAft>
              <a:defRPr sz="1200">
                <a:solidFill>
                  <a:srgbClr val="B4BAAE"/>
                </a:solidFill>
                <a:latin typeface="Aptos"/>
              </a:defRPr>
            </a:pPr>
            <a:r>
              <a:t>start_line/end_line are 1-based inclusive. Zero means first/last. The implementation clamps endpoints into the file and caps the slice at max_results (default 200). lines_returned, total_lines and truncated describe the returned slice. Directories and binary files are refused.</a:t>
            </a:r>
          </a:p>
          <a:p>
            <a:pPr>
              <a:spcAft>
                <a:spcPts val="400"/>
              </a:spcAft>
              <a:defRPr sz="1200">
                <a:solidFill>
                  <a:srgbClr val="B4BAAE"/>
                </a:solidFill>
                <a:latin typeface="Aptos"/>
              </a:defRPr>
            </a:pPr>
            <a:r>
              <a:t>line_numbers=true prefixes each displayed line with N:. With false, content_b64 carries base64 of the decoded slice encoded as UTF-8, retaining its line endings. Windows text-mode logging can rewrite the readable body. Use the encoded channel when constructing an Editor old_string.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shared reader checks UTF-8/16/32 BOMs before the NUL-byte binary rule, then uses UTF-8, cp1252 or Latin-1. content_b64 is not a byte-for-byte copy of a UTF-16/cp1252 source file. Editor itself reads/writes UTF-8, so this read capability does not make editing every supported source encoding safe.</a:t>
            </a:r>
          </a:p>
          <a:p>
            <a:pPr>
              <a:spcAft>
                <a:spcPts val="400"/>
              </a:spcAft>
              <a:defRPr sz="1100">
                <a:solidFill>
                  <a:srgbClr val="B4BAAE"/>
                </a:solidFill>
                <a:latin typeface="Aptos"/>
              </a:defRPr>
            </a:pPr>
            <a:r>
              <a:t>The wrapped chat_agent_grepper description and Parametrizer field map include the new contract. Success is listed, while missing paths give not_found. Self-knowledge and FlowCreator describe the read step. TLAMATINI_VERSION in self-knowledge is an offline fallback behind live metadata.</a:t>
            </a:r>
          </a:p>
          <a:p>
            <a:pPr>
              <a:spcAft>
                <a:spcPts val="400"/>
              </a:spcAft>
              <a:defRPr sz="1100">
                <a:solidFill>
                  <a:srgbClr val="B4BAAE"/>
                </a:solidFill>
                <a:latin typeface="Aptos"/>
              </a:defRPr>
            </a:pPr>
            <a:r>
              <a:t>Three new assets: test_grepper_lines_mode.py, grepper_lines_visible.py and grepper_login_probe.py. The commit reports 505 passing cases and a headed chat search/read demonstration. Those are historical claims, not results from this refresh. No test, browser harness or app was executed.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Sampler Defaults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Commits f6404a3 and cb30edf align prompt-only and retrieval defaults: ollama_repeat_penalty=1.2, ollama_repeat_last_n=256 and ollama_num_ctx=1048576. Explicit configuration overrides these factory fallbacks.</a:t>
            </a:r>
          </a:p>
          <a:p>
            <a:pPr>
              <a:spcAft>
                <a:spcPts val="400"/>
              </a:spcAft>
              <a:defRPr sz="1300">
                <a:solidFill>
                  <a:srgbClr val="B4BAAE"/>
                </a:solidFill>
                <a:latin typeface="Aptos"/>
              </a:defRPr>
            </a:pPr>
            <a:r>
              <a:t>Both chains in rag/factory.py pass all three values. mcp_agent.py forwards repeat_last_n when adapting to ChatOllama and includes it in the LLM-PARAMS banner. Previously, setting that config key could not reach this adapter.</a:t>
            </a:r>
          </a:p>
          <a:p>
            <a:pPr>
              <a:spcAft>
                <a:spcPts val="400"/>
              </a:spcAft>
              <a:defRPr sz="1300">
                <a:solidFill>
                  <a:srgbClr val="B4BAAE"/>
                </a:solidFill>
                <a:latin typeface="Aptos"/>
              </a:defRPr>
            </a:pPr>
            <a:r>
              <a:t>Commit f6404a3 reports eight trials per setting on a roughly 78k-token, 117-bound-tool workload. For glm-5.3:cloud, failures fell from 7/8 at penalty 1.9 to 1/8 at 1.2. The historical workload's bound-tool count differs from today's registry total.</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Commit cb30edf isolates lookback with penalty 1.2: glm failures were 5/8 at 64 versus 2/8 at 256, with reported medians 154.0s and 26.3s. Kimi-k3 moved from 0/8 to 1/8 failures and 50.5s to 97.5s. The tradeoff is model-specific.</a:t>
            </a:r>
          </a:p>
          <a:p>
            <a:pPr>
              <a:spcAft>
                <a:spcPts val="400"/>
              </a:spcAft>
              <a:defRPr sz="1200">
                <a:solidFill>
                  <a:srgbClr val="B4BAAE"/>
                </a:solidFill>
                <a:latin typeface="Aptos"/>
              </a:defRPr>
            </a:pPr>
            <a:r>
              <a:t>The commit reports cloud requests exceeding a smaller num_ctx and a server rejection above 1,048,576 tokens for its tested model. This is recorded evidence, not a universal cloud limit. Local models use num_ctx for context allocation, so a 1M setting can demand substantial memory.</a:t>
            </a:r>
          </a:p>
          <a:p>
            <a:pPr>
              <a:spcAft>
                <a:spcPts val="400"/>
              </a:spcAft>
              <a:defRPr sz="1200">
                <a:solidFill>
                  <a:srgbClr val="B4BAAE"/>
                </a:solidFill>
                <a:latin typeface="Aptos"/>
              </a:defRPr>
            </a:pPr>
            <a:r>
              <a:t>README and Book now describe these changes. Performance and context results are attributed to the September 13 commit records, not new validation. No model requests or automated tests ran for this refresh. Lower failure counts do not guarantee every request completes.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Uninstaller Safety</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b07f9d5 adds a gate before confirmation or deletion. The Windows process scan checks executable paths inside the selected installation, with top-level executable-name fallback when an image path is unreadable.</a:t>
            </a:r>
          </a:p>
          <a:p>
            <a:pPr>
              <a:spcAft>
                <a:spcPts val="400"/>
              </a:spcAft>
              <a:defRPr sz="1300">
                <a:solidFill>
                  <a:srgbClr val="B4BAAE"/>
                </a:solidFill>
                <a:latin typeface="Aptos"/>
              </a:defRPr>
            </a:pPr>
            <a:r>
              <a:t>Detected processes appear with PID and evidence in a modal Retry/Exit dialog. Retry rescans and stays blocked while matches remain. Exit and the window close button leave the uninstaller. There is no continue-anyway button.</a:t>
            </a:r>
          </a:p>
          <a:p>
            <a:pPr>
              <a:spcAft>
                <a:spcPts val="400"/>
              </a:spcAft>
              <a:defRPr sz="1300">
                <a:solidFill>
                  <a:srgbClr val="B4BAAE"/>
                </a:solidFill>
                <a:latin typeface="Aptos"/>
              </a:defRPr>
            </a:pPr>
            <a:r>
              <a:t>The detector excludes this uninstaller and the same executable image. Detection errors allow progress by design, so this is best-effort protection. Close Tlamatini cleanly with Ctrl+C in its console before retrying.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Top-level agents/ always survives. application/, applications/, content_generated/, context_files/ and Temp/ survive when they contain a file at any depth. Unreadable directories count as having content. Empty scaffolding may be removed; arbitrary folders outside this list are not protected.</a:t>
            </a:r>
          </a:p>
          <a:p>
            <a:pPr>
              <a:spcAft>
                <a:spcPts val="400"/>
              </a:spcAft>
              <a:defRPr sz="1200">
                <a:solidFill>
                  <a:srgbClr val="B4BAAE"/>
                </a:solidFill>
                <a:latin typeface="Aptos"/>
              </a:defRPr>
            </a:pPr>
            <a:r>
              <a:t>The final dialog names only the content directories actually preserved. Companion-agent discovery markers remain supported. The window body now builds independently of version-badge resolution, avoiding an empty card when the version is unavailable.</a:t>
            </a:r>
          </a:p>
          <a:p>
            <a:pPr>
              <a:spcAft>
                <a:spcPts val="400"/>
              </a:spcAft>
              <a:defRPr sz="1200">
                <a:solidFill>
                  <a:srgbClr val="B4BAAE"/>
                </a:solidFill>
                <a:latin typeface="Aptos"/>
              </a:defRPr>
            </a:pPr>
            <a:r>
              <a:t>Source assets: agent/test_uninstaller_mechanics.py and the Claude-skill harness uninstaller_visible.py. The commit records 49 mechanics cases and 19/19 disk checks from a visible run with registry/Explorer actions stubbed. These are historical results. Neither runner nor the uninstaller ran here.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Wrapped-Agent Wait Completion</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ac72b6c fixes chat_agent_run_wait in agent/tools.py. The previous loop reread the ChatAgentRun row, but no writer kept that row current during the child's execution. A finished child could therefore consume the full wait budget.</a:t>
            </a:r>
          </a:p>
          <a:p>
            <a:pPr>
              <a:spcAft>
                <a:spcPts val="400"/>
              </a:spcAft>
              <a:defRPr sz="1300">
                <a:solidFill>
                  <a:srgbClr val="B4BAAE"/>
                </a:solidFill>
                <a:latin typeface="Aptos"/>
              </a:defRPr>
            </a:pPr>
            <a:r>
              <a:t>Each poll now calls reconcile_chat_agent_run. That runtime helper checks process liveness, consults the process handle when available, persists the resulting status and stamps finishedAt when it first observes completion.</a:t>
            </a:r>
          </a:p>
          <a:p>
            <a:pPr>
              <a:spcAft>
                <a:spcPts val="400"/>
              </a:spcAft>
              <a:defRPr sz="1300">
                <a:solidFill>
                  <a:srgbClr val="B4BAAE"/>
                </a:solidFill>
                <a:latin typeface="Aptos"/>
              </a:defRPr>
            </a:pPr>
            <a:r>
              <a:t>The loop breaks only outside RUNNING_STATUSES, which includes created and running. It no longer treats a created status alone as completion. This applies to wrapped agents generally, including Whisperer after transcription.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max_seconds defaults to 120 and is clamped to 1-600. Poll cadence defaults to 2 seconds with a 1-second minimum. Expiry returns a status envelope and log excerpt without stopping the child. The caller may wait again or request stop.</a:t>
            </a:r>
          </a:p>
          <a:p>
            <a:pPr>
              <a:spcAft>
                <a:spcPts val="400"/>
              </a:spcAft>
              <a:defRPr sz="1300">
                <a:solidFill>
                  <a:srgbClr val="B4BAAE"/>
                </a:solidFill>
                <a:latin typeface="Aptos"/>
              </a:defRPr>
            </a:pPr>
            <a:r>
              <a:t>waited_seconds counts scheduled sleeps rather than exact wall-clock time. A full final poll sleep can exceed the nominal budget, plus reconciliation overhead. finishedAt remains an observation timestamp, not the OS exit instant.</a:t>
            </a:r>
          </a:p>
          <a:p>
            <a:pPr>
              <a:spcAft>
                <a:spcPts val="400"/>
              </a:spcAft>
              <a:defRPr sz="1300">
                <a:solidFill>
                  <a:srgbClr val="B4BAAE"/>
                </a:solidFill>
                <a:latin typeface="Aptos"/>
              </a:defRPr>
            </a:pPr>
            <a:r>
              <a:t>agent/test_chat_agent_run_wait.py adds five cases covering stale-row avoidance, process reconciliation, unfinished states, early return and timeout behavior. Source reviewed only in this refresh; the cases were not executed.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Account-Usage Utility</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ollama_credits.py is a standalone account-usage utility added by commit 36c0139. It does not add a workflow agent, a wrapped tool, a migration or a chat UI. The source uses only Python's standard library.</a:t>
            </a:r>
          </a:p>
          <a:p>
            <a:pPr>
              <a:spcAft>
                <a:spcPts val="400"/>
              </a:spcAft>
              <a:defRPr sz="1300">
                <a:solidFill>
                  <a:srgbClr val="B4BAAE"/>
                </a:solidFill>
                <a:latin typeface="Aptos"/>
              </a:defRPr>
            </a:pPr>
            <a:r>
              <a:t>It reads the operator's local .ollama/id_ed25519 OpenSSH key and constructs timestamped Ed25519 signatures. The key parser accepts an unencrypted ssh-ed25519 key. Keep the key private and review the utility before running it.</a:t>
            </a:r>
          </a:p>
          <a:p>
            <a:pPr>
              <a:spcAft>
                <a:spcPts val="400"/>
              </a:spcAft>
              <a:defRPr sz="1300">
                <a:solidFill>
                  <a:srgbClr val="B4BAAE"/>
                </a:solidFill>
                <a:latin typeface="Aptos"/>
              </a:defRPr>
            </a:pPr>
            <a:r>
              <a:t>The implemented account requests are GET /api/usage and POST /api/me at ollama.com, each with a 20-second timeout. This describes the checked-in implementation; endpoint availability and account responses were not exercised.</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Manual use from the repository root: .\python\python.exe ollama_credits.py. Add --json for the returned account and usage payloads. The console report shows monthly use, model request counts and four-week activity. It pauses for Enter on an interactive terminal.</a:t>
            </a:r>
          </a:p>
          <a:p>
            <a:pPr>
              <a:spcAft>
                <a:spcPts val="400"/>
              </a:spcAft>
              <a:defRPr sz="1200">
                <a:solidFill>
                  <a:srgbClr val="B4BAAE"/>
                </a:solidFill>
                <a:latin typeface="Aptos"/>
              </a:defRPr>
            </a:pPr>
            <a:r>
              <a:t>The card hardcodes a $300 monthly denominator and infers reset day 3 by default. These assumptions may not match the account. --reset-day 0 hides the caption, and --json avoids the derived dollar card. Colored model segments reflect request shares, not measured per-model cost shares.</a:t>
            </a:r>
          </a:p>
          <a:p>
            <a:pPr>
              <a:spcAft>
                <a:spcPts val="400"/>
              </a:spcAft>
              <a:defRPr sz="1200">
                <a:solidFill>
                  <a:srgbClr val="B4BAAE"/>
                </a:solidFill>
                <a:latin typeface="Aptos"/>
              </a:defRPr>
            </a:pPr>
            <a:r>
              <a:t>This documentation refresh did not execute the utility or read account keys. Account email and usage can appear in its output. Redact reports before sharing. The script queries usage; it does not buy, grant or reset credits.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Gitter Windows Paths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590cb8b repairs Gitter custom_command tokenization on Windows. POSIX shlex treated backslashes as escapes and turned C:\Dev\msg.txt into C:Devmsg.txt.</a:t>
            </a:r>
          </a:p>
          <a:p>
            <a:pPr>
              <a:spcAft>
                <a:spcPts val="400"/>
              </a:spcAft>
              <a:defRPr sz="1300">
                <a:solidFill>
                  <a:srgbClr val="B4BAAE"/>
                </a:solidFill>
                <a:latin typeface="Aptos"/>
              </a:defRPr>
            </a:pPr>
            <a:r>
              <a:t>Windows now uses shlex.split(..., posix=False) plus one matching outer-quote removal. Backslashes survive and quoted multi-word arguments remain single tokens. POSIX hosts retain posix=True. Malformed quotes retain the existing split fallback.</a:t>
            </a:r>
          </a:p>
          <a:p>
            <a:pPr>
              <a:spcAft>
                <a:spcPts val="400"/>
              </a:spcAft>
              <a:defRPr sz="1300">
                <a:solidFill>
                  <a:srgbClr val="B4BAAE"/>
                </a:solidFill>
                <a:latin typeface="Aptos"/>
              </a:defRPr>
            </a:pPr>
            <a:r>
              <a:t>agent/test_gitter_custom_command.py adds 23 tests. The tests AST-load only the two helpers so they do not start a pool agent or write PID/log state. They cover Windows paths, quoted arguments, malformed input, POSIX behavior and source contracts.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Source: agent/agents/gitter/gitter.py. Maintainer record: docs/claude/recent-fixes.md, 2026-09-11 entry. The public handbooks describe Gitter generally but do not yet explain this tokenizer repair. It is committed in the current release ancestry.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REGISTRY DEFAULTS; FULL SEMANTICS IN DOCS/MODEL_CONFIGURATION.MD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Models: Core (1/2)</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Settings</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embeding-model: Nomic-Embed-Text:latest. YAML: in-process service. Kind: ollama.</a:t>
            </a:r>
          </a:p>
          <a:p>
            <a:pPr>
              <a:spcAft>
                <a:spcPts val="400"/>
              </a:spcAft>
              <a:defRPr sz="1600">
                <a:solidFill>
                  <a:srgbClr val="B4BAAE"/>
                </a:solidFill>
                <a:latin typeface="Aptos"/>
              </a:defRPr>
            </a:pPr>
            <a:r>
              <a:t>chained-model: glm-5.3:cloud. YAML: in-process service. Kind: ollama.</a:t>
            </a:r>
          </a:p>
          <a:p>
            <a:pPr>
              <a:spcAft>
                <a:spcPts val="400"/>
              </a:spcAft>
              <a:defRPr sz="1600">
                <a:solidFill>
                  <a:srgbClr val="B4BAAE"/>
                </a:solidFill>
                <a:latin typeface="Aptos"/>
              </a:defRPr>
            </a:pPr>
            <a:r>
              <a:t>access_aimed_prompt_model: glm-5.3:cloud. YAML: in-process service. Kind: ollama.</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Settings continued</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mcp_files_search_model: glm-5.3:cloud. YAML: in-process service. Kind: ollama.</a:t>
            </a:r>
          </a:p>
          <a:p>
            <a:pPr>
              <a:spcAft>
                <a:spcPts val="400"/>
              </a:spcAft>
              <a:defRPr sz="1600">
                <a:solidFill>
                  <a:srgbClr val="B4BAAE"/>
                </a:solidFill>
                <a:latin typeface="Aptos"/>
              </a:defRPr>
            </a:pPr>
            <a:r>
              <a:t>internet_classifier_model: glm-5.3:cloud. YAML: in-process service. Kind: ollama.</a:t>
            </a:r>
          </a:p>
          <a:p>
            <a:pPr>
              <a:spcAft>
                <a:spcPts val="400"/>
              </a:spcAft>
              <a:defRPr sz="1600">
                <a:solidFill>
                  <a:srgbClr val="B4BAAE"/>
                </a:solidFill>
                <a:latin typeface="Aptos"/>
              </a:defRPr>
            </a:pPr>
            <a:r>
              <a:t>web_summarizer_model: glm-5.3:cloud. YAML: in-process service. Kind: ollama.</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REGISTRY DEFAULTS; FULL SEMANTICS IN DOCS/MODEL_CONFIGURATION.MD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Models: Core (2/2)</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48BF8F"/>
                </a:solidFill>
                <a:latin typeface="Aptos"/>
              </a:rPr>
              <a:t>Settings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unified_agent_model: glm-5.3:cloud. YAML: in-process service. Kind: ollama.</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REGISTRY DEFAULTS; FULL SEMANTICS IN DOCS/MODEL_CONFIGURATION.MD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Models: Vision (1/2)</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Settings</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image_interpreter_model: jcyhsiao/qwen3.5cloud:latest. YAML: image_interpreter.interpreter_model_1. Kind: ollama.</a:t>
            </a:r>
          </a:p>
          <a:p>
            <a:pPr>
              <a:spcAft>
                <a:spcPts val="400"/>
              </a:spcAft>
              <a:defRPr sz="1600">
                <a:solidFill>
                  <a:srgbClr val="B4BAAE"/>
                </a:solidFill>
                <a:latin typeface="Aptos"/>
              </a:defRPr>
            </a:pPr>
            <a:r>
              <a:t>image_interpreter_model_2: gemma4:cloud. YAML: image_interpreter.interpreter_model_2. Kind: ollama.</a:t>
            </a:r>
          </a:p>
          <a:p>
            <a:pPr>
              <a:spcAft>
                <a:spcPts val="400"/>
              </a:spcAft>
              <a:defRPr sz="1600">
                <a:solidFill>
                  <a:srgbClr val="B4BAAE"/>
                </a:solidFill>
                <a:latin typeface="Aptos"/>
              </a:defRPr>
            </a:pPr>
            <a:r>
              <a:t>image_merging_model: glm-5.3:cloud. YAML: image_interpreter.merging_model. Kind: ollama.</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Settings continued</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video_interpreter_model_2: jcyhsiao/qwen3.5cloud:latest. YAML: video_analyzer.interpreter_model_2. Kind: ollama.</a:t>
            </a:r>
          </a:p>
          <a:p>
            <a:pPr>
              <a:spcAft>
                <a:spcPts val="400"/>
              </a:spcAft>
              <a:defRPr sz="1600">
                <a:solidFill>
                  <a:srgbClr val="B4BAAE"/>
                </a:solidFill>
                <a:latin typeface="Aptos"/>
              </a:defRPr>
            </a:pPr>
            <a:r>
              <a:t>video_merging_model: glm-5.3:cloud. YAML: video_analyzer.merging_model. Kind: ollama.</a:t>
            </a:r>
          </a:p>
          <a:p>
            <a:pPr>
              <a:spcAft>
                <a:spcPts val="400"/>
              </a:spcAft>
              <a:defRPr sz="1600">
                <a:solidFill>
                  <a:srgbClr val="B4BAAE"/>
                </a:solidFill>
                <a:latin typeface="Aptos"/>
              </a:defRPr>
            </a:pPr>
            <a:r>
              <a:t>claude_image_model: claude-opus-4-5-20251101. YAML: in-process service. Kind: provider.</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REGISTRY DEFAULTS; FULL SEMANTICS IN DOCS/MODEL_CONFIGURATION.MD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Models: Vision (2/2)</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48BF8F"/>
                </a:solidFill>
                <a:latin typeface="Aptos"/>
              </a:rPr>
              <a:t>Settings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video_interpreter_model: gemma4:cloud. YAML: video_analyzer.interpreter_model_1. Kind: ollama.</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REGISTRY DEFAULTS; FULL SEMANTICS IN DOCS/MODEL_CONFIGURATION.MD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Models: Speech (1/2)</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Settings</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talker_model: legraphista/Orpheus:3b-ft-q8. YAML: talker.model. Kind: ollama.</a:t>
            </a:r>
          </a:p>
          <a:p>
            <a:pPr>
              <a:spcAft>
                <a:spcPts val="400"/>
              </a:spcAft>
              <a:defRPr sz="1600">
                <a:solidFill>
                  <a:srgbClr val="B4BAAE"/>
                </a:solidFill>
                <a:latin typeface="Aptos"/>
              </a:defRPr>
            </a:pPr>
            <a:r>
              <a:t>talker_voice: tara. YAML: talker.voice. Kind: choice.</a:t>
            </a:r>
          </a:p>
          <a:p>
            <a:pPr>
              <a:spcAft>
                <a:spcPts val="400"/>
              </a:spcAft>
              <a:defRPr sz="1600">
                <a:solidFill>
                  <a:srgbClr val="B4BAAE"/>
                </a:solidFill>
                <a:latin typeface="Aptos"/>
              </a:defRPr>
            </a:pPr>
            <a:r>
              <a:t>whisperer_engine: faster-whisper. YAML: whisperer.engine. Kind: choice.</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Settings continued</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whisperer_cloud_model: (empty provider default). YAML: whisperer.cloud_model. Kind: provider.</a:t>
            </a:r>
          </a:p>
          <a:p>
            <a:pPr>
              <a:spcAft>
                <a:spcPts val="400"/>
              </a:spcAft>
              <a:defRPr sz="1600">
                <a:solidFill>
                  <a:srgbClr val="B4BAAE"/>
                </a:solidFill>
                <a:latin typeface="Aptos"/>
              </a:defRPr>
            </a:pPr>
            <a:r>
              <a:t>whisperer_cleanup_model: glm-5.3:cloud. YAML: whisperer.cleanup_model. Kind: ollama.</a:t>
            </a:r>
          </a:p>
          <a:p>
            <a:pPr>
              <a:spcAft>
                <a:spcPts val="400"/>
              </a:spcAft>
              <a:defRPr sz="1600">
                <a:solidFill>
                  <a:srgbClr val="B4BAAE"/>
                </a:solidFill>
                <a:latin typeface="Aptos"/>
              </a:defRPr>
            </a:pPr>
            <a:r>
              <a:t>video_transcription_model: base. YAML: video_analyzer.transcription.model. Kind: local.</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REGISTRY DEFAULTS; FULL SEMANTICS IN DOCS/MODEL_CONFIGURATION.MD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Models: Speech (2/2)</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48BF8F"/>
                </a:solidFill>
                <a:latin typeface="Aptos"/>
              </a:rPr>
              <a:t>Settings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whisperer_model: base. YAML: whisperer.model. Kind: local.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REGISTRY DEFAULTS; FULL SEMANTICS IN DOCS/MODEL_CONFIGURATION.MD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Models: Workflows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Settings</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crawler_model: glm-5.3:cloud. YAML: crawler.llm.model. Kind: ollama.</a:t>
            </a:r>
          </a:p>
          <a:p>
            <a:pPr>
              <a:spcAft>
                <a:spcPts val="400"/>
              </a:spcAft>
              <a:defRPr sz="1600">
                <a:solidFill>
                  <a:srgbClr val="B4BAAE"/>
                </a:solidFill>
                <a:latin typeface="Aptos"/>
              </a:defRPr>
            </a:pPr>
            <a:r>
              <a:t>flowcreator_model: glm-5.3:cloud. YAML: flowcreator.llm.model. Kind: ollama.</a:t>
            </a:r>
          </a:p>
          <a:p>
            <a:pPr>
              <a:spcAft>
                <a:spcPts val="400"/>
              </a:spcAft>
              <a:defRPr sz="1600">
                <a:solidFill>
                  <a:srgbClr val="B4BAAE"/>
                </a:solidFill>
                <a:latin typeface="Aptos"/>
              </a:defRPr>
            </a:pPr>
            <a:r>
              <a:t>flowhypervisor_model: glm-5.3:cloud. YAML: flowhypervisor.llm.model. Kind: ollama.</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Settings continued</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prompter_model: glm-5.3:cloud. YAML: prompter.llm.model. Kind: ollama.</a:t>
            </a:r>
          </a:p>
          <a:p>
            <a:pPr>
              <a:spcAft>
                <a:spcPts val="400"/>
              </a:spcAft>
              <a:defRPr sz="1600">
                <a:solidFill>
                  <a:srgbClr val="B4BAAE"/>
                </a:solidFill>
                <a:latin typeface="Aptos"/>
              </a:defRPr>
            </a:pPr>
            <a:r>
              <a:t>pser_model: glm-5.3:cloud. YAML: pser.llm.model. Kind: ollama.</a:t>
            </a:r>
          </a:p>
          <a:p>
            <a:pPr>
              <a:spcAft>
                <a:spcPts val="400"/>
              </a:spcAft>
              <a:defRPr sz="1600">
                <a:solidFill>
                  <a:srgbClr val="B4BAAE"/>
                </a:solidFill>
                <a:latin typeface="Aptos"/>
              </a:defRPr>
            </a:pPr>
            <a:r>
              <a:t>reviewer_model: glm-5.3:cloud. YAML: reviewer.llm.model. Kind: ollama.</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REGISTRY DEFAULTS; FULL SEMANTICS IN DOCS/MODEL_CONFIGURATION.MD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Models: Documents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Settings</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file_interpreter_model: glm-5.3:cloud. YAML: file_interpreter.llm.model. Kind: ollama.</a:t>
            </a:r>
          </a:p>
          <a:p>
            <a:pPr>
              <a:spcAft>
                <a:spcPts val="400"/>
              </a:spcAft>
              <a:defRPr sz="1600">
                <a:solidFill>
                  <a:srgbClr val="B4BAAE"/>
                </a:solidFill>
                <a:latin typeface="Aptos"/>
              </a:defRPr>
            </a:pPr>
            <a:r>
              <a:t>summarizer_model: glm-5.3:cloud. YAML: summarizer.llm.model. Kind: ollama.</a:t>
            </a:r>
          </a:p>
          <a:p>
            <a:pPr>
              <a:spcAft>
                <a:spcPts val="400"/>
              </a:spcAft>
              <a:defRPr sz="1600">
                <a:solidFill>
                  <a:srgbClr val="B4BAAE"/>
                </a:solidFill>
                <a:latin typeface="Aptos"/>
              </a:defRPr>
            </a:pPr>
            <a:r>
              <a:t>pdfer_model: glm-5.3:cloud. YAML: pdfer.ollama_model. Kind: ollama.</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Settings continued</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pptxer_model: glm-5.3:cloud. YAML: pptxer.ollama_model. Kind: ollama.</a:t>
            </a:r>
          </a:p>
          <a:p>
            <a:pPr>
              <a:spcAft>
                <a:spcPts val="400"/>
              </a:spcAft>
              <a:defRPr sz="1600">
                <a:solidFill>
                  <a:srgbClr val="B4BAAE"/>
                </a:solidFill>
                <a:latin typeface="Aptos"/>
              </a:defRPr>
            </a:pPr>
            <a:r>
              <a:t>latexer_model: glm-5.3:cloud. YAML: latexer.repair_model. Kind: ollama.</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REGISTRY DEFAULTS; FULL SEMANTICS IN DOCS/MODEL_CONFIGURATION.MD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Models: Monitoring &amp; messaging</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Settings</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monitor_log_model: glm-5.3:cloud. YAML: monitor_log.llm.model. Kind: ollama.</a:t>
            </a:r>
          </a:p>
          <a:p>
            <a:pPr>
              <a:spcAft>
                <a:spcPts val="400"/>
              </a:spcAft>
              <a:defRPr sz="1600">
                <a:solidFill>
                  <a:srgbClr val="B4BAAE"/>
                </a:solidFill>
                <a:latin typeface="Aptos"/>
              </a:defRPr>
            </a:pPr>
            <a:r>
              <a:t>monitor_netstat_model: glm-5.3:cloud. YAML: monitor_netstat.llm.model. Kind: ollama.</a:t>
            </a:r>
          </a:p>
          <a:p>
            <a:pPr>
              <a:spcAft>
                <a:spcPts val="400"/>
              </a:spcAft>
              <a:defRPr sz="1600">
                <a:solidFill>
                  <a:srgbClr val="B4BAAE"/>
                </a:solidFill>
                <a:latin typeface="Aptos"/>
              </a:defRPr>
            </a:pPr>
            <a:r>
              <a:t>notifier_model: glm-5.3:cloud. YAML: notifier.llm.model. Kind: ollama.</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Settings continued</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recmailer_model: glm-5.3:cloud. YAML: recmailer.llm.model. Kind: ollama.</a:t>
            </a:r>
          </a:p>
          <a:p>
            <a:pPr>
              <a:spcAft>
                <a:spcPts val="400"/>
              </a:spcAft>
              <a:defRPr sz="1600">
                <a:solidFill>
                  <a:srgbClr val="B4BAAE"/>
                </a:solidFill>
                <a:latin typeface="Aptos"/>
              </a:defRPr>
            </a:pPr>
            <a:r>
              <a:t>instant_messaging_doctor_model: glm-5.3:cloud. YAML: instant_messaging_doctor.ollama.model. Kind: ollama.</a:t>
            </a:r>
          </a:p>
          <a:p>
            <a:pPr>
              <a:spcAft>
                <a:spcPts val="400"/>
              </a:spcAft>
              <a:defRPr sz="1600">
                <a:solidFill>
                  <a:srgbClr val="B4BAAE"/>
                </a:solidFill>
                <a:latin typeface="Aptos"/>
              </a:defRPr>
            </a:pPr>
            <a:r>
              <a:t>teletlamatini_model: glm-5.3:cloud. YAML: teletlamatini.completeness_check.model. Kind: ollama.</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Parametrizer derives parser membership from 53 structured-output contracts, preserves CRLF/empty fields, checks numeric/Boolean conversions, requires all mappings before writing/launching and blocks automatic replay of interrupted desktop input. FlowHypervisor separates execution branches from kill/observation dependencies and includes current timing and persistent desktop receipts. GUI-Manager remains design only. See docs/desktop-input-and-flow-contracts.md and docs/agent-coverage.md for verification scope and maintenance.</a:t>
            </a:r>
          </a:p>
          <a:p>
            <a:pPr>
              <a:spcAft>
                <a:spcPts val="400"/>
              </a:spcAft>
              <a:defRPr sz="9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a:p>
            <a:pPr>
              <a:spcAft>
                <a:spcPts val="400"/>
              </a:spcAft>
              <a:defRPr sz="900">
                <a:solidFill>
                  <a:srgbClr val="B4BAAE"/>
                </a:solidFill>
                <a:latin typeface="Aptos"/>
              </a:defRPr>
            </a:pPr>
            <a:r>
              <a:t>The binary-content guard, PDFer, LaTeXer repair ladder, FlowCreator, prompt grammar, recon free-run, STM32er PlatformIO/camera demos, and External-MCP structured-result delivery remain carried behavior rather than disappearing behind the latest changes.</a:t>
            </a:r>
          </a:p>
          <a:p>
            <a:pPr>
              <a:spcAft>
                <a:spcPts val="400"/>
              </a:spcAft>
              <a:defRPr sz="900">
                <a:solidFill>
                  <a:srgbClr val="B4BAAE"/>
                </a:solidFill>
                <a:latin typeface="Aptos"/>
              </a:defRPr>
            </a:pPr>
            <a:r>
              <a:t>The private External-MCP runtime, inactive Memory/Sequential-Thinking defaults, tombstones, persistent Memory state, secret-separated catalogs, nested-diagram restoration, Mover/Deleter placement guard, and updater preservation remain carried from the v1.48.14-v1.48.17 lineage.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a:p>
            <a:pPr>
              <a:spcAft>
                <a:spcPts val="400"/>
              </a:spcAft>
              <a:defRPr sz="900">
                <a:solidFill>
                  <a:srgbClr val="B4BAAE"/>
                </a:solidFill>
                <a:latin typeface="Aptos"/>
              </a:defRPr>
            </a:pPr>
            <a:r>
              <a:t>The reachable local tag v1.64.0 resolves to 64abcdd. Current source HEAD is 64abcdd, 0 commit(s) beyond that tag. Fetched origin/main resolves to 64abcdd. Origin does not advertise v1.64.0; it is a local tag. Runtime version resolution remains Git/build-derived. A source revision beyond the tag is not a new tagged release.</a:t>
            </a:r>
          </a:p>
          <a:p>
            <a:pPr>
              <a:spcAft>
                <a:spcPts val="400"/>
              </a:spcAft>
              <a:defRPr sz="9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900">
                <a:solidFill>
                  <a:srgbClr val="B4BAAE"/>
                </a:solidFill>
                <a:latin typeface="Aptos"/>
              </a:defRPr>
            </a:pPr>
            <a:r>
              <a:t>The regenerated PDF/PPTX preserve the whole system, architecture, installation/use guidance, recent Git history, complete file tree, effective-line inventory, and validation evidence; target behavior and tagged historical predecessors are described separately.</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current release line.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reachable local tag v1.64.0 resolves to 64abcdd. Current source HEAD is 64abcdd, 0 commit(s) beyond that tag. Fetched origin/main resolves to 64abcdd. Origin does not advertise v1.64.0; it is a local tag. Runtime version resolution remains Git/build-derived. A source revision beyond the tag is not a new tagged release.</a:t>
            </a:r>
          </a:p>
          <a:p>
            <a:pPr>
              <a:spcAft>
                <a:spcPts val="400"/>
              </a:spcAft>
              <a:defRPr sz="1100">
                <a:solidFill>
                  <a:srgbClr val="B4BAAE"/>
                </a:solidFill>
                <a:latin typeface="Aptos"/>
              </a:defRPr>
            </a:pPr>
            <a:r>
              <a:t>Historical introduction: Video-Analyzer joined as a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Model strategy: `interpreter_model_1` defaults to `gemma4:cloud`, `interpreter_model_2` defaults to `jcyhsiao/qwen3.5cloud:latest`, and `merging_model` defaults to `glm-5.3:cloud`, with independent calls merged only after both interpreters report.</a:t>
            </a:r>
          </a:p>
          <a:p>
            <a:pPr>
              <a:spcAft>
                <a:spcPts val="400"/>
              </a:spcAft>
              <a:defRPr sz="1100">
                <a:solidFill>
                  <a:srgbClr val="B4BAAE"/>
                </a:solidFill>
                <a:latin typeface="Aptos"/>
              </a:defRPr>
            </a:pPr>
            <a:r>
              <a:t>Robotics routing contract: each robotics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ROBOTICS, AUDIO-TRACK TRANSCRIPTION AND VIDEO SUMMARIES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Video-Analyzer selects analysis_type: robotics (default), transcription, or summary. Input is a video file, wildcard, folder-newest rule, or Camcorder pool name.</a:t>
            </a:r>
          </a:p>
          <a:p>
            <a:pPr>
              <a:spcAft>
                <a:spcPts val="400"/>
              </a:spcAft>
              <a:defRPr sz="1100">
                <a:solidFill>
                  <a:srgbClr val="B4BAAE"/>
                </a:solidFill>
                <a:latin typeface="Aptos"/>
              </a:defRPr>
            </a:pPr>
            <a:r>
              <a:t>Robotics retains the motion gate and two independent vision interpreters plus merger. PASS_OK requires both explicit passes; a missing verdict is never agreement.</a:t>
            </a:r>
          </a:p>
          <a:p>
            <a:pPr>
              <a:spcAft>
                <a:spcPts val="400"/>
              </a:spcAft>
              <a:defRPr sz="1100">
                <a:solidFill>
                  <a:srgbClr val="B4BAAE"/>
                </a:solidFill>
                <a:latin typeface="Aptos"/>
              </a:defRPr>
            </a:pPr>
            <a:r>
              <a:t>Transcription reads selected video audio tracks through local faster-whisper with GPU auto/CPU fallback, timestamps and track indexes. It never opens the microphone.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Summary combines speech with timestamped visual batches across the full clip, then synthesizes chronology, readable text, facts, steps, decisions, action items and limitations.</a:t>
            </a:r>
          </a:p>
          <a:p>
            <a:pPr>
              <a:spcAft>
                <a:spcPts val="400"/>
              </a:spcAft>
              <a:defRPr sz="1100">
                <a:solidFill>
                  <a:srgbClr val="B4BAAE"/>
                </a:solidFill>
                <a:latin typeface="Aptos"/>
              </a:defRPr>
            </a:pPr>
            <a:r>
              <a:t>Content modes bypass the motion gate and route on TLM_ANALYSIS tokens. Parametrizer receives transcript, summary, segments_json, audio_status and artifact paths in INI_SECTION_VIDEO_ANALYZER.</a:t>
            </a:r>
          </a:p>
          <a:p>
            <a:pPr>
              <a:spcAft>
                <a:spcPts val="400"/>
              </a:spcAft>
              <a:defRPr sz="1100">
                <a:solidFill>
                  <a:srgbClr val="B4BAAE"/>
                </a:solidFill>
                <a:latin typeface="Aptos"/>
              </a:defRPr>
            </a:pPr>
            <a:r>
              <a:t>Unique run artifacts contain the complete transcript, segments, report and analysis. Missing audio and partial failures are explicit; sampled perception is not exhaustive. See agents/video_analyzer/README.md.</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Historical release family: `v1.33.2` introduced the Zavuerer wave and subsequent cleanup, preserving the v1.32.0 quality-and-identity background. The current release version is 1.63.0.</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`glm-5.3:cloud`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`glm-5.3:cloud`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`jcyhsiao/qwen3.5cloud:latest`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`glm-5.3:cloud`;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exposes 38 settings in six categories, including Image-Interpreter's three slots, Video-Analyzer, Talker, Whisperer, workflows, documents and monitors. Missing new keys in preserved configs receive registry defaults.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9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9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900">
                <a:solidFill>
                  <a:srgbClr val="B4BAAE"/>
                </a:solidFill>
                <a:latin typeface="Aptos"/>
              </a:defRPr>
            </a:pPr>
            <a:r>
              <a:t>Before pulling the shipped `:cloud` model tags, activate Ollama Pro or higher and run `ollama signin`; this is an operating requirement for the complete intended workload, not a sponsorship or affiliate relationship.</a:t>
            </a:r>
          </a:p>
          <a:p>
            <a:pPr>
              <a:spcAft>
                <a:spcPts val="400"/>
              </a:spcAft>
              <a:defRPr sz="9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9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first-run path is Config &gt; Models, URLs and Access Keys Wizard. Historical screenshots may show older menus; docs/model_configuration.md describes the current six-category Models dialog.</a:t>
            </a:r>
          </a:p>
          <a:p>
            <a:pPr>
              <a:spcAft>
                <a:spcPts val="400"/>
              </a:spcAft>
              <a:defRPr sz="1200">
                <a:solidFill>
                  <a:srgbClr val="B4BAAE"/>
                </a:solidFill>
                <a:latin typeface="Aptos"/>
              </a:defRPr>
            </a:pPr>
            <a:r>
              <a:t>Config &gt; Models has 38 fields for embedding, reasoning, vision, speech, workflows, documents and monitors. Ollama catalog choices, local speech names, provider IDs and engine/voice selectors have distinct validation.</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The 89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76200" tIns="12700" bIns="12700">
            <a:norm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76200" tIns="12700" bIns="12700">
            <a:norm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Templates on disk with config.yaml: 89</a:t>
            </a:r>
          </a:p>
          <a:p>
            <a:pPr>
              <a:spcAft>
                <a:spcPts val="400"/>
              </a:spcAft>
              <a:defRPr sz="1500">
                <a:solidFill>
                  <a:srgbClr val="B4BAAE"/>
                </a:solidFill>
                <a:latin typeface="Aptos"/>
              </a:defRPr>
            </a:pPr>
            <a:r>
              <a:t>Description rows in `agents_descriptions.md`: 89</a:t>
            </a:r>
          </a:p>
          <a:p>
            <a:pPr>
              <a:spcAft>
                <a:spcPts val="400"/>
              </a:spcAft>
              <a:defRPr sz="1500">
                <a:solidFill>
                  <a:srgbClr val="B4BAAE"/>
                </a:solidFill>
                <a:latin typeface="Aptos"/>
              </a:defRPr>
            </a:pPr>
            <a:r>
              <a:t>This dossier reconciles README and Book wording back to the same 89-agent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live operator surface now stands at 89 workflow agents, 109 Multi-Turn tools, 12 ACPX tools, and 29 skills.</a:t>
            </a:r>
          </a:p>
          <a:p>
            <a:pPr>
              <a:spcAft>
                <a:spcPts val="400"/>
              </a:spcAft>
              <a:defRPr sz="1100">
                <a:solidFill>
                  <a:srgbClr val="B4BAAE"/>
                </a:solidFill>
                <a:latin typeface="Aptos"/>
              </a:defRPr>
            </a:pPr>
            <a:r>
              <a:t>Source inspection confirms the total: 20 core Python tools + 67 wrapped chat-agent tools + 12 ACPX/Skill tools + 10 External-MCP supervisors = 109 built-in Multi-Turn tools; healthy active servers add dynamic `ext__*` remotes separately.</a:t>
            </a:r>
          </a:p>
          <a:p>
            <a:pPr>
              <a:spcAft>
                <a:spcPts val="400"/>
              </a:spcAft>
              <a:defRPr sz="1100">
                <a:solidFill>
                  <a:srgbClr val="B4BAAE"/>
                </a:solidFill>
                <a:latin typeface="Aptos"/>
              </a:defRPr>
            </a:pPr>
            <a:r>
              <a:t>The count growth over older public badges comes from stacked waves: the deterministic file trio, ESPHomer, MCP Doctor, Zavuerer, Video-Analyzer, Nmapper, NetSpeed-Calculator, and the `adding-external-mcp` skill.</a:t>
            </a:r>
          </a:p>
          <a:p>
            <a:pPr>
              <a:spcAft>
                <a:spcPts val="400"/>
              </a:spcAft>
              <a:defRPr sz="11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1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89-agent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ESP32er now ships ESP32TemplateProject inside its agent directory. create_project copies its PlatformIO project and stamps the requested board/framework. The blink-and-print main.cpp supplies setup/loop for an Arduino build.</a:t>
            </a:r>
          </a:p>
          <a:p>
            <a:pPr>
              <a:spcAft>
                <a:spcPts val="400"/>
              </a:spcAft>
              <a:defRPr sz="1300">
                <a:solidFill>
                  <a:srgbClr val="B4BAAE"/>
                </a:solidFill>
                <a:latin typeface="Aptos"/>
              </a:defRPr>
            </a:pPr>
            <a:r>
              <a:t>Six tracked files include platformio.ini, src/main.cpp and README files for the root/include/lib/test directories. The narrow Git exception retains lib/README.md. No standalone GitHub repository or CI publication is implied by this bundled tree.</a:t>
            </a:r>
          </a:p>
          <a:p>
            <a:pPr>
              <a:spcAft>
                <a:spcPts val="400"/>
              </a:spcAft>
              <a:defRPr sz="1300">
                <a:solidFill>
                  <a:srgbClr val="B4BAAE"/>
                </a:solidFill>
                <a:latin typeface="Aptos"/>
              </a:defRPr>
            </a:pPr>
            <a:r>
              <a:t>Use a new project_dir, then build and inspect the result before upload/monitor. The copy merges with an existing destination and may overwrite matching template files. If the bundle is unavailable, pio project init falls back to minimal source when appropriate.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ESPHomer's scaffold_template now copies the complete bundled ESPHomeTemplateProject into project_dir. It contains the light, a sensor example, common/base.yaml, placeholder secrets.yaml.example and a project .gitignore.</a:t>
            </a:r>
          </a:p>
          <a:p>
            <a:pPr>
              <a:spcAft>
                <a:spcPts val="400"/>
              </a:spcAft>
              <a:defRPr sz="1200">
                <a:solidFill>
                  <a:srgbClr val="B4BAAE"/>
                </a:solidFill>
                <a:latin typeface="Aptos"/>
              </a:defRPr>
            </a:pPr>
            <a:r>
              <a:t>new_config remains a separate single-device generator. use_secrets=true emits !secret references and creates a sibling secrets.yaml only when one does not already exist. Keep actual credentials outside Git and inspect the generated device YAML before compilation.</a:t>
            </a:r>
          </a:p>
          <a:p>
            <a:pPr>
              <a:spcAft>
                <a:spcPts val="400"/>
              </a:spcAft>
              <a:defRPr sz="1200">
                <a:solidFill>
                  <a:srgbClr val="B4BAAE"/>
                </a:solidFill>
                <a:latin typeface="Aptos"/>
              </a:defRPr>
            </a:pPr>
            <a:r>
              <a:t>Use a new destination for scaffold_template because its merge can replace matching template files. Validate configuration before compile/upload. A real board, USB driver and later OTA setup remain necessary for hardware verification, which was not performed in this refresh.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Carried into v1.63.0 from `v1.4.2`: Tkinter was removed from the unstable runtime-facing dialog path and replaced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This stability-focused patch preceded the historical `v1.5.0` Playwrighter release and remains part of the v1.63.0 operator/runtime behavior.</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Run from source: create a virtual environment, install requirements, migrate, create a superuser, collect static files, and start Django.</a:t>
            </a:r>
          </a:p>
          <a:p>
            <a:pPr>
              <a:spcAft>
                <a:spcPts val="400"/>
              </a:spcAft>
              <a:defRPr sz="1000">
                <a:solidFill>
                  <a:srgbClr val="B4BAAE"/>
                </a:solidFill>
                <a:latin typeface="Aptos"/>
              </a:defRPr>
            </a:pPr>
            <a:r>
              <a:t>Open `/agent/` for chat. Load file/directory context for code questions. For PDFs, use Open in the canvas, then Use as context and Continue. Process images is off by default and adds configured vision calls only when selected.</a:t>
            </a:r>
          </a:p>
          <a:p>
            <a:pPr>
              <a:spcAft>
                <a:spcPts val="400"/>
              </a:spcAft>
              <a:defRPr sz="1000">
                <a:solidFill>
                  <a:srgbClr val="B4BAAE"/>
                </a:solidFill>
                <a:latin typeface="Aptos"/>
              </a:defRPr>
            </a:pPr>
            <a:r>
              <a:t>Keep Multi-Turn unchecked for direct Q&amp;A; enable Multi-Turn for tasks that need tools, wrapped agents, monitoring, or workflow seeding.</a:t>
            </a:r>
          </a:p>
          <a:p>
            <a:pPr>
              <a:spcAft>
                <a:spcPts val="400"/>
              </a:spcAft>
              <a:defRPr sz="1000">
                <a:solidFill>
                  <a:srgbClr val="B4BAAE"/>
                </a:solidFill>
                <a:latin typeface="Aptos"/>
              </a:defRPr>
            </a:pPr>
            <a:r>
              <a:t>Use `chat_agent_globber` to find files, `chat_agent_grepper` to search or read a range with output_mode=lines, and `chat_agent_editor` for an exact in-place change. Use content_b64 for line-ending-safe text transport and observe Editor's UTF-8 scope.</a:t>
            </a:r>
          </a:p>
          <a:p>
            <a:pPr>
              <a:spcAft>
                <a:spcPts val="400"/>
              </a:spcAft>
              <a:defRPr sz="10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For a deterministic MCP setup, invoke the `adding-external-mcp` skill and follow classify -&gt; import -&gt; doctor -&gt; activate -&gt; wait -&gt; status/list -&gt; call; do not treat a saved catalog row as a connected server.</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a:p>
            <a:pPr>
              <a:spcAft>
                <a:spcPts val="400"/>
              </a:spcAft>
              <a:defRPr sz="900">
                <a:solidFill>
                  <a:srgbClr val="B4BAAE"/>
                </a:solidFill>
                <a:latin typeface="Aptos"/>
              </a:defRPr>
            </a:pPr>
            <a:r>
              <a:t>For Internet measurement, call `chat_agent_netspeed_calculator` once with `latency` or `validate` for low-bandwidth diagnosis, or explicitly approve `full` / `download` / `upload` knowing a full run commonly transfers 100-200 MB; report the confidence interval and provider disagreement, not only one Mbps number.</a:t>
            </a:r>
          </a:p>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4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4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4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400">
                <a:solidFill>
                  <a:srgbClr val="B4BAAE"/>
                </a:solidFill>
                <a:latin typeface="Aptos"/>
              </a:defRPr>
            </a:pPr>
            <a:r>
              <a:t>Archive jobs can now be described directly in Multi-Turn or modeled visually in ACP: De-Compresser infers compress vs decompress from the `input` or `output` extension.</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4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76200" tIns="12700" bIns="12700">
            <a:norm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76200" tIns="12700" bIns="12700">
            <a:norm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76200" tIns="12700" bIns="12700">
            <a:norm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900">
                <a:solidFill>
                  <a:srgbClr val="B4BAAE"/>
                </a:solidFill>
                <a:latin typeface="Aptos"/>
              </a:defRPr>
            </a:pPr>
            <a:r>
              <a:t>For Tlamatini's complete intended cloud-model workload, activate Ollama Pro or a higher plan such as Max and sign in with the Ollama CLI. Free/local-only operation is a limited compatibility path, not the documented full-workload baseline; verify current plan pricing and limits on Ollama's official site.</a:t>
            </a:r>
          </a:p>
          <a:p>
            <a:pPr>
              <a:spcAft>
                <a:spcPts val="400"/>
              </a:spcAft>
              <a:defRPr sz="9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9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9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900">
                <a:solidFill>
                  <a:srgbClr val="B4BAAE"/>
                </a:solidFill>
                <a:latin typeface="Aptos"/>
              </a:defRPr>
            </a:pPr>
            <a:r>
              <a:t>When a newer packaged release exists, the intended upgrade path is in-app: `About -&gt; Check for updates`, not manual folder replacement.</a:t>
            </a:r>
          </a:p>
          <a:p>
            <a:pPr>
              <a:spcAft>
                <a:spcPts val="400"/>
              </a:spcAft>
              <a:defRPr sz="9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Ollama defaults are `ollama_repeat_penalty=1.2`, `ollama_repeat_last_n=256` and `ollama_num_ctx=1048576`. Both factory chains and the ChatOllama adapter carry them. The dedicated sampler section separates source behavior from the September 13 commit measurements and explains the local-model memory caveat. Keep new sampler keys aligned across both chains, adapter forwarding and the `[LLM-PARAMS]` banner.</a:t>
            </a:r>
          </a:p>
          <a:p>
            <a:pPr>
              <a:spcAft>
                <a:spcPts val="400"/>
              </a:spcAft>
              <a:defRPr sz="1100">
                <a:solidFill>
                  <a:srgbClr val="B4BAAE"/>
                </a:solidFill>
                <a:latin typeface="Aptos"/>
              </a:defRPr>
            </a:pPr>
            <a:r>
              <a:t>The checked-in default model baseline moved again in the recent Git window: the shared config now favors `glm-5.3:cloud`, so source or frozen installs that keep the shipped config should be documented as cloud-first unless the operator intentionally swaps models.</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a:p>
            <a:pPr>
              <a:spcAft>
                <a:spcPts val="400"/>
              </a:spcAft>
              <a:defRPr sz="12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2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2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2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2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3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3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current release documentation set. PDF canvas/context and stricter build/update carriage join measured networking, WAL-safe database movement, resilient Googler discovery and guided MCP onboarding. Encoding-safe search, guarded execution truth, private MCP runtimes, document agents and ranked prompt search remain carried.</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DB dropdown gives operators two GUI-first maintenance paths: `Backup database` creates a WAL-consistent verified snapshot, and `Set DB` stages a WAL-consistent chosen database for the next full start-up.</a:t>
            </a:r>
          </a:p>
          <a:p>
            <a:pPr>
              <a:spcAft>
                <a:spcPts val="400"/>
              </a:spcAft>
              <a:defRPr sz="14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400">
                <a:solidFill>
                  <a:srgbClr val="B4BAAE"/>
                </a:solidFill>
                <a:latin typeface="Aptos"/>
              </a:defRPr>
            </a:pPr>
            <a:r>
              <a:t>Both paths use `sqlite_copy.consistent_copy()`: SQLite's online backup API reads through committed WAL pages, the destination switches to DELETE journal mode, and `PRAGMA quick_check` must pass before success. Set DB never hot-swaps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Set DB writes a verified self-contained copy to `DB/ToLoad/db.sqlite3`; the real swap happens only at the top of `manage.py` before Django imports anything.</a:t>
            </a:r>
          </a:p>
          <a:p>
            <a:pPr>
              <a:spcAft>
                <a:spcPts val="400"/>
              </a:spcAft>
              <a:defRPr sz="1100">
                <a:solidFill>
                  <a:srgbClr val="B4BAAE"/>
                </a:solidFill>
                <a:latin typeface="Aptos"/>
              </a:defRPr>
            </a:pPr>
            <a:r>
              <a:t>When that swap runs, the previous live database and its `-wal`/`-shm`/`-journal` family move into `DB/Older/&lt;timestamp&gt;/`, creating a rollback trail instead of overwriting history.</a:t>
            </a:r>
          </a:p>
          <a:p>
            <a:pPr>
              <a:spcAft>
                <a:spcPts val="400"/>
              </a:spcAft>
              <a:defRPr sz="1100">
                <a:solidFill>
                  <a:srgbClr val="B4BAAE"/>
                </a:solidFill>
                <a:latin typeface="Aptos"/>
              </a:defRPr>
            </a:pPr>
            <a:r>
              <a:t>Stale sidecars beside the destination are removed before promotion so SQLite can never replay pages belonging to the previous database over the newly selected file.</a:t>
            </a:r>
          </a:p>
          <a:p>
            <a:pPr>
              <a:spcAft>
                <a:spcPts val="400"/>
              </a:spcAft>
              <a:defRPr sz="1100">
                <a:solidFill>
                  <a:srgbClr val="B4BAAE"/>
                </a:solidFill>
                <a:latin typeface="Aptos"/>
              </a:defRPr>
            </a:pPr>
            <a:r>
              <a:t>Reconnect is not enough for this path: the operator must fully restart Tlamatini so the pre-Django swap window opens again.</a:t>
            </a:r>
          </a:p>
          <a:p>
            <a:pPr>
              <a:spcAft>
                <a:spcPts val="400"/>
              </a:spcAft>
              <a:defRPr sz="1100">
                <a:solidFill>
                  <a:srgbClr val="B4BAAE"/>
                </a:solidFill>
                <a:latin typeface="Aptos"/>
              </a:defRPr>
            </a:pPr>
            <a:r>
              <a:t>Copy verification is fail-safe: an unreadable, inconsistent, or unchecked result is reported as failure rather than called a backup. Startup preserves the previous live database if promotion cannot complete safely.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2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200">
                <a:solidFill>
                  <a:srgbClr val="B4BAAE"/>
                </a:solidFill>
                <a:latin typeface="Aptos"/>
              </a:defRPr>
            </a:pPr>
            <a:r>
              <a:t>The reachable local tag v1.64.0 resolves to 64abcdd. Current source HEAD is 64abcdd, 0 commit(s) beyond that tag. Fetched origin/main resolves to 64abcdd. Origin does not advertise v1.64.0; it is a local tag. Runtime version resolution remains Git/build-derived. A source revision beyond the tag is not a new tagged release.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76200" tIns="12700" bIns="12700">
            <a:normAutofit/>
          </a:bodyPr>
          <a:lstStyle/>
          <a:p>
            <a:pPr algn="l"/>
            <a:r>
              <a:rPr sz="900" b="0">
                <a:solidFill>
                  <a:srgbClr val="B4BAAE"/>
                </a:solidFill>
                <a:latin typeface="Cascadia Mono"/>
              </a:rPr>
              <a:t>Resolved current version: 1.63.0 | build: 1.63.0</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76200" tIns="12700" bIns="12700">
            <a:norm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glm-5.3:cloud
ollama pull jcyhsiao/qwen3.5cloud:latest
ollama pull gemma4:cloud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Activate Ollama Pro or a higher plan such as Max for Tlamatini's complete intended functionality, then run `ollama signin` so the host is linked before using the shipped `:cloud` defaults. This requirement is not a sponsorship; verify current plan details directly with Ollama.</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glm-5.3:cloud</a:t>
            </a:r>
          </a:p>
          <a:p>
            <a:pPr>
              <a:spcAft>
                <a:spcPts val="400"/>
              </a:spcAft>
              <a:defRPr sz="1500">
                <a:solidFill>
                  <a:srgbClr val="B4BAAE"/>
                </a:solidFill>
                <a:latin typeface="Aptos"/>
              </a:defRPr>
            </a:pPr>
            <a:r>
              <a:t>jcyhsiao/qwen3.5cloud:latest</a:t>
            </a:r>
          </a:p>
          <a:p>
            <a:pPr>
              <a:spcAft>
                <a:spcPts val="400"/>
              </a:spcAft>
              <a:defRPr sz="1500">
                <a:solidFill>
                  <a:srgbClr val="B4BAAE"/>
                </a:solidFill>
                <a:latin typeface="Aptos"/>
              </a:defRPr>
            </a:pPr>
            <a:r>
              <a:t>gemma4:cloud</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76200" tIns="12700" bIns="12700">
            <a:norm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Exec Report is a Multi-Turn-only transparency layer that appends operation tables for every wrapped agent family, including observational and read-only agents; `_EXEC_REPORT_TOOLS` only refines grouping and style.</a:t>
            </a:r>
          </a:p>
          <a:p>
            <a:pPr>
              <a:spcAft>
                <a:spcPts val="400"/>
              </a:spcAft>
              <a:defRPr sz="1100">
                <a:solidFill>
                  <a:srgbClr val="B4BAAE"/>
                </a:solidFill>
                <a:latin typeface="Aptos"/>
              </a:defRPr>
            </a:pPr>
            <a:r>
              <a:t>Rows are recorded from the live tool-call stream rather than guessed from the LLM prose, so the report is the operational ground truth.</a:t>
            </a:r>
          </a:p>
          <a:p>
            <a:pPr>
              <a:spcAft>
                <a:spcPts val="400"/>
              </a:spcAft>
              <a:defRPr sz="1100">
                <a:solidFill>
                  <a:srgbClr val="B4BAAE"/>
                </a:solidFill>
                <a:latin typeface="Aptos"/>
              </a:defRPr>
            </a:pPr>
            <a:r>
              <a:t>Each row receives a deterministic SUCCESS/FAILURE verdict from the agent's structured self-report: completed diagnostics and intact work are green, while degraded, not-done, and agent-error statuses are red under the guarded five-class vocabulary.</a:t>
            </a:r>
          </a:p>
          <a:p>
            <a:pPr>
              <a:spcAft>
                <a:spcPts val="400"/>
              </a:spcAft>
              <a:defRPr sz="11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76200" tIns="12700" bIns="12700">
            <a:norm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762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1498</a:t>
            </a:r>
          </a:p>
        </p:txBody>
      </p:sp>
      <p:sp>
        <p:nvSpPr>
          <p:cNvPr id="12" name="Rounded Rectangle 11"/>
          <p:cNvSpPr/>
          <p:nvPr/>
        </p:nvSpPr>
        <p:spPr>
          <a:xfrm>
            <a:off x="2542032"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88336"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AGENTS</a:t>
            </a:r>
          </a:p>
        </p:txBody>
      </p:sp>
      <p:sp>
        <p:nvSpPr>
          <p:cNvPr id="14" name="TextBox 13"/>
          <p:cNvSpPr txBox="1"/>
          <p:nvPr/>
        </p:nvSpPr>
        <p:spPr>
          <a:xfrm>
            <a:off x="2688336"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89</a:t>
            </a:r>
          </a:p>
        </p:txBody>
      </p:sp>
      <p:sp>
        <p:nvSpPr>
          <p:cNvPr id="15" name="Rounded Rectangle 14"/>
          <p:cNvSpPr/>
          <p:nvPr/>
        </p:nvSpPr>
        <p:spPr>
          <a:xfrm>
            <a:off x="4334256"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MIGRATIONS</a:t>
            </a:r>
          </a:p>
        </p:txBody>
      </p:sp>
      <p:sp>
        <p:nvSpPr>
          <p:cNvPr id="17" name="TextBox 16"/>
          <p:cNvSpPr txBox="1"/>
          <p:nvPr/>
        </p:nvSpPr>
        <p:spPr>
          <a:xfrm>
            <a:off x="4480560"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208</a:t>
            </a:r>
          </a:p>
        </p:txBody>
      </p:sp>
      <p:sp>
        <p:nvSpPr>
          <p:cNvPr id="18" name="Rounded Rectangle 17"/>
          <p:cNvSpPr/>
          <p:nvPr/>
        </p:nvSpPr>
        <p:spPr>
          <a:xfrm>
            <a:off x="6126480"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72784"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JS</a:t>
            </a:r>
          </a:p>
        </p:txBody>
      </p:sp>
      <p:sp>
        <p:nvSpPr>
          <p:cNvPr id="20" name="TextBox 19"/>
          <p:cNvSpPr txBox="1"/>
          <p:nvPr/>
        </p:nvSpPr>
        <p:spPr>
          <a:xfrm>
            <a:off x="6272784"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43</a:t>
            </a:r>
          </a:p>
        </p:txBody>
      </p:sp>
      <p:sp>
        <p:nvSpPr>
          <p:cNvPr id="21" name="Rounded Rectangle 20"/>
          <p:cNvSpPr/>
          <p:nvPr/>
        </p:nvSpPr>
        <p:spPr>
          <a:xfrm>
            <a:off x="7918704"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65008"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CSS</a:t>
            </a:r>
          </a:p>
        </p:txBody>
      </p:sp>
      <p:sp>
        <p:nvSpPr>
          <p:cNvPr id="23" name="TextBox 22"/>
          <p:cNvSpPr txBox="1"/>
          <p:nvPr/>
        </p:nvSpPr>
        <p:spPr>
          <a:xfrm>
            <a:off x="8065008"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13</a:t>
            </a:r>
          </a:p>
        </p:txBody>
      </p:sp>
      <p:sp>
        <p:nvSpPr>
          <p:cNvPr id="24" name="Rounded Rectangle 23"/>
          <p:cNvSpPr/>
          <p:nvPr/>
        </p:nvSpPr>
        <p:spPr>
          <a:xfrm>
            <a:off x="971092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57232"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HTML</a:t>
            </a:r>
          </a:p>
        </p:txBody>
      </p:sp>
      <p:sp>
        <p:nvSpPr>
          <p:cNvPr id="26" name="TextBox 25"/>
          <p:cNvSpPr txBox="1"/>
          <p:nvPr/>
        </p:nvSpPr>
        <p:spPr>
          <a:xfrm>
            <a:off x="985723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76200" tIns="12700" bIns="12700">
            <a:norm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64abcdd - Bumping the empowering Video-Analyzer agent to 1.63.0, by angelahack1</a:t>
            </a:r>
          </a:p>
          <a:p>
            <a:pPr>
              <a:spcAft>
                <a:spcPts val="400"/>
              </a:spcAft>
              <a:defRPr sz="1500">
                <a:solidFill>
                  <a:srgbClr val="B4BAAE"/>
                </a:solidFill>
                <a:latin typeface="Aptos"/>
              </a:defRPr>
            </a:pPr>
            <a:r>
              <a:t>Resolved version: 1.63.0 (environment release target)</a:t>
            </a:r>
          </a:p>
          <a:p>
            <a:pPr>
              <a:spcAft>
                <a:spcPts val="400"/>
              </a:spcAft>
              <a:defRPr sz="1500">
                <a:solidFill>
                  <a:srgbClr val="B4BAAE"/>
                </a:solidFill>
                <a:latin typeface="Aptos"/>
              </a:defRPr>
            </a:pPr>
            <a:r>
              <a:t>Generated on September 20, 2026 09:04 AM UTC-0600</a:t>
            </a:r>
          </a:p>
          <a:p>
            <a:pPr>
              <a:spcAft>
                <a:spcPts val="400"/>
              </a:spcAft>
              <a:defRPr sz="1500">
                <a:solidFill>
                  <a:srgbClr val="B4BAAE"/>
                </a:solidFill>
                <a:latin typeface="Aptos"/>
              </a:defRPr>
            </a:pPr>
            <a:r>
              <a:t>Inventory scope: 1498 files = 1496 tracked + 2 git-unignored working-tree additions</a:t>
            </a:r>
          </a:p>
          <a:p>
            <a:pPr>
              <a:spcAft>
                <a:spcPts val="400"/>
              </a:spcAft>
              <a:defRPr sz="1500">
                <a:solidFill>
                  <a:srgbClr val="B4BAAE"/>
                </a:solidFill>
                <a:latin typeface="Aptos"/>
              </a:defRPr>
            </a:pPr>
            <a:r>
              <a:t>Multi-Turn tools: 109; wrapped chat-agent tools: 67; skills: 29</a:t>
            </a:r>
          </a:p>
          <a:p>
            <a:pPr>
              <a:spcAft>
                <a:spcPts val="400"/>
              </a:spcAft>
              <a:defRPr sz="1500">
                <a:solidFill>
                  <a:srgbClr val="B4BAAE"/>
                </a:solidFill>
                <a:latin typeface="Aptos"/>
              </a:defRPr>
            </a:pPr>
            <a:r>
              <a:t>Python requirements: 82; authoritative agent-description rows: 89</a:t>
            </a:r>
          </a:p>
          <a:p>
            <a:pPr>
              <a:spcAft>
                <a:spcPts val="400"/>
              </a:spcAft>
              <a:defRPr sz="1500">
                <a:solidFill>
                  <a:srgbClr val="B4BAAE"/>
                </a:solidFill>
                <a:latin typeface="Aptos"/>
              </a:defRPr>
            </a:pPr>
            <a:r>
              <a:t>Binary assets: 256; index paths absent locally: 0 (not counted as bytes/lines)</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64abcdd on 2026-09-19</a:t>
            </a:r>
          </a:p>
          <a:p>
            <a:pPr>
              <a:spcAft>
                <a:spcPts val="400"/>
              </a:spcAft>
              <a:defRPr sz="1300">
                <a:solidFill>
                  <a:srgbClr val="B4BAAE"/>
                </a:solidFill>
                <a:latin typeface="Aptos"/>
              </a:defRPr>
            </a:pPr>
            <a:r>
              <a:t>Bumping the empowering Video-Analyzer agent to 1.63.0, by angelahack1</a:t>
            </a:r>
          </a:p>
          <a:p>
            <a:pPr>
              <a:spcAft>
                <a:spcPts val="400"/>
              </a:spcAft>
              <a:defRPr sz="1300">
                <a:solidFill>
                  <a:srgbClr val="B4BAAE"/>
                </a:solidFill>
                <a:latin typeface="Aptos"/>
              </a:defRPr>
            </a:pPr>
            <a:r>
              <a:t>Commits since then: 0</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No commits fall in this Git window.</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TAGGED FOUNDATION AND SUBSEQUENT SOURCE CHANGES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NetSpeed-Calculator: agent 88 / wrapped launcher 66, with multi-provider confidence intervals, I-squared heterogeneity, bufferbloat, named endpoint failures, and tier-D metered-bandwidth gating.</a:t>
            </a:r>
          </a:p>
          <a:p>
            <a:pPr>
              <a:spcAft>
                <a:spcPts val="400"/>
              </a:spcAft>
              <a:defRPr sz="1000">
                <a:solidFill>
                  <a:srgbClr val="B4BAAE"/>
                </a:solidFill>
                <a:latin typeface="Aptos"/>
              </a:defRPr>
            </a:pPr>
            <a:r>
              <a:t>Googler: four plain-HTTP server-rendered routes first, then visible Chrome/bundled Chromium across seven browser routes, with bounded retries, answer attribution, structured dork presets/aliases, URL-only file hunts, and a lawful-use boundary.</a:t>
            </a:r>
          </a:p>
          <a:p>
            <a:pPr>
              <a:spcAft>
                <a:spcPts val="400"/>
              </a:spcAft>
              <a:defRPr sz="1000">
                <a:solidFill>
                  <a:srgbClr val="B4BAAE"/>
                </a:solidFill>
                <a:latin typeface="Aptos"/>
              </a:defRPr>
            </a:pPr>
            <a:r>
              <a:t>WAL-safe SQLite: online backup API, self-contained DELETE-journal copies, quick_check proof, and sidecar-safe Backup DB / Set DB / startup promotion.</a:t>
            </a:r>
          </a:p>
          <a:p>
            <a:pPr>
              <a:spcAft>
                <a:spcPts val="400"/>
              </a:spcAft>
              <a:defRPr sz="1000">
                <a:solidFill>
                  <a:srgbClr val="B4BAAE"/>
                </a:solidFill>
                <a:latin typeface="Aptos"/>
              </a:defRPr>
            </a:pPr>
            <a:r>
              <a:t>External MCP Adder: the 29th skill codifies transport classification, secret-separated import, Doctor, activation, wait, status/list, and call.</a:t>
            </a:r>
          </a:p>
          <a:p>
            <a:pPr>
              <a:spcAft>
                <a:spcPts val="400"/>
              </a:spcAft>
              <a:defRPr sz="1000">
                <a:solidFill>
                  <a:srgbClr val="B4BAAE"/>
                </a:solidFill>
                <a:latin typeface="Aptos"/>
              </a:defRPr>
            </a:pPr>
            <a:r>
              <a:t>Deep Internet Research: append-only prompt 118 requests a long, link-rich Multi-Turn + Exec Report research run without hiding tool prerequisites.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reachable local tag v1.64.0 resolves to 64abcdd. Current source HEAD is 64abcdd, 0 commit(s) beyond that tag. Fetched origin/main resolves to 64abcdd. Origin does not advertise v1.64.0; it is a local tag. Runtime version resolution remains Git/build-derived. A source revision beyond the tag is not a new tagged release.</a:t>
            </a:r>
          </a:p>
          <a:p>
            <a:pPr>
              <a:spcAft>
                <a:spcPts val="400"/>
              </a:spcAft>
              <a:defRPr sz="1000">
                <a:solidFill>
                  <a:srgbClr val="B4BAAE"/>
                </a:solidFill>
                <a:latin typeface="Aptos"/>
              </a:defRPr>
            </a:pPr>
            <a:r>
              <a:t>Complete cloud-model operation requires Ollama Pro or higher; this is an operating requirement, not sponsorship, and current plan details belong to Ollama's official site.</a:t>
            </a:r>
          </a:p>
          <a:p>
            <a:pPr>
              <a:spcAft>
                <a:spcPts val="400"/>
              </a:spcAft>
              <a:defRPr sz="1000">
                <a:solidFill>
                  <a:srgbClr val="B4BAAE"/>
                </a:solidFill>
                <a:latin typeface="Aptos"/>
              </a:defRPr>
            </a:pPr>
            <a:r>
              <a:t>Private contact synchronization merges same-machine sources only for the explicit keyed build; public output and source snapshots remain free of contact PII.</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Catalog now stands at 89 workflow agents and 109 built-in Multi-Turn tools (20 core + 67 wrapped + 12 ACPX/Skill + 10 External-MCP supervisors), with 29 skills; dynamic ext__ remotes are separate.</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76200" tIns="12700" bIns="12700">
            <a:norm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383,447</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76200" tIns="12700" bIns="12700">
            <a:norm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494,930</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76200" tIns="12700" bIns="12700">
            <a:norm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18</a:t>
            </a:r>
          </a:p>
        </p:txBody>
      </p:sp>
      <p:sp>
        <p:nvSpPr>
          <p:cNvPr id="18" name="TextBox 17"/>
          <p:cNvSpPr txBox="1"/>
          <p:nvPr/>
        </p:nvSpPr>
        <p:spPr>
          <a:xfrm>
            <a:off x="841248" y="2788920"/>
            <a:ext cx="10378440" cy="2926080"/>
          </a:xfrm>
          <a:prstGeom prst="rect">
            <a:avLst/>
          </a:prstGeom>
          <a:noFill/>
        </p:spPr>
        <p:txBody>
          <a:bodyPr wrap="square" anchor="t" lIns="12700" rIns="76200" tIns="12700" bIns="12700">
            <a:normAutofit/>
          </a:bodyPr>
          <a:lstStyle/>
          <a:p>
            <a:pPr algn="l"/>
            <a:r>
              <a:rPr sz="800" b="0">
                <a:solidFill>
                  <a:srgbClr val="E8E8DE"/>
                </a:solidFill>
                <a:latin typeface="Cascadia Mono"/>
              </a:rPr>
              <a:t>LANGUAGE                 FILES   EFFECTIVE      TOTAL   SHARE
Python                   693     196,197    281,417  51.2%
JavaScript module          5     102,381    103,752  26.7%
Markdown                 192      29,481     38,983   7.7%
JavaScript                66      21,599     27,647   5.6%
CSS                       18      12,304     15,382   3.2%
JSON                      13       6,249      6,249   1.6%
Other text                38       5,792      6,769   1.5%
YAML                      96       2,303      6,202   0.6%
PowerShell                11       1,786      2,445   0.5%
Prompt template            2       1,382      1,524   0.4%
Text                       9       1,205      1,531   0.3%
HTML                       5       1,146      1,192   0.3%
Tlamatini Flow             4         837        837   0.2%
SVG                       82         443        460   0.1%
Batch                      4         264        380   0.1%
C++                        2          50         87   0.0%
Protocol Buffers           1          20         33   0.0%
INI                        1           8         40   0.0%</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76200" tIns="12700" bIns="12700">
            <a:normAutofit/>
          </a:bodyPr>
          <a:lstStyle/>
          <a:p>
            <a:pPr algn="l"/>
            <a:r>
              <a:rPr sz="800" b="0">
                <a:solidFill>
                  <a:srgbClr val="E8E8DE"/>
                </a:solidFill>
                <a:latin typeface="Cascadia Mono"/>
              </a:rPr>
              <a:t>PATH                                                     LANGUAGE     EFFECTIVE   TOTAL
...agent/static/agent/vendor/pdfjs/build/pdf.worker.mjs JavaScript    64,294  65,084
Tlamatini/agent/static/agent/vendor/pdfjs/build/pdf.mjs JavaScript    27,965  28,266
...i/agent/static/agent/vendor/pdfjs/web/pdf_viewer.mjs JavaScript     9,659   9,834
Tlamatini/agent/views.py                                Python         8,693  12,739
Tlamatini/agent/tests.py                                Python         5,700   7,452
...i/agent/static/agent/vendor/pdfjs/web/pdf_viewer.css CSS            5,533   6,409
Tlamatini/agent/agents/flowcreator/flow_catalog.json    JSON           5,194   5,194
Tlamatini/agent/doc_generation/complete_project_docs.py Python         4,098   4,613
Tlamatini/agent/agents/latexer/latexer.py               Python         3,362   4,678
Tlamatini/agent/tools.py                                Python         3,309   4,996
BookOfTlamatini.md                                      Markdown       3,055   4,378
docs/claude/recent-fixes.md                             Markdown       2,611   3,438
Tlamatini/agent/agents/flowcreator/agentic_skill.md     Markdown       2,419   2,665
Tlamatini/agent/chat_agent_registry.py                  Python         2,167   2,242</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REPRODUCIBLE SOURCE MEASUREMENTS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Line Inventory Method</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Counting boundary</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primary inventory uses git ls-files. Nonignored untracked additions, when present, are labeled separately. Ignored build output, caches and environments are excluded.</a:t>
            </a:r>
          </a:p>
          <a:p>
            <a:pPr>
              <a:spcAft>
                <a:spcPts val="400"/>
              </a:spcAft>
              <a:defRPr sz="1400">
                <a:solidFill>
                  <a:srgbClr val="B4BAAE"/>
                </a:solidFill>
                <a:latin typeface="Aptos"/>
              </a:defRPr>
            </a:pPr>
            <a:r>
              <a:t>0 index paths are absent locally (pending deletions): retained in the index tree, excluded from line and binary totals.</a:t>
            </a:r>
          </a:p>
          <a:p>
            <a:pPr>
              <a:spcAft>
                <a:spcPts val="400"/>
              </a:spcAft>
              <a:defRPr sz="1400">
                <a:solidFill>
                  <a:srgbClr val="B4BAAE"/>
                </a:solidFill>
                <a:latin typeface="Aptos"/>
              </a:defRPr>
            </a:pPr>
            <a:r>
              <a:t>Physical lines include blanks and comments in text files. Effective lines exclude blank and comment-only lines. Python also excludes module, class and function docstrings identified by AST parsing.</a:t>
            </a:r>
          </a:p>
          <a:p>
            <a:pPr>
              <a:spcAft>
                <a:spcPts val="400"/>
              </a:spcAft>
              <a:defRPr sz="1400">
                <a:solidFill>
                  <a:srgbClr val="B4BAAE"/>
                </a:solidFill>
                <a:latin typeface="Aptos"/>
              </a:defRPr>
            </a:pPr>
            <a:r>
              <a:t>Executable Python multiline strings count every nonblank occupied line. The 2026-09-12 correction replaced the token-start-only undercount. Comparisons with earlier dossiers require recounting them.</a:t>
            </a:r>
          </a:p>
          <a:p>
            <a:pPr>
              <a:spcAft>
                <a:spcPts val="400"/>
              </a:spcAft>
              <a:defRPr sz="1400">
                <a:solidFill>
                  <a:srgbClr val="B4BAAE"/>
                </a:solidFill>
                <a:latin typeface="Aptos"/>
              </a:defRPr>
            </a:pPr>
            <a:r>
              <a:t>Other languages use comment stripping rather than semantic execution analysis. Markdown counts authored nonblank documentation. Binary and media assets have no source-line count. Published historical source snapshots contribute text lines but do not increase runtime module or agent totals.</a:t>
            </a:r>
          </a:p>
          <a:p>
            <a:pPr>
              <a:spcAft>
                <a:spcPts val="400"/>
              </a:spcAft>
              <a:defRPr sz="1400">
                <a:solidFill>
                  <a:srgbClr val="B4BAAE"/>
                </a:solidFill>
                <a:latin typeface="Aptos"/>
              </a:defRPr>
            </a:pPr>
            <a:r>
              <a:t>The generated context JSON retains per-file physical/effective counts, per-language totals and all inventory paths. Both dossiers contain the complete repository tree and a separate new-asset appendix.</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Commit 64abcdd: Bumping the empowering Video-Analyzer agent to 1.63.0, by angelahack1</a:t>
            </a:r>
          </a:p>
          <a:p>
            <a:pPr>
              <a:spcAft>
                <a:spcPts val="400"/>
              </a:spcAft>
              <a:defRPr sz="1400">
                <a:solidFill>
                  <a:srgbClr val="B4BAAE"/>
                </a:solidFill>
                <a:latin typeface="Aptos"/>
              </a:defRPr>
            </a:pPr>
            <a:r>
              <a:t>Commit 11d8130: Extends Video-Analyzer with timestamped audio-track transcription and audiovisual summaries, retaining robotics as the default. Adds PyAV decoding, local faster-whisper, bounded visual batches, structured artifacts and migration 0207. Parametrizer, UI, wrapped tools, MCP and packaging contracts move together.</a:t>
            </a:r>
          </a:p>
          <a:p>
            <a:pPr>
              <a:spcAft>
                <a:spcPts val="400"/>
              </a:spcAft>
              <a:defRPr sz="1400">
                <a:solidFill>
                  <a:srgbClr val="B4BAAE"/>
                </a:solidFill>
                <a:latin typeface="Aptos"/>
              </a:defRPr>
            </a:pPr>
            <a:r>
              <a:t>Commit 2cf8e7f: Carries the published v1.63.0 tag even though its commit subject names 1.62.2. Git tags, not commit-subject prose, determine the current release version. Later Video-Analyzer source is at 11d8130.</a:t>
            </a:r>
          </a:p>
          <a:p>
            <a:pPr>
              <a:spcAft>
                <a:spcPts val="400"/>
              </a:spcAft>
              <a:defRPr sz="1400">
                <a:solidFill>
                  <a:srgbClr val="B4BAAE"/>
                </a:solidFill>
                <a:latin typeface="Aptos"/>
              </a:defRPr>
            </a:pPr>
            <a:r>
              <a:t>Commit 5275f44: Repairs unambiguous external-MCP scalar mismatches before schema validation: Boolean/string enum spelling, true/false strings and numeric strings. Ambiguous values remain validation errors. Nine focused regression cases accompany the change.</a:t>
            </a:r>
          </a:p>
          <a:p>
            <a:pPr>
              <a:spcAft>
                <a:spcPts val="400"/>
              </a:spcAft>
              <a:defRPr sz="1400">
                <a:solidFill>
                  <a:srgbClr val="B4BAAE"/>
                </a:solidFill>
                <a:latin typeface="Aptos"/>
              </a:defRPr>
            </a:pPr>
            <a:r>
              <a:t>Commit 2bac945: The last committed dossier baseline covers Whisperer trailing silence at 3.5 seconds and the jcyhsiao/qwen3.5cloud:latest model tag, with migrations 0205/0206. This refresh compares that committed baseline with current source.</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3-Day Commit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2026-09-19 | 64abcdd | Bumping the empowering Video-Analyzer agent to 1.63.0, by angelahack1</a:t>
            </a:r>
          </a:p>
          <a:p>
            <a:pPr>
              <a:spcAft>
                <a:spcPts val="400"/>
              </a:spcAft>
              <a:defRPr sz="1200">
                <a:solidFill>
                  <a:srgbClr val="B4BAAE"/>
                </a:solidFill>
                <a:latin typeface="Aptos"/>
              </a:defRPr>
            </a:pPr>
            <a:r>
              <a:t>2026-09-19 | 11d8130 | Empowering Video-Analyzer agent!, by angelahack1</a:t>
            </a:r>
          </a:p>
          <a:p>
            <a:pPr>
              <a:spcAft>
                <a:spcPts val="400"/>
              </a:spcAft>
              <a:defRPr sz="1200">
                <a:solidFill>
                  <a:srgbClr val="B4BAAE"/>
                </a:solidFill>
                <a:latin typeface="Aptos"/>
              </a:defRPr>
            </a:pPr>
            <a:r>
              <a:t>2026-09-19 | 2cf8e7f | Bumping to version 1.62.2, by angelahack1</a:t>
            </a:r>
          </a:p>
          <a:p>
            <a:pPr>
              <a:spcAft>
                <a:spcPts val="400"/>
              </a:spcAft>
              <a:defRPr sz="1200">
                <a:solidFill>
                  <a:srgbClr val="B4BAAE"/>
                </a:solidFill>
                <a:latin typeface="Aptos"/>
              </a:defRPr>
            </a:pPr>
            <a:r>
              <a:t>2026-09-19 | 5275f44 | External MCPs: repair a near-miss scalar instead of losing the whole tool call, by angelahack1</a:t>
            </a:r>
          </a:p>
          <a:p>
            <a:pPr>
              <a:spcAft>
                <a:spcPts val="400"/>
              </a:spcAft>
              <a:defRPr sz="1200">
                <a:solidFill>
                  <a:srgbClr val="B4BAAE"/>
                </a:solidFill>
                <a:latin typeface="Aptos"/>
              </a:defRPr>
            </a:pPr>
            <a:r>
              <a:t>2026-09-19 | 2bac945 | Setting more comfortable value of sleep stop timer to 3.5s, and setting jcyhsiao/qwen3.5cloud:latest to replace the obsolete qwen3.5:cloud, by angelahack1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Tlamatini/
|-- .gitattributes
|-- .gitignore
|-- .mcp.json
|-- _acpx_pipeline_demo_report.md
|-- ACPX.md
|-- agents_descriptions.md
|-- apply_update.ps1
|-- audit_dependencies.py
|-- AvatarImprovementByClaude.md
|-- backup_db.py
|-- BookOfTlamatini.md
|-- build.py
|-- build_all.cmd
|-- build_complete_private_release.py
|-- build_complete_public_release.py
|-- build_installer.py
|-- build_runtime_assets.py
|-- build_uninstaller.py
|-- check_private_data.py
|-- Claude-Desktop-KALI-MCP-Session.md
|-- CLAUDE.md
|-- copy_source_assets.py
|-- CreateShortcut.json
|-- CreateShortcut.ps1
|-- DesignOfIncludingMemoryMCPS.txt
|-- Discoverier-new-agent.md
|-- eslint.config.mjs
|-- example_of_prompt_to_make_de-compresser_agent.txt
|-- FirstFinalPlanToSpeedUp.md
|-- freeingport8000.ps1</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GEMINI.md
|-- git_deny_go.py
|-- image.png
|-- install.py
|-- KIMI.md
|-- LICENSE
|-- MCPMemoriesFlowCreation.flw
|-- MessagingConnectorAssistant_Design.md
|-- ollama_credits.py
|-- OllamaPricing.png
|-- OOB_shift_reaper-and-NAMU-Design.pdf
|-- package.json
|-- PIVOT_CHANGES.md
|-- pnpm-lock.yaml
|-- preserved_user_state.json
|-- private_targets.example.json
|-- PromptDesigner.jpg
|-- README.md
|-- regen_secrets.py
|-- register_flw.ps1
|-- RemoveShortcut.ps1
|-- requirements.txt
|-- test_author_banner.py
|-- test_check_private_data.py
|-- test_perf_3x_visual.py
|-- test_private_data_guard.py
|-- Tlamatini-Kali-Setup.md
|-- Tlamatini.ico
|-- Tlamatini.jpg
|-- Tlamatini.ps1
|-- tlamatini_acpx.py</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tlamatini_app_summary.pdf
|-- Tlamatini_eXtended_Artificial_Intelligence_Humanly_Tempered.pptx
|-- TLAMATINI_MCP.md
|-- tlamatini_mcp_server.py
|-- TlamatiniConsoleShieldByClaude.md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project_agent_table_wiped_on_boot.md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
|   |   |-- project_native_picker_tcltk_fix.md
|   |   |-- project_native_toast.md</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project_netspeed_calculator_agent.md
|   |   |-- project_numpy_pyinstaller.md
|   |   |-- project_ollama_source_build_breaks_embeddings.md
|   |   |-- project_pdfer_agent.md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- 6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project_windower_agent.md
|   |   `-- user_profile.md
|   `-- skills/
|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grepper_lines_visible.py
|       |       |-- grepper_login_probe.py</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- 7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latexer_openmp_e2e.py
|       |       |-- latexer_stepbystep_5.py
|       |       |-- mcp_playwright_suite.py
|       |       |-- pdfer_nuance_visible.py
|       |       |-- playwrighter_run.py
|       |       |-- pptxer_visible.py
|       |       |-- qualify.py
|       |       |-- questions.py
|       |       |-- README.md
|       |       |-- requirements.txt
|       |       |-- run_test.py
|       |       |-- shoter_shot.py
|       |       |-- step_by_step_catalog.py
|       |       |-- step_by_step_catalog.py.antes_shoter
|       |       |-- talk_test.py
|       |       |-- uninstaller_visible.py
|       |       |-- voice_commands_visible.py
|       |       `-- wrapped_questions.py
|       |-- tlamatini-self-modify-inclusion/
|       |   |-- SKILL.md
|       |   `-- scripts/
|       |       `-- sweep_self_modify.py
|       `-- tlamatini-self-update-inclusion/
|           |-- SKILL.md
|           `-- scripts/
|               `-- sweep_self_update.py
|-- .codex/
|   `-- skills/
|       |-- full-project-pdf-dossier/
|       |   `-- SKILL.md
|       `-- overlap-safe-pptx-dossier/</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- 8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SKILL.md
|-- .gemini/
|   `-- skills/
|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- 9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mcp_playwright_suite.py
|       |       |-- playwrighter_run.py
|       |       |-- qualify.py
|       |       |-- questions.py
|       |       |-- README.md
|       |       |-- requirements.txt
|       |       |-- run_test.py
|       |       |-- shoter_shot.py
|       |       |-- step_by_step_catalog.py
|       |       |-- step_by_step_catalog.py.antes_shoter
|       |       |-- talk_test.py
|       |       `-- wrapped_questions.py
|       |-- tlamatini-self-modify-inclusion/
|       |   |-- SKILL.md
|       |   `-- scripts/
|       |       `-- sweep_self_modify.py
|       `-- tlamatini-self-update-inclusion/
|           |-- SKILL.md
|           `-- scripts/
|               `-- sweep_self_update.py
|-- .github/
|   `-- workflows/
|       `-- name-guard.yml
|-- .scanning/
|   `-- finding-policy.json
|-- AuxTests/
|   `-- mypdf2.py
|-- demo_flows/
|   |-- demo1_globber_to_parametrizer_to_zavuerer.flw
|   |-- demo2_apirer_to_parametrizer_to_zavuerer.flw
|   `-- demo3_zavuerer_health_to_parametrizer_to_filecreator.flw</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- 10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docs/
|   |-- agent-coverage.md
|   |-- companion-app-discovery.md
|   |-- desktop-input-and-flow-contracts.md
|   |-- external_mcp_bulletproof_architecture.md
|   |-- GUI-Manager-design.md
|   |-- model-configuration-verification.md
|   |-- model_configuration.md
|   |-- pdf-canvas.md
|   |-- self-management-carriage.md
|   |-- stm32er_all_families_proposal.md
|   `-- claude/
|       |-- acpx.md
|       |-- agents.md
|       |-- architecture.md
|       |-- exec-report.md
|       |-- frontend.md
|       |-- gotchas.md
|       |-- INDEX.md
|       |-- mcp-tools.md
|       |-- multi-turn.md
|       `-- recent-fixes.md
|-- pyinstaller_hooks/
|   |-- hook-numpy.py
|   |-- hook-pymupdf.py
|   `-- hook-torch.py
|-- scripts/
|   |-- check_js_parse.mjs
|   |-- pptxer_visibility_gallery.py
|   |-- update_flow_catalog.py
|   |-- vendor_frontend.py</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- 11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vendor_pdfjs.py
|   |-- verify_latexer_styles.py
|   |-- verify_pdfer_styles.py
|   |-- verify_pptxer_layout.py
|   `-- verify_pptxer_styles.py
|-- security/
|   |-- automated_tests_of_security_assets.py
|   |-- enable_tlamatini_v2.bat
|   |-- README.md
|   |-- run_defender.bat
|   |-- tlamatini_defender.ps1
|   `-- tlamatini_whitelist_v2.ps1
|-- Tests/
|   |-- run_avatar_tests.py
|   |-- run_presence_tests.ps1
|   |-- test_about_window_name_visible.py
|   |-- test_avatar_animation.cjs
|   |-- test_avatar_collectstatic.py
|   |-- test_avatar_presence_visible.py
|   |-- test_avatar_visible.cjs
|   |-- test_pdf_canvas_assets.py
|   |-- test_pdf_canvas_browser.py
|   `-- test_perf_3x_visual.py
`-- Tlamatini/
    |-- cat_art.py
    |-- manage.py
    |-- .agents/
    |   `-- workflows/
    |       `-- create_new_agent.md
    |-- .mcps/
    |   `-- create_new_mcp.md</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- 12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.skills/
    |   `-- create_new_skill.md
    |-- agent/
    |   |-- __init__.py
    |   |-- access_key_wizard.py
    |   |-- admin.py
    |   |-- agent_manifest.py
    |   |-- agent_verdict.py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external_mcp_defaults.py
    |   |-- external_mcp_manager.py
    |   |-- external_mcps.json
    |   |-- filesearch.proto
    |   |-- filesearch_pb2.py
    |   |-- filesearch_pb2_grpc.py</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- 13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global_execution_planner.py
    |   |-- global_state.py
    |   |-- gpu_perf.py
    |   |-- inet_determiner.py
    |   |-- llm_timing.py
    |   |-- local_toolcall_parser.py
    |   |-- log_identity.py
    |   |-- mcp_agent.py
    |   |-- mcp_files_search_client.py
    |   |-- mcp_files_search_server.py
    |   |-- mcp_system_client.py
    |   |-- mcp_system_server.py
    |   |-- models.py
    |   |-- native_dialogs.py
    |   |-- orphan_reaper.py
    |   |-- path_guard.py
    |   |-- pdf_context.py
    |   |-- pdf_context_jobs.py
    |   |-- pdf_context_views.py
    |   |-- pdf_image_analysis.py
    |   |-- prompt.pmt
    |   |-- rag_enhancements.py
    |   |-- routing.py
    |   |-- run_db_wal_tests.ps1
    |   |-- runtime_provisioner.py
    |   |-- self_healing.py
    |   |-- self_update.py
    |   |-- sqlite_copy.py
    |   |-- test_access_key_wizard.py
    |   |-- test_agent_display_names.py
    |   |-- test_agent_manifest.py</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- 14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test_agent_verdict.py
    |   |-- test_agents_see_hidden_dirs.py
    |   |-- test_arduiner_agent.py
    |   |-- test_ask_execs_allowlist.py
    |   |-- test_audioplayer_agent.py
    |   |-- test_binary_guard.py
    |   |-- test_blenderer_agent.py
    |   |-- test_build_pip_quiet.py
    |   |-- test_build_scripts.py
    |   |-- test_camcorder_agent.py
    |   |-- test_cancellation.py
    |   |-- test_chain_readiness.py
    |   |-- test_chat_agent_run_wait.py
    |   |-- test_chat_bridge_bots.py
    |   |-- test_chat_history_window.py
    |   |-- test_checkbox_bulk_toggle.py
    |   |-- test_command_watchdog.py
    |   |-- test_console_shield.py
    |   |-- test_contacts.py
    |   |-- test_crawler_agent.py
    |   |-- test_createsuperuser_wizard.py
    |   |-- test_ctrl_c_shutdown.py
    |   |-- test_db_backup_restore_wal.py
    |   |-- test_db_backup_safety.py
    |   |-- test_de_compresser.py
    |   |-- test_deep_research_prompt.py
    |   |-- test_deleter_safety.py
    |   |-- test_desktop_input_agents.py
    |   |-- test_dialog_dismissal_policy.py
    |   |-- test_dialog_theme.py
    |   |-- test_discoverer_agent.py</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- 15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test_discoverer_thousand.py
    |   |-- test_django_port_config.py
    |   |-- test_editor_agent.py
    |   |-- test_embedding_memory_guard.py
    |   |-- test_esp32er_agent.py
    |   |-- test_esphomer_agent.py
    |   |-- test_exec_report_verdict.py
    |   |-- test_execute_command_bounded.py
    |   |-- test_external_mcp_add_flow.py
    |   |-- test_external_mcp_e2e.py
    |   |-- test_external_mcp_transports.py
    |   |-- test_external_mcp_universal.py
    |   |-- test_file_extractor_reader.py
    |   |-- test_flow_contracts.py
    |   |-- test_flow_knowledge.py
    |   |-- test_frontend_mutable_state.py
    |   |-- test_gitter_custom_command.py
    |   |-- test_globber_agent.py
    |   |-- test_googler_agent.py
    |   |-- test_googler_dorks.py
    |   |-- test_grepper_agent.py
    |   |-- test_grepper_encodings.py
    |   |-- test_grepper_lines_mode.py
    |   |-- test_image_interpreter_agent.py
    |   |-- test_instant_messaging_doctor.py
    |   |-- test_j_decompiler_agent.py
    |   |-- test_js_gates.py
    |   |-- test_kalier_agent.py
    |   |-- test_latexer_agent.py
    |   |-- test_latexer_repair_ladder.py
    |   |-- test_latexer_styles.py</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- 16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test_latexer_suite.py
    |   |-- test_latexer_verbatim_channel.py
    |   |-- test_log_identity.py
    |   |-- test_model_settings.py
    |   |-- test_native_dialogs.py
    |   |-- test_netspeed_calculator_agent.py
    |   |-- test_nmapper_agent.py
    |   |-- test_no_audio_in_tests.py
    |   |-- test_orphan_reaper.py
    |   |-- test_parametrizer_mcp_doctor.py
    |   |-- test_password_quoting.py
    |   |-- test_pdf_context.py
    |   |-- test_pdfer_agent.py
    |   |-- test_pdfer_nuance_layout.py
    |   |-- test_pdfer_styles.py
    |   |-- test_playwrighter_agent.py
    |   |-- test_pptxer_agent.py
    |   |-- test_pptxer_styles.py
    |   |-- test_pptxer_visibility.py
    |   |-- test_preserved_user_state.py
    |   |-- test_program_name_collisions.py
    |   |-- test_prompt_catalog_contiguous.py
    |   |-- test_public_release_targets.py
    |   |-- test_recorder_agent.py
    |   |-- test_runtime_provisioner.py
    |   |-- test_security_assets_carriage.py
    |   |-- test_self_healing.py
    |   |-- test_self_knowledge_is_current.py
    |   |-- test_self_modify_gate.py
    |   |-- test_self_update.py
    |   |-- test_shoter_takes_screenshots.py</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- 17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test_sqlite_wal_mode.py
    |   |-- test_status_vocabulary.py
    |   |-- test_step_by_step_mode.py
    |   |-- test_stm32er_agent.py
    |   |-- test_talker_agent.py
    |   |-- test_telegrammer_identity.py
    |   |-- test_temp_dir_policy.py
    |   |-- test_tool_failure_recovery.py
    |   |-- test_uninstaller_mechanics.py
    |   |-- test_unrealer_agent.py
    |   |-- test_version_guard.py
    |   |-- test_video_analyzer_agent.py
    |   |-- test_video_analyzer_content.py
    |   |-- test_videoplayer_agent.py
    |   |-- test_voice_commands_catalog.py
    |   |-- test_watchdog_foreground_exemption.py
    |   |-- test_web_process_stays_lean.py
    |   |-- test_whatsapper_identity.py
    |   |-- test_whisperer_agent.py
    |   |-- test_win_shim.py
    |   |-- test_windower_agent.py
    |   |-- test_windows_app_registration.py
    |   |-- test_zavuerer_agent.py
    |   |-- tests.py
    |   |-- tests_perf_3x.py
    |   |-- Tlamatini.md
    |   |-- tools.py
    |   |-- urls.py
    |   |-- version.py
    |   |-- views.py
    |   |-- web_search_llm.py</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- 18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win_shim.py
    |   |-- window_flash.py
    |   |-- windows_app_registration.py
    |   |-- acpx/
    |   |   |-- __init__.py
    |   |   |-- agent_registry.py
    |   |   |-- child_health.py
    |   |   |-- config.py
    |   |   |-- permissions.py
    |   |   |-- runtime.py
    |   |   |-- service.py
    |   |   |-- session_store.py
    |   |   |-- tests.py
    |   |   |-- tools.py
    |   |   `-- windows_spawn.py
    |   |-- agents/
    |   |   |-- model_settings.py
    |   |   |-- acpxer/
    |   |   |   |-- acpxer.py
    |   |   |   `-- config.yaml
    |   |   |-- analyzer/
    |   |   |   |-- analyzer.py
    |   |   |   `-- config.yaml
    |   |   |-- and/
    |   |   |   |-- and.py
    |   |   |   `-- config.yaml
    |   |   |-- apirer/
    |   |   |   |-- apirer.py
    |   |   |   `-- config.yaml
    |   |   |-- arduiner/
    |   |   |   |-- arduiner.py</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- 19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 ArduinoTemplateProject/
    |   |   |       |-- ArduinoTemplateProject.ino
    |   |   |       |-- README.md
    |   |   |       |-- sketch.yaml
    |   |   |       `-- src/
    |   |   |           |-- Heartbeat.cpp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- 20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crawler/
    |   |   |   |-- config.yaml
    |   |   |   `-- crawler.py
    |   |   |-- croner/
    |   |   |   |-- config.yaml
    |   |   |   `-- croner.py
    |   |   |-- de_compresser/
    |   |   |   |-- config.yaml
    |   |   |   `-- de_compresser.py
    |   |   |-- deleter/
    |   |   |   |-- config.yaml
    |   |   |   `-- deleter.py
    |   |   |-- discoverer/
    |   |   |   |-- config.yaml
    |   |   |   `-- discoverer.py
    |   |   |-- dockerer/
    |   |   |   |-- config.yaml
    |   |   |   `-- dockerer.py
    |   |   |-- editor/
    |   |   |   |-- config.yaml
    |   |   |   `-- editor.py
    |   |   |-- emailer/
    |   |   |   |-- config.yaml
    |   |   |   `-- emailer.py
    |   |   |-- ender/
    |   |   |   |-- config.yaml
    |   |   |   `-- ender.py
    |   |   |-- esp32er/
    |   |   |   |-- config.yaml
    |   |   |   |-- esp32er.py
    |   |   |   `-- ESP32TemplateProject/</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- 21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platformio.ini
    |   |   |       |-- README.md
    |   |   |       |-- include/
    |   |   |       |   `-- README.md
    |   |   |       |-- lib/
    |   |   |       |   `-- README.md
    |   |   |       |-- src/
    |   |   |       |   `-- main.cpp
    |   |   |       `-- test/
    |   |   |           `-- README.md
    |   |   |-- esphomer/
    |   |   |   |-- config.yaml
    |   |   |   |-- esphomer.py
    |   |   |   `-- ESPHomeTemplateProject/
    |   |   |       |-- .gitignore
    |   |   |       |-- README.md
    |   |   |       |-- secrets.yaml.example
    |   |   |       |-- tlamatini-light.yaml
    |   |   |       |-- tlamatini-sensor.yaml
    |   |   |       `-- common/
    |   |   |           `-- base.yaml
    |   |   |-- executer/
    |   |   |   |-- config.yaml
    |   |   |   `-- executer.py
    |   |   |-- file_creator/
    |   |   |   |-- config.yaml
    |   |   |   `-- file_creator.py
    |   |   |-- file_extractor/
    |   |   |   |-- config.yaml
    |   |   |   `-- file_extractor.py
    |   |   |-- file_interpreter/</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- 22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 file_interpreter.py
    |   |   |-- flowbacker/
    |   |   |   |-- config.yaml
    |   |   |   `-- flowbacker.py
    |   |   |-- flowcreator/
    |   |   |   |-- agentic_skill.md
    |   |   |   |-- config.yaml
    |   |   |   |-- flow_catalog.json
    |   |   |   |-- flow_knowledge.py
    |   |   |   |-- flowcreator.py
    |   |   |   `-- result_to_flw.py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- 23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gitter.py
    |   |   |-- globber/
    |   |   |   |-- config.yaml
    |   |   |   `-- globber.py
    |   |   |-- googler/
    |   |   |   |-- config.yaml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
    |   |   |   `-- kalier.py
    |   |   |-- keyboarder/
    |   |   |   |-- config.yaml
    |   |   |   |-- keyboarder.py
    |   |   |   `-- keyboarder_input.py
    |   |   |-- kuberneter/
    |   |   |   |-- config.yaml</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- 24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kuberneter.py
    |   |   |-- kyber_cipher/
    |   |   |   |-- config.yaml
    |   |   |   `-- kyber_cipher.py
    |   |   |-- kyber_decipher/
    |   |   |   |-- config.yaml
    |   |   |   `-- kyber_decipher.py
    |   |   |-- kyber_keygen/
    |   |   |   |-- config.yaml
    |   |   |   `-- kyber_keygen.py
    |   |   |-- latexer/
    |   |   |   |-- config.yaml
    |   |   |   |-- latexer.py
    |   |   |   |-- latexer_artwork.py
    |   |   |   |-- latexer_design.py
    |   |   |   |-- latexer_styles.py
    |   |   |   `-- STYLES.md
    |   |   |-- mcp_doctor/
    |   |   |   |-- config.yaml
    |   |   |   `-- mcp_doctor.py
    |   |   |-- mongoxer/
    |   |   |   |-- config.yaml
    |   |   |   `-- mongoxer.py
    |   |   |-- monitor_log/
    |   |   |   |-- config.yaml
    |   |   |   `-- monitor_log.py
    |   |   |-- monitor_netstat/
    |   |   |   |-- config.yaml
    |   |   |   `-- monitor_netstat.py
    |   |   |-- mouser/
    |   |   |   |-- config.yaml</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- 25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mouser.py
    |   |   |   `-- mouser_coordinates.py
    |   |   |-- mover/
    |   |   |   |-- config.yaml
    |   |   |   `-- mover.py
    |   |   |-- netspeed_calculator/
    |   |   |   |-- config.yaml
    |   |   |   `-- netspeed_calculator.py
    |   |   |-- nmapper/
    |   |   |   |-- config.yaml
    |   |   |   `-- nmapper.py
    |   |   |-- node_manager/
    |   |   |   |-- config.yaml
    |   |   |   |-- node_manager.md
    |   |   |   |-- node_manager.py
    |   |   |   |-- nodes_example.json
    |   |   |   `-- nodes_example.yaml
    |   |   |-- notifier/
    |   |   |   |-- config.yaml
    |   |   |   `-- notifier.py
    |   |   |-- or/
    |   |   |   |-- config.yaml
    |   |   |   `-- or.py
    |   |   |-- parametrizer/
    |   |   |   |-- config.yaml
    |   |   |   `-- parametrizer.py
    |   |   |-- pdfer/
    |   |   |   |-- config.yaml
    |   |   |   |-- pdfer.py
    |   |   |   |-- pdfer_artwork.py
    |   |   |   |-- pdfer_atelier.py</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- 26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pdfer_audit.py
    |   |   |   |-- pdfer_color.py
    |   |   |   |-- pdfer_consult.py
    |   |   |   |-- pdfer_docmodel.py
    |   |   |   |-- pdfer_nuance.py
    |   |   |   |-- pdfer_ornament.py
    |   |   |   |-- pdfer_styles.py
    |   |   |   |-- pdfer_tables.py
    |   |   |   |-- pdfer_theme.py
    |   |   |   |-- pdfer_typography.py
    |   |   |   |-- STYLES.md
    |   |   |   `-- _art/
    |   |   |       `-- PDFer/
    |   |   |           |-- orn_circuit_trace_240x120_38BDF8_d953e4f7.png
    |   |   |           |-- orn_corner_wedge_240x120_38BDF8_d953e4f7.png
    |   |   |           |-- orn_diagonal_split_240x120_38BDF8_d953e4f7.png
    |   |   |           |-- orn_drop_cap_panel_240x120_38BDF8_d953e4f7.png
    |   |   |           |-- orn_gradient_wash_240x120_38BDF8_d953e4f7.png
    |   |   |           |-- orn_grid_mesh_240x120_38BDF8_d953e4f7.png
    |   |   |           |-- orn_hairline_rule_240x120_38BDF8_d953e4f7.png
    |   |   |           |-- orn_halftone_dots_240x120_38BDF8_d953e4f7.png
    |   |   |           |-- orn_orbital_arcs_240x120_38BDF8_d953e4f7.png
    |   |   |           |-- orn_organic_blob_240x120_38BDF8_d953e4f7.png
    |   |   |           |-- orn_particle_field_200x140_38BDF8_2638523b.png
    |   |   |           |-- orn_particle_field_240x120_38BDF8_d953e4f7.png
    |   |   |           |-- orn_scanline_240x120_38BDF8_d953e4f7.png
    |   |   |           |-- orn_sine_field_240x120_38BDF8_d953e4f7.png
    |   |   |           `-- orn_spectrum_bar_240x120_38BDF8_d953e4f7.png
    |   |   |-- playwrighter/
    |   |   |   |-- config.yaml
    |   |   |   `-- playwrighter.py</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- 27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pptxer/
    |   |   |   |-- config.yaml
    |   |   |   |-- pptxer.py
    |   |   |   |-- pptxer_audit.py
    |   |   |   |-- pptxer_build.py
    |   |   |   |-- pptxer_color.py
    |   |   |   |-- pptxer_diagram.py
    |   |   |   |-- pptxer_docmodel.py
    |   |   |   |-- pptxer_draw.py
    |   |   |   |-- pptxer_fonts.py
    |   |   |   |-- pptxer_layout.py
    |   |   |   |-- pptxer_media.py
    |   |   |   |-- pptxer_nuance.py
    |   |   |   |-- pptxer_render.py
    |   |   |   |-- pptxer_theme.py
    |   |   |   `-- STYLES.md
    |   |   |-- prompter/
    |   |   |   |-- config.yaml
    |   |   |   `-- prompter.py
    |   |   |-- pser/
    |   |   |   |-- config.yaml
    |   |   |   `-- pser.py
    |   |   |-- pythonxer/
    |   |   |   |-- config.yaml
    |   |   |   `-- pythonxer.py
    |   |   |-- raiser/
    |   |   |   |-- config.yaml
    |   |   |   `-- raiser.py
    |   |   |-- recmailer/
    |   |   |   |-- config.yaml
    |   |   |   `-- recmailer.py</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- 28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recorder/
    |   |   |   |-- config.yaml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
    |   |   |   |-- config.yaml
    |   |   |   `-- stopper.py
    |   |   |-- summarizer/</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- 29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README.md
    |   |   |   |-- video_analyzer.py
    |   |   |   `-- video_content.py
    |   |   |-- videoplayer/
    |   |   |   |-- config.yaml
    |   |   |   `-- videoplayer.py
    |   |   |-- whatsapper/
    |   |   |   |-- config.yaml
    |   |   |   |-- HOW_TO_GET_YOUR_WHATSAPP_ASSETS.md</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- 30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ACPXKeysConfigureWizard.jpg
    |   |   |-- ConfigureModels.jpg
    |   |   |-- MenuConfig.jpg
    |   |   |-- mockup.jpg
    |   |   `-- XAIHT-Tlamatini.mp4
    |   |-- imaging/
    |   |   |-- converter.py
    |   |   |-- image_interpreter.py
    |   |   `-- screenshot.py</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- 31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management/
    |   |   |-- __init__.py
    |   |   `-- commands/
    |   |       |-- acpx_lint.py
    |   |       |-- check_agent_runtimes.py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- 32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- 33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- 34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- 35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- 36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- 37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|-- 0180_add_kalier_setup_wizard_prompt.py
    |   |   |-- 0181_prompt_sort_rank.py
    |   |   |-- 0182_add_step_by_step_section_openers.py
    |   |   |-- 0183_standardize_security_recon_prompts.py
    |   |   |-- 0184_standardize_prompt_params_batch2.py
    |   |   |-- 0185_standardize_prompt_params_batch3.py
    |   |   |-- 0186_add_chat_agent_flowcreator.py
    |   |   |-- 0187_add_flowcreator_end_to_end_wizard_prompt.py
    |   |   |-- 0188_add_pdfer.py
    |   |   |-- 0189_add_chat_agent_pdfer_tool.py
    |   |   |-- 0190_add_pdfer_demo_prompts.py
    |   |   |-- 0191_add_latexer.py
    |   |   |-- 0192_add_chat_agent_latexer_tool.py
    |   |   |-- 0193_add_latexer_demo_prompts.py
    |   |   |-- 0194_add_deep_research_demo_prompt.py
    |   |   |-- 0195_add_netspeed_calculator.py
    |   |   |-- 0196_add_chat_agent_netspeed_calculator_tool.py
    |   |   |-- 0197_add_netspeed_calculator_demo_prompt.py
    |   |   |-- 0198_add_pdfer_nuance_demo_prompt.py
    |   |   |-- 0199_dedupe_llm_program_snippet_names.py
    |   |   |-- 0200_whisperer_demo_prompt_sound_gate.py
    |   |   |-- 0201_add_voice_commands_section.py
    |   |   |-- 0202_add_pptxer.py
    |   |   |-- 0203_add_chat_agent_pptxer_tool.py
    |   |   |-- 0204_add_pptxer_demo_prompts.py
    |   |   |-- 0205_silence_window_default_3_5_seconds.py
    |   |   |-- 0206_qwen35_cloud_model_tag_rename.py
    |   |   |-- 0207_video_analyzer_content_prompts.py
    |   |   |-- 0208_video_demo_config_models.py
    |   |   `-- __init__.py
    |   |-- monitors/</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- 38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monitor_sql.py
    |   |-- opus_client/
    |   |   |-- claude_opus_client.py
    |   |   |-- examples.py
    |   |   `-- README.md
    |   |-- rag/
    |   |   |-- __init__.py
    |   |   |-- binary_guard.py
    |   |   |-- config.py
    |   |   |-- factory.py
    |   |   |-- interaction.py
    |   |   |-- interface.py
    |   |   |-- loaders.py
    |   |   |-- prompts.py
    |   |   |-- retrieval.py
    |   |   |-- splitters.py
    |   |   |-- utils.py
    |   |   `-- chains/
    |   |       |-- base.py
    |   |       |-- basic.py
    |   |       |-- history_aware.py
    |   |       `-- unified.py
    |   |-- services/
    |   |   |-- __init__.py
    |   |   |-- agent_contracts.py
    |   |   |-- agent_paths.py
    |   |   |-- filesystem.py
    |   |   |-- flow_compiler.py
    |   |   |-- flow_knowledge.py
    |   |   |-- flow_spec.py
    |   |   `-- response_parser.py</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- 39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skills/
    |   |   |-- __init__.py
    |   |   |-- frontmatter.py
    |   |   |-- harness.py
    |   |   |-- io_contract.py
    |   |   `-- registry.py
    |   |-- skills_pkg/
    |   |   |-- _meta/
    |   |   |   |-- lint.py
    |   |   |   `-- schema.json
    |   |   |-- acp_router/
    |   |   |   `-- SKILL.md
    |   |   |-- adding_external_mcp/
    |   |   |   |-- SKILL.md
    |   |   |   `-- references/
    |   |   |       |-- external_mcp_catalog_format.md
    |   |   |       |-- llm_reflection_research.md
    |   |   |       |-- transport_guide.md
    |   |   |       `-- troubleshooting.md
    |   |   |-- code_review/
    |   |   |   `-- SKILL.md
    |   |   |-- create_new_agent/
    |   |   |   `-- SKILL.md
    |   |   |-- create_new_mcp/
    |   |   |   `-- SKILL.md
    |   |   |-- flow_making/
    |   |   |   |-- SKILL.md
    |   |   |   |-- references/
    |   |   |   |   `-- flw_schema.md
    |   |   |   `-- scripts/
    |   |   |       |-- make_flow.py</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- 40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result_to_flw.py
    |   |   |-- github/
    |   |   |   `-- SKILL.md
    |   |   |-- gmail/
    |   |   |   `-- SKILL.md
    |   |   |-- hello_world/
    |   |   |   `-- SKILL.md
    |   |   |-- jira/
    |   |   |   `-- SKILL.md
    |   |   |-- kali_pentest/
    |   |   |   `-- SKILL.md
    |   |   |-- notion/
    |   |   |   `-- SKILL.md
    |   |   |-- roblox_studio/
    |   |   |   `-- SKILL.md
    |   |   |-- security_audit/
    |   |   |   `-- SKILL.md
    |   |   |-- setup_new_acpx_key/
    |   |   |   `-- SKILL.md
    |   |   |-- skill_creator/
    |   |   |   |-- SKILL.md
    |   |   |   `-- scripts/
    |   |   |       `-- quick_validate.py
    |   |   |-- slack/
    |   |   |   `-- SKILL.md
    |   |   |-- summarize/
    |   |   |   `-- SKILL.md
    |   |   |-- tlamatini_allowed_hosts_tighten/
    |   |   |   `-- SKILL.md
    |   |   |-- tlamatini_csrf_exempt_audit/
    |   |   |   `-- SKILL.md</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- 41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
    |   |       |   |-- contacts_dialog.css
    |   |       |   |-- dialog_theme.css
    |   |       |   |-- external_mcps_dialog.css
    |   |       |   |-- login.css
    |   |       |   |-- pdf_canvas.css
    |   |       |   |-- pdf_context_progress.css</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- 42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skills_dialog.css
    |   |       |   |-- tools_dialog.css
    |   |       |   `-- welcome.css
    |   |       |-- img/
    |   |       |   |-- spinner.svg
    |   |       |   |-- Tlamatini.ico
    |   |       |   `-- avatar/
    |   |       |       |-- ec_mc.jpg
    |   |       |       |-- ec_mo.jpg
    |   |       |       |-- eo_mc.jpg
    |   |       |       `-- eo_mo.jpg
    |   |       |-- js/
    |   |       |   |-- access_keys_wizard.js
    |   |       |   |-- acp-agent-connectors.js
    |   |       |   |-- acp-canvas-core.js
    |   |       |   |-- acp-canvas-undo.js
    |   |       |   |-- acp-connection-status.js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- 43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agent_page_init.js
    |   |       |   |-- agent_page_layout.js
    |   |       |   |-- agent_page_pdf.js
    |   |       |   |-- agent_page_state.js
    |   |       |   |-- agent_page_ui.js
    |   |       |   |-- agentic_control_panel.js
    |   |       |   |-- avatar.js
    |   |       |   |-- avatar_presence.js
    |   |       |   |-- avatar_size.js
    |   |       |   |-- canvas_item_dialog.js
    |   |       |   |-- chat_image_paste.js
    |   |       |   |-- chat_page_runtime_poller.js
    |   |       |   |-- checkbox_bulk_toggle.js
    |   |       |   |-- contacts_dialog.js
    |   |       |   |-- contextual_menus.js
    |   |       |   |-- dialog_policy.js
    |   |       |   |-- external_mcps_dialog.js
    |   |       |   |-- pdf_canvas_viewer.js
    |   |       |   |-- pdf_context_progress.js
    |   |       |   |-- release_notes_renderer.js
    |   |       |   |-- shared-runtime-dialogs.js
    |   |       |   |-- skills_dialog.js
    |   |       |   |-- tools_dialog.js
    |   |       |   `-- welcome_enter_default.js
    |   |       |-- pdf/
    |   |       |   `-- canvas.html
    |   |       |-- sounds/
    |   |       |   |-- hypervisor_alert.wav
    |   |       |   `-- notification.wav
    |   |       |-- vendor/
    |   |       |   |-- frontend/</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- 44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manifest.json
    |   |       |   |   |-- bootstrap/
    |   |       |   |   |   |-- LICENSE
    |   |       |   |   |   `-- dist/
    |   |       |   |   |       |-- css/
    |   |       |   |   |       |   |-- bootstrap.min.css
    |   |       |   |   |       |   `-- bootstrap.min.css.map
    |   |       |   |   |       `-- js/
    |   |       |   |   |           |-- bootstrap.bundle.min.js
    |   |       |   |   |           `-- bootstrap.bundle.min.js.map
    |   |       |   |   |-- highlightjs/
    |   |       |   |   |   |-- highlight.min.js
    |   |       |   |   |   |-- LICENSE
    |   |       |   |   |   |-- languages/
    |   |       |   |   |   |   |-- bash.min.js
    |   |       |   |   |   |   |-- c.min.js
    |   |       |   |   |   |   |-- cpp.min.js
    |   |       |   |   |   |   |-- css.min.js
    |   |       |   |   |   |   |-- ini.min.js
    |   |       |   |   |   |   |-- java.min.js
    |   |       |   |   |   |   |-- javascript.min.js
    |   |       |   |   |   |   |-- kotlin.min.js
    |   |       |   |   |   |   |-- python.min.js
    |   |       |   |   |   |   |-- rust.min.js
    |   |       |   |   |   |   |-- sql.min.js
    |   |       |   |   |   |   |-- typescript.min.js
    |   |       |   |   |   |   |-- xml.min.js
    |   |       |   |   |   |   `-- yaml.min.js
    |   |       |   |   |   `-- styles/
    |   |       |   |   |       `-- atom-one-dark.min.css
    |   |       |   |   |-- jquery/</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- 45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 LICENSE.txt
    |   |       |   |   |   `-- dist/
    |   |       |   |   |       |-- jquery.min.js
    |   |       |   |   |       `-- jquery.min.map
    |   |       |   |   |-- jquery-ui/
    |   |       |   |   |   |-- jquery-ui.min.js
    |   |       |   |   |   `-- LICENSE.txt
    |   |       |   |   `-- nunito/
    |   |       |   |       |-- 400.css
    |   |       |   |       |-- 700.css
    |   |       |   |       |-- LICENSE
    |   |       |   |       `-- files/
    |   |       |   |           |-- nunito-cyrillic-400-normal.woff
    |   |       |   |           |-- nunito-cyrillic-400-normal.woff2
    |   |       |   |           |-- nunito-cyrillic-700-normal.woff
    |   |       |   |           |-- nunito-cyrillic-700-normal.woff2
    |   |       |   |           |-- nunito-cyrillic-ext-400-normal.woff
    |   |       |   |           |-- nunito-cyrillic-ext-400-normal.woff2
    |   |       |   |           |-- nunito-cyrillic-ext-700-normal.woff
    |   |       |   |           |-- nunito-cyrillic-ext-700-normal.woff2
    |   |       |   |           |-- nunito-latin-400-normal.woff
    |   |       |   |           |-- nunito-latin-400-normal.woff2
    |   |       |   |           |-- nunito-latin-700-normal.woff
    |   |       |   |           |-- nunito-latin-700-normal.woff2
    |   |       |   |           |-- nunito-latin-ext-400-normal.woff
    |   |       |   |           |-- nunito-latin-ext-400-normal.woff2
    |   |       |   |           |-- nunito-latin-ext-700-normal.woff
    |   |       |   |           |-- nunito-latin-ext-700-normal.woff2
    |   |       |   |           |-- nunito-vietnamese-400-normal.woff
    |   |       |   |           |-- nunito-vietnamese-400-normal.woff2
    |   |       |   |           |-- nunito-vietnamese-700-normal.woff</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- 46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nunito-vietnamese-700-normal.woff2
    |   |       |   `-- pdfjs/
    |   |       |       |-- LICENSE
    |   |       |       |-- VERSION
    |   |       |       |-- build/
    |   |       |       |   |-- pdf.mjs
    |   |       |       |   `-- pdf.worker.mjs
    |   |       |       |-- cmaps/
    |   |       |       |   |-- 78-EUC-H.bcmap
    |   |       |       |   |-- 78-EUC-V.bcmap
    |   |       |       |   |-- 78-H.bcmap
    |   |       |       |   |-- 78-RKSJ-H.bcmap
    |   |       |       |   |-- 78-RKSJ-V.bcmap
    |   |       |       |   |-- 78-V.bcmap
    |   |       |       |   |-- 78ms-RKSJ-H.bcmap
    |   |       |       |   |-- 78ms-RKSJ-V.bcmap
    |   |       |       |   |-- 83pv-RKSJ-H.bcmap
    |   |       |       |   |-- 90ms-RKSJ-H.bcmap
    |   |       |       |   |-- 90ms-RKSJ-V.bcmap
    |   |       |       |   |-- 90msp-RKSJ-H.bcmap
    |   |       |       |   |-- 90msp-RKSJ-V.bcmap
    |   |       |       |   |-- 90pv-RKSJ-H.bcmap
    |   |       |       |   |-- 90pv-RKSJ-V.bcmap
    |   |       |       |   |-- Add-H.bcmap
    |   |       |       |   |-- Add-RKSJ-H.bcmap
    |   |       |       |   |-- Add-RKSJ-V.bcmap
    |   |       |       |   |-- Add-V.bcmap
    |   |       |       |   |-- Adobe-CNS1-0.bcmap
    |   |       |       |   |-- Adobe-CNS1-1.bcmap
    |   |       |       |   |-- Adobe-CNS1-2.bcmap
    |   |       |       |   |-- Adobe-CNS1-3.bcmap</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- 47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Adobe-CNS1-4.bcmap
    |   |       |       |   |-- Adobe-CNS1-5.bcmap
    |   |       |       |   |-- Adobe-CNS1-6.bcmap
    |   |       |       |   |-- Adobe-CNS1-UCS2.bcmap
    |   |       |       |   |-- Adobe-GB1-0.bcmap
    |   |       |       |   |-- Adobe-GB1-1.bcmap
    |   |       |       |   |-- Adobe-GB1-2.bcmap
    |   |       |       |   |-- Adobe-GB1-3.bcmap
    |   |       |       |   |-- Adobe-GB1-4.bcmap
    |   |       |       |   |-- Adobe-GB1-5.bcmap
    |   |       |       |   |-- Adobe-GB1-UCS2.bcmap
    |   |       |       |   |-- Adobe-Japan1-0.bcmap
    |   |       |       |   |-- Adobe-Japan1-1.bcmap
    |   |       |       |   |-- Adobe-Japan1-2.bcmap
    |   |       |       |   |-- Adobe-Japan1-3.bcmap
    |   |       |       |   |-- Adobe-Japan1-4.bcmap
    |   |       |       |   |-- Adobe-Japan1-5.bcmap
    |   |       |       |   |-- Adobe-Japan1-6.bcmap
    |   |       |       |   |-- Adobe-Japan1-UCS2.bcmap
    |   |       |       |   |-- Adobe-Korea1-0.bcmap
    |   |       |       |   |-- Adobe-Korea1-1.bcmap
    |   |       |       |   |-- Adobe-Korea1-2.bcmap
    |   |       |       |   |-- Adobe-Korea1-UCS2.bcmap
    |   |       |       |   |-- B5-H.bcmap
    |   |       |       |   |-- B5-V.bcmap
    |   |       |       |   |-- B5pc-H.bcmap
    |   |       |       |   |-- B5pc-V.bcmap
    |   |       |       |   |-- CNS-EUC-H.bcmap
    |   |       |       |   |-- CNS-EUC-V.bcmap
    |   |       |       |   |-- CNS1-H.bcmap
    |   |       |       |   |-- CNS1-V.bcmap</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- 48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CNS2-H.bcmap
    |   |       |       |   |-- CNS2-V.bcmap
    |   |       |       |   |-- ETen-B5-H.bcmap
    |   |       |       |   |-- ETen-B5-V.bcmap
    |   |       |       |   |-- ETenms-B5-H.bcmap
    |   |       |       |   |-- ETenms-B5-V.bcmap
    |   |       |       |   |-- ETHK-B5-H.bcmap
    |   |       |       |   |-- ETHK-B5-V.bcmap
    |   |       |       |   |-- EUC-H.bcmap
    |   |       |       |   |-- EUC-V.bcmap
    |   |       |       |   |-- Ext-H.bcmap
    |   |       |       |   |-- Ext-RKSJ-H.bcmap
    |   |       |       |   |-- Ext-RKSJ-V.bcmap
    |   |       |       |   |-- Ext-V.bcmap
    |   |       |       |   |-- GB-EUC-H.bcmap
    |   |       |       |   |-- GB-EUC-V.bcmap
    |   |       |       |   |-- GB-H.bcmap
    |   |       |       |   |-- GB-V.bcmap
    |   |       |       |   |-- GBK-EUC-H.bcmap
    |   |       |       |   |-- GBK-EUC-V.bcmap
    |   |       |       |   |-- GBK2K-H.bcmap
    |   |       |       |   |-- GBK2K-V.bcmap
    |   |       |       |   |-- GBKp-EUC-H.bcmap
    |   |       |       |   |-- GBKp-EUC-V.bcmap
    |   |       |       |   |-- GBpc-EUC-H.bcmap
    |   |       |       |   |-- GBpc-EUC-V.bcmap
    |   |       |       |   |-- GBT-EUC-H.bcmap
    |   |       |       |   |-- GBT-EUC-V.bcmap
    |   |       |       |   |-- GBT-H.bcmap
    |   |       |       |   |-- GBT-V.bcmap
    |   |       |       |   |-- GBTpc-EUC-H.bcmap</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- 49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GBTpc-EUC-V.bcmap
    |   |       |       |   |-- H.bcmap
    |   |       |       |   |-- Hankaku.bcmap
    |   |       |       |   |-- Hiragana.bcmap
    |   |       |       |   |-- HKdla-B5-H.bcmap
    |   |       |       |   |-- HKdla-B5-V.bcmap
    |   |       |       |   |-- HKdlb-B5-H.bcmap
    |   |       |       |   |-- HKdlb-B5-V.bcmap
    |   |       |       |   |-- HKgccs-B5-H.bcmap
    |   |       |       |   |-- HKgccs-B5-V.bcmap
    |   |       |       |   |-- HKm314-B5-H.bcmap
    |   |       |       |   |-- HKm314-B5-V.bcmap
    |   |       |       |   |-- HKm471-B5-H.bcmap
    |   |       |       |   |-- HKm471-B5-V.bcmap
    |   |       |       |   |-- HKscs-B5-H.bcmap
    |   |       |       |   |-- HKscs-B5-V.bcmap
    |   |       |       |   |-- Katakana.bcmap
    |   |       |       |   |-- KSC-EUC-H.bcmap
    |   |       |       |   |-- KSC-EUC-V.bcmap
    |   |       |       |   |-- KSC-H.bcmap
    |   |       |       |   |-- KSC-Johab-H.bcmap
    |   |       |       |   |-- KSC-Johab-V.bcmap
    |   |       |       |   |-- KSC-V.bcmap
    |   |       |       |   |-- KSCms-UHC-H.bcmap
    |   |       |       |   |-- KSCms-UHC-HW-H.bcmap
    |   |       |       |   |-- KSCms-UHC-HW-V.bcmap
    |   |       |       |   |-- KSCms-UHC-V.bcmap
    |   |       |       |   |-- KSCpc-EUC-H.bcmap
    |   |       |       |   |-- KSCpc-EUC-V.bcmap
    |   |       |       |   |-- LICENSE
    |   |       |       |   |-- NWP-H.bcmap</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- 50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NWP-V.bcmap
    |   |       |       |   |-- RKSJ-H.bcmap
    |   |       |       |   |-- RKSJ-V.bcmap
    |   |       |       |   |-- Roman.bcmap
    |   |       |       |   |-- UniCNS-UCS2-H.bcmap
    |   |       |       |   |-- UniCNS-UCS2-V.bcmap
    |   |       |       |   |-- UniCNS-UTF16-H.bcmap
    |   |       |       |   |-- UniCNS-UTF16-V.bcmap
    |   |       |       |   |-- UniCNS-UTF32-H.bcmap
    |   |       |       |   |-- UniCNS-UTF32-V.bcmap
    |   |       |       |   |-- UniCNS-UTF8-H.bcmap
    |   |       |       |   |-- UniCNS-UTF8-V.bcmap
    |   |       |       |   |-- UniGB-UCS2-H.bcmap
    |   |       |       |   |-- UniGB-UCS2-V.bcmap
    |   |       |       |   |-- UniGB-UTF16-H.bcmap
    |   |       |       |   |-- UniGB-UTF16-V.bcmap
    |   |       |       |   |-- UniGB-UTF32-H.bcmap
    |   |       |       |   |-- UniGB-UTF32-V.bcmap
    |   |       |       |   |-- UniGB-UTF8-H.bcmap
    |   |       |       |   |-- UniGB-UTF8-V.bcmap
    |   |       |       |   |-- UniJIS-UCS2-H.bcmap
    |   |       |       |   |-- UniJIS-UCS2-HW-H.bcmap
    |   |       |       |   |-- UniJIS-UCS2-HW-V.bcmap
    |   |       |       |   |-- UniJIS-UCS2-V.bcmap
    |   |       |       |   |-- UniJIS-UTF16-H.bcmap
    |   |       |       |   |-- UniJIS-UTF16-V.bcmap
    |   |       |       |   |-- UniJIS-UTF32-H.bcmap
    |   |       |       |   |-- UniJIS-UTF32-V.bcmap
    |   |       |       |   |-- UniJIS-UTF8-H.bcmap
    |   |       |       |   |-- UniJIS-UTF8-V.bcmap
    |   |       |       |   |-- UniJIS2004-UTF16-H.bcmap</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- 51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UniJIS2004-UTF16-V.bcmap
    |   |       |       |   |-- UniJIS2004-UTF32-H.bcmap
    |   |       |       |   |-- UniJIS2004-UTF32-V.bcmap
    |   |       |       |   |-- UniJIS2004-UTF8-H.bcmap
    |   |       |       |   |-- UniJIS2004-UTF8-V.bcmap
    |   |       |       |   |-- UniJISPro-UCS2-HW-V.bcmap
    |   |       |       |   |-- UniJISPro-UCS2-V.bcmap
    |   |       |       |   |-- UniJISPro-UTF8-V.bcmap
    |   |       |       |   |-- UniJISX0213-UTF32-H.bcmap
    |   |       |       |   |-- UniJISX0213-UTF32-V.bcmap
    |   |       |       |   |-- UniJISX02132004-UTF32-H.bcmap
    |   |       |       |   |-- UniJISX02132004-UTF32-V.bcmap
    |   |       |       |   |-- UniKS-UCS2-H.bcmap
    |   |       |       |   |-- UniKS-UCS2-V.bcmap
    |   |       |       |   |-- UniKS-UTF16-H.bcmap
    |   |       |       |   |-- UniKS-UTF16-V.bcmap
    |   |       |       |   |-- UniKS-UTF32-H.bcmap
    |   |       |       |   |-- UniKS-UTF32-V.bcmap
    |   |       |       |   |-- UniKS-UTF8-H.bcmap
    |   |       |       |   |-- UniKS-UTF8-V.bcmap
    |   |       |       |   |-- V.bcmap
    |   |       |       |   `-- WP-Symbol.bcmap
    |   |       |       |-- iccs/
    |   |       |       |   |-- CGATS001Compat-v2-micro.icc
    |   |       |       |   `-- LICENSE
    |   |       |       |-- standard_fonts/
    |   |       |       |   |-- FoxitDingbats.pfb
    |   |       |       |   |-- FoxitFixed.pfb
    |   |       |       |   |-- FoxitFixedBold.pfb
    |   |       |       |   |-- FoxitFixedBoldItalic.pfb
    |   |       |       |   |-- FoxitFixedItalic.pfb</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- 52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 FoxitSerif.pfb
    |   |       |       |   |-- FoxitSerifBold.pfb
    |   |       |       |   |-- FoxitSerifBoldItalic.pfb
    |   |       |       |   |-- FoxitSerifItalic.pfb
    |   |       |       |   |-- FoxitSymbol.pfb
    |   |       |       |   |-- LiberationSans-Bold.ttf
    |   |       |       |   |-- LiberationSans-BoldItalic.ttf
    |   |       |       |   |-- LiberationSans-Italic.ttf
    |   |       |       |   |-- LiberationSans-Regular.ttf
    |   |       |       |   |-- LICENSE_FOXIT
    |   |       |       |   `-- LICENSE_LIBERATION
    |   |       |       |-- wasm/
    |   |       |       |   |-- jbig2.wasm
    |   |       |       |   |-- jbig2_nowasm_fallback.js
    |   |       |       |   |-- LICENSE_JBIG2
    |   |       |       |   |-- LICENSE_OPENJPEG
    |   |       |       |   |-- LICENSE_PDFJS_JBIG2
    |   |       |       |   |-- LICENSE_PDFJS_OPENJPEG
    |   |       |       |   |-- LICENSE_PDFJS_QCMS
    |   |       |       |   |-- LICENSE_QCMS
    |   |       |       |   |-- openjpeg.wasm
    |   |       |       |   |-- openjpeg_nowasm_fallback.js
    |   |       |       |   |-- qcms_bg.wasm
    |   |       |       |   |-- quickjs-eval.js
    |   |       |       |   `-- quickjs-eval.wasm
    |   |       |       `-- web/
    |   |       |           |-- pdf_viewer.css
    |   |       |           |-- pdf_viewer.mjs
    |   |       |           `-- images/
    |   |       |               |-- altText_add.svg
    |   |       |               |-- altText_disclaimer.svg</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- 53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altText_done.svg
    |   |       |               |-- altText_spinner.svg
    |   |       |               |-- altText_warning.svg
    |   |       |               |-- annotation-check.svg
    |   |       |               |-- annotation-comment.svg
    |   |       |               |-- annotation-help.svg
    |   |       |               |-- annotation-insert.svg
    |   |       |               |-- annotation-key.svg
    |   |       |               |-- annotation-newparagraph.svg
    |   |       |               |-- annotation-noicon.svg
    |   |       |               |-- annotation-note.svg
    |   |       |               |-- annotation-paperclip.svg
    |   |       |               |-- annotation-paragraph.svg
    |   |       |               |-- annotation-pushpin.svg
    |   |       |               |-- checkmark.svg
    |   |       |               |-- comment-actionsButton.svg
    |   |       |               |-- comment-closeButton.svg
    |   |       |               |-- comment-editButton.svg
    |   |       |               |-- comment-popup-editButton.svg
    |   |       |               |-- cursor-editorFreeHighlight.svg
    |   |       |               |-- cursor-editorFreeText.svg
    |   |       |               |-- cursor-editorInk.svg
    |   |       |               |-- cursor-editorTextHighlight.svg
    |   |       |               |-- editor-toolbar-delete.svg
    |   |       |               |-- editor-toolbar-edit.svg
    |   |       |               |-- findbarButton-next.svg
    |   |       |               |-- findbarButton-previous.svg
    |   |       |               |-- gv-toolbarButton-download.svg
    |   |       |               |-- loading-icon.gif
    |   |       |               |-- loading.svg
    |   |       |               |-- messageBar_closingButton.svg</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- 54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messageBar_info.svg
    |   |       |               |-- messageBar_warning.svg
    |   |       |               |-- pages_closeButton.svg
    |   |       |               |-- pages_selected.svg
    |   |       |               |-- pages_viewArrow.svg
    |   |       |               |-- pages_viewButton.svg
    |   |       |               |-- secondaryToolbarButton-documentProperties.svg
    |   |       |               |-- secondaryToolbarButton-firstPage.svg
    |   |       |               |-- secondaryToolbarButton-handTool.svg
    |   |       |               |-- secondaryToolbarButton-lastPage.svg
    |   |       |               |-- secondaryToolbarButton-rotateCcw.svg
    |   |       |               |-- secondaryToolbarButton-rotateCw.svg
    |   |       |               |-- secondaryToolbarButton-scrollHorizontal.svg
    |   |       |               |-- secondaryToolbarButton-scrollPage.svg
    |   |       |               |-- secondaryToolbarButton-scrollVertical.svg
    |   |       |               |-- secondaryToolbarButton-scrollWrapped.svg
    |   |       |               |-- secondaryToolbarButton-selectTool.svg
    |   |       |               |-- secondaryToolbarButton-spreadEven.svg
    |   |       |               |-- secondaryToolbarButton-spreadNone.svg
    |   |       |               |-- secondaryToolbarButton-spreadOdd.svg
    |   |       |               |-- signature-properties-row-check.svg
    |   |       |               |-- toolbarButton-bookmark.svg
    |   |       |               |-- toolbarButton-currentOutlineItem.svg
    |   |       |               |-- toolbarButton-download.svg
    |   |       |               |-- toolbarButton-editorFreeText.svg
    |   |       |               |-- toolbarButton-editorHighlight.svg
    |   |       |               |-- toolbarButton-editorInk.svg
    |   |       |               |-- toolbarButton-editorSignature.svg
    |   |       |               |-- toolbarButton-editorStamp.svg
    |   |       |               |-- toolbarButton-menuArrow.svg
    |   |       |               |-- toolbarButton-menuArrowNova.svg</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- 55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toolbarButton-openFile.svg
    |   |       |               |-- toolbarButton-pageDown.svg
    |   |       |               |-- toolbarButton-pageUp.svg
    |   |       |               |-- toolbarButton-presentationMode.svg
    |   |       |               |-- toolbarButton-print.svg
    |   |       |               |-- toolbarButton-search.svg
    |   |       |               |-- toolbarButton-secondaryToolbarToggle.svg
    |   |       |               |-- toolbarButton-signaturePropertiesError.svg
    |   |       |               |-- toolbarButton-signaturePropertiesVerified.svg
    |   |       |               |-- toolbarButton-viewAttachments.svg
    |   |       |               |-- toolbarButton-viewLayers.svg
    |   |       |               |-- toolbarButton-viewOutline.svg
    |   |       |               |-- toolbarButton-viewsManagerToggle.svg
    |   |       |               |-- toolbarButton-viewThumbnail.svg
    |   |       |               |-- toolbarButton-zoomIn.svg
    |   |       |               |-- toolbarButton-zoomOut.svg
    |   |       |               |-- treeitem-collapsed.svg
    |   |       |               `-- treeitem-expanded.svg
    |   |       `-- video/
    |   |           `-- XAIHT-Tlamatini.mp4
    |   |-- templates/
    |   |   `-- agent/
    |   |       |-- agent_page.html
    |   |       |-- agentic_control_panel.html
    |   |       |-- login.html
    |   |       `-- welcome.html
    |   |-- test_fixtures/
    |   |   `-- talker_orpheus_tokens.txt
    |   `-- TlamatiniSourceCode/
    |       `-- README.md
    |-- DB/</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- 56 of 56</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Older/
    |   |   `-- README.md
    |   `-- ToLoad/
    |       `-- README.md
    |-- jd-cli/
    |   |-- jd-cli.bat
    |   `-- jd-cli.jar
    |-- tests_e2e/
    |   |-- oob_child_helper.py
    |   |-- README.md
    |   |-- test_create_flow_visual.py
    |   |-- test_ctrl_c_quits_visible.py
    |   |-- test_db_backup_set_visible.py
    |   |-- test_oob_browser_visible.py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- 1</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Tlamatini/agent/management/commands/check_agent_runtimes.py</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5,669 bytes; text; 108 physical / 90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docs/model-configuration-verification.md</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4,112 bytes; text; 41 physical / 30 effective lines</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762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eXtended Artificial Intelligence Humanly Tempered</dc:title>
  <dc:subject>Complete technical project dossier</dc:subject>
  <dc:creator>Angela López Mendoza</dc:creator>
  <cp:keywords/>
  <dc:description>Generated from the Tlamatini repository by the deterministic project dossier workflow.</dc:description>
  <cp:lastModifiedBy>Angela López Mendoza</cp:lastModifiedBy>
  <cp:revision>1</cp:revision>
  <dcterms:created xsi:type="dcterms:W3CDTF">2013-01-27T09:14:16Z</dcterms:created>
  <dcterms:modified xsi:type="dcterms:W3CDTF">2013-01-27T09:15:58Z</dcterms:modified>
  <cp:category/>
</cp:coreProperties>
</file>