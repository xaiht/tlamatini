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lIns="12700" rIns="12700" tIns="12700" bIns="12700">
            <a:norm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lIns="12700" rIns="12700" tIns="12700" bIns="12700">
            <a:normAutofit/>
          </a:bodyPr>
          <a:lstStyle/>
          <a:p>
            <a:pPr algn="l"/>
            <a:r>
              <a:rPr sz="1700" b="0">
                <a:solidFill>
                  <a:srgbClr val="B4BAAE"/>
                </a:solidFill>
                <a:latin typeface="Aptos"/>
              </a:rPr>
              <a:t>Self-hosted AI developer assistant (cloud LLMs by default) with RAG, Multi-Turn orchestration, 88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1030</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lIns="12700" rIns="12700" tIns="12700" bIns="12700">
            <a:norm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lIns="12700" rIns="12700" tIns="12700" bIns="12700">
            <a:normAutofit/>
          </a:bodyPr>
          <a:lstStyle/>
          <a:p>
            <a:pPr algn="l"/>
            <a:r>
              <a:rPr sz="2000" b="1">
                <a:solidFill>
                  <a:srgbClr val="E8E8DE"/>
                </a:solidFill>
                <a:latin typeface="Aptos"/>
              </a:rPr>
              <a:t>226,230</a:t>
            </a:r>
          </a:p>
        </p:txBody>
      </p:sp>
      <p:sp>
        <p:nvSpPr>
          <p:cNvPr id="20" name="TextBox 19"/>
          <p:cNvSpPr txBox="1"/>
          <p:nvPr/>
        </p:nvSpPr>
        <p:spPr>
          <a:xfrm>
            <a:off x="822960" y="5806440"/>
            <a:ext cx="5669280" cy="292608"/>
          </a:xfrm>
          <a:prstGeom prst="rect">
            <a:avLst/>
          </a:prstGeom>
          <a:noFill/>
        </p:spPr>
        <p:txBody>
          <a:bodyPr wrap="square" anchor="t" lIns="12700" rIns="12700" tIns="12700" bIns="12700">
            <a:normAutofit/>
          </a:bodyPr>
          <a:lstStyle/>
          <a:p>
            <a:pPr algn="l"/>
            <a:r>
              <a:rPr sz="900" b="0">
                <a:solidFill>
                  <a:srgbClr val="B4BAAE"/>
                </a:solidFill>
                <a:latin typeface="Aptos"/>
              </a:rPr>
              <a:t>Generated August 29, 2026 10:32 AM UTC-0600 at HEAD 64b29725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OPERATOR-CONTROLLED WINDOWS DEFENSE, NOT AN AUTONOMOUS AGENT ROW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Security Toolkit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Purpose and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`security/` directory is an administrator-operated Windows defensive toolkit, not a new chat tool or database-backed workflow Agent row. Tlamatini helps collect and respond to signals only on systems the operator owns or is explicitly authorized to defend.</a:t>
            </a:r>
          </a:p>
          <a:p>
            <a:pPr>
              <a:spcAft>
                <a:spcPts val="400"/>
              </a:spcAft>
              <a:defRPr sz="1100">
                <a:solidFill>
                  <a:srgbClr val="B4BAAE"/>
                </a:solidFill>
                <a:latin typeface="Aptos"/>
              </a:defRPr>
            </a:pPr>
            <a:r>
              <a:t>The six shipped assets are `README.md`, `enable_tlamatini_v2.bat`, `tlamatini_whitelist_v2.ps1`, `run_defender.bat`, `tlamatini_defender.ps1`, and `automated_tests_of_security_assets.py`; runtime evidence is written under git-ignored `security_logs/`.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 enablement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Use the safe sequence validate -&gt; record a Windows baseline -&gt; enable -&gt; restart -&gt; run detect-only -&gt; investigate -&gt; arm only when justified. There is no bundled rollback script, so Defender, ASR, CFA, firewall, execution-policy, audit-policy, and Security-log state must be recorded before elevation.</a:t>
            </a:r>
          </a:p>
          <a:p>
            <a:pPr>
              <a:spcAft>
                <a:spcPts val="400"/>
              </a:spcAft>
              <a:defRPr sz="1100">
                <a:solidFill>
                  <a:srgbClr val="B4BAAE"/>
                </a:solidFill>
                <a:latin typeface="Aptos"/>
              </a:defRPr>
            </a:pPr>
            <a:r>
              <a:t>The visible non-destructive harness parses both PowerShell files, exercises the self-safe classifier, validates official ASR/audit GUIDs, watch timing, UAC path handling, launcher failure propagation, Shoter capture, and headed-browser proof. The audited run passed 40/40 checks, but it does not apply Windows policy or execute an armed sweep.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PERSISTENT HOST CHANGES PLUS TEN EVIDENCE FAMILIES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Controls And Monitoring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Enablement and audit controls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Enablement keeps core Defender/firewall services running but deliberately adds the Tlamatini root and selected executables to Defender exclusions, allows `Tlamatini.exe` through Controlled Folder Access, moves six selected ASR rules to action 6 (Audit), sets current-user PowerShell to RemoteSigned, and creates broad outbound application rules.</a:t>
            </a:r>
          </a:p>
          <a:p>
            <a:pPr>
              <a:spcAft>
                <a:spcPts val="400"/>
              </a:spcAft>
              <a:defRPr sz="1000">
                <a:solidFill>
                  <a:srgbClr val="B4BAAE"/>
                </a:solidFill>
                <a:latin typeface="Aptos"/>
              </a:defRPr>
            </a:pPr>
            <a:r>
              <a:t>The ASR rules cover Office child processes, LSASS credential stealing, WMI event-subscription persistence, email/webmail executables, untrusted or unsigned USB processes, and PSExec/WMI child processes. The script uses Microsoft's published IDs and reads Defender's effective ID/action arrays back before reporting success.</a:t>
            </a:r>
          </a:p>
          <a:p>
            <a:pPr>
              <a:spcAft>
                <a:spcPts val="400"/>
              </a:spcAft>
              <a:defRPr sz="1000">
                <a:solidFill>
                  <a:srgbClr val="B4BAAE"/>
                </a:solidFill>
                <a:latin typeface="Aptos"/>
              </a:defRPr>
            </a:pPr>
            <a:r>
              <a:t>Audit setup uses stable subcategory GUIDs for Logon, Credential Validation, Process Creation, Sensitive Privilege Use, and User Account Management, and checks every `auditpol` exit code. Command-line event 4688 and PowerShell Script Block Logging improve evidence but can record sensitive arguments.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the defender examines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ten monitor families are Defender health, logons, established TCP/listeners, processes, scheduled tasks, services, registry persistence, recently changed critical files, ransomware/recovery tampering, and account/administrator-group events.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DETECT FIRST; INVESTIGATE BEFORE CONTAINMENT OR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Blue-hat Response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Armed behavior and self protection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Detect-only logs `WOULD BLOCK` and `WOULD KILL`. Default armed mode may add persistent inbound/outbound firewall blocks after repeated non-local failed logons and may force-stop known attacker-tool process-name matches; most other findings alert only.</a:t>
            </a:r>
          </a:p>
          <a:p>
            <a:pPr>
              <a:spcAft>
                <a:spcPts val="400"/>
              </a:spcAft>
              <a:defRPr sz="1000">
                <a:solidFill>
                  <a:srgbClr val="B4BAAE"/>
                </a:solidFill>
                <a:latin typeface="Aptos"/>
              </a:defRPr>
            </a:pPr>
            <a:r>
              <a:t>Dual-use names alert unless `-Aggressive` is supplied. Recognized Tlamatini paths are protected from auto-kill, but that is only a path-prefix check, not signature or provenance proof; malicious content inside an excluded/self path can inherit a blind spot.</a:t>
            </a:r>
          </a:p>
          <a:p>
            <a:pPr>
              <a:spcAft>
                <a:spcPts val="400"/>
              </a:spcAft>
              <a:defRPr sz="1000">
                <a:solidFill>
                  <a:srgbClr val="B4BAAE"/>
                </a:solidFill>
                <a:latin typeface="Aptos"/>
              </a:defRPr>
            </a:pPr>
            <a:r>
              <a:t>Watch mode is a foreground loop with `-IntervalSeconds` constrained to 5..86400. It is not a service or scheduled task, and `run_defender.bat` deliberately selects one default armed sweep, so baseline runs should invoke the PowerShell script directly with `-DetectOnly`.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privacy, and packaging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`alerts.log` and `monitor.log` append sensitive usernames, IP addresses, paths, command lines, task/registry details, and response records without built-in rotation, deduplication, automatic unblock, or SIEM forwarding. Treat every severity as triage priority, not certainty.</a:t>
            </a:r>
          </a:p>
          <a:p>
            <a:pPr>
              <a:spcAft>
                <a:spcPts val="400"/>
              </a:spcAft>
              <a:defRPr sz="1000">
                <a:solidFill>
                  <a:srgbClr val="B4BAAE"/>
                </a:solidFill>
                <a:latin typeface="Aptos"/>
              </a:defRPr>
            </a:pPr>
            <a:r>
              <a:t>The batch launchers preserve paths containing spaces through UAC and propagate PowerShell failures. `build.py` ships the security source while excluding logs; self-modify snapshots likewise prune `security_logs/` so screenshots and host telemetry are not published.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(1/9)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Answers codebase questions with loaded file or directory context.</a:t>
            </a:r>
          </a:p>
          <a:p>
            <a:pPr>
              <a:spcAft>
                <a:spcPts val="400"/>
              </a:spcAft>
              <a:defRPr sz="1300">
                <a:solidFill>
                  <a:srgbClr val="B4BAAE"/>
                </a:solidFill>
                <a:latin typeface="Aptos"/>
              </a:defRPr>
            </a:pPr>
            <a:r>
              <a:t>Uses hybrid retrieval to extract metadata, split content, rank source chunks, and respect context budgets.</a:t>
            </a:r>
          </a:p>
          <a:p>
            <a:pPr>
              <a:spcAft>
                <a:spcPts val="400"/>
              </a:spcAft>
              <a:defRPr sz="1300">
                <a:solidFill>
                  <a:srgbClr val="B4BAAE"/>
                </a:solidFill>
                <a:latin typeface="Aptos"/>
              </a:defRPr>
            </a:pPr>
            <a:r>
              <a:t>Can discover files by glob pattern, search their contents by regex through Grepper's BOM-first UTF-8/16/32 and cp1252/Latin-1 decoder while skipping genuine binary data, and make surgical in-place replacements through Editor.</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Makes those SQLite operations WAL-safe: online backup reads through committed WAL pages, creates a self-contained destination, verifies it with `quick_check`, and keeps sidecars attached to the database they belong to.</a:t>
            </a:r>
          </a:p>
          <a:p>
            <a:pPr>
              <a:spcAft>
                <a:spcPts val="400"/>
              </a:spcAft>
              <a:defRPr sz="1100">
                <a:solidFill>
                  <a:srgbClr val="B4BAAE"/>
                </a:solidFill>
                <a:latin typeface="Aptos"/>
              </a:defRPr>
            </a:pPr>
            <a:r>
              <a:t>Can measure this machine's Internet connection through NetSpeed-Calculator, reporting throughput with confidence intervals, latency, jitter, loss, bufferbloat grade, and provider heterogeneity instead of trusting one speed-test endpoint.</a:t>
            </a:r>
          </a:p>
          <a:p>
            <a:pPr>
              <a:spcAft>
                <a:spcPts val="400"/>
              </a:spcAft>
              <a:defRPr sz="1100">
                <a:solidFill>
                  <a:srgbClr val="B4BAAE"/>
                </a:solidFill>
                <a:latin typeface="Aptos"/>
              </a:defRPr>
            </a:pPr>
            <a:r>
              <a:t>Lets operators manage provider secrets from the browser through the Config -&gt; Access Keys Wizard instead of hand-editing `config.json`.</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(2/9)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ten status / reconnect / doctor / runtime / import / list / call / activate / wait helpers.</a:t>
            </a:r>
          </a:p>
          <a:p>
            <a:pPr>
              <a:spcAft>
                <a:spcPts val="400"/>
              </a:spcAft>
              <a:defRPr sz="1000">
                <a:solidFill>
                  <a:srgbClr val="B4BAAE"/>
                </a:solidFill>
                <a:latin typeface="Aptos"/>
              </a:defRPr>
            </a:pPr>
            <a:r>
              <a:t>Ships official Memory and Sequential-Thinking MCP catalog defaults in every install, both inactive, and can provision a private per-user Node/npm/npx/pnpm or uv/uvx runtime without admin access or system-PATH changes.</a:t>
            </a:r>
          </a:p>
          <a:p>
            <a:pPr>
              <a:spcAft>
                <a:spcPts val="400"/>
              </a:spcAft>
              <a:defRPr sz="1000">
                <a:solidFill>
                  <a:srgbClr val="B4BAAE"/>
                </a:solidFill>
                <a:latin typeface="Aptos"/>
              </a:defRPr>
            </a:pPr>
            <a:r>
              <a:t>Gives operators GUI-first database maintenance through the new DB dropdown for backup and staged database replacement.</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(3/9)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support operator-controlled Windows Blue-hat monitoring through the host-side `security/` toolkit, with persistent enablement tradeoffs, detect-only baselining, ten signal families, bounded armed response, and explicit evidence/privacy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(4/9)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(5/9)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(6/9)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Can manage real desktop windows by title: focus them, tile them, resize them, list them, and close them deterministically through Win32 calls.</a:t>
            </a:r>
          </a:p>
          <a:p>
            <a:pPr>
              <a:spcAft>
                <a:spcPts val="400"/>
              </a:spcAft>
              <a:defRPr sz="1100">
                <a:solidFill>
                  <a:srgbClr val="B4BAAE"/>
                </a:solidFill>
                <a:latin typeface="Aptos"/>
              </a:defRPr>
            </a:pPr>
            <a:r>
              <a:t>Can search with Googler through four plain-HTTP server-rendered routes first and, if empty, visible installed Chrome/bundled Chromium across seven browser routes, using bounded retries, manual query operators or a visual/pool structured dork builder, and URL-only output for indexed-file workflows.</a:t>
            </a:r>
          </a:p>
          <a:p>
            <a:pPr>
              <a:spcAft>
                <a:spcPts val="400"/>
              </a:spcAft>
              <a:defRPr sz="1100">
                <a:solidFill>
                  <a:srgbClr val="B4BAAE"/>
                </a:solidFill>
                <a:latin typeface="Aptos"/>
              </a:defRPr>
            </a:pPr>
            <a:r>
              <a:t>Can drive a real Playwright browser through scripted interactive steps for logins, forms, assertions, downloads, extraction, and end-to-end UI checks.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(7/9)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 drive a live Unreal Engine 5 editor through the Unreal MCP plugin, from either Multi-Turn chat or the visual workflow canvas.</a:t>
            </a:r>
          </a:p>
          <a:p>
            <a:pPr>
              <a:spcAft>
                <a:spcPts val="400"/>
              </a:spcAft>
              <a:defRPr sz="1200">
                <a:solidFill>
                  <a:srgbClr val="B4BAAE"/>
                </a:solidFill>
                <a:latin typeface="Aptos"/>
              </a:defRPr>
            </a:pPr>
            <a:r>
              <a:t>Actively reaps orphaned Windows console-host and pool-child processes so long Multi-Turn or ACPX sessions do not leave misleading Tlamatini-icon ghosts in Task Manager.</a:t>
            </a:r>
          </a:p>
          <a:p>
            <a:pPr>
              <a:spcAft>
                <a:spcPts val="400"/>
              </a:spcAft>
              <a:defRPr sz="1200">
                <a:solidFill>
                  <a:srgbClr val="B4BAAE"/>
                </a:solidFill>
                <a:latin typeface="Aptos"/>
              </a:defRPr>
            </a:pPr>
            <a:r>
              <a:t>Can autonomously kill only genuinely hung shell-wrapper subtrees through a boot-time command watchdog that measures CPU and I/O progress instead of guessing from elapsed 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(8/9)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a:p>
            <a:pPr>
              <a:spcAft>
                <a:spcPts val="400"/>
              </a:spcAft>
              <a:defRPr sz="1300">
                <a:solidFill>
                  <a:srgbClr val="B4BAAE"/>
                </a:solidFill>
                <a:latin typeface="Aptos"/>
              </a:defRPr>
            </a:pPr>
            <a:r>
              <a:t>Launches wrapped copies of selected workflow agents in isolated runtime folders without mutating templates.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What The System Does (9/9)</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lIns="12700" rIns="12700" tIns="12700" bIns="12700">
            <a:norm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12700" rIns="127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lIns="12700" rIns="12700" tIns="12700" bIns="12700">
            <a:norm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12700" rIns="127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lIns="12700" rIns="12700" tIns="12700" bIns="12700">
            <a:norm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Browser</a:t>
            </a:r>
          </a:p>
        </p:txBody>
      </p:sp>
      <p:sp>
        <p:nvSpPr>
          <p:cNvPr id="11" name="TextBox 10"/>
          <p:cNvSpPr txBox="1"/>
          <p:nvPr/>
        </p:nvSpPr>
        <p:spPr>
          <a:xfrm>
            <a:off x="2459736"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Channels</a:t>
            </a:r>
          </a:p>
        </p:txBody>
      </p:sp>
      <p:sp>
        <p:nvSpPr>
          <p:cNvPr id="14" name="TextBox 13"/>
          <p:cNvSpPr txBox="1"/>
          <p:nvPr/>
        </p:nvSpPr>
        <p:spPr>
          <a:xfrm>
            <a:off x="4297680"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RAG</a:t>
            </a:r>
          </a:p>
        </p:txBody>
      </p:sp>
      <p:sp>
        <p:nvSpPr>
          <p:cNvPr id="17" name="TextBox 16"/>
          <p:cNvSpPr txBox="1"/>
          <p:nvPr/>
        </p:nvSpPr>
        <p:spPr>
          <a:xfrm>
            <a:off x="6135624"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Planner</a:t>
            </a:r>
          </a:p>
        </p:txBody>
      </p:sp>
      <p:sp>
        <p:nvSpPr>
          <p:cNvPr id="20" name="TextBox 19"/>
          <p:cNvSpPr txBox="1"/>
          <p:nvPr/>
        </p:nvSpPr>
        <p:spPr>
          <a:xfrm>
            <a:off x="7973567"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Tools</a:t>
            </a:r>
          </a:p>
        </p:txBody>
      </p:sp>
      <p:sp>
        <p:nvSpPr>
          <p:cNvPr id="23" name="TextBox 22"/>
          <p:cNvSpPr txBox="1"/>
          <p:nvPr/>
        </p:nvSpPr>
        <p:spPr>
          <a:xfrm>
            <a:off x="9811511" y="2551176"/>
            <a:ext cx="246888" cy="256032"/>
          </a:xfrm>
          <a:prstGeom prst="rect">
            <a:avLst/>
          </a:prstGeom>
          <a:noFill/>
        </p:spPr>
        <p:txBody>
          <a:bodyPr wrap="square" anchor="t" lIns="12700" rIns="12700" tIns="12700" bIns="12700">
            <a:norm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Browser UI sends chat and workflow requests through Django views and Channels WebSockets.</a:t>
            </a:r>
          </a:p>
          <a:p>
            <a:pPr>
              <a:spcAft>
                <a:spcPts val="400"/>
              </a:spcAft>
              <a:defRPr sz="900">
                <a:solidFill>
                  <a:srgbClr val="B4BAAE"/>
                </a:solidFill>
                <a:latin typeface="Aptos"/>
              </a:defRPr>
            </a:pPr>
            <a:r>
              <a:t>RAG chains load selected file/directory context, retrieve relevant chunks, and build answer prompts.</a:t>
            </a:r>
          </a:p>
          <a:p>
            <a:pPr>
              <a:spcAft>
                <a:spcPts val="400"/>
              </a:spcAft>
              <a:defRPr sz="900">
                <a:solidFill>
                  <a:srgbClr val="B4BAAE"/>
                </a:solidFill>
                <a:latin typeface="Aptos"/>
              </a:defRPr>
            </a:pPr>
            <a:r>
              <a:t>DB-menu actions validate directories or SQLite files in the browser, then call Django views that use `sqlite_copy.consistent_copy()` to read through WAL, create a self-contained checked destination, and either back it up or stage it under `DB/ToLoad/db.sqlite3`.</a:t>
            </a:r>
          </a:p>
          <a:p>
            <a:pPr>
              <a:spcAft>
                <a:spcPts val="400"/>
              </a:spcAft>
              <a:defRPr sz="9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900">
                <a:solidFill>
                  <a:srgbClr val="B4BAAE"/>
                </a:solidFill>
                <a:latin typeface="Aptos"/>
              </a:defRPr>
            </a:pPr>
            <a:r>
              <a:t>The file-navigation and file-edit trio sits above raw shell execution: Globber enumerates matching files, Grepper decodes BOM-marked UTF-8/16/32 before cp1252/Latin-1 fallbacks while pruning genuine binary/noisy trees, and Editor performs byte-exact in-place replacements without rewriting an entire file.</a:t>
            </a:r>
          </a:p>
          <a:p>
            <a:pPr>
              <a:spcAft>
                <a:spcPts val="400"/>
              </a:spcAft>
              <a:defRPr sz="900">
                <a:solidFill>
                  <a:srgbClr val="B4BAAE"/>
                </a:solidFill>
                <a:latin typeface="Aptos"/>
              </a:defRPr>
            </a:pPr>
            <a:r>
              <a:t>External MCP connectivity is catalog-driven: `external_mcps.json` stores preserved Claude-style `mcpServers` state, `external_mcp_defaults.py` seeds inactive Memory/Sequential-Thinking defaults with edit/tombstone semantics, `runtime_provisioner.py` resolves or privately provisions npx/uvx managers, and `external_mcp_manager.py` negotiates stdio / streamable-HTTP / SSE / WebSocket before healthy remote tools become `ext__&lt;server&gt;__&lt;tool&gt;` planner entries.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`apply_update.ps1`; the preserve contract retains operator state and `Uninstaller.exe`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`adding-external-mcp` skill applies that machinery in one guarded sequence: classify transport, import secret-separated configuration, diagnose, activate only on intent, wait for healthy tools, inspect status/list output, then call.</a:t>
            </a:r>
          </a:p>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NetSpeed-Calculator path opens parallel keyless-provider streams, drops the slow-start warmup, samples byte derivatives, rejects outliers, computes Student-t intervals, and pools provider estimates with inverse-variance or DerSimonian-Laird random effects; `validate` and `providers` are read-only, while throughput actions are metered tier-D work.</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a:p>
            <a:pPr>
              <a:spcAft>
                <a:spcPts val="400"/>
              </a:spcAft>
              <a:defRPr sz="900">
                <a:solidFill>
                  <a:srgbClr val="B4BAAE"/>
                </a:solidFill>
                <a:latin typeface="Aptos"/>
              </a:defRPr>
            </a:pPr>
            <a:r>
              <a:t>Tool calls execute in the backend, append observations, and may create wrapped runtime copies under `agent/agents/pools/_chat_runs_/`.</a:t>
            </a:r>
          </a:p>
          <a:p>
            <a:pPr>
              <a:spcAft>
                <a:spcPts val="400"/>
              </a:spcAft>
              <a:defRPr sz="900">
                <a:solidFill>
                  <a:srgbClr val="B4BAAE"/>
                </a:solidFill>
                <a:latin typeface="Aptos"/>
              </a:defRPr>
            </a:pPr>
            <a:r>
              <a:t>On the next full start-up, `manage.py` archives the previous database with its WAL/SHM/journal sidecars under `DB/Older/&lt;timestamp&gt;/`, clears stale destination sidecars, and only then promotes the verified staged database before Django imports.</a:t>
            </a:r>
          </a:p>
          <a:p>
            <a:pPr>
              <a:spcAft>
                <a:spcPts val="400"/>
              </a:spcAft>
              <a:defRPr sz="900">
                <a:solidFill>
                  <a:srgbClr val="B4BAAE"/>
                </a:solidFill>
                <a:latin typeface="Aptos"/>
              </a:defRPr>
            </a:pPr>
            <a:r>
              <a:t>ACP flows deploy session-scoped pool instances, wire config values, validate NxN graph rules, and execute through Starter-driven flow semantics.</a:t>
            </a:r>
          </a:p>
          <a:p>
            <a:pPr>
              <a:spcAft>
                <a:spcPts val="400"/>
              </a:spcAft>
              <a:defRPr sz="9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while the explicit private builder can synchronize same-machine contacts into gitignored private staging without exposing them in public output.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lIns="12700" rIns="12700" tIns="12700" bIns="12700">
            <a:norm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V1.10.0 SAFETY MODIFIER CARRIED INTO THE V1.50.4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V1.11.0 UNINSTALL INTEGRATION CARRIED INTO THE V1.50.4 RELEASE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V1.50.4 - INSTALLED-RUNTIME STARTUP ROOT FIX</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`v1.50.4` is the current annotated release, and the tag plus aligned local/`origin/main` HEAD all resolve to `64b29725`. It root-fixes installed-runtime startup by excluding optional Transformers from the frozen Django process, preventing its guarded token-counter fallback from loading 248 Transformers and 663 Torch submodules; carried Python still keeps Torch for Talker. Runtime identity stays Git/build-derived, and this generator creates no tag, commit, or push.</a:t>
            </a:r>
          </a:p>
          <a:p>
            <a:pPr>
              <a:spcAft>
                <a:spcPts val="400"/>
              </a:spcAft>
              <a:defRPr sz="1000">
                <a:solidFill>
                  <a:srgbClr val="B4BAAE"/>
                </a:solidFill>
                <a:latin typeface="Aptos"/>
              </a:defRPr>
            </a:pPr>
            <a:r>
              <a:t>NetSpeed-Calculator is workflow agent 88 and wrapped launcher 66. It measures download, upload, latency, jitter, loss, and bufferbloat across keyless providers, discards slow start, samples d(bytes)/dt, rejects outliers, publishes Student-t confidence intervals, and uses fixed/random-effects fusion with Cochran Q and I-squared. Full runs commonly transfer 100-200 MB and are Ask-Execs tier 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MCP, research, service, and privacy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Googler's structured dork compiler enforces no-space operators, exact quoting, uppercase parenthesized OR groups, exclusions, presets/aliases, and `links_only` file discovery; its pool runtime tries four plain-HTTP routes first, then seven browser routes with bounded retries. v1.50.3 unescapes HTML entities, decodes Bing `ck/a` Base64URL targets, and filters Mojeek self-promotional links. External MCP onboarding and Deep Internet Research prompt 118 remain carried.</a:t>
            </a:r>
          </a:p>
          <a:p>
            <a:pPr>
              <a:spcAft>
                <a:spcPts val="400"/>
              </a:spcAft>
              <a:defRPr sz="1000">
                <a:solidFill>
                  <a:srgbClr val="B4BAAE"/>
                </a:solidFill>
                <a:latin typeface="Aptos"/>
              </a:defRPr>
            </a:pPr>
            <a:r>
              <a:t>Complete operation now documents Ollama Pro or higher as the intended minimum service tier for the shipped cloud-model workload. The private builder synchronizes same-machine contact sources into gitignored `contacts.private.json`, while public builds and self-modify snapshots remain contact-empty.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AGENT 88 - MEASURED THROUGHPUT WITH UNCERTAINTY, NOT A SINGLE FLATTERING NUMBER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NetSpeed-Calculator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Measurement method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Actions are `full`, `download`, `upload`, `latency`, `validate`, and `providers`. `validate` checks reachability and `providers` lists the catalog; neither runs a throughput transfer.</a:t>
            </a:r>
          </a:p>
          <a:p>
            <a:pPr>
              <a:spcAft>
                <a:spcPts val="400"/>
              </a:spcAft>
              <a:defRPr sz="1000">
                <a:solidFill>
                  <a:srgbClr val="B4BAAE"/>
                </a:solidFill>
                <a:latin typeface="Aptos"/>
              </a:defRPr>
            </a:pPr>
            <a:r>
              <a:t>Each throughput direction uses parallel TCP flows, discards the configured warmup/slow-start interval, and samples d(bytes)/dt so the excluded ramp cannot contaminate the estimate.</a:t>
            </a:r>
          </a:p>
          <a:p>
            <a:pPr>
              <a:spcAft>
                <a:spcPts val="400"/>
              </a:spcAft>
              <a:defRPr sz="1000">
                <a:solidFill>
                  <a:srgbClr val="B4BAAE"/>
                </a:solidFill>
                <a:latin typeface="Aptos"/>
              </a:defRPr>
            </a:pPr>
            <a:r>
              <a:t>Per-provider samples are cleaned with Tukey-IQR or MAD rejection, summarized with a trimmed mean, and assigned a small-sample Student-t confidence interval.</a:t>
            </a:r>
          </a:p>
          <a:p>
            <a:pPr>
              <a:spcAft>
                <a:spcPts val="400"/>
              </a:spcAft>
              <a:defRPr sz="1000">
                <a:solidFill>
                  <a:srgbClr val="B4BAAE"/>
                </a:solidFill>
                <a:latin typeface="Aptos"/>
              </a:defRPr>
            </a:pPr>
            <a:r>
              <a:t>Cross-provider fusion starts with inverse-variance weighting and switches to DerSimonian-Laird random effects when Cochran's Q shows genuine disagreement; I-squared quantifies heterogeneity.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Safety, evidence, and operation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Bufferbloat is the RTT increase while the link is saturated, graded A+ through F. A fast idle Mbps number does not excuse poor latency under load.</a:t>
            </a:r>
          </a:p>
          <a:p>
            <a:pPr>
              <a:spcAft>
                <a:spcPts val="400"/>
              </a:spcAft>
              <a:defRPr sz="1000">
                <a:solidFill>
                  <a:srgbClr val="B4BAAE"/>
                </a:solidFill>
                <a:latin typeface="Aptos"/>
              </a:defRPr>
            </a:pPr>
            <a:r>
              <a:t>A zero-byte transfer records and reports its endpoint/network cause instead of masquerading as a measured 0.00 Mbps connection.</a:t>
            </a:r>
          </a:p>
          <a:p>
            <a:pPr>
              <a:spcAft>
                <a:spcPts val="400"/>
              </a:spcAft>
              <a:defRPr sz="1000">
                <a:solidFill>
                  <a:srgbClr val="B4BAAE"/>
                </a:solidFill>
                <a:latin typeface="Aptos"/>
              </a:defRPr>
            </a:pPr>
            <a:r>
              <a:t>Full runs commonly transfer 100-200 MB and deliberately saturate the link. The agent is Ask-Execs tier D; run once with explicit operator awareness and do not repeat only to seek a prettier result.</a:t>
            </a:r>
          </a:p>
          <a:p>
            <a:pPr>
              <a:spcAft>
                <a:spcPts val="400"/>
              </a:spcAft>
              <a:defRPr sz="1000">
                <a:solidFill>
                  <a:srgbClr val="B4BAAE"/>
                </a:solidFill>
                <a:latin typeface="Aptos"/>
              </a:defRPr>
            </a:pPr>
            <a:r>
              <a:t>The network/measurement stack uses Python's standard library; existing PyYAML reads `config.yaml`. JSON evidence lands under `&lt;app&gt;/Temp/NetSpeedCalculator`, and `INI_SECTION_NETSPEED_CALCULATOR` feeds Parametrizer/Forker and Exec Report.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VALID DORK SYNTAX, INDEXED-FILE WORKFLOWS, AND A CLEAR RESPONSIBILITY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Structured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Builder, presets, and operators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visual/pool Googler compiles structured fields into valid Google syntax: operator colons have no following space, exact phrases are double-quoted, alternatives use uppercase OR inside parentheses, and exclusions use `-term` without a gap.</a:t>
            </a:r>
          </a:p>
          <a:p>
            <a:pPr>
              <a:spcAft>
                <a:spcPts val="400"/>
              </a:spcAft>
              <a:defRPr sz="1000">
                <a:solidFill>
                  <a:srgbClr val="B4BAAE"/>
                </a:solidFill>
                <a:latin typeface="Aptos"/>
              </a:defRPr>
            </a:pPr>
            <a:r>
              <a:t>Presets are `book`, `book_public`, `paper`, `manual`, `docs`, `slides`, `sheets`, and `directory`. A preset fills only empty fields, so an explicit user value always wins.</a:t>
            </a:r>
          </a:p>
          <a:p>
            <a:pPr>
              <a:spcAft>
                <a:spcPts val="400"/>
              </a:spcAft>
              <a:defRPr sz="1000">
                <a:solidFill>
                  <a:srgbClr val="B4BAAE"/>
                </a:solidFill>
                <a:latin typeface="Aptos"/>
              </a:defRPr>
            </a:pPr>
            <a:r>
              <a:t>File aliases expand `ebook`, `book`, `docs`, `slides`, `sheets`, `text`, `code`, and `data`; multiple file types or sites become grouped OR clauses, while excluded sites become `-site:` filters.</a:t>
            </a:r>
          </a:p>
          <a:p>
            <a:pPr>
              <a:spcAft>
                <a:spcPts val="400"/>
              </a:spcAft>
              <a:defRPr sz="1000">
                <a:solidFill>
                  <a:srgbClr val="B4BAAE"/>
                </a:solidFill>
                <a:latin typeface="Aptos"/>
              </a:defRPr>
            </a:pPr>
            <a:r>
              <a:t>The remaining fields cover exact/author phrases; title, URL, text, and anchor operators; alternatives; AROUND proximity; numeric ranges; before/after dates; related/cache/define/source discovery; and term exclusions.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 workflow and responsible use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For PDF, EPUB, document, slide, sheet, code, or data hunts, `content_mode: links_only` is the correct success path: Googler returns URL/title records without trying to extract text from a binary response.</a:t>
            </a:r>
          </a:p>
          <a:p>
            <a:pPr>
              <a:spcAft>
                <a:spcPts val="400"/>
              </a:spcAft>
              <a:defRPr sz="1000">
                <a:solidFill>
                  <a:srgbClr val="B4BAAE"/>
                </a:solidFill>
                <a:latin typeface="Aptos"/>
              </a:defRPr>
            </a:pPr>
            <a:r>
              <a:t>A typical downstream flow is Googler (`links_only`) -&gt; Parametrizer -&gt; Apirer (authorized download) -&gt; File-Extractor or File-Interpreter -&gt; Summarizer. Crawler remains appropriate when the target is an already-known web page.</a:t>
            </a:r>
          </a:p>
          <a:p>
            <a:pPr>
              <a:spcAft>
                <a:spcPts val="400"/>
              </a:spcAft>
              <a:defRPr sz="1000">
                <a:solidFill>
                  <a:srgbClr val="B4BAAE"/>
                </a:solidFill>
                <a:latin typeface="Aptos"/>
              </a:defRPr>
            </a:pPr>
            <a:r>
              <a:t>The direct Multi-Turn `googler` tool accepts equivalent hand-written operators inside `query`; the structured fields and presets belong to the visual/pool agent and must not be advertised as direct-tool parameters.</a:t>
            </a:r>
          </a:p>
          <a:p>
            <a:pPr>
              <a:spcAft>
                <a:spcPts val="400"/>
              </a:spcAft>
              <a:defRPr sz="1000">
                <a:solidFill>
                  <a:srgbClr val="B4BAAE"/>
                </a:solidFill>
                <a:latin typeface="Aptos"/>
              </a:defRPr>
            </a:pPr>
            <a:r>
              <a:t>Googler locates publicly indexed URLs only and does not bypass access controls. Indexing is not permission: copyright, licensing, authorization, downloading, and use remain the operator's responsibility.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PLAIN HTTP FIRST, SEVEN BROWSER ROUTES SECOND, BOUNDED RETRIES, AND HONEST ATTRIBUTION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Googler Search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Measured failure and browser policy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measured failure drove the redesign: bundled headless Chromium returned zero results even for a plain control query, and the old single DuckDuckGo fallback returned an error page, while the same dork in visible installed Chrome returned real EPUB URLs.</a:t>
            </a:r>
          </a:p>
          <a:p>
            <a:pPr>
              <a:spcAft>
                <a:spcPts val="400"/>
              </a:spcAft>
              <a:defRPr sz="1000">
                <a:solidFill>
                  <a:srgbClr val="B4BAAE"/>
                </a:solidFill>
                <a:latin typeface="Aptos"/>
              </a:defRPr>
            </a:pPr>
            <a:r>
              <a:t>Tier 0 uses plain `urllib` before any browser: DuckDuckGo HTML, Bing, DuckDuckGo Lite, and Mojeek provide server-rendered pages without browser fingerprints or CSS-selector dependence. v1.50.3 unescapes HTML entities, decodes Bing `ck/a` Base64URL targets, and filters Mojeek's own promotional links before the first non-empty result set wins.</a:t>
            </a:r>
          </a:p>
          <a:p>
            <a:pPr>
              <a:spcAft>
                <a:spcPts val="400"/>
              </a:spcAft>
              <a:defRPr sz="1000">
                <a:solidFill>
                  <a:srgbClr val="B4BAAE"/>
                </a:solidFill>
                <a:latin typeface="Aptos"/>
              </a:defRPr>
            </a:pPr>
            <a:r>
              <a:t>If Tier 0 is empty, Tier 1 defaults to visible installed Chrome, falls back to bundled Chromium, and walks seven direct-result browser routes: DuckDuckGo HTML/Lite, Mojeek, Bing, Google, Brave, Startpage. Headless remains opt-in and more refusal-prone.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Fallback, semantics,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Each browser route receives `attempts_per_engine` bounded attempts with polite jittered backoff. The log names the route that actually answered instead of implying every result came from Google.</a:t>
            </a:r>
          </a:p>
          <a:p>
            <a:pPr>
              <a:spcAft>
                <a:spcPts val="400"/>
              </a:spcAft>
              <a:defRPr sz="1000">
                <a:solidFill>
                  <a:srgbClr val="B4BAAE"/>
                </a:solidFill>
                <a:latin typeface="Aptos"/>
              </a:defRPr>
            </a:pPr>
            <a:r>
              <a:t>`engines` can pin a browser route such as `[google]` and deliberately skips Tier 0. Empty selection enables both documented tiers; tolerant booleans keep wrapped string `false` from silently becoming true.</a:t>
            </a:r>
          </a:p>
          <a:p>
            <a:pPr>
              <a:spcAft>
                <a:spcPts val="400"/>
              </a:spcAft>
              <a:defRPr sz="1000">
                <a:solidFill>
                  <a:srgbClr val="B4BAAE"/>
                </a:solidFill>
                <a:latin typeface="Aptos"/>
              </a:defRPr>
            </a:pPr>
            <a:r>
              <a:t>`site:` and `filetype:` work broadly, but `before:`, `after:`, `AROUND()`, and numeric-range semantics are Google-specific. A fallback engine may return broader candidates, so exact full-vocabulary work should pin Google and reports must preserve the answering-engine truth.</a:t>
            </a:r>
          </a:p>
          <a:p>
            <a:pPr>
              <a:spcAft>
                <a:spcPts val="400"/>
              </a:spcAft>
              <a:defRPr sz="1000">
                <a:solidFill>
                  <a:srgbClr val="B4BAAE"/>
                </a:solidFill>
                <a:latin typeface="Aptos"/>
              </a:defRPr>
            </a:pPr>
            <a:r>
              <a:t>The 73-test deterministic suite covers query compilation, config defaults, HTTP-before-browser order, seven-route browser order, retry/fallback stopping, pinned-engine Tier-0 bypass, tolerant booleans, and redirect unwrapping. The optional headed dork-hunt harness stores public/open-source proof under Tlamatini `Temp`; the v1.50.3 tag records the first paired-Tlamatinis Googler improvement phase.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BACKUP DB, SET DB, AND STARTUP PROMOTION NOW PRESERVE COMMITTED SQLITE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WAL-Safe Database Movement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Consistent copy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SQLite WAL mode can hold committed pages in `db.sqlite3-wal`, so copying only the main file can silently produce an old backup while claiming success.</a:t>
            </a:r>
          </a:p>
          <a:p>
            <a:pPr>
              <a:spcAft>
                <a:spcPts val="400"/>
              </a:spcAft>
              <a:defRPr sz="1100">
                <a:solidFill>
                  <a:srgbClr val="B4BAAE"/>
                </a:solidFill>
                <a:latin typeface="Aptos"/>
              </a:defRPr>
            </a:pPr>
            <a:r>
              <a:t>`sqlite_copy.consistent_copy()` uses SQLite's online backup API to read through WAL, converts the destination to DELETE journal mode, and requires `PRAGMA quick_check` before success.</a:t>
            </a:r>
          </a:p>
          <a:p>
            <a:pPr>
              <a:spcAft>
                <a:spcPts val="400"/>
              </a:spcAft>
              <a:defRPr sz="1100">
                <a:solidFill>
                  <a:srgbClr val="B4BAAE"/>
                </a:solidFill>
                <a:latin typeface="Aptos"/>
              </a:defRPr>
            </a:pPr>
            <a:r>
              <a:t>Backup DB writes that verified self-contained copy to the selected directory. Set DB writes the same safe form into `DB/ToLoad/db.sqlite3` without touching Django's open live connection.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Sidecar-safe promotion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Before Django imports, `manage.py::_apply_pending_db_swap()` archives the outgoing main database plus WAL/SHM/journal sidecars under `DB/Older/&lt;timestamp&gt;/`.</a:t>
            </a:r>
          </a:p>
          <a:p>
            <a:pPr>
              <a:spcAft>
                <a:spcPts val="400"/>
              </a:spcAft>
              <a:defRPr sz="1100">
                <a:solidFill>
                  <a:srgbClr val="B4BAAE"/>
                </a:solidFill>
                <a:latin typeface="Aptos"/>
              </a:defRPr>
            </a:pPr>
            <a:r>
              <a:t>The swap removes stale sidecars beside the destination before promotion, preventing SQLite from replaying pages belonging to the previous database over the selected replacement.</a:t>
            </a:r>
          </a:p>
          <a:p>
            <a:pPr>
              <a:spcAft>
                <a:spcPts val="400"/>
              </a:spcAft>
              <a:defRPr sz="1100">
                <a:solidFill>
                  <a:srgbClr val="B4BAAE"/>
                </a:solidFill>
                <a:latin typeface="Aptos"/>
              </a:defRPr>
            </a:pPr>
            <a:r>
              <a:t>Database copy truth is fail-safe: unreadable, inconsistent, or unchecked output is failure. The previous live database remains available if promotion cannot finish safely.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GUIDED ONBOARDING, A DEEP-RESEARCH STARTER, AND STRICT PII BOUNDARIES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Research, And Private Builds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MCP and research lifecycle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External MCP Adder skill's eight-step lifecycle is transport classification, secret-separated configuration, import, Doctor, intentional activation, healthy wait, status/list inspection, and remote call.</a:t>
            </a:r>
          </a:p>
          <a:p>
            <a:pPr>
              <a:spcAft>
                <a:spcPts val="400"/>
              </a:spcAft>
              <a:defRPr sz="1100">
                <a:solidFill>
                  <a:srgbClr val="B4BAAE"/>
                </a:solidFill>
                <a:latin typeface="Aptos"/>
              </a:defRPr>
            </a:pPr>
            <a:r>
              <a:t>Memory and Sequential Thinking remain inactive shipped defaults; deletion tombstones and persistent per-user state are respected, and at most five catalog servers are active at once.</a:t>
            </a:r>
          </a:p>
          <a:p>
            <a:pPr>
              <a:spcAft>
                <a:spcPts val="400"/>
              </a:spcAft>
              <a:defRPr sz="1100">
                <a:solidFill>
                  <a:srgbClr val="B4BAAE"/>
                </a:solidFill>
                <a:latin typeface="Aptos"/>
              </a:defRPr>
            </a:pPr>
            <a:r>
              <a:t>Deep Internet Research is append-only prompt 118 (`getting_started`, `sort_rank=100`). It requests Multi-Turn plus Exec Report for a long, link-rich search and may use authorized MCPs/agents without making them hidden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privacy boundary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Ollama Pro or higher is the documented minimum tier for complete intended cloud-model operation. This is not sponsorship, and plan pricing/limits must be checked with Ollama.</a:t>
            </a:r>
          </a:p>
          <a:p>
            <a:pPr>
              <a:spcAft>
                <a:spcPts val="400"/>
              </a:spcAft>
              <a:defRPr sz="1100">
                <a:solidFill>
                  <a:srgbClr val="B4BAAE"/>
                </a:solidFill>
                <a:latin typeface="Aptos"/>
              </a:defRPr>
            </a:pPr>
            <a:r>
              <a:t>The explicit private builder merges same-machine contact sources into gitignored `contacts.private.json` using normalized names, alias union, and non-empty-value preservation.</a:t>
            </a:r>
          </a:p>
          <a:p>
            <a:pPr>
              <a:spcAft>
                <a:spcPts val="400"/>
              </a:spcAft>
              <a:defRPr sz="1100">
                <a:solidFill>
                  <a:srgbClr val="B4BAAE"/>
                </a:solidFill>
                <a:latin typeface="Aptos"/>
              </a:defRPr>
            </a:pPr>
            <a:r>
              <a:t>Public builds ship an empty contacts book; self-modify snapshots contain no contact files; generated dossiers never reproduce contact values, credentials, or live catalog secrets.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CLOSED STATUS VOCABULARY, CANONICAL RESULT FIELDS, AND RUNTIME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`agent/agent_verdict.py` now owns the CLOSED `KNOWN_STATUSES` union of five disjoint sets: `DIAGNOSTIC_COMPLETED_STATUSES`, `WORK_COMPLETED_STATUSES`, `WORK_DEGRADED_STATUSES`, `WORK_NOT_DONE_STATUSES`, and `AGENT_ERROR_STATUSES`. The first two are green; the last three are red. R8b remains fail-open for unknown runtime input, while `agent/test_status_vocabulary.py` rejects unknown literals before release.</a:t>
            </a:r>
          </a:p>
          <a:p>
            <a:pPr>
              <a:spcAft>
                <a:spcPts val="400"/>
              </a:spcAft>
              <a:defRPr sz="1000">
                <a:solidFill>
                  <a:srgbClr val="B4BAAE"/>
                </a:solidFill>
                <a:latin typeface="Aptos"/>
              </a:defRPr>
            </a:pPr>
            <a:r>
              <a:t>Grepper detects BOM-marked UTF-8/16/32 before cp1252/Latin-1 fallbacks and before the NUL-byte binary test. The self-report outranks process exit code; Kuberneter emits `returncode`, `success`, and semantic `status: ok|failed`. Source-derived tests stop status, supervisor, prompt, and catalog drift.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Database startup safeguard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`agent/sqlite_copy.py` routes Backup DB, Set DB, and pre-Django hot-swap through SQLite's online backup API. Destinations become self-contained DELETE-journal files, must pass `PRAGMA quick_check`, and keep or clear WAL/SHM/journal sidecars in the correct order before promotion.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V1.48.16 - V1.48.17 SAFETY LINEAGE CARRIED BY V1.50.4</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Dialog And Bundle Proof</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Uniform dismissal and themed pop-ups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Frontend dialogs now share one visual language through `dialog_theme.css` and one fail-open dismissal contract through `dialog_policy.js`: an outside click never dismisses, while Escape finds the topmost open dialog and invokes that dialog's own X/Cancel path so permission denials, confirmation-false results, and scroll-lock cleanup remain intact. A sealed downloading updater is the single exception and refuses Escape/reload shortcuts. `tlmAlert` / `tlmConfirm` replace the remaining native pop-ups inside Contacts and External MCP dialogs, while `release_notes_renderer.js` safely renders update notes.</a:t>
            </a:r>
          </a:p>
          <a:p>
            <a:pPr>
              <a:spcAft>
                <a:spcPts val="400"/>
              </a:spcAft>
              <a:defRPr sz="1000">
                <a:solidFill>
                  <a:srgbClr val="B4BAAE"/>
                </a:solidFill>
                <a:latin typeface="Aptos"/>
              </a:defRPr>
            </a:pPr>
            <a:r>
              <a:t>The bubble-phase dispatcher closes only the topmost layer through its own dismiss control; no affirmative action is selected and one Escape cannot close two stacked dialogs.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Frozen payload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`v1.48.16` build proof names fail-open imports explicitly with hidden-import flags, opens the PyInstaller archive it just produced, and aborts if any of seven required `agent.*` modules is genuinely absent. Unreadable archive formats warn rather than fabricate failure, but a readable archive missing a required module cannot ship.</a:t>
            </a:r>
          </a:p>
          <a:p>
            <a:pPr>
              <a:spcAft>
                <a:spcPts val="400"/>
              </a:spcAft>
              <a:defRPr sz="1000">
                <a:solidFill>
                  <a:srgbClr val="B4BAAE"/>
                </a:solidFill>
                <a:latin typeface="Aptos"/>
              </a:defRPr>
            </a:pPr>
            <a:r>
              <a:t>Evidence: 35 focused dismissal-policy tests, a visible headed-Chrome proof runner, the tree-wide `closeOnEscape: false` guard, and build tests for CArchive/PYZ inspection.</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Menus, logging, and whole-desktop capture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Long operations use `LONG_OPERATION_DISABLED_MENU_BUTTONS` as the single Open/Save/Context/MCPs/Skills/External/Config/DB/Reconnect lock list; disable/restore paths preserve `data-bs-toggle`, while only Check for Updates and Configure Agents receive the targeted extra lock. Application logging now attributes output by user, request, stream, and source line.</a:t>
            </a:r>
          </a:p>
          <a:p>
            <a:pPr>
              <a:spcAft>
                <a:spcPts val="400"/>
              </a:spcAft>
              <a:defRPr sz="10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v1.50.4 assets include `test_web_process_stays_lean.py`, the `build.py` frozen-process exclusion, canonical `langchain_core.tools` imports in runtime/tests, and `docs/claude/recent-fixes.md`. The regression suite guards against warning muting, direct ML-stack imports, accidental Torch exclusion from carried Python, and loss of the upstream guarded import contract.</a:t>
            </a:r>
          </a:p>
          <a:p>
            <a:pPr>
              <a:spcAft>
                <a:spcPts val="400"/>
              </a:spcAft>
              <a:defRPr sz="1000">
                <a:solidFill>
                  <a:srgbClr val="B4BAAE"/>
                </a:solidFill>
                <a:latin typeface="Aptos"/>
              </a:defRPr>
            </a:pPr>
            <a:r>
              <a:t>WAL-safe database assets include `agent/sqlite_copy.py`, the pre-Django `manage.py` swap, DB-menu views, `test_db_backup_restore_wal.py`, `run_db_wal_tests.ps1`, and the headed `test_db_backup_set_visible.py` suite.</a:t>
            </a:r>
          </a:p>
          <a:p>
            <a:pPr>
              <a:spcAft>
                <a:spcPts val="400"/>
              </a:spcAft>
              <a:defRPr sz="1000">
                <a:solidFill>
                  <a:srgbClr val="B4BAAE"/>
                </a:solidFill>
                <a:latin typeface="Aptos"/>
              </a:defRPr>
            </a:pPr>
            <a:r>
              <a:t>External-MCP onboarding assets include `skills_pkg/adding_external_mcp/SKILL.md` plus its transport, configuration, doctor, and activation references; migration 0194 and `test_deep_research_prompt.py` cover the new starter prompt.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Private-release evidence includes `build_complete_private_release.py::sync_contacts_private`, the public empty-contact contract, and source-snapshot contact exclusion. Generated docs never reproduce contact values or live External-MCP credentials.</a:t>
            </a:r>
          </a:p>
          <a:p>
            <a:pPr>
              <a:spcAft>
                <a:spcPts val="400"/>
              </a:spcAft>
              <a:defRPr sz="1000">
                <a:solidFill>
                  <a:srgbClr val="B4BAAE"/>
                </a:solidFill>
                <a:latin typeface="Aptos"/>
              </a:defRPr>
            </a:pPr>
            <a:r>
              <a:t>The carried search/verdict/build assets remain represented by Grepper encoding tests, `agent_verdict.py`, Kuberneter contracts, `Uninstaller.exe` preservation, and the frozen-archive carriage proof.</a:t>
            </a:r>
          </a:p>
          <a:p>
            <a:pPr>
              <a:spcAft>
                <a:spcPts val="400"/>
              </a:spcAft>
              <a:defRPr sz="1000">
                <a:solidFill>
                  <a:srgbClr val="B4BAAE"/>
                </a:solidFill>
                <a:latin typeface="Aptos"/>
              </a:defRPr>
            </a:pPr>
            <a:r>
              <a:t>Blue-hat assets include the six tracked files under `security/`, build/source-snapshot log exclusions, official ASR and audit-policy GUID contracts, path-safe UAC launchers, the bounded defender watch loop, the expanded visible harness that passed 40/40 non-destructive checks, and fail-open self-update carryover for operator-owned `security_logs/` evidence.</a:t>
            </a:r>
          </a:p>
          <a:p>
            <a:pPr>
              <a:spcAft>
                <a:spcPts val="400"/>
              </a:spcAft>
              <a:defRPr sz="1000">
                <a:solidFill>
                  <a:srgbClr val="B4BAAE"/>
                </a:solidFill>
                <a:latin typeface="Aptos"/>
              </a:defRPr>
            </a:pPr>
            <a:r>
              <a:t>The inventory includes `image copy.png` as binary diagnostic evidence of the pre-fix startup console; its image contents and machine-specific paths are not reproduced in the dossiers. Line totals count text only and exclude comments, blanks, and Python docstrings according to the documented method.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binary-content guard, PDFer, LaTeXer repair ladder, FlowCreator, prompt grammar, recon free-run, STM32er PlatformIO/camera demos, and External-MCP structured-result delivery remain carried behavior rather than disappearing behind the latest changes.</a:t>
            </a:r>
          </a:p>
          <a:p>
            <a:pPr>
              <a:spcAft>
                <a:spcPts val="400"/>
              </a:spcAft>
              <a:defRPr sz="900">
                <a:solidFill>
                  <a:srgbClr val="B4BAAE"/>
                </a:solidFill>
                <a:latin typeface="Aptos"/>
              </a:defRPr>
            </a:pPr>
            <a:r>
              <a:t>The private External-MCP runtime, inactive Memory/Sequential-Thinking defaults, tombstones, persistent Memory state, secret-separated catalogs, nested-diagram restoration, Mover/Deleter placement guard, and updater preservation remain carried from the v1.48.14-v1.48.17 lineage.</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README.md and BookOfTlamatini.md remain the complete content baselines, while Git is the version source of truth: annotated release `v1.50.4` and aligned local/remote HEAD all resolve to `64b29725`. The generated facts are source-derived: 88 agents, 66 wrapped launchers, 108 built-in Multi-Turn tools, 29 skills, and 197 migrations before documentation edits change line totals.</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target behavior and tagged historical predecessors are described separately.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the `v1.50.4` release.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Release identity: `v1.50.4` is the current annotated release, and aligned local/remote HEAD resolves to the same `64b29725` commit. The release keeps optional Transformers/Torch out of the frozen web process, migrates runtime tool imports to `langchain_core.tools`, and adds lean-startup regression guards while carrying v1.50.3 Googler resilience, NetSpeed-Calculator, WAL-safe SQLite movement, External-MCP onboarding, Deep Internet Research, private contact synchronization, and the earlier safety/platform waves.</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9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9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900">
                <a:solidFill>
                  <a:srgbClr val="B4BAAE"/>
                </a:solidFill>
                <a:latin typeface="Aptos"/>
              </a:defRPr>
            </a:pPr>
            <a:r>
              <a:t>Before pulling the shipped `:cloud` model tags, activate Ollama Pro or higher and run `ollama signin`; this is an operating requirement for the complete intended workload, not a sponsorship or affiliate relationship.</a:t>
            </a:r>
          </a:p>
          <a:p>
            <a:pPr>
              <a:spcAft>
                <a:spcPts val="400"/>
              </a:spcAft>
              <a:defRPr sz="9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9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The 88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lIns="12700" rIns="12700" tIns="12700" bIns="12700">
            <a:norm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lIns="12700" rIns="12700" tIns="12700" bIns="12700">
            <a:norm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Templates on disk with config.yaml: 88</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88-agent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The live operator surface now stands at 88 workflow agents, 108 Multi-Turn tools, 12 ACPX tools, and 29 skills.</a:t>
            </a:r>
          </a:p>
          <a:p>
            <a:pPr>
              <a:spcAft>
                <a:spcPts val="400"/>
              </a:spcAft>
              <a:defRPr sz="1100">
                <a:solidFill>
                  <a:srgbClr val="B4BAAE"/>
                </a:solidFill>
                <a:latin typeface="Aptos"/>
              </a:defRPr>
            </a:pPr>
            <a:r>
              <a:t>Source inspection confirms the total: 20 core Python tools + 66 wrapped chat-agent tools + 12 ACPX/Skill tools + 10 External-MCP supervisors = 108 built-in Multi-Turn tools; healthy active servers add dynamic `ext__*` remotes separately.</a:t>
            </a:r>
          </a:p>
          <a:p>
            <a:pPr>
              <a:spcAft>
                <a:spcPts val="400"/>
              </a:spcAft>
              <a:defRPr sz="1100">
                <a:solidFill>
                  <a:srgbClr val="B4BAAE"/>
                </a:solidFill>
                <a:latin typeface="Aptos"/>
              </a:defRPr>
            </a:pPr>
            <a:r>
              <a:t>The count growth over older public badges comes from stacked waves: the deterministic file trio, ESPHomer, MCP Doctor, Zavuerer, Video-Analyzer, Nmapper, NetSpeed-Calculator, and the `adding-external-mcp` skill.</a:t>
            </a:r>
          </a:p>
          <a:p>
            <a:pPr>
              <a:spcAft>
                <a:spcPts val="400"/>
              </a:spcAft>
              <a:defRPr sz="11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1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88-agent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For a deterministic MCP setup, invoke the `adding-external-mcp` skill and follow classify -&gt; import -&gt; doctor -&gt; activate -&gt; wait -&gt; status/list -&gt; call; do not treat a saved catalog row as a connected server.</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a:p>
            <a:pPr>
              <a:spcAft>
                <a:spcPts val="400"/>
              </a:spcAft>
              <a:defRPr sz="900">
                <a:solidFill>
                  <a:srgbClr val="B4BAAE"/>
                </a:solidFill>
                <a:latin typeface="Aptos"/>
              </a:defRPr>
            </a:pPr>
            <a:r>
              <a:t>For Internet measurement, call `chat_agent_netspeed_calculator` once with `latency` or `validate` for low-bandwidth diagnosis, or explicitly approve `full` / `download` / `upload` knowing a full run commonly transfers 100-200 MB; report the confidence interval and provider disagreement, not only one Mbps number.</a:t>
            </a:r>
          </a:p>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1100">
                <a:solidFill>
                  <a:srgbClr val="B4BAAE"/>
                </a:solidFill>
                <a:latin typeface="Aptos"/>
              </a:defRPr>
            </a:pPr>
            <a:r>
              <a:t>For interactive web automation, call `chat_agent_playwrighter` from Multi-Turn with a `steps_json` script, or author the same step list visually with the Playwrighter node on the canvas.</a:t>
            </a:r>
          </a:p>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lIns="12700" rIns="12700" tIns="12700" bIns="12700">
            <a:norm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12700" rIns="127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lIns="12700" rIns="12700" tIns="12700" bIns="12700">
            <a:norm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a:p>
            <a:pPr>
              <a:spcAft>
                <a:spcPts val="400"/>
              </a:spcAft>
              <a:defRPr sz="11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100">
                <a:solidFill>
                  <a:srgbClr val="B4BAAE"/>
                </a:solidFill>
                <a:latin typeface="Aptos"/>
              </a:defRPr>
            </a:pPr>
            <a:r>
              <a:t>Open `/agentic_control_panel/` to drag agents, connect them, configure each node, validate, start, pause/resume, stop, and save `.flw` workflows.</a:t>
            </a:r>
          </a:p>
          <a:p>
            <a:pPr>
              <a:spcAft>
                <a:spcPts val="400"/>
              </a:spcAft>
              <a:defRPr sz="11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lIns="12700" rIns="12700" tIns="12700" bIns="12700">
            <a:norm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lIns="12700" rIns="12700" tIns="12700" bIns="12700">
            <a:norm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lIns="12700" rIns="12700" tIns="12700" bIns="12700">
            <a:norm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900">
                <a:solidFill>
                  <a:srgbClr val="B4BAAE"/>
                </a:solidFill>
                <a:latin typeface="Aptos"/>
              </a:defRPr>
            </a:pPr>
            <a:r>
              <a:t>For Tlamatini's complete intended cloud-model workload, activate Ollama Pro or a higher plan such as Max and sign in with the Ollama CLI. Free/local-only operation is a limited compatibility path, not the documented full-workload baseline; verify current plan pricing and limits on Ollama's official site.</a:t>
            </a:r>
          </a:p>
          <a:p>
            <a:pPr>
              <a:spcAft>
                <a:spcPts val="400"/>
              </a:spcAft>
              <a:defRPr sz="9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9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9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900">
                <a:solidFill>
                  <a:srgbClr val="B4BAAE"/>
                </a:solidFill>
                <a:latin typeface="Aptos"/>
              </a:defRPr>
            </a:pPr>
            <a:r>
              <a:t>When a newer packaged release exists, the intended upgrade path is in-app: `About -&gt; Check for updates`, not manual folder replacement.</a:t>
            </a:r>
          </a:p>
          <a:p>
            <a:pPr>
              <a:spcAft>
                <a:spcPts val="400"/>
              </a:spcAft>
              <a:defRPr sz="9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`v1.50.4` release documentation set; it carries measured networking, WAL-safe database movement, structured and resilient Googler discovery, guided MCP onboarding, and current counts while retaining encoding-safe search, guarded execution truth, private MCP runtime/defaults, diagram hardening, LaTeXer, the binary guard, PDFer, FlowCreator, prompt standardization, category grouping, and ranked fuzzy search.</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The DB dropdown gives operators two GUI-first maintenance paths: `Backup database` creates a WAL-consistent verified snapshot, and `Set DB` stages a WAL-consistent chosen database for the next full start-up.</a:t>
            </a:r>
          </a:p>
          <a:p>
            <a:pPr>
              <a:spcAft>
                <a:spcPts val="400"/>
              </a:spcAft>
              <a:defRPr sz="14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400">
                <a:solidFill>
                  <a:srgbClr val="B4BAAE"/>
                </a:solidFill>
                <a:latin typeface="Aptos"/>
              </a:defRPr>
            </a:pPr>
            <a:r>
              <a:t>Both paths use `sqlite_copy.consistent_copy()`: SQLite's online backup API reads through committed WAL pages, the destination switches to DELETE journal mode, and `PRAGMA quick_check` must pass before success. Set DB never hot-swaps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Set DB writes a verified self-contained copy to `DB/ToLoad/db.sqlite3`; the real swap happens only at the top of `manage.py` before Django imports anything.</a:t>
            </a:r>
          </a:p>
          <a:p>
            <a:pPr>
              <a:spcAft>
                <a:spcPts val="400"/>
              </a:spcAft>
              <a:defRPr sz="1100">
                <a:solidFill>
                  <a:srgbClr val="B4BAAE"/>
                </a:solidFill>
                <a:latin typeface="Aptos"/>
              </a:defRPr>
            </a:pPr>
            <a:r>
              <a:t>When that swap runs, the previous live database and its `-wal`/`-shm`/`-journal` family move into `DB/Older/&lt;timestamp&gt;/`, creating a rollback trail instead of overwriting history.</a:t>
            </a:r>
          </a:p>
          <a:p>
            <a:pPr>
              <a:spcAft>
                <a:spcPts val="400"/>
              </a:spcAft>
              <a:defRPr sz="1100">
                <a:solidFill>
                  <a:srgbClr val="B4BAAE"/>
                </a:solidFill>
                <a:latin typeface="Aptos"/>
              </a:defRPr>
            </a:pPr>
            <a:r>
              <a:t>Stale sidecars beside the destination are removed before promotion so SQLite can never replay pages belonging to the previous database over the newly selected file.</a:t>
            </a:r>
          </a:p>
          <a:p>
            <a:pPr>
              <a:spcAft>
                <a:spcPts val="400"/>
              </a:spcAft>
              <a:defRPr sz="1100">
                <a:solidFill>
                  <a:srgbClr val="B4BAAE"/>
                </a:solidFill>
                <a:latin typeface="Aptos"/>
              </a:defRPr>
            </a:pPr>
            <a:r>
              <a:t>Reconnect is not enough for this path: the operator must fully restart Tlamatini so the pre-Django swap window opens again.</a:t>
            </a:r>
          </a:p>
          <a:p>
            <a:pPr>
              <a:spcAft>
                <a:spcPts val="400"/>
              </a:spcAft>
              <a:defRPr sz="1100">
                <a:solidFill>
                  <a:srgbClr val="B4BAAE"/>
                </a:solidFill>
                <a:latin typeface="Aptos"/>
              </a:defRPr>
            </a:pPr>
            <a:r>
              <a:t>Copy verification is fail-safe: an unreadable, inconsistent, or unchecked result is reported as failure rather than called a backup. Startup preserves the previous live database if promotion cannot complete safely.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4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400">
                <a:solidFill>
                  <a:srgbClr val="B4BAAE"/>
                </a:solidFill>
                <a:latin typeface="Aptos"/>
              </a:defRPr>
            </a:pPr>
            <a:r>
              <a:t>Git resolves the current release as `TLAMATINI_VERSION=1.50.4`, matching the newest annotated `v1.50.4` tag at aligned local/remote HEAD rather than inventing a separate build identity.</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lIns="12700" rIns="12700" tIns="12700" bIns="12700">
            <a:normAutofit/>
          </a:bodyPr>
          <a:lstStyle/>
          <a:p>
            <a:pPr algn="l"/>
            <a:r>
              <a:rPr sz="900" b="0">
                <a:solidFill>
                  <a:srgbClr val="B4BAAE"/>
                </a:solidFill>
                <a:latin typeface="Cascadia Mono"/>
              </a:rPr>
              <a:t>Resolved current version: 1.50.4 | build: 1.50.4</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lIns="12700" rIns="12700" tIns="12700" bIns="12700">
            <a:norm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Activate Ollama Pro or a higher plan such as Max for Tlamatini's complete intended functionality, then run `ollama signin` so the host is linked before using the shipped `:cloud` defaults. This requirement is not a sponsorship; verify current plan details directly with Ollama.</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build.py</a:t>
            </a:r>
          </a:p>
        </p:txBody>
      </p:sp>
      <p:sp>
        <p:nvSpPr>
          <p:cNvPr id="11" name="TextBox 10"/>
          <p:cNvSpPr txBox="1"/>
          <p:nvPr/>
        </p:nvSpPr>
        <p:spPr>
          <a:xfrm>
            <a:off x="2642615"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pkg.zip</a:t>
            </a:r>
          </a:p>
        </p:txBody>
      </p:sp>
      <p:sp>
        <p:nvSpPr>
          <p:cNvPr id="14" name="TextBox 13"/>
          <p:cNvSpPr txBox="1"/>
          <p:nvPr/>
        </p:nvSpPr>
        <p:spPr>
          <a:xfrm>
            <a:off x="4480559"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256032"/>
          </a:xfrm>
          <a:prstGeom prst="rect">
            <a:avLst/>
          </a:prstGeom>
          <a:noFill/>
        </p:spPr>
        <p:txBody>
          <a:bodyPr wrap="square" anchor="t" lIns="12700" rIns="12700" tIns="12700" bIns="12700">
            <a:norm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lIns="12700" rIns="12700" tIns="12700" bIns="12700">
            <a:norm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lIns="12700" rIns="12700" tIns="12700" bIns="12700">
            <a:norm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100">
                <a:solidFill>
                  <a:srgbClr val="B4BAAE"/>
                </a:solidFill>
                <a:latin typeface="Aptos"/>
              </a:defRPr>
            </a:pPr>
            <a:r>
              <a:t>Exec Report is a Multi-Turn-only transparency layer that appends operation tables for every wrapped agent family, including observational and read-only agents; `_EXEC_REPORT_TOOLS` only refines grouping and style.</a:t>
            </a:r>
          </a:p>
          <a:p>
            <a:pPr>
              <a:spcAft>
                <a:spcPts val="400"/>
              </a:spcAft>
              <a:defRPr sz="1100">
                <a:solidFill>
                  <a:srgbClr val="B4BAAE"/>
                </a:solidFill>
                <a:latin typeface="Aptos"/>
              </a:defRPr>
            </a:pPr>
            <a:r>
              <a:t>Rows are recorded from the live tool-call stream rather than guessed from the LLM prose, so the report is the operational ground truth.</a:t>
            </a:r>
          </a:p>
          <a:p>
            <a:pPr>
              <a:spcAft>
                <a:spcPts val="400"/>
              </a:spcAft>
              <a:defRPr sz="1100">
                <a:solidFill>
                  <a:srgbClr val="B4BAAE"/>
                </a:solidFill>
                <a:latin typeface="Aptos"/>
              </a:defRPr>
            </a:pPr>
            <a:r>
              <a:t>Each row receives a deterministic SUCCESS/FAILURE verdict from the agent's structured self-report: completed diagnostics and intact work are green, while degraded, not-done, and agent-error statuses are red under the guarded five-class vocabulary.</a:t>
            </a:r>
          </a:p>
          <a:p>
            <a:pPr>
              <a:spcAft>
                <a:spcPts val="400"/>
              </a:spcAft>
              <a:defRPr sz="11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lIns="12700" rIns="12700" tIns="12700" bIns="12700">
            <a:norm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1030</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88</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197</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37</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lIns="12700" rIns="12700" tIns="12700" bIns="12700">
            <a:norm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11</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lIns="12700" rIns="12700" tIns="12700" bIns="12700">
            <a:norm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lIns="12700" rIns="12700" tIns="12700" bIns="12700">
            <a:norm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lIns="12700" rIns="12700" tIns="12700" bIns="12700">
            <a:norm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12700" rIns="12700" tIns="25400" bIns="25400">
            <a:normAutofit/>
          </a:bodyPr>
          <a:lstStyle/>
          <a:p>
            <a:pPr>
              <a:spcAft>
                <a:spcPts val="400"/>
              </a:spcAft>
              <a:defRPr sz="1500">
                <a:solidFill>
                  <a:srgbClr val="B4BAAE"/>
                </a:solidFill>
                <a:latin typeface="Aptos"/>
              </a:defRPr>
            </a:pPr>
            <a:r>
              <a:t>64b29725 - Trying to fix the starting runtime error at installed Tlamatini, by angelahack1</a:t>
            </a:r>
          </a:p>
          <a:p>
            <a:pPr>
              <a:spcAft>
                <a:spcPts val="400"/>
              </a:spcAft>
              <a:defRPr sz="1500">
                <a:solidFill>
                  <a:srgbClr val="B4BAAE"/>
                </a:solidFill>
                <a:latin typeface="Aptos"/>
              </a:defRPr>
            </a:pPr>
            <a:r>
              <a:t>Resolved version: 1.50.4 (git)</a:t>
            </a:r>
          </a:p>
          <a:p>
            <a:pPr>
              <a:spcAft>
                <a:spcPts val="400"/>
              </a:spcAft>
              <a:defRPr sz="1500">
                <a:solidFill>
                  <a:srgbClr val="B4BAAE"/>
                </a:solidFill>
                <a:latin typeface="Aptos"/>
              </a:defRPr>
            </a:pPr>
            <a:r>
              <a:t>Generated on August 29, 2026 10:32 AM UTC-0600</a:t>
            </a:r>
          </a:p>
          <a:p>
            <a:pPr>
              <a:spcAft>
                <a:spcPts val="400"/>
              </a:spcAft>
              <a:defRPr sz="1500">
                <a:solidFill>
                  <a:srgbClr val="B4BAAE"/>
                </a:solidFill>
                <a:latin typeface="Aptos"/>
              </a:defRPr>
            </a:pPr>
            <a:r>
              <a:t>Inventory scope: 1030 files = 1030 tracked + 0 git-unignored working-tree additions</a:t>
            </a:r>
          </a:p>
          <a:p>
            <a:pPr>
              <a:spcAft>
                <a:spcPts val="400"/>
              </a:spcAft>
              <a:defRPr sz="1500">
                <a:solidFill>
                  <a:srgbClr val="B4BAAE"/>
                </a:solidFill>
                <a:latin typeface="Aptos"/>
              </a:defRPr>
            </a:pPr>
            <a:r>
              <a:t>Multi-Turn tools: 108; wrapped chat-agent tools: 66; skills: 29</a:t>
            </a:r>
          </a:p>
          <a:p>
            <a:pPr>
              <a:spcAft>
                <a:spcPts val="400"/>
              </a:spcAft>
              <a:defRPr sz="1500">
                <a:solidFill>
                  <a:srgbClr val="B4BAAE"/>
                </a:solidFill>
                <a:latin typeface="Aptos"/>
              </a:defRPr>
            </a:pPr>
            <a:r>
              <a:t>Python requirements: 80; authoritative agent-description rows: 88</a:t>
            </a:r>
          </a:p>
          <a:p>
            <a:pPr>
              <a:spcAft>
                <a:spcPts val="400"/>
              </a:spcAft>
              <a:defRPr sz="1500">
                <a:solidFill>
                  <a:srgbClr val="B4BAAE"/>
                </a:solidFill>
                <a:latin typeface="Aptos"/>
              </a:defRPr>
            </a:pPr>
            <a:r>
              <a:t>Binary or asset inventory files skipped from line count: 50</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64b29725 on 2026-08-29</a:t>
            </a:r>
          </a:p>
          <a:p>
            <a:pPr>
              <a:spcAft>
                <a:spcPts val="400"/>
              </a:spcAft>
              <a:defRPr sz="1300">
                <a:solidFill>
                  <a:srgbClr val="B4BAAE"/>
                </a:solidFill>
                <a:latin typeface="Aptos"/>
              </a:defRPr>
            </a:pPr>
            <a:r>
              <a:t>Trying to fix the starting runtime error at installed Tlamatini, by angelahack1</a:t>
            </a:r>
          </a:p>
          <a:p>
            <a:pPr>
              <a:spcAft>
                <a:spcPts val="400"/>
              </a:spcAft>
              <a:defRPr sz="1300">
                <a:solidFill>
                  <a:srgbClr val="B4BAAE"/>
                </a:solidFill>
                <a:latin typeface="Aptos"/>
              </a:defRPr>
            </a:pPr>
            <a:r>
              <a:t>Commits since then: 0</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Since the last committed PDF/PPTX refresh, Git shows focused platform evolution across autonomy, operator ergonomics, runtime self-knowledge, and documentation fidelity.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V1.50.4 RELEASE PLUS THE CARRIED V1.48.15-V1.48.17 LINEAGE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lIns="12700" rIns="12700" tIns="12700" bIns="12700">
            <a:norm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NetSpeed-Calculator: agent 88 / wrapped launcher 66, with multi-provider confidence intervals, I-squared heterogeneity, bufferbloat, named endpoint failures, and tier-D metered-bandwidth gating.</a:t>
            </a:r>
          </a:p>
          <a:p>
            <a:pPr>
              <a:spcAft>
                <a:spcPts val="400"/>
              </a:spcAft>
              <a:defRPr sz="1000">
                <a:solidFill>
                  <a:srgbClr val="B4BAAE"/>
                </a:solidFill>
                <a:latin typeface="Aptos"/>
              </a:defRPr>
            </a:pPr>
            <a:r>
              <a:t>Googler: four plain-HTTP server-rendered routes first, then visible Chrome/bundled Chromium across seven browser routes, with bounded retries, answer attribution, structured dork presets/aliases, URL-only file hunts, and a lawful-use boundary.</a:t>
            </a:r>
          </a:p>
          <a:p>
            <a:pPr>
              <a:spcAft>
                <a:spcPts val="400"/>
              </a:spcAft>
              <a:defRPr sz="1000">
                <a:solidFill>
                  <a:srgbClr val="B4BAAE"/>
                </a:solidFill>
                <a:latin typeface="Aptos"/>
              </a:defRPr>
            </a:pPr>
            <a:r>
              <a:t>WAL-safe SQLite: online backup API, self-contained DELETE-journal copies, quick_check proof, and sidecar-safe Backup DB / Set DB / startup promotion.</a:t>
            </a:r>
          </a:p>
          <a:p>
            <a:pPr>
              <a:spcAft>
                <a:spcPts val="400"/>
              </a:spcAft>
              <a:defRPr sz="1000">
                <a:solidFill>
                  <a:srgbClr val="B4BAAE"/>
                </a:solidFill>
                <a:latin typeface="Aptos"/>
              </a:defRPr>
            </a:pPr>
            <a:r>
              <a:t>External MCP Adder: the 29th skill codifies transport classification, secret-separated import, Doctor, activation, wait, status/list, and call.</a:t>
            </a:r>
          </a:p>
          <a:p>
            <a:pPr>
              <a:spcAft>
                <a:spcPts val="400"/>
              </a:spcAft>
              <a:defRPr sz="1000">
                <a:solidFill>
                  <a:srgbClr val="B4BAAE"/>
                </a:solidFill>
                <a:latin typeface="Aptos"/>
              </a:defRPr>
            </a:pPr>
            <a:r>
              <a:t>Deep Internet Research: append-only prompt 118 requests a long, link-rich Multi-Turn + Exec Report research run without hiding tool prerequisites.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lIns="12700" rIns="12700" tIns="12700" bIns="12700">
            <a:norm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12700" rIns="12700" tIns="25400" bIns="25400">
            <a:normAutofit/>
          </a:bodyPr>
          <a:lstStyle/>
          <a:p>
            <a:pPr>
              <a:spcAft>
                <a:spcPts val="400"/>
              </a:spcAft>
              <a:defRPr sz="1000">
                <a:solidFill>
                  <a:srgbClr val="B4BAAE"/>
                </a:solidFill>
                <a:latin typeface="Aptos"/>
              </a:defRPr>
            </a:pPr>
            <a:r>
              <a:t>Resolved identity: v1.50.4 is annotated at 64b29725 and aligned local/origin HEAD resolves to that same commit; its frozen web process excludes optional Transformers/Torch while carried Python retains Torch for Talker.</a:t>
            </a:r>
          </a:p>
          <a:p>
            <a:pPr>
              <a:spcAft>
                <a:spcPts val="400"/>
              </a:spcAft>
              <a:defRPr sz="1000">
                <a:solidFill>
                  <a:srgbClr val="B4BAAE"/>
                </a:solidFill>
                <a:latin typeface="Aptos"/>
              </a:defRPr>
            </a:pPr>
            <a:r>
              <a:t>Complete cloud-model operation requires Ollama Pro or higher; this is an operating requirement, not sponsorship, and current plan details belong to Ollama's official site.</a:t>
            </a:r>
          </a:p>
          <a:p>
            <a:pPr>
              <a:spcAft>
                <a:spcPts val="400"/>
              </a:spcAft>
              <a:defRPr sz="1000">
                <a:solidFill>
                  <a:srgbClr val="B4BAAE"/>
                </a:solidFill>
                <a:latin typeface="Aptos"/>
              </a:defRPr>
            </a:pPr>
            <a:r>
              <a:t>Private contact synchronization merges same-machine sources only for the explicit keyed build; public output and source snapshots remain free of contact PII.</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Catalog now stands at 88 workflow agents and 108 built-in Multi-Turn tools (20 core + 66 wrapped + 12 ACPX/Skill + 10 External-MCP supervisors), with 29 skills; dynamic ext__ remotes are separate.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lIns="12700" rIns="12700" tIns="12700" bIns="12700">
            <a:norm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226,230</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lIns="12700" rIns="12700" tIns="12700" bIns="12700">
            <a:norm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322,716</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lIns="12700" rIns="12700" tIns="12700" bIns="12700">
            <a:norm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lIns="12700" rIns="12700" tIns="12700" bIns="12700">
            <a:normAutofit/>
          </a:bodyPr>
          <a:lstStyle/>
          <a:p>
            <a:pPr algn="l"/>
            <a:r>
              <a:rPr sz="2000" b="1">
                <a:solidFill>
                  <a:srgbClr val="E8E8DE"/>
                </a:solidFill>
                <a:latin typeface="Aptos"/>
              </a:rPr>
              <a:t>15</a:t>
            </a:r>
          </a:p>
        </p:txBody>
      </p:sp>
      <p:sp>
        <p:nvSpPr>
          <p:cNvPr id="18" name="TextBox 17"/>
          <p:cNvSpPr txBox="1"/>
          <p:nvPr/>
        </p:nvSpPr>
        <p:spPr>
          <a:xfrm>
            <a:off x="841248" y="2788920"/>
            <a:ext cx="10378440" cy="2926080"/>
          </a:xfrm>
          <a:prstGeom prst="rect">
            <a:avLst/>
          </a:prstGeom>
          <a:noFill/>
        </p:spPr>
        <p:txBody>
          <a:bodyPr wrap="square" anchor="t" lIns="12700" rIns="12700" tIns="12700" bIns="12700">
            <a:normAutofit/>
          </a:bodyPr>
          <a:lstStyle/>
          <a:p>
            <a:pPr algn="l"/>
            <a:r>
              <a:rPr sz="800" b="0">
                <a:solidFill>
                  <a:srgbClr val="E8E8DE"/>
                </a:solidFill>
                <a:latin typeface="Cascadia Mono"/>
              </a:rPr>
              <a:t>LANGUAGE                 FILES   EFFECTIVE      TOTAL   SHARE
Python                   597     162,114    237,104  71.7%
Markdown                 178      25,238     33,411  11.2%
JavaScript                37      18,112     23,672   8.0%
CSS                       11       6,570      8,700   2.9%
Other text                20       4,742      5,560   2.1%
YAML                      93       2,138      5,607   0.9%
PowerShell                10       1,692      2,318   0.7%
Prompt template            2       1,173      1,301   0.5%
Text                       7       1,142      1,454   0.5%
HTML                       4       1,123      1,169   0.5%
Tlamatini Flow             4         837        837   0.4%
JSON                      10         608        608   0.3%
JavaScript module          2         457        562   0.2%
Batch                      4         264        380   0.1%
Protocol Buffers           1          20         33   0.0%</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lIns="12700" rIns="12700" tIns="12700" bIns="12700">
            <a:normAutofit/>
          </a:bodyPr>
          <a:lstStyle/>
          <a:p>
            <a:pPr algn="l"/>
            <a:r>
              <a:rPr sz="800" b="0">
                <a:solidFill>
                  <a:srgbClr val="E8E8DE"/>
                </a:solidFill>
                <a:latin typeface="Cascadia Mono"/>
              </a:rPr>
              <a:t>PATH                                                     LANGUAGE     EFFECTIVE   TOTAL
Tlamatini/agent/views.py                                Python         8,660  12,657
Tlamatini/agent/tests.py                                Python         5,700   7,452
Tlamatini/agent/doc_generation/complete_project_docs.py Python         3,993   4,437
Tlamatini/agent/tools.py                                Python         3,214   4,858
Tlamatini/agent/agents/latexer/latexer.py               Python         3,151   4,593
BookOfTlamatini.md                                      Markdown       2,728   3,887
Tlamatini/agent/agents/flowcreator/agentic_skill.md     Markdown       2,378   2,620
...ini/agent/static/agent/css/agentic_control_panel.css CSS            2,084   2,905
Tlamatini/agent/external_mcp_manager.py                 Python         2,066   2,604
Tlamatini/agent/agents/stm32er/stm32er.py               Python         1,983   2,694
Tlamatini/agent/chat_agent_registry.py                  Python         1,967   2,018
Tlamatini/agent/static/agent/css/agent_page.css         CSS            1,878   2,426
Tlamatini/agent/static/agent/js/agent_page_chat.js      JavaScript     1,775   2,446
Tlamatini/agent/mcp_agent.py                            Python         1,655   2,758</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lIns="12700" rIns="12700" tIns="12700" bIns="12700">
            <a:norm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12700" rIns="12700" tIns="25400" bIns="25400">
            <a:normAutofit/>
          </a:bodyPr>
          <a:lstStyle/>
          <a:p>
            <a:pPr>
              <a:spcAft>
                <a:spcPts val="400"/>
              </a:spcAft>
              <a:defRPr sz="1300">
                <a:solidFill>
                  <a:srgbClr val="B4BAAE"/>
                </a:solidFill>
                <a:latin typeface="Aptos"/>
              </a:defRPr>
            </a:pPr>
            <a:r>
              <a:t>The current annotated release and aligned local/remote HEAD both resolve to `v1.50.4` at `64b29725`. Runtime versions remain Git/build-derived through `agent/version.py`, while generated inventories derive agent, tool, skill, asset, migration, and effective-line totals from live source.</a:t>
            </a:r>
          </a:p>
          <a:p>
            <a:pPr>
              <a:spcAft>
                <a:spcPts val="400"/>
              </a:spcAft>
              <a:defRPr sz="1300">
                <a:solidFill>
                  <a:srgbClr val="B4BAAE"/>
                </a:solidFill>
                <a:latin typeface="Aptos"/>
              </a:defRPr>
            </a:pPr>
            <a:r>
              <a:t>The release root-fixes installed-runtime startup noise and latency: frozen Django builds exclude optional `transformers` so its guarded token-counter fallback cannot import the unused Torch stack, while carried Python keeps Torch for Talker. Runtime and tests now import tools from `langchain_core.tools`, and source-derived guards prohibit warning muting, accidental ML imports, or an unsafe upstream contract change.</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latest dossier pass resolves the product at annotated release `v1.50.4` (`64b29725`), confirms aligned local/remote HEAD at the same commit, and combines README.md and BookOfTlamatini.md with source/Git truth while retaining complete installation, Ollama, architecture, usage, tree, line inventory, and responsibility context.</a:t>
            </a:r>
          </a:p>
          <a:p>
            <a:pPr>
              <a:spcAft>
                <a:spcPts val="400"/>
              </a:spcAft>
              <a:defRPr sz="1300">
                <a:solidFill>
                  <a:srgbClr val="B4BAAE"/>
                </a:solidFill>
                <a:latin typeface="Aptos"/>
              </a:defRPr>
            </a:pPr>
            <a:r>
              <a:t>Documentation itself changed during the recent window, so the regenerated dossier is part of the tracked operator surface rather than an external afterthought.</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12700" rIns="12700" tIns="25400" bIns="25400">
            <a:normAutofit/>
          </a:bodyPr>
          <a:lstStyle/>
          <a:p>
            <a:pPr>
              <a:spcAft>
                <a:spcPts val="400"/>
              </a:spcAft>
              <a:defRPr sz="1200">
                <a:solidFill>
                  <a:srgbClr val="B4BAAE"/>
                </a:solidFill>
                <a:latin typeface="Aptos"/>
              </a:defRPr>
            </a:pPr>
            <a:r>
              <a:t>2026-08-29 | 64b29725 | Trying to fix the starting runtime error at installed Tlamatini, by angelahack1</a:t>
            </a:r>
          </a:p>
          <a:p>
            <a:pPr>
              <a:spcAft>
                <a:spcPts val="400"/>
              </a:spcAft>
              <a:defRPr sz="1200">
                <a:solidFill>
                  <a:srgbClr val="B4BAAE"/>
                </a:solidFill>
                <a:latin typeface="Aptos"/>
              </a:defRPr>
            </a:pPr>
            <a:r>
              <a:t>2026-08-28 | e0450327 | Googler improvement phase 1 under paired Tlamatinis staging, by Tlamatini's-AutoBot.</a:t>
            </a:r>
          </a:p>
          <a:p>
            <a:pPr>
              <a:spcAft>
                <a:spcPts val="400"/>
              </a:spcAft>
              <a:defRPr sz="1200">
                <a:solidFill>
                  <a:srgbClr val="B4BAAE"/>
                </a:solidFill>
                <a:latin typeface="Aptos"/>
              </a:defRPr>
            </a:pPr>
            <a:r>
              <a:t>2026-08-28 | a329e6dd | Updating visual documentation, bby angelahack1</a:t>
            </a:r>
          </a:p>
          <a:p>
            <a:pPr>
              <a:spcAft>
                <a:spcPts val="400"/>
              </a:spcAft>
              <a:defRPr sz="1200">
                <a:solidFill>
                  <a:srgbClr val="B4BAAE"/>
                </a:solidFill>
                <a:latin typeface="Aptos"/>
              </a:defRPr>
            </a:pPr>
            <a:r>
              <a:t>2026-08-27 | 7abc751b | Tlamatini/Tlamatini-Spanish piring, by Tlamatini's-AutoBot.</a:t>
            </a:r>
          </a:p>
          <a:p>
            <a:pPr>
              <a:spcAft>
                <a:spcPts val="400"/>
              </a:spcAft>
              <a:defRPr sz="1200">
                <a:solidFill>
                  <a:srgbClr val="B4BAAE"/>
                </a:solidFill>
                <a:latin typeface="Aptos"/>
              </a:defRPr>
            </a:pPr>
            <a:r>
              <a:t>2026-08-26 | fc6a533e | Fixing Glitches found on Tlamatini (english) by Tlamatini-Spanish's Claude, by angelahack1</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Tlamatini/
|-- .gitignore
|-- .mcp.json
|-- 10000xRedesignOfUpdatingMechanicsOnTlamatini.md
|-- _acpx_pipeline_demo_report.md
|-- ACPX.md
|-- agents_descriptions.md
|-- apply_update.ps1
|-- audit_dependencies.py
|-- backup_db.py
|-- BookOfTlamatini.md
|-- build.py
|-- build_all.cmd
|-- build_complete_private_release.py
|-- build_complete_public_release.py
|-- build_installer.py
|-- build_uninstaller.py
|-- check_private_data.py
|-- Claude-Desktop-KALI-MCP-Session.md
|-- CLAUDE.md
|-- copy_source_assets.py
|-- CreateShortcut.json
|-- CreateShortcut.ps1
|-- DesignOfIncludingMemoryMCPS.txt
|-- Discoverier-new-agent.md
|-- eslint.config.mjs
|-- example_of_prompt_to_make_de-compresser_agent.txt
|-- FirstFinalPlanToSpeedUp.md
|-- freeingport8000.ps1
|-- GEMINI.md
|-- git_deny_go.py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image copy.png
|-- image.png
|-- install.py
|-- KIMI.md
|-- LICENSE
|-- MCPMemoriesFlowCreation.flw
|-- MessagingConnectorAssistant_Design.md
|-- OllamaPricing.png
|-- OOB_shift_reaper-and-NAMU-Design.pdf
|-- package.json
|-- PIVOT_CHANGES.md
|-- pnpm-lock.yaml
|-- preserved_user_state.json
|-- README.md
|-- regen_secrets.py
|-- register_flw.ps1
|-- RemoveShortcut.ps1
|-- requirements.txt
|-- surgical_improving_speed_of_Tlamatini_by_a_factor_of_3X.md
|-- test_author_banner.py
|-- test_check_private_data.py
|-- test_perf_3x_visual.py
|-- test_private_data_guard.py
|-- Tlamatini-Kali-Setup.md
|-- Tlamatini.ico
|-- Tlamatini.jpg
|-- Tlamatini.ps1
|-- tlamatini_acpx.py
|-- tlamatini_app_summary.pdf
|-- Tlamatini_eXtended_Artificial_Intelligence_Humanly_Tempered.pptx
|-- TLAMATINI_MCP.md</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tlamatini_mcp_server.py
|-- TlamatiniJudgementDay.md
|-- uncommit-keys.bat
|-- uninstall.py
|--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project_audioplayer_agent.md
|   |   |-- project_build_concurrency_guard.md
|   |   |-- project_build_tests_and_installer_enterkey.md
|   |   |-- project_camcorder_agent.md
|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project_netspeed_calculator_agent.md
|   |   |-- project_numpy_pyinstaller.md
|   |   |-- project_ollama_source_build_breaks_embeddings.md</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project_pdfer_agent.md
|   |   |-- project_planner_followup.md
|   |   |-- project_playwrighter_agent.md
|   |   |-- project_playwrighter_hold_open.md
|   |   |-- project_prompt_catalog_mode_badges.md
|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tlamatini-agent-creation/
|       |   `-- SKILL.md
|       |-- tlamatini-agent-naming/
|       |   `-- SKILL.md
|       |-- tlamatini-daily-chat-test/
|       |   |-- .gitignore
|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questions.py
|       |       |-- README.md
|       |       |-- requirements.txt
|       |       |-- run_test.py
|       |       |-- shoter_shot.py
|       |       |-- step_by_step_catalog.py
|       |       |-- step_by_step_catalog.py.antes_shoter
|       |       |-- talk_test.py
|       |       `-- wrapped_questions.py
|       |-- tlamatini-self-modify-inclusion/
|       |   |-- SKILL.md
|       |   `-- scripts/
|       |       `-- sweep_self_modify.py
|       `-- tlamatini-self-update-inclusion/
|           |-- SKILL.md
|           `-- scripts/
|               `-- sweep_self_update.py
|-- .codex/
|   `-- skills/
|       |-- full-project-pdf-dossier/
|       |   `-- SKILL.md
|       `-- overlap-safe-pptx-dossier/
|           `-- SKILL.md
|-- .gemini/
|   `-- skills/
|       |-- tlamatini-agent-creation/
|       |   `-- SKILL.md
|       |-- tlamatini-agent-naming/
|       |   `-- SKILL.md
|       |-- tlamatini-daily-chat-test/
|       |   |-- .gitignore</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SKILL.md
|       |   `-- harness/
|       |       |-- acp_backend_banner_test.py
|       |       |-- acp_backend_banner_test.py.antes_shoter
|       |       |-- acp_dialog_full_sweep.py
|       |       |-- acp_dialog_theme_visible.py
|       |       |-- ask_execs_regression.py
|       |       |-- ask_execs_regression.py.antes_shoter
|       |       |-- bulk_toggle_behaviour.py
|       |       |-- bulk_toggle_visible.py
|       |       |-- cancel_regression.py
|       |       |-- cancel_regression.py.antes_shoter
|       |       |-- config.py
|       |       |-- cyber_watchdog_test.py
|       |       |-- dialog_policy_visible.py
|       |       |-- dialog_theme_visible.py
|       |       |-- discoverer_1000.py
|       |       |-- discoverer_1000.py.antes_shoter
|       |       |-- flowcreator_wizard_e2e.py
|       |       |-- googler_dork_hunt.py
|       |       |-- latexer_openmp_e2e.py
|       |       |-- latexer_stepbystep_5.py
|       |       |-- mcp_playwright_suite.py
|       |       |-- playwrighter_run.py
|       |       |-- qualify.py
|       |       |-- questions.py
|       |       |-- README.md
|       |       |-- requirements.txt
|       |       |-- run_test.py
|       |       |-- shoter_shot.py
|       |       |-- step_by_step_catalog.py</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step_by_step_catalog.py.antes_shoter
|       |       |-- talk_test.py
|       |       `-- wrapped_questions.py
|       |-- tlamatini-self-modify-inclusion/
|       |   |-- SKILL.md
|       |   `-- scripts/
|       |       `-- sweep_self_modify.py
|       `-- tlamatini-self-update-inclusion/
|           |-- SKILL.md
|           `-- scripts/
|               `-- sweep_self_update.py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
|       |-- exec-report.md</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frontend.md
|       |-- gotchas.md
|       |-- INDEX.md
|       |-- mcp-tools.md
|       |-- multi-turn.md
|       `-- recent-fixes.md
|-- pyinstaller_hooks/
|   |-- hook-numpy.py
|   `-- hook-torch.py
|-- scripts/
|   `-- check_js_parse.mjs
|-- security/
|   |-- automated_tests_of_security_assets.py
|   |-- enable_tlamatini_v2.bat
|   |-- README.md
|   |-- run_defender.bat
|   |-- tlamatini_defender.ps1
|   `-- tlamatini_whitelist_v2.ps1
|-- Tests/
|   |-- test_about_window_name_visible.py
|   `-- test_perf_3x_visual.py
`-- Tlamatini/
    |-- cat_art.py
    |-- hoy
    |-- manage.py
    |-- .agents/
    |   `-- workflows/
    |       `-- create_new_agent.md
    |-- .mcps/
    |   `-- create_new_mcp.md
    |-- .skills/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create_new_skill.md
    |-- agent/
    |   |-- __init__.py
    |   |-- access_key_wizard.py
    |   |-- admin.py
    |   |-- agent_manifest.py
    |   |-- agent_verdict.py
    |   |-- apps.py
    |   |-- cancellation.py
    |   |-- capability_registry.py
    |   |-- chain_files_search_lcel.py
    |   |-- chain_system_lcel.py
    |   |-- chat_agent_registry.py
    |   |-- chat_agent_runtime.py
    |   |-- chat_history_loader.py
    |   |-- command_togen_pb2.txt
    |   |-- command_watchdog.py
    |   |-- config.json
    |   |-- config_loader.py
    |   |-- constants.py
    |   |-- consumers.py
    |   |-- contacts.py
    |   |-- embedding_memory_guard.py
    |   |-- exec_permission.py
    |   |-- external_mcp_defaults.py
    |   |-- external_mcp_manager.py
    |   |-- external_mcps.json
    |   |-- filesearch.proto
    |   |-- filesearch_pb2.py
    |   |-- filesearch_pb2_grpc.py
    |   |-- global_execution_planner.py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global_state.py
    |   |-- gpu_perf.py
    |   |-- inet_determiner.py
    |   |-- llm_timing.py
    |   |-- local_toolcall_parser.py
    |   |-- log_identity.py
    |   |-- mcp_agent.py
    |   |-- mcp_files_search_client.py
    |   |-- mcp_files_search_server.py
    |   |-- mcp_system_client.py
    |   |-- mcp_system_server.py
    |   |-- models.py
    |   |-- native_dialogs.py
    |   |-- orphan_reaper.py
    |   |-- path_guard.py
    |   |-- prompt.pmt
    |   |-- rag_enhancements.py
    |   |-- routing.py
    |   |-- run_db_wal_tests.ps1
    |   |-- runtime_provisioner.py
    |   |-- self_healing.py
    |   |-- self_update.py
    |   |-- sqlite_copy.py
    |   |-- test_access_key_wizard.py
    |   |-- test_agent_display_names.py
    |   |-- test_agent_manifest.py
    |   |-- test_agent_verdict.py
    |   |-- test_agents_see_hidden_dirs.py
    |   |-- test_arduiner_agent.py
    |   |-- test_ask_execs_allowlist.py
    |   |-- test_audioplayer_agent.py</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test_binary_guard.py
    |   |-- test_blenderer_agent.py
    |   |-- test_build_pip_quiet.py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test_db_backup_restore_wal.py
    |   |-- test_db_backup_safety.py
    |   |-- test_de_compresser.py
    |   |-- test_deep_research_prompt.py
    |   |-- test_deleter_safety.py
    |   |-- test_dialog_dismissal_policy.py
    |   |-- test_dialog_theme.py
    |   |-- test_discoverer_agent.py
    |   |-- test_discoverer_thousand.py
    |   |-- test_django_port_config.py
    |   |-- test_editor_agent.py
    |   |-- test_embedding_memory_guard.py
    |   |-- test_esp32er_agent.py
    |   |-- test_esphomer_agent.py
    |   |-- test_exec_report_verdict.py
    |   |-- test_execute_command_bounded.py
    |   |-- test_external_mcp_add_flow.py</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test_external_mcp_e2e.py
    |   |-- test_external_mcp_transports.py
    |   |-- test_external_mcp_universal.py
    |   |-- test_file_extractor_reader.py
    |   |-- test_flow_contracts.py
    |   |-- test_frontend_mutable_state.py
    |   |-- test_globber_agent.py
    |   |-- test_googler_agent.py
    |   |-- test_googler_dorks.py
    |   |-- test_grepper_agent.py
    |   |-- test_grepper_encodings.py
    |   |-- test_image_interpreter_agent.py
    |   |-- test_instant_messaging_doctor.py
    |   |-- test_j_decompiler_agent.py
    |   |-- test_js_gates.py
    |   |-- test_kalier_agent.py
    |   |-- test_latexer_agent.py
    |   |-- test_latexer_repair_ladder.py
    |   |-- test_latexer_suite.py
    |   |-- test_latexer_verbatim_channel.py
    |   |-- test_log_identity.py
    |   |-- test_native_dialogs.py
    |   |-- test_netspeed_calculator_agent.py
    |   |-- test_nmapper_agent.py
    |   |-- test_no_audio_in_tests.py
    |   |-- test_orphan_reaper.py
    |   |-- test_parametrizer_mcp_doctor.py
    |   |-- test_password_quoting.py
    |   |-- test_pdfer_agent.py
    |   |-- test_playwrighter_agent.py
    |   |-- test_preserved_user_state.py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test_prompt_catalog_contiguous.py
    |   |-- test_recorder_agent.py
    |   |-- test_runtime_provisioner.py
    |   |-- test_security_assets_carriage.py
    |   |-- test_self_healing.py
    |   |-- test_self_knowledge_is_current.py
    |   |-- test_self_modify_gate.py
    |   |-- test_self_update.py
    |   |-- test_shoter_takes_screenshots.py
    |   |-- test_sqlite_wal_mode.py
    |   |-- test_status_vocabulary.py
    |   |-- test_step_by_step_mode.py
    |   |-- test_stm32er_agent.py
    |   |-- test_talker_agent.py
    |   |-- test_telegrammer_identity.py
    |   |-- test_temp_dir_policy.py
    |   |-- test_tool_failure_recovery.py
    |   |-- test_unrealer_agent.py
    |   |-- test_version_guard.py
    |   |-- test_video_analyzer_agent.py
    |   |-- test_videoplayer_agent.py
    |   |-- test_watchdog_foreground_exemption.py
    |   |-- test_web_process_stays_lean.py
    |   |-- test_whatsapper_identity.py
    |   |-- test_whisperer_agent.py
    |   |-- test_windower_agent.py
    |   |-- test_windows_app_registration.py
    |   |-- test_zavuerer_agent.py
    |   |-- tests.py
    |   |-- tests_perf_3x.py
    |   |-- Tlamatini.md</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tools.py
    |   |-- urls.py
    |   |-- version.py
    |   |-- views.py
    |   |-- web_search_llm.py
    |   |-- window_flash.py
    |   |-- windows_app_registration.py
    |   |-- acpx/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arduiner/
    |   |   |   |-- arduiner.py
    |   |   |   |-- config.yaml
    |   |   |   `-- ArduinoTemplateProject/
    |   |   |       |-- ArduinoTemplateProject.ino
    |   |   |       |-- README.md
    |   |   |       |-- sketch.yaml
    |   |   |       `-- src/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counter.py
    |   |   |-- crawler/
    |   |   |   |-- config.yaml
    |   |   |   `-- crawler.py
    |   |   |-- croner/
    |   |   |   |-- config.yaml
    |   |   |   `-- croner.py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- 19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esp32er.py
    |   |   |-- esphomer/
    |   |   |   |-- config.yaml
    |   |   |   |-- esphomer.py
    |   |   |   `-- ESPHomeTemplateProject/
    |   |   |       |-- README.md
    |   |   |       `-- tlamatini-light.yaml
    |   |   |-- executer/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monitoring-prompt.pmt
    |   |   |-- forker/
    |   |   |   |-- config.yaml
    |   |   |   `-- forker.py
    |   |   |-- gateway_relayer/
    |   |   |   |-- config.yaml
    |   |   |   |-- gateway_relayer.md
    |   |   |   `-- gateway_relayer.py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j_decompiler/
    |   |   |   |-- config.yaml
    |   |   |   `-- j_decompiler.py
    |   |   |-- jenkinser/
    |   |   |   |-- config.yaml
    |   |   |   `-- jenkinser.py
    |   |   |-- kalier/
    |   |   |   |-- config.yaml
    |   |   |   `-- kalier.py
    |   |   |-- keyboarder/
    |   |   |   |-- config.yaml
    |   |   |   `-- keyboarder.py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
    |   |   |-- mongoxer/</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mongoxer.py
    |   |   |-- monitor_log/
    |   |   |   |-- config.yaml
    |   |   |   `-- monitor_log.py
    |   |   |-- monitor_netstat/
    |   |   |   |-- config.yaml
    |   |   |   `-- monitor_netstat.py
    |   |   |-- mouser/
    |   |   |   |-- config.yaml
    |   |   |   `-- mouser.py
    |   |   |-- mover/
    |   |   |   |-- config.yaml
    |   |   |   `-- mover.py
    |   |   |-- netspeed_calculator/
    |   |   |   |-- config.yaml
    |   |   |   `-- netspeed_calculator.py
    |   |   |-- nmapper/
    |   |   |   |-- config.yaml
    |   |   |   `-- nmapper.py
    |   |   |-- node_manager/
    |   |   |   |-- config.yaml
    |   |   |   |-- node_manager.md
    |   |   |   |-- node_manager.py
    |   |   |   |-- nodes_example.json
    |   |   |   `-- nodes_example.yaml
    |   |   |-- notifier/
    |   |   |   |-- config.yaml
    |   |   |   `-- notifier.py
    |   |   |-- or/
    |   |   |   |-- config.yaml</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or.py
    |   |   |-- parametrizer/
    |   |   |   |-- config.yaml
    |   |   |   `-- parametrizer.py
    |   |   |-- pdfer/
    |   |   |   |-- config.yaml
    |   |   |   `-- pdfer.py
    |   |   |-- playwrighter/
    |   |   |   |-- config.yaml
    |   |   |   `-- playwrighter.py
    |   |   |-- prompter/
    |   |   |   |-- config.yaml
    |   |   |   `-- prompter.py
    |   |   |-- pser/
    |   |   |   |-- config.yaml
    |   |   |   `-- pser.py
    |   |   |-- pythonxer/
    |   |   |   |-- config.yaml
    |   |   |   `-- pythonxer.py
    |   |   |-- raiser/
    |   |   |   |-- config.yaml
    |   |   |   `-- raiser.py
    |   |   |-- recmailer/
    |   |   |   |-- config.yaml
    |   |   |   `-- recmailer.py
    |   |   |-- recorder/
    |   |   |   |-- config.yaml
    |   |   |   `-- recorder.py
    |   |   |-- reviewer/
    |   |   |   |-- config.yaml
    |   |   |   `-- reviewer.py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scper/
    |   |   |   |-- config.yaml
    |   |   |   `-- scper.py
    |   |   |-- shoter/
    |   |   |   |-- config.yaml
    |   |   |   `-- shoter.py
    |   |   |-- sleeper/
    |   |   |   |-- config.yaml
    |   |   |   `-- sleeper.py
    |   |   |-- sqler/
    |   |   |   |-- config.yaml
    |   |   |   `-- sqler.py
    |   |   |-- ssher/
    |   |   |   |-- config.yaml
    |   |   |   `-- ssher.py
    |   |   |-- starter/
    |   |   |   |-- config.yaml
    |   |   |   `-- starter.py
    |   |   |-- stm32er/
    |   |   |   |-- config.yaml
    |   |   |   `-- stm32er.py
    |   |   |-- stopper/
    |   |   |   |-- config.yaml
    |   |   |   `-- stopper.py
    |   |   |-- summarizer/
    |   |   |   |-- config.yaml
    |   |   |   `-- summarizer.py
    |   |   |-- talker/
    |   |   |   |-- config.yaml
    |   |   |   `-- talker.py
    |   |   |-- telegrammer/</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config.yaml
    |   |   |   `-- whisperer.py
    |   |   |-- windower/
    |   |   |   |-- config.yaml
    |   |   |   `-- windower.py
    |   |   `-- zavuerer/
    |   |       |-- config.yaml
    |   |       `-- zavuerer.py
    |   |-- doc_generation/
    |   |   |-- complete_project_docs.py
    |   |   |-- mardown_to_pdf.py
    |   |   |-- refresh_project_docs.py
    |   |   `-- test_output.pdf
    |   |-- images/
    |   |   |-- ACPXKeysConfigureWizard.jpg
    |   |   |-- ConfigureModels.jpg
    |   |   |-- FlowPill.jpg
    |   |   |-- HiIamTlamatini.png
    |   |   |-- LabInEnglish.mp4
    |   |   |-- LabInSpanish.mp4
    |   |   |-- MenuConfig.jpg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TlamattiniOpenedMouthOpenedEyes.jpg
    |   |   |-- TlammatiniLetsMakeSomeMagic.mp4
    |   |   |-- TorsoTlamatini.png
    |   |   |-- versions.png
    |   |   `-- XAIHT-Tlamatini.mp4
    |   |-- imaging/
    |   |   |-- converter.py
    |   |   |-- image_interpreter.py
    |   |   `-- screenshot.py
    |   |-- management/
    |   |   |-- __init__.py
    |   |   `-- commands/
    |   |       |-- acpx_lint.py
    |   |       `-- startserver.py
    |   |-- migrations/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- 29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- 31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- 32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- 33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
    |   |   |-- 0187_add_flowcreator_end_to_end_wizard_prompt.py
    |   |   |-- 0188_add_pdfer.py
    |   |   |-- 0189_add_chat_agent_pdfer_tool.py
    |   |   |-- 0190_add_pdfer_demo_prompts.py
    |   |   |-- 0191_add_latexer.py
    |   |   |-- 0192_add_chat_agent_latexer_tool.py
    |   |   |-- 0193_add_latexer_demo_prompts.py
    |   |   |-- 0194_add_deep_research_demo_prompt.py
    |   |   |-- 0195_add_netspeed_calculator.py
    |   |   |-- 0196_add_chat_agent_netspeed_calculator_tool.py
    |   |   |-- 0197_add_netspeed_calculator_demo_prompt.py
    |   |   `-- __init__.py
    |   |-- monitors/
    |   |   `-- monitor_sql.py
    |   |-- opus_client/
    |   |   |-- claude_opus_client.py</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- 34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examples.py
    |   |   `-- README.md
    |   |-- rag/
    |   |   |-- __init__.py
    |   |   |-- binary_guard.py
    |   |   |-- config.py
    |   |   |-- factory.py
    |   |   |-- interaction.py
    |   |   |-- interface.py
    |   |   |-- loaders.py
    |   |   |-- prompts.py
    |   |   |-- retrieval.py
    |   |   |-- splitters.py
    |   |   |-- utils.py
    |   |   `-- chains/
    |   |       |-- base.py
    |   |       |-- basic.py
    |   |       |-- history_aware.py
    |   |       `-- unified.py
    |   |-- services/
    |   |   |-- __init__.py
    |   |   |-- agent_contracts.py
    |   |   |-- agent_paths.py
    |   |   |-- filesystem.py
    |   |   |-- flow_compiler.py
    |   |   |-- flow_spec.py
    |   |   `-- response_parser.py
    |   |-- skills/
    |   |   |-- __init__.py
    |   |   |-- frontmatter.py
    |   |   |-- harness.py</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- 35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io_contract.py
    |   |   `-- registry.py
    |   |-- skills_pkg/
    |   |   |-- _meta/
    |   |   |   |-- lint.py
    |   |   |   `-- schema.json
    |   |   |-- acp_router/
    |   |   |   `-- SKILL.md
    |   |   |-- adding_external_mcp/
    |   |   |   |-- SKILL.md
    |   |   |   `-- references/
    |   |   |       |-- external_mcp_catalog_format.md
    |   |   |       |-- llm_reflection_research.md
    |   |   |       |-- transport_guide.md
    |   |   |       `-- troubleshooting.md
    |   |   |-- code_review/
    |   |   |   `-- SKILL.md
    |   |   |-- create_new_agent/
    |   |   |   `-- SKILL.md
    |   |   |-- create_new_mcp/
    |   |   |   `-- SKILL.md
    |   |   |-- flow_making/
    |   |   |   |-- SKILL.md
    |   |   |   |-- references/
    |   |   |   |   `-- flw_schema.md
    |   |   |   `-- scripts/
    |   |   |       |-- make_flow.py
    |   |   |       `-- result_to_flw.py
    |   |   |-- github/
    |   |   |   `-- SKILL.md
    |   |   |-- gmail/</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- 36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
    |   |   |   `-- SKILL.md
    |   |   |-- tlamatini_exec_report_row_adder/
    |   |   |   `-- SKILL.md
    |   |   |-- tlamatini_flow_from_objective/
    |   |   |   `-- SKILL.md</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- 37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dialog_theme.css
    |   |       |   |-- external_mcps_dialog.css
    |   |       |   |-- login.css
    |   |       |   |-- skills_dialog.css
    |   |       |   |-- tools_dialog.css
    |   |       |   `-- welcome.css
    |   |       |-- img/
    |   |       |   |-- spinner.svg
    |   |       |   |-- Tlamatini.ico</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- 38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
    |   |       |   |-- agent_page_state.js
    |   |       |   |-- agent_page_ui.js
    |   |       |   |-- agentic_control_panel.js
    |   |       |   |-- avatar.js</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- 39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   |-- canvas_item_dialog.js
    |   |       |   |-- chat_image_paste.js
    |   |       |   |-- chat_page_runtime_poller.js
    |   |       |   |-- checkbox_bulk_toggle.js
    |   |       |   |-- contacts_dialog.js
    |   |       |   |-- contextual_menus.js
    |   |       |   |-- dialog_policy.js
    |   |       |   |-- external_mcps_dialog.js
    |   |       |   |-- release_notes_renderer.js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Older/
    |   |   `-- README.md
    |   `-- ToLoad/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Repository File Tree - 40 of 40</a:t>
            </a:r>
          </a:p>
        </p:txBody>
      </p:sp>
      <p:sp>
        <p:nvSpPr>
          <p:cNvPr id="9" name="TextBox 8"/>
          <p:cNvSpPr txBox="1"/>
          <p:nvPr/>
        </p:nvSpPr>
        <p:spPr>
          <a:xfrm>
            <a:off x="658368" y="1426464"/>
            <a:ext cx="10927080" cy="4956048"/>
          </a:xfrm>
          <a:prstGeom prst="rect">
            <a:avLst/>
          </a:prstGeom>
          <a:noFill/>
        </p:spPr>
        <p:txBody>
          <a:bodyPr wrap="square" anchor="t" lIns="12700" rIns="12700" tIns="12700" bIns="12700">
            <a:normAutofit/>
          </a:bodyPr>
          <a:lstStyle/>
          <a:p>
            <a:pPr algn="l"/>
            <a:r>
              <a:rPr sz="700" b="0">
                <a:solidFill>
                  <a:srgbClr val="E8E8DE"/>
                </a:solidFill>
                <a:latin typeface="Cascadia Mono"/>
              </a:rPr>
              <a:t>    |       `-- README.md
    |-- jd-cli/
    |   |-- jd-cli.bat
    |   `-- jd-cli.jar
    |-- tests_e2e/
    |   |-- oob_child_helper.py
    |   |-- README.md
    |   |-- test_create_flow_visual.py
    |   |-- test_db_backup_set_visible.py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none" anchor="t" lIns="12700" rIns="12700" tIns="12700" bIns="12700">
            <a:no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none" anchor="t" lIns="12700" rIns="12700" tIns="12700" bIns="12700">
            <a:no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lIns="12700" rIns="12700" tIns="12700" bIns="12700">
            <a:norm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12700" rIns="127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