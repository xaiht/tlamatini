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lIns="12700" rIns="12700" tIns="12700" bIns="12700">
            <a:norm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1097280"/>
          </a:xfrm>
          <a:prstGeom prst="rect">
            <a:avLst/>
          </a:prstGeom>
          <a:noFill/>
        </p:spPr>
        <p:txBody>
          <a:bodyPr wrap="square" anchor="t" lIns="12700" rIns="12700" tIns="12700" bIns="12700">
            <a:normAutofit/>
          </a:bodyPr>
          <a:lstStyle/>
          <a:p>
            <a:pPr algn="l"/>
            <a:r>
              <a:rPr sz="1700" b="0">
                <a:solidFill>
                  <a:srgbClr val="B4BAAE"/>
                </a:solidFill>
                <a:latin typeface="Aptos"/>
              </a:rPr>
              <a:t>Self-hosted AI developer assistant (cloud LLMs by default) with RAG, Multi-Turn orchestration, 88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1028</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88</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lIns="12700" rIns="12700" tIns="12700" bIns="12700">
            <a:norm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lIns="12700" rIns="12700" tIns="12700" bIns="12700">
            <a:normAutofit/>
          </a:bodyPr>
          <a:lstStyle/>
          <a:p>
            <a:pPr algn="l"/>
            <a:r>
              <a:rPr sz="2000" b="1">
                <a:solidFill>
                  <a:srgbClr val="E8E8DE"/>
                </a:solidFill>
                <a:latin typeface="Aptos"/>
              </a:rPr>
              <a:t>226,046</a:t>
            </a:r>
          </a:p>
        </p:txBody>
      </p:sp>
      <p:sp>
        <p:nvSpPr>
          <p:cNvPr id="20" name="TextBox 19"/>
          <p:cNvSpPr txBox="1"/>
          <p:nvPr/>
        </p:nvSpPr>
        <p:spPr>
          <a:xfrm>
            <a:off x="822960" y="5806440"/>
            <a:ext cx="5669280" cy="292608"/>
          </a:xfrm>
          <a:prstGeom prst="rect">
            <a:avLst/>
          </a:prstGeom>
          <a:noFill/>
        </p:spPr>
        <p:txBody>
          <a:bodyPr wrap="square" anchor="t" lIns="12700" rIns="12700" tIns="12700" bIns="12700">
            <a:normAutofit/>
          </a:bodyPr>
          <a:lstStyle/>
          <a:p>
            <a:pPr algn="l"/>
            <a:r>
              <a:rPr sz="900" b="0">
                <a:solidFill>
                  <a:srgbClr val="B4BAAE"/>
                </a:solidFill>
                <a:latin typeface="Aptos"/>
              </a:rPr>
              <a:t>Generated August 28, 2026 08:01 AM UTC-0600 at HEAD 7abc751b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lIns="12700" rIns="12700" tIns="12700" bIns="12700">
            <a:norm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1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1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authorized cyber-security assessment, local model operation, Windows packaging and uninstall registration, first-person self-knowledge about her own runtime, and embedded-firmware control for STM32,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Every agent in `Tlamatini/agent/agents/` is intentionally plain Python so the user can read, audit, edit, restrict, or disable its operating code. This transparency is a user-control mechanism, not a warranty that an agent is secure or suitable for a particular environment.</a:t>
            </a:r>
          </a:p>
          <a:p>
            <a:pPr>
              <a:spcAft>
                <a:spcPts val="400"/>
              </a:spcAft>
              <a:defRPr sz="1200">
                <a:solidFill>
                  <a:srgbClr val="B4BAAE"/>
                </a:solidFill>
                <a:latin typeface="Aptos"/>
              </a:defRPr>
            </a:pPr>
            <a:r>
              <a:t>Agents have no independent authority or jurisdiction. The user alone decides whether, where, how, and with which permissions an agent runs; enabling, configuring, modifying, chaining, or executing it places that execution under the user's control and jurisdiction.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user is responsible for code/config review, least-privilege secrets and credentials, authorized files and targets, browsers, shells, APIs, external MCPs, machines, hardware, downstream systems, supervision, and compliance with applicable law, policy, license, contract, and authorization.</a:t>
            </a:r>
          </a:p>
          <a:p>
            <a:pPr>
              <a:spcAft>
                <a:spcPts val="400"/>
              </a:spcAft>
              <a:defRPr sz="1200">
                <a:solidFill>
                  <a:srgbClr val="B4BAAE"/>
                </a:solidFill>
                <a:latin typeface="Aptos"/>
              </a:defRPr>
            </a:pPr>
            <a:r>
              <a:t>By running an agent, the user accepts responsibility for its actions and consequences. To the fullest extent permitted by applicable law, security breaches, data exposure or loss, unauthorized actions, credential leaks, unsafe automation, violations, compromise, device damage, financial loss, or other harm arising from use are the responsibility of the user who runs it.</a:t>
            </a:r>
          </a:p>
          <a:p>
            <a:pPr>
              <a:spcAft>
                <a:spcPts val="400"/>
              </a:spcAft>
              <a:defRPr sz="1200">
                <a:solidFill>
                  <a:srgbClr val="B4BAAE"/>
                </a:solidFill>
                <a:latin typeface="Aptos"/>
              </a:defRPr>
            </a:pPr>
            <a:r>
              <a:t>Tlamatini's orchestration, documentation, examples, and guardrails do not authorize third-party access and cannot replace the user's security review, permission controls, monitoring, or legal compliance.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OPERATOR-CONTROLLED WINDOWS DEFENSE, NOT AN AUTONOMOUS AGENT ROW</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Blue-hat Security Toolkit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Purpose and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`security/` directory is an administrator-operated Windows defensive toolkit, not a new chat tool or database-backed workflow Agent row. Tlamatini helps collect and respond to signals only on systems the operator owns or is explicitly authorized to defend.</a:t>
            </a:r>
          </a:p>
          <a:p>
            <a:pPr>
              <a:spcAft>
                <a:spcPts val="400"/>
              </a:spcAft>
              <a:defRPr sz="1100">
                <a:solidFill>
                  <a:srgbClr val="B4BAAE"/>
                </a:solidFill>
                <a:latin typeface="Aptos"/>
              </a:defRPr>
            </a:pPr>
            <a:r>
              <a:t>The six shipped assets are `README.md`, `enable_tlamatini_v2.bat`, `tlamatini_whitelist_v2.ps1`, `run_defender.bat`, `tlamatini_defender.ps1`, and `automated_tests_of_security_assets.py`; runtime evidence is written under git-ignored `security_logs/`.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Safe enablement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Use the safe sequence validate -&gt; record a Windows baseline -&gt; enable -&gt; restart -&gt; run detect-only -&gt; investigate -&gt; arm only when justified. There is no bundled rollback script, so Defender, ASR, CFA, firewall, execution-policy, audit-policy, and Security-log state must be recorded before elevation.</a:t>
            </a:r>
          </a:p>
          <a:p>
            <a:pPr>
              <a:spcAft>
                <a:spcPts val="400"/>
              </a:spcAft>
              <a:defRPr sz="1100">
                <a:solidFill>
                  <a:srgbClr val="B4BAAE"/>
                </a:solidFill>
                <a:latin typeface="Aptos"/>
              </a:defRPr>
            </a:pPr>
            <a:r>
              <a:t>The visible non-destructive harness parses both PowerShell files, exercises the self-safe classifier, validates official ASR/audit GUIDs, watch timing, UAC path handling, launcher failure propagation, Shoter capture, and headed-browser proof. The audited run passed 40/40 checks, but it does not apply Windows policy or execute an armed sweep.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PERSISTENT HOST CHANGES PLUS TEN EVIDENCE FAMILIES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Blue-hat Controls And Monitoring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Enablement and audit controls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Enablement keeps core Defender/firewall services running but deliberately adds the Tlamatini root and selected executables to Defender exclusions, allows `Tlamatini.exe` through Controlled Folder Access, moves six selected ASR rules to action 6 (Audit), sets current-user PowerShell to RemoteSigned, and creates broad outbound application rules.</a:t>
            </a:r>
          </a:p>
          <a:p>
            <a:pPr>
              <a:spcAft>
                <a:spcPts val="400"/>
              </a:spcAft>
              <a:defRPr sz="1000">
                <a:solidFill>
                  <a:srgbClr val="B4BAAE"/>
                </a:solidFill>
                <a:latin typeface="Aptos"/>
              </a:defRPr>
            </a:pPr>
            <a:r>
              <a:t>The ASR rules cover Office child processes, LSASS credential stealing, WMI event-subscription persistence, email/webmail executables, untrusted or unsigned USB processes, and PSExec/WMI child processes. The script uses Microsoft's published IDs and reads Defender's effective ID/action arrays back before reporting success.</a:t>
            </a:r>
          </a:p>
          <a:p>
            <a:pPr>
              <a:spcAft>
                <a:spcPts val="400"/>
              </a:spcAft>
              <a:defRPr sz="1000">
                <a:solidFill>
                  <a:srgbClr val="B4BAAE"/>
                </a:solidFill>
                <a:latin typeface="Aptos"/>
              </a:defRPr>
            </a:pPr>
            <a:r>
              <a:t>Audit setup uses stable subcategory GUIDs for Logon, Credential Validation, Process Creation, Sensitive Privilege Use, and User Account Management, and checks every `auditpol` exit code. Command-line event 4688 and PowerShell Script Block Logging improve evidence but can record sensitive arguments.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What the defender examines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ten monitor families are Defender health, logons, established TCP/listeners, processes, scheduled tasks, services, registry persistence, recently changed critical files, ransomware/recovery tampering, and account/administrator-group events.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DETECT FIRST; INVESTIGATE BEFORE CONTAINMENT OR ATTRIBUTION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Blue-hat Response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Armed behavior and self protection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Detect-only logs `WOULD BLOCK` and `WOULD KILL`. Default armed mode may add persistent inbound/outbound firewall blocks after repeated non-local failed logons and may force-stop known attacker-tool process-name matches; most other findings alert only.</a:t>
            </a:r>
          </a:p>
          <a:p>
            <a:pPr>
              <a:spcAft>
                <a:spcPts val="400"/>
              </a:spcAft>
              <a:defRPr sz="1000">
                <a:solidFill>
                  <a:srgbClr val="B4BAAE"/>
                </a:solidFill>
                <a:latin typeface="Aptos"/>
              </a:defRPr>
            </a:pPr>
            <a:r>
              <a:t>Dual-use names alert unless `-Aggressive` is supplied. Recognized Tlamatini paths are protected from auto-kill, but that is only a path-prefix check, not signature or provenance proof; malicious content inside an excluded/self path can inherit a blind spot.</a:t>
            </a:r>
          </a:p>
          <a:p>
            <a:pPr>
              <a:spcAft>
                <a:spcPts val="400"/>
              </a:spcAft>
              <a:defRPr sz="1000">
                <a:solidFill>
                  <a:srgbClr val="B4BAAE"/>
                </a:solidFill>
                <a:latin typeface="Aptos"/>
              </a:defRPr>
            </a:pPr>
            <a:r>
              <a:t>Watch mode is a foreground loop with `-IntervalSeconds` constrained to 5..86400. It is not a service or scheduled task, and `run_defender.bat` deliberately selects one default armed sweep, so baseline runs should invoke the PowerShell script directly with `-DetectOnly`.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Evidence, privacy, and packaging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`alerts.log` and `monitor.log` append sensitive usernames, IP addresses, paths, command lines, task/registry details, and response records without built-in rotation, deduplication, automatic unblock, or SIEM forwarding. Treat every severity as triage priority, not certainty.</a:t>
            </a:r>
          </a:p>
          <a:p>
            <a:pPr>
              <a:spcAft>
                <a:spcPts val="400"/>
              </a:spcAft>
              <a:defRPr sz="1000">
                <a:solidFill>
                  <a:srgbClr val="B4BAAE"/>
                </a:solidFill>
                <a:latin typeface="Aptos"/>
              </a:defRPr>
            </a:pPr>
            <a:r>
              <a:t>The batch launchers preserve paths containing spaces through UAC and propagate PowerShell failures. `build.py` ships the security source while excluding logs; self-modify snapshots likewise prune `security_logs/` so screenshots and host telemetry are not published.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(1/9)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Answers codebase questions with loaded file or directory context.</a:t>
            </a:r>
          </a:p>
          <a:p>
            <a:pPr>
              <a:spcAft>
                <a:spcPts val="400"/>
              </a:spcAft>
              <a:defRPr sz="1300">
                <a:solidFill>
                  <a:srgbClr val="B4BAAE"/>
                </a:solidFill>
                <a:latin typeface="Aptos"/>
              </a:defRPr>
            </a:pPr>
            <a:r>
              <a:t>Uses hybrid retrieval to extract metadata, split content, rank source chunks, and respect context budgets.</a:t>
            </a:r>
          </a:p>
          <a:p>
            <a:pPr>
              <a:spcAft>
                <a:spcPts val="400"/>
              </a:spcAft>
              <a:defRPr sz="1300">
                <a:solidFill>
                  <a:srgbClr val="B4BAAE"/>
                </a:solidFill>
                <a:latin typeface="Aptos"/>
              </a:defRPr>
            </a:pPr>
            <a:r>
              <a:t>Can discover files by glob pattern, search their contents by regex through Grepper's BOM-first UTF-8/16/32 and cp1252/Latin-1 decoder while skipping genuine binary data, and make surgical in-place replacements through Editor.</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Makes those SQLite operations WAL-safe: online backup reads through committed WAL pages, creates a self-contained destination, verifies it with `quick_check`, and keeps sidecars attached to the database they belong to.</a:t>
            </a:r>
          </a:p>
          <a:p>
            <a:pPr>
              <a:spcAft>
                <a:spcPts val="400"/>
              </a:spcAft>
              <a:defRPr sz="1100">
                <a:solidFill>
                  <a:srgbClr val="B4BAAE"/>
                </a:solidFill>
                <a:latin typeface="Aptos"/>
              </a:defRPr>
            </a:pPr>
            <a:r>
              <a:t>Can measure this machine's Internet connection through NetSpeed-Calculator, reporting throughput with confidence intervals, latency, jitter, loss, bufferbloat grade, and provider heterogeneity instead of trusting one speed-test endpoint.</a:t>
            </a:r>
          </a:p>
          <a:p>
            <a:pPr>
              <a:spcAft>
                <a:spcPts val="400"/>
              </a:spcAft>
              <a:defRPr sz="1100">
                <a:solidFill>
                  <a:srgbClr val="B4BAAE"/>
                </a:solidFill>
                <a:latin typeface="Aptos"/>
              </a:defRPr>
            </a:pPr>
            <a:r>
              <a:t>Lets operators manage provider secrets from the browser through the Config -&gt; Access Keys Wizard instead of hand-editing `config.json`.</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11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a:p>
            <a:pPr>
              <a:spcAft>
                <a:spcPts val="400"/>
              </a:spcAft>
              <a:defRPr sz="1100">
                <a:solidFill>
                  <a:srgbClr val="B4BAAE"/>
                </a:solidFill>
                <a:latin typeface="Aptos"/>
              </a:defRPr>
            </a:pPr>
            <a:r>
              <a:t>Hardens generated files: File-Creator’s bulk-write path now preserves long content byte-complete even when it contains heavy quoting or semicolon-rich source text.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(2/9)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ten status / reconnect / doctor / runtime / import / list / call / activate / wait helpers.</a:t>
            </a:r>
          </a:p>
          <a:p>
            <a:pPr>
              <a:spcAft>
                <a:spcPts val="400"/>
              </a:spcAft>
              <a:defRPr sz="1000">
                <a:solidFill>
                  <a:srgbClr val="B4BAAE"/>
                </a:solidFill>
                <a:latin typeface="Aptos"/>
              </a:defRPr>
            </a:pPr>
            <a:r>
              <a:t>Ships official Memory and Sequential-Thinking MCP catalog defaults in every install, both inactive, and can provision a private per-user Node/npm/npx/pnpm or uv/uvx runtime without admin access or system-PATH changes.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11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11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Warns GPU-host operators before a directory-context load is likely to saturate VRAM and degrade embedding throughput.</a:t>
            </a:r>
          </a:p>
          <a:p>
            <a:pPr>
              <a:spcAft>
                <a:spcPts val="400"/>
              </a:spcAft>
              <a:defRPr sz="1300">
                <a:solidFill>
                  <a:srgbClr val="B4BAAE"/>
                </a:solidFill>
                <a:latin typeface="Aptos"/>
              </a:defRPr>
            </a:pPr>
            <a:r>
              <a:t>Exposes a coherent versioning surface across builds, runtime UI, logs, and an open health-check endpoint.</a:t>
            </a:r>
          </a:p>
          <a:p>
            <a:pPr>
              <a:spcAft>
                <a:spcPts val="400"/>
              </a:spcAft>
              <a:defRPr sz="1300">
                <a:solidFill>
                  <a:srgbClr val="B4BAAE"/>
                </a:solidFill>
                <a:latin typeface="Aptos"/>
              </a:defRPr>
            </a:pPr>
            <a:r>
              <a:t>Carries a first-person self-knowledge map so she can answer more accurately about her own architecture, ports, runtime modes, pages, and capabilities.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(3/9)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1000">
                <a:solidFill>
                  <a:srgbClr val="B4BAAE"/>
                </a:solidFill>
                <a:latin typeface="Aptos"/>
              </a:defRPr>
            </a:pPr>
            <a:r>
              <a:t>Can run local authorized nmap reconnaissance through Nmapper, a use-only bridge that resolves a user-installed nmap, defaults to unprivileged TCP connect scanning, refuses unsafe/missing prerequisites gracefully, and never bundles or redistributes nmap.</a:t>
            </a:r>
          </a:p>
          <a:p>
            <a:pPr>
              <a:spcAft>
                <a:spcPts val="400"/>
              </a:spcAft>
              <a:defRPr sz="1000">
                <a:solidFill>
                  <a:srgbClr val="B4BAAE"/>
                </a:solidFill>
                <a:latin typeface="Aptos"/>
              </a:defRPr>
            </a:pPr>
            <a:r>
              <a:t>Can support operator-controlled Windows Blue-hat monitoring through the host-side `security/` toolkit, with persistent enablement tradeoffs, detect-only baselining, ten signal families, bounded armed response, and explicit evidence/privacy limits.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(4/9)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a:p>
            <a:pPr>
              <a:spcAft>
                <a:spcPts val="400"/>
              </a:spcAft>
              <a:defRPr sz="1000">
                <a:solidFill>
                  <a:srgbClr val="B4BAAE"/>
                </a:solidFill>
                <a:latin typeface="Aptos"/>
              </a:defRPr>
            </a:pPr>
            <a:r>
              <a:t>Can scaffold, author, build, flash, reset, and observe STM32 firmware through STM32er: the template-MCP path remains for STM32F407, while released `v1.42.0` adds a PlatformIO path for supported boards from Blue Pill/F1 through mainstream F/G/L/H7/U5/WB families, with fail-safe preflight before hardware mutation.</a:t>
            </a:r>
          </a:p>
          <a:p>
            <a:pPr>
              <a:spcAft>
                <a:spcPts val="400"/>
              </a:spcAft>
              <a:defRPr sz="1000">
                <a:solidFill>
                  <a:srgbClr val="B4BAAE"/>
                </a:solidFill>
                <a:latin typeface="Aptos"/>
              </a:defRPr>
            </a:pPr>
            <a:r>
              <a:t>Can scaffold, author, build, upload, and monitor ESP32-class firmware through ESP32er and PlatformIO Core, with zero-config bootstrap and a serial-aware preflight before hardware mutation.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(5/9)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(6/9)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Can manage real desktop windows by title: focus them, tile them, resize them, list them, and close them deterministically through Win32 calls.</a:t>
            </a:r>
          </a:p>
          <a:p>
            <a:pPr>
              <a:spcAft>
                <a:spcPts val="400"/>
              </a:spcAft>
              <a:defRPr sz="1100">
                <a:solidFill>
                  <a:srgbClr val="B4BAAE"/>
                </a:solidFill>
                <a:latin typeface="Aptos"/>
              </a:defRPr>
            </a:pPr>
            <a:r>
              <a:t>Can search with Googler through four plain-HTTP server-rendered routes first and, if empty, visible installed Chrome/bundled Chromium across seven browser routes, using bounded retries, manual query operators or a visual/pool structured dork builder, and URL-only output for indexed-file workflows.</a:t>
            </a:r>
          </a:p>
          <a:p>
            <a:pPr>
              <a:spcAft>
                <a:spcPts val="400"/>
              </a:spcAft>
              <a:defRPr sz="1100">
                <a:solidFill>
                  <a:srgbClr val="B4BAAE"/>
                </a:solidFill>
                <a:latin typeface="Aptos"/>
              </a:defRPr>
            </a:pPr>
            <a:r>
              <a:t>Can drive a real Playwright browser through scripted interactive steps for logins, forms, assertions, downloads, extraction, and end-to-end UI checks.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(7/9)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Can drive a live Unreal Engine 5 editor through the Unreal MCP plugin, from either Multi-Turn chat or the visual workflow canvas.</a:t>
            </a:r>
          </a:p>
          <a:p>
            <a:pPr>
              <a:spcAft>
                <a:spcPts val="400"/>
              </a:spcAft>
              <a:defRPr sz="12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1200">
                <a:solidFill>
                  <a:srgbClr val="B4BAAE"/>
                </a:solidFill>
                <a:latin typeface="Aptos"/>
              </a:defRPr>
            </a:pPr>
            <a:r>
              <a:t>Can autonomously kill only genuinely hung shell-wrapper subtrees through a boot-time command watchdog that measures CPU and I/O progress instead of guessing from elapsed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(8/9)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3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300">
                <a:solidFill>
                  <a:srgbClr val="B4BAAE"/>
                </a:solidFill>
                <a:latin typeface="Aptos"/>
              </a:defRPr>
            </a:pPr>
            <a:r>
              <a:t>Launches wrapped copies of selected workflow agents in isolated runtime folders without mutating templates.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(9/9)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Lets users design, validate, save, pause, resume, and stop visual workflows through the Agentic Control Panel.</a:t>
            </a:r>
          </a:p>
          <a:p>
            <a:pPr>
              <a:spcAft>
                <a:spcPts val="400"/>
              </a:spcAft>
              <a:defRPr sz="1400">
                <a:solidFill>
                  <a:srgbClr val="B4BAAE"/>
                </a:solidFill>
                <a:latin typeface="Aptos"/>
              </a:defRPr>
            </a:pPr>
            <a:r>
              <a:t>Turns successful Multi-Turn tool executions into starter `.flw` workflows that can be inspected and validated in ACP.</a:t>
            </a:r>
          </a:p>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Browser</a:t>
            </a:r>
          </a:p>
        </p:txBody>
      </p:sp>
      <p:sp>
        <p:nvSpPr>
          <p:cNvPr id="11" name="TextBox 10"/>
          <p:cNvSpPr txBox="1"/>
          <p:nvPr/>
        </p:nvSpPr>
        <p:spPr>
          <a:xfrm>
            <a:off x="2459736"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Channels</a:t>
            </a:r>
          </a:p>
        </p:txBody>
      </p:sp>
      <p:sp>
        <p:nvSpPr>
          <p:cNvPr id="14" name="TextBox 13"/>
          <p:cNvSpPr txBox="1"/>
          <p:nvPr/>
        </p:nvSpPr>
        <p:spPr>
          <a:xfrm>
            <a:off x="4297680"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RAG</a:t>
            </a:r>
          </a:p>
        </p:txBody>
      </p:sp>
      <p:sp>
        <p:nvSpPr>
          <p:cNvPr id="17" name="TextBox 16"/>
          <p:cNvSpPr txBox="1"/>
          <p:nvPr/>
        </p:nvSpPr>
        <p:spPr>
          <a:xfrm>
            <a:off x="6135624"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Planner</a:t>
            </a:r>
          </a:p>
        </p:txBody>
      </p:sp>
      <p:sp>
        <p:nvSpPr>
          <p:cNvPr id="20" name="TextBox 19"/>
          <p:cNvSpPr txBox="1"/>
          <p:nvPr/>
        </p:nvSpPr>
        <p:spPr>
          <a:xfrm>
            <a:off x="7973567"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Tools</a:t>
            </a:r>
          </a:p>
        </p:txBody>
      </p:sp>
      <p:sp>
        <p:nvSpPr>
          <p:cNvPr id="23" name="TextBox 22"/>
          <p:cNvSpPr txBox="1"/>
          <p:nvPr/>
        </p:nvSpPr>
        <p:spPr>
          <a:xfrm>
            <a:off x="9811511"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Browser UI sends chat and workflow requests through Django views and Channels WebSockets.</a:t>
            </a:r>
          </a:p>
          <a:p>
            <a:pPr>
              <a:spcAft>
                <a:spcPts val="400"/>
              </a:spcAft>
              <a:defRPr sz="900">
                <a:solidFill>
                  <a:srgbClr val="B4BAAE"/>
                </a:solidFill>
                <a:latin typeface="Aptos"/>
              </a:defRPr>
            </a:pPr>
            <a:r>
              <a:t>RAG chains load selected file/directory context, retrieve relevant chunks, and build answer prompts.</a:t>
            </a:r>
          </a:p>
          <a:p>
            <a:pPr>
              <a:spcAft>
                <a:spcPts val="400"/>
              </a:spcAft>
              <a:defRPr sz="900">
                <a:solidFill>
                  <a:srgbClr val="B4BAAE"/>
                </a:solidFill>
                <a:latin typeface="Aptos"/>
              </a:defRPr>
            </a:pPr>
            <a:r>
              <a:t>DB-menu actions validate directories or SQLite files in the browser, then call Django views that use `sqlite_copy.consistent_copy()` to read through WAL, create a self-contained checked destination, and either back it up or stage it under `DB/ToLoad/db.sqlite3`.</a:t>
            </a:r>
          </a:p>
          <a:p>
            <a:pPr>
              <a:spcAft>
                <a:spcPts val="400"/>
              </a:spcAft>
              <a:defRPr sz="9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900">
                <a:solidFill>
                  <a:srgbClr val="B4BAAE"/>
                </a:solidFill>
                <a:latin typeface="Aptos"/>
              </a:defRPr>
            </a:pPr>
            <a:r>
              <a:t>The file-navigation and file-edit trio sits above raw shell execution: Globber enumerates matching files, Grepper decodes BOM-marked UTF-8/16/32 before cp1252/Latin-1 fallbacks while pruning genuine binary/noisy trees, and Editor performs byte-exact in-place replacements without rewriting an entire file.</a:t>
            </a:r>
          </a:p>
          <a:p>
            <a:pPr>
              <a:spcAft>
                <a:spcPts val="400"/>
              </a:spcAft>
              <a:defRPr sz="900">
                <a:solidFill>
                  <a:srgbClr val="B4BAAE"/>
                </a:solidFill>
                <a:latin typeface="Aptos"/>
              </a:defRPr>
            </a:pPr>
            <a:r>
              <a:t>External MCP connectivity is catalog-driven: `external_mcps.json` stores preserved Claude-style `mcpServers` state, `external_mcp_defaults.py` seeds inactive Memory/Sequential-Thinking defaults with edit/tombstone semantics, `runtime_provisioner.py` resolves or privately provisions npx/uvx managers, and `external_mcp_manager.py` negotiates stdio / streamable-HTTP / SSE / WebSocket before healthy remote tools become `ext__&lt;server&gt;__&lt;tool&gt;` planner entries.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`apply_update.ps1`; the preserve contract retains operator state and `Uninstaller.exe`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`adding-external-mcp` skill applies that machinery in one guarded sequence: classify transport, import secret-separated configuration, diagnose, activate only on intent, wait for healthy tools, inspect status/list output, then call.</a:t>
            </a:r>
          </a:p>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Nmapper path resolves a user-installed `nmap` from explicit config, PATH, Program Files, or `%LOCALAPPDATA%`, constructs one safe scan action, captures XML plus normal output, parses hosts/open ports with the standard library, and emits one atomic `INI_SECTION_NMAPPER` block for Parametrizer/Forker routing.</a:t>
            </a:r>
          </a:p>
          <a:p>
            <a:pPr>
              <a:spcAft>
                <a:spcPts val="400"/>
              </a:spcAft>
              <a:defRPr sz="900">
                <a:solidFill>
                  <a:srgbClr val="B4BAAE"/>
                </a:solidFill>
                <a:latin typeface="Aptos"/>
              </a:defRPr>
            </a:pPr>
            <a:r>
              <a:t>The NetSpeed-Calculator path opens parallel keyless-provider streams, drops the slow-start warmup, samples byte derivatives, rejects outliers, computes Student-t intervals, and pools provider estimates with inverse-variance or DerSimonian-Laird random effects; `validate` and `providers` are read-only, while throughput actions are metered tier-D work.</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a:p>
            <a:pPr>
              <a:spcAft>
                <a:spcPts val="400"/>
              </a:spcAft>
              <a:defRPr sz="900">
                <a:solidFill>
                  <a:srgbClr val="B4BAAE"/>
                </a:solidFill>
                <a:latin typeface="Aptos"/>
              </a:defRPr>
            </a:pPr>
            <a:r>
              <a:t>Tool calls execute in the backend, append observations, and may create wrapped runtime copies under `agent/agents/pools/_chat_runs_/`.</a:t>
            </a:r>
          </a:p>
          <a:p>
            <a:pPr>
              <a:spcAft>
                <a:spcPts val="400"/>
              </a:spcAft>
              <a:defRPr sz="900">
                <a:solidFill>
                  <a:srgbClr val="B4BAAE"/>
                </a:solidFill>
                <a:latin typeface="Aptos"/>
              </a:defRPr>
            </a:pPr>
            <a:r>
              <a:t>On the next full start-up, `manage.py` archives the previous database with its WAL/SHM/journal sidecars under `DB/Older/&lt;timestamp&gt;/`, clears stale destination sidecars, and only then promotes the verified staged database before Django imports.</a:t>
            </a:r>
          </a:p>
          <a:p>
            <a:pPr>
              <a:spcAft>
                <a:spcPts val="400"/>
              </a:spcAft>
              <a:defRPr sz="900">
                <a:solidFill>
                  <a:srgbClr val="B4BAAE"/>
                </a:solidFill>
                <a:latin typeface="Aptos"/>
              </a:defRPr>
            </a:pPr>
            <a:r>
              <a:t>ACP flows deploy session-scoped pool instances, wire config values, validate NxN graph rules, and execute through Starter-driven flow semantics.</a:t>
            </a:r>
          </a:p>
          <a:p>
            <a:pPr>
              <a:spcAft>
                <a:spcPts val="400"/>
              </a:spcAft>
              <a:defRPr sz="9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while the explicit private builder can synchronize same-machine contacts into gitignored private staging without exposing them in public output.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lIns="12700" rIns="12700" tIns="12700" bIns="12700">
            <a:norm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lIns="12700" rIns="12700" tIns="12700" bIns="12700">
            <a:norm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V1.10.0 SAFETY MODIFIER CARRIED INTO THE V1.50.2 RELEASE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V1.11.0 UNINSTALL INTEGRATION CARRIED INTO THE V1.50.2 RELEASE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V1.50.2 PLUS ONE ALIGNED POST-TAG SAFETY COMMIT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`v1.50.2` is the current annotated release at `fc6a533e`; local and `origin/main` HEAD are aligned one commit later at `7abc751b`. The tagged release preserves Blue-hat security evidence across self-update and adds release-safety guards; the post-tag commit adds Deleter, silent-test media, and JavaScript parse safeguards without inventing a new release identity. Runtime identity stays Git/build-derived, and this generator creates no tag, commit, or push.</a:t>
            </a:r>
          </a:p>
          <a:p>
            <a:pPr>
              <a:spcAft>
                <a:spcPts val="400"/>
              </a:spcAft>
              <a:defRPr sz="1000">
                <a:solidFill>
                  <a:srgbClr val="B4BAAE"/>
                </a:solidFill>
                <a:latin typeface="Aptos"/>
              </a:defRPr>
            </a:pPr>
            <a:r>
              <a:t>NetSpeed-Calculator is workflow agent 88 and wrapped launcher 66. It measures download, upload, latency, jitter, loss, and bufferbloat across keyless providers, discards slow start, samples d(bytes)/dt, rejects outliers, publishes Student-t confidence intervals, and uses fixed/random-effects fusion with Cochran Q and I-squared. Full runs commonly transfer 100-200 MB and are Ask-Execs tier 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MCP, research, service, and privacy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Googler's structured dork compiler enforces no-space operators, exact quoting, uppercase parenthesized OR groups, exclusions, presets/aliases, and `links_only` file discovery; its pool runtime tries four plain-HTTP server-rendered routes first, then visible installed Chrome/bundled Chromium across seven browser routes with bounded retries. The 29th skill, `adding-external-mcp`, enforces classify transport -&gt; import secret-separated config -&gt; doctor -&gt; activate on intent -&gt; wait -&gt; status/list -&gt; call; migration 0194 appends Deep Internet Research prompt 118.</a:t>
            </a:r>
          </a:p>
          <a:p>
            <a:pPr>
              <a:spcAft>
                <a:spcPts val="400"/>
              </a:spcAft>
              <a:defRPr sz="1000">
                <a:solidFill>
                  <a:srgbClr val="B4BAAE"/>
                </a:solidFill>
                <a:latin typeface="Aptos"/>
              </a:defRPr>
            </a:pPr>
            <a:r>
              <a:t>Complete operation now documents Ollama Pro or higher as the intended minimum service tier for the shipped cloud-model workload. The private builder synchronizes same-machine contact sources into gitignored `contacts.private.json`, while public builds and self-modify snapshots remain contact-empty.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AGENT 88 - MEASURED THROUGHPUT WITH UNCERTAINTY, NOT A SINGLE FLATTERING NUMBER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NetSpeed-Calculator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Measurement method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Actions are `full`, `download`, `upload`, `latency`, `validate`, and `providers`. `validate` checks reachability and `providers` lists the catalog; neither runs a throughput transfer.</a:t>
            </a:r>
          </a:p>
          <a:p>
            <a:pPr>
              <a:spcAft>
                <a:spcPts val="400"/>
              </a:spcAft>
              <a:defRPr sz="1000">
                <a:solidFill>
                  <a:srgbClr val="B4BAAE"/>
                </a:solidFill>
                <a:latin typeface="Aptos"/>
              </a:defRPr>
            </a:pPr>
            <a:r>
              <a:t>Each throughput direction uses parallel TCP flows, discards the configured warmup/slow-start interval, and samples d(bytes)/dt so the excluded ramp cannot contaminate the estimate.</a:t>
            </a:r>
          </a:p>
          <a:p>
            <a:pPr>
              <a:spcAft>
                <a:spcPts val="400"/>
              </a:spcAft>
              <a:defRPr sz="1000">
                <a:solidFill>
                  <a:srgbClr val="B4BAAE"/>
                </a:solidFill>
                <a:latin typeface="Aptos"/>
              </a:defRPr>
            </a:pPr>
            <a:r>
              <a:t>Per-provider samples are cleaned with Tukey-IQR or MAD rejection, summarized with a trimmed mean, and assigned a small-sample Student-t confidence interval.</a:t>
            </a:r>
          </a:p>
          <a:p>
            <a:pPr>
              <a:spcAft>
                <a:spcPts val="400"/>
              </a:spcAft>
              <a:defRPr sz="1000">
                <a:solidFill>
                  <a:srgbClr val="B4BAAE"/>
                </a:solidFill>
                <a:latin typeface="Aptos"/>
              </a:defRPr>
            </a:pPr>
            <a:r>
              <a:t>Cross-provider fusion starts with inverse-variance weighting and switches to DerSimonian-Laird random effects when Cochran's Q shows genuine disagreement; I-squared quantifies heterogeneity.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Safety, evidence, and operation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Bufferbloat is the RTT increase while the link is saturated, graded A+ through F. A fast idle Mbps number does not excuse poor latency under load.</a:t>
            </a:r>
          </a:p>
          <a:p>
            <a:pPr>
              <a:spcAft>
                <a:spcPts val="400"/>
              </a:spcAft>
              <a:defRPr sz="1000">
                <a:solidFill>
                  <a:srgbClr val="B4BAAE"/>
                </a:solidFill>
                <a:latin typeface="Aptos"/>
              </a:defRPr>
            </a:pPr>
            <a:r>
              <a:t>A zero-byte transfer records and reports its endpoint/network cause instead of masquerading as a measured 0.00 Mbps connection.</a:t>
            </a:r>
          </a:p>
          <a:p>
            <a:pPr>
              <a:spcAft>
                <a:spcPts val="400"/>
              </a:spcAft>
              <a:defRPr sz="1000">
                <a:solidFill>
                  <a:srgbClr val="B4BAAE"/>
                </a:solidFill>
                <a:latin typeface="Aptos"/>
              </a:defRPr>
            </a:pPr>
            <a:r>
              <a:t>Full runs commonly transfer 100-200 MB and deliberately saturate the link. The agent is Ask-Execs tier D; run once with explicit operator awareness and do not repeat only to seek a prettier result.</a:t>
            </a:r>
          </a:p>
          <a:p>
            <a:pPr>
              <a:spcAft>
                <a:spcPts val="400"/>
              </a:spcAft>
              <a:defRPr sz="1000">
                <a:solidFill>
                  <a:srgbClr val="B4BAAE"/>
                </a:solidFill>
                <a:latin typeface="Aptos"/>
              </a:defRPr>
            </a:pPr>
            <a:r>
              <a:t>The network/measurement stack uses Python's standard library; existing PyYAML reads `config.yaml`. JSON evidence lands under `&lt;app&gt;/Temp/NetSpeedCalculator`, and `INI_SECTION_NETSPEED_CALCULATOR` feeds Parametrizer/Forker and Exec Report.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VALID DORK SYNTAX, INDEXED-FILE WORKFLOWS, AND A CLEAR RESPONSIBILITY BOUNDARY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Googler Structured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Builder, presets, and operators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visual/pool Googler compiles structured fields into valid Google syntax: operator colons have no following space, exact phrases are double-quoted, alternatives use uppercase OR inside parentheses, and exclusions use `-term` without a gap.</a:t>
            </a:r>
          </a:p>
          <a:p>
            <a:pPr>
              <a:spcAft>
                <a:spcPts val="400"/>
              </a:spcAft>
              <a:defRPr sz="1000">
                <a:solidFill>
                  <a:srgbClr val="B4BAAE"/>
                </a:solidFill>
                <a:latin typeface="Aptos"/>
              </a:defRPr>
            </a:pPr>
            <a:r>
              <a:t>Presets are `book`, `book_public`, `paper`, `manual`, `docs`, `slides`, `sheets`, and `directory`. A preset fills only empty fields, so an explicit user value always wins.</a:t>
            </a:r>
          </a:p>
          <a:p>
            <a:pPr>
              <a:spcAft>
                <a:spcPts val="400"/>
              </a:spcAft>
              <a:defRPr sz="1000">
                <a:solidFill>
                  <a:srgbClr val="B4BAAE"/>
                </a:solidFill>
                <a:latin typeface="Aptos"/>
              </a:defRPr>
            </a:pPr>
            <a:r>
              <a:t>File aliases expand `ebook`, `book`, `docs`, `slides`, `sheets`, `text`, `code`, and `data`; multiple file types or sites become grouped OR clauses, while excluded sites become `-site:` filters.</a:t>
            </a:r>
          </a:p>
          <a:p>
            <a:pPr>
              <a:spcAft>
                <a:spcPts val="400"/>
              </a:spcAft>
              <a:defRPr sz="1000">
                <a:solidFill>
                  <a:srgbClr val="B4BAAE"/>
                </a:solidFill>
                <a:latin typeface="Aptos"/>
              </a:defRPr>
            </a:pPr>
            <a:r>
              <a:t>The remaining fields cover exact/author phrases; title, URL, text, and anchor operators; alternatives; AROUND proximity; numeric ranges; before/after dates; related/cache/define/source discovery; and term exclusions.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File workflow and responsible use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For PDF, EPUB, document, slide, sheet, code, or data hunts, `content_mode: links_only` is the correct success path: Googler returns URL/title records without trying to extract text from a binary response.</a:t>
            </a:r>
          </a:p>
          <a:p>
            <a:pPr>
              <a:spcAft>
                <a:spcPts val="400"/>
              </a:spcAft>
              <a:defRPr sz="1000">
                <a:solidFill>
                  <a:srgbClr val="B4BAAE"/>
                </a:solidFill>
                <a:latin typeface="Aptos"/>
              </a:defRPr>
            </a:pPr>
            <a:r>
              <a:t>A typical downstream flow is Googler (`links_only`) -&gt; Parametrizer -&gt; Apirer (authorized download) -&gt; File-Extractor or File-Interpreter -&gt; Summarizer. Crawler remains appropriate when the target is an already-known web page.</a:t>
            </a:r>
          </a:p>
          <a:p>
            <a:pPr>
              <a:spcAft>
                <a:spcPts val="400"/>
              </a:spcAft>
              <a:defRPr sz="1000">
                <a:solidFill>
                  <a:srgbClr val="B4BAAE"/>
                </a:solidFill>
                <a:latin typeface="Aptos"/>
              </a:defRPr>
            </a:pPr>
            <a:r>
              <a:t>The direct Multi-Turn `googler` tool accepts equivalent hand-written operators inside `query`; the structured fields and presets belong to the visual/pool agent and must not be advertised as direct-tool parameters.</a:t>
            </a:r>
          </a:p>
          <a:p>
            <a:pPr>
              <a:spcAft>
                <a:spcPts val="400"/>
              </a:spcAft>
              <a:defRPr sz="1000">
                <a:solidFill>
                  <a:srgbClr val="B4BAAE"/>
                </a:solidFill>
                <a:latin typeface="Aptos"/>
              </a:defRPr>
            </a:pPr>
            <a:r>
              <a:t>Googler locates publicly indexed URLs only and does not bypass access controls. Indexing is not permission: copyright, licensing, authorization, downloading, and use remain the operator's responsibility.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PLAIN HTTP FIRST, SEVEN BROWSER ROUTES SECOND, BOUNDED RETRIES, AND HONEST ATTRIBUTION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Googler Search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Measured failure and browser policy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 measured failure drove the redesign: bundled headless Chromium returned zero results even for a plain control query, and the old single DuckDuckGo fallback returned an error page, while the same dork in visible installed Chrome returned real EPUB URLs.</a:t>
            </a:r>
          </a:p>
          <a:p>
            <a:pPr>
              <a:spcAft>
                <a:spcPts val="400"/>
              </a:spcAft>
              <a:defRPr sz="1000">
                <a:solidFill>
                  <a:srgbClr val="B4BAAE"/>
                </a:solidFill>
                <a:latin typeface="Aptos"/>
              </a:defRPr>
            </a:pPr>
            <a:r>
              <a:t>Tier 0 uses plain `urllib` before any browser: DuckDuckGo HTML, Bing, DuckDuckGo Lite, and Mojeek provide server-rendered pages without browser fingerprints, consent/JavaScript failures, or CSS-selector dependence. The first non-empty result set wins.</a:t>
            </a:r>
          </a:p>
          <a:p>
            <a:pPr>
              <a:spcAft>
                <a:spcPts val="400"/>
              </a:spcAft>
              <a:defRPr sz="1000">
                <a:solidFill>
                  <a:srgbClr val="B4BAAE"/>
                </a:solidFill>
                <a:latin typeface="Aptos"/>
              </a:defRPr>
            </a:pPr>
            <a:r>
              <a:t>If Tier 0 is empty, Tier 1 defaults to visible installed Chrome, falls back to bundled Chromium, and walks seven direct-result browser routes: DuckDuckGo HTML/Lite, Mojeek, Bing, Google, Brave, Startpage. Headless remains opt-in and more refusal-prone.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Fallback, semantics, and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Each browser route receives `attempts_per_engine` bounded attempts with polite jittered backoff. The log names the route that actually answered instead of implying every result came from Google.</a:t>
            </a:r>
          </a:p>
          <a:p>
            <a:pPr>
              <a:spcAft>
                <a:spcPts val="400"/>
              </a:spcAft>
              <a:defRPr sz="1000">
                <a:solidFill>
                  <a:srgbClr val="B4BAAE"/>
                </a:solidFill>
                <a:latin typeface="Aptos"/>
              </a:defRPr>
            </a:pPr>
            <a:r>
              <a:t>`engines` can pin a browser route such as `[google]` and deliberately skips Tier 0. Empty selection enables both documented tiers; tolerant booleans keep wrapped string `false` from silently becoming true.</a:t>
            </a:r>
          </a:p>
          <a:p>
            <a:pPr>
              <a:spcAft>
                <a:spcPts val="400"/>
              </a:spcAft>
              <a:defRPr sz="1000">
                <a:solidFill>
                  <a:srgbClr val="B4BAAE"/>
                </a:solidFill>
                <a:latin typeface="Aptos"/>
              </a:defRPr>
            </a:pPr>
            <a:r>
              <a:t>`site:` and `filetype:` work broadly, but `before:`, `after:`, `AROUND()`, and numeric-range semantics are Google-specific. A fallback engine may return broader candidates, so exact full-vocabulary work should pin Google and reports must preserve the answering-engine truth.</a:t>
            </a:r>
          </a:p>
          <a:p>
            <a:pPr>
              <a:spcAft>
                <a:spcPts val="400"/>
              </a:spcAft>
              <a:defRPr sz="1000">
                <a:solidFill>
                  <a:srgbClr val="B4BAAE"/>
                </a:solidFill>
                <a:latin typeface="Aptos"/>
              </a:defRPr>
            </a:pPr>
            <a:r>
              <a:t>The 73-test deterministic suite covers query compilation, config defaults, HTTP-before-browser order, seven-route browser order, retry/fallback stopping, pinned-engine Tier-0 bypass, tolerant booleans, and redirect unwrapping. The optional headed dork-hunt harness stores public/open-source proof under Tlamatini `Temp`.</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BACKUP DB, SET DB, AND STARTUP PROMOTION NOW PRESERVE COMMITTED SQLITE TRUTH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WAL-Safe Database Movement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Consistent copy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SQLite WAL mode can hold committed pages in `db.sqlite3-wal`, so copying only the main file can silently produce an old backup while claiming success.</a:t>
            </a:r>
          </a:p>
          <a:p>
            <a:pPr>
              <a:spcAft>
                <a:spcPts val="400"/>
              </a:spcAft>
              <a:defRPr sz="1100">
                <a:solidFill>
                  <a:srgbClr val="B4BAAE"/>
                </a:solidFill>
                <a:latin typeface="Aptos"/>
              </a:defRPr>
            </a:pPr>
            <a:r>
              <a:t>`sqlite_copy.consistent_copy()` uses SQLite's online backup API to read through WAL, converts the destination to DELETE journal mode, and requires `PRAGMA quick_check` before success.</a:t>
            </a:r>
          </a:p>
          <a:p>
            <a:pPr>
              <a:spcAft>
                <a:spcPts val="400"/>
              </a:spcAft>
              <a:defRPr sz="1100">
                <a:solidFill>
                  <a:srgbClr val="B4BAAE"/>
                </a:solidFill>
                <a:latin typeface="Aptos"/>
              </a:defRPr>
            </a:pPr>
            <a:r>
              <a:t>Backup DB writes that verified self-contained copy to the selected directory. Set DB writes the same safe form into `DB/ToLoad/db.sqlite3` without touching Django's open live connection.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Sidecar-safe promotion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Before Django imports, `manage.py::_apply_pending_db_swap()` archives the outgoing main database plus WAL/SHM/journal sidecars under `DB/Older/&lt;timestamp&gt;/`.</a:t>
            </a:r>
          </a:p>
          <a:p>
            <a:pPr>
              <a:spcAft>
                <a:spcPts val="400"/>
              </a:spcAft>
              <a:defRPr sz="1100">
                <a:solidFill>
                  <a:srgbClr val="B4BAAE"/>
                </a:solidFill>
                <a:latin typeface="Aptos"/>
              </a:defRPr>
            </a:pPr>
            <a:r>
              <a:t>The swap removes stale sidecars beside the destination before promotion, preventing SQLite from replaying pages belonging to the previous database over the selected replacement.</a:t>
            </a:r>
          </a:p>
          <a:p>
            <a:pPr>
              <a:spcAft>
                <a:spcPts val="400"/>
              </a:spcAft>
              <a:defRPr sz="1100">
                <a:solidFill>
                  <a:srgbClr val="B4BAAE"/>
                </a:solidFill>
                <a:latin typeface="Aptos"/>
              </a:defRPr>
            </a:pPr>
            <a:r>
              <a:t>Database copy truth is fail-safe: unreadable, inconsistent, or unchecked output is failure. The previous live database remains available if promotion cannot finish safely.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GUIDED ONBOARDING, A DEEP-RESEARCH STARTER, AND STRICT PII BOUNDARIES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MCP, Research, And Private Builds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MCP and research lifecycle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External MCP Adder skill's eight-step lifecycle is transport classification, secret-separated configuration, import, Doctor, intentional activation, healthy wait, status/list inspection, and remote call.</a:t>
            </a:r>
          </a:p>
          <a:p>
            <a:pPr>
              <a:spcAft>
                <a:spcPts val="400"/>
              </a:spcAft>
              <a:defRPr sz="1100">
                <a:solidFill>
                  <a:srgbClr val="B4BAAE"/>
                </a:solidFill>
                <a:latin typeface="Aptos"/>
              </a:defRPr>
            </a:pPr>
            <a:r>
              <a:t>Memory and Sequential Thinking remain inactive shipped defaults; deletion tombstones and persistent per-user state are respected, and at most five catalog servers are active at once.</a:t>
            </a:r>
          </a:p>
          <a:p>
            <a:pPr>
              <a:spcAft>
                <a:spcPts val="400"/>
              </a:spcAft>
              <a:defRPr sz="1100">
                <a:solidFill>
                  <a:srgbClr val="B4BAAE"/>
                </a:solidFill>
                <a:latin typeface="Aptos"/>
              </a:defRPr>
            </a:pPr>
            <a:r>
              <a:t>Deep Internet Research is append-only prompt 118 (`getting_started`, `sort_rank=100`). It requests Multi-Turn plus Exec Report for a long, link-rich search and may use authorized MCPs/agents without making them hidden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Service and privacy boundary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Ollama Pro or higher is the documented minimum tier for complete intended cloud-model operation. This is not sponsorship, and plan pricing/limits must be checked with Ollama.</a:t>
            </a:r>
          </a:p>
          <a:p>
            <a:pPr>
              <a:spcAft>
                <a:spcPts val="400"/>
              </a:spcAft>
              <a:defRPr sz="1100">
                <a:solidFill>
                  <a:srgbClr val="B4BAAE"/>
                </a:solidFill>
                <a:latin typeface="Aptos"/>
              </a:defRPr>
            </a:pPr>
            <a:r>
              <a:t>The explicit private builder merges same-machine contact sources into gitignored `contacts.private.json` using normalized names, alias union, and non-empty-value preservation.</a:t>
            </a:r>
          </a:p>
          <a:p>
            <a:pPr>
              <a:spcAft>
                <a:spcPts val="400"/>
              </a:spcAft>
              <a:defRPr sz="1100">
                <a:solidFill>
                  <a:srgbClr val="B4BAAE"/>
                </a:solidFill>
                <a:latin typeface="Aptos"/>
              </a:defRPr>
            </a:pPr>
            <a:r>
              <a:t>Public builds ship an empty contacts book; self-modify snapshots contain no contact files; generated dossiers never reproduce contact values, credentials, or live catalog secrets.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CLOSED STATUS VOCABULARY, CANONICAL RESULT FIELDS, AND RUNTIME SAFEGUARDS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Execution Truth And Runtime Reliability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Deterministic execution truth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`agent/agent_verdict.py` now owns the CLOSED `KNOWN_STATUSES` union of five disjoint sets: `DIAGNOSTIC_COMPLETED_STATUSES`, `WORK_COMPLETED_STATUSES`, `WORK_DEGRADED_STATUSES`, `WORK_NOT_DONE_STATUSES`, and `AGENT_ERROR_STATUSES`. The first two are green; the last three are red. R8b remains fail-open for unknown runtime input, while `agent/test_status_vocabulary.py` rejects unknown literals before release.</a:t>
            </a:r>
          </a:p>
          <a:p>
            <a:pPr>
              <a:spcAft>
                <a:spcPts val="400"/>
              </a:spcAft>
              <a:defRPr sz="1000">
                <a:solidFill>
                  <a:srgbClr val="B4BAAE"/>
                </a:solidFill>
                <a:latin typeface="Aptos"/>
              </a:defRPr>
            </a:pPr>
            <a:r>
              <a:t>Grepper detects BOM-marked UTF-8/16/32 before cp1252/Latin-1 fallbacks and before the NUL-byte binary test. The self-report outranks process exit code; Kuberneter emits `returncode`, `success`, and semantic `status: ok|failed`. Source-derived tests stop status, supervisor, prompt, and catalog drift.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Database startup safeguard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`agent/sqlite_copy.py` routes Backup DB, Set DB, and pre-Django hot-swap through SQLite's online backup API. Destinations become self-contained DELETE-journal files, must pass `PRAGMA quick_check`, and keep or clear WAL/SHM/journal sidecars in the correct order before promotion.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V1.48.16 - V1.48.17 SAFETY LINEAGE CARRIED BY V1.50.2</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Dialog And Bundle Proof</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Uniform dismissal and themed pop-ups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Frontend dialogs now share one visual language through `dialog_theme.css` and one fail-open dismissal contract through `dialog_policy.js`: an outside click never dismisses, while Escape finds the topmost open dialog and invokes that dialog's own X/Cancel path so permission denials, confirmation-false results, and scroll-lock cleanup remain intact. A sealed downloading updater is the single exception and refuses Escape/reload shortcuts. `tlmAlert` / `tlmConfirm` replace the remaining native pop-ups inside Contacts and External MCP dialogs, while `release_notes_renderer.js` safely renders update notes.</a:t>
            </a:r>
          </a:p>
          <a:p>
            <a:pPr>
              <a:spcAft>
                <a:spcPts val="400"/>
              </a:spcAft>
              <a:defRPr sz="1000">
                <a:solidFill>
                  <a:srgbClr val="B4BAAE"/>
                </a:solidFill>
                <a:latin typeface="Aptos"/>
              </a:defRPr>
            </a:pPr>
            <a:r>
              <a:t>The bubble-phase dispatcher closes only the topmost layer through its own dismiss control; no affirmative action is selected and one Escape cannot close two stacked dialogs.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Frozen payload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`v1.48.16` build proof names fail-open imports explicitly with hidden-import flags, opens the PyInstaller archive it just produced, and aborts if any of seven required `agent.*` modules is genuinely absent. Unreadable archive formats warn rather than fabricate failure, but a readable archive missing a required module cannot ship.</a:t>
            </a:r>
          </a:p>
          <a:p>
            <a:pPr>
              <a:spcAft>
                <a:spcPts val="400"/>
              </a:spcAft>
              <a:defRPr sz="1000">
                <a:solidFill>
                  <a:srgbClr val="B4BAAE"/>
                </a:solidFill>
                <a:latin typeface="Aptos"/>
              </a:defRPr>
            </a:pPr>
            <a:r>
              <a:t>Evidence: 35 focused dismissal-policy tests, a visible headed-Chrome proof runner, the tree-wide `closeOnEscape: false` guard, and build tests for CArchive/PYZ inspection.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CAPTURE, PDF LANGUAGE, AND EXTERNAL-MCP CATALOG BEHAVIOR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Operator Refinements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Menus, logging, and whole-desktop capture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Long operations use `LONG_OPERATION_DISABLED_MENU_BUTTONS` as the single Open/Save/Context/MCPs/Skills/External/Config/DB/Reconnect lock list; disable/restore paths preserve `data-bs-toggle`, while only Check for Updates and Configure Agents receive the targeted extra lock. Application logging now attributes output by user, request, stream, and source line.</a:t>
            </a:r>
          </a:p>
          <a:p>
            <a:pPr>
              <a:spcAft>
                <a:spcPts val="400"/>
              </a:spcAft>
              <a:defRPr sz="1000">
                <a:solidFill>
                  <a:srgbClr val="B4BAAE"/>
                </a:solidFill>
                <a:latin typeface="Aptos"/>
              </a:defRPr>
            </a:pPr>
            <a:r>
              <a:t>Shoter now captures the whole desktop by default so secondary-monitor evidence is not silently lost, accepts a basename-sanitized exact filename for report workflows, falls back to primary-screen capture when `all_screens` is unsupported, and emits the resolved capture settings in its structured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Document and MCP refinements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PDFer now localizes its own footer/fallback-title labels through `document_language` and forces optional Ollama polish to preserve the source language. External-MCP catalog refinements pin active services first, keep them alphabetized, add active/catalog headings, and preserve focus after rerendering.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NEW SOURCE, TESTS, MIGRATIONS, HARNESSES, AND INVENTORY EFFECTS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Implementation Assets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Backend and agent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NetSpeed assets include `agents/netspeed_calculator/{netspeed_calculator.py,config.yaml}`, registry/contract/Parametrizer/Exec-Report wiring, all four canvas connector paths, dedicated CSS, migrations 0195-0197, and focused source plus prompt tests. Googler's updated dork/resilience source/config, 73-test suite, and mirrored visible dork-hunt harness move together.</a:t>
            </a:r>
          </a:p>
          <a:p>
            <a:pPr>
              <a:spcAft>
                <a:spcPts val="400"/>
              </a:spcAft>
              <a:defRPr sz="1000">
                <a:solidFill>
                  <a:srgbClr val="B4BAAE"/>
                </a:solidFill>
                <a:latin typeface="Aptos"/>
              </a:defRPr>
            </a:pPr>
            <a:r>
              <a:t>WAL-safe database assets include `agent/sqlite_copy.py`, the pre-Django `manage.py` swap, DB-menu views, `test_db_backup_restore_wal.py`, `run_db_wal_tests.ps1`, and the headed `test_db_backup_set_visible.py` suite.</a:t>
            </a:r>
          </a:p>
          <a:p>
            <a:pPr>
              <a:spcAft>
                <a:spcPts val="400"/>
              </a:spcAft>
              <a:defRPr sz="1000">
                <a:solidFill>
                  <a:srgbClr val="B4BAAE"/>
                </a:solidFill>
                <a:latin typeface="Aptos"/>
              </a:defRPr>
            </a:pPr>
            <a:r>
              <a:t>External-MCP onboarding assets include `skills_pkg/adding_external_mcp/SKILL.md` plus its transport, configuration, doctor, and activation references; migration 0194 and `test_deep_research_prompt.py` cover the new starter prompt.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Frontend and operator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Private-release evidence includes `build_complete_private_release.py::sync_contacts_private`, the public empty-contact contract, and source-snapshot contact exclusion. Generated docs never reproduce contact values or live External-MCP credentials.</a:t>
            </a:r>
          </a:p>
          <a:p>
            <a:pPr>
              <a:spcAft>
                <a:spcPts val="400"/>
              </a:spcAft>
              <a:defRPr sz="1000">
                <a:solidFill>
                  <a:srgbClr val="B4BAAE"/>
                </a:solidFill>
                <a:latin typeface="Aptos"/>
              </a:defRPr>
            </a:pPr>
            <a:r>
              <a:t>The carried search/verdict/build assets remain represented by Grepper encoding tests, `agent_verdict.py`, Kuberneter contracts, `Uninstaller.exe` preservation, and the frozen-archive carriage proof.</a:t>
            </a:r>
          </a:p>
          <a:p>
            <a:pPr>
              <a:spcAft>
                <a:spcPts val="400"/>
              </a:spcAft>
              <a:defRPr sz="1000">
                <a:solidFill>
                  <a:srgbClr val="B4BAAE"/>
                </a:solidFill>
                <a:latin typeface="Aptos"/>
              </a:defRPr>
            </a:pPr>
            <a:r>
              <a:t>Blue-hat assets include the six tracked files under `security/`, build/source-snapshot log exclusions, official ASR and audit-policy GUID contracts, path-safe UAC launchers, the bounded defender watch loop, the expanded visible harness that passed 40/40 non-destructive checks, and fail-open self-update carryover for operator-owned `security_logs/` evidence.</a:t>
            </a:r>
          </a:p>
          <a:p>
            <a:pPr>
              <a:spcAft>
                <a:spcPts val="400"/>
              </a:spcAft>
              <a:defRPr sz="1000">
                <a:solidFill>
                  <a:srgbClr val="B4BAAE"/>
                </a:solidFill>
                <a:latin typeface="Aptos"/>
              </a:defRPr>
            </a:pPr>
            <a:r>
              <a:t>The inventory also includes new Gemini skill mirrors and `image.png` as a binary worktree asset; line totals count only text and exclude comments, blanks, and Python docstrings according to the documented method.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OLDER WAVES STILL CARRIED BY THE CURRENT DOSSIER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Release Continuity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Carried product story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binary-content guard, PDFer, LaTeXer repair ladder, FlowCreator, prompt grammar, recon free-run, STM32er PlatformIO/camera demos, and External-MCP structured-result delivery remain carried behavior rather than disappearing behind the latest changes.</a:t>
            </a:r>
          </a:p>
          <a:p>
            <a:pPr>
              <a:spcAft>
                <a:spcPts val="400"/>
              </a:spcAft>
              <a:defRPr sz="900">
                <a:solidFill>
                  <a:srgbClr val="B4BAAE"/>
                </a:solidFill>
                <a:latin typeface="Aptos"/>
              </a:defRPr>
            </a:pPr>
            <a:r>
              <a:t>The private External-MCP runtime, inactive Memory/Sequential-Thinking defaults, tombstones, persistent Memory state, secret-separated catalogs, nested-diagram restoration, Mover/Deleter placement guard, and updater preservation remain carried from the v1.48.14-v1.48.17 lineage.</a:t>
            </a:r>
          </a:p>
          <a:p>
            <a:pPr>
              <a:spcAft>
                <a:spcPts val="400"/>
              </a:spcAft>
              <a:defRPr sz="900">
                <a:solidFill>
                  <a:srgbClr val="B4BAAE"/>
                </a:solidFill>
                <a:latin typeface="Aptos"/>
              </a:defRPr>
            </a:pPr>
            <a:r>
              <a:t>The categorized prompt catalog, per-user Hard Cancel epochs, path-native screenshot paste/drop, configurable port, FlowPills discovery, Unreal scaffold, self-healing, robotic loop, firmware/media agents, External MCPs, ACPX skills, and deterministic file tools remain part of the complete product rather than being reduced to a latest-changes summary.</a:t>
            </a:r>
          </a:p>
          <a:p>
            <a:pPr>
              <a:spcAft>
                <a:spcPts val="400"/>
              </a:spcAft>
              <a:defRPr sz="900">
                <a:solidFill>
                  <a:srgbClr val="B4BAAE"/>
                </a:solidFill>
                <a:latin typeface="Aptos"/>
              </a:defRPr>
            </a:pPr>
            <a:r>
              <a:t>README.md and BookOfTlamatini.md retain the complete MIT-licensed installation, Ollama setup, architecture, everyday-use, agent, and responsibility narrative. The plain-Python agent disclaimer is explicit: transparency enables user control but is not a security warranty, and authorization, review, permissions, and consequences remain the operator's responsibility.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README.md and BookOfTlamatini.md remain the complete content baselines, while Git is the version source of truth: annotated release `v1.50.2` is at `fc6a533e` and aligned local/remote HEAD is one commit later at `7abc751b`. The generated facts are source-derived: 88 agents, 66 wrapped launchers, 108 built-in Multi-Turn tools, 29 skills, and 197 migrations before documentation edits change line totals.</a:t>
            </a:r>
          </a:p>
          <a:p>
            <a:pPr>
              <a:spcAft>
                <a:spcPts val="400"/>
              </a:spcAft>
              <a:defRPr sz="1000">
                <a:solidFill>
                  <a:srgbClr val="B4BAAE"/>
                </a:solidFill>
                <a:latin typeface="Aptos"/>
              </a:defRPr>
            </a:pPr>
            <a:r>
              <a:t>The inventory is rebuilt from Git-tracked plus Git-unignored files without reproducing credentials, endpoints, private values, or machine-specific configuration. This generation pass does not stage, commit, or push anything.</a:t>
            </a:r>
          </a:p>
          <a:p>
            <a:pPr>
              <a:spcAft>
                <a:spcPts val="400"/>
              </a:spcAft>
              <a:defRPr sz="1000">
                <a:solidFill>
                  <a:srgbClr val="B4BAAE"/>
                </a:solidFill>
                <a:latin typeface="Aptos"/>
              </a:defRPr>
            </a:pPr>
            <a:r>
              <a:t>The regenerated PDF/PPTX preserve the whole system, architecture, installation/use guidance, recent Git history, complete file tree, effective-line inventory, and validation evidence; target behavior and tagged historical predecessors are described separately.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V1.41.4 - SUCCESSFUL SERVER DATA REACHES THE MODEL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External MCP Structured Results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Failure mechanism</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Modern MCP servers may return a short human-readable pointer in `content` while placing the actual result in `structuredContent`; the old parser discarded that machine-readable payload.</a:t>
            </a:r>
          </a:p>
          <a:p>
            <a:pPr>
              <a:spcAft>
                <a:spcPts val="400"/>
              </a:spcAft>
              <a:defRPr sz="1100">
                <a:solidFill>
                  <a:srgbClr val="B4BAAE"/>
                </a:solidFill>
                <a:latin typeface="Aptos"/>
              </a:defRPr>
            </a:pPr>
            <a:r>
              <a:t>Without the actual data, the model could repeat the same valid tool call until Tlamatini's repetition breaker force-stopped the run, making a successful external server appear to auto-cancel.</a:t>
            </a:r>
          </a:p>
          <a:p>
            <a:pPr>
              <a:spcAft>
                <a:spcPts val="400"/>
              </a:spcAft>
              <a:defRPr sz="1100">
                <a:solidFill>
                  <a:srgbClr val="B4BAAE"/>
                </a:solidFill>
                <a:latin typeface="Aptos"/>
              </a:defRPr>
            </a:pPr>
            <a:r>
              <a:t>`_format_mcp_tool_result` is now the single formatter used by both `_StdioMcpClient.call_tool` and `_NetworkMcpClientBase.call_tool`, so transport choice no longer changes result fidelity.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Unified transport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Text blocks and non-text content are retained, while a sole `{"result": ...}` structured envelope is unwrapped before JSON serialization.</a:t>
            </a:r>
          </a:p>
          <a:p>
            <a:pPr>
              <a:spcAft>
                <a:spcPts val="400"/>
              </a:spcAft>
              <a:defRPr sz="1100">
                <a:solidFill>
                  <a:srgbClr val="B4BAAE"/>
                </a:solidFill>
                <a:latin typeface="Aptos"/>
              </a:defRPr>
            </a:pPr>
            <a:r>
              <a:t>`isError` still returns an explicit error and can now include structured-only error details; non-dict results are stringified safely.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CONTEXT PROTECTION, ERRORS, AND REGRESSION PROOF</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Structured Output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Payload safety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Structured payloads are capped at 24,000 characters by default with an explicit truncation marker, protecting the model context from unexpectedly huge tool responses.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Coverage and release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Seven tests cover pointer-plus-data, unchanged plain text, envelope unwrapping, text and structured-only errors, payload capping, and non-dict input.</a:t>
            </a:r>
          </a:p>
          <a:p>
            <a:pPr>
              <a:spcAft>
                <a:spcPts val="400"/>
              </a:spcAft>
              <a:defRPr sz="1100">
                <a:solidFill>
                  <a:srgbClr val="B4BAAE"/>
                </a:solidFill>
                <a:latin typeface="Aptos"/>
              </a:defRPr>
            </a:pPr>
            <a:r>
              <a:t>The fix is released as `v1.41.4` at `cec16594` and is present on `origin/main`.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PUBLISHED IN TAGGED V1.42.0</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STM32er PlatformIO Release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Routing and coverage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Release status: STM32er PlatformIO Phase 1 was published in tagged `v1.42.0` at `c58b01ad`.</a:t>
            </a:r>
          </a:p>
          <a:p>
            <a:pPr>
              <a:spcAft>
                <a:spcPts val="400"/>
              </a:spcAft>
              <a:defRPr sz="1000">
                <a:solidFill>
                  <a:srgbClr val="B4BAAE"/>
                </a:solidFill>
                <a:latin typeface="Aptos"/>
              </a:defRPr>
            </a:pPr>
            <a:r>
              <a:t>`stm32_backend=auto` keeps the legacy Template-MCP path for blank/STM32F4 requests, but a board, a non-F4 device, or a PlatformIO-only action routes to the new direct PlatformIO backend.</a:t>
            </a:r>
          </a:p>
          <a:p>
            <a:pPr>
              <a:spcAft>
                <a:spcPts val="400"/>
              </a:spcAft>
              <a:defRPr sz="1000">
                <a:solidFill>
                  <a:srgbClr val="B4BAAE"/>
                </a:solidFill>
                <a:latin typeface="Aptos"/>
              </a:defRPr>
            </a:pPr>
            <a:r>
              <a:t>Friendly board aliases and device-to-board mappings include the STM32F103 Blue Pill, while raw PlatformIO board ids remain accepted for broader `ststm32` coverage.</a:t>
            </a:r>
          </a:p>
          <a:p>
            <a:pPr>
              <a:spcAft>
                <a:spcPts val="400"/>
              </a:spcAft>
              <a:defRPr sz="1000">
                <a:solidFill>
                  <a:srgbClr val="B4BAAE"/>
                </a:solidFill>
                <a:latin typeface="Aptos"/>
              </a:defRPr>
            </a:pPr>
            <a:r>
              <a:t>The backend mirrors ESP32er's zero-config bootstrap and shared per-user PlatformIO core, then supports environment, board, project, source, package, build, upload, monitor, QA, and artifact actions.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Preflight and safe composite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 preflight resolves the board/family, validates `platformio.ini`, probes PlatformIO and ST-LINK readiness, and requires hardware only for upload/monitor operations; compile-only actions remain boardless-safe.</a:t>
            </a:r>
          </a:p>
          <a:p>
            <a:pPr>
              <a:spcAft>
                <a:spcPts val="400"/>
              </a:spcAft>
              <a:defRPr sz="1000">
                <a:solidFill>
                  <a:srgbClr val="B4BAAE"/>
                </a:solidFill>
                <a:latin typeface="Aptos"/>
              </a:defRPr>
            </a:pPr>
            <a:r>
              <a:t>`scaffold_build_flash` creates or reuses a project, writes source, builds, and flashes only when ST-LINK is confidently detected; otherwise a successful build is reported with a clear connect-and-flash next step.</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WHAT STM32ER PHASE 1 IMPLEMENTS AND WHAT REMAINS PLANNED</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PlatformIO Coverage Boundary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Deliberate refusal</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broad family parser recognizes the full ST line, but PlatformIO-incompatible newest families C0/H5/U0/WBA/N6 are deliberately refused instead of risking an incorrect linker or target.</a:t>
            </a:r>
          </a:p>
          <a:p>
            <a:pPr>
              <a:spcAft>
                <a:spcPts val="400"/>
              </a:spcAft>
              <a:defRPr sz="1100">
                <a:solidFill>
                  <a:srgbClr val="B4BAAE"/>
                </a:solidFill>
                <a:latin typeface="Aptos"/>
              </a:defRPr>
            </a:pPr>
            <a:r>
              <a:t>The planned CubeCLT/CubeMX backend remains proposal-only for those newest devices, especially STM32N6 signing and external-flash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New assets and tests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New assets include the all-families proposal and migrations `0177`-`0179`: one-call Blue Pill build/conditional flash, two stepwise camera-verified board walkthroughs, then a deliberate category-grouped no-gap catalog renumber.</a:t>
            </a:r>
          </a:p>
          <a:p>
            <a:pPr>
              <a:spcAft>
                <a:spcPts val="400"/>
              </a:spcAft>
              <a:defRPr sz="1000">
                <a:solidFill>
                  <a:srgbClr val="B4BAAE"/>
                </a:solidFill>
                <a:latin typeface="Aptos"/>
              </a:defRPr>
            </a:pPr>
            <a:r>
              <a:t>Registry, contracts, wrapped-tool defaults, config, agent code, descriptions, and tests move together; focused coverage pins family/routing safety plus catalog contiguity, prompt-name identity, category ordering, and demo presence.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BLUE PILL AND F407 DISCOVERY FROM DRIVER TO CAMERA EVIDENCE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STM32 Stepwise Proof Demos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Migration `0178_add_stm32_stepwise_blink_camera_prompts.py` adds two `firmware_iot` walkthroughs: STM32F103 Blue Pill over an external ST-LINK V2 and STM32F407G-DISC1 over its embedded ST-LINK/V2.</a:t>
            </a:r>
          </a:p>
          <a:p>
            <a:pPr>
              <a:spcAft>
                <a:spcPts val="400"/>
              </a:spcAft>
              <a:defRPr sz="1000">
                <a:solidFill>
                  <a:srgbClr val="B4BAAE"/>
                </a:solidFill>
                <a:latin typeface="Aptos"/>
              </a:defRPr>
            </a:pPr>
            <a:r>
              <a:t>Both prompts require Multi-Turn, Exec Report, and Step-by-Step mode, execute exactly one stage per turn, wait for the operator's `READY`, and verify each prerequisite before moving forward.</a:t>
            </a:r>
          </a:p>
          <a:p>
            <a:pPr>
              <a:spcAft>
                <a:spcPts val="400"/>
              </a:spcAft>
              <a:defRPr sz="1000">
                <a:solidFill>
                  <a:srgbClr val="B4BAAE"/>
                </a:solidFill>
                <a:latin typeface="Aptos"/>
              </a:defRPr>
            </a:pPr>
            <a:r>
              <a:t>The six-stage Blue Pill path covers driver/CLI readiness, four-wire SWD wiring and probe detection, PlatformIO bootstrap, project/source/build, ST-LINK flash, and camera proof of the PC13 LED.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Hardware and evidence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five-stage Discovery path uses the board's ST-LINK USB port, then bootstrap, project/source/build, embedded-probe flash, and camera proof of the green PD12 LED.</a:t>
            </a:r>
          </a:p>
          <a:p>
            <a:pPr>
              <a:spcAft>
                <a:spcPts val="400"/>
              </a:spcAft>
              <a:defRPr sz="1000">
                <a:solidFill>
                  <a:srgbClr val="B4BAAE"/>
                </a:solidFill>
                <a:latin typeface="Aptos"/>
              </a:defRPr>
            </a:pPr>
            <a:r>
              <a:t>Final evidence comes from `chat_agent_camcorder`; the prompt may pass the clip to Video-Analyzer or Image-Interpreter and must return a clear PASS or FAIL with the saved file path.</a:t>
            </a:r>
          </a:p>
          <a:p>
            <a:pPr>
              <a:spcAft>
                <a:spcPts val="400"/>
              </a:spcAft>
              <a:defRPr sz="1000">
                <a:solidFill>
                  <a:srgbClr val="B4BAAE"/>
                </a:solidFill>
                <a:latin typeface="Aptos"/>
              </a:defRPr>
            </a:pPr>
            <a:r>
              <a:t>These are seeded demonstrations and operator procedures, not a claim that hardware verification occurred during dossier generation.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V1.42.0 - DELIBERATE ONE-TIME PRIMARY-KEY MIGRATION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Catalog No-Gap Renumber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Migration mechanics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Released migration `0179_regroup_resort_prompts_no_gaps.py` is a one-time deliberate override of the earlier no-renumber convention; it runs after the two new STM32 walkthroughs are appended.</a:t>
            </a:r>
          </a:p>
          <a:p>
            <a:pPr>
              <a:spcAft>
                <a:spcPts val="400"/>
              </a:spcAft>
              <a:defRPr sz="1000">
                <a:solidFill>
                  <a:srgbClr val="B4BAAE"/>
                </a:solidFill>
                <a:latin typeface="Aptos"/>
              </a:defRPr>
            </a:pPr>
            <a:r>
              <a:t>Every Prompt is sorted by the same category-display rank used by the UI and then by its prior id, so each category becomes one contiguous block from beginner workflows through specialized surfaces and the `other` fallback.</a:t>
            </a:r>
          </a:p>
          <a:p>
            <a:pPr>
              <a:spcAft>
                <a:spcPts val="400"/>
              </a:spcAft>
              <a:defRPr sz="1000">
                <a:solidFill>
                  <a:srgbClr val="B4BAAE"/>
                </a:solidFill>
                <a:latin typeface="Aptos"/>
              </a:defRPr>
            </a:pPr>
            <a:r>
              <a:t>Because `idPrompt` is the primary key, the migration first parks rows above 1,000,000 and then assigns final ids 1..N, avoiding collisions while rewriting `promptName` to `prompt-&lt;id&gt;`.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Boundaries and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migration is intentionally one-way: reverse is a no-op because original ids are not stored; the source documents that no runtime foreign key references fixed prompt numbers.</a:t>
            </a:r>
          </a:p>
          <a:p>
            <a:pPr>
              <a:spcAft>
                <a:spcPts val="400"/>
              </a:spcAft>
              <a:defRPr sz="1000">
                <a:solidFill>
                  <a:srgbClr val="B4BAAE"/>
                </a:solidFill>
                <a:latin typeface="Aptos"/>
              </a:defRPr>
            </a:pPr>
            <a:r>
              <a:t>Future additions still append at max(idPrompt)+1, preserving contiguity until another deletion; the frontend's gap-tolerant fallback remains a defensive compatibility path.</a:t>
            </a:r>
          </a:p>
          <a:p>
            <a:pPr>
              <a:spcAft>
                <a:spcPts val="400"/>
              </a:spcAft>
              <a:defRPr sz="1000">
                <a:solidFill>
                  <a:srgbClr val="B4BAAE"/>
                </a:solidFill>
                <a:latin typeface="Aptos"/>
              </a:defRPr>
            </a:pPr>
            <a:r>
              <a:t>`test_prompt_catalog_contiguous.py` adds four database tests for no gaps, promptName/id agreement, nondecreasing category rank, and presence of both STM32 board demos plus Camcorder evidence.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V1.41.3 - 13 CATEGORIES AND DUPLICATE REMOVAL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Catalog Reorganized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Migration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Migration `0175_prompt_category_and_dedup.py` classifies the 106 historical prompt rows into 13 named operator categories, from Getting Started and Files/Search through ACPX, firmware, security, messaging, media, and a fail-safe More bucket.</a:t>
            </a:r>
          </a:p>
          <a:p>
            <a:pPr>
              <a:spcAft>
                <a:spcPts val="400"/>
              </a:spcAft>
              <a:defRPr sz="1000">
                <a:solidFill>
                  <a:srgbClr val="B4BAAE"/>
                </a:solidFill>
                <a:latin typeface="Aptos"/>
              </a:defRPr>
            </a:pPr>
            <a:r>
              <a:t>Migration `0176_delete_duplicate_acpx_prompts.py` physically deletes ids 40-52: 13 banner/Gemini variants that duplicate the seven portable ACPX demos retained at ids 33-39; surviving ids are never renumbered.</a:t>
            </a:r>
          </a:p>
          <a:p>
            <a:pPr>
              <a:spcAft>
                <a:spcPts val="400"/>
              </a:spcAft>
              <a:defRPr sz="1000">
                <a:solidFill>
                  <a:srgbClr val="B4BAAE"/>
                </a:solidFill>
                <a:latin typeface="Aptos"/>
              </a:defRPr>
            </a:pPr>
            <a:r>
              <a:t>Gaps are now valid. `/agent/list_prompts/` returns all visible rows regardless of id continuity, and the offline `prompt-N` fallback skips a missing id instead of terminating the catalog at the first gap.</a:t>
            </a:r>
          </a:p>
          <a:p>
            <a:pPr>
              <a:spcAft>
                <a:spcPts val="400"/>
              </a:spcAft>
              <a:defRPr sz="1000">
                <a:solidFill>
                  <a:srgbClr val="B4BAAE"/>
                </a:solidFill>
                <a:latin typeface="Aptos"/>
              </a:defRPr>
            </a:pPr>
            <a:r>
              <a:t>`Prompt.category` and `Prompt.hidden` remain schema-level controls, while `PROMPT_CATEGORY_ORDER` gives every known category a stable display rank and routes unknown or future values into `other` rather than dropping them.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Stable identity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modal renders explicit category headers and counts, then restores that grouped basic-to-advanced order whenever the search query clears.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GROUPED AT REST, RANKED AND FLATTENED WHILE SEARCHING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Catalog Search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Search behavior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Live search accepts a prompt number, title words, mode labels, acronym, contiguous text, or fuzzy subsequence; it requires every query token, ranks best-first, highlights matched characters, and exposes Enter-to-open plus Escape/clear behavior.</a:t>
            </a:r>
          </a:p>
          <a:p>
            <a:pPr>
              <a:spcAft>
                <a:spcPts val="400"/>
              </a:spcAft>
              <a:defRPr sz="1100">
                <a:solidFill>
                  <a:srgbClr val="B4BAAE"/>
                </a:solidFill>
                <a:latin typeface="Aptos"/>
              </a:defRPr>
            </a:pPr>
            <a:r>
              <a:t>Prompt cards retain their One-Shot, Multi-Turn, ACPX, Exec Report, and Step-by-Step mode badges and continue to set the matching toolbar toggles when selected.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Viewport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catalog stays viewport-pinned and bounded in CSS so its header and search bar remain reachable independently of the chat input height, with no JavaScript geometry coupling reintroduced.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V1.41.2 - CANCELLED RUNS STAY CANCELLED</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Hard Cancel Run Latch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Per-user epoch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`agent/cancellation.py` mints a monotonically increasing run epoch per user and permanently latches the highest cancelled epoch; clearing the legacy setup boolean can no longer resurrect that run.</a:t>
            </a:r>
          </a:p>
          <a:p>
            <a:pPr>
              <a:spcAft>
                <a:spcPts val="400"/>
              </a:spcAft>
              <a:defRPr sz="1000">
                <a:solidFill>
                  <a:srgbClr val="B4BAAE"/>
                </a:solidFill>
                <a:latin typeface="Aptos"/>
              </a:defRPr>
            </a:pPr>
            <a:r>
              <a:t>Cancellation is isolated per user, so a browser tab cannot kill another user's TeleTlamatini or concurrent browser run; a missing epoch is deliberately fail-open so a dropped payload field cannot poison all future requests.</a:t>
            </a:r>
          </a:p>
          <a:p>
            <a:pPr>
              <a:spcAft>
                <a:spcPts val="400"/>
              </a:spcAft>
              <a:defRPr sz="1000">
                <a:solidFill>
                  <a:srgbClr val="B4BAAE"/>
                </a:solidFill>
                <a:latin typeface="Aptos"/>
              </a:defRPr>
            </a:pPr>
            <a:r>
              <a:t>`ask_rag`, both unified-chain payload rebuilds, and `CapabilityAwareToolAgentExecutor` carry and check `run_epoch`, closing the prior gap where model retries or tool loops could continue after Cancel.</a:t>
            </a:r>
          </a:p>
          <a:p>
            <a:pPr>
              <a:spcAft>
                <a:spcPts val="400"/>
              </a:spcAft>
              <a:defRPr sz="1000">
                <a:solidFill>
                  <a:srgbClr val="B4BAAE"/>
                </a:solidFill>
                <a:latin typeface="Aptos"/>
              </a:defRPr>
            </a:pPr>
            <a:r>
              <a:t>The executor returns a structured cancelled result instead of raising, preserving already-completed tool evidence, Exec Report data, and Create Flow inputs without triggering a fabricated transient-error fallback.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Self-healing consults the same latch before retries, after watchdog waits, and before tactic announcements, so no new recovery tactic can be emitted once the operator cancels.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APPROVAL, RECOVERY, FRONTEND, AND REGRESSION COVERAGE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Hard Cancel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No resurrection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Ask Execs polls the run latch and resolves a blocked Proceed/Deny request as deny; consumer teardown revokes the exact status emitter so a dying run cannot re-arm the UI.</a:t>
            </a:r>
          </a:p>
          <a:p>
            <a:pPr>
              <a:spcAft>
                <a:spcPts val="400"/>
              </a:spcAft>
              <a:defRPr sz="1100">
                <a:solidFill>
                  <a:srgbClr val="B4BAAE"/>
                </a:solidFill>
                <a:latin typeface="Aptos"/>
              </a:defRPr>
            </a:pPr>
            <a:r>
              <a:t>Frontend `userCancelledRun` is mutable per-session state: late tactic frames become strict no-ops until the next submit/reconnect, preventing the Send button from flipping back to Cancel.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Coverage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Coverage includes 24 cancellation contract tests, focused Ask-Execs/self-healing tests, and visible browser regression harnesses for long tool chains, model steps, repeated cancels, next-request recovery, and approval-modal cancellation.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V1.41.0 - PASTE OR DROP AN IMAGE PATH INTO THE PROMPT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Screenshot To Chat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Ingestion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chat accepts clipboard bitmaps through document-level Ctrl+V handling and image files dropped only onto the main chat column, avoiding conflict with the External-MCP dialog's document-level JSON drop surface.</a:t>
            </a:r>
          </a:p>
          <a:p>
            <a:pPr>
              <a:spcAft>
                <a:spcPts val="400"/>
              </a:spcAft>
              <a:defRPr sz="1000">
                <a:solidFill>
                  <a:srgbClr val="B4BAAE"/>
                </a:solidFill>
                <a:latin typeface="Aptos"/>
              </a:defRPr>
            </a:pPr>
            <a:r>
              <a:t>`POST /agent/paste_image/` validates the request, enforces a 25 MB ceiling, uses Pillow to flatten transparency onto white, re-encodes to JPEG, and writes a collision-safe `image_&lt;timestamp&gt;.jpg` under Tlamatini's guarded Temp directory.</a:t>
            </a:r>
          </a:p>
          <a:p>
            <a:pPr>
              <a:spcAft>
                <a:spcPts val="400"/>
              </a:spcAft>
              <a:defRPr sz="1000">
                <a:solidFill>
                  <a:srgbClr val="B4BAAE"/>
                </a:solidFill>
                <a:latin typeface="Aptos"/>
              </a:defRPr>
            </a:pPr>
            <a:r>
              <a:t>The browser inserts the saved absolute path at the remembered caret, including after focus moves to the page body during Alt+Tab, then renders one removable thumbnail chip per image.</a:t>
            </a:r>
          </a:p>
          <a:p>
            <a:pPr>
              <a:spcAft>
                <a:spcPts val="400"/>
              </a:spcAft>
              <a:defRPr sz="1000">
                <a:solidFill>
                  <a:srgbClr val="B4BAAE"/>
                </a:solidFill>
                <a:latin typeface="Aptos"/>
              </a:defRPr>
            </a:pPr>
            <a:r>
              <a:t>Removing a chip removes both its thumbnail and its exact path from the message, so an accidental paste can be reversed before submission.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Reversible input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path is the integration contract: Image-Interpreter reads local files, and `prompt.pmt` teaches Tlamatini to treat a fresh Temp image path as the user's supplied screenshot instead of asking for another attachment.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VISION HANDOFF, LAYOUT SAFETY, AND IMPLEMENTATION ASSETS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Image Ingestion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Vision and layout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`computeFormMinHeight()` measures the chips row and a ResizeObserver watches it, preventing the new row from pushing the textarea or Send button beyond the viewport.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Concrete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Implementation assets include `chat_image_paste.js`, the paste view/URL, template chip/drop-overlay nodes, `.chat-img-*` CSS, layout integration, self-knowledge/prompt guidance, and Temp-policy regression coverage.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V1.40.1 — ESCAPE RESERVED PORT 8000 WITHOUT REBUILDING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Configurable Web 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Why and where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`django_port` moves the web UI and chat WebSocket bind away from a hardcoded 8000: edit the integer in `config.json`, restart Tlamatini, and no rebuild or source edit is required.</a:t>
            </a:r>
          </a:p>
          <a:p>
            <a:pPr>
              <a:spcAft>
                <a:spcPts val="400"/>
              </a:spcAft>
              <a:defRPr sz="1000">
                <a:solidFill>
                  <a:srgbClr val="B4BAAE"/>
                </a:solidFill>
                <a:latin typeface="Aptos"/>
              </a:defRPr>
            </a:pPr>
            <a:r>
              <a:t>The motivating failure is Windows `WinError 10013`: Hyper-V, WSL, or Docker can reserve port 8000 inside a dynamic exclusion range, making a frozen build unable to bind until the port is changed.</a:t>
            </a:r>
          </a:p>
          <a:p>
            <a:pPr>
              <a:spcAft>
                <a:spcPts val="400"/>
              </a:spcAft>
              <a:defRPr sz="1000">
                <a:solidFill>
                  <a:srgbClr val="B4BAAE"/>
                </a:solidFill>
                <a:latin typeface="Aptos"/>
              </a:defRPr>
            </a:pPr>
            <a:r>
              <a:t>Three stdlib-only helpers run before Django imports: `_resolve_config_path()` chooses `CONFIG_PATH`, the frozen executable's neighbor, or source `agent/config.json`; `_resolve_django_port()` validates `1..65535`; `_apply_configured_port()` injects the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Every manage.py launch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completion pass calls `_apply_configured_port(sys.argv)` once from `main()`, outside the frozen branch, so frozen double-click, `.flw` association, browser auto-open, source `runserver`, and `startserver` all agree.</a:t>
            </a:r>
          </a:p>
          <a:p>
            <a:pPr>
              <a:spcAft>
                <a:spcPts val="400"/>
              </a:spcAft>
              <a:defRPr sz="1100">
                <a:solidFill>
                  <a:srgbClr val="B4BAAE"/>
                </a:solidFill>
                <a:latin typeface="Aptos"/>
              </a:defRPr>
            </a:pPr>
            <a:r>
              <a:t>Resolution is fail-open to 8000 for missing, unreadable, malformed, non-numeric, or out-of-range values, while an explicit CLI port such as `runserver 9100` always wins and is never double-appended.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FAIL-OPEN RESOLUTION, CLI PRECEDENCE, AND FOCUSED COVERAGE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Web Port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Deliberate boundaries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injected source-mode value is a bare port so Django keeps its loopback host; direct Daphne/Uvicorn bypasses `manage.py`, MCP listeners `8765`/`50051` use their own settings, and TeleTlamatini keeps its own base URL.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Regression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24-test `agent/test_django_port_config.py` suite AST-lifts the pre-Django helpers and pins path resolution, validation, fail-open behavior, CLI precedence, frozen/source wiring, and `startserver` forwarding without importing side-effectful `manage.py`.</a:t>
            </a:r>
          </a:p>
          <a:p>
            <a:pPr>
              <a:spcAft>
                <a:spcPts val="400"/>
              </a:spcAft>
              <a:defRPr sz="1200">
                <a:solidFill>
                  <a:srgbClr val="B4BAAE"/>
                </a:solidFill>
                <a:latin typeface="Aptos"/>
              </a:defRPr>
            </a:pPr>
            <a:r>
              <a:t>`freeingport8000.ps1` is a separate elevated Windows repair helper that resets dynamic TCP/UDP ranges, restarts WinNAT, reports excluded ranges, and performs a loopback bind test; changing `django_port` remains the safer normal remedy, and generated docs never reproduce the script's machine-specific log path.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V1.40.0 — FIND AGENT TEMPLATES WITHOUT PYTHON OR DRIVE SCANS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FlowPills Companion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Lookup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Tlamatini-FlowPills reads `HKCU\Software\XAIHT\Tlamatini` first, especially the exact `AgentsRoot`, before falling back to Installed Apps, `.flw` association data, executable-relative roots, or source/preserved probes.</a:t>
            </a:r>
          </a:p>
          <a:p>
            <a:pPr>
              <a:spcAft>
                <a:spcPts val="400"/>
              </a:spcAft>
              <a:defRPr sz="1000">
                <a:solidFill>
                  <a:srgbClr val="B4BAAE"/>
                </a:solidFill>
                <a:latin typeface="Aptos"/>
              </a:defRPr>
            </a:pPr>
            <a:r>
              <a:t>The registry contract always rewrites six REG_SZ values — `InstallLocation`, `AgentsRoot`, `SourceAgentsRoot`, `AgentManifestPath`, `Version`, and `AgentCatalogVersion` — using an empty value when something is unknown so stale metadata cannot survive across source and frozen runs.</a:t>
            </a:r>
          </a:p>
          <a:p>
            <a:pPr>
              <a:spcAft>
                <a:spcPts val="400"/>
              </a:spcAft>
              <a:defRPr sz="1000">
                <a:solidFill>
                  <a:srgbClr val="B4BAAE"/>
                </a:solidFill>
                <a:latin typeface="Aptos"/>
              </a:defRPr>
            </a:pPr>
            <a:r>
              <a:t>`agent_manifest.py` discovers only complete templates, excludes `pools` and `__pycache__`, hashes script/config contents, computes a name-set catalog id, and writes atomically only when meaningful data 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Publication and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Launch publication runs first in `AgentConfig.ready()` on a daemon thread with its own idempotency gate, so optional MCP, model, ACPX, or skill import failures cannot suppress companion discovery.</a:t>
            </a:r>
          </a:p>
          <a:p>
            <a:pPr>
              <a:spcAft>
                <a:spcPts val="400"/>
              </a:spcAft>
              <a:defRPr sz="1000">
                <a:solidFill>
                  <a:srgbClr val="B4BAAE"/>
                </a:solidFill>
                <a:latin typeface="Aptos"/>
              </a:defRPr>
            </a:pPr>
            <a:r>
              <a:t>An agents-preserving uninstall restamps the manifest as `preserved`, writes `.tlamatini-preserved-agents.json` with the manifest SHA-256, and keeps the discovery key pointing to the preserved catalog.</a:t>
            </a:r>
          </a:p>
          <a:p>
            <a:pPr>
              <a:spcAft>
                <a:spcPts val="400"/>
              </a:spcAft>
              <a:defRPr sz="1000">
                <a:solidFill>
                  <a:srgbClr val="B4BAAE"/>
                </a:solidFill>
                <a:latin typeface="Aptos"/>
              </a:defRPr>
            </a:pPr>
            <a:r>
              <a:t>The contract is HKCU-only, no-admin, fail-open, and read-only with respect to agent templates; the filesystem remains the final validity authority for companion applications.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V1.39.5 — TWO PROMPT FIELDS TO A READY-TO-BUILD C++ PROJECT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Unreal 5.8 Project Scaffold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Deterministic scaffold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new Unreal scaffold prompt asks for only project name and destination, locates or obtains `XaihtUnrealEngineMCP`, and invokes its deterministic `scaffold_unreal_project.py` helper.</a:t>
            </a:r>
          </a:p>
          <a:p>
            <a:pPr>
              <a:spcAft>
                <a:spcPts val="400"/>
              </a:spcAft>
              <a:defRPr sz="1000">
                <a:solidFill>
                  <a:srgbClr val="B4BAAE"/>
                </a:solidFill>
                <a:latin typeface="Aptos"/>
              </a:defRPr>
            </a:pPr>
            <a:r>
              <a:t>The scaffold copies and renames `MCPGameProject`, sets EngineAssociation 5.8, finds an installed UE 5.8 even when it is not registered, bundles UnrealMCP, and generates the Visual Studio 2026 solution.</a:t>
            </a:r>
          </a:p>
          <a:p>
            <a:pPr>
              <a:spcAft>
                <a:spcPts val="400"/>
              </a:spcAft>
              <a:defRPr sz="1000">
                <a:solidFill>
                  <a:srgbClr val="B4BAAE"/>
                </a:solidFill>
                <a:latin typeface="Aptos"/>
              </a:defRPr>
            </a:pPr>
            <a:r>
              <a:t>UE 5.8 build compatibility is explicit: V7 build settings, `Unreal5_8` include order, a `Directory.Build.targets` mitigation for the Windows environment-length limit, and a pre-fixed Visual Studio Tools plugin.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Build and editor handoff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prompt instructs operators to build the project target rather than the entire solution, then open the editor; UnrealMCP starts its TCP listener at `127.0.0.1:55557` for Unrealer.</a:t>
            </a:r>
          </a:p>
          <a:p>
            <a:pPr>
              <a:spcAft>
                <a:spcPts val="400"/>
              </a:spcAft>
              <a:defRPr sz="1000">
                <a:solidFill>
                  <a:srgbClr val="B4BAAE"/>
                </a:solidFill>
                <a:latin typeface="Aptos"/>
              </a:defRPr>
            </a:pPr>
            <a:r>
              <a:t>Unrealer normalizes disk-style `/Content` references to `/Game`, maps the friendly material `slot` input to `slot_index`, and forwards one command per TCP connection into the live editor.</a:t>
            </a:r>
          </a:p>
          <a:p>
            <a:pPr>
              <a:spcAft>
                <a:spcPts val="400"/>
              </a:spcAft>
              <a:defRPr sz="1000">
                <a:solidFill>
                  <a:srgbClr val="B4BAAE"/>
                </a:solidFill>
                <a:latin typeface="Aptos"/>
              </a:defRPr>
            </a:pPr>
            <a:r>
              <a:t>Migrations `0173` and `0174`, Unrealer code/config comments, README/Book entries, and the current release metadata carry the scaffold workflow across source, catalog, and operator documentation.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BOUNDED WAITS, ACCURATE PARTIAL RESULTS, AND REQUEST ISOLATION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v1.39.5 Runtime Hardening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Responsiveness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`v1.39.5` smoothness wave focuses on bounded waits, concurrency isolation, accurate partial-result reporting, and lossless final answers rather than a new agent count.</a:t>
            </a:r>
          </a:p>
          <a:p>
            <a:pPr>
              <a:spcAft>
                <a:spcPts val="400"/>
              </a:spcAft>
              <a:defRPr sz="1000">
                <a:solidFill>
                  <a:srgbClr val="B4BAAE"/>
                </a:solidFill>
                <a:latin typeface="Aptos"/>
              </a:defRPr>
            </a:pPr>
            <a:r>
              <a:t>Image-Interpreter now bounds Ollama connect/read gaps; the System-Metrics WebSocket bounds receive time; External MCP warm-connect/supervisor gates recover if thread start fails; and command/ACPX output decoding is UTF-8-safe.</a:t>
            </a:r>
          </a:p>
          <a:p>
            <a:pPr>
              <a:spcAft>
                <a:spcPts val="400"/>
              </a:spcAft>
              <a:defRPr sz="1000">
                <a:solidFill>
                  <a:srgbClr val="B4BAAE"/>
                </a:solidFill>
                <a:latin typeface="Aptos"/>
              </a:defRPr>
            </a:pPr>
            <a:r>
              <a:t>Nmapper assigns per-host budgets to slow actions, keeps the outer kill budget above them, preserves partial output, uses collision-proof filenames for parallel scans, and labels hard timeouts honestly.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Safety and result integrity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Multi-Turn folds deferred completion deliverables into every exit path, while orphan-survivor state is keyed by conversation user so simultaneous requests cannot consume or clear each other's evidence.</a:t>
            </a:r>
          </a:p>
          <a:p>
            <a:pPr>
              <a:spcAft>
                <a:spcPts val="400"/>
              </a:spcAft>
              <a:defRPr sz="1000">
                <a:solidFill>
                  <a:srgbClr val="B4BAAE"/>
                </a:solidFill>
                <a:latin typeface="Aptos"/>
              </a:defRPr>
            </a:pPr>
            <a:r>
              <a:t>`.flw` export redaction covers ordinary secret paths and URI userinfo, and the command parser distinguishes Windows trailing backslashes from escaped inner quotes at assignment boundaries.</a:t>
            </a:r>
          </a:p>
          <a:p>
            <a:pPr>
              <a:spcAft>
                <a:spcPts val="400"/>
              </a:spcAft>
              <a:defRPr sz="1000">
                <a:solidFill>
                  <a:srgbClr val="B4BAAE"/>
                </a:solidFill>
                <a:latin typeface="Aptos"/>
              </a:defRPr>
            </a:pPr>
            <a:r>
              <a:t>These changes are now committed release behavior; the user's pre-refresh uncommitted configuration values remain private and are not quoted in this dossier.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USE-ONLY NMAP BRIDGE FOR AUTHORIZED TARGETS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Nmapper Local Recon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Nmapper is the `v1.39.3` local nmap bridge for authorized pentesting and CTF recon: it is a use-only integration, not a bundled scanner.</a:t>
            </a:r>
          </a:p>
          <a:p>
            <a:pPr>
              <a:spcAft>
                <a:spcPts val="400"/>
              </a:spcAft>
              <a:defRPr sz="1000">
                <a:solidFill>
                  <a:srgbClr val="B4BAAE"/>
                </a:solidFill>
                <a:latin typeface="Aptos"/>
              </a:defRPr>
            </a:pPr>
            <a:r>
              <a:t>The agent never ships or redistributes nmap; it resolves a user-installed `nmap` from explicit config, PATH, Program Files, or `%LOCALAPPDATA%`, and its `install` action launches the official free installer path.</a:t>
            </a:r>
          </a:p>
          <a:p>
            <a:pPr>
              <a:spcAft>
                <a:spcPts val="400"/>
              </a:spcAft>
              <a:defRPr sz="1000">
                <a:solidFill>
                  <a:srgbClr val="B4BAAE"/>
                </a:solidFill>
                <a:latin typeface="Aptos"/>
              </a:defRPr>
            </a:pPr>
            <a:r>
              <a:t>The default scan path is an unprivileged TCP connect scan (`-sT`), while raw-packet features such as SYN/OS/UDP are downgraded or refused safely when Npcap or elevated packet capture is unavailable.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Actions and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Supported actions include `quick`, `full`, `top_ports`, `version`, `scripts`, `host_discovery`, `udp`, `custom`, `validate`, and `install`, always for targets the operator owns or is explicitly authorized to assess.</a:t>
            </a:r>
          </a:p>
          <a:p>
            <a:pPr>
              <a:spcAft>
                <a:spcPts val="400"/>
              </a:spcAft>
              <a:defRPr sz="1000">
                <a:solidFill>
                  <a:srgbClr val="B4BAAE"/>
                </a:solidFill>
                <a:latin typeface="Aptos"/>
              </a:defRPr>
            </a:pPr>
            <a:r>
              <a:t>Each run emits one atomic `INI_SECTION_NMAPPER` block with action, target, scan technique, ports, return code, success state, hosts-up/open-port summaries, Npcap state, XML path/content, normal output, and stage.</a:t>
            </a:r>
          </a:p>
          <a:p>
            <a:pPr>
              <a:spcAft>
                <a:spcPts val="400"/>
              </a:spcAft>
              <a:defRPr sz="1000">
                <a:solidFill>
                  <a:srgbClr val="B4BAAE"/>
                </a:solidFill>
                <a:latin typeface="Aptos"/>
              </a:defRPr>
            </a:pPr>
            <a:r>
              <a:t>Implementation assets include `agent/agents/nmapper/`, migrations `0170`-`0172`, `test_nmapper_agent.py`, `chat_agent_nmapper`, `update_nmapper_connection`, contracts/Parametrizer fields, ACP connector assets, FlowCreator/FlowHypervisor entries, and handbook/docs updates.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V1.39.4 CLOSEABILITY PLUS CURRENT PROMPT LOCALIZATION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Startup And Prompt Polish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Startup dialog</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`v1.39.4` restored first-run/startup dialog closeability so a fresh launch can no longer be trapped behind an unclosable overlay.</a:t>
            </a:r>
          </a:p>
          <a:p>
            <a:pPr>
              <a:spcAft>
                <a:spcPts val="400"/>
              </a:spcAft>
              <a:defRPr sz="1200">
                <a:solidFill>
                  <a:srgbClr val="B4BAAE"/>
                </a:solidFill>
                <a:latin typeface="Aptos"/>
              </a:defRPr>
            </a:pPr>
            <a:r>
              <a:t>Commit `a45fe0e0` followed the public `v1.39.4` tag with Catalog-of-Prompts localization cleanup; that historical polish remains carried by the `v1.50.2` release.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 catalog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prompt catalog path stays centralized through the secure one-call `/agent/list_prompts/` endpoint ordered by category rank and stable surviving id, while the gap-tolerant probe loop remains only as an offline fallback.</a:t>
            </a:r>
          </a:p>
          <a:p>
            <a:pPr>
              <a:spcAft>
                <a:spcPts val="400"/>
              </a:spcAft>
              <a:defRPr sz="1200">
                <a:solidFill>
                  <a:srgbClr val="B4BAAE"/>
                </a:solidFill>
                <a:latin typeface="Aptos"/>
              </a:defRPr>
            </a:pPr>
            <a:r>
              <a:t>Frontend mutable-state tests and dialog templates continue to guard the chat/startup/overlay surfaces so future cleanup passes do not reintroduce const-poison or close-button regressions.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V1.38.0 — FROM BLANK PAGE TO OBSERVED HARDWARE BEHAVIOR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Robotic Loop Closed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Closed-loop chain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`v1.38.0` is the milestone where the Robotic-Loop-Training story became concrete: Tlamatini demonstrated a closed hardware loop by programming a robotic arm from a blank page and two cameras.</a:t>
            </a:r>
          </a:p>
          <a:p>
            <a:pPr>
              <a:spcAft>
                <a:spcPts val="400"/>
              </a:spcAft>
              <a:defRPr sz="1200">
                <a:solidFill>
                  <a:srgbClr val="B4BAAE"/>
                </a:solidFill>
                <a:latin typeface="Aptos"/>
              </a:defRPr>
            </a:pPr>
            <a:r>
              <a:t>The loop is intentionally composable rather than one monolith: STM32er writes/builds/flashes firmware, Camcorder records the physical attempt, Video-Analyzer judges the captured motion, and Forker routes the next branch.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Verdict safety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Video-Analyzer keeps the loop conservative: a deterministic OpenCV gate rejects no-motion clips before model spending, then two independent Ollama cloud vision interpreters must agree before `PASS_OK` is emitted.</a:t>
            </a:r>
          </a:p>
          <a:p>
            <a:pPr>
              <a:spcAft>
                <a:spcPts val="400"/>
              </a:spcAft>
              <a:defRPr sz="1100">
                <a:solidFill>
                  <a:srgbClr val="B4BAAE"/>
                </a:solidFill>
                <a:latin typeface="Aptos"/>
              </a:defRPr>
            </a:pPr>
            <a:r>
              <a:t>Forker branches on substring-safe `TLM_VERDICT::&lt;TOKEN&gt;` markers, so `FAIL_NO_MOTION`, `FAIL_WRONG_MOTION`, `UNCLEAR`, or `ANALYSIS_ERROR` can never accidentally match the success route.</a:t>
            </a:r>
          </a:p>
          <a:p>
            <a:pPr>
              <a:spcAft>
                <a:spcPts val="400"/>
              </a:spcAft>
              <a:defRPr sz="1100">
                <a:solidFill>
                  <a:srgbClr val="B4BAAE"/>
                </a:solidFill>
                <a:latin typeface="Aptos"/>
              </a:defRPr>
            </a:pPr>
            <a:r>
              <a:t>The PDF and PPTX now describe that loop as a system capability, not merely a release-note flourish, because it explains how Tlamatini can iteratively improve real hardware with observed evidence.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MUTABLE-STATE RECOVERY AND ONE-CALL PROMPT CATALOG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v1.38.1 Frontend Hotfix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Const-poison recovery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`v1.38.1` was the same-week frontend-state-recovery hotfix: `package.json` was aligned at the tagged commit `08efa1d2`, while the functional fix landed in `af356c31` after the `85ee4e6c` const-poison incident.</a:t>
            </a:r>
          </a:p>
          <a:p>
            <a:pPr>
              <a:spcAft>
                <a:spcPts val="400"/>
              </a:spcAft>
              <a:defRPr sz="1100">
                <a:solidFill>
                  <a:srgbClr val="B4BAAE"/>
                </a:solidFill>
                <a:latin typeface="Aptos"/>
              </a:defRPr>
            </a:pPr>
            <a:r>
              <a:t>The core contract is explicit: cross-file runtime globals in `agent_page_state.js` and `acp-globals.js` that other modules reassign must remain `let`, because per-file ESLint cannot see those cross-file writes.</a:t>
            </a:r>
          </a:p>
          <a:p>
            <a:pPr>
              <a:spcAft>
                <a:spcPts val="400"/>
              </a:spcAft>
              <a:defRPr sz="1100">
                <a:solidFill>
                  <a:srgbClr val="B4BAAE"/>
                </a:solidFill>
                <a:latin typeface="Aptos"/>
              </a:defRPr>
            </a:pPr>
            <a:r>
              <a:t>`agent/test_frontend_mutable_state.py` now guards both source files and collected staticfiles so an automated cleanup cannot silently turn chat state, ACP state, tools, agents, skills, history, or busy flags back into `const`.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 catalog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Catalog of Prompts now loads through one secure `GET /agent/list_prompts/` endpoint ordered by `idPrompt`, eliminating expected-404 console spam and preventing an `idPrompt` gap from hiding later prompts.</a:t>
            </a:r>
          </a:p>
          <a:p>
            <a:pPr>
              <a:spcAft>
                <a:spcPts val="400"/>
              </a:spcAft>
              <a:defRPr sz="1200">
                <a:solidFill>
                  <a:srgbClr val="B4BAAE"/>
                </a:solidFill>
                <a:latin typeface="Aptos"/>
              </a:defRPr>
            </a:pPr>
            <a:r>
              <a:t>The legacy prompt probe loop remains as an offline fallback, and the same fix also hardened dialogs: Configure-Mcps probe loops exit cleanly, About-video `play()` promises are guarded, and Esc closes About/Update overlays.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Release identity: `v1.50.2` is the current annotated release at `fc6a533e`; aligned local/remote HEAD is one commit later at `7abc751b`. The release line carries NetSpeed-Calculator, WAL-safe SQLite data movement, Googler's structured dork builder and resilient two-tier plain-HTTP-first search path, External-MCP onboarding, Deep Internet Research, Ollama Pro-or-higher guidance, private contact synchronization, and the entire v1.48.14-v1.48.17 safety lineage and earlier platform waves.</a:t>
            </a:r>
          </a:p>
          <a:p>
            <a:pPr>
              <a:spcAft>
                <a:spcPts val="400"/>
              </a:spcAft>
              <a:defRPr sz="1100">
                <a:solidFill>
                  <a:srgbClr val="B4BAAE"/>
                </a:solidFill>
                <a:latin typeface="Aptos"/>
              </a:defRPr>
            </a:pPr>
            <a:r>
              <a:t>New agent: Video-Analyzer becomes the current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`qwen3.5:cloud`, and `merging_model` defaults to `glm-5.2:cloud`, with independent calls merged only after both interpreters report.</a:t>
            </a:r>
          </a:p>
          <a:p>
            <a:pPr>
              <a:spcAft>
                <a:spcPts val="400"/>
              </a:spcAft>
              <a:defRPr sz="1100">
                <a:solidFill>
                  <a:srgbClr val="B4BAAE"/>
                </a:solidFill>
                <a:latin typeface="Aptos"/>
              </a:defRPr>
            </a:pPr>
            <a:r>
              <a:t>Routing contract: every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MOTION-VERDICT AGENT FOR ROBOTIC-LOOP TRAINING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Video-Analyzer is Tlamatini's video-verdict agent: she receives `video_pathfilenames` as a direct file, wildcard, folder-newest rule, or Camcorder pool name and resolves the video before model calls begin.</a:t>
            </a:r>
          </a:p>
          <a:p>
            <a:pPr>
              <a:spcAft>
                <a:spcPts val="400"/>
              </a:spcAft>
              <a:defRPr sz="1100">
                <a:solidFill>
                  <a:srgbClr val="B4BAAE"/>
                </a:solidFill>
                <a:latin typeface="Aptos"/>
              </a:defRPr>
            </a:pPr>
            <a:r>
              <a:t>The first gate is deterministic and cheap: OpenCV/numpy frame sampling computes a motion score and returns `FAIL_NO_MOTION` without spending LLM calls when the recording clearly shows no movement.</a:t>
            </a:r>
          </a:p>
          <a:p>
            <a:pPr>
              <a:spcAft>
                <a:spcPts val="400"/>
              </a:spcAft>
              <a:defRPr sz="1100">
                <a:solidFill>
                  <a:srgbClr val="B4BAAE"/>
                </a:solidFill>
                <a:latin typeface="Aptos"/>
              </a:defRPr>
            </a:pPr>
            <a:r>
              <a:t>When motion exists, two Ollama cloud vision models run in parallel. One specializes in temporal/action evidence, the other provides an independent holistic judgement, and a merger model produces the final report.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final answer is intentionally conservative: PASS requires both interpreters to agree; disagreement or weak evidence becomes `UNCLEAR`, and wrong movement becomes `FAIL_WRONG_MOTION` rather than a false pass.</a:t>
            </a:r>
          </a:p>
          <a:p>
            <a:pPr>
              <a:spcAft>
                <a:spcPts val="400"/>
              </a:spcAft>
              <a:defRPr sz="1100">
                <a:solidFill>
                  <a:srgbClr val="B4BAAE"/>
                </a:solidFill>
                <a:latin typeface="Aptos"/>
              </a:defRPr>
            </a:pPr>
            <a:r>
              <a:t>Structured output is `INI_SECTION_VIDEO_ANALYZER` with `video_path`, `verdict`, `verdict_token`, `confidence`, `motion_score`, `frames_analyzed`, model names, `status`, and the body report.</a:t>
            </a:r>
          </a:p>
          <a:p>
            <a:pPr>
              <a:spcAft>
                <a:spcPts val="400"/>
              </a:spcAft>
              <a:defRPr sz="1100">
                <a:solidFill>
                  <a:srgbClr val="B4BAAE"/>
                </a:solidFill>
                <a:latin typeface="Aptos"/>
              </a:defRPr>
            </a:pPr>
            <a:r>
              <a:t>The robotics loop is now explicit: STM32er can flash firmware, Camcorder can record the board, Video-Analyzer can judge the recorded motion, and Forker can branch on the `TLM_VERDICT::` token to retry or finish.</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Prompt search now behaves like an operator tool instead of a static dropdown: category grouping, numeric/acronym/substring/word-start/subsequence matching, best-first ranking, highlighted hits, and mode badges make the deduplicated catalog navigable.</a:t>
            </a:r>
          </a:p>
          <a:p>
            <a:pPr>
              <a:spcAft>
                <a:spcPts val="400"/>
              </a:spcAft>
              <a:defRPr sz="1300">
                <a:solidFill>
                  <a:srgbClr val="B4BAAE"/>
                </a:solidFill>
                <a:latin typeface="Aptos"/>
              </a:defRPr>
            </a:pPr>
            <a:r>
              <a:t>The prompt-card rendering keeps One-Shot, Multi-Turn, ACPX, Exec Report, and Step-by-Step families distinguishable while migrations `0175`-`0176` remove redundant ACPX variants without renumbering surviving prompt ids.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`glm-5.2:cloud`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`glm-5.2:cloud`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`qwen3.5:cloud`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`glm-5.2:cloud`;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9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900">
                <a:solidFill>
                  <a:srgbClr val="B4BAAE"/>
                </a:solidFill>
                <a:latin typeface="Aptos"/>
              </a:defRPr>
            </a:pPr>
            <a:r>
              <a:t>Developer path stays available: clone the repo, create a virtual environment, install `requirements.txt`, run migrations, and start Django with `python Tlamatini/manage.py runserver` (the `--noreload` flag is optional since 2026-07-11 — plain `runserver` now boots clean and auto-reloads).</a:t>
            </a:r>
          </a:p>
          <a:p>
            <a:pPr>
              <a:spcAft>
                <a:spcPts val="400"/>
              </a:spcAft>
              <a:defRPr sz="900">
                <a:solidFill>
                  <a:srgbClr val="B4BAAE"/>
                </a:solidFill>
                <a:latin typeface="Aptos"/>
              </a:defRPr>
            </a:pPr>
            <a:r>
              <a:t>Before pulling the shipped `:cloud` model tags, activate Ollama Pro or higher and run `ollama signin`; this is an operating requirement for the complete intended workload, not a sponsorship or affiliate relationship.</a:t>
            </a:r>
          </a:p>
          <a:p>
            <a:pPr>
              <a:spcAft>
                <a:spcPts val="400"/>
              </a:spcAft>
              <a:defRPr sz="9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9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BACKEND, FRONTEND, AND BUILD ASSETS RETAINED IN THE CURRENT TREE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Earlier Asset Waves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tagged `v1.41.4` wave adds the shared `_format_mcp_tool_result` path in `external_mcp_manager.py` plus seven focused cases in `test_external_mcp_universal.py` for machine-readable MCP results.</a:t>
            </a:r>
          </a:p>
          <a:p>
            <a:pPr>
              <a:spcAft>
                <a:spcPts val="400"/>
              </a:spcAft>
              <a:defRPr sz="1000">
                <a:solidFill>
                  <a:srgbClr val="B4BAAE"/>
                </a:solidFill>
                <a:latin typeface="Aptos"/>
              </a:defRPr>
            </a:pPr>
            <a:r>
              <a:t>The tagged `v1.42.0` STM32er/prompt wave adds over one thousand lines to `stm32er.py`, expands config/registry/contracts/tools/tests/docs, and tracks the all-families proposal, migrations `0177`-`0179`, and `test_prompt_catalog_contiguous.py`.</a:t>
            </a:r>
          </a:p>
          <a:p>
            <a:pPr>
              <a:spcAft>
                <a:spcPts val="400"/>
              </a:spcAft>
              <a:defRPr sz="1000">
                <a:solidFill>
                  <a:srgbClr val="B4BAAE"/>
                </a:solidFill>
                <a:latin typeface="Aptos"/>
              </a:defRPr>
            </a:pPr>
            <a:r>
              <a:t>The clearer disclaimer commit for README.md and BookOfTlamatini.md is included in the `v1.42.0` ancestry; neither handbook is modified by this generation pass.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Hardening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`v1.41.0` image-ingestion wave adds `chat_image_paste.js`, paste view/URL wiring, chat chip/drop-overlay template nodes, image CSS, layout observation, Temp-policy coverage, and matching README/Book/self-knowledge guidance.</a:t>
            </a:r>
          </a:p>
          <a:p>
            <a:pPr>
              <a:spcAft>
                <a:spcPts val="400"/>
              </a:spcAft>
              <a:defRPr sz="1000">
                <a:solidFill>
                  <a:srgbClr val="B4BAAE"/>
                </a:solidFill>
                <a:latin typeface="Aptos"/>
              </a:defRPr>
            </a:pPr>
            <a:r>
              <a:t>The `v1.41.2` cancellation wave adds `agent/cancellation.py`, `test_cancellation.py`, `test_ask_execs_allowlist.py`, expanded self-healing/frontend tests, and coordinated changes across consumers, executor, RAG, retry, permission, settings, and chat-state surfaces.</a:t>
            </a:r>
          </a:p>
          <a:p>
            <a:pPr>
              <a:spcAft>
                <a:spcPts val="400"/>
              </a:spcAft>
              <a:defRPr sz="1000">
                <a:solidFill>
                  <a:srgbClr val="B4BAAE"/>
                </a:solidFill>
                <a:latin typeface="Aptos"/>
              </a:defRPr>
            </a:pPr>
            <a:r>
              <a:t>Two browser regression harnesses under `.claude/skills/tlamatini-daily-chat-test/harness/` exercise repeated cancels, next-request recovery, model/tool-chain cancellation, Ask-Execs cancellation, and the destructive/human-contacting/network allowlist contract.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RETAINED IMPLEMENTATION DELTAS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Earlier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Discoverer and frontend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`v1.41.3` prompt-catalog wave adds migrations `0175`-`0176`, Prompt category/hidden fields, ordered category metadata in `views.py`, and grouped, gap-tolerant, fuzzy-searchable catalog behavior in `tools_dialog.js`/`.css`.</a:t>
            </a:r>
          </a:p>
          <a:p>
            <a:pPr>
              <a:spcAft>
                <a:spcPts val="400"/>
              </a:spcAft>
              <a:defRPr sz="1000">
                <a:solidFill>
                  <a:srgbClr val="B4BAAE"/>
                </a:solidFill>
                <a:latin typeface="Aptos"/>
              </a:defRPr>
            </a:pPr>
            <a:r>
              <a:t>The same prompt wave physically removes 13 duplicate ACPX rows while retaining seven portable originals and stable surviving ids; the primary endpoint and offline fallback both tolerate the resulting gap.</a:t>
            </a:r>
          </a:p>
          <a:p>
            <a:pPr>
              <a:spcAft>
                <a:spcPts val="400"/>
              </a:spcAft>
              <a:defRPr sz="1000">
                <a:solidFill>
                  <a:srgbClr val="B4BAAE"/>
                </a:solidFill>
                <a:latin typeface="Aptos"/>
              </a:defRPr>
            </a:pPr>
            <a:r>
              <a:t>`freeingport8000.ps1` is the new Windows repair asset for resetting dynamic ranges, restarting WinNAT, reporting exclusions, and bind-testing 8000; its machine-specific scratch path is deliberately excluded from generated prose.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Frontend, port, and agent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project inventory is rebuilt from `git ls-files` plus `git ls-files --others --exclude-standard` on every run, so any git-unignored local assets are counted while ignored runtime caches such as `Go/` remain outside the dossier.</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RETAINED ASSETS BEHIND THE CURRENT INVENTORY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Earlier Assets Source Trail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Media and browser setup</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a:p>
            <a:pPr>
              <a:spcAft>
                <a:spcPts val="400"/>
              </a:spcAft>
              <a:defRPr sz="1000">
                <a:solidFill>
                  <a:srgbClr val="B4BAAE"/>
                </a:solidFill>
                <a:latin typeface="Aptos"/>
              </a:defRPr>
            </a:pPr>
            <a:r>
              <a:t>The `v1.40.1` port assets span committed `manage.py`/`config.json`, source/startserver integration, the committed 24-test `agent/test_django_port_config.py` suite, version surfaces in `package.json`/`VERSIONING.md`, and operator contracts across README, Book, self-knowledge, prompt guidance, and `docs/claude`.</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The 88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lIns="12700" rIns="12700" tIns="12700" bIns="12700">
            <a:norm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lIns="12700" rIns="12700" tIns="12700" bIns="12700">
            <a:norm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Templates on disk with config.yaml: 88</a:t>
            </a:r>
          </a:p>
          <a:p>
            <a:pPr>
              <a:spcAft>
                <a:spcPts val="400"/>
              </a:spcAft>
              <a:defRPr sz="1500">
                <a:solidFill>
                  <a:srgbClr val="B4BAAE"/>
                </a:solidFill>
                <a:latin typeface="Aptos"/>
              </a:defRPr>
            </a:pPr>
            <a:r>
              <a:t>Description rows in `agents_descriptions.md`: 88</a:t>
            </a:r>
          </a:p>
          <a:p>
            <a:pPr>
              <a:spcAft>
                <a:spcPts val="400"/>
              </a:spcAft>
              <a:defRPr sz="1500">
                <a:solidFill>
                  <a:srgbClr val="B4BAAE"/>
                </a:solidFill>
                <a:latin typeface="Aptos"/>
              </a:defRPr>
            </a:pPr>
            <a:r>
              <a:t>This dossier reconciles README and Book wording back to the same 88-agent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live operator surface now stands at 88 workflow agents, 108 Multi-Turn tools, 12 ACPX tools, and 29 skills.</a:t>
            </a:r>
          </a:p>
          <a:p>
            <a:pPr>
              <a:spcAft>
                <a:spcPts val="400"/>
              </a:spcAft>
              <a:defRPr sz="1100">
                <a:solidFill>
                  <a:srgbClr val="B4BAAE"/>
                </a:solidFill>
                <a:latin typeface="Aptos"/>
              </a:defRPr>
            </a:pPr>
            <a:r>
              <a:t>Source inspection confirms the total: 20 core Python tools + 66 wrapped chat-agent tools + 12 ACPX/Skill tools + 10 External-MCP supervisors = 108 built-in Multi-Turn tools; healthy active servers add dynamic `ext__*` remotes separately.</a:t>
            </a:r>
          </a:p>
          <a:p>
            <a:pPr>
              <a:spcAft>
                <a:spcPts val="400"/>
              </a:spcAft>
              <a:defRPr sz="1100">
                <a:solidFill>
                  <a:srgbClr val="B4BAAE"/>
                </a:solidFill>
                <a:latin typeface="Aptos"/>
              </a:defRPr>
            </a:pPr>
            <a:r>
              <a:t>The count growth over older public badges comes from stacked waves: the deterministic file trio, ESPHomer, MCP Doctor, Zavuerer, Video-Analyzer, Nmapper, NetSpeed-Calculator, and the `adding-external-mcp` skill.</a:t>
            </a:r>
          </a:p>
          <a:p>
            <a:pPr>
              <a:spcAft>
                <a:spcPts val="400"/>
              </a:spcAft>
              <a:defRPr sz="11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1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88-agent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CRITICAL-MISSION STM32 FIRMWARE CONTROL WITH DUAL BACKENDS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STM32er is Tlamatini's critical-mission STM32 bridge. The established route talks to the `STM32 Template Project MCP` for STM32F407, while released `v1.42.0` adds a direct PlatformIO route for supported mainstream STM32 boards without removing that flow.</a:t>
            </a:r>
          </a:p>
          <a:p>
            <a:pPr>
              <a:spcAft>
                <a:spcPts val="400"/>
              </a:spcAft>
              <a:defRPr sz="1200">
                <a:solidFill>
                  <a:srgbClr val="B4BAAE"/>
                </a:solidFill>
                <a:latin typeface="Aptos"/>
              </a:defRPr>
            </a:pPr>
            <a:r>
              <a:t>Both backends keep zero-config intent: the template route bootstraps its MCP dependencies, and the new route resolves or installs PlatformIO Core in the same shared per-user location used by ESP32er.</a:t>
            </a:r>
          </a:p>
          <a:p>
            <a:pPr>
              <a:spcAft>
                <a:spcPts val="400"/>
              </a:spcAft>
              <a:defRPr sz="1200">
                <a:solidFill>
                  <a:srgbClr val="B4BAAE"/>
                </a:solidFill>
                <a:latin typeface="Aptos"/>
              </a:defRPr>
            </a:pPr>
            <a:r>
              <a:t>Backend-specific preflight preserves target safety: compile-only work may proceed without attached hardware, but upload, reset, serial, and live operations are refused when the required toolchain, project, board mapping, programmer, or ST-LINK evidence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200">
                <a:solidFill>
                  <a:srgbClr val="B4BAAE"/>
                </a:solidFill>
                <a:latin typeface="Aptos"/>
              </a:defRPr>
            </a:pPr>
            <a:r>
              <a:t>The tool surface retains the 23 MCP verbs and locally adds PlatformIO environment, board, project, source, build, flash, monitor, package, QA, artifact, and safe scaffold composites; every run still emits one `INI_SECTION_STM32ER` block for routing.</a:t>
            </a:r>
          </a:p>
          <a:p>
            <a:pPr>
              <a:spcAft>
                <a:spcPts val="400"/>
              </a:spcAft>
              <a:defRPr sz="1200">
                <a:solidFill>
                  <a:srgbClr val="B4BAAE"/>
                </a:solidFill>
                <a:latin typeface="Aptos"/>
              </a:defRPr>
            </a:pPr>
            <a:r>
              <a:t>Config seeding supplies both MCP and PlatformIO defaults, while `stm32_backend=auto`, `board`, and `device` keep the normal prompt focused on firmware intent. Newest-silicon CubeCLT/N6 handling remains proposal-only and is not advertised as implemented.</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For a deterministic MCP setup, invoke the `adding-external-mcp` skill and follow classify -&gt; import -&gt; doctor -&gt; activate -&gt; wait -&gt; status/list -&gt; call; do not treat a saved catalog row as a connected server.</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For local nmap reconnaissance, install nmap yourself or call `chat_agent_nmapper` with `action='install'` to launch the official free installer; then use `quick`, `full`, `top_ports`, `version`, `scripts`, `host_discovery`, `udp`, `custom`, or `validate` only against hosts you own or are explicitly authorized to test.</a:t>
            </a:r>
          </a:p>
          <a:p>
            <a:pPr>
              <a:spcAft>
                <a:spcPts val="400"/>
              </a:spcAft>
              <a:defRPr sz="900">
                <a:solidFill>
                  <a:srgbClr val="B4BAAE"/>
                </a:solidFill>
                <a:latin typeface="Aptos"/>
              </a:defRPr>
            </a:pPr>
            <a:r>
              <a:t>For Internet measurement, call `chat_agent_netspeed_calculator` once with `latency` or `validate` for low-bandwidth diagnosis, or explicitly approve `full` / `download` / `upload` knowing a full run commonly transfers 100-200 MB; report the confidence interval and provider disagreement, not only one Mbps number.</a:t>
            </a:r>
          </a:p>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1100">
                <a:solidFill>
                  <a:srgbClr val="B4BAAE"/>
                </a:solidFill>
                <a:latin typeface="Aptos"/>
              </a:defRPr>
            </a:pPr>
            <a:r>
              <a:t>For interactive web automation, call `chat_agent_playwrighter` from Multi-Turn with a `steps_json` script, or author the same step list visually with the Playwrighter node on the canvas.</a:t>
            </a:r>
          </a:p>
          <a:p>
            <a:pPr>
              <a:spcAft>
                <a:spcPts val="400"/>
              </a:spcAft>
              <a:defRPr sz="11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a:p>
            <a:pPr>
              <a:spcAft>
                <a:spcPts val="400"/>
              </a:spcAft>
              <a:defRPr sz="11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100">
                <a:solidFill>
                  <a:srgbClr val="B4BAAE"/>
                </a:solidFill>
                <a:latin typeface="Aptos"/>
              </a:defRPr>
            </a:pPr>
            <a:r>
              <a:t>Open `/agentic_control_panel/` to drag agents, connect them, configure each node, validate, start, pause/resume, stop, and save `.flw` workflows.</a:t>
            </a:r>
          </a:p>
          <a:p>
            <a:pPr>
              <a:spcAft>
                <a:spcPts val="400"/>
              </a:spcAft>
              <a:defRPr sz="11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lIns="12700" rIns="12700" tIns="12700" bIns="12700">
            <a:norm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lIns="12700" rIns="12700" tIns="12700" bIns="12700">
            <a:norm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lIns="12700" rIns="12700" tIns="12700" bIns="12700">
            <a:norm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900">
                <a:solidFill>
                  <a:srgbClr val="B4BAAE"/>
                </a:solidFill>
                <a:latin typeface="Aptos"/>
              </a:defRPr>
            </a:pPr>
            <a:r>
              <a:t>For Tlamatini's complete intended cloud-model workload, activate Ollama Pro or a higher plan such as Max and sign in with the Ollama CLI. Free/local-only operation is a limited compatibility path, not the documented full-workload baseline; verify current plan pricing and limits on Ollama's official site.</a:t>
            </a:r>
          </a:p>
          <a:p>
            <a:pPr>
              <a:spcAft>
                <a:spcPts val="400"/>
              </a:spcAft>
              <a:defRPr sz="9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9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900">
                <a:solidFill>
                  <a:srgbClr val="B4BAAE"/>
                </a:solidFill>
                <a:latin typeface="Aptos"/>
              </a:defRPr>
            </a:pPr>
            <a:r>
              <a:t>Port 8000 is only the default: `config.json`'s `django_port` moves the web UI to any free port on every launch path, which is the fix when Windows or Hyper-V has RESERVED port 8000 and startup fails with `WinError 10013`.</a:t>
            </a:r>
          </a:p>
          <a:p>
            <a:pPr>
              <a:spcAft>
                <a:spcPts val="400"/>
              </a:spcAft>
              <a:defRPr sz="900">
                <a:solidFill>
                  <a:srgbClr val="B4BAAE"/>
                </a:solidFill>
                <a:latin typeface="Aptos"/>
              </a:defRPr>
            </a:pPr>
            <a:r>
              <a:t>When a newer packaged release exists, the intended upgrade path is in-app: `About -&gt; Check for updates`, not manual folder replacement.</a:t>
            </a:r>
          </a:p>
          <a:p>
            <a:pPr>
              <a:spcAft>
                <a:spcPts val="400"/>
              </a:spcAft>
              <a:defRPr sz="9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`glm-5.2:cloud`,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lIns="12700" rIns="12700" tIns="12700" bIns="12700">
            <a:norm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4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4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4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4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`v1.50.2` release documentation set; it carries measured networking, WAL-safe database movement, structured and resilient Googler discovery, guided MCP onboarding, and current counts while retaining encoding-safe search, guarded execution truth, private MCP runtime/defaults, diagram hardening, LaTeXer, the binary guard, PDFer, FlowCreator, prompt standardization, category grouping, and ranked fuzzy search.</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DB dropdown gives operators two GUI-first maintenance paths: `Backup database` creates a WAL-consistent verified snapshot, and `Set DB` stages a WAL-consistent chosen database for the next full start-up.</a:t>
            </a:r>
          </a:p>
          <a:p>
            <a:pPr>
              <a:spcAft>
                <a:spcPts val="400"/>
              </a:spcAft>
              <a:defRPr sz="14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400">
                <a:solidFill>
                  <a:srgbClr val="B4BAAE"/>
                </a:solidFill>
                <a:latin typeface="Aptos"/>
              </a:defRPr>
            </a:pPr>
            <a:r>
              <a:t>Both paths use `sqlite_copy.consistent_copy()`: SQLite's online backup API reads through committed WAL pages, the destination switches to DELETE journal mode, and `PRAGMA quick_check` must pass before success. Set DB never hot-swaps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Set DB writes a verified self-contained copy to `DB/ToLoad/db.sqlite3`; the real swap happens only at the top of `manage.py` before Django imports anything.</a:t>
            </a:r>
          </a:p>
          <a:p>
            <a:pPr>
              <a:spcAft>
                <a:spcPts val="400"/>
              </a:spcAft>
              <a:defRPr sz="1100">
                <a:solidFill>
                  <a:srgbClr val="B4BAAE"/>
                </a:solidFill>
                <a:latin typeface="Aptos"/>
              </a:defRPr>
            </a:pPr>
            <a:r>
              <a:t>When that swap runs, the previous live database and its `-wal`/`-shm`/`-journal` family move into `DB/Older/&lt;timestamp&gt;/`, creating a rollback trail instead of overwriting history.</a:t>
            </a:r>
          </a:p>
          <a:p>
            <a:pPr>
              <a:spcAft>
                <a:spcPts val="400"/>
              </a:spcAft>
              <a:defRPr sz="1100">
                <a:solidFill>
                  <a:srgbClr val="B4BAAE"/>
                </a:solidFill>
                <a:latin typeface="Aptos"/>
              </a:defRPr>
            </a:pPr>
            <a:r>
              <a:t>Stale sidecars beside the destination are removed before promotion so SQLite can never replay pages belonging to the previous database over the newly selected file.</a:t>
            </a:r>
          </a:p>
          <a:p>
            <a:pPr>
              <a:spcAft>
                <a:spcPts val="400"/>
              </a:spcAft>
              <a:defRPr sz="1100">
                <a:solidFill>
                  <a:srgbClr val="B4BAAE"/>
                </a:solidFill>
                <a:latin typeface="Aptos"/>
              </a:defRPr>
            </a:pPr>
            <a:r>
              <a:t>Reconnect is not enough for this path: the operator must fully restart Tlamatini so the pre-Django swap window opens again.</a:t>
            </a:r>
          </a:p>
          <a:p>
            <a:pPr>
              <a:spcAft>
                <a:spcPts val="400"/>
              </a:spcAft>
              <a:defRPr sz="1100">
                <a:solidFill>
                  <a:srgbClr val="B4BAAE"/>
                </a:solidFill>
                <a:latin typeface="Aptos"/>
              </a:defRPr>
            </a:pPr>
            <a:r>
              <a:t>Copy verification is fail-safe: an unreadable, inconsistent, or unchecked result is reported as failure rather than called a backup. Startup preserves the previous live database if promotion cannot complete safely.</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4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400">
                <a:solidFill>
                  <a:srgbClr val="B4BAAE"/>
                </a:solidFill>
                <a:latin typeface="Aptos"/>
              </a:defRPr>
            </a:pPr>
            <a:r>
              <a:t>Git resolves the current release as `TLAMATINI_VERSION=1.50.2`, matching the newest annotated `v1.50.2` tag; the later untagged commit still resolves to that newest reachable bare tag rather than inventing another release.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lIns="12700" rIns="12700" tIns="12700" bIns="12700">
            <a:normAutofit/>
          </a:bodyPr>
          <a:lstStyle/>
          <a:p>
            <a:pPr algn="l"/>
            <a:r>
              <a:rPr sz="900" b="0">
                <a:solidFill>
                  <a:srgbClr val="B4BAAE"/>
                </a:solidFill>
                <a:latin typeface="Cascadia Mono"/>
              </a:rPr>
              <a:t>Resolved current version: 1.50.2 | build: 1.50.2</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lIns="12700" rIns="12700" tIns="12700" bIns="12700">
            <a:norm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glm-5.2:cloud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Activate Ollama Pro or a higher plan such as Max for Tlamatini's complete intended functionality, then run `ollama signin` so the host is linked before using the shipped `:cloud` defaults. This requirement is not a sponsorship; verify current plan details directly with Ollama.</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glm-5.2:cloud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Development server: `python Tlamatini/manage.py runserver` — the `--noreload` flag is now OPTIONAL (plain `runserver` boots clean and auto-reloads since the 2026-07-11 `agent/apps.py` reloader-aware fix; it used to double-start the MCP helper ports :8765 / :50051 and crash with WinError 10048).</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 — this path bypasses `manage.py`, so it does not read `django_port` and the port must be passed on the command line.</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build.py</a:t>
            </a:r>
          </a:p>
        </p:txBody>
      </p:sp>
      <p:sp>
        <p:nvSpPr>
          <p:cNvPr id="11" name="TextBox 10"/>
          <p:cNvSpPr txBox="1"/>
          <p:nvPr/>
        </p:nvSpPr>
        <p:spPr>
          <a:xfrm>
            <a:off x="2642615"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pkg.zip</a:t>
            </a:r>
          </a:p>
        </p:txBody>
      </p:sp>
      <p:sp>
        <p:nvSpPr>
          <p:cNvPr id="14" name="TextBox 13"/>
          <p:cNvSpPr txBox="1"/>
          <p:nvPr/>
        </p:nvSpPr>
        <p:spPr>
          <a:xfrm>
            <a:off x="4480559"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lIns="12700" rIns="12700" tIns="12700" bIns="12700">
            <a:norm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Exec Report is a Multi-Turn-only transparency layer that appends operation tables for every wrapped agent family, including observational and read-only agents; `_EXEC_REPORT_TOOLS` only refines grouping and style.</a:t>
            </a:r>
          </a:p>
          <a:p>
            <a:pPr>
              <a:spcAft>
                <a:spcPts val="400"/>
              </a:spcAft>
              <a:defRPr sz="1100">
                <a:solidFill>
                  <a:srgbClr val="B4BAAE"/>
                </a:solidFill>
                <a:latin typeface="Aptos"/>
              </a:defRPr>
            </a:pPr>
            <a:r>
              <a:t>Rows are recorded from the live tool-call stream rather than guessed from the LLM prose, so the report is the operational ground truth.</a:t>
            </a:r>
          </a:p>
          <a:p>
            <a:pPr>
              <a:spcAft>
                <a:spcPts val="400"/>
              </a:spcAft>
              <a:defRPr sz="1100">
                <a:solidFill>
                  <a:srgbClr val="B4BAAE"/>
                </a:solidFill>
                <a:latin typeface="Aptos"/>
              </a:defRPr>
            </a:pPr>
            <a:r>
              <a:t>Each row receives a deterministic SUCCESS/FAILURE verdict from the agent's structured self-report: completed diagnostics and intact work are green, while degraded, not-done, and agent-error statuses are red under the guarded five-class vocabulary.</a:t>
            </a:r>
          </a:p>
          <a:p>
            <a:pPr>
              <a:spcAft>
                <a:spcPts val="400"/>
              </a:spcAft>
              <a:defRPr sz="11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lIns="12700" rIns="12700" tIns="12700" bIns="12700">
            <a:norm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12700" rIns="127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1028</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88</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197</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37</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11</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lIns="12700" rIns="12700" tIns="12700" bIns="12700">
            <a:norm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7abc751b - Tlamatini/Tlamatini-Spanish piring, by Tlamatini's-AutoBot.</a:t>
            </a:r>
          </a:p>
          <a:p>
            <a:pPr>
              <a:spcAft>
                <a:spcPts val="400"/>
              </a:spcAft>
              <a:defRPr sz="1500">
                <a:solidFill>
                  <a:srgbClr val="B4BAAE"/>
                </a:solidFill>
                <a:latin typeface="Aptos"/>
              </a:defRPr>
            </a:pPr>
            <a:r>
              <a:t>Resolved version: 1.50.2 (git)</a:t>
            </a:r>
          </a:p>
          <a:p>
            <a:pPr>
              <a:spcAft>
                <a:spcPts val="400"/>
              </a:spcAft>
              <a:defRPr sz="1500">
                <a:solidFill>
                  <a:srgbClr val="B4BAAE"/>
                </a:solidFill>
                <a:latin typeface="Aptos"/>
              </a:defRPr>
            </a:pPr>
            <a:r>
              <a:t>Generated on August 28, 2026 08:01 AM UTC-0600</a:t>
            </a:r>
          </a:p>
          <a:p>
            <a:pPr>
              <a:spcAft>
                <a:spcPts val="400"/>
              </a:spcAft>
              <a:defRPr sz="1500">
                <a:solidFill>
                  <a:srgbClr val="B4BAAE"/>
                </a:solidFill>
                <a:latin typeface="Aptos"/>
              </a:defRPr>
            </a:pPr>
            <a:r>
              <a:t>Inventory scope: 1028 files = 1028 tracked + 0 git-unignored working-tree additions</a:t>
            </a:r>
          </a:p>
          <a:p>
            <a:pPr>
              <a:spcAft>
                <a:spcPts val="400"/>
              </a:spcAft>
              <a:defRPr sz="1500">
                <a:solidFill>
                  <a:srgbClr val="B4BAAE"/>
                </a:solidFill>
                <a:latin typeface="Aptos"/>
              </a:defRPr>
            </a:pPr>
            <a:r>
              <a:t>Multi-Turn tools: 108; wrapped chat-agent tools: 66; skills: 29</a:t>
            </a:r>
          </a:p>
          <a:p>
            <a:pPr>
              <a:spcAft>
                <a:spcPts val="400"/>
              </a:spcAft>
              <a:defRPr sz="1500">
                <a:solidFill>
                  <a:srgbClr val="B4BAAE"/>
                </a:solidFill>
                <a:latin typeface="Aptos"/>
              </a:defRPr>
            </a:pPr>
            <a:r>
              <a:t>Python requirements: 80; authoritative agent-description rows: 88</a:t>
            </a:r>
          </a:p>
          <a:p>
            <a:pPr>
              <a:spcAft>
                <a:spcPts val="400"/>
              </a:spcAft>
              <a:defRPr sz="1500">
                <a:solidFill>
                  <a:srgbClr val="B4BAAE"/>
                </a:solidFill>
                <a:latin typeface="Aptos"/>
              </a:defRPr>
            </a:pPr>
            <a:r>
              <a:t>Binary or asset inventory files skipped from line count: 49</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cf14c6ac on 2026-08-25</a:t>
            </a:r>
          </a:p>
          <a:p>
            <a:pPr>
              <a:spcAft>
                <a:spcPts val="400"/>
              </a:spcAft>
              <a:defRPr sz="1300">
                <a:solidFill>
                  <a:srgbClr val="B4BAAE"/>
                </a:solidFill>
                <a:latin typeface="Aptos"/>
              </a:defRPr>
            </a:pPr>
            <a:r>
              <a:t>Bumping visual documentation to v1.50.0, and sweep robust/enhancement of security Talatini Blue-Hat asistant, by Tlamatini's-AutoBot.</a:t>
            </a:r>
          </a:p>
          <a:p>
            <a:pPr>
              <a:spcAft>
                <a:spcPts val="400"/>
              </a:spcAft>
              <a:defRPr sz="1300">
                <a:solidFill>
                  <a:srgbClr val="B4BAAE"/>
                </a:solidFill>
                <a:latin typeface="Aptos"/>
              </a:defRPr>
            </a:pPr>
            <a:r>
              <a:t>Commits since then: 2</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current annotated release is `v1.50.2` at `fc6a533e`; aligned local/remote HEAD is one commit later at `7abc751b`, so release and worktree identities are reported separately.</a:t>
            </a:r>
          </a:p>
          <a:p>
            <a:pPr>
              <a:spcAft>
                <a:spcPts val="400"/>
              </a:spcAft>
              <a:defRPr sz="1000">
                <a:solidFill>
                  <a:srgbClr val="B4BAAE"/>
                </a:solidFill>
                <a:latin typeface="Aptos"/>
              </a:defRPr>
            </a:pPr>
            <a:r>
              <a:t>The tagged `v1.50.2` delta preserves operator-owned `security/security_logs/` evidence across self-update through fail-open carryover, and adds carriage, self-knowledge, version, public/private-build, and sensitive-data release guards.</a:t>
            </a:r>
          </a:p>
          <a:p>
            <a:pPr>
              <a:spcAft>
                <a:spcPts val="400"/>
              </a:spcAft>
              <a:defRPr sz="1000">
                <a:solidFill>
                  <a:srgbClr val="B4BAAE"/>
                </a:solidFill>
                <a:latin typeface="Aptos"/>
              </a:defRPr>
            </a:pPr>
            <a:r>
              <a:t>The post-tag safety commit makes Deleter treat `target_path` as a working directory, refuses protected or accidental directory deletion by default, suppresses audio/video output during tests, adds JavaScript parse gates, and carries focused regression tests for each boundary.</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V1.50.2 RELEASE PLUS THE CARRIED V1.48.15-V1.48.17 LINEAGE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NetSpeed-Calculator: agent 88 / wrapped launcher 66, with multi-provider confidence intervals, I-squared heterogeneity, bufferbloat, named endpoint failures, and tier-D metered-bandwidth gating.</a:t>
            </a:r>
          </a:p>
          <a:p>
            <a:pPr>
              <a:spcAft>
                <a:spcPts val="400"/>
              </a:spcAft>
              <a:defRPr sz="1000">
                <a:solidFill>
                  <a:srgbClr val="B4BAAE"/>
                </a:solidFill>
                <a:latin typeface="Aptos"/>
              </a:defRPr>
            </a:pPr>
            <a:r>
              <a:t>Googler: four plain-HTTP server-rendered routes first, then visible Chrome/bundled Chromium across seven browser routes, with bounded retries, answer attribution, structured dork presets/aliases, URL-only file hunts, and a lawful-use boundary.</a:t>
            </a:r>
          </a:p>
          <a:p>
            <a:pPr>
              <a:spcAft>
                <a:spcPts val="400"/>
              </a:spcAft>
              <a:defRPr sz="1000">
                <a:solidFill>
                  <a:srgbClr val="B4BAAE"/>
                </a:solidFill>
                <a:latin typeface="Aptos"/>
              </a:defRPr>
            </a:pPr>
            <a:r>
              <a:t>WAL-safe SQLite: online backup API, self-contained DELETE-journal copies, quick_check proof, and sidecar-safe Backup DB / Set DB / startup promotion.</a:t>
            </a:r>
          </a:p>
          <a:p>
            <a:pPr>
              <a:spcAft>
                <a:spcPts val="400"/>
              </a:spcAft>
              <a:defRPr sz="1000">
                <a:solidFill>
                  <a:srgbClr val="B4BAAE"/>
                </a:solidFill>
                <a:latin typeface="Aptos"/>
              </a:defRPr>
            </a:pPr>
            <a:r>
              <a:t>External MCP Adder: the 29th skill codifies transport classification, secret-separated import, Doctor, activation, wait, status/list, and call.</a:t>
            </a:r>
          </a:p>
          <a:p>
            <a:pPr>
              <a:spcAft>
                <a:spcPts val="400"/>
              </a:spcAft>
              <a:defRPr sz="1000">
                <a:solidFill>
                  <a:srgbClr val="B4BAAE"/>
                </a:solidFill>
                <a:latin typeface="Aptos"/>
              </a:defRPr>
            </a:pPr>
            <a:r>
              <a:t>Deep Internet Research: append-only prompt 118 requests a long, link-rich Multi-Turn + Exec Report research run without hiding tool prerequisites.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Resolved identity: v1.50.2 is annotated at fc6a533e; aligned local/origin HEAD is one commit later at 7abc751b.</a:t>
            </a:r>
          </a:p>
          <a:p>
            <a:pPr>
              <a:spcAft>
                <a:spcPts val="400"/>
              </a:spcAft>
              <a:defRPr sz="1000">
                <a:solidFill>
                  <a:srgbClr val="B4BAAE"/>
                </a:solidFill>
                <a:latin typeface="Aptos"/>
              </a:defRPr>
            </a:pPr>
            <a:r>
              <a:t>Complete cloud-model operation requires Ollama Pro or higher; this is an operating requirement, not sponsorship, and current plan details belong to Ollama's official site.</a:t>
            </a:r>
          </a:p>
          <a:p>
            <a:pPr>
              <a:spcAft>
                <a:spcPts val="400"/>
              </a:spcAft>
              <a:defRPr sz="1000">
                <a:solidFill>
                  <a:srgbClr val="B4BAAE"/>
                </a:solidFill>
                <a:latin typeface="Aptos"/>
              </a:defRPr>
            </a:pPr>
            <a:r>
              <a:t>Private contact synchronization merges same-machine sources only for the explicit keyed build; public output and source snapshots remain free of contact PII.</a:t>
            </a:r>
          </a:p>
          <a:p>
            <a:pPr>
              <a:spcAft>
                <a:spcPts val="400"/>
              </a:spcAft>
              <a:defRPr sz="1000">
                <a:solidFill>
                  <a:srgbClr val="B4BAAE"/>
                </a:solidFill>
                <a:latin typeface="Aptos"/>
              </a:defRPr>
            </a:pPr>
            <a:r>
              <a:t>The stronger disclaimer says plain-Python transparency enables user control but is not a security warranty; the operator owns authorization, permissions, review, and consequences.</a:t>
            </a:r>
          </a:p>
          <a:p>
            <a:pPr>
              <a:spcAft>
                <a:spcPts val="400"/>
              </a:spcAft>
              <a:defRPr sz="1000">
                <a:solidFill>
                  <a:srgbClr val="B4BAAE"/>
                </a:solidFill>
                <a:latin typeface="Aptos"/>
              </a:defRPr>
            </a:pPr>
            <a:r>
              <a:t>Catalog now stands at 88 workflow agents and 108 built-in Multi-Turn tools (20 core + 66 wrapped + 12 ACPX/Skill + 10 External-MCP supervisors), with 29 skills; dynamic ext__ remotes are separate.</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lIns="12700" rIns="12700" tIns="12700" bIns="12700">
            <a:norm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lIns="12700" rIns="12700" tIns="12700" bIns="12700">
            <a:normAutofit/>
          </a:bodyPr>
          <a:lstStyle/>
          <a:p>
            <a:pPr algn="l"/>
            <a:r>
              <a:rPr sz="2000" b="1">
                <a:solidFill>
                  <a:srgbClr val="E8E8DE"/>
                </a:solidFill>
                <a:latin typeface="Aptos"/>
              </a:rPr>
              <a:t>226,046</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lIns="12700" rIns="12700" tIns="12700" bIns="12700">
            <a:norm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lIns="12700" rIns="12700" tIns="12700" bIns="12700">
            <a:normAutofit/>
          </a:bodyPr>
          <a:lstStyle/>
          <a:p>
            <a:pPr algn="l"/>
            <a:r>
              <a:rPr sz="2000" b="1">
                <a:solidFill>
                  <a:srgbClr val="E8E8DE"/>
                </a:solidFill>
                <a:latin typeface="Aptos"/>
              </a:rPr>
              <a:t>322,390</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lIns="12700" rIns="12700" tIns="12700" bIns="12700">
            <a:norm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lIns="12700" rIns="12700" tIns="12700" bIns="12700">
            <a:normAutofit/>
          </a:bodyPr>
          <a:lstStyle/>
          <a:p>
            <a:pPr algn="l"/>
            <a:r>
              <a:rPr sz="2000" b="1">
                <a:solidFill>
                  <a:srgbClr val="E8E8DE"/>
                </a:solidFill>
                <a:latin typeface="Aptos"/>
              </a:rPr>
              <a:t>15</a:t>
            </a:r>
          </a:p>
        </p:txBody>
      </p:sp>
      <p:sp>
        <p:nvSpPr>
          <p:cNvPr id="18" name="TextBox 17"/>
          <p:cNvSpPr txBox="1"/>
          <p:nvPr/>
        </p:nvSpPr>
        <p:spPr>
          <a:xfrm>
            <a:off x="841248" y="2788920"/>
            <a:ext cx="10378440" cy="2926080"/>
          </a:xfrm>
          <a:prstGeom prst="rect">
            <a:avLst/>
          </a:prstGeom>
          <a:noFill/>
        </p:spPr>
        <p:txBody>
          <a:bodyPr wrap="square" anchor="t" lIns="12700" rIns="12700" tIns="12700" bIns="12700">
            <a:normAutofit/>
          </a:bodyPr>
          <a:lstStyle/>
          <a:p>
            <a:pPr algn="l"/>
            <a:r>
              <a:rPr sz="800" b="0">
                <a:solidFill>
                  <a:srgbClr val="E8E8DE"/>
                </a:solidFill>
                <a:latin typeface="Cascadia Mono"/>
              </a:rPr>
              <a:t>LANGUAGE                 FILES   EFFECTIVE      TOTAL   SHARE
Python                   596     161,964    236,829  71.7%
Markdown                 178      25,204     33,360  11.1%
JavaScript                37      18,112     23,672   8.0%
CSS                       11       6,570      8,700   2.9%
Other text                20       4,742      5,560   2.1%
YAML                      93       2,138      5,607   0.9%
PowerShell                10       1,692      2,318   0.7%
Prompt template            2       1,173      1,301   0.5%
Text                       7       1,142      1,454   0.5%
HTML                       4       1,123      1,169   0.5%
Tlamatini Flow             4         837        837   0.4%
JSON                      10         608        608   0.3%
JavaScript module          2         457        562   0.2%
Batch                      4         264        380   0.1%
Protocol Buffers           1          20         33   0.0%</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lIns="12700" rIns="12700" tIns="12700" bIns="12700">
            <a:normAutofit/>
          </a:bodyPr>
          <a:lstStyle/>
          <a:p>
            <a:pPr algn="l"/>
            <a:r>
              <a:rPr sz="800" b="0">
                <a:solidFill>
                  <a:srgbClr val="E8E8DE"/>
                </a:solidFill>
                <a:latin typeface="Cascadia Mono"/>
              </a:rPr>
              <a:t>PATH                                                     LANGUAGE     EFFECTIVE   TOTAL
Tlamatini/agent/views.py                                Python         8,660  12,657
Tlamatini/agent/tests.py                                Python         5,700   7,452
Tlamatini/agent/doc_generation/complete_project_docs.py Python         3,991   4,435
Tlamatini/agent/tools.py                                Python         3,214   4,858
Tlamatini/agent/agents/latexer/latexer.py               Python         3,151   4,593
BookOfTlamatini.md                                      Markdown       2,728   3,887
Tlamatini/agent/agents/flowcreator/agentic_skill.md     Markdown       2,378   2,620
...ini/agent/static/agent/css/agentic_control_panel.css CSS            2,084   2,905
Tlamatini/agent/external_mcp_manager.py                 Python         2,066   2,604
Tlamatini/agent/agents/stm32er/stm32er.py               Python         1,983   2,694
Tlamatini/agent/chat_agent_registry.py                  Python         1,967   2,018
Tlamatini/agent/static/agent/css/agent_page.css         CSS            1,878   2,426
Tlamatini/agent/static/agent/js/agent_page_chat.js      JavaScript     1,775   2,446
Tlamatini/agent/mcp_agent.py                            Python         1,655   2,758</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Git Window (1/2)</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current annotated release is `v1.50.2` at `fc6a533e`; aligned local/remote HEAD is one commit later at `7abc751b`. Runtime versions remain Git/build-derived through `agent/version.py`, while generated inventories derive agent, tool, skill, asset, migration, and effective-line totals from live source.</a:t>
            </a:r>
          </a:p>
          <a:p>
            <a:pPr>
              <a:spcAft>
                <a:spcPts val="400"/>
              </a:spcAft>
              <a:defRPr sz="1100">
                <a:solidFill>
                  <a:srgbClr val="B4BAAE"/>
                </a:solidFill>
                <a:latin typeface="Aptos"/>
              </a:defRPr>
            </a:pPr>
            <a:r>
              <a:t>The release adds NetSpeed-Calculator, WAL-safe SQLite backup/set/hot-swap, Googler's structured dork builder plus a two-tier plain-HTTP-first/browser-fallback resilience path, the External MCP Adder skill, Deep Internet Research prompt 118, Ollama Pro-or-higher full-operation guidance, and private contact synchronization. It carries the v1.48.15-v1.48.17 encoding, verdict, popup, bundle-proof, and dialog-policy lineage plus the v1.48.14 private External-MCP/runtime foundation.</a:t>
            </a:r>
          </a:p>
          <a:p>
            <a:pPr>
              <a:spcAft>
                <a:spcPts val="400"/>
              </a:spcAft>
              <a:defRPr sz="1100">
                <a:solidFill>
                  <a:srgbClr val="B4BAAE"/>
                </a:solidFill>
                <a:latin typeface="Aptos"/>
              </a:defRPr>
            </a:pPr>
            <a:r>
              <a:t>The post-tag Blue-hat security wave adds the administrator-operated `security/` toolkit: persistent Windows visibility/exceptions, ten monitor families, detect-only/armed/watch/aggressive modes, bounded automatic IP/process response, and a visible non-destructive regression harness. The current audited worktree corrects all six ASR identifiers, verifies effective Audit state, uses locale-neutral audit-policy GUIDs, and reports heuristic findings as investigation leads rather than confirmed attackers.</a:t>
            </a:r>
          </a:p>
          <a:p>
            <a:pPr>
              <a:spcAft>
                <a:spcPts val="400"/>
              </a:spcAft>
              <a:defRPr sz="11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a:p>
            <a:pPr>
              <a:spcAft>
                <a:spcPts val="400"/>
              </a:spcAft>
              <a:defRPr sz="1100">
                <a:solidFill>
                  <a:srgbClr val="B4BAAE"/>
                </a:solidFill>
                <a:latin typeface="Aptos"/>
              </a:defRPr>
            </a:pPr>
            <a:r>
              <a:t>The latest dossier pass resolves the product at annotated release `v1.50.2` (`fc6a533e`), separately reports aligned local/remote HEAD `7abc751b`, and combines README.md and BookOfTlamatini.md with source/Git truth while retaining complete installation, Ollama, architecture, usage, tree, line inventory, and responsibility context.</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Git Window (2/2)</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Documentation itself changed during the recent window, so the regenerated dossier is part of the tracked operator surface rather than an external afterthought.</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Visual Dossier Change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12700" tIns="12700" bIns="12700">
            <a:norm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2026-08-27 | 7abc751b | Tlamatini/Tlamatini-Spanish piring, by Tlamatini's-AutoBot.</a:t>
            </a:r>
          </a:p>
          <a:p>
            <a:pPr>
              <a:spcAft>
                <a:spcPts val="400"/>
              </a:spcAft>
              <a:defRPr sz="1200">
                <a:solidFill>
                  <a:srgbClr val="B4BAAE"/>
                </a:solidFill>
                <a:latin typeface="Aptos"/>
              </a:defRPr>
            </a:pPr>
            <a:r>
              <a:t>2026-08-26 | fc6a533e | Fixing Glitches found on Tlamatini (english) by Tlamatini-Spanish's Claude, by angelahack1</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3-Day Commit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12700" tIns="12700" bIns="12700">
            <a:norm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2026-08-27 | 7abc751b | Tlamatini/Tlamatini-Spanish piring, by Tlamatini's-AutoBot.</a:t>
            </a:r>
          </a:p>
          <a:p>
            <a:pPr>
              <a:spcAft>
                <a:spcPts val="400"/>
              </a:spcAft>
              <a:defRPr sz="1200">
                <a:solidFill>
                  <a:srgbClr val="B4BAAE"/>
                </a:solidFill>
                <a:latin typeface="Aptos"/>
              </a:defRPr>
            </a:pPr>
            <a:r>
              <a:t>2026-08-26 | fc6a533e | Fixing Glitches found on Tlamatini (english) by Tlamatini-Spanish's Claude, by angelahack1</a:t>
            </a:r>
          </a:p>
          <a:p>
            <a:pPr>
              <a:spcAft>
                <a:spcPts val="400"/>
              </a:spcAft>
              <a:defRPr sz="1200">
                <a:solidFill>
                  <a:srgbClr val="B4BAAE"/>
                </a:solidFill>
                <a:latin typeface="Aptos"/>
              </a:defRPr>
            </a:pPr>
            <a:r>
              <a:t>2026-08-25 | cf14c6ac | Bumping visual documentation to v1.50.0, and sweep robust/enhancement of security Talatini Blue-Hat asistant, by Tlamatini's-AutoBot.</a:t>
            </a:r>
          </a:p>
          <a:p>
            <a:pPr>
              <a:spcAft>
                <a:spcPts val="400"/>
              </a:spcAft>
              <a:defRPr sz="1200">
                <a:solidFill>
                  <a:srgbClr val="B4BAAE"/>
                </a:solidFill>
                <a:latin typeface="Aptos"/>
              </a:defRPr>
            </a:pPr>
            <a:r>
              <a:t>2026-08-25 | d161098e | Bumping everything to v1.50.0, by Tlamatini's-AutoBot.</a:t>
            </a:r>
          </a:p>
          <a:p>
            <a:pPr>
              <a:spcAft>
                <a:spcPts val="400"/>
              </a:spcAft>
              <a:defRPr sz="1200">
                <a:solidFill>
                  <a:srgbClr val="B4BAAE"/>
                </a:solidFill>
                <a:latin typeface="Aptos"/>
              </a:defRPr>
            </a:pPr>
            <a:r>
              <a:t>2026-08-25 | 834eaa16 | Tlamatini has completelly implemented her security harnessing mechanics into her, by angelahack1</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Tlamatini/
|-- .gitignore
|-- .mcp.json
|-- 10000xRedesignOfUpdatingMechanicsOnTlamatini.md
|-- _acpx_pipeline_demo_report.md
|-- ACPX.md
|-- agents_descriptions.md
|-- apply_update.ps1
|-- audit_dependencies.py
|-- backup_db.py
|-- BookOfTlamatini.md
|-- build.py
|-- build_all.cmd
|-- build_complete_private_release.py
|-- build_complete_public_release.py
|-- build_installer.py
|-- build_uninstaller.py
|-- check_private_data.py
|-- Claude-Desktop-KALI-MCP-Session.md
|-- CLAUDE.md
|-- copy_source_assets.py
|-- CreateShortcut.json
|-- CreateShortcut.ps1
|-- DesignOfIncludingMemoryMCPS.txt
|-- Discoverier-new-agent.md
|-- eslint.config.mjs
|-- example_of_prompt_to_make_de-compresser_agent.txt
|-- FirstFinalPlanToSpeedUp.md
|-- freeingport8000.ps1
|-- GEMINI.md
|-- git_deny_go.py</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image.png
|-- install.py
|-- KIMI.md
|-- LICENSE
|-- MCPMemoriesFlowCreation.flw
|-- MessagingConnectorAssistant_Design.md
|-- OllamaPricing.png
|-- OOB_shift_reaper-and-NAMU-Design.pdf
|-- package.json
|-- PIVOT_CHANGES.md
|-- pnpm-lock.yaml
|-- preserved_user_state.json
|-- README.md
|-- regen_secrets.py
|-- register_flw.ps1
|-- RemoveShortcut.ps1
|-- requirements.txt
|-- surgical_improving_speed_of_Tlamatini_by_a_factor_of_3X.md
|-- test_author_banner.py
|-- test_check_private_data.py
|-- test_perf_3x_visual.py
|-- test_private_data_guard.py
|-- Tlamatini-Kali-Setup.md
|-- Tlamatini.ico
|-- Tlamatini.jpg
|-- Tlamatini.ps1
|-- tlamatini_acpx.py
|-- tlamatini_app_summary.pdf
|-- Tlamatini_eXtended_Artificial_Intelligence_Humanly_Tempered.pptx
|-- TLAMATINI_MCP.md
|-- tlamatini_mcp_server.py</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TlamatiniJudgementDay.md
|-- uncommit-keys.bat
|-- uninstall.py
|-- unregister_flw.ps1
|-- VERSIONING.md
|--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
|   |   |-- project_agent_table_wiped_on_boot.md
|   |   |-- project_arduiner_agent.md
|   |   |-- project_ask_execs_feature.md
|   |   |-- project_audioplayer_agent.md</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- 4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project_ghost_distinfo_dependency_audit.md
|   |   |-- project_kalier_agent.md
|   |   |-- project_keyboarder_wrapped_2026_05_07.md
|   |   |-- project_latexer_agent.md
|   |   |-- project_living_canvas_dropped.md
|   |   |-- project_mouser_wrapped_2026_05_07.md
|   |   |-- project_native_picker_tcltk_fix.md
|   |   |-- project_native_toast.md
|   |   |-- project_netspeed_calculator_agent.md
|   |   |-- project_numpy_pyinstaller.md
|   |   |-- project_ollama_source_build_breaks_embeddings.md
|   |   |-- project_pdfer_agent.md</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- 5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
|   `-- skills/
|       |-- tlamatini-agent-creation/</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- 6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SKILL.md
|       |-- tlamatini-agent-naming/
|       |   `-- SKILL.md
|       |-- tlamatini-daily-chat-test/
|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latexer_openmp_e2e.py
|       |       |-- latexer_stepbystep_5.py
|       |       |-- mcp_playwright_suite.py
|       |       |-- playwrighter_run.py
|       |       |-- qualify.py
|       |       |-- questions.py</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- 7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README.md
|       |       |-- requirements.txt
|       |       |-- run_test.py
|       |       |-- shoter_shot.py
|       |       |-- step_by_step_catalog.py
|       |       |-- step_by_step_catalog.py.antes_shoter
|       |       |-- talk_test.py
|       |       `-- wrapped_questions.py
|       |-- tlamatini-self-modify-inclusion/
|       |   |-- SKILL.md
|       |   `-- scripts/
|       |       `-- sweep_self_modify.py
|       `-- tlamatini-self-update-inclusion/
|           |-- SKILL.md
|           `-- scripts/
|               `-- sweep_self_update.py
|-- .codex/
|   `-- skills/
|       |-- full-project-pdf-dossier/
|       |   `-- SKILL.md
|       `-- overlap-safe-pptx-dossier/
|           `-- SKILL.md
|-- .gemini/
|   `-- skills/
|       |-- tlamatini-agent-creation/
|       |   `-- SKILL.md
|       |-- tlamatini-agent-naming/
|       |   `-- SKILL.md
|       |-- tlamatini-daily-chat-test/
|       |   |-- .gitignore
|       |   |-- SKILL.md</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- 8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latexer_openmp_e2e.py
|       |       |-- latexer_stepbystep_5.py
|       |       |-- mcp_playwright_suite.py
|       |       |-- playwrighter_run.py
|       |       |-- qualify.py
|       |       |-- questions.py
|       |       |-- README.md
|       |       |-- requirements.txt
|       |       |-- run_test.py
|       |       |-- shoter_shot.py
|       |       |-- step_by_step_catalog.py
|       |       |-- step_by_step_catalog.py.antes_shoter</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- 9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talk_test.py
|       |       `-- wrapped_questions.py
|       |-- tlamatini-self-modify-inclusion/
|       |   |-- SKILL.md
|       |   `-- scripts/
|       |       `-- sweep_self_modify.py
|       `-- tlamatini-self-update-inclusion/
|           |-- SKILL.md
|           `-- scripts/
|               `-- sweep_self_update.py
|-- .github/
|   `-- workflows/
|       `-- name-guard.yml
|-- .scanning/
|   `-- finding-policy.json
|-- AuxTests/
|   `-- mypdf2.py
|-- demo_flows/
|   |-- demo1_globber_to_parametrizer_to_zavuerer.flw
|   |-- demo2_apirer_to_parametrizer_to_zavuerer.flw
|   `-- demo3_zavuerer_health_to_parametrizer_to_filecreator.flw
|-- docs/
|   |-- companion-app-discovery.md
|   |-- external_mcp_bulletproof_architecture.md
|   |-- stm32er_all_families_proposal.md
|   `-- claude/
|       |-- acpx.md
|       |-- agents.md
|       |-- architecture.md
|       |-- exec-report.md
|       |-- frontend.md</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- 10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gotchas.md
|       |-- INDEX.md
|       |-- mcp-tools.md
|       |-- multi-turn.md
|       `-- recent-fixes.md
|-- pyinstaller_hooks/
|   |-- hook-numpy.py
|   `-- hook-torch.py
|-- scripts/
|   `-- check_js_parse.mjs
|-- security/
|   |-- automated_tests_of_security_assets.py
|   |-- enable_tlamatini_v2.bat
|   |-- README.md
|   |-- run_defender.bat
|   |-- tlamatini_defender.ps1
|   `-- tlamatini_whitelist_v2.ps1
|-- Tests/
|   |-- test_about_window_name_visible.py
|   `-- test_perf_3x_visual.py
`-- Tlamatini/
    |-- cat_art.py
    |-- hoy
    |-- manage.py
    |-- .agents/
    |   `-- workflows/
    |       `-- create_new_agent.md
    |-- .mcps/
    |   `-- create_new_mcp.md
    |-- .skills/
    |   `-- create_new_skill.md</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- 11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agent/
    |   |-- __init__.py
    |   |-- access_key_wizard.py
    |   |-- admin.py
    |   |-- agent_manifest.py
    |   |-- agent_verdict.py
    |   |-- apps.py
    |   |-- cancellation.py
    |   |-- capability_registry.py
    |   |-- chain_files_search_lcel.py
    |   |-- chain_system_lcel.py
    |   |-- chat_agent_registry.py
    |   |-- chat_agent_runtime.py
    |   |-- chat_history_loader.py
    |   |-- command_togen_pb2.txt
    |   |-- command_watchdog.py
    |   |-- config.json
    |   |-- config_loader.py
    |   |-- constants.py
    |   |-- consumers.py
    |   |-- contacts.py
    |   |-- embedding_memory_guard.py
    |   |-- exec_permission.py
    |   |-- external_mcp_defaults.py
    |   |-- external_mcp_manager.py
    |   |-- external_mcps.json
    |   |-- filesearch.proto
    |   |-- filesearch_pb2.py
    |   |-- filesearch_pb2_grpc.py
    |   |-- global_execution_planner.py
    |   |-- global_state.py</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- 12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gpu_perf.py
    |   |-- inet_determiner.py
    |   |-- llm_timing.py
    |   |-- local_toolcall_parser.py
    |   |-- log_identity.py
    |   |-- mcp_agent.py
    |   |-- mcp_files_search_client.py
    |   |-- mcp_files_search_server.py
    |   |-- mcp_system_client.py
    |   |-- mcp_system_server.py
    |   |-- models.py
    |   |-- native_dialogs.py
    |   |-- orphan_reaper.py
    |   |-- path_guard.py
    |   |-- prompt.pmt
    |   |-- rag_enhancements.py
    |   |-- routing.py
    |   |-- run_db_wal_tests.ps1
    |   |-- runtime_provisioner.py
    |   |-- self_healing.py
    |   |-- self_update.py
    |   |-- sqlite_copy.py
    |   |-- test_access_key_wizard.py
    |   |-- test_agent_display_names.py
    |   |-- test_agent_manifest.py
    |   |-- test_agent_verdict.py
    |   |-- test_agents_see_hidden_dirs.py
    |   |-- test_arduiner_agent.py
    |   |-- test_ask_execs_allowlist.py
    |   |-- test_audioplayer_agent.py
    |   |-- test_binary_guard.py</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- 13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test_blenderer_agent.py
    |   |-- test_build_pip_quiet.py
    |   |-- test_build_scripts.py
    |   |-- test_camcorder_agent.py
    |   |-- test_cancellation.py
    |   |-- test_chain_readiness.py
    |   |-- test_chat_bridge_bots.py
    |   |-- test_chat_history_window.py
    |   |-- test_checkbox_bulk_toggle.py
    |   |-- test_command_watchdog.py
    |   |-- test_contacts.py
    |   |-- test_crawler_agent.py
    |   |-- test_createsuperuser_wizard.py
    |   |-- test_db_backup_restore_wal.py
    |   |-- test_db_backup_safety.py
    |   |-- test_de_compresser.py
    |   |-- test_deep_research_prompt.py
    |   |-- test_deleter_safety.py
    |   |-- test_dialog_dismissal_policy.py
    |   |-- test_dialog_theme.py
    |   |-- test_discoverer_agent.py
    |   |-- test_discoverer_thousand.py
    |   |-- test_django_port_config.py
    |   |-- test_editor_agent.py
    |   |-- test_embedding_memory_guard.py
    |   |-- test_esp32er_agent.py
    |   |-- test_esphomer_agent.py
    |   |-- test_exec_report_verdict.py
    |   |-- test_execute_command_bounded.py
    |   |-- test_external_mcp_add_flow.py
    |   |-- test_external_mcp_e2e.py</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- 14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test_external_mcp_transports.py
    |   |-- test_external_mcp_universal.py
    |   |-- test_file_extractor_reader.py
    |   |-- test_flow_contracts.py
    |   |-- test_frontend_mutable_state.py
    |   |-- test_globber_agent.py
    |   |-- test_googler_agent.py
    |   |-- test_googler_dorks.py
    |   |-- test_grepper_agent.py
    |   |-- test_grepper_encodings.py
    |   |-- test_image_interpreter_agent.py
    |   |-- test_instant_messaging_doctor.py
    |   |-- test_j_decompiler_agent.py
    |   |-- test_js_gates.py
    |   |-- test_kalier_agent.py
    |   |-- test_latexer_agent.py
    |   |-- test_latexer_repair_ladder.py
    |   |-- test_latexer_suite.py
    |   |-- test_latexer_verbatim_channel.py
    |   |-- test_log_identity.py
    |   |-- test_native_dialogs.py
    |   |-- test_netspeed_calculator_agent.py
    |   |-- test_nmapper_agent.py
    |   |-- test_no_audio_in_tests.py
    |   |-- test_orphan_reaper.py
    |   |-- test_parametrizer_mcp_doctor.py
    |   |-- test_password_quoting.py
    |   |-- test_pdfer_agent.py
    |   |-- test_playwrighter_agent.py
    |   |-- test_preserved_user_state.py
    |   |-- test_prompt_catalog_contiguous.py</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- 15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test_recorder_agent.py
    |   |-- test_runtime_provisioner.py
    |   |-- test_security_assets_carriage.py
    |   |-- test_self_healing.py
    |   |-- test_self_knowledge_is_current.py
    |   |-- test_self_modify_gate.py
    |   |-- test_self_update.py
    |   |-- test_shoter_takes_screenshots.py
    |   |-- test_sqlite_wal_mode.py
    |   |-- test_status_vocabulary.py
    |   |-- test_step_by_step_mode.py
    |   |-- test_stm32er_agent.py
    |   |-- test_talker_agent.py
    |   |-- test_telegrammer_identity.py
    |   |-- test_temp_dir_policy.py
    |   |-- test_tool_failure_recovery.py
    |   |-- test_unrealer_agent.py
    |   |-- test_version_guard.py
    |   |-- test_video_analyzer_agent.py
    |   |-- test_videoplayer_agent.py
    |   |-- test_watchdog_foreground_exemption.py
    |   |-- test_whatsapper_identity.py
    |   |-- test_whisperer_agent.py
    |   |-- test_windower_agent.py
    |   |-- test_windows_app_registration.py
    |   |-- test_zavuerer_agent.py
    |   |-- tests.py
    |   |-- tests_perf_3x.py
    |   |-- Tlamatini.md
    |   |-- tools.py
    |   |-- urls.py</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- 16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version.py
    |   |-- views.py
    |   |-- web_search_llm.py
    |   |-- window_flash.py
    |   |-- windows_app_registration.py
    |   |-- acpx/
    |   |   |-- __init__.py
    |   |   |-- agent_registry.py
    |   |   |-- config.py
    |   |   |-- permissions.py
    |   |   |-- runtime.py
    |   |   |-- service.py
    |   |   |-- session_store.py
    |   |   |-- tests.py
    |   |   |-- tools.py
    |   |   `-- windows_spawn.py
    |   |-- agents/
    |   |   |-- acpxer/
    |   |   |   |-- acpxer.py
    |   |   |   `-- config.yaml
    |   |   |-- analyzer/
    |   |   |   |-- analyzer.py
    |   |   |   `-- config.yaml
    |   |   |-- and/
    |   |   |   |-- and.py
    |   |   |   `-- config.yaml
    |   |   |-- apirer/
    |   |   |   |-- apirer.py
    |   |   |   `-- config.yaml
    |   |   |-- arduiner/
    |   |   |   |-- arduiner.py</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- 17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 ArduinoTemplateProject/
    |   |   |       |-- ArduinoTemplateProject.ino
    |   |   |       |-- README.md
    |   |   |       |-- sketch.yaml
    |   |   |       `-- src/
    |   |   |           |-- Heartbeat.cpp
    |   |   |           `-- Heartbeat.h
    |   |   |-- asker/
    |   |   |   |-- asker.py
    |   |   |   `-- config.yaml
    |   |   |-- audioplayer/
    |   |   |   |-- audioplayer.py
    |   |   |   `-- config.yaml
    |   |   |-- barrier/
    |   |   |   |-- barrier.py
    |   |   |   |-- config.yaml
    |   |   |   `-- test_barrier.py
    |   |   |-- blenderer/
    |   |   |   |-- blenderer.py
    |   |   |   `-- config.yaml
    |   |   |-- camcorder/
    |   |   |   |-- camcorder.py
    |   |   |   `-- config.yaml
    |   |   |-- cleaner/
    |   |   |   |-- __init__.py
    |   |   |   |-- cleaner.py
    |   |   |   `-- config.yaml
    |   |   |-- counter/
    |   |   |   |-- config.yaml
    |   |   |   `-- counter.py</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- 18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crawler/
    |   |   |   |-- config.yaml
    |   |   |   `-- crawler.py
    |   |   |-- croner/
    |   |   |   |-- config.yaml
    |   |   |   `-- croner.py
    |   |   |-- de_compresser/
    |   |   |   |-- config.yaml
    |   |   |   `-- de_compresser.py
    |   |   |-- deleter/
    |   |   |   |-- config.yaml
    |   |   |   `-- deleter.py
    |   |   |-- discoverer/
    |   |   |   |-- config.yaml
    |   |   |   `-- discoverer.py
    |   |   |-- dockerer/
    |   |   |   |-- config.yaml
    |   |   |   `-- dockerer.py
    |   |   |-- editor/
    |   |   |   |-- config.yaml
    |   |   |   `-- editor.py
    |   |   |-- emailer/
    |   |   |   |-- config.yaml
    |   |   |   `-- emailer.py
    |   |   |-- ender/
    |   |   |   |-- config.yaml
    |   |   |   `-- ender.py
    |   |   |-- esp32er/
    |   |   |   |-- config.yaml
    |   |   |   `-- esp32er.py
    |   |   |-- esphomer/</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- 19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 esphomer.py
    |   |   |   `-- ESPHomeTemplateProject/
    |   |   |       |-- README.md
    |   |   |       `-- tlamatini-light.yaml
    |   |   |-- executer/
    |   |   |   |-- config.yaml
    |   |   |   `-- executer.py
    |   |   |-- file_creator/
    |   |   |   |-- config.yaml
    |   |   |   `-- file_creator.py
    |   |   |-- file_extractor/
    |   |   |   |-- config.yaml
    |   |   |   `-- file_extractor.py
    |   |   |-- file_interpreter/
    |   |   |   |-- config.yaml
    |   |   |   `-- file_interpreter.py
    |   |   |-- flowbacker/
    |   |   |   |-- config.yaml
    |   |   |   `-- flowbacker.py
    |   |   |-- flowcreator/
    |   |   |   |-- agentic_skill.md
    |   |   |   |-- config.yaml
    |   |   |   |-- flowcreator.py
    |   |   |   `-- result_to_flw.py
    |   |   |-- flowhypervisor/
    |   |   |   |-- config.yaml
    |   |   |   |-- flowhypervisor.py
    |   |   |   |-- hypervisor_alert.wav
    |   |   |   `-- monitoring-prompt.pmt
    |   |   |-- forker/</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- 20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 forker.py
    |   |   |-- gateway_relayer/
    |   |   |   |-- config.yaml
    |   |   |   |-- gateway_relayer.md
    |   |   |   `-- gateway_relayer.py
    |   |   |-- gatewayer/
    |   |   |   |-- config.yaml
    |   |   |   |-- gatewayer.md
    |   |   |   |-- gatewayer.py
    |   |   |   `-- gatewayer_explanation.md
    |   |   |-- gitter/
    |   |   |   |-- config.yaml
    |   |   |   `-- gitter.py
    |   |   |-- globber/
    |   |   |   |-- config.yaml
    |   |   |   `-- globber.py
    |   |   |-- googler/
    |   |   |   |-- config.yaml
    |   |   |   `-- googler.py
    |   |   |-- grepper/
    |   |   |   |-- config.yaml
    |   |   |   `-- grepper.py
    |   |   |-- image_interpreter/
    |   |   |   |-- config.yaml
    |   |   |   `-- image_interpreter.py
    |   |   |-- instant_messaging_doctor/
    |   |   |   |-- config.yaml
    |   |   |   `-- instant_messaging_doctor.py
    |   |   |-- j_decompiler/
    |   |   |   |-- config.yaml</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- 21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j_decompiler.py
    |   |   |-- jenkinser/
    |   |   |   |-- config.yaml
    |   |   |   `-- jenkinser.py
    |   |   |-- kalier/
    |   |   |   |-- config.yaml
    |   |   |   `-- kalier.py
    |   |   |-- keyboarder/
    |   |   |   |-- config.yaml
    |   |   |   `-- keyboarder.py
    |   |   |-- kuberneter/
    |   |   |   |-- config.yaml
    |   |   |   `-- kuberneter.py
    |   |   |-- kyber_cipher/
    |   |   |   |-- config.yaml
    |   |   |   `-- kyber_cipher.py
    |   |   |-- kyber_decipher/
    |   |   |   |-- config.yaml
    |   |   |   `-- kyber_decipher.py
    |   |   |-- kyber_keygen/
    |   |   |   |-- config.yaml
    |   |   |   `-- kyber_keygen.py
    |   |   |-- latexer/
    |   |   |   |-- config.yaml
    |   |   |   `-- latexer.py
    |   |   |-- mcp_doctor/
    |   |   |   |-- config.yaml
    |   |   |   `-- mcp_doctor.py
    |   |   |-- mongoxer/
    |   |   |   |-- config.yaml
    |   |   |   `-- mongoxer.py</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- 22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monitor_log/
    |   |   |   |-- config.yaml
    |   |   |   `-- monitor_log.py
    |   |   |-- monitor_netstat/
    |   |   |   |-- config.yaml
    |   |   |   `-- monitor_netstat.py
    |   |   |-- mouser/
    |   |   |   |-- config.yaml
    |   |   |   `-- mouser.py
    |   |   |-- mover/
    |   |   |   |-- config.yaml
    |   |   |   `-- mover.py
    |   |   |-- netspeed_calculator/
    |   |   |   |-- config.yaml
    |   |   |   `-- netspeed_calculator.py
    |   |   |-- nmapper/
    |   |   |   |-- config.yaml
    |   |   |   `-- nmapper.py
    |   |   |-- node_manager/
    |   |   |   |-- config.yaml
    |   |   |   |-- node_manager.md
    |   |   |   |-- node_manager.py
    |   |   |   |-- nodes_example.json
    |   |   |   `-- nodes_example.yaml
    |   |   |-- notifier/
    |   |   |   |-- config.yaml
    |   |   |   `-- notifier.py
    |   |   |-- or/
    |   |   |   |-- config.yaml
    |   |   |   `-- or.py
    |   |   |-- parametrizer/</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- 23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 parametrizer.py
    |   |   |-- pdfer/
    |   |   |   |-- config.yaml
    |   |   |   `-- pdfer.py
    |   |   |-- playwrighter/
    |   |   |   |-- config.yaml
    |   |   |   `-- playwrighter.py
    |   |   |-- prompter/
    |   |   |   |-- config.yaml
    |   |   |   `-- prompter.py
    |   |   |-- pser/
    |   |   |   |-- config.yaml
    |   |   |   `-- pser.py
    |   |   |-- pythonxer/
    |   |   |   |-- config.yaml
    |   |   |   `-- pythonxer.py
    |   |   |-- raiser/
    |   |   |   |-- config.yaml
    |   |   |   `-- raiser.py
    |   |   |-- recmailer/
    |   |   |   |-- config.yaml
    |   |   |   `-- recmailer.py
    |   |   |-- recorder/
    |   |   |   |-- config.yaml
    |   |   |   `-- recorder.py
    |   |   |-- reviewer/
    |   |   |   |-- config.yaml
    |   |   |   `-- reviewer.py
    |   |   |-- scper/
    |   |   |   |-- config.yaml</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- 24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scper.py
    |   |   |-- shoter/
    |   |   |   |-- config.yaml
    |   |   |   `-- shoter.py
    |   |   |-- sleeper/
    |   |   |   |-- config.yaml
    |   |   |   `-- sleeper.py
    |   |   |-- sqler/
    |   |   |   |-- config.yaml
    |   |   |   `-- sqler.py
    |   |   |-- ssher/
    |   |   |   |-- config.yaml
    |   |   |   `-- ssher.py
    |   |   |-- starter/
    |   |   |   |-- config.yaml
    |   |   |   `-- starter.py
    |   |   |-- stm32er/
    |   |   |   |-- config.yaml
    |   |   |   `-- stm32er.py
    |   |   |-- stopper/
    |   |   |   |-- config.yaml
    |   |   |   `-- stopper.py
    |   |   |-- summarizer/
    |   |   |   |-- config.yaml
    |   |   |   `-- summarizer.py
    |   |   |-- talker/
    |   |   |   |-- config.yaml
    |   |   |   `-- talker.py
    |   |   |-- telegrammer/
    |   |   |   |-- config.yaml
    |   |   |   |-- HOW_TO_GET_YOUR_TELEGRAM_ASSETS.md</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- 25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telegrammer.py
    |   |   |   `-- guide_assets/
    |   |   |       |-- telegram_01_botfather_search.jpg
    |   |   |       |-- telegram_02_newbot_token.jpg
    |   |   |       |-- telegram_03_start_bot_getupdates.jpg
    |   |   |       `-- telegram_04_tlamatini_contacts.jpg
    |   |   |-- teletlamatini/
    |   |   |   |-- config.yaml
    |   |   |   `-- teletlamatini.py
    |   |   |-- unrealer/
    |   |   |   |-- config.yaml
    |   |   |   `-- unrealer.py
    |   |   |-- video_analyzer/
    |   |   |   |-- config.yaml
    |   |   |   `-- video_analyzer.py
    |   |   |-- videoplayer/
    |   |   |   |-- config.yaml
    |   |   |   `-- videoplayer.py
    |   |   |-- whatsapper/
    |   |   |   |-- config.yaml
    |   |   |   |-- HOW_TO_GET_YOUR_WHATSAPP_ASSETS.md
    |   |   |   |-- whatsapper.py
    |   |   |   `-- guide_assets/
    |   |   |       |-- whatsapp_01_meta_create_app.jpg
    |   |   |       |-- whatsapp_02_api_setup_keys.jpg
    |   |   |       |-- whatsapp_03_test_recipient_send.jpg
    |   |   |       |-- whatsapp_04_system_user_token.jpg
    |   |   |       `-- whatsapp_05_tlamatini_contacts.jpg
    |   |   |-- whisperer/
    |   |   |   |-- config.yaml
    |   |   |   `-- whisperer.py</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- 26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windower/
    |   |   |   |-- config.yaml
    |   |   |   `-- windower.py
    |   |   `-- zavuerer/
    |   |       |-- config.yaml
    |   |       `-- zavuerer.py
    |   |-- doc_generation/
    |   |   |-- complete_project_docs.py
    |   |   |-- mardown_to_pdf.py
    |   |   |-- refresh_project_docs.py
    |   |   `-- test_output.pdf
    |   |-- images/
    |   |   |-- ACPXKeysConfigureWizard.jpg
    |   |   |-- ConfigureModels.jpg
    |   |   |-- FlowPill.jpg
    |   |   |-- HiIamTlamatini.png
    |   |   |-- LabInEnglish.mp4
    |   |   |-- LabInSpanish.mp4
    |   |   |-- MenuConfig.jpg
    |   |   |-- mockup.jpg
    |   |   |-- Modify_the_last_video_keepi.mp4
    |   |   |-- RealisticTlamatini.png
    |   |   |-- ShouldersUoTlamatini.png
    |   |   |-- Tlamatini AI Agentic Advisor Video.mp4
    |   |   |-- TlamatiniAndKyber.mp4
    |   |   |-- TlamatiniClosedMouthClosedEyes.jpg
    |   |   |-- TlamatiniClosedMouthOpenedEyes.jpg
    |   |   |-- TlamatiniDrawings.png
    |   |   |-- TlamatiniOpenedMouthClosedEyes.jpg
    |   |   |-- TlamattiniOpenedMouthOpenedEyes.jpg
    |   |   |-- TlammatiniLetsMakeSomeMagic.mp4</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- 27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TorsoTlamatini.png
    |   |   |-- versions.png
    |   |   `-- XAIHT-Tlamatini.mp4
    |   |-- imaging/
    |   |   |-- converter.py
    |   |   |-- image_interpreter.py
    |   |   `-- screenshot.py
    |   |-- management/
    |   |   |-- __init__.py
    |   |   `-- commands/
    |   |       |-- acpx_lint.py
    |   |       `-- startserver.py
    |   |-- migrations/
    |   |   |-- 0001_initial.py
    |   |   |-- 0002_populate_db.py
    |   |   |-- 0003_add_cleaner.py
    |   |   |-- 0004_add_deleter.py
    |   |   |-- 0005_add_executer.py
    |   |   |-- 0006_add_notifier.py
    |   |   |-- 0007_add_stopper.py
    |   |   |-- 0008_add_recmailer.py
    |   |   |-- 0009_add_whatsapper.py
    |   |   |-- 0010_add_pythonxer.py
    |   |   |-- 0011_add_asker.py
    |   |   |-- 0012_repopulate_all_agents.py
    |   |   |-- 0013_add_forker.py
    |   |   |-- 0014_repopulate_all_agents.py
    |   |   |-- 0015_add_shoter.py
    |   |   |-- 0016_repopulate_all_agents.py
    |   |   |-- 0017_add_ssher.py
    |   |   |-- 0018_repopulate_all_agents.py</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- 28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
    |   |   |-- 0031_add_flowcreator.py
    |   |   |-- 0032_repopulate_all_agents.py
    |   |   |-- 0033_add_gitter.py
    |   |   |-- 0034_add_dockerer.py
    |   |   |-- 0035_add_pser.py
    |   |   |-- 0036_add_kuberneter.py
    |   |   |-- 0037_add_apirer.py
    |   |   |-- 0038_add_jenkinser.py
    |   |   |-- 0039_add_crawler.py
    |   |   |-- 0040_add_summarizer.py
    |   |   |-- 0041_add_flowhypervisor.py
    |   |   |-- 0042_add_mouser.py
    |   |   |-- 0043_agentmessage_conversation_user.py
    |   |   |-- 0044_add_counter.py
    |   |   |-- 0045_add_file_interpreter.py
    |   |   |-- 0046_add_image_interpreter.py
    |   |   |-- 0047_add_gatewayer.py
    |   |   |-- 0048_add_gateway_relayer.py
    |   |   |-- 0049_add_node_manager.py</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- 29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
    |   |   |-- 0075_add_acpx_tool_surface.py
    |   |   |-- 0076_add_acpxer.py
    |   |   |-- 0077_add_whatstlamatini.py
    |   |   |-- 0078_add_chat_agent_keyboarder_tool.py
    |   |   |-- 0079_add_chat_agent_mouser_tool.py
    |   |   |-- 0080_add_chat_agent_sleeper_tool.py</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- 30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
    |   |   |-- 0110_add_chat_agent_arduiner_tool.py
    |   |   |-- 0111_add_arduiner_demo_prompts.py</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- 31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
    |   |   |-- 0137_add_globber_demo_prompts.py
    |   |   |-- 0138_add_esphomer.py
    |   |   |-- 0139_add_chat_agent_esphomer_tool.py
    |   |   |-- 0140_add_esphomer_demo_prompts.py
    |   |   |-- 0141_add_mcp_doctor.py
    |   |   |-- 0142_add_chat_agent_mcp_doctor_tool.py</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- 32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
    |   |   |-- 0154_add_instant_messaging_doctor_demo_prompt.py
    |   |   |-- 0155_add_contact_scaffold_demo_prompt.py
    |   |   |-- 0156_add_telegrammer_identity_demo_prompts.py
    |   |   |-- 0157_add_whatsapper_identity_demo_prompt.py
    |   |   |-- 0158_redesign_messaging_demo_prompts.py
    |   |   |-- 0159_add_zavuerer.py
    |   |   |-- 0160_add_chat_agent_zavuerer_tool.py
    |   |   |-- 0161_add_zavuerer_demo_prompts.py
    |   |   |-- 0162_add_zavuerer_catalog_prompts.py
    |   |   |-- 0163_add_zavuerer_get_key_wizard_prompt.py
    |   |   |-- 0164_dedup_zavuerer_setup_wizards.py
    |   |   |-- 0165_add_image_interpreter_triple_model_demo_prompt.py
    |   |   |-- 0166_add_video_analyzer.py
    |   |   |-- 0167_add_chat_agent_video_analyzer_tool.py
    |   |   |-- 0168_add_video_analyzer_demo_prompt.py
    |   |   |-- 0169_add_discoverer_cvemap_latest_demo_prompt.py
    |   |   |-- 0170_add_nmapper.py
    |   |   |-- 0171_add_chat_agent_nmapper_tool.py
    |   |   |-- 0172_add_nmapper_demo_prompts.py
    |   |   |-- 0173_add_unreal_scaffold_demo_prompt.py</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- 33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|-- 0174_unreal_scaffold_build_project_tip.py
    |   |   |-- 0175_prompt_category_and_dedup.py
    |   |   |-- 0176_delete_duplicate_acpx_prompts.py
    |   |   |-- 0177_add_stm32er_platformio_demo_prompt.py
    |   |   |-- 0178_add_stm32_stepwise_blink_camera_prompts.py
    |   |   |-- 0179_regroup_resort_prompts_no_gaps.py
    |   |   |-- 0180_add_kalier_setup_wizard_prompt.py
    |   |   |-- 0181_prompt_sort_rank.py
    |   |   |-- 0182_add_step_by_step_section_openers.py
    |   |   |-- 0183_standardize_security_recon_prompts.py
    |   |   |-- 0184_standardize_prompt_params_batch2.py
    |   |   |-- 0185_standardize_prompt_params_batch3.py
    |   |   |-- 0186_add_chat_agent_flowcreator.py
    |   |   |-- 0187_add_flowcreator_end_to_end_wizard_prompt.py
    |   |   |-- 0188_add_pdfer.py
    |   |   |-- 0189_add_chat_agent_pdfer_tool.py
    |   |   |-- 0190_add_pdfer_demo_prompts.py
    |   |   |-- 0191_add_latexer.py
    |   |   |-- 0192_add_chat_agent_latexer_tool.py
    |   |   |-- 0193_add_latexer_demo_prompts.py
    |   |   |-- 0194_add_deep_research_demo_prompt.py
    |   |   |-- 0195_add_netspeed_calculator.py
    |   |   |-- 0196_add_chat_agent_netspeed_calculator_tool.py
    |   |   |-- 0197_add_netspeed_calculator_demo_prompt.py
    |   |   `-- __init__.py
    |   |-- monitors/
    |   |   `-- monitor_sql.py
    |   |-- opus_client/
    |   |   |-- claude_opus_client.py
    |   |   |-- examples.py
    |   |   `-- README.md</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- 34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rag/
    |   |   |-- __init__.py
    |   |   |-- binary_guard.py
    |   |   |-- config.py
    |   |   |-- factory.py
    |   |   |-- interaction.py
    |   |   |-- interface.py
    |   |   |-- loaders.py
    |   |   |-- prompts.py
    |   |   |-- retrieval.py
    |   |   |-- splitters.py
    |   |   |-- utils.py
    |   |   `-- chains/
    |   |       |-- base.py
    |   |       |-- basic.py
    |   |       |-- history_aware.py
    |   |       `-- unified.py
    |   |-- services/
    |   |   |-- __init__.py
    |   |   |-- agent_contracts.py
    |   |   |-- agent_paths.py
    |   |   |-- filesystem.py
    |   |   |-- flow_compiler.py
    |   |   |-- flow_spec.py
    |   |   `-- response_parser.py
    |   |-- skills/
    |   |   |-- __init__.py
    |   |   |-- frontmatter.py
    |   |   |-- harness.py
    |   |   |-- io_contract.py
    |   |   `-- registry.py</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- 35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skills_pkg/
    |   |   |-- _meta/
    |   |   |   |-- lint.py
    |   |   |   `-- schema.json
    |   |   |-- acp_router/
    |   |   |   `-- SKILL.md
    |   |   |-- adding_external_mcp/
    |   |   |   |-- SKILL.md
    |   |   |   `-- references/
    |   |   |       |-- external_mcp_catalog_format.md
    |   |   |       |-- llm_reflection_research.md
    |   |   |       |-- transport_guide.md
    |   |   |       `-- troubleshooting.md
    |   |   |-- code_review/
    |   |   |   `-- SKILL.md
    |   |   |-- create_new_agent/
    |   |   |   `-- SKILL.md
    |   |   |-- create_new_mcp/
    |   |   |   `-- SKILL.md
    |   |   |-- flow_making/
    |   |   |   |-- SKILL.md
    |   |   |   |-- references/
    |   |   |   |   `-- flw_schema.md
    |   |   |   `-- scripts/
    |   |   |       |-- make_flow.py
    |   |   |       `-- result_to_flw.py
    |   |   |-- github/
    |   |   |   `-- SKILL.md
    |   |   |-- gmail/
    |   |   |   `-- SKILL.md
    |   |   |-- hello_world/</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- 36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SKILL.md
    |   |   |-- jira/
    |   |   |   `-- SKILL.md
    |   |   |-- kali_pentest/
    |   |   |   `-- SKILL.md
    |   |   |-- notion/
    |   |   |   `-- SKILL.md
    |   |   |-- roblox_studio/
    |   |   |   `-- SKILL.md
    |   |   |-- security_audit/
    |   |   |   `-- SKILL.md
    |   |   |-- setup_new_acpx_key/
    |   |   |   `-- SKILL.md
    |   |   |-- skill_creator/
    |   |   |   |-- SKILL.md
    |   |   |   `-- scripts/
    |   |   |       `-- quick_validate.py
    |   |   |-- slack/
    |   |   |   `-- SKILL.md
    |   |   |-- summarize/
    |   |   |   `-- SKILL.md
    |   |   |-- tlamatini_allowed_hosts_tighten/
    |   |   |   `-- SKILL.md
    |   |   |-- tlamatini_csrf_exempt_audit/
    |   |   |   `-- SKILL.md
    |   |   |-- tlamatini_exec_report_row_adder/
    |   |   |   `-- SKILL.md
    |   |   |-- tlamatini_flow_from_objective/
    |   |   |   `-- SKILL.md
    |   |   |-- tlamatini_flw_doctor/
    |   |   |   `-- SKILL.md</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- 37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tlamatini_new_acp_agent/
    |   |   |   `-- SKILL.md
    |   |   |-- tlamatini_planner_trace_replay/
    |   |   |   `-- SKILL.md
    |   |   |-- tlamatini_static_version_bumper/
    |   |   |   `-- SKILL.md
    |   |   |-- todoist/
    |   |   |   `-- SKILL.md
    |   |   |-- trello/
    |   |   |   `-- SKILL.md
    |   |   `-- weather/
    |   |       `-- SKILL.md
    |   |-- static/
    |   |   `-- agent/
    |   |       |-- css/
    |   |       |   |-- access_keys_wizard.css
    |   |       |   |-- agent_page.css
    |   |       |   |-- agentic_control_panel.css
    |   |       |   |-- avatar.css
    |   |       |   |-- contacts_dialog.css
    |   |       |   |-- dialog_theme.css
    |   |       |   |-- external_mcps_dialog.css
    |   |       |   |-- login.css
    |   |       |   |-- skills_dialog.css
    |   |       |   |-- tools_dialog.css
    |   |       |   `-- welcome.css
    |   |       |-- img/
    |   |       |   |-- spinner.svg
    |   |       |   |-- Tlamatini.ico
    |   |       |   `-- avatar/
    |   |       |       |-- ec_mc.jpg</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- 38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ec_mo.jpg
    |   |       |       |-- eo_mc.jpg
    |   |       |       `-- eo_mo.jpg
    |   |       |-- js/
    |   |       |   |-- access_keys_wizard.js
    |   |       |   |-- acp-agent-connectors.js
    |   |       |   |-- acp-canvas-core.js
    |   |       |   |-- acp-canvas-undo.js
    |   |       |   |-- acp-connection-status.js
    |   |       |   |-- acp-control-buttons.js
    |   |       |   |-- acp-file-io.js
    |   |       |   |-- acp-flow-snapshot.js
    |   |       |   |-- acp-globals.js
    |   |       |   |-- acp-layout.js
    |   |       |   |-- acp-parametrizer-dialog.js
    |   |       |   |-- acp-running-state.js
    |   |       |   |-- acp-session.js
    |   |       |   |-- acp-undo-manager.js
    |   |       |   |-- acp-validate.js
    |   |       |   |-- agent_page_canvas.js
    |   |       |   |-- agent_page_chat.js
    |   |       |   |-- agent_page_context.js
    |   |       |   |-- agent_page_dialogs.js
    |   |       |   |-- agent_page_init.js
    |   |       |   |-- agent_page_layout.js
    |   |       |   |-- agent_page_state.js
    |   |       |   |-- agent_page_ui.js
    |   |       |   |-- agentic_control_panel.js
    |   |       |   |-- avatar.js
    |   |       |   |-- canvas_item_dialog.js
    |   |       |   |-- chat_image_paste.js</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- 39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chat_page_runtime_poller.js
    |   |       |   |-- checkbox_bulk_toggle.js
    |   |       |   |-- contacts_dialog.js
    |   |       |   |-- contextual_menus.js
    |   |       |   |-- dialog_policy.js
    |   |       |   |-- external_mcps_dialog.js
    |   |       |   |-- release_notes_renderer.js
    |   |       |   |-- shared-runtime-dialogs.js
    |   |       |   |-- skills_dialog.js
    |   |       |   `-- tools_dialog.js
    |   |       |-- sounds/
    |   |       |   |-- hypervisor_alert.wav
    |   |       |   `-- notification.wav
    |   |       `-- video/
    |   |           `-- XAIHT-Tlamatini.mp4
    |   |-- templates/
    |   |   `-- agent/
    |   |       |-- agent_page.html
    |   |       |-- agentic_control_panel.html
    |   |       |-- login.html
    |   |       `-- welcome.html
    |   |-- test_fixtures/
    |   |   `-- talker_orpheus_tokens.txt
    |   `-- TlamatiniSourceCode/
    |       `-- README.md
    |-- DB/
    |   |-- Older/
    |   |   `-- README.md
    |   `-- ToLoad/
    |       `-- README.md
    |-- jd-cli/</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- 40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jd-cli.bat
    |   `-- jd-cli.jar
    |-- tests_e2e/
    |   |-- oob_child_helper.py
    |   |-- README.md
    |   |-- test_create_flow_visual.py
    |   |-- test_db_backup_set_visible.py
    |   |-- test_oob_browser_visible.py
    |   |-- test_oob_namu_unit.py
    |   |-- test_prompts_catalog_visual.py
    |   |-- test_self_healing_visual.py
    |   |-- test_voice_visual.py
    |   |-- Tlamatini-Overnight-100.py
    |   `-- Tlamatini-Whatsapper-Daily-Tests.py
    `-- tlamatini/
        |-- __init__.py
        |-- asgi.py
        |-- context_processors.py
        |-- logging_filters.py
        |-- middleware.py
        |-- settings.py
        |-- urls.py
        `-- wsgi.py</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lIns="12700" rIns="12700" tIns="12700" bIns="12700">
            <a:norm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12700" rIns="127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