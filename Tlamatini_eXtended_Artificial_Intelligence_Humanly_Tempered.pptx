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Batch</c:v>
                </c:pt>
                <c:pt idx="2">
                  <c:v>Text</c:v>
                </c:pt>
                <c:pt idx="3">
                  <c:v>HTML</c:v>
                </c:pt>
                <c:pt idx="4">
                  <c:v>Prompt template</c:v>
                </c:pt>
                <c:pt idx="5">
                  <c:v>YAML</c:v>
                </c:pt>
                <c:pt idx="6">
                  <c:v>PowerShell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1384</c:v>
                </c:pt>
                <c:pt idx="1">
                  <c:v>883</c:v>
                </c:pt>
                <c:pt idx="2">
                  <c:v>1229</c:v>
                </c:pt>
                <c:pt idx="3">
                  <c:v>1385</c:v>
                </c:pt>
                <c:pt idx="4">
                  <c:v>1387</c:v>
                </c:pt>
                <c:pt idx="5">
                  <c:v>2320</c:v>
                </c:pt>
                <c:pt idx="6">
                  <c:v>2357</c:v>
                </c:pt>
                <c:pt idx="7">
                  <c:v>6391</c:v>
                </c:pt>
                <c:pt idx="8">
                  <c:v>10338</c:v>
                </c:pt>
                <c:pt idx="9">
                  <c:v>13455</c:v>
                </c:pt>
                <c:pt idx="10">
                  <c:v>25756</c:v>
                </c:pt>
                <c:pt idx="11">
                  <c:v>35017</c:v>
                </c:pt>
                <c:pt idx="12">
                  <c:v>102470</c:v>
                </c:pt>
                <c:pt idx="13">
                  <c:v>231266</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 and the Model Brain tunes every model from its maker's published settings.</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self-healing steps and Compact mode for small models.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55 JavaScript modules, 19 stylesheets and 5 page templates, 212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cannot freeze her. Since v1.76.0 lines are coloured by level.</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4 source changes: .flw opens agents; .fpmt opens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 was committed to main that day and is carried by the v1.76.0 tag;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Since v1.76.0, when Windows still holds Uninstaller.exe itself, the file is retried, moved aside and removed by a hidden cleanup after the uninstaller exits, so the uninstall finishes cleanly.</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4 repairs, now carried by v1.76.0,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The work was committed on October 4 and is carried by the v1.76.0 tag.</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a:p/>
          <a:p>
            <a:r>
              <a:t>A second account signed in from the same browser takes over every open tab, while an open chat keeps its first account, so loading is refused. Since v1.76.0 the message names that cause and the fix, reloading with F5, the header comes back and the progress dialog marks the failed step.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 Since v1.76.0 Save also opens the Model Brain's Auto-tuning dialog, which tunes each configured model in front of you and names the source of every value.</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a:p/>
          <a:p>
            <a:r>
              <a:t>Since v1.76.0 a PDF is reported only when the delivered file really exists. A build that had to cut a quarter or more of its body is delivered as &lt;name&gt;.DEGRADED.pdf, never under the name you asked for, and in a document over 8,000 characters the model rung first repairs only the lines around the compiler's error with a capped request; a reply that never came forbids bisect.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 static coverage check includes all 89 agents, build helpers, optional imports and tests.</a:t>
            </a:r>
          </a:p>
          <a:p/>
          <a:p>
            <a:r>
              <a:t>The refreshed static guard scanned 762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September 27 repair, carried since v1.72.1, ships the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1.76.0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Source and Release Status. Source tag v1.76.0; latest published release v1.75.0. Local changes are stated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8. The Model Brain commit itself lands on main one commit after the tag; a build from main reports 1.76.0 and carries everything in this chapter.</a:t>
            </a:r>
          </a:p>
          <a:p/>
          <a:p>
            <a:r>
              <a:t>Every model Tlamatini calls now receives its own sampling, thinking level and context size from formal sources, as the How She Works chapter describes. Config ▸ Models ▸ Save opens an Auto-tuning dialog that tunes each configured model in front of you, thinking models keep their own reasoning between tool calls inside one answer, and the stall clocks that threw finished work away are gone.</a:t>
            </a:r>
          </a:p>
          <a:p/>
          <a:p>
            <a:r>
              <a:t>The console window paints each line by level: errors red, fatal errors white on red, warnings yellow, debug grey and successes green, while tlamatini.log stays plain text. At startup she logs which program draws the window, the classic console or Windows Terminal, the default on Windows 11. console_colors and the standard NO_COLOR variable turn the colours off.</a:t>
            </a:r>
          </a:p>
          <a:p/>
          <a:p>
            <a:r>
              <a:t>Two smaller repairs ship beside it. A PDF refused because a second account signed in from the same browser now names that cause and the fix, reloading with F5, and the progress dialog marks the failed step. Two chat pages on two different models no longer make each other measure again forever: a model's verdict updates the boxes and stops. On two idle test pages the re-sends fell from 1,081 in one minute to none.</a:t>
            </a:r>
          </a:p>
          <a:p/>
          <a:p>
            <a:r>
              <a:t>On October 8 the visible Model Brain test passed 25 of 25 checks in a source run and the visible PDF-account test passed 20 of 20. These are dated results, not a claim that this documentation refresh reran them. Publication status is stated in the Release Identity section.</a:t>
            </a:r>
          </a:p>
          <a:p/>
          <a:p>
            <a:r>
              <a:t>Model Brain: Per-model settings from cited sources; Auto-tuning shows each one.</a:t>
            </a:r>
          </a:p>
          <a:p/>
          <a:p>
            <a:r>
              <a:t>Reasoning kept: Thinking models keep their train of thought between tool calls.</a:t>
            </a:r>
          </a:p>
          <a:p/>
          <a:p>
            <a:r>
              <a:t>Coloured console: Lines coloured by level; the log file stays plain text.</a:t>
            </a:r>
          </a:p>
          <a:p/>
          <a:p>
            <a:r>
              <a:t>Truthful refusal: A PDF refused for a second account says why and how to fix it.</a:t>
            </a:r>
          </a:p>
          <a:p/>
          <a:p>
            <a:r>
              <a:t>Quiet tabs: Two pages on two models no longer re-measure each other.</a:t>
            </a:r>
          </a:p>
          <a:p/>
          <a:p>
            <a:r>
              <a:t>Evidence: 25 of 25 and 20 of 20 visible checks on October 8.</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7 and 8: LaTeXer, Mover and the document agents report what really happened.</a:t>
            </a:r>
          </a:p>
          <a:p/>
          <a:p>
            <a:r>
              <a:t>LaTeXer reports a PDF only when the delivered file really exists and is not empty, and a PDF whose text sticks out more than five points past the margin is reported as created with findings, not as clean. When it had to cut a quarter or more of a broken document's body to produce any PDF at all, it saves the result as &lt;name&gt;.DEGRADED.pdf and leaves the requested name untouched. In a document longer than 8,000 characters the model rung first repairs only the lines around the compiler's error with a capped request; an unusable reply falls back to the whole-document request, and a reply that never came forbids the bisect rung.</a:t>
            </a:r>
          </a:p>
          <a:p/>
          <a:p>
            <a:r>
              <a:t>Mover no longer erases a destination folder to copy into it: folders are merged, each file is staged and published whole, a move removes its source only afterwards, and a failure ends with a failure receipt and a non-zero exit instead of a success. Document and capture agents keep a finished file when Windows Controlled Folder Access blocks the folder, and the security whitelist script now finds every Tlamatini installation and lets its Python save files.</a:t>
            </a:r>
          </a:p>
          <a:p/>
          <a:p>
            <a:r>
              <a:t>The October 8 LaTeXer change added 37 tests, and all 549 LaTeXer tests passed with it. The October 7 Mover and LaTeXer delivery work passed 126 focused tests.</a:t>
            </a:r>
          </a:p>
          <a:p/>
          <a:p>
            <a:r>
              <a:t>Real PDFs: Success only when the delivered file exists and is not empty.</a:t>
            </a:r>
          </a:p>
          <a:p/>
          <a:p>
            <a:r>
              <a:t>Layout findings: Text past the margin is reported, never called clean.</a:t>
            </a:r>
          </a:p>
          <a:p/>
          <a:p>
            <a:r>
              <a:t>DEGRADED name: A mostly-cut build never wears the name you asked for.</a:t>
            </a:r>
          </a:p>
          <a:p/>
          <a:p>
            <a:r>
              <a:t>Region repair: Large documents: the lines around the error are repaired first.</a:t>
            </a:r>
          </a:p>
          <a:p/>
          <a:p>
            <a:r>
              <a:t>Mover: Destinations are merged, never erased; failures are reported.</a:t>
            </a:r>
          </a:p>
          <a:p/>
          <a:p>
            <a:r>
              <a:t>Protected folders: Finished files survive Controlled Folder Access.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after the v1.75.0 tag and carried by the v1.76.0 tag.</a:t>
            </a:r>
          </a:p>
          <a:p/>
          <a:p>
            <a:r>
              <a:t>The Files-Search and System-Metrics helpers ask Ollama their own questions before the main answer. Those calls now have a time limit, context_sidecar_llm_timeout_seconds, 60 seconds by default; at the limit, or when you press Cancel, a helper skips its context and the answer goes ahead, so a slow reply can no longer freeze the chat.</a:t>
            </a:r>
          </a:p>
          <a:p/>
          <a:p>
            <a:r>
              <a:t>When Windows still holds Uninstaller.exe while the uninstaller finishes, the file is retried, moved aside and deleted by a hidden cleanup after exit, so the uninstall completes. File-Creator gained append: true adds the content to the end of a file, byte for byte, instead of overwriting it.</a:t>
            </a:r>
          </a:p>
          <a:p/>
          <a:p>
            <a:r>
              <a:t>Context helpers: Their own model calls stop at a time limit or on Cancel.</a:t>
            </a:r>
          </a:p>
          <a:p/>
          <a:p>
            <a:r>
              <a:t>Uninstaller: A held Uninstaller.exe is moved aside and removed after exit.</a:t>
            </a:r>
          </a:p>
          <a:p/>
          <a:p>
            <a:r>
              <a:t>File-Creator: append: true adds to a file instead of overwriting 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to main on October 4 and carried by the v1.76.0 tag; local executables were rebuilt to validate them.</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and carried by the v1.76.0 tag.</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and ships in v1.76.0.</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which ships in v1.76.0.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v1.76.0 was created on 2026-10-08 and resolves to commit 953ad2d8, and the remote advertises it.</a:t>
            </a:r>
          </a:p>
          <a:p/>
          <a:p>
            <a:r>
              <a:t>The inspected source is 2 commit(s) beyond that tag (ec875a47, 72799950). A build from this source reports version 1.76.0, because the version string always carries the base tag and never a distance suffix.</a:t>
            </a:r>
          </a:p>
          <a:p/>
          <a:p>
            <a:r>
              <a:t>The newest release published on GitHub is v1.75.0, published 2026-10-03. Self-update offers only published releases, so installations are offered v1.76.0 once it is published.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435,638 effective lines across 1,429 text files; 560,772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1,669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 Id="rId4" Type="http://schemas.openxmlformats.org/officeDocument/2006/relationships/chart" Target="../charts/char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 Id="rId4" Type="http://schemas.openxmlformats.org/officeDocument/2006/relationships/chart" Target="../charts/char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8.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v1.76.0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50" b="0" i="0" spc="110">
                <a:solidFill>
                  <a:srgbClr val="A7B2B0"/>
                </a:solidFill>
                <a:latin typeface="Segoe UI Semibold"/>
              </a:rPr>
              <a:t>SOURCE VERSION</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8,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Source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Source tag v1.76.0; latest published release v1.75.0. Local changes are stated separately.</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109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212</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1,669</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435,638</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tuned from formal sources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Since v1.76.0 each model receives its own sampling, thinking level and context size, taken from formal sources, instead of one fixed set of values for every model.</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Formal sources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overrides, cited profiles, learned profiles, Ollama, model defaults.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context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requested window never exceeds what the model can read.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Auto-tuning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 </a:t>
            </a:r>
            <a:r>
              <a:rPr sz="1300" b="0" i="0">
                <a:solidFill>
                  <a:srgbClr val="A7B2B0"/>
                </a:solidFill>
                <a:latin typeface="Segoe UI Symbol"/>
              </a:rPr>
              <a:t>▸</a:t>
            </a:r>
            <a:r>
              <a:rPr sz="1300" b="0" i="0">
                <a:solidFill>
                  <a:srgbClr val="A7B2B0"/>
                </a:solidFill>
                <a:latin typeface="Segoe UI"/>
              </a:rPr>
              <a:t> Models </a:t>
            </a:r>
            <a:r>
              <a:rPr sz="1300" b="0" i="0">
                <a:solidFill>
                  <a:srgbClr val="A7B2B0"/>
                </a:solidFill>
                <a:latin typeface="Segoe UI Symbol"/>
              </a:rPr>
              <a:t>▸</a:t>
            </a:r>
            <a:r>
              <a:rPr sz="1300" b="0" i="0">
                <a:solidFill>
                  <a:srgbClr val="A7B2B0"/>
                </a:solidFill>
                <a:latin typeface="Segoe UI"/>
              </a:rPr>
              <a:t> Save shows each model tuned, with its sources.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stall clocks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slow model is never thrown away and restarted.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model_brain: off</a:t>
            </a:r>
            <a:r>
              <a:rPr sz="1300" b="0" i="0">
                <a:solidFill>
                  <a:srgbClr val="A7B2B0"/>
                </a:solidFill>
                <a:latin typeface="Segoe UI"/>
              </a:rPr>
              <a:t> restores the legacy fixed sampler exactly.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 model name in the code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new model gets its values from the knowledge base, research, Ollama or its own defaults, never from a branch written for one model name, and a value you set always wins.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model tuned from formal sources”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cannot freeze her. Since v1.76.0 lines are coloured by level.</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3840480"/>
          </a:xfrm>
          <a:prstGeom prst="roundRect">
            <a:avLst>
              <a:gd name="adj" fmla="val 1904"/>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credits and Check for updates.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6603339" y="4434840"/>
            <a:ext cx="438912" cy="548640"/>
          </a:xfrm>
          <a:custGeom>
            <a:avLst/>
            <a:gdLst/>
            <a:ahLst/>
            <a:cxnLst/>
            <a:rect l="l" t="t" r="r" b="b"/>
            <a:pathLst>
              <a:path w="438912" h="548640">
                <a:moveTo>
                  <a:pt x="0" y="0"/>
                </a:moveTo>
                <a:lnTo>
                  <a:pt x="219456" y="155265"/>
                </a:lnTo>
                <a:lnTo>
                  <a:pt x="438912" y="0"/>
                </a:lnTo>
                <a:lnTo>
                  <a:pt x="438912" y="384048"/>
                </a:lnTo>
                <a:lnTo>
                  <a:pt x="219456" y="548640"/>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ular Callout 37"/>
          <p:cNvSpPr/>
          <p:nvPr/>
        </p:nvSpPr>
        <p:spPr>
          <a:xfrm>
            <a:off x="9207779" y="4434840"/>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13619"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40" name="TextBox 39"/>
          <p:cNvSpPr txBox="1"/>
          <p:nvPr/>
        </p:nvSpPr>
        <p:spPr>
          <a:xfrm>
            <a:off x="9207779"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speech-bubble note for reviewers; it never runs.</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4 source changes: .flw opens agents; .fpmt opens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4 repairs, now carried by v1.76.0,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Keeps unrelated settings, downloads nothing, then auto-tunes each model.</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3108960"/>
          </a:xfrm>
          <a:prstGeom prst="roundRect">
            <a:avLst>
              <a:gd name="adj" fmla="val 235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a mostly-cut build delivered as </a:t>
            </a:r>
            <a:r>
              <a:rPr sz="1400" b="0" i="0">
                <a:solidFill>
                  <a:srgbClr val="E2B462"/>
                </a:solidFill>
                <a:latin typeface="Consolas"/>
              </a:rPr>
              <a:t>&lt;name&gt;.DEGRADED.pdf</a:t>
            </a:r>
            <a:r>
              <a:rPr sz="1500" b="0" i="0">
                <a:solidFill>
                  <a:srgbClr val="A7B2B0"/>
                </a:solidFill>
                <a:latin typeface="Segoe UI"/>
              </a:rPr>
              <a:t>;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(1/2)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django_port</a:t>
            </a:r>
          </a:p>
        </p:txBody>
      </p:sp>
      <p:sp>
        <p:nvSpPr>
          <p:cNvPr id="14" name="TextBox 13"/>
          <p:cNvSpPr txBox="1"/>
          <p:nvPr/>
        </p:nvSpPr>
        <p:spPr>
          <a:xfrm>
            <a:off x="4731480" y="2505456"/>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8000</a:t>
            </a:r>
          </a:p>
        </p:txBody>
      </p:sp>
      <p:sp>
        <p:nvSpPr>
          <p:cNvPr id="15" name="TextBox 14"/>
          <p:cNvSpPr txBox="1"/>
          <p:nvPr/>
        </p:nvSpPr>
        <p:spPr>
          <a:xfrm>
            <a:off x="6500734" y="2505456"/>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Web port for every launch path; fails open to 8000.</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unified_agent_max_iterations</a:t>
            </a:r>
          </a:p>
        </p:txBody>
      </p:sp>
      <p:sp>
        <p:nvSpPr>
          <p:cNvPr id="18" name="TextBox 17"/>
          <p:cNvSpPr txBox="1"/>
          <p:nvPr/>
        </p:nvSpPr>
        <p:spPr>
          <a:xfrm>
            <a:off x="4731480" y="281177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4096</a:t>
            </a:r>
          </a:p>
        </p:txBody>
      </p:sp>
      <p:sp>
        <p:nvSpPr>
          <p:cNvPr id="19" name="TextBox 18"/>
          <p:cNvSpPr txBox="1"/>
          <p:nvPr/>
        </p:nvSpPr>
        <p:spPr>
          <a:xfrm>
            <a:off x="6500734" y="281177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Upper bound on Multi-Turn tool-loop turns.</a:t>
            </a:r>
          </a:p>
        </p:txBody>
      </p:sp>
      <p:sp>
        <p:nvSpPr>
          <p:cNvPr id="20" name="TextBox 19"/>
          <p:cNvSpPr txBox="1"/>
          <p:nvPr/>
        </p:nvSpPr>
        <p:spPr>
          <a:xfrm>
            <a:off x="640080" y="311810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unified_agent_llm_step_timeout_seconds</a:t>
            </a:r>
          </a:p>
        </p:txBody>
      </p:sp>
      <p:sp>
        <p:nvSpPr>
          <p:cNvPr id="21" name="TextBox 20"/>
          <p:cNvSpPr txBox="1"/>
          <p:nvPr/>
        </p:nvSpPr>
        <p:spPr>
          <a:xfrm>
            <a:off x="4731480" y="311810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900</a:t>
            </a:r>
          </a:p>
        </p:txBody>
      </p:sp>
      <p:sp>
        <p:nvSpPr>
          <p:cNvPr id="22" name="TextBox 21"/>
          <p:cNvSpPr txBox="1"/>
          <p:nvPr/>
        </p:nvSpPr>
        <p:spPr>
          <a:xfrm>
            <a:off x="6500734" y="311810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Watchdog for one model attempt.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llm_client_timeout_seconds</a:t>
            </a:r>
          </a:p>
        </p:txBody>
      </p:sp>
      <p:sp>
        <p:nvSpPr>
          <p:cNvPr id="25" name="TextBox 24"/>
          <p:cNvSpPr txBox="1"/>
          <p:nvPr/>
        </p:nvSpPr>
        <p:spPr>
          <a:xfrm>
            <a:off x="4731480" y="342442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600</a:t>
            </a:r>
          </a:p>
        </p:txBody>
      </p:sp>
      <p:sp>
        <p:nvSpPr>
          <p:cNvPr id="26" name="TextBox 25"/>
          <p:cNvSpPr txBox="1"/>
          <p:nvPr/>
        </p:nvSpPr>
        <p:spPr>
          <a:xfrm>
            <a:off x="6500734" y="342442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How long one model call may take.</a:t>
            </a:r>
          </a:p>
        </p:txBody>
      </p:sp>
      <p:sp>
        <p:nvSpPr>
          <p:cNvPr id="27" name="TextBox 26"/>
          <p:cNvSpPr txBox="1"/>
          <p:nvPr/>
        </p:nvSpPr>
        <p:spPr>
          <a:xfrm>
            <a:off x="640080" y="373075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model_brain</a:t>
            </a:r>
          </a:p>
        </p:txBody>
      </p:sp>
      <p:sp>
        <p:nvSpPr>
          <p:cNvPr id="28" name="TextBox 27"/>
          <p:cNvSpPr txBox="1"/>
          <p:nvPr/>
        </p:nvSpPr>
        <p:spPr>
          <a:xfrm>
            <a:off x="4731480" y="373075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29" name="TextBox 28"/>
          <p:cNvSpPr txBox="1"/>
          <p:nvPr/>
        </p:nvSpPr>
        <p:spPr>
          <a:xfrm>
            <a:off x="6500734" y="373075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Tunes each model from formal sources; off restores the legacy sampler.</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ollama_repeat_penalty</a:t>
            </a:r>
          </a:p>
        </p:txBody>
      </p:sp>
      <p:sp>
        <p:nvSpPr>
          <p:cNvPr id="32" name="TextBox 31"/>
          <p:cNvSpPr txBox="1"/>
          <p:nvPr/>
        </p:nvSpPr>
        <p:spPr>
          <a:xfrm>
            <a:off x="4731480" y="403707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a:t>
            </a:r>
          </a:p>
        </p:txBody>
      </p:sp>
      <p:sp>
        <p:nvSpPr>
          <p:cNvPr id="33" name="TextBox 32"/>
          <p:cNvSpPr txBox="1"/>
          <p:nvPr/>
        </p:nvSpPr>
        <p:spPr>
          <a:xfrm>
            <a:off x="6500734" y="403707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sampler, sent only when model_brain is off.</a:t>
            </a:r>
          </a:p>
        </p:txBody>
      </p:sp>
      <p:sp>
        <p:nvSpPr>
          <p:cNvPr id="34" name="TextBox 33"/>
          <p:cNvSpPr txBox="1"/>
          <p:nvPr/>
        </p:nvSpPr>
        <p:spPr>
          <a:xfrm>
            <a:off x="640080" y="434339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ollama_num_ctx</a:t>
            </a:r>
          </a:p>
        </p:txBody>
      </p:sp>
      <p:sp>
        <p:nvSpPr>
          <p:cNvPr id="35" name="TextBox 34"/>
          <p:cNvSpPr txBox="1"/>
          <p:nvPr/>
        </p:nvSpPr>
        <p:spPr>
          <a:xfrm>
            <a:off x="4731480" y="434339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1048576</a:t>
            </a:r>
          </a:p>
        </p:txBody>
      </p:sp>
      <p:sp>
        <p:nvSpPr>
          <p:cNvPr id="36" name="TextBox 35"/>
          <p:cNvSpPr txBox="1"/>
          <p:nvPr/>
        </p:nvSpPr>
        <p:spPr>
          <a:xfrm>
            <a:off x="6500734" y="434339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requested window; the brain clamps it to the real one.</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context_sidecar_llm_timeout_seconds</a:t>
            </a:r>
          </a:p>
        </p:txBody>
      </p:sp>
      <p:sp>
        <p:nvSpPr>
          <p:cNvPr id="39" name="TextBox 38"/>
          <p:cNvSpPr txBox="1"/>
          <p:nvPr/>
        </p:nvSpPr>
        <p:spPr>
          <a:xfrm>
            <a:off x="4731480" y="464972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a:t>
            </a:r>
          </a:p>
        </p:txBody>
      </p:sp>
      <p:sp>
        <p:nvSpPr>
          <p:cNvPr id="40" name="TextBox 39"/>
          <p:cNvSpPr txBox="1"/>
          <p:nvPr/>
        </p:nvSpPr>
        <p:spPr>
          <a:xfrm>
            <a:off x="6500734" y="464972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Time limit on the context helpers' own model calls.</a:t>
            </a:r>
          </a:p>
        </p:txBody>
      </p:sp>
      <p:sp>
        <p:nvSpPr>
          <p:cNvPr id="41" name="TextBox 40"/>
          <p:cNvSpPr txBox="1"/>
          <p:nvPr/>
        </p:nvSpPr>
        <p:spPr>
          <a:xfrm>
            <a:off x="640080" y="495604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context_compact_mode</a:t>
            </a:r>
          </a:p>
        </p:txBody>
      </p:sp>
      <p:sp>
        <p:nvSpPr>
          <p:cNvPr id="42" name="TextBox 41"/>
          <p:cNvSpPr txBox="1"/>
          <p:nvPr/>
        </p:nvSpPr>
        <p:spPr>
          <a:xfrm>
            <a:off x="4731480" y="495604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43" name="TextBox 42"/>
          <p:cNvSpPr txBox="1"/>
          <p:nvPr/>
        </p:nvSpPr>
        <p:spPr>
          <a:xfrm>
            <a:off x="6500734" y="495604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Compact mode locks on for models that cannot hold everything.</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binary_context_detection</a:t>
            </a:r>
          </a:p>
        </p:txBody>
      </p:sp>
      <p:sp>
        <p:nvSpPr>
          <p:cNvPr id="46" name="TextBox 45"/>
          <p:cNvSpPr txBox="1"/>
          <p:nvPr/>
        </p:nvSpPr>
        <p:spPr>
          <a:xfrm>
            <a:off x="4731480" y="526237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47" name="TextBox 46"/>
          <p:cNvSpPr txBox="1"/>
          <p:nvPr/>
        </p:nvSpPr>
        <p:spPr>
          <a:xfrm>
            <a:off x="6500734" y="526237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Screens files by content before embedding.</a:t>
            </a:r>
          </a:p>
        </p:txBody>
      </p:sp>
      <p:sp>
        <p:nvSpPr>
          <p:cNvPr id="48" name="TextBox 47"/>
          <p:cNvSpPr txBox="1"/>
          <p:nvPr/>
        </p:nvSpPr>
        <p:spPr>
          <a:xfrm>
            <a:off x="640080" y="556869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console_quick_edit</a:t>
            </a:r>
          </a:p>
        </p:txBody>
      </p:sp>
      <p:sp>
        <p:nvSpPr>
          <p:cNvPr id="49" name="TextBox 48"/>
          <p:cNvSpPr txBox="1"/>
          <p:nvPr/>
        </p:nvSpPr>
        <p:spPr>
          <a:xfrm>
            <a:off x="4731480" y="556869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false</a:t>
            </a:r>
          </a:p>
        </p:txBody>
      </p:sp>
      <p:sp>
        <p:nvSpPr>
          <p:cNvPr id="50" name="TextBox 49"/>
          <p:cNvSpPr txBox="1"/>
          <p:nvPr/>
        </p:nvSpPr>
        <p:spPr>
          <a:xfrm>
            <a:off x="6500734" y="556869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Keeps a click from pausing a frozen console.</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console_colors</a:t>
            </a:r>
          </a:p>
        </p:txBody>
      </p:sp>
      <p:sp>
        <p:nvSpPr>
          <p:cNvPr id="53" name="TextBox 52"/>
          <p:cNvSpPr txBox="1"/>
          <p:nvPr/>
        </p:nvSpPr>
        <p:spPr>
          <a:xfrm>
            <a:off x="4731480" y="587501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54" name="TextBox 53"/>
          <p:cNvSpPr txBox="1"/>
          <p:nvPr/>
        </p:nvSpPr>
        <p:spPr>
          <a:xfrm>
            <a:off x="6500734" y="587501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Colours console lines by level; the log stays plain text.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(2/2)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runtime_autoprovision</a:t>
            </a:r>
          </a:p>
        </p:txBody>
      </p:sp>
      <p:sp>
        <p:nvSpPr>
          <p:cNvPr id="14" name="TextBox 13"/>
          <p:cNvSpPr txBox="1"/>
          <p:nvPr/>
        </p:nvSpPr>
        <p:spPr>
          <a:xfrm>
            <a:off x="4731480"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true</a:t>
            </a:r>
          </a:p>
        </p:txBody>
      </p:sp>
      <p:sp>
        <p:nvSpPr>
          <p:cNvPr id="15" name="TextBox 14"/>
          <p:cNvSpPr txBox="1"/>
          <p:nvPr/>
        </p:nvSpPr>
        <p:spPr>
          <a:xfrm>
            <a:off x="6500734" y="2505456"/>
            <a:ext cx="505088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Lets MCP servers provision Node or uv privately.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legacy sampler comes from repeated trials on real workloads, and one fast run never justifies a change. The Model Brain now tunes each model from formal sources.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REPAIR · SEPTEMBER 27</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September 27 repair, carried since v1.72.1, ships the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300" b="0" i="0">
                <a:solidFill>
                  <a:srgbClr val="F7F2E8"/>
                </a:solidFill>
                <a:latin typeface="Palatino Linotype"/>
              </a:rPr>
              <a:t>Source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Source tag v1.76.0; latest published release v1.75.0. Local changes are stated separately.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Model Brain tunes every model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8. The Model Brain commit itself lands on main one commit after the tag; a build from main reports 1.76.0 and carries everything in this chapter.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 Brain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Per-model settings from cited sources; Auto-tuning shows each one.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Coloured console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coloured by level; the log file stays plain text.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refusal</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PDF refused for a second account says why and how to fix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Quiet tabs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pages on two models no longer re-measure each other.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25 of 25 and 20 of 20 visible checks on October 8.</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 and files that tell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7 and 8: LaTeXer, Mover and the document agents report what really happened.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PDFs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Success only when the delivered file exists and is not empty.</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 findings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Text past the margin is reported, never called clean.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name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mostly-cut build never wears the name you asked for.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Region repair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Large documents: the lines around the error are repaired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Destinations are merged, never erased; failures are reported.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Protected folders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Finished files survive Controlled Folder Access.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5 AND 8</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Smaller fixes that keep the chat 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after the v1.75.0 tag and carried by the v1.76.0 tag.</a:t>
            </a:r>
          </a:p>
        </p:txBody>
      </p:sp>
      <p:sp>
        <p:nvSpPr>
          <p:cNvPr id="8" name="Rounded Rectangle 7"/>
          <p:cNvSpPr/>
          <p:nvPr/>
        </p:nvSpPr>
        <p:spPr>
          <a:xfrm>
            <a:off x="566928"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helpers</a:t>
            </a:r>
          </a:p>
        </p:txBody>
      </p:sp>
      <p:sp>
        <p:nvSpPr>
          <p:cNvPr id="11" name="TextBox 10"/>
          <p:cNvSpPr txBox="1"/>
          <p:nvPr/>
        </p:nvSpPr>
        <p:spPr>
          <a:xfrm>
            <a:off x="694944"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Their own model calls stop at a time limit or on Cancel.</a:t>
            </a:r>
          </a:p>
        </p:txBody>
      </p:sp>
      <p:sp>
        <p:nvSpPr>
          <p:cNvPr id="12" name="Rounded Rectangle 11"/>
          <p:cNvSpPr/>
          <p:nvPr/>
        </p:nvSpPr>
        <p:spPr>
          <a:xfrm>
            <a:off x="4319930"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Uninstaller</a:t>
            </a:r>
          </a:p>
        </p:txBody>
      </p:sp>
      <p:sp>
        <p:nvSpPr>
          <p:cNvPr id="15" name="TextBox 14"/>
          <p:cNvSpPr txBox="1"/>
          <p:nvPr/>
        </p:nvSpPr>
        <p:spPr>
          <a:xfrm>
            <a:off x="4447946"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held Uninstaller.exe is moved aside and removed after exit.</a:t>
            </a:r>
          </a:p>
        </p:txBody>
      </p:sp>
      <p:sp>
        <p:nvSpPr>
          <p:cNvPr id="16" name="Rounded Rectangle 15"/>
          <p:cNvSpPr/>
          <p:nvPr/>
        </p:nvSpPr>
        <p:spPr>
          <a:xfrm>
            <a:off x="8072932"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File-Creator</a:t>
            </a:r>
          </a:p>
        </p:txBody>
      </p:sp>
      <p:sp>
        <p:nvSpPr>
          <p:cNvPr id="19" name="TextBox 18"/>
          <p:cNvSpPr txBox="1"/>
          <p:nvPr/>
        </p:nvSpPr>
        <p:spPr>
          <a:xfrm>
            <a:off x="8200948" y="2657855"/>
            <a:ext cx="3295802" cy="3450336"/>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append: true</a:t>
            </a:r>
            <a:r>
              <a:rPr sz="1300" b="0" i="0">
                <a:solidFill>
                  <a:srgbClr val="A7B2B0"/>
                </a:solidFill>
                <a:latin typeface="Segoe UI"/>
              </a:rPr>
              <a:t> adds to a file instead of overwriting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to main on October 4 and carried by the v1.76.0 tag; local executables were rebuilt to validate them.</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Delivery</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Committed October 4 and carried by v1.76.0; builds were validated separately.</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3</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and carried by the v1.76.0 tag.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and ships in v1.76.0.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2026-09-26</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v1.70.0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v1.70.0 A dozen of improvements based/towards on the Prompting Flow Panel and UX Standarization between both panels.</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v1.71.0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v1.71.0 Implementing a fancy fancy microphone to Whsperer in a cero latency direct impl. into Tlamatini's Chat.</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v1.72.0</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Implementing a fancy fancy microphone to Whisperer in a cero latency direct implementation into Tlamatini's Chat, and added configuration parameters.</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2026-09-28</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v1.72.1</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v1.72.1 Improving gauge meter measurement under one-shot chain.</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v1.72.2</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v1.72.2 Improving avoidance of blocking/hanging on Googler and Crawler agents.</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v1.72.3</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v1.72.3 Avatar lips movement improved.</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v1.72.4</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000" b="0" i="0">
                <a:solidFill>
                  <a:srgbClr val="A7B2B0"/>
                </a:solidFill>
                <a:latin typeface="Segoe UI"/>
              </a:rPr>
              <a:t>Release v1.72.4 Making HTML text extraction unable to lose a page in silence, in Crawler and Googler, by Claude.</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2026-09-30</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v1.73.0</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v1.73.0 Implemented the Drop button, which erases one message from the chat AND from the history the model reads, by angelahack1.</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v1.73.1</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Release v1.73.1 Making Config &gt; Models ask the configured Ollama with its token, not the browser's local one.</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v1.74.0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v1.74.0 Making every request fit the model it is sent to: Compact mode for small models, the complete context for big ones, and readable answer tables.</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2026-10-03</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v1.75.0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v1.75.0 Making Compact mode a real checkbox: it unticks the real Configure rows, locks ON for a small model, prices every row, and warns when a request is cut.</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2026-10-08</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v1.76.0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v1.76.0 Implementin the Model Brain tunning system (comes into action everytime user config any model.</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v1.76.0 resolves to </a:t>
            </a:r>
            <a:r>
              <a:rPr sz="1300" b="0" i="0">
                <a:solidFill>
                  <a:srgbClr val="E2B462"/>
                </a:solidFill>
                <a:latin typeface="Consolas"/>
              </a:rPr>
              <a:t>953ad2d8</a:t>
            </a:r>
            <a:r>
              <a:rPr sz="1400" b="0" i="0">
                <a:solidFill>
                  <a:srgbClr val="A7B2B0"/>
                </a:solidFill>
                <a:latin typeface="Segoe UI"/>
              </a:rPr>
              <a:t>, created 2026-10-08.</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Beyond 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 newer commit(s); a build from them still reports 1.76.0.</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v1.75.0.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Reported version</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1.76.0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v1.76.0 → 953ad2d8 (2026-10-08)</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HEAD</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ec875a47 (2 commit(s) after the tag)</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v1.75.0</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ec875a47 · 2026-10-08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Reported 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1.76.0 (git)</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1,669</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1,429</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240</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560,772</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435,638</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212</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55 · 19 · 5</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435,638 effective lines across 1,429 text files; 560,772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816</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327,058</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231,266</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53.1%</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103,847</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102,470</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219</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46,213</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35,017</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8.0%</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78</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32,451</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25,756</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16,791</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13,455</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42</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11,683</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10,338</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6,391</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6,391</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3,022</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2,357</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97</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6,278</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2,320</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1,530</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1,387</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1,442</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1,385</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1,027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883</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1,429</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560,772</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435,638</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1,298</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324,591</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1,429</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435,638</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8,799</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5,965</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5,211</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3,779</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3,373</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3,164</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2,502</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2,444</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2,164</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2,020</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1,974</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Tlamatini/agent/doc_generation/dossier_content.py</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1,928</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1,816</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3880104"/>
          </a:xfrm>
          <a:prstGeom prst="roundRect">
            <a:avLst>
              <a:gd name="adj" fmla="val 18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ec875a47</a:t>
            </a:r>
          </a:p>
        </p:txBody>
      </p:sp>
      <p:sp>
        <p:nvSpPr>
          <p:cNvPr id="14" name="TextBox 13"/>
          <p:cNvSpPr txBox="1"/>
          <p:nvPr/>
        </p:nvSpPr>
        <p:spPr>
          <a:xfrm>
            <a:off x="1967020" y="2505456"/>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2026-10-08</a:t>
            </a:r>
          </a:p>
        </p:txBody>
      </p:sp>
      <p:sp>
        <p:nvSpPr>
          <p:cNvPr id="15" name="TextBox 14"/>
          <p:cNvSpPr txBox="1"/>
          <p:nvPr/>
        </p:nvSpPr>
        <p:spPr>
          <a:xfrm>
            <a:off x="3515118" y="2505456"/>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to version 1.76.0, by angelahack1</a:t>
            </a:r>
          </a:p>
        </p:txBody>
      </p:sp>
      <p:sp>
        <p:nvSpPr>
          <p:cNvPr id="16" name="Rectangle 15"/>
          <p:cNvSpPr/>
          <p:nvPr/>
        </p:nvSpPr>
        <p:spPr>
          <a:xfrm>
            <a:off x="585216" y="2782823"/>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9399"/>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72799950</a:t>
            </a:r>
          </a:p>
        </p:txBody>
      </p:sp>
      <p:sp>
        <p:nvSpPr>
          <p:cNvPr id="18" name="TextBox 17"/>
          <p:cNvSpPr txBox="1"/>
          <p:nvPr/>
        </p:nvSpPr>
        <p:spPr>
          <a:xfrm>
            <a:off x="1967020" y="2819399"/>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2026-10-08</a:t>
            </a:r>
          </a:p>
        </p:txBody>
      </p:sp>
      <p:sp>
        <p:nvSpPr>
          <p:cNvPr id="19" name="TextBox 18"/>
          <p:cNvSpPr txBox="1"/>
          <p:nvPr/>
        </p:nvSpPr>
        <p:spPr>
          <a:xfrm>
            <a:off x="3515118" y="2819399"/>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Implementing the Model Brain tunning system (comes into action everytime user config any model, by angelahack1</a:t>
            </a:r>
          </a:p>
        </p:txBody>
      </p:sp>
      <p:sp>
        <p:nvSpPr>
          <p:cNvPr id="20" name="TextBox 19"/>
          <p:cNvSpPr txBox="1"/>
          <p:nvPr/>
        </p:nvSpPr>
        <p:spPr>
          <a:xfrm>
            <a:off x="640080" y="3133343"/>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953ad2d8</a:t>
            </a:r>
          </a:p>
        </p:txBody>
      </p:sp>
      <p:sp>
        <p:nvSpPr>
          <p:cNvPr id="21" name="TextBox 20"/>
          <p:cNvSpPr txBox="1"/>
          <p:nvPr/>
        </p:nvSpPr>
        <p:spPr>
          <a:xfrm>
            <a:off x="1967020" y="3133343"/>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2026-10-08</a:t>
            </a:r>
          </a:p>
        </p:txBody>
      </p:sp>
      <p:sp>
        <p:nvSpPr>
          <p:cNvPr id="22" name="TextBox 21"/>
          <p:cNvSpPr txBox="1"/>
          <p:nvPr/>
        </p:nvSpPr>
        <p:spPr>
          <a:xfrm>
            <a:off x="3515118" y="3133343"/>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LaTeXer save a mostly-deleted degraded PDF as &lt;name&gt;.DEGRADED.pdf instead of the requested name, and repair only the region around a compiler error in large documents with a capped, protective model request, by Claude</a:t>
            </a:r>
          </a:p>
        </p:txBody>
      </p:sp>
      <p:sp>
        <p:nvSpPr>
          <p:cNvPr id="23" name="Rectangle 22"/>
          <p:cNvSpPr/>
          <p:nvPr/>
        </p:nvSpPr>
        <p:spPr>
          <a:xfrm>
            <a:off x="585216" y="3578352"/>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14928"/>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e8813bdc</a:t>
            </a:r>
          </a:p>
        </p:txBody>
      </p:sp>
      <p:sp>
        <p:nvSpPr>
          <p:cNvPr id="25" name="TextBox 24"/>
          <p:cNvSpPr txBox="1"/>
          <p:nvPr/>
        </p:nvSpPr>
        <p:spPr>
          <a:xfrm>
            <a:off x="1967020" y="3614928"/>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2026-10-08</a:t>
            </a:r>
          </a:p>
        </p:txBody>
      </p:sp>
      <p:sp>
        <p:nvSpPr>
          <p:cNvPr id="26" name="TextBox 25"/>
          <p:cNvSpPr txBox="1"/>
          <p:nvPr/>
        </p:nvSpPr>
        <p:spPr>
          <a:xfrm>
            <a:off x="3515118" y="3614928"/>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Repairing what the interrupted public-release scrub left behind: restoring three test values and the flow catalog labels, fixing a stale LaTeXer box test, and adding the two missing change records, by Claude</a:t>
            </a:r>
          </a:p>
        </p:txBody>
      </p:sp>
      <p:sp>
        <p:nvSpPr>
          <p:cNvPr id="27" name="TextBox 26"/>
          <p:cNvSpPr txBox="1"/>
          <p:nvPr/>
        </p:nvSpPr>
        <p:spPr>
          <a:xfrm>
            <a:off x="640080" y="4096511"/>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0f124cd6</a:t>
            </a:r>
          </a:p>
        </p:txBody>
      </p:sp>
      <p:sp>
        <p:nvSpPr>
          <p:cNvPr id="28" name="TextBox 27"/>
          <p:cNvSpPr txBox="1"/>
          <p:nvPr/>
        </p:nvSpPr>
        <p:spPr>
          <a:xfrm>
            <a:off x="1967020" y="4096511"/>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2026-10-08</a:t>
            </a:r>
          </a:p>
        </p:txBody>
      </p:sp>
      <p:sp>
        <p:nvSpPr>
          <p:cNvPr id="29" name="TextBox 28"/>
          <p:cNvSpPr txBox="1"/>
          <p:nvPr/>
        </p:nvSpPr>
        <p:spPr>
          <a:xfrm>
            <a:off x="3515118" y="4096511"/>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Pairing of external mcp json</a:t>
            </a:r>
          </a:p>
        </p:txBody>
      </p:sp>
      <p:sp>
        <p:nvSpPr>
          <p:cNvPr id="30" name="Rectangle 29"/>
          <p:cNvSpPr/>
          <p:nvPr/>
        </p:nvSpPr>
        <p:spPr>
          <a:xfrm>
            <a:off x="585216" y="4373880"/>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410456"/>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cbb85e94</a:t>
            </a:r>
          </a:p>
        </p:txBody>
      </p:sp>
      <p:sp>
        <p:nvSpPr>
          <p:cNvPr id="32" name="TextBox 31"/>
          <p:cNvSpPr txBox="1"/>
          <p:nvPr/>
        </p:nvSpPr>
        <p:spPr>
          <a:xfrm>
            <a:off x="1967020" y="4410456"/>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2026-10-08</a:t>
            </a:r>
          </a:p>
        </p:txBody>
      </p:sp>
      <p:sp>
        <p:nvSpPr>
          <p:cNvPr id="33" name="TextBox 32"/>
          <p:cNvSpPr txBox="1"/>
          <p:nvPr/>
        </p:nvSpPr>
        <p:spPr>
          <a:xfrm>
            <a:off x="3515118" y="4410456"/>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Staging some incomplete, by angelahack1</a:t>
            </a:r>
          </a:p>
        </p:txBody>
      </p:sp>
      <p:sp>
        <p:nvSpPr>
          <p:cNvPr id="34" name="TextBox 33"/>
          <p:cNvSpPr txBox="1"/>
          <p:nvPr/>
        </p:nvSpPr>
        <p:spPr>
          <a:xfrm>
            <a:off x="640080" y="4724400"/>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56bd240e</a:t>
            </a:r>
          </a:p>
        </p:txBody>
      </p:sp>
      <p:sp>
        <p:nvSpPr>
          <p:cNvPr id="35" name="TextBox 34"/>
          <p:cNvSpPr txBox="1"/>
          <p:nvPr/>
        </p:nvSpPr>
        <p:spPr>
          <a:xfrm>
            <a:off x="1967020" y="4724400"/>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2026-10-08</a:t>
            </a:r>
          </a:p>
        </p:txBody>
      </p:sp>
      <p:sp>
        <p:nvSpPr>
          <p:cNvPr id="36" name="TextBox 35"/>
          <p:cNvSpPr txBox="1"/>
          <p:nvPr/>
        </p:nvSpPr>
        <p:spPr>
          <a:xfrm>
            <a:off x="3515118" y="4724400"/>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Trying to improve Tlamatini with the use of limited models, by angelahack1</a:t>
            </a:r>
          </a:p>
        </p:txBody>
      </p:sp>
      <p:sp>
        <p:nvSpPr>
          <p:cNvPr id="37" name="Rectangle 36"/>
          <p:cNvSpPr/>
          <p:nvPr/>
        </p:nvSpPr>
        <p:spPr>
          <a:xfrm>
            <a:off x="585216" y="5001768"/>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38344"/>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8daa2bc3</a:t>
            </a:r>
          </a:p>
        </p:txBody>
      </p:sp>
      <p:sp>
        <p:nvSpPr>
          <p:cNvPr id="39" name="TextBox 38"/>
          <p:cNvSpPr txBox="1"/>
          <p:nvPr/>
        </p:nvSpPr>
        <p:spPr>
          <a:xfrm>
            <a:off x="1967020" y="5038344"/>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2026-10-07</a:t>
            </a:r>
          </a:p>
        </p:txBody>
      </p:sp>
      <p:sp>
        <p:nvSpPr>
          <p:cNvPr id="40" name="TextBox 39"/>
          <p:cNvSpPr txBox="1"/>
          <p:nvPr/>
        </p:nvSpPr>
        <p:spPr>
          <a:xfrm>
            <a:off x="3515118" y="5038344"/>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Tlamatini's document and capture agents keep a finished file when Windows blocks the folder, fixing LaTeXer losing its PDF, and folding the whitelist script into one launcher, by Claude</a:t>
            </a:r>
          </a:p>
        </p:txBody>
      </p:sp>
      <p:sp>
        <p:nvSpPr>
          <p:cNvPr id="41" name="TextBox 40"/>
          <p:cNvSpPr txBox="1"/>
          <p:nvPr/>
        </p:nvSpPr>
        <p:spPr>
          <a:xfrm>
            <a:off x="640080" y="5519928"/>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b85be4a4</a:t>
            </a:r>
          </a:p>
        </p:txBody>
      </p:sp>
      <p:sp>
        <p:nvSpPr>
          <p:cNvPr id="42" name="TextBox 41"/>
          <p:cNvSpPr txBox="1"/>
          <p:nvPr/>
        </p:nvSpPr>
        <p:spPr>
          <a:xfrm>
            <a:off x="1967020" y="5519928"/>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2026-10-07</a:t>
            </a:r>
          </a:p>
        </p:txBody>
      </p:sp>
      <p:sp>
        <p:nvSpPr>
          <p:cNvPr id="43" name="TextBox 42"/>
          <p:cNvSpPr txBox="1"/>
          <p:nvPr/>
        </p:nvSpPr>
        <p:spPr>
          <a:xfrm>
            <a:off x="3515118" y="5519928"/>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Noting in the security README that the whitelist now lets every discovered install's Python through Controlled Folder Access, by Claude</a:t>
            </a:r>
          </a:p>
        </p:txBody>
      </p:sp>
      <p:cxnSp>
        <p:nvCxnSpPr>
          <p:cNvPr id="44" name="Connector 4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6" name="TextBox 4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2423160"/>
          </a:xfrm>
          <a:prstGeom prst="roundRect">
            <a:avLst>
              <a:gd name="adj" fmla="val 301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c4e479fd</a:t>
            </a:r>
          </a:p>
        </p:txBody>
      </p:sp>
      <p:sp>
        <p:nvSpPr>
          <p:cNvPr id="14" name="TextBox 13"/>
          <p:cNvSpPr txBox="1"/>
          <p:nvPr/>
        </p:nvSpPr>
        <p:spPr>
          <a:xfrm>
            <a:off x="196702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2026-10-07</a:t>
            </a:r>
          </a:p>
        </p:txBody>
      </p:sp>
      <p:sp>
        <p:nvSpPr>
          <p:cNvPr id="15" name="TextBox 14"/>
          <p:cNvSpPr txBox="1"/>
          <p:nvPr/>
        </p:nvSpPr>
        <p:spPr>
          <a:xfrm>
            <a:off x="3515118" y="2505456"/>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Making the security whitelist script find every Tlamatini install, frozen and source, and let its Python save files past Controlled Folder Access, so LaTeXer and PDFer can write PDFs, by Claude</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180636"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37fc762c</a:t>
            </a:r>
          </a:p>
        </p:txBody>
      </p:sp>
      <p:sp>
        <p:nvSpPr>
          <p:cNvPr id="18" name="TextBox 17"/>
          <p:cNvSpPr txBox="1"/>
          <p:nvPr/>
        </p:nvSpPr>
        <p:spPr>
          <a:xfrm>
            <a:off x="196702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2026-10-05</a:t>
            </a:r>
          </a:p>
        </p:txBody>
      </p:sp>
      <p:sp>
        <p:nvSpPr>
          <p:cNvPr id="19" name="TextBox 18"/>
          <p:cNvSpPr txBox="1"/>
          <p:nvPr/>
        </p:nvSpPr>
        <p:spPr>
          <a:xfrm>
            <a:off x="3515118" y="3337560"/>
            <a:ext cx="803649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Making the uninstaller finish cleanly when Windows still holds Uninstaller.exe: retry, move it aside, delete it after exit, by Claude</a:t>
            </a:r>
          </a:p>
        </p:txBody>
      </p:sp>
      <p:sp>
        <p:nvSpPr>
          <p:cNvPr id="20" name="TextBox 19"/>
          <p:cNvSpPr txBox="1"/>
          <p:nvPr/>
        </p:nvSpPr>
        <p:spPr>
          <a:xfrm>
            <a:off x="640080" y="3941063"/>
            <a:ext cx="1180636"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0a15ba90</a:t>
            </a:r>
          </a:p>
        </p:txBody>
      </p:sp>
      <p:sp>
        <p:nvSpPr>
          <p:cNvPr id="21" name="TextBox 20"/>
          <p:cNvSpPr txBox="1"/>
          <p:nvPr/>
        </p:nvSpPr>
        <p:spPr>
          <a:xfrm>
            <a:off x="196702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2026-10-05</a:t>
            </a:r>
          </a:p>
        </p:txBody>
      </p:sp>
      <p:sp>
        <p:nvSpPr>
          <p:cNvPr id="22" name="TextBox 21"/>
          <p:cNvSpPr txBox="1"/>
          <p:nvPr/>
        </p:nvSpPr>
        <p:spPr>
          <a:xfrm>
            <a:off x="3515118" y="3941063"/>
            <a:ext cx="803649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Putting a time limit on the Files-Search and System-Metrics Ollama calls, so a slow answer can no longer freeze the chat, by Claude</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1,669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flow_file_associations.ps1</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MessagingConnectorAssistant_Design.md</a:t>
            </a:r>
          </a:p>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register_fpmt.ps1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uninstall_processes.py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unregister_fpmt.ps1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compact_pingpong_visible.py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model_brain_visible.py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pdf_context_visible.py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tlamatini-release-validation/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agents/</a:t>
            </a:r>
          </a:p>
          <a:p>
            <a:pPr algn="l">
              <a:lnSpc>
                <a:spcPct val="100000"/>
              </a:lnSpc>
            </a:pPr>
            <a:r>
              <a:rPr sz="800" b="0" i="0">
                <a:solidFill>
                  <a:srgbClr val="ECE7DC"/>
                </a:solidFill>
                <a:latin typeface="Consolas"/>
              </a:rPr>
              <a:t>│           │   └── openai.yaml</a:t>
            </a:r>
          </a:p>
          <a:p>
            <a:pPr algn="l">
              <a:lnSpc>
                <a:spcPct val="100000"/>
              </a:lnSpc>
            </a:pPr>
            <a:r>
              <a:rPr sz="800" b="0" i="0">
                <a:solidFill>
                  <a:srgbClr val="3BBE93"/>
                </a:solidFill>
                <a:latin typeface="Consolas"/>
              </a:rPr>
              <a:t>│           └── references/</a:t>
            </a:r>
          </a:p>
          <a:p>
            <a:pPr algn="l">
              <a:lnSpc>
                <a:spcPct val="100000"/>
              </a:lnSpc>
            </a:pPr>
            <a:r>
              <a:rPr sz="800" b="0" i="0">
                <a:solidFill>
                  <a:srgbClr val="ECE7DC"/>
                </a:solidFill>
                <a:latin typeface="Consolas"/>
              </a:rPr>
              <a:t>│               └── acceptance-matrix.md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ECE7DC"/>
                </a:solidFill>
                <a:latin typeface="Consolas"/>
              </a:rPr>
              <a:t>│   ├── windows-flow-files.md</a:t>
            </a:r>
          </a:p>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ECE7DC"/>
                </a:solidFill>
                <a:latin typeface="Consolas"/>
              </a:rPr>
              <a:t>│   │   ├── 2026-10-04-commentary-graphical-redesign.md</a:t>
            </a:r>
          </a:p>
          <a:p>
            <a:pPr algn="l">
              <a:lnSpc>
                <a:spcPct val="100000"/>
              </a:lnSpc>
            </a:pPr>
            <a:r>
              <a:rPr sz="800" b="0" i="0">
                <a:solidFill>
                  <a:srgbClr val="ECE7DC"/>
                </a:solidFill>
                <a:latin typeface="Consolas"/>
              </a:rPr>
              <a:t>│   │   ├── 2026-10-04-commentary-graphical-redesign.pat</a:t>
            </a:r>
          </a:p>
          <a:p>
            <a:pPr algn="l">
              <a:lnSpc>
                <a:spcPct val="100000"/>
              </a:lnSpc>
            </a:pPr>
            <a:r>
              <a:rPr sz="800" b="0" i="0">
                <a:solidFill>
                  <a:srgbClr val="ECE7DC"/>
                </a:solidFill>
                <a:latin typeface="Consolas"/>
              </a:rPr>
              <a:t>│   │   │     » ch</a:t>
            </a:r>
          </a:p>
          <a:p>
            <a:pPr algn="l">
              <a:lnSpc>
                <a:spcPct val="100000"/>
              </a:lnSpc>
            </a:pPr>
            <a:r>
              <a:rPr sz="800" b="0" i="0">
                <a:solidFill>
                  <a:srgbClr val="ECE7DC"/>
                </a:solidFill>
                <a:latin typeface="Consolas"/>
              </a:rPr>
              <a:t>│   │   ├── 2026-10-04-prompt-flow-documentation.md</a:t>
            </a:r>
          </a:p>
          <a:p>
            <a:pPr algn="l">
              <a:lnSpc>
                <a:spcPct val="100000"/>
              </a:lnSpc>
            </a:pPr>
            <a:r>
              <a:rPr sz="800" b="0" i="0">
                <a:solidFill>
                  <a:srgbClr val="ECE7DC"/>
                </a:solidFill>
                <a:latin typeface="Consolas"/>
              </a:rPr>
              <a:t>│   │   ├── 2026-10-04-release-validation.md</a:t>
            </a:r>
          </a:p>
          <a:p>
            <a:pPr algn="l">
              <a:lnSpc>
                <a:spcPct val="100000"/>
              </a:lnSpc>
            </a:pPr>
            <a:r>
              <a:rPr sz="800" b="0" i="0">
                <a:solidFill>
                  <a:srgbClr val="ECE7DC"/>
                </a:solidFill>
                <a:latin typeface="Consolas"/>
              </a:rPr>
              <a:t>│   │   ├── 2026-10-04-run-output-resize.md</a:t>
            </a:r>
          </a:p>
          <a:p>
            <a:pPr algn="l">
              <a:lnSpc>
                <a:spcPct val="100000"/>
              </a:lnSpc>
            </a:pPr>
            <a:r>
              <a:rPr sz="800" b="0" i="0">
                <a:solidFill>
                  <a:srgbClr val="ECE7DC"/>
                </a:solidFill>
                <a:latin typeface="Consolas"/>
              </a:rPr>
              <a:t>│   │   ├── 2026-10-04-run-output-resize.patch</a:t>
            </a:r>
          </a:p>
          <a:p>
            <a:pPr algn="l">
              <a:lnSpc>
                <a:spcPct val="100000"/>
              </a:lnSpc>
            </a:pPr>
            <a:r>
              <a:rPr sz="800" b="0" i="0">
                <a:solidFill>
                  <a:srgbClr val="ECE7DC"/>
                </a:solidFill>
                <a:latin typeface="Consolas"/>
              </a:rPr>
              <a:t>│   │   ├── 2026-10-04-windows-flow-files.md</a:t>
            </a:r>
          </a:p>
          <a:p>
            <a:pPr algn="l">
              <a:lnSpc>
                <a:spcPct val="100000"/>
              </a:lnSpc>
            </a:pPr>
            <a:r>
              <a:rPr sz="800" b="0" i="0">
                <a:solidFill>
                  <a:srgbClr val="ECE7DC"/>
                </a:solidFill>
                <a:latin typeface="Consolas"/>
              </a:rPr>
              <a:t>│   │   ├── 2026-10-07-latexer-verification.md</a:t>
            </a:r>
          </a:p>
          <a:p>
            <a:pPr algn="l">
              <a:lnSpc>
                <a:spcPct val="100000"/>
              </a:lnSpc>
            </a:pPr>
            <a:r>
              <a:rPr sz="800" b="0" i="0">
                <a:solidFill>
                  <a:srgbClr val="ECE7DC"/>
                </a:solidFill>
                <a:latin typeface="Consolas"/>
              </a:rPr>
              <a:t>│   │   ├── 2026-10-07-pdf-mover-incident.md</a:t>
            </a:r>
          </a:p>
          <a:p>
            <a:pPr algn="l">
              <a:lnSpc>
                <a:spcPct val="100000"/>
              </a:lnSpc>
            </a:pPr>
            <a:r>
              <a:rPr sz="800" b="0" i="0">
                <a:solidFill>
                  <a:srgbClr val="ECE7DC"/>
                </a:solidFill>
                <a:latin typeface="Consolas"/>
              </a:rPr>
              <a:t>│   │   └── 2026-10-07-windows-access-verification.md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flow_file_associations_test.ps1</a:t>
            </a:r>
          </a:p>
          <a:p>
            <a:pPr algn="l">
              <a:lnSpc>
                <a:spcPct val="100000"/>
              </a:lnSpc>
            </a:pPr>
            <a:r>
              <a:rPr sz="800" b="0" i="0">
                <a:solidFill>
                  <a:srgbClr val="ECE7DC"/>
                </a:solidFill>
                <a:latin typeface="Consolas"/>
              </a:rPr>
              <a:t>│   ├── flow_files_visible.py</a:t>
            </a:r>
          </a:p>
          <a:p>
            <a:pPr algn="l">
              <a:lnSpc>
                <a:spcPct val="100000"/>
              </a:lnSpc>
            </a:pPr>
            <a:r>
              <a:rPr sz="800" b="0" i="0">
                <a:solidFill>
                  <a:srgbClr val="ECE7DC"/>
                </a:solidFill>
                <a:latin typeface="Consolas"/>
              </a:rPr>
              <a:t>│   ├── installed_panels_visible.py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prompt_flow_output_resize_visible.py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release_acp_editor_checks.py</a:t>
            </a:r>
          </a:p>
          <a:p>
            <a:pPr algn="l">
              <a:lnSpc>
                <a:spcPct val="100000"/>
              </a:lnSpc>
            </a:pPr>
            <a:r>
              <a:rPr sz="800" b="0" i="0">
                <a:solidFill>
                  <a:srgbClr val="ECE7DC"/>
                </a:solidFill>
                <a:latin typeface="Consolas"/>
              </a:rPr>
              <a:t>│   ├── release_acp_runtime_checks.py</a:t>
            </a:r>
          </a:p>
          <a:p>
            <a:pPr algn="l">
              <a:lnSpc>
                <a:spcPct val="100000"/>
              </a:lnSpc>
            </a:pPr>
            <a:r>
              <a:rPr sz="800" b="0" i="0">
                <a:solidFill>
                  <a:srgbClr val="ECE7DC"/>
                </a:solidFill>
                <a:latin typeface="Consolas"/>
              </a:rPr>
              <a:t>│   ├── release_agent_catalog_checks.py</a:t>
            </a:r>
          </a:p>
          <a:p>
            <a:pPr algn="l">
              <a:lnSpc>
                <a:spcPct val="100000"/>
              </a:lnSpc>
            </a:pPr>
            <a:r>
              <a:rPr sz="800" b="0" i="0">
                <a:solidFill>
                  <a:srgbClr val="ECE7DC"/>
                </a:solidFill>
                <a:latin typeface="Consolas"/>
              </a:rPr>
              <a:t>│   ├── release_auth_checks.py</a:t>
            </a:r>
          </a:p>
          <a:p>
            <a:pPr algn="l">
              <a:lnSpc>
                <a:spcPct val="100000"/>
              </a:lnSpc>
            </a:pPr>
            <a:r>
              <a:rPr sz="800" b="0" i="0">
                <a:solidFill>
                  <a:srgbClr val="ECE7DC"/>
                </a:solidFill>
                <a:latin typeface="Consolas"/>
              </a:rPr>
              <a:t>│   ├── release_commentary_checks.py</a:t>
            </a:r>
          </a:p>
          <a:p>
            <a:pPr algn="l">
              <a:lnSpc>
                <a:spcPct val="100000"/>
              </a:lnSpc>
            </a:pPr>
            <a:r>
              <a:rPr sz="800" b="0" i="0">
                <a:solidFill>
                  <a:srgbClr val="ECE7DC"/>
                </a:solidFill>
                <a:latin typeface="Consolas"/>
              </a:rPr>
              <a:t>│   ├── release_extended_checks.py</a:t>
            </a:r>
          </a:p>
          <a:p>
            <a:pPr algn="l">
              <a:lnSpc>
                <a:spcPct val="100000"/>
              </a:lnSpc>
            </a:pPr>
            <a:r>
              <a:rPr sz="800" b="0" i="0">
                <a:solidFill>
                  <a:srgbClr val="ECE7DC"/>
                </a:solidFill>
                <a:latin typeface="Consolas"/>
              </a:rPr>
              <a:t>│   ├── release_local_agent_checks.py</a:t>
            </a:r>
          </a:p>
          <a:p>
            <a:pPr algn="l">
              <a:lnSpc>
                <a:spcPct val="100000"/>
              </a:lnSpc>
            </a:pPr>
            <a:r>
              <a:rPr sz="800" b="0" i="0">
                <a:solidFill>
                  <a:srgbClr val="ECE7DC"/>
                </a:solidFill>
                <a:latin typeface="Consolas"/>
              </a:rPr>
              <a:t>│   ├── release_mcp_checks.py</a:t>
            </a:r>
          </a:p>
          <a:p>
            <a:pPr algn="l">
              <a:lnSpc>
                <a:spcPct val="100000"/>
              </a:lnSpc>
            </a:pPr>
            <a:r>
              <a:rPr sz="800" b="0" i="0">
                <a:solidFill>
                  <a:srgbClr val="ECE7DC"/>
                </a:solidFill>
                <a:latin typeface="Consolas"/>
              </a:rPr>
              <a:t>│   ├── release_output_resize_checks.py</a:t>
            </a:r>
          </a:p>
          <a:p>
            <a:pPr algn="l">
              <a:lnSpc>
                <a:spcPct val="100000"/>
              </a:lnSpc>
            </a:pPr>
            <a:r>
              <a:rPr sz="800" b="0" i="0">
                <a:solidFill>
                  <a:srgbClr val="ECE7DC"/>
                </a:solidFill>
                <a:latin typeface="Consolas"/>
              </a:rPr>
              <a:t>│   ├── release_prompt_runtime_checks.py</a:t>
            </a:r>
          </a:p>
          <a:p>
            <a:pPr algn="l">
              <a:lnSpc>
                <a:spcPct val="100000"/>
              </a:lnSpc>
            </a:pPr>
            <a:r>
              <a:rPr sz="800" b="0" i="0">
                <a:solidFill>
                  <a:srgbClr val="ECE7DC"/>
                </a:solidFill>
                <a:latin typeface="Consolas"/>
              </a:rPr>
              <a:t>│   ├── release_shell_file_checks.py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tlamatini_clean_install.ps1</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sync_enable_launcher.py</a:t>
            </a:r>
          </a:p>
          <a:p>
            <a:pPr algn="l">
              <a:lnSpc>
                <a:spcPct val="100000"/>
              </a:lnSpc>
            </a:pPr>
            <a:r>
              <a:rPr sz="800" b="0" i="0">
                <a:solidFill>
                  <a:srgbClr val="ECE7DC"/>
                </a:solidFill>
                <a:latin typeface="Consolas"/>
              </a:rPr>
              <a:t>│   ├── test_security_syntax.ps1</a:t>
            </a:r>
          </a:p>
          <a:p>
            <a:pPr algn="l">
              <a:lnSpc>
                <a:spcPct val="100000"/>
              </a:lnSpc>
            </a:pPr>
            <a:r>
              <a:rPr sz="800" b="0" i="0">
                <a:solidFill>
                  <a:srgbClr val="ECE7DC"/>
                </a:solidFill>
                <a:latin typeface="Consolas"/>
              </a:rPr>
              <a:t>│   ├── test_windows_access.ps1</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ECE7DC"/>
                </a:solidFill>
                <a:latin typeface="Consolas"/>
              </a:rPr>
              <a:t>│   ├── verify_agent_execution.py</a:t>
            </a:r>
          </a:p>
          <a:p>
            <a:pPr algn="l">
              <a:lnSpc>
                <a:spcPct val="100000"/>
              </a:lnSpc>
            </a:pPr>
            <a:r>
              <a:rPr sz="800" b="0" i="0">
                <a:solidFill>
                  <a:srgbClr val="ECE7DC"/>
                </a:solidFill>
                <a:latin typeface="Consolas"/>
              </a:rPr>
              <a:t>│   └── windows_access_helpers.ps1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context_sidecar_timeout.py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flow_file_open.py</a:t>
            </a:r>
          </a:p>
          <a:p>
            <a:pPr algn="l">
              <a:lnSpc>
                <a:spcPct val="100000"/>
              </a:lnSpc>
            </a:pPr>
            <a:r>
              <a:rPr sz="800" b="0" i="0">
                <a:solidFill>
                  <a:srgbClr val="ECE7DC"/>
                </a:solidFill>
                <a:latin typeface="Consolas"/>
              </a:rPr>
              <a:t>    │   ├── flow_file_views.py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model_brain.py</a:t>
            </a:r>
          </a:p>
          <a:p>
            <a:pPr algn="l">
              <a:lnSpc>
                <a:spcPct val="100000"/>
              </a:lnSpc>
            </a:pPr>
            <a:r>
              <a:rPr sz="800" b="0" i="0">
                <a:solidFill>
                  <a:srgbClr val="ECE7DC"/>
                </a:solidFill>
                <a:latin typeface="Consolas"/>
              </a:rPr>
              <a:t>    │   ├── model_brain_chat.py</a:t>
            </a:r>
          </a:p>
          <a:p>
            <a:pPr algn="l">
              <a:lnSpc>
                <a:spcPct val="100000"/>
              </a:lnSpc>
            </a:pPr>
            <a:r>
              <a:rPr sz="800" b="0" i="0">
                <a:solidFill>
                  <a:srgbClr val="ECE7DC"/>
                </a:solidFill>
                <a:latin typeface="Consolas"/>
              </a:rPr>
              <a:t>    │   ├── model_brain_views.py</a:t>
            </a:r>
          </a:p>
          <a:p>
            <a:pPr algn="l">
              <a:lnSpc>
                <a:spcPct val="100000"/>
              </a:lnSpc>
            </a:pPr>
            <a:r>
              <a:rPr sz="800" b="0" i="0">
                <a:solidFill>
                  <a:srgbClr val="ECE7DC"/>
                </a:solidFill>
                <a:latin typeface="Consolas"/>
              </a:rPr>
              <a:t>    │   ├── model_profiles.json</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test_compact_mode_pingpong.py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test_console_colors.py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test_context_sidecar_timeout.py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test_file_creator_append.py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test_flow_file_open.py</a:t>
            </a:r>
          </a:p>
          <a:p>
            <a:pPr algn="l">
              <a:lnSpc>
                <a:spcPct val="100000"/>
              </a:lnSpc>
            </a:pPr>
            <a:r>
              <a:rPr sz="800" b="0" i="0">
                <a:solidFill>
                  <a:srgbClr val="ECE7DC"/>
                </a:solidFill>
                <a:latin typeface="Consolas"/>
              </a:rPr>
              <a:t>    │   ├── test_flow_file_views.py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test_latexer_delivery_truth.py</a:t>
            </a:r>
          </a:p>
          <a:p>
            <a:pPr algn="l">
              <a:lnSpc>
                <a:spcPct val="100000"/>
              </a:lnSpc>
            </a:pPr>
            <a:r>
              <a:rPr sz="800" b="0" i="0">
                <a:solidFill>
                  <a:srgbClr val="ECE7DC"/>
                </a:solidFill>
                <a:latin typeface="Consolas"/>
              </a:rPr>
              <a:t>    │   ├── test_latexer_layout_truth.py</a:t>
            </a:r>
          </a:p>
          <a:p>
            <a:pPr algn="l">
              <a:lnSpc>
                <a:spcPct val="100000"/>
              </a:lnSpc>
            </a:pPr>
            <a:r>
              <a:rPr sz="800" b="0" i="0">
                <a:solidFill>
                  <a:srgbClr val="ECE7DC"/>
                </a:solidFill>
                <a:latin typeface="Consolas"/>
              </a:rPr>
              <a:t>    │   ├── test_latexer_major_removal_and_window_repair</a:t>
            </a:r>
          </a:p>
          <a:p>
            <a:pPr algn="l">
              <a:lnSpc>
                <a:spcPct val="100000"/>
              </a:lnSpc>
            </a:pPr>
            <a:r>
              <a:rPr sz="800" b="0" i="0">
                <a:solidFill>
                  <a:srgbClr val="ECE7DC"/>
                </a:solidFill>
                <a:latin typeface="Consolas"/>
              </a:rPr>
              <a:t>    │   │     » .py</a:t>
            </a:r>
          </a:p>
          <a:p>
            <a:pPr algn="l">
              <a:lnSpc>
                <a:spcPct val="100000"/>
              </a:lnSpc>
            </a:pPr>
            <a:r>
              <a:rPr sz="800" b="0" i="0">
                <a:solidFill>
                  <a:srgbClr val="ECE7DC"/>
                </a:solidFill>
                <a:latin typeface="Consolas"/>
              </a:rPr>
              <a:t>    │   ├── test_latexer_model_repair_truth.py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test_mcp_configured_endpoints.py</a:t>
            </a:r>
          </a:p>
          <a:p>
            <a:pPr algn="l">
              <a:lnSpc>
                <a:spcPct val="100000"/>
              </a:lnSpc>
            </a:pPr>
            <a:r>
              <a:rPr sz="800" b="0" i="0">
                <a:solidFill>
                  <a:srgbClr val="ECE7DC"/>
                </a:solidFill>
                <a:latin typeface="Consolas"/>
              </a:rPr>
              <a:t>    │   ├── test_model_brain.py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test_mover_file_safety.py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test_prompt_shape_sentences.py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a:p>
            <a:pPr algn="l">
              <a:lnSpc>
                <a:spcPct val="100000"/>
              </a:lnSpc>
            </a:pPr>
            <a:r>
              <a:rPr sz="800" b="0" i="0">
                <a:solidFill>
                  <a:srgbClr val="ECE7DC"/>
                </a:solidFill>
                <a:latin typeface="Consolas"/>
              </a:rPr>
              <a:t>    │   ├── test_self_update.py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test_uninstall_processes.py</a:t>
            </a:r>
          </a:p>
          <a:p>
            <a:pPr algn="l">
              <a:lnSpc>
                <a:spcPct val="100000"/>
              </a:lnSpc>
            </a:pPr>
            <a:r>
              <a:rPr sz="800" b="0" i="0">
                <a:solidFill>
                  <a:srgbClr val="ECE7DC"/>
                </a:solidFill>
                <a:latin typeface="Consolas"/>
              </a:rPr>
              <a:t>    │   ├── test_uninstaller_lifecycle.py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0211_compact_state.py</a:t>
            </a:r>
          </a:p>
          <a:p>
            <a:pPr algn="l">
              <a:lnSpc>
                <a:spcPct val="100000"/>
              </a:lnSpc>
            </a:pPr>
            <a:r>
              <a:rPr sz="800" b="0" i="0">
                <a:solidFill>
                  <a:srgbClr val="ECE7DC"/>
                </a:solidFill>
                <a:latin typeface="Consolas"/>
              </a:rPr>
              <a:t>    │   │   ├── 0212_compact_state_self_modify.py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model_brain_tuning.css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model_brain_tuning.js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ec875a47;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v1.76.0   ·   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8, 2026  ·  commit ec875a47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1.76.0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