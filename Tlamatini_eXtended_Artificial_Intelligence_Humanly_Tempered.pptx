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1"/>
        <c:axId val="2"/>
      </c:barChart>
      <c:catAx>
        <c:axId val="1"/>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
        <c:crosses val="autoZero"/>
        <c:auto val="1"/>
        <c:lblAlgn val="ctr"/>
        <c:lblOffset val="100"/>
        <c:noMultiLvlLbl val="0"/>
      </c:catAx>
      <c:valAx>
        <c:axId val="2"/>
        <c:scaling/>
        <c:delete/>
        <c:axPos val="b"/>
        <c:majorTickMark val="out"/>
        <c:minorTickMark val="none"/>
        <c:tickLblPos val="nextTo"/>
        <c:crossAx val="1"/>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Prompt template</c:v>
                </c:pt>
                <c:pt idx="3">
                  <c:v>HTML</c:v>
                </c:pt>
                <c:pt idx="4">
                  <c:v>Text</c:v>
                </c:pt>
                <c:pt idx="5">
                  <c:v>PowerShell</c:v>
                </c:pt>
                <c:pt idx="6">
                  <c:v>YAML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1078</c:v>
                </c:pt>
                <c:pt idx="1">
                  <c:v>882</c:v>
                </c:pt>
                <c:pt idx="2">
                  <c:v>1368</c:v>
                </c:pt>
                <c:pt idx="3">
                  <c:v>1678</c:v>
                </c:pt>
                <c:pt idx="4">
                  <c:v>2122</c:v>
                </c:pt>
                <c:pt idx="5">
                  <c:v>2355</c:v>
                </c:pt>
                <c:pt idx="6">
                  <c:v>2643</c:v>
                </c:pt>
                <c:pt idx="7">
                  <c:v>6111</c:v>
                </c:pt>
                <c:pt idx="8">
                  <c:v>10595</c:v>
                </c:pt>
                <c:pt idx="9">
                  <c:v>14435</c:v>
                </c:pt>
                <c:pt idx="10">
                  <c:v>29138</c:v>
                </c:pt>
                <c:pt idx="11">
                  <c:v>39679</c:v>
                </c:pt>
                <c:pt idx="12">
                  <c:v>103320</c:v>
                </c:pt>
                <c:pt idx="13">
                  <c:v>262309</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1"/>
        <c:axId val="2"/>
      </c:barChart>
      <c:catAx>
        <c:axId val="1"/>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
        <c:crosses val="autoZero"/>
        <c:auto val="1"/>
        <c:lblAlgn val="ctr"/>
        <c:lblOffset val="100"/>
        <c:noMultiLvlLbl val="0"/>
      </c:catAx>
      <c:valAx>
        <c:axId val="2"/>
        <c:scaling/>
        <c:delete/>
        <c:axPos val="b"/>
        <c:majorTickMark val="out"/>
        <c:minorTickMark val="none"/>
        <c:tickLblPos val="nextTo"/>
        <c:crossAx val="1"/>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86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110 built-in tools, self-healing steps and Compact mode for small models.</a:t>
            </a:r>
          </a:p>
          <a:p/>
          <a:p>
            <a:r>
              <a:t>Agentic Control Panel: 86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86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21 core tools + 67 wrapped agent launchers + 12 ACPX and Skill tools + 10 External-MCP supervisors = 110 tools. Healthy, active external MCP servers add their own ext__&lt;server&gt;__&lt;tool&gt; tools on top.</a:t>
            </a:r>
          </a:p>
          <a:p/>
          <a:p>
            <a:r>
              <a:t>The application ships 64 JavaScript modules, 29 stylesheets and 8 page templates, 220 database migrations and 264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editor and the synchronous tool loop share an account/session-bound bridge.</a:t>
            </a:r>
          </a:p>
          <a:p/>
          <a:p>
            <a:r>
              <a:t>Browser: CodeMirror is authoritative; bridge.js sends receipts/access/stop, not host-path commands.</a:t>
            </a:r>
          </a:p>
          <a:p/>
          <a:p>
            <a:r>
              <a:t>Transport: ws/interactor/ authenticates the session and exact Origin/Host; the server issues tab identity.</a:t>
            </a:r>
          </a:p>
          <a:p/>
          <a:p>
            <a:r>
              <a:t>Tool context: ContextVar carries tab/account/session identity into workers; read gets the live buffer.</a:t>
            </a:r>
          </a:p>
          <a:p/>
          <a:p>
            <a:r>
              <a:t>Hub: Bounded queues, command IDs, deadlines, revision checks and full-buffer verification.</a:t>
            </a:r>
          </a:p>
          <a:p/>
          <a:p>
            <a:r>
              <a:t>Persistence: Ask Execs gates new/save; loopback host access uses the existing path and file-capability guards.</a:t>
            </a:r>
          </a:p>
          <a:p/>
          <a:p>
            <a:r>
              <a:t>Carriage: Migration 0218, tool_gate_table, prompt rules, frozen modules and offline source/static inventories.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51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 Live Editor &amp; Terminater opens one shared dialog on the chat and control panels.</a:t>
            </a:r>
          </a:p>
          <a:p/>
          <a:p>
            <a:r>
              <a:t>Live Editor controls 40–160 WPM, a 0–3 second pause after each segment, teaching detail, field suggestions, ghost text versus choices, and following the typed cursor. Manual scrolling suspends following for that segment. Font, line numbers and wrapping affect the real editor. Teaching detail instructs the model; exact wording still varies.</a:t>
            </a:r>
          </a:p>
          <a:p/>
          <a:p>
            <a:r>
              <a:t>Standard and Guided learning presets populate a draft. Preview types and speaks a harmless sample without editing files or executing commands. Save applies behavior to the next action. Cancel, Escape and Close discard the draft. Stop, mute and current-tab editor access are immediate.</a:t>
            </a:r>
          </a:p>
          <a:p/>
          <a:p>
            <a:r>
              <a:t>Pace: Separate speeds or a linked 40–160 WPM setting; no instant typing.</a:t>
            </a:r>
          </a:p>
          <a:p/>
          <a:p>
            <a:r>
              <a:t>Teaching: Brief, balanced or detailed guidance with optional local suggestions.</a:t>
            </a:r>
          </a:p>
          <a:p/>
          <a:p>
            <a:r>
              <a:t>Appearance: Editor and terminal presentation saved per account/browser.</a:t>
            </a:r>
          </a:p>
          <a:p/>
          <a:p>
            <a:r>
              <a:t>Account: Behavior persists on the server; concurrent saves detect revision conflicts.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TerminalHub resolves account preferences across chat, ACP, Prompt Flow and browser actions.</a:t>
            </a:r>
          </a:p>
          <a:p/>
          <a:p>
            <a:r>
              <a:t>Choose 20–160 WPM, an available default shell, advisor for new terminals, a command wait window, a no-output threshold and a user handoff wait. Shell and advisor defaults affect new terminals. A wait timeout does not kill the process. Layout, font and cursor changes apply to existing views; resized prompts retain honest screen-based read-back.</a:t>
            </a:r>
          </a:p>
          <a:p/>
          <a:p>
            <a:r>
              <a:t>I always press Enter prevents automated submission, including aliases, encoded text and control characters; the user's keyboard still works. New flows can use account defaults. Older flow files retain explicit values. Manual Enter and narration remain account choices, and typed chat preserves a shell explicitly requested by the task.</a:t>
            </a:r>
          </a:p>
          <a:p/>
          <a:p>
            <a:r>
              <a:t>Type: One key at a time, 20–160 WPM; no paste or instant mode.</a:t>
            </a:r>
          </a:p>
          <a:p/>
          <a:p>
            <a:r>
              <a:t>Submit: Task-controlled execution or user-only Enter enforced by the hub.</a:t>
            </a:r>
          </a:p>
          <a:p/>
          <a:p>
            <a:r>
              <a:t>Wait: Command, no-output and handoff windows have separate meanings.</a:t>
            </a:r>
          </a:p>
          <a:p/>
          <a:p>
            <a:r>
              <a:t>Inherit: use_my_defaults applies account preferences without rewriting older flows.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 uses the existing browser voice and a shared, cancellable speech queue.</a:t>
            </a:r>
          </a:p>
          <a:p/>
          <a:p>
            <a:r>
              <a:t>Enable narration independently for Terminater commands and Live Editor segments. Choose an explanation, literal command/code or both, spoken before, during or after typing. When waiting before typing is enabled, a real speech-completion receipt or explicit skip is required. An unavailable voice offers Continue without voice or Stop.</a:t>
            </a:r>
          </a:p>
          <a:p/>
          <a:p>
            <a:r>
              <a:t>A single focused account tab speaks each terminal event. Receipts belong to that exact connection; disconnect, Stop and the bounded deadline can cancel before any key. A reconnect never replays a command. Secret-marked text and user handoff values are excluded. Outcome notices describe command-action status without reading terminal output aloud.</a:t>
            </a:r>
          </a:p>
          <a:p/>
          <a:p>
            <a:r>
              <a:t>Shared voice: Reuse voice choice, rate, volume and pitch from Config → Voice.</a:t>
            </a:r>
          </a:p>
          <a:p/>
          <a:p>
            <a:r>
              <a:t>Priority: Global mute and microphone listening override narration.</a:t>
            </a:r>
          </a:p>
          <a:p/>
          <a:p>
            <a:r>
              <a:t>Timing: Before/during/after; optional completion before typing.</a:t>
            </a:r>
          </a:p>
          <a:p/>
          <a:p>
            <a:r>
              <a:t>Control: Escape stops speech; Ctrl+Shift+M toggles global mute.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local CodeMirror 6 editor keeps text, code, JSON and Markdown Source editable in the chat canvas.</a:t>
            </a:r>
          </a:p>
          <a:p/>
          <a:p>
            <a:r>
              <a:t>Open or drop a file, make a change, and use the filename bar: Save, Save as, Undo, Redo, Find/replace and Wrap. Copy and Use as context take the edited source. Ctrl/Cmd+S saves; Ctrl/Cmd+Shift+S chooses a destination. Tab normally navigates; Ctrl+[ and Ctrl+] indent.</a:t>
            </a:r>
          </a:p>
          <a:p/>
          <a:p>
            <a:r>
              <a:t>Markdown Preview is sanitized with the existing Marked/DOMPurify renderer. Source and Preview share one buffer and undo history. HTML and SVG remain text, never an active web page. PDFs remain read-only viewers and export their original bytes; flows and images keep their own routes.</a:t>
            </a:r>
          </a:p>
          <a:p/>
          <a:p>
            <a:r>
              <a:t>The dirty marker survives failed or cancelled saves. Open, Clear and Refresh ask before discarding edits. Unsaved text lives in memory, so save before closing. Automatic sizing reserves 320 CSS pixels for the canvas and wraps controls; manual splits remain the user's choice.</a:t>
            </a:r>
          </a:p>
          <a:p/>
          <a:p>
            <a:r>
              <a:t>One document: Code, configuration and plain text share the same editing authority.</a:t>
            </a:r>
          </a:p>
          <a:p/>
          <a:p>
            <a:r>
              <a:t>Markdown: Editable source and sanitized preview preserve undo history.</a:t>
            </a:r>
          </a:p>
          <a:p/>
          <a:p>
            <a:r>
              <a:t>Controls: Save, Save as, Undo/Redo, Find/replace and Wrap.</a:t>
            </a:r>
          </a:p>
          <a:p/>
          <a:p>
            <a:r>
              <a:t>Layout: A reserved canvas width and an editor that fills its available height.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local native Windows picker makes Downloads optional.</a:t>
            </a:r>
          </a:p>
          <a:p/>
          <a:p>
            <a:r>
              <a:t>Save uses a browser-granted writable handle or an already authorized native destination. Without one, it asks. Save as and the navbar Save open a native Windows Save As dialog on a local connection; subsequent toolbar Save writes there and Refresh reads it. PDF exports stay copies. Remote browsers need their own supported File System Access picker.</a:t>
            </a:r>
          </a:p>
          <a:p/>
          <a:p>
            <a:r>
              <a:t>A complete revision check refuses external changes. Writes stage on the destination volume, flush and recheck before replacement. ReplaceFileW preserves existing Windows security, named streams and creation time; partial failure retains a recoverable original. The protected database backup/restore path is unchanged.</a:t>
            </a:r>
          </a:p>
          <a:p/>
          <a:p>
            <a:r>
              <a:t>Unedited files keep exact bytes. Edited files retain encoding/BOM and existing line endings; new lines use the original first terminator. UTF-8 and BOM-marked UTF-16 are decoded strictly. Malformed/binary data is refused. Text editing and native saving are limited to 64 MiB.</a:t>
            </a:r>
          </a:p>
          <a:p/>
          <a:p>
            <a:r>
              <a:t>Choose: Native Save As to any writable local folder.</a:t>
            </a:r>
          </a:p>
          <a:p/>
          <a:p>
            <a:r>
              <a:t>Authorize: Account/session-bound capability; 12 idle hours, lost on restart.</a:t>
            </a:r>
          </a:p>
          <a:p/>
          <a:p>
            <a:r>
              <a:t>Compare: External disk changes refuse overwrite; Save As keeps a separate copy.</a:t>
            </a:r>
          </a:p>
          <a:p/>
          <a:p>
            <a:r>
              <a:t>Preserve: Encoding, BOM, line endings and existing Windows metadata.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Interactor is a module and a built-in tool, not a workflow agent or a terminal.</a:t>
            </a:r>
          </a:p>
          <a:p/>
          <a:p>
            <a:r>
              <a:t>Enable Multi-Turn, Interactor in Configure MCPs/Tools and Live editor above the canvas. Ask: Help me create a Dockerfile for a Java servlet application using your text editor; teach one step at a time. The English/Spanish editor aliases are taught in prompt.pmt.</a:t>
            </a:r>
          </a:p>
          <a:p/>
          <a:p>
            <a:r>
              <a:t>First read the exact current buffer, selection, document ID and revision. With no requested path, new creates an empty file under Temp/interactor/&lt;account&gt;/&lt;random&gt;/ using the requested filename. Existing files are never overwritten. Tlamatini types a short known segment, then guide hands the next field to the learner and prevents further mutations in that turn.</a:t>
            </a:r>
          </a:p>
          <a:p/>
          <a:p>
            <a:r>
              <a:t>Continue sends a normal new chat request and reads again before reviewing the learner's answer. Another hint and Explain selection also use normal chat without replacing an existing draft. Typing does not save or execute code. The ordinary Use as context snapshot is separate from Interactor's fresh read of unsaved text.</a:t>
            </a:r>
          </a:p>
          <a:p/>
          <a:p>
            <a:r>
              <a:t>Read: Exact unsaved text and selection, never a stale disk substitute.</a:t>
            </a:r>
          </a:p>
          <a:p/>
          <a:p>
            <a:r>
              <a:t>Type: One small visible teaching segment; one undoable edit.</a:t>
            </a:r>
          </a:p>
          <a:p/>
          <a:p>
            <a:r>
              <a:t>Hand over: Explain the learner's next field, then stop tool mutations.</a:t>
            </a:r>
          </a:p>
          <a:p/>
          <a:p>
            <a:r>
              <a:t>Review: Continue starts a fresh read in a new chat turn.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plans the next field once; local matching avoids a model request on every keystroke.</a:t>
            </a:r>
          </a:p>
          <a:p/>
          <a:p>
            <a:r>
              <a:t>Ghost text appears only for a matching prefix among bounded choices prepared for the current field. Tab accepts, Ctrl+Right accepts a word and Escape dismisses. Suggestions are optional; the learner can write an alternative value. This is contextual teaching support, not a claim of unrestricted predictive autocomplete or vendor benchmark latency.</a:t>
            </a:r>
          </a:p>
          <a:p/>
          <a:p>
            <a:r>
              <a:t>User input, selection, Stop, Escape, chat cancellation and disconnect interrupt AI typing. The typed prefix stays editable. A temporarily hidden or occluded tab pauses the same action for up to two extra minutes and resumes at the exact next character when visible. Timeout never replays a partial edit. Switching Markdown to Preview or hiding the canvas returns control.</a:t>
            </a:r>
          </a:p>
          <a:p/>
          <a:p>
            <a:r>
              <a:t>Live tutoring accepts at most 262,144 UTF-16 units and checks document/revision before mutations. A smaller configured tool-result/context budget can refuse the receipt. Oversized content is refused explicitly, never truncated into misleading context.</a:t>
            </a:r>
          </a:p>
          <a:p/>
          <a:p>
            <a:r>
              <a:t>Local matching: Prepared field choices; no model call per key.</a:t>
            </a:r>
          </a:p>
          <a:p/>
          <a:p>
            <a:r>
              <a:t>Optional: Accept a suggestion, take one word, dismiss it or type your own value.</a:t>
            </a:r>
          </a:p>
          <a:p/>
          <a:p>
            <a:r>
              <a:t>User priority: Interruptions preserve the typed prefix and invalidate stale work.</a:t>
            </a:r>
          </a:p>
          <a:p/>
          <a:p>
            <a:r>
              <a:t>Honest latency: New questions still wait on chat/model processing.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any page: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divider above the message box. With her avatar undocked, the box can shrink to its buttons.</a:t>
            </a:r>
          </a:p>
          <a:p/>
          <a:p>
            <a:r>
              <a:t>The divider between the conversation and the message box follows the pointer and the keyboard. The arrow keys move it one step and Shift+arrows five; Home or a double-click shrinks the box to its smallest, End makes it as tall as allowed, and Escape ends a drag. Screen readers hear the box height. The toolbar, context gauge, attachment and dictation rows are measured, so none of them is cut off.</a:t>
            </a:r>
          </a:p>
          <a:p/>
          <a:p>
            <a:r>
              <a:t>Docked, her portrait keeps its room above the action buttons. Undocked, the box can shrink to those buttons plus a six-pixel guard, and docking her again gives the portrait its room back. In a short window the box scrolls inside itself, and on a narrow screen the workspace pans while the page and its dialogs stay in place.</a:t>
            </a:r>
          </a:p>
          <a:p/>
          <a:p>
            <a:r>
              <a:t>Docked, her portrait now follows the divider too: dragging the bar down shrinks it to a 120-pixel square and dragging up gives it back. Shipped in v1.83.0.</a:t>
            </a:r>
          </a:p>
          <a:p/>
          <a:p>
            <a:r>
              <a:t>In v1.85.0, the portrait and its frame stay centered over the complete Mic-to-Send row. Views → Canvas can give the chat the full width; Views → Reset layout restores both panes and docks the portrait while keeping the document, draft and context.</a:t>
            </a:r>
          </a:p>
          <a:p/>
          <a:p>
            <a:r>
              <a:t>Drag or type: Pointer, arrows, Shift+arrows, Home and End move the divider.</a:t>
            </a:r>
          </a:p>
          <a:p/>
          <a:p>
            <a:r>
              <a:t>Undocked: The message box can shrink to its own action buttons.</a:t>
            </a:r>
          </a:p>
          <a:p/>
          <a:p>
            <a:r>
              <a:t>Docked: A centered portrait above Mic through Send, down to a 120-pixel square.</a:t>
            </a:r>
          </a:p>
          <a:p/>
          <a:p>
            <a:r>
              <a:t>Small windows: The box scrolls itself; dialogs stay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Views controls the workspace, Panels opens the flow editors, and Config holds settings.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USAGE follows the shared dialog theme and remains available during a long answer.</a:t>
            </a:r>
          </a:p>
          <a:p/>
          <a:p>
            <a:r>
              <a:t>Open About → Usage, then choose Cloud credits, Chat activity or Models. The first tab reads the configured Ollama account; the other views identify measured main-chat activity for the signed-in Tlamatini user. Recording begins with this feature and does not reconstruct earlier history or include child agents and other applications.</a:t>
            </a:r>
          </a:p>
          <a:p/>
          <a:p>
            <a:r>
              <a:t>The desktop dialog is 80vw by 74dvh, capped at 1440 pixels wide: at most 59.2% of the client area. Narrow screens use 94vw by 63dvh. Text follows normal dialog sizing, buttons have clear borders and the body scrolls between fixed controls. Fractional displays have at most two decimal places. Colored bars offer keyboard-focus and pointer tooltips plus exact tables.</a:t>
            </a:r>
          </a:p>
          <a:p/>
          <a:p>
            <a:r>
              <a:t>Cloud credits: Reported balance, monthly usage, allowance and refill weeks/date.</a:t>
            </a:r>
          </a:p>
          <a:p/>
          <a:p>
            <a:r>
              <a:t>Chat activity: Your measured calls, input/output tokens and daily trends.</a:t>
            </a:r>
          </a:p>
          <a:p/>
          <a:p>
            <a:r>
              <a:t>Models: Recorded model activity and peak UTC dates; server inventory alongside it.</a:t>
            </a:r>
          </a:p>
          <a:p/>
          <a:p>
            <a:r>
              <a:t>While busy: Open and refresh without interrupting the model request.</a:t>
            </a:r>
          </a:p>
          <a:p/>
          <a:p>
            <a:r>
              <a:t>Normal size: Under 60% client area; ordinary typography and clear buttons.</a:t>
            </a:r>
          </a:p>
          <a:p/>
          <a:p>
            <a:r>
              <a:t>Accessible: Keyboard tabs, chart tooltips, focus trap and normal Escape/Close behavior.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Monthly credits, rolling cloud usage and recorded local activity answer different questions.</a:t>
            </a:r>
          </a:p>
          <a:p/>
          <a:p>
            <a:r>
              <a:t>The authoritative /api/balance response supplies included allowance and remaining balance, purchased credits and the UTC refill period. Used credits equal allowance minus included balance; total available adds purchased credits only when both values are reported. Plan names never supply an assumed allowance. Refill weeks/date come from the returned period, not an assumed 30-day cycle.</a:t>
            </a:r>
          </a:p>
          <a:p/>
          <a:p>
            <a:r>
              <a:t>Cloud /api/usage supplies rolling 7/30-day history, including today's partial UTC day. That spend is not monthly credits used. Cached input is already part of input. The local ledger's 7/30 calendar dates include today and have a narrower measurement scope.</a:t>
            </a:r>
          </a:p>
          <a:p/>
          <a:p>
            <a:r>
              <a:t>Ollama's documented API does not yet expose the website's full per-model history or individual purchased-credit expiries. The dialog links to Ollama Usage for website-only details. Missing fields are explained, never replaced with invented values. Balances follow the configured server account, which can differ from the user's website login.</a:t>
            </a:r>
          </a:p>
          <a:p/>
          <a:p>
            <a:r>
              <a:t>Monthly balance: Actual included and purchased credits from /api/balance.</a:t>
            </a:r>
          </a:p>
          <a:p/>
          <a:p>
            <a:r>
              <a:t>Rolling history: 7/30-day cloud spend and tokens; separate from the billing period.</a:t>
            </a:r>
          </a:p>
          <a:p/>
          <a:p>
            <a:r>
              <a:t>Local model graphs: Measured Tlamatini main-chat activity, not website-wide history.</a:t>
            </a:r>
          </a:p>
          <a:p/>
          <a:p>
            <a:r>
              <a:t>Refresh: Healthy data is cached 60 s; a brief outage is retried after 15 s.</a:t>
            </a:r>
          </a:p>
          <a:p/>
          <a:p>
            <a:r>
              <a:t>Missing data: Explain unavailable or stale values; no guessed balance or token count.</a:t>
            </a:r>
          </a:p>
          <a:p/>
          <a:p>
            <a:r>
              <a:t>References: docs.ollama.com/api/balance and /api/cloud-usage; docs/usage-dashboard.md.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shape selects the layout; a plan label is not a credit entitlement.</a:t>
            </a:r>
          </a:p>
          <a:p/>
          <a:p>
            <a:r>
              <a:t>Free, Pro and Max accounts with monthly balance fields use credit cards. Legacy session and weekly responses use reported remaining percentages and reset times; unsupported cost and token fields are omitted. Purchased-only responses display only the supplied balance. A zero monthly allowance does not produce an invented percentage.</a:t>
            </a:r>
          </a:p>
          <a:p/>
          <a:p>
            <a:r>
              <a:t>As checked on October 10, 2026, Ollama lists Free, Pro, Max, Team and Enterprise, with no cloud plan named Unlimited. Unlimited local execution is a different claim. Team balances are shared, while this adapter requests default member usage, not administrator team scope. Commercial terms remain at ollama.com/pricing; they are not hardcoded into the dialog.</a:t>
            </a:r>
          </a:p>
          <a:p/>
          <a:p>
            <a:r>
              <a:t>Monthly: Returned allowance, balance, purchased credits and reset period.</a:t>
            </a:r>
          </a:p>
          <a:p/>
          <a:p>
            <a:r>
              <a:t>Legacy: Remaining session/weekly percentages; no guessed dollar conversion.</a:t>
            </a:r>
          </a:p>
          <a:p/>
          <a:p>
            <a:r>
              <a:t>Purchased only: Only the reported purchased balance; no invented included quota.</a:t>
            </a:r>
          </a:p>
          <a:p/>
          <a:p>
            <a:r>
              <a:t>Free or zero: Report actual data and omit percentages when allowance is zero.</a:t>
            </a:r>
          </a:p>
          <a:p/>
          <a:p>
            <a:r>
              <a:t>Team: Shared credit balance is distinct from member-scoped usage.</a:t>
            </a:r>
          </a:p>
          <a:p/>
          <a:p>
            <a:r>
              <a:t>Unlimited label: Never interpreted as unlimited cloud credits.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86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86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eight executable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shipped file associations open .flw agent flows and .fpmt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Installer and Uninstaller share one window that prepares a recovery copy before changing anything.</a:t>
            </a:r>
          </a:p>
          <a:p/>
          <a:p>
            <a:r>
              <a:t>Both executables use one setup window: Tlamatini's palette, keyboard controls, a destination and review page, real progress and result details that stay on screen. The action row is its own window row, so buttons are never clipped, and large fonts or long paths scroll the body. Errors stay in the window with Retry and Change folder, and every run writes a private log under %LOCALAPPDATA%\Tlamatini\SetupLogs.</a:t>
            </a:r>
          </a:p>
          <a:p/>
          <a:p>
            <a:r>
              <a:t>Before installation or removal changes a file, a recovery copy is prepared and verified; its journal lives in the installation's Temp folder, and the next run restores an interrupted transaction first. A failed restoration is reported, never presented as a rollback. A locked file gets a five-second retry and is then named with the program holding it, which is never closed for you. Only Tlamatini's own registry values and Desktop shortcut are snapshotted.</a:t>
            </a:r>
          </a:p>
          <a:p/>
          <a:p>
            <a:r>
              <a:t>These are custom EXE recovery mechanics, not MSI transactions. In the visible October 11-12 campaign 52 interface checkpoints, 28 recovery checks, 21 lifecycle checks and 61 mechanics tests passed; five real installations and four real removals passed their independent audits. The fifth removal stopped safely before deleting anything, because a test browser held a file in the installation's Temp folder.</a:t>
            </a:r>
          </a:p>
          <a:p/>
          <a:p>
            <a:r>
              <a:t>One window: Shared Installer and Uninstaller screens that never clip their buttons.</a:t>
            </a:r>
          </a:p>
          <a:p/>
          <a:p>
            <a:r>
              <a:t>Recovery copy: Prepared and verified before any file changes; restored after an interruption.</a:t>
            </a:r>
          </a:p>
          <a:p/>
          <a:p>
            <a:r>
              <a:t>Named locks: A locked file and its holder are named; nothing is force-closed.</a:t>
            </a:r>
          </a:p>
          <a:p/>
          <a:p>
            <a:r>
              <a:t>Own scope: Only Tlamatini's registry values and shortcut; never UserChoice.</a:t>
            </a:r>
          </a:p>
          <a:p/>
          <a:p>
            <a:r>
              <a:t>Bounded helpers: PowerShell helpers end within 120 seconds inside a Windows job.</a:t>
            </a:r>
          </a:p>
          <a:p/>
          <a:p>
            <a:r>
              <a:t>Honest tally: Five installations and four removals passed; one stopped safely.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or drop a .md file and the canvas renders it; Source opens the editable document.</a:t>
            </a:r>
          </a:p>
          <a:p/>
          <a:p>
            <a:r>
              <a:t>Open, Refresh, a dropped file, a generated-file link and Context ▸ Set file as context all recognise .md and .markdown. Preview renders CommonMark and GitHub-flavored Markdown: headings, tables, task lists, fenced code through the existing highlighter and safe embedded HTML such as expandable details. Source edits the current text with line numbers.</a:t>
            </a:r>
          </a:p>
          <a:p/>
          <a:p>
            <a:r>
              <a:t>Rendering is local: Marked 18.1.0 and DOMPurify 3.4.16 are vendored with pinned integrity, so nothing is fetched from a CDN. The sanitizer allowlists HTML and attributes, scopes ids and restricts resource protocols. Choose folder resolves relative images and links from files you select; they stay on your device, and a relative URL never reaches an application endpoint.</a:t>
            </a:r>
          </a:p>
          <a:p/>
          <a:p>
            <a:r>
              <a:t>Copy, Use as context and Save always take the Markdown source, never the flattened preview; Unedited saves retain original bytes; edits retain encoding/BOM and line endings. Preview shipped in v1.82.0 and was checked on October 11 with 30 of 30 visible browser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listener on every page reads each dropped file and sends it to the mechanism that fits it.</a:t>
            </a:r>
          </a:p>
          <a:p/>
          <a:p>
            <a:r>
              <a:t>Drag a file from Windows Explorer onto the chat, the Agentic Control Panel, the Prompt Flow Panel, the welcome and login pages, the admin pages or the PDF viewer. A small overlay says what will happen on that page. The listener claims only file drags, so text you drag, such as an agent name or a palette item, is never touched, and a drop on a file input is left to the browser.</a:t>
            </a:r>
          </a:p>
          <a:p/>
          <a:p>
            <a:r>
              <a:t>It decides by the bytes, not the name: the extension, the MIME type, magic numbers, a byte-order-mark aware text-or-binary test and a real JSON parse that recognises an MCP configuration in every common shape, UTF-16 files from PowerShell included. A bare map of names to servers counts only when every value is a server, so ordinary JSON is never hijacked. An MCP import is never silent: a confirmation lists the servers and warns that they can start programs on this computer.</a:t>
            </a:r>
          </a:p>
          <a:p/>
          <a:p>
            <a:r>
              <a:t>Each page tells the listener what it can do, and the same registration writes the drag overlay. Up to 25 files at a time; a folder cannot be dropped because browsers do not reveal its path. Shipped in v1.83.0 and checked on October 14 with 138 router checks, 22 new tests and 58 visible browser checks.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both panels, login, welcome, Usage, the PDF viewer and the admin pages share one identity.</a:t>
            </a:r>
          </a:p>
          <a:p/>
          <a:p>
            <a:r>
              <a:t>One set of design tokens defines the slate surfaces, teal accent, readable text, borders, fonts and scrollbars for every first-party page, including a themed Django admin that keeps its light, dark and automatic modes. Dialog colors follow the same tokens, and the dialog theme always loads last.</a:t>
            </a:r>
          </a:p>
          <a:p/>
          <a:p>
            <a:r>
              <a:t>All five pane dividers share one grip and one gesture model: pointer capture, arrows for one percent, Shift for five, Home and End, and clean cancellation on Escape, blur or a lost pointer. Resizable dialogs accept all eight edges and corners and the keyboard, and a modal can no longer slide under the expanded menu at 400 percent zoom.</a:t>
            </a:r>
          </a:p>
          <a:p/>
          <a:p>
            <a:r>
              <a:t>Shared tokens: One palette, font set and scrollbar style for every page.</a:t>
            </a:r>
          </a:p>
          <a:p/>
          <a:p>
            <a:r>
              <a:t>Five dividers: One grip, one keyboard model, one clean cancel.</a:t>
            </a:r>
          </a:p>
          <a:p/>
          <a:p>
            <a:r>
              <a:t>Dialogs: Eight resize directions, keyboard resizing, buttons that match.</a:t>
            </a:r>
          </a:p>
          <a:p/>
          <a:p>
            <a:r>
              <a:t>High zoom: A modal stays above the menu at 400 percent.</a:t>
            </a:r>
          </a:p>
          <a:p/>
          <a:p>
            <a:r>
              <a:t>Evidence: 175 source tests and visible checks passed on October 11.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86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Terminater: Types commands into a real CMD or PowerShell terminal the user watches, and can hand the keyboard over.</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Terminater: Types commands into a real CMD or PowerShell terminal the user watches, and can hand the keyboard over.</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A comma-separated list reads several images.</a:t>
            </a:r>
          </a:p>
          <a:p/>
          <a:p>
            <a:r>
              <a:t>Video-Analyzer · robotics: A deterministic motion gate plus two vision models; PASS only when both agree.</a:t>
            </a:r>
          </a:p>
          <a:p/>
          <a:p>
            <a:r>
              <a:t>Video-Analyzer · transcription: Timestamped speech from chosen audio tracks or a web link, locally.</a:t>
            </a:r>
          </a:p>
          <a:p/>
          <a:p>
            <a:r>
              <a:t>Video-Analyzer · summary: Speech plus sampled visual evidence: scenes, text, facts, decisions and limits; a web link is downloaded first.</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account wizard launches createsuperuser through Executer and waits for input in its console.</a:t>
            </a:r>
          </a:p>
          <a:p/>
          <a:p>
            <a:r>
              <a:t>The installed log showed two independent false positives. 'I will type it' referred to a password but reserved all commands for the user. A completion phrase plus the optional email field falsely created notification debt. These runtime guards overrode an initially correct Executer selection and diverted the wizard.</a:t>
            </a:r>
          </a:p>
          <a:p/>
          <a:p>
            <a:r>
              <a:t>Typing/entering ownership now requires a command object; ambiguous input is neutral. An explicit assistant launch of a named program lifts a prior lesson. Genuine user-runs tutorials still refuse command runners and keep Terminater's Enter disabled.</a:t>
            </a:r>
          </a:p>
          <a:p/>
          <a:p>
            <a:r>
              <a:t>A completion notification requires a positive outbound instruction tied to completion in the same sentence. Email fields, ordinary chat explanations, quoted examples, negations and the user's DONE reply do not authorize sending. Passwords stay out of chat. The catalog wizard creates an administrative superuser, not a restricted ordinary account.</a:t>
            </a:r>
          </a:p>
          <a:p/>
          <a:p>
            <a:r>
              <a:t>Launch: Executer opens the interactive source or frozen command in a visible console.</a:t>
            </a:r>
          </a:p>
          <a:p/>
          <a:p>
            <a:r>
              <a:t>Input: Username, optional email and password belong to the user's console interaction.</a:t>
            </a:r>
          </a:p>
          <a:p/>
          <a:p>
            <a:r>
              <a:t>Wait: DONE / ERROR / NOWINDOW drive the next step; no automatic success claim.</a:t>
            </a:r>
          </a:p>
          <a:p/>
          <a:p>
            <a:r>
              <a:t>Notify: Only an explicit outbound request creates completion-notification debt.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18 dependency audit covers all 85 agents, build helpers, optional imports and tests.</a:t>
            </a:r>
          </a:p>
          <a:p/>
          <a:p>
            <a:r>
              <a:t>The refreshed static guard scanned 855 Python files and 72 directly referenced distributions. The complete requirements file pins all 263 distributions, including CPU PyTorch. A clean Python installation, dependency consistency check and runtime imports passed.</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18: no missing declarations, syntax errors or unreviewed dynamic imports.</a:t>
            </a:r>
          </a:p>
          <a:p/>
          <a:p>
            <a:r>
              <a:t>Earlier evidence: September 27: main/ESPHome dry runs and temporary-environment dependency smoke checks passed.</a:t>
            </a:r>
          </a:p>
          <a:p/>
          <a:p>
            <a:r>
              <a:t>Limits: A clean Python dependency installation does not certify the compiled installer or every external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1.91.0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Current Release. Source release v1.91.0; package delivery and runtime acceptance need separate evidence.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tag a771d27c, dated October 23, 2026; publication and installed acceptance are separate.</a:t>
            </a:r>
          </a:p>
          <a:p/>
          <a:p>
            <a:r>
              <a:t>The Live Editor, Terminater and Voice tabs share one schema, authenticated account storage and optimistic revisions. Migration 0220 adds InteractionSettings. Account behavior reaches the actual editor and the one TerminalHub; browser/account appearance stays local.</a:t>
            </a:r>
          </a:p>
          <a:p/>
          <a:p>
            <a:r>
              <a:t>October 23 source evidence: 17 visible browser checks passed, including genuine OS speech finishing before the first terminal key. The implementation regression run passed 929 of 931 tests; two existing README documentation assertions failed. This documentation sweep restores those sections; its 94 focused tests passed, including both README assertions.</a:t>
            </a:r>
          </a:p>
          <a:p/>
          <a:p>
            <a:r>
              <a:t>No v1.91.0 GitHub release was found during this sweep. These regenerated documents do not claim a new executable build or installed acceptance. The existing tag is preserved.</a:t>
            </a:r>
          </a:p>
          <a:p/>
          <a:p>
            <a:r>
              <a:t>Dialog: Pacing, teaching, terminal behavior, narration, appearance and draft previews.</a:t>
            </a:r>
          </a:p>
          <a:p/>
          <a:p>
            <a:r>
              <a:t>Runtime: Real settings snapshots, revision checks and cancellable narration receipts.</a:t>
            </a:r>
          </a:p>
          <a:p/>
          <a:p>
            <a:r>
              <a:t>Compatibility: Legacy explicit flows keep their values; new flows can inherit defaults.</a:t>
            </a:r>
          </a:p>
          <a:p/>
          <a:p>
            <a:r>
              <a:t>Inventory: 86 agents; 110 tools; 220 migrations; 64 JS modules; 29 stylesheets.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v1.89.0 introduced editing and native saving; v1.90.0 carries Interactor and the intent corrections.</a:t>
            </a:r>
          </a:p>
          <a:p/>
          <a:p>
            <a:r>
              <a:t>The annotated v1.90.0 tag resolves to ebc5c3b4; this documentation refresh began at d274f89c, the follow-up commit also present on origin/main. A tag and source tests do not establish that a separately installed executable has been rebuilt or accepted.</a:t>
            </a:r>
          </a:p>
          <a:p/>
          <a:p>
            <a:r>
              <a:t>Interactor adds one module tool, not a workflow-agent template. Migration 0218 seeds its Tool row and catalog example. Full enabled-tool binding, Compact-mode selection and cost labels share tool_gate_table. The offline editor bundle includes the tutoring extension.</a:t>
            </a:r>
          </a:p>
          <a:p/>
          <a:p>
            <a:r>
              <a:t>Editing: Native Save As, exact source, undo history and conflict-aware persistence.</a:t>
            </a:r>
          </a:p>
          <a:p/>
          <a:p>
            <a:r>
              <a:t>Tutoring: Fresh unsaved reads, small typing segments, learner fields and local suggestions.</a:t>
            </a:r>
          </a:p>
          <a:p/>
          <a:p>
            <a:r>
              <a:t>Recovery: Bounded tab-visibility pauses and usable narrow-canvas layout.</a:t>
            </a:r>
          </a:p>
          <a:p/>
          <a:p>
            <a:r>
              <a:t>Inventory: 86 agents; 67 wrapped; 110 built-in tools; 220 migrations. Counts describe the inspected source.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recorded runs from October 21–22, not tests silently rerun by documentation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v1.88.0 introduced Terminater; its tag was created on October 20.</a:t>
            </a:r>
          </a:p>
          <a:p/>
          <a:p>
            <a:r>
              <a:t>Terminater is workflow agent number 86. It raises real CMD and PowerShell terminals in a new Terminals area (Views → Terminals, or Ctrl+`) on the chat, Agentic Control Panel and Prompt Flow Panel pages. Tlamatini types every key like a person, about 50 words per minute and never pasted, waits for the command, reads its whole output and reports the exit code. Esc takes the keyboard; a command can hand it to you on purpose with &lt;&lt;USER:hint&gt;&gt;.</a:t>
            </a:r>
          </a:p>
          <a:p/>
          <a:p>
            <a:r>
              <a:t>A command that stops answering is flagged hung and can be aborted without losing the terminal; one that exits with an error is a red Exec Report row even though the terminal worked. One hub in the Django process owns the shells, so closing a page never closes one. It is wrapped chat agent number 67, the eighth Prompt Flow Panel operation, and has three safe cards in the Catalog of Prompts.</a:t>
            </a:r>
          </a:p>
          <a:p/>
          <a:p>
            <a:r>
              <a:t>The build now proves it inside the frozen app: check_terminater drives a real PowerShell, a real cmd.exe, the shipped pool agent under the carried Python and a WebSocket round trip, and packaging stops if it fails. On October 19, 774 unit tests passed, and 1,668 passed after the documentation pass. The saved chat-page and canvas visible suites were not re-run as one clean pass after their last fixes.</a:t>
            </a:r>
          </a:p>
          <a:p/>
          <a:p>
            <a:r>
              <a:t>The v1.88.0 tag was created on October 20 and points to the commit before this work; the work landed on main in the next commit, so a build of main then reported 1.88.0 and carried all of it.</a:t>
            </a:r>
          </a:p>
          <a:p/>
          <a:p>
            <a:r>
              <a:t>The private (keyed) release now carries the data of the machine that builds it: every External MCP server of the installed copy and its active choice, merged into a gitignored private catalog, and the whole data.keys vault. The public builder refuses both. An in-app update does not keep data.keys.</a:t>
            </a:r>
          </a:p>
          <a:p/>
          <a:p>
            <a:r>
              <a:t>Terminals: Real CMD and PowerShell you can watch, typed like a person, with a hand-over.</a:t>
            </a:r>
          </a:p>
          <a:p/>
          <a:p>
            <a:r>
              <a:t>Current counts: 86 agents · 67 wrapped · 110 tools · 220 migrations.</a:t>
            </a:r>
          </a:p>
          <a:p/>
          <a:p>
            <a:r>
              <a:t>Gate: check_terminater runs inside the frozen app; packaging stops on failure.</a:t>
            </a:r>
          </a:p>
          <a:p/>
          <a:p>
            <a:r>
              <a:t>Private release: External MCP servers and data.keys travel in the keyed build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18: the catalog shrank to 85 agents, and removal became fast and recoverable.</a:t>
            </a:r>
          </a:p>
          <a:p/>
          <a:p>
            <a:r>
              <a:t>That release held 85 workflow agents: Gatewayer, Gateway-Relayer, Node-Manager and Zavuerer were removed. Migration 0214 deletes their rows and catalog prompts without renumbering anything that remains.</a:t>
            </a:r>
          </a:p>
          <a:p/>
          <a:p>
            <a:r>
              <a:t>The Uninstaller moves the installation aside on the same drive instead of copying it, and offers Retry cleanup when a locked file stays behind. The frozen release no longer carries the media and browser libraries twice. About → Usage waits for real data, and every tracked Python file has a quality gate.</a:t>
            </a:r>
          </a:p>
          <a:p/>
          <a:p>
            <a:r>
              <a:t>The v1.87.0 tag was created one minute before the work it names. Both follow-up commits landed on main right after it, so a build of main then reported 1.87.0 and carried all of it.</a:t>
            </a:r>
          </a:p>
          <a:p/>
          <a:p>
            <a:r>
              <a:t>85 agents: Four retired agents removed in a forward migration.</a:t>
            </a:r>
          </a:p>
          <a:p/>
          <a:p>
            <a:r>
              <a:t>Removal: Move aside, verify, Retry cleanup for locked leftovers.</a:t>
            </a:r>
          </a:p>
          <a:p/>
          <a:p>
            <a:r>
              <a:t>Release size: Media and browser libraries ship once, in the carried Python.</a:t>
            </a:r>
          </a:p>
          <a:p/>
          <a:p>
            <a:r>
              <a:t>Quality: npm run lint:python checks every tracked Python file.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Uninstaller moves entries into a recovery folder instead of copying and hashing them.</a:t>
            </a:r>
          </a:p>
          <a:p/>
          <a:p>
            <a:r>
              <a:t>Each move is recorded in a schema 2 journal before and after it happens. A destination collision is refused, and the journal stays until cleanup succeeds. If a reversible step fails, the entries and the Windows state are put back.</a:t>
            </a:r>
          </a:p>
          <a:p/>
          <a:p>
            <a:r>
              <a:t>If the application is removed but a locked file remains, the window says Application removed; cleanup incomplete, lists what remains and offers Retry cleanup. Reopening the Uninstaller can finish the job later. agents/ and the six content folders that hold files are kept.</a:t>
            </a:r>
          </a:p>
          <a:p/>
          <a:p>
            <a:r>
              <a:t>A filesystem benchmark removed 64,264 package files (3.88 GB) in 22.3 seconds with all 254 preserved hashes unchanged. It measures the filesystem phase; a compiled-client run remains the acceptance test.</a:t>
            </a:r>
          </a:p>
          <a:p/>
          <a:p>
            <a:r>
              <a:t>Journal: Every move recorded before and after.</a:t>
            </a:r>
          </a:p>
          <a:p/>
          <a:p>
            <a:r>
              <a:t>Retry: Locked leftovers can be finished later.</a:t>
            </a:r>
          </a:p>
          <a:p/>
          <a:p>
            <a:r>
              <a:t>Kept: agents/ and the content folders that hold files.</a:t>
            </a:r>
          </a:p>
          <a:p/>
          <a:p>
            <a:r>
              <a:t>Benchmark: 64,264 files in 22.3 s, October 18.</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frozen web process stops carrying libraries that only the pool agents use.</a:t>
            </a:r>
          </a:p>
          <a:p/>
          <a:p>
            <a:r>
              <a:t>cv2, ffpyplayer, av, playwright, faster_whisper, ctranslate2 and onnxruntime run under the carried Python, so build.py keeps them out of the frozen interpreter. Chromium and FFmpeg revisions come from the carried Playwright manifest.</a:t>
            </a:r>
          </a:p>
          <a:p/>
          <a:p>
            <a:r>
              <a:t>Only bytecode caches whose source sits beside them are removed, Git's copied uninstaller files are dropped and the package is written with DEFLATE level 9. A release-payload test pins who owns each library.</a:t>
            </a:r>
          </a:p>
          <a:p/>
          <a:p>
            <a:r>
              <a:t>About → Usage shows Checking usage… until real report data arrives, explains a failed connection under Connection details and retries by itself. Its account request is a bodyless POST /api/me: a {} body made the local server reset the connection.</a:t>
            </a:r>
          </a:p>
          <a:p/>
          <a:p>
            <a:r>
              <a:t>Ownership: Pool-only libraries live in the carried Python.</a:t>
            </a:r>
          </a:p>
          <a:p/>
          <a:p>
            <a:r>
              <a:t>Package: Bytecode, uninstaller copies and compression tuned.</a:t>
            </a:r>
          </a:p>
          <a:p/>
          <a:p>
            <a:r>
              <a:t>Usage: Checking usage… until real data arrives.</a:t>
            </a:r>
          </a:p>
          <a:p/>
          <a:p>
            <a:r>
              <a:t>Account: A bodyless POST /api/me.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source-wide sweep re-derived every count and fixed what it found.</a:t>
            </a:r>
          </a:p>
          <a:p/>
          <a:p>
            <a:r>
              <a:t>Grepper's glob and Globber's pattern now understand brace sets such as *.{js,py}, lists such as *.py,*.js and folder globs such as src/**/*.py. Before, each searched zero files and answered no_matches. Globber walks the tree once for several patterns: three minutes became ten seconds.</a:t>
            </a:r>
          </a:p>
          <a:p/>
          <a:p>
            <a:r>
              <a:t>Six wrapped tools whose label names an action (Send Email, Move File, Summarize Text and the three Kyber tools) now obey their agent's Configure Agents checkbox. A loaded flow keeps FlowCreator's label, and the Python quality gate runs in Windows Terminal.</a:t>
            </a:r>
          </a:p>
          <a:p/>
          <a:p>
            <a:r>
              <a:t>The daily chat test reads this repository again instead of an old copy, and its question banks cover all 85 agents and all 66 wrapped tools. Configure Agents and Configure MCPs now open with the boxes the server saved, so a quick Continue can no longer switch most agents off.</a:t>
            </a:r>
          </a:p>
          <a:p/>
          <a:p>
            <a:r>
              <a:t>Patterns: Brace sets, lists and folder globs in Grepper and Globber.</a:t>
            </a:r>
          </a:p>
          <a:p/>
          <a:p>
            <a:r>
              <a:t>Gates: Six wrapped tools follow their agent's checkbox; Configure opens with the saved ticks.</a:t>
            </a:r>
          </a:p>
          <a:p/>
          <a:p>
            <a:r>
              <a:t>Harness: The daily chat test reads this repository.</a:t>
            </a:r>
          </a:p>
          <a:p/>
          <a:p>
            <a:r>
              <a:t>Quality gate: Runs in Windows Terminal, the Windows 11 default.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17: a missing destination becomes a folder, and the atlas rebuilds itself.</a:t>
            </a:r>
          </a:p>
          <a:p/>
          <a:p>
            <a:r>
              <a:t>Mover creates a destination that does not exist yet, such as scripts/architecture_atlas, as a folder, and the file keeps its own name. A rename still happens when the destination names a file: it exists as a file, has an extension, or the source has none either. A trailing slash always means a folder.</a:t>
            </a:r>
          </a:p>
          <a:p/>
          <a:p>
            <a:r>
              <a:t>python scripts/architecture_atlas/build_architecture_pdf.py regenerates Tlamatini-Architecture.pdf with Tlamatini's own LaTeXer and verifies that every tracked file appears in it. Exit codes 0, 1, 2 and 3 mean ok, typeset failed, a file left unplaced and a file missing.</a:t>
            </a:r>
          </a:p>
          <a:p/>
          <a:p>
            <a:r>
              <a:t>Mover: A new destination name becomes a folder.</a:t>
            </a:r>
          </a:p>
          <a:p/>
          <a:p>
            <a:r>
              <a:t>Rename: Only when the destination names a file.</a:t>
            </a:r>
          </a:p>
          <a:p/>
          <a:p>
            <a:r>
              <a:t>Atlas: Rebuilt by LaTeXer from the repository.</a:t>
            </a:r>
          </a:p>
          <a:p/>
          <a:p>
            <a:r>
              <a:t>Proof: Every tracked file appears in the atlas.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16, with a more flexible chat workspace.</a:t>
            </a:r>
          </a:p>
          <a:p/>
          <a:p>
            <a:r>
              <a:t>Refresh rereads the open document. Views makes room for full-width chat while keeping the canvas alive. Reset restores the layout without clearing content. The portrait and its frame remain centered over Mic through Send as the message box shrinks.</a:t>
            </a:r>
          </a:p>
          <a:p/>
          <a:p>
            <a:r>
              <a:t>The release retains the page-wide file-drop router, setup recovery, Markdown rendering, Usage dashboard, Model Brain, Compact mode, voice dictation and both flow editors.</a:t>
            </a:r>
          </a:p>
          <a:p/>
          <a:p>
            <a:r>
              <a:t>Refresh: The original document, read again without a chooser.</a:t>
            </a:r>
          </a:p>
          <a:p/>
          <a:p>
            <a:r>
              <a:t>Views: Show or hide the canvas and keep its state.</a:t>
            </a:r>
          </a:p>
          <a:p/>
          <a:p>
            <a:r>
              <a:t>Reset layout: Restore both panes and dock the avatar.</a:t>
            </a:r>
          </a:p>
          <a:p/>
          <a:p>
            <a:r>
              <a:t>Portrait: Center the whole frame above the complete action row.</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selects a file. Refresh reads that same source again, without writing to it.</a:t>
            </a:r>
          </a:p>
          <a:p/>
          <a:p>
            <a:r>
              <a:t>Native-picker access retains a browser-granted handle. Drops retain their handle or entry during the original event, including the PDF-frame relay. A snapshot-only source explains why Refresh is unavailable. A generated document rereads its authenticated saved-content endpoint.</a:t>
            </a:r>
          </a:p>
          <a:p/>
          <a:p>
            <a:r>
              <a:t>Text and Markdown are compared in full, including empty files. Equal size or timestamp is never proof of equal content. An unchanged document stays in place without rebuilding context. Changed content replaces the complete document only when preparation succeeds.</a:t>
            </a:r>
          </a:p>
          <a:p/>
          <a:p>
            <a:r>
              <a:t>Busy, unchanged, updated, permission and error states have visible feedback. Cancel, Clear, opening another document and a new operation invalidate pending reads. Failure preserves the previous document and explains the next action.</a:t>
            </a:r>
          </a:p>
          <a:p/>
          <a:p>
            <a:r>
              <a:t>Open: Choose a document and retain read access.</a:t>
            </a:r>
          </a:p>
          <a:p/>
          <a:p>
            <a:r>
              <a:t>Refresh: Reread the retained source without another picker.</a:t>
            </a:r>
          </a:p>
          <a:p/>
          <a:p>
            <a:r>
              <a:t>Failure: Keep the previous content and allow retry.</a:t>
            </a:r>
          </a:p>
          <a:p/>
          <a:p>
            <a:r>
              <a:t>Context: Prepare changed content before replacing active context.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Refreshing Markdown or PDF preserves the view while the underlying document changes.</a:t>
            </a:r>
          </a:p>
          <a:p/>
          <a:p>
            <a:r>
              <a:t>Markdown retains Preview or Source, reading position and explicitly selected resources. Its source bytes remain the basis for Save. Folder-selected resource files remain snapshots and can be selected again when those separate files change.</a:t>
            </a:r>
          </a:p>
          <a:p/>
          <a:p>
            <a:r>
              <a:t>PDF Refresh stages a new range-backed PDF.js viewer before retiring the old one. It keeps page, zoom, rotation and scroll mode, clamping the page to a shorter document. A corrupt PDF or cancelled password entry leaves the prior viewer visible. The staged iframe stays attached during the swap so the browser does not reload it.</a:t>
            </a:r>
          </a:p>
          <a:p/>
          <a:p>
            <a:r>
              <a:t>PDFs always reload on Refresh. No whole-file hash, eager whole-document read or metadata-only equality claim is introduced. Active-context replacement keeps the established text/image options.</a:t>
            </a:r>
          </a:p>
          <a:p/>
          <a:p>
            <a:r>
              <a:t>Markdown: Preview/Source, position and selected resources stay.</a:t>
            </a:r>
          </a:p>
          <a:p/>
          <a:p>
            <a:r>
              <a:t>PDF: Page, zoom, rotation and scroll mode stay.</a:t>
            </a:r>
          </a:p>
          <a:p/>
          <a:p>
            <a:r>
              <a:t>Recovery: A failed replacement retains the previous viewer.</a:t>
            </a:r>
          </a:p>
          <a:p/>
          <a:p>
            <a:r>
              <a:t>Evidence: 20 visible Chrome checks on October 15.</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Views → Canvas shows or hides the canvas without unloading it.</a:t>
            </a:r>
          </a:p>
          <a:p/>
          <a:p>
            <a:r>
              <a:t>Hiding the canvas gives the chat the full width. The document, PDF viewer, Markdown mode, Refresh source, draft, history and loaded context remain intact. Open, a supported document drop and a generated-file link reveal the canvas when their result needs it.</a:t>
            </a:r>
          </a:p>
          <a:p/>
          <a:p>
            <a:r>
              <a:t>The choice is stored per account in that browser and synchronized across its tabs. It survives reload and browser restart. A different browser profile or origin has separate preferences.</a:t>
            </a:r>
          </a:p>
          <a:p/>
          <a:p>
            <a:r>
              <a:t>Changing visibility cancels divider gestures. Focus moves to the Views menu only when its current region disappears, and the check mark exposes its state to assistive technology.</a:t>
            </a:r>
          </a:p>
          <a:p/>
          <a:p>
            <a:r>
              <a:t>Full width: Hide the canvas to give the chat more room.</a:t>
            </a:r>
          </a:p>
          <a:p/>
          <a:p>
            <a:r>
              <a:t>Continuity: Keep the open document and active context.</a:t>
            </a:r>
          </a:p>
          <a:p/>
          <a:p>
            <a:r>
              <a:t>Preference: Saved per account and browser origin.</a:t>
            </a:r>
          </a:p>
          <a:p/>
          <a:p>
            <a:r>
              <a:t>Navigation: Opening a document reveals its canvas.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portrait and its frame share the center of the entire Mic-to-Send action row.</a:t>
            </a:r>
          </a:p>
          <a:p/>
          <a:p>
            <a:r>
              <a:t>Previously, reducing the composer height shrank the portrait but left it anchored to the right edge. The layout now measures from Mic's left edge to Send's right edge and centers the whole dock above that span. Both dividers, narrow layouts and zoom follow the same measurement.</a:t>
            </a:r>
          </a:p>
          <a:p/>
          <a:p>
            <a:r>
              <a:t>The portrait remains square with a 120-pixel minimum. Its floating size remains independent. Hiding the canvas docks the portrait and disables floating resize through pointer, keyboard and API paths. Showing the canvas enables resizing again and leaves the portrait docked.</a:t>
            </a:r>
          </a:p>
          <a:p/>
          <a:p>
            <a:r>
              <a:t>Views → Reset layout shows both panes, restores their initial sizes and docks the avatar. It does not clear the document, draft, history or context.</a:t>
            </a:r>
          </a:p>
          <a:p/>
          <a:p>
            <a:r>
              <a:t>Alignment: Mic's left edge through Send's right edge.</a:t>
            </a:r>
          </a:p>
          <a:p/>
          <a:p>
            <a:r>
              <a:t>Sizing: A square portrait, never below 120 pixels.</a:t>
            </a:r>
          </a:p>
          <a:p/>
          <a:p>
            <a:r>
              <a:t>Reset: Restore layout while keeping content.</a:t>
            </a:r>
          </a:p>
          <a:p/>
          <a:p>
            <a:r>
              <a:t>Evidence: 19 visible checks; center error below 0.02 CSS px, October 16.</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runtime and self-modify inventories cover the Views template and scripts.</a:t>
            </a:r>
          </a:p>
          <a:p/>
          <a:p>
            <a:r>
              <a:t>The runtime receipt requires agent_page.html plus agent_page_layout.js, avatar_size.js, agent_page_canvas.js and agent_page_init.js. The snapshot also requires the two visible Views harnesses and the identity instructions. Refresh retains the existing PDF and Markdown carriers.</a:t>
            </a:r>
          </a:p>
          <a:p/>
          <a:p>
            <a:r>
              <a:t>There is no new migration or Python dependency. Its cache suffix was -avatar-center-1 and the Views template suffix is _views1. Visibility is browser-local and does not depend on Self-modify.</a:t>
            </a:r>
          </a:p>
          <a:p/>
          <a:p>
            <a:r>
              <a:t>Dated evidence includes 160 packaging/self-update/self-modify tests and 13 visible frozen frontend checks on October 16. The latter used an actual executable with byte-verified current frontend assets in a disposable fixture. The carriage guide records the exact scope.</a:t>
            </a:r>
          </a:p>
          <a:p/>
          <a:p>
            <a:r>
              <a:t>Runtime: Required template and four cooperating scripts.</a:t>
            </a:r>
          </a:p>
          <a:p/>
          <a:p>
            <a:r>
              <a:t>Snapshot: Sources, identity and both Views harnesses.</a:t>
            </a:r>
          </a:p>
          <a:p/>
          <a:p>
            <a:r>
              <a:t>Database: v1.85.0 introduced no migration.</a:t>
            </a:r>
          </a:p>
          <a:p/>
          <a:p>
            <a:r>
              <a:t>Version: v1.85.0 across the application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14 maintenance commit updated catalog/configuration data and scrubbed test fixtures.</a:t>
            </a:r>
          </a:p>
          <a:p/>
          <a:p>
            <a:r>
              <a:t>Commit 1a8c5093 changed FlowCreator catalog data, the local External MCP catalog and test fixtures. It introduced no new product subsystem, agent type, migration or dependency. Private catalog values are excluded from this dossier.</a:t>
            </a:r>
          </a:p>
          <a:p/>
          <a:p>
            <a:r>
              <a:t>The current audit reads the actual implementation and keeps historical test results dated. A fixture value is test data, not a deployed credential or evidence that a provider ran.</a:t>
            </a:r>
          </a:p>
          <a:p/>
          <a:p>
            <a:r>
              <a:t>Maintenance: Catalog data and test fixtures changed in commit 1a8c5093.</a:t>
            </a:r>
          </a:p>
          <a:p/>
          <a:p>
            <a:r>
              <a:t>Product surface: No new subsystem, agent type, migration or dependency.</a:t>
            </a:r>
          </a:p>
          <a:p/>
          <a:p>
            <a:r>
              <a:t>Privacy: Public documents exclude private catalog values.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14: a dropped file never errors, never opens as text by mistake and never navigates away.</a:t>
            </a:r>
          </a:p>
          <a:p/>
          <a:p>
            <a:r>
              <a:t>Dropping an MCP .json on the chat used to report an error, on the canvas it opened as plain text and killed the import, and on every other page the browser left for the file. One listener now sits in the head of the chat, both panels, the welcome and login pages, the admin pages and the PDF viewer frame, as the File Drop section describes. It claims only file drags.</a:t>
            </a:r>
          </a:p>
          <a:p/>
          <a:p>
            <a:r>
              <a:t>It decides by the bytes, not the name, and sends each kind to its own mechanism: an MCP .json to a confirmation and the External MCP catalog, a .flw or .fpmt flow to its editor, an image to the message, a PDF, Markdown or code file to the chat canvas, and anything else to a plain explanation.</a:t>
            </a:r>
          </a:p>
          <a:p/>
          <a:p>
            <a:r>
              <a:t>It replaced four per-page handlers. Checked with 138 router checks against the real script, 22 new Django tests and a visible Chrome run of 58 checks with 24 Shoter photographs, all on October 14.</a:t>
            </a:r>
          </a:p>
          <a:p/>
          <a:p>
            <a:r>
              <a:t>One listener: Capture phase, file drags only; text drags are untouched.</a:t>
            </a:r>
          </a:p>
          <a:p/>
          <a:p>
            <a:r>
              <a:t>By the bytes: Extension, MIME, magic numbers, BOM-aware text test, real JSON parse.</a:t>
            </a:r>
          </a:p>
          <a:p/>
          <a:p>
            <a:r>
              <a:t>MCP import: Never silent: a confirmation lists the servers first.</a:t>
            </a:r>
          </a:p>
          <a:p/>
          <a:p>
            <a:r>
              <a:t>Everywhere: Chat, both panels, welcome, login, admin and the PDF frame.</a:t>
            </a:r>
          </a:p>
          <a:p/>
          <a:p>
            <a:r>
              <a:t>Evidence: 138 router checks, 22 tests, 58 visible checks, 24 photographs.</a:t>
            </a:r>
          </a:p>
          <a:p/>
          <a:p>
            <a:r>
              <a:t>Tag: v1.83.0 at a2914019, pushed and published October 14.</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63a62cc1 on October 13, credited to Tlamatini's-AutoBot; shipped in v1.83.0.</a:t>
            </a:r>
          </a:p>
          <a:p/>
          <a:p>
            <a:r>
              <a:t>The divider above the message box used to reserve the portrait's current width as the box's minimum height, so a wide portrait kept the box from shrinking. It now reserves only a 120-pixel portrait plus its controls, and the docked portrait follows the divider: its side is the smaller of a quarter of the form width and the height above the Send and Mic row, never below 120 pixels.</a:t>
            </a:r>
          </a:p>
          <a:p/>
          <a:p>
            <a:r>
              <a:t>At the initial 1440-pixel window the portrait went from 282 to 120 pixels, returning about 162 pixels to the chat history. Nineteen docked-avatar checkpoints and all eighteen existing composer checkpoints passed in a visible Chrome window.</a:t>
            </a:r>
          </a:p>
          <a:p/>
          <a:p>
            <a:r>
              <a:t>Down: Dragging the divider down shrinks the portrait to a 120-pixel square.</a:t>
            </a:r>
          </a:p>
          <a:p/>
          <a:p>
            <a:r>
              <a:t>Up: Dragging it up gives the portrait back, up to its original column.</a:t>
            </a:r>
          </a:p>
          <a:p/>
          <a:p>
            <a:r>
              <a:t>Keyboard: Arrows, Shift+arrows, Home, End, double-click and Escape still work.</a:t>
            </a:r>
          </a:p>
          <a:p/>
          <a:p>
            <a:r>
              <a:t>Evidence: 19 docked-avatar and 18 composer checkpoints passed.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91ff8453 on October 12, credited to Tlamatini's-AutoBot; shipped in v1.83.0.</a:t>
            </a:r>
          </a:p>
          <a:p/>
          <a:p>
            <a:r>
              <a:t>When the launcher refuses an Image-Interpreter or Video-Analyzer call before the agent starts, because a setting does not exist or a mandatory one is missing, the refusal is marked as a request error. It no longer raises the red fatal-analysis dialog and its sound; the model simply corrects the call. A real start failure still raises the dialog.</a:t>
            </a:r>
          </a:p>
          <a:p/>
          <a:p>
            <a:r>
              <a:t>Video-Analyzer's description now says it has no transcription engine setting, which belongs to Whisperer. Five new tests pin the behavior, and it reaches installations with v1.83.0.</a:t>
            </a:r>
          </a:p>
          <a:p/>
          <a:p>
            <a:r>
              <a:t>Request errors: Refused before any model ran; the model retries.</a:t>
            </a:r>
          </a:p>
          <a:p/>
          <a:p>
            <a:r>
              <a:t>Real failures: Still raise the accumulated fatal dialog.</a:t>
            </a:r>
          </a:p>
          <a:p/>
          <a:p>
            <a:r>
              <a:t>No engine setting: engine= belongs to Whisperer, not Video-Analyzer.</a:t>
            </a:r>
          </a:p>
          <a:p/>
          <a:p>
            <a:r>
              <a:t>Tests: Five tests in RequestRefusalIsNotFatalTests.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12: new setup windows, and Markdown that opens as a page.</a:t>
            </a:r>
          </a:p>
          <a:p/>
          <a:p>
            <a:r>
              <a:t>The Installer and Uninstaller share one window that prepares and verifies a recovery copy before changing any file, restores an interrupted run, names a locked file and keeps every error on screen with Retry, as the Setup Windows section describes. Markdown files now open in the chat canvas as a rendered page with their source kept intact.</a:t>
            </a:r>
          </a:p>
          <a:p/>
          <a:p>
            <a:r>
              <a:t>The release was published on GitHub on October 12 and was the latest until v1.83.0 replaced it on October 14. Its zip was a self-modify build whose package carried the setup windows, the Markdown canvas, the shared theme of v1.80.0 and the web links of v1.79.0. There is no v1.81.0 tag.</a:t>
            </a:r>
          </a:p>
          <a:p/>
          <a:p>
            <a:r>
              <a:t>The setup campaign ran visibly on October 11 and 12: 52 interface checkpoints, 28 recovery checks, 21 lifecycle checks and 61 mechanics tests passed, with five real installations and four real removals passing their independent audits. The Markdown canvas passed 30 of 30 visible checkpoints. The campaign did not install the published zip.</a:t>
            </a:r>
          </a:p>
          <a:p/>
          <a:p>
            <a:r>
              <a:t>Setup windows: One recoverable window for installing and removing.</a:t>
            </a:r>
          </a:p>
          <a:p/>
          <a:p>
            <a:r>
              <a:t>Markdown: Rendered Preview, original Source, offline sanitizer.</a:t>
            </a:r>
          </a:p>
          <a:p/>
          <a:p>
            <a:r>
              <a:t>Published: October 12; the latest release until v1.83.0.</a:t>
            </a:r>
          </a:p>
          <a:p/>
          <a:p>
            <a:r>
              <a:t>No v1.81.0: The number was skipped; v1.80.0 and v1.79.0 come before it.</a:t>
            </a:r>
          </a:p>
          <a:p/>
          <a:p>
            <a:r>
              <a:t>Campaign: Five installations and four removals passed; one removal stopped safely.</a:t>
            </a:r>
          </a:p>
          <a:p/>
          <a:p>
            <a:r>
              <a:t>Followed by: v1.83.0 on October 14 carries the three later changes.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Every first-party page now draws from one set of design tokens, and the five pane dividers share one grip and one gesture model, as the One Look section describes. The side divider was first made to match the composer divider, then the whole site followed the same evening.</a:t>
            </a:r>
          </a:p>
          <a:p/>
          <a:p>
            <a:r>
              <a:t>The source campaign passed 175 tests with two platform skips, 17 composer checkpoints, 38 zoom and responsive checkpoints at 25 to 400 percent, 13 commentary checkpoints and all eight dialog resize directions, in a visible Chrome window. It certifies the source pages, not a model answer or an installed build.</a:t>
            </a:r>
          </a:p>
          <a:p/>
          <a:p>
            <a:r>
              <a:t>Tag: v1.80.0 at 82099963, pushed; no published release.</a:t>
            </a:r>
          </a:p>
          <a:p/>
          <a:p>
            <a:r>
              <a:t>Tokens: Slate surfaces, teal accent, one font set, one scrollbar.</a:t>
            </a:r>
          </a:p>
          <a:p/>
          <a:p>
            <a:r>
              <a:t>Dividers: Five seams, one grip, arrows and Shift, Home and End.</a:t>
            </a:r>
          </a:p>
          <a:p/>
          <a:p>
            <a:r>
              <a:t>Dialogs: Eight-direction and keyboard resizing; matching buttons.</a:t>
            </a:r>
          </a:p>
          <a:p/>
          <a:p>
            <a:r>
              <a:t>Evidence: 175 tests and visible zoom, composer and dialog checks.</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Given a YouTube or other web link, Video-Analyzer downloads one item itself: only the sound for a transcription, the picture for a summary or a robotics check. It keeps a private, self-updating downloader, updates it once and retries when a download fails, joins picture and sound without ffmpeg, and names every failure instead of returning silence.</a:t>
            </a:r>
          </a:p>
          <a:p/>
          <a:p>
            <a:r>
              <a:t>The chat parser no longer mistakes a link's ?v= for a setting, a request written in plain words fills in the link and the mode, and the result adds the source address and title. The model is told to hand links to Video-Analyzer and never to install a downloader itself. 141 unit tests and a visible 12-of-12 chat run passed on October 11.</a:t>
            </a:r>
          </a:p>
          <a:p/>
          <a:p>
            <a:r>
              <a:t>One item: Sound for transcription, picture for summary or robotics.</a:t>
            </a:r>
          </a:p>
          <a:p/>
          <a:p>
            <a:r>
              <a:t>Self-updating: A private downloader, refreshed once on failure.</a:t>
            </a:r>
          </a:p>
          <a:p/>
          <a:p>
            <a:r>
              <a:t>Named failures: Unavailable, login required, network, timeout and more.</a:t>
            </a:r>
          </a:p>
          <a:p/>
          <a:p>
            <a:r>
              <a:t>Prose works: Plain-language requests fill in the link and the mode.</a:t>
            </a:r>
          </a:p>
          <a:p/>
          <a:p>
            <a:r>
              <a:t>Evidence: 141 unit tests and a visible 12-of-12 chat run.</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10; the Usage commit lands one commit after the tag. The published v1.78.0 zip carries it.</a:t>
            </a:r>
          </a:p>
          <a:p/>
          <a:p>
            <a:r>
              <a:t>The first October 10 campaign passed 18 Usage tests, 202 existing regressions and 24 visible browser checks, plus source/collected-static byte parity. The live Pro account was compared with Ollama Settings before and after a real model request, and Usage opened and refreshed while that request ran. Other-plan, failure and account-switch cases used explicitly synthetic fixtures, not live Free, Max or Unlimited subscriptions.</a:t>
            </a:r>
          </a:p>
          <a:p/>
          <a:p>
            <a:r>
              <a:t>A follow-up the same day made Usage recover when Ollama starts late. Temporary connection, timeout and invalid-response failures now retry after 15 seconds instead of a full minute, an upstream Retry-After is respected even when Refresh is clicked repeatedly, and a refused connection is checked again at once on Refresh or reopen. It passed 27 Usage tests and 12 visible browser checks: Refresh recovered in 0.47 seconds, reopening in 0.52 seconds and the automatic retry in 15.02 seconds.</a:t>
            </a:r>
          </a:p>
          <a:p/>
          <a:p>
            <a:r>
              <a:t>UsageDaily, migration 0213, records counters by user/model/UTC day through a bounded worker queue; it is best-effort telemetry, not a billing ledger. Both inclusion sweeps passed. Those campaigns ran from source. This refresh checked that the published zip matches the local build byte for byte (SHA-256); it did not install the release or rerun the browser tests.</a:t>
            </a:r>
          </a:p>
          <a:p/>
          <a:p>
            <a:r>
              <a:t>220 tests: 18 Usage plus 202 existing regressions passed on October 10.</a:t>
            </a:r>
          </a:p>
          <a:p/>
          <a:p>
            <a:r>
              <a:t>24 browser checks: Visible live Pro comparisons plus clearly synthetic edge cases.</a:t>
            </a:r>
          </a:p>
          <a:p/>
          <a:p>
            <a:r>
              <a:t>Recovery: 27 Usage tests and 12 visible checks; outages retried after 15 s.</a:t>
            </a:r>
          </a:p>
          <a:p/>
          <a:p>
            <a:r>
              <a:t>During a request: Usage opened/refreshed while a real model answer completed.</a:t>
            </a:r>
          </a:p>
          <a:p/>
          <a:p>
            <a:r>
              <a:t>In the release: The published zip's files match the latest October 10 commit.</a:t>
            </a:r>
          </a:p>
          <a:p/>
          <a:p>
            <a:r>
              <a:t>Privacy: Account observations and authenticated screenshots stay out of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commits after the v1.78.0 tag, and carried by the published zip: the input area resizes once she floats.</a:t>
            </a:r>
          </a:p>
          <a:p/>
          <a:p>
            <a:r>
              <a:t>With the avatar undocked, the input form can now be dragged down to its own action buttons plus a six-pixel guard; the old 30% floor is gone. The toolbar, context gauge, attachment and dictation rows count with their measured heights. Docking her again restores room for the portrait. The divider answers the pointer, the arrow keys, Shift+arrows, Home, End and double-click, and reports its height to screen readers.</a:t>
            </a:r>
          </a:p>
          <a:p/>
          <a:p>
            <a:r>
              <a:t>Short windows scroll the composer inside itself and keep the chat history. The page occupies the real viewport: collapsed navigation opens over the workspace instead of pushing it down, and a 640-pixel minimum workspace keeps both panes on narrow screens. jQuery UI dialogs stay inside the window after opening, dragging or resizing, short native dialogs scroll as complete cards, and the avatar never covers a modal dialog.</a:t>
            </a:r>
          </a:p>
          <a:p/>
          <a:p>
            <a:r>
              <a:t>In a verified foreground Chrome window, 18 composer checks and 38 viewport checks passed at 100%, native 400% and 25% zoom and in a phone-sized window, with eight dialogs at each size. That is a desktop browser at phone-sized dimensions, not a physical phone; 20% zoom was unavailable and is not claimed. These layout checks do not certify model inference or audio capture.</a:t>
            </a:r>
          </a:p>
          <a:p/>
          <a:p>
            <a:r>
              <a:t>Shrinks to fit: Undocked, the input area can shrink to its buttons; no 30% floor.</a:t>
            </a:r>
          </a:p>
          <a:p/>
          <a:p>
            <a:r>
              <a:t>Dock again: Docking restores room for her portrait above the buttons.</a:t>
            </a:r>
          </a:p>
          <a:p/>
          <a:p>
            <a:r>
              <a:t>Keyboard: Arrows, Shift+arrows, Home, End and double-click on the divider.</a:t>
            </a:r>
          </a:p>
          <a:p/>
          <a:p>
            <a:r>
              <a:t>Short windows: The composer scrolls inside itself; chat history stays visible.</a:t>
            </a:r>
          </a:p>
          <a:p/>
          <a:p>
            <a:r>
              <a:t>Narrow screens: A 640-pixel workspace pans; the page and dialogs stay anchored.</a:t>
            </a:r>
          </a:p>
          <a:p/>
          <a:p>
            <a:r>
              <a:t>Evidence: 18 composer and 38 viewport checks passed, visibly, on October 10.</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Image-Interpreter now reads a comma-separated list of images, a change credited to Tlamatini herself.</a:t>
            </a:r>
          </a:p>
          <a:p/>
          <a:p>
            <a:r>
              <a:t>Commit 0e6fc72d is titled “Tlamatini's self-repair Image-Interpreter, by Tlamatini's-AutoBot” and is the commit the v1.78.0 tag points to. When the images field holds several paths separated by commas, each entry is resolved on its own, the results are merged, and repeated paths are removed while the original order is kept.</a:t>
            </a:r>
          </a:p>
          <a:p/>
          <a:p>
            <a:r>
              <a:t>The list is split only when the whole value is not itself an existing file, so a single image whose name contains a comma still resolves. An entry that matches nothing is logged as a warning and the other images are still analyzed. The 22-line change arrived without a new automated test; it ships in the published v1.78.0 release.</a:t>
            </a:r>
          </a:p>
          <a:p/>
          <a:p>
            <a:r>
              <a:t>Several images: Comma-separated paths are resolved one by one and merged.</a:t>
            </a:r>
          </a:p>
          <a:p/>
          <a:p>
            <a:r>
              <a:t>No duplicates: Repeated paths are removed; the original order is kept.</a:t>
            </a:r>
          </a:p>
          <a:p/>
          <a:p>
            <a:r>
              <a:t>Commas in names: A single existing file is never split at its comma.</a:t>
            </a:r>
          </a:p>
          <a:p/>
          <a:p>
            <a:r>
              <a:t>Honest warning: An entry that resolves to nothing is logged, not hidden.</a:t>
            </a:r>
          </a:p>
          <a:p/>
          <a:p>
            <a:r>
              <a:t>Self-repair: The commit credits Tlamatini's-AutoBot, her own self-modify work.</a:t>
            </a:r>
          </a:p>
          <a:p/>
          <a:p>
            <a:r>
              <a:t>In v1.78.0: The tag points to this commit; no dedicated test yet.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9; v1.78.0 replaced it as the Latest release on October 10.</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recorded as passing in the October 9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user guides, PDF and PowerPoint all identify the same current release. The repository metadata records the implementation inspected for this dossier.</a:t>
            </a:r>
          </a:p>
          <a:p/>
          <a:p>
            <a:r>
              <a:t>v1.91.0 is the current tagged source version. The application, user guides and both dossiers use the same version, 1.91.0.</a:t>
            </a:r>
          </a:p>
          <a:p/>
          <a:p>
            <a:r>
              <a:t>This audit inspected commit a771d27c. The existing annotated tag v1.91.0 was created on 2026-10-23 and resolves to a771d27c. Git history is preserved.</a:t>
            </a:r>
          </a:p>
          <a:p/>
          <a:p>
            <a:r>
              <a:t>A source tag identifies the implementation. GitHub publication and installed-package acceptance require separate evidence; documentation generation does not build or install an executable.</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477,713 effective lines across 1,586 text files; 611,516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application file tree. 1,606 application files, with 221 database-history files summarized.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 Id="rId4" Type="http://schemas.openxmlformats.org/officeDocument/2006/relationships/chart" Target="../charts/char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4.xml"/><Relationship Id="rId4" Type="http://schemas.openxmlformats.org/officeDocument/2006/relationships/chart" Target="../charts/char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1.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86</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110</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v1.91.0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23,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the application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86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Release</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release v1.91.0; package delivery and runtime acceptance need separate evidence.</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application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Application files; database history is summarized.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110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86</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110</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220</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1,827</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477,713</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LIVE EDITOR BRIDGE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authenticated tab, one exact buffer</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browser editor and the synchronous tool loop share an account/session-bound bridge.</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Browser</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CodeMirror is authoritative; bridge.js sends receipts/access/stop, not host-path commands.</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ws/interactor/ authenticates the session and exact Origin/Host; the server issues tab identity.</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Tool context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ContextVar carries tab/account/session identity into workers; read gets the live buffer.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Hub</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Bounded queues, command IDs, deadlines, revision checks and full-buffer verification.</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Persistence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Execs gates new/save; loopback host access uses the existing path and file-capability guards.</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Migration 0218, tool_gate_table, prompt rules, frozen modules and offline source/static inventories.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547872"/>
          </a:xfrm>
          <a:prstGeom prst="roundRect">
            <a:avLst>
              <a:gd name="adj" fmla="val 206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Terminater, Executer, Pythonxer, SSHer, Kalier, Dockerer, Kuberneter, SQLer, Mongoxer, Gitter, Jenkinser, PSer, J-Decompiler</a:t>
            </a:r>
          </a:p>
        </p:txBody>
      </p:sp>
      <p:sp>
        <p:nvSpPr>
          <p:cNvPr id="16" name="Rectangle 15"/>
          <p:cNvSpPr/>
          <p:nvPr/>
        </p:nvSpPr>
        <p:spPr>
          <a:xfrm>
            <a:off x="585216" y="30723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Editor persistence</a:t>
            </a:r>
          </a:p>
        </p:txBody>
      </p:sp>
      <p:sp>
        <p:nvSpPr>
          <p:cNvPr id="18" name="TextBox 17"/>
          <p:cNvSpPr txBox="1"/>
          <p:nvPr/>
        </p:nvSpPr>
        <p:spPr>
          <a:xfrm>
            <a:off x="3515118" y="310896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Interactor new/save; reads and guided typing do not persist a file.</a:t>
            </a:r>
          </a:p>
        </p:txBody>
      </p:sp>
      <p:sp>
        <p:nvSpPr>
          <p:cNvPr id="20" name="TextBox 19"/>
          <p:cNvSpPr txBox="1"/>
          <p:nvPr/>
        </p:nvSpPr>
        <p:spPr>
          <a:xfrm>
            <a:off x="640080" y="3483864"/>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21" name="TextBox 20"/>
          <p:cNvSpPr txBox="1"/>
          <p:nvPr/>
        </p:nvSpPr>
        <p:spPr>
          <a:xfrm>
            <a:off x="3515118" y="3483864"/>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483864"/>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3" name="Rectangle 22"/>
          <p:cNvSpPr/>
          <p:nvPr/>
        </p:nvSpPr>
        <p:spPr>
          <a:xfrm>
            <a:off x="585216" y="40507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5" name="TextBox 24"/>
          <p:cNvSpPr txBox="1"/>
          <p:nvPr/>
        </p:nvSpPr>
        <p:spPr>
          <a:xfrm>
            <a:off x="3515118" y="408736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6" name="TextBox 25"/>
          <p:cNvSpPr txBox="1"/>
          <p:nvPr/>
        </p:nvSpPr>
        <p:spPr>
          <a:xfrm>
            <a:off x="5284372" y="4087368"/>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7" name="TextBox 26"/>
          <p:cNvSpPr txBox="1"/>
          <p:nvPr/>
        </p:nvSpPr>
        <p:spPr>
          <a:xfrm>
            <a:off x="640080" y="44622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8" name="TextBox 27"/>
          <p:cNvSpPr txBox="1"/>
          <p:nvPr/>
        </p:nvSpPr>
        <p:spPr>
          <a:xfrm>
            <a:off x="3515118" y="44622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4622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Instant Messaging Doctor: user authorization is still required</a:t>
            </a:r>
          </a:p>
        </p:txBody>
      </p:sp>
      <p:sp>
        <p:nvSpPr>
          <p:cNvPr id="30" name="Rectangle 29"/>
          <p:cNvSpPr/>
          <p:nvPr/>
        </p:nvSpPr>
        <p:spPr>
          <a:xfrm>
            <a:off x="585216" y="50292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506577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32" name="TextBox 31"/>
          <p:cNvSpPr txBox="1"/>
          <p:nvPr/>
        </p:nvSpPr>
        <p:spPr>
          <a:xfrm>
            <a:off x="3515118" y="506577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33" name="TextBox 32"/>
          <p:cNvSpPr txBox="1"/>
          <p:nvPr/>
        </p:nvSpPr>
        <p:spPr>
          <a:xfrm>
            <a:off x="5284372" y="506577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 · v1.91.0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Choose how she types and teaches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 → Live Editor &amp; Terminater opens one shared dialog on the chat and control panels.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Separate speeds or a linked 40–160 WPM setting; no instant typing.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Teaching</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Brief, balanced or detailed guidance with optional local suggestions.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Appearance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Editor and terminal presentation saved per account/browser.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Account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Behavior persists on the server; concurrent saves detect revision conflicts.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TERMINATER SETTINGS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command follows the learner's controls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One TerminalHub resolves account preferences across chat, ACP, Prompt Flow and browser actions.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Type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key at a time, 20–160 WPM; no paste or instant mode.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Submit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Task-controlled execution or user-only Enter enforced by the hub.</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Wait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Command, no-output and handoff windows have separate meanings.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Inherit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use_my_defaults applies account preferences without rewriting older flows.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COMMAND AND LESSON 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Hear the step before the first key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Narration uses the existing browser voice and a shared, cancellable speech queue.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voice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Reuse voice choice, rate, volume and pitch from Config → Voice.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Priority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Global mute and microphone listening override narration.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Timing</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Before/during/after; optional completion before typing.</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Control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Escape stops speech; Ctrl+Shift+M toggles global mute.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CANVAS EDITOR · v1.89.0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Edit the document you are discussing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local CodeMirror 6 editor keeps text, code, JSON and Markdown Source editable in the chat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document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Code, configuration and plain text share the same editing authority.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Editable source and sanitized preview preserve undo history.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Controls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Save, Save as, Undo/Redo, Find/replace and Wrap.</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reserved canvas width and an editor that fills its available height.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NATIVE SAVING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Save into the project folder you choose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local native Windows picker makes Downloads optional.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Native Save As to any writable local folder.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Authorize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Account/session-bound capability; 12 idle hours, lost on restart.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Compare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disk changes refuse overwrite; Save As keeps a separate copy.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Encoding, BOM, line endings and existing Windows metadata.</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INTERACTOR · v1.90.0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Teach inside the live, unsaved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Interactor is a module and a built-in tool, not a workflow agent or a terminal.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Exact unsaved text and selection, never a stale disk substitute.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Type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small visible teaching segment; one undoable edit.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Hand over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the learner's next field, then stop tool mutations.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Continue starts a fresh read in a new chat turn.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TUTOR COMPLETION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Immediate help while the learner types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 plans the next field once; local matching avoids a model request on every keystroke.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matching</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Prepared field choices; no model call per key.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Optional</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Accept a suggestion, take one word, dismiss it or type your own value.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priority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Interruptions preserve the typed prefix and invalidate stale work.</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latency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questions still wait on chat/model processing.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Source runs and self-modify builds; sends self-knowledge,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MESSAGE BOX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to write, or more room to read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divider above the message box. With her avatar undocked, the box can shrink to its buttons.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Drag or type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Pointer, arrows, Shift+arrows, Home and End move the divider.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Undocked</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message box can shrink to its own action buttons.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centered portrait above Mic through Send, down to a 120-pixel square.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Small windows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box scrolls itself; dialogs stay inside the window.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in v1.91.0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Views controls the workspace, Panels opens the flow editors, and Config holds settings.</a:t>
            </a:r>
          </a:p>
        </p:txBody>
      </p:sp>
      <p:sp>
        <p:nvSpPr>
          <p:cNvPr id="8" name="Rounded Rectangle 7"/>
          <p:cNvSpPr/>
          <p:nvPr/>
        </p:nvSpPr>
        <p:spPr>
          <a:xfrm>
            <a:off x="566928" y="2084831"/>
            <a:ext cx="11057839" cy="3963924"/>
          </a:xfrm>
          <a:prstGeom prst="roundRect">
            <a:avLst>
              <a:gd name="adj" fmla="val 184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Open · Save</a:t>
            </a:r>
          </a:p>
        </p:txBody>
      </p:sp>
      <p:sp>
        <p:nvSpPr>
          <p:cNvPr id="13" name="TextBox 12"/>
          <p:cNvSpPr txBox="1"/>
          <p:nvPr/>
        </p:nvSpPr>
        <p:spPr>
          <a:xfrm>
            <a:off x="2851647" y="2505456"/>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Open a canvas file; menu Save chooses a destination with native Save As.</a:t>
            </a:r>
          </a:p>
        </p:txBody>
      </p:sp>
      <p:sp>
        <p:nvSpPr>
          <p:cNvPr id="14" name="Rectangle 13"/>
          <p:cNvSpPr/>
          <p:nvPr/>
        </p:nvSpPr>
        <p:spPr>
          <a:xfrm>
            <a:off x="585216" y="2820924"/>
            <a:ext cx="11021263" cy="3520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57500"/>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Views</a:t>
            </a:r>
          </a:p>
        </p:txBody>
      </p:sp>
      <p:sp>
        <p:nvSpPr>
          <p:cNvPr id="16" name="TextBox 15"/>
          <p:cNvSpPr txBox="1"/>
          <p:nvPr/>
        </p:nvSpPr>
        <p:spPr>
          <a:xfrm>
            <a:off x="2851647" y="2857500"/>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Show Canvas or Terminals; Reset layout restores the workspace.</a:t>
            </a:r>
          </a:p>
        </p:txBody>
      </p:sp>
      <p:sp>
        <p:nvSpPr>
          <p:cNvPr id="17" name="TextBox 16"/>
          <p:cNvSpPr txBox="1"/>
          <p:nvPr/>
        </p:nvSpPr>
        <p:spPr>
          <a:xfrm>
            <a:off x="640080" y="3209544"/>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Context</a:t>
            </a:r>
          </a:p>
        </p:txBody>
      </p:sp>
      <p:sp>
        <p:nvSpPr>
          <p:cNvPr id="18" name="TextBox 17"/>
          <p:cNvSpPr txBox="1"/>
          <p:nvPr/>
        </p:nvSpPr>
        <p:spPr>
          <a:xfrm>
            <a:off x="2851647" y="3209544"/>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Load a directory or file as context, and set file-type omissions.</a:t>
            </a:r>
          </a:p>
        </p:txBody>
      </p:sp>
      <p:sp>
        <p:nvSpPr>
          <p:cNvPr id="19" name="Rectangle 18"/>
          <p:cNvSpPr/>
          <p:nvPr/>
        </p:nvSpPr>
        <p:spPr>
          <a:xfrm>
            <a:off x="585216" y="3525011"/>
            <a:ext cx="11021263" cy="3520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561587"/>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Panels</a:t>
            </a:r>
          </a:p>
        </p:txBody>
      </p:sp>
      <p:sp>
        <p:nvSpPr>
          <p:cNvPr id="21" name="TextBox 20"/>
          <p:cNvSpPr txBox="1"/>
          <p:nvPr/>
        </p:nvSpPr>
        <p:spPr>
          <a:xfrm>
            <a:off x="2851647" y="3561587"/>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Agentic Control Panel, Prompt Flow Panel and, for staff, the Admin Panel. It stays usable while she is busy.</a:t>
            </a:r>
          </a:p>
        </p:txBody>
      </p:sp>
      <p:sp>
        <p:nvSpPr>
          <p:cNvPr id="22" name="TextBox 21"/>
          <p:cNvSpPr txBox="1"/>
          <p:nvPr/>
        </p:nvSpPr>
        <p:spPr>
          <a:xfrm>
            <a:off x="640080" y="3913631"/>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ACPX-Skills</a:t>
            </a:r>
          </a:p>
        </p:txBody>
      </p:sp>
      <p:sp>
        <p:nvSpPr>
          <p:cNvPr id="23" name="TextBox 22"/>
          <p:cNvSpPr txBox="1"/>
          <p:nvPr/>
        </p:nvSpPr>
        <p:spPr>
          <a:xfrm>
            <a:off x="2851647" y="3913631"/>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Browse, configure, diagnose and reload the skill catalog.</a:t>
            </a:r>
          </a:p>
        </p:txBody>
      </p:sp>
      <p:sp>
        <p:nvSpPr>
          <p:cNvPr id="24" name="Rectangle 23"/>
          <p:cNvSpPr/>
          <p:nvPr/>
        </p:nvSpPr>
        <p:spPr>
          <a:xfrm>
            <a:off x="585216" y="4229099"/>
            <a:ext cx="11021263" cy="3520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265675"/>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External</a:t>
            </a:r>
          </a:p>
        </p:txBody>
      </p:sp>
      <p:sp>
        <p:nvSpPr>
          <p:cNvPr id="26" name="TextBox 25"/>
          <p:cNvSpPr txBox="1"/>
          <p:nvPr/>
        </p:nvSpPr>
        <p:spPr>
          <a:xfrm>
            <a:off x="2851647" y="4265675"/>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The External MCPs dialog: catalog, activation and runtime readiness.</a:t>
            </a:r>
          </a:p>
        </p:txBody>
      </p:sp>
      <p:sp>
        <p:nvSpPr>
          <p:cNvPr id="27" name="TextBox 26"/>
          <p:cNvSpPr txBox="1"/>
          <p:nvPr/>
        </p:nvSpPr>
        <p:spPr>
          <a:xfrm>
            <a:off x="640080" y="4617719"/>
            <a:ext cx="2065263" cy="48463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Config</a:t>
            </a:r>
          </a:p>
        </p:txBody>
      </p:sp>
      <p:sp>
        <p:nvSpPr>
          <p:cNvPr id="28" name="TextBox 27"/>
          <p:cNvSpPr txBox="1"/>
          <p:nvPr/>
        </p:nvSpPr>
        <p:spPr>
          <a:xfrm>
            <a:off x="2851647" y="4617719"/>
            <a:ext cx="8699967" cy="48463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Configure MCPs, Configure Agents, Models, URLs, Contacts, Access Keys Wizard, Voice, Mic, and Live Editor &amp; Terminater (pacing, narration and interaction preferences).</a:t>
            </a:r>
          </a:p>
        </p:txBody>
      </p:sp>
      <p:sp>
        <p:nvSpPr>
          <p:cNvPr id="29" name="Rectangle 28"/>
          <p:cNvSpPr/>
          <p:nvPr/>
        </p:nvSpPr>
        <p:spPr>
          <a:xfrm>
            <a:off x="585216" y="5138927"/>
            <a:ext cx="11021263" cy="3520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75503"/>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DB</a:t>
            </a:r>
          </a:p>
        </p:txBody>
      </p:sp>
      <p:sp>
        <p:nvSpPr>
          <p:cNvPr id="31" name="TextBox 30"/>
          <p:cNvSpPr txBox="1"/>
          <p:nvPr/>
        </p:nvSpPr>
        <p:spPr>
          <a:xfrm>
            <a:off x="2851647" y="5175503"/>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WAL-safe database backup and staged replacement.</a:t>
            </a:r>
          </a:p>
        </p:txBody>
      </p:sp>
      <p:sp>
        <p:nvSpPr>
          <p:cNvPr id="32" name="TextBox 31"/>
          <p:cNvSpPr txBox="1"/>
          <p:nvPr/>
        </p:nvSpPr>
        <p:spPr>
          <a:xfrm>
            <a:off x="640080" y="5527547"/>
            <a:ext cx="2065263" cy="48463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Reconnect · About</a:t>
            </a:r>
          </a:p>
        </p:txBody>
      </p:sp>
      <p:sp>
        <p:nvSpPr>
          <p:cNvPr id="33" name="TextBox 32"/>
          <p:cNvSpPr txBox="1"/>
          <p:nvPr/>
        </p:nvSpPr>
        <p:spPr>
          <a:xfrm>
            <a:off x="2851647" y="5527547"/>
            <a:ext cx="8699967" cy="48463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Rebuild the chat connection; version, author credits and Check for updates. Since v1.78.0, About also opens Usage, even while she is busy.</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ABOUT → USAGE · 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usage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USAGE follows the shared dialog theme and remains available during a long answer.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Cloud credits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Reported balance, monthly usage, allowance and refill weeks/date.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Chat activity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measured calls, input/output tokens and daily trends.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model activity and peak UTC dates; server inventory alongside it.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While busy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and refresh without interrupting the model request.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Normal size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Under 60% client area; ordinary typography and clear buttons.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Accessible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Keyboard tabs, chart tooltips, focus trap and normal Escape/Close behavior.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ACCOUNT DATA</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Different scopes, clearly identified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Monthly credits, rolling cloud usage and recorded local activity answer different questions.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 balance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Actual included and purchased credits from /api/balance.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Rolling history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7/30-day cloud spend and tokens; separate from the billing period.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model graphs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Measured Tlamatini main-chat activity, not website-wide history.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Healthy data is cached 60 s; a brief outage is retried after 15 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Missing data</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unavailable or stale values; no guessed balance or token count.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References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docs.ollama.com/api/balance and /api/cloud-usage; docs/usage-dashboard.md.</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ADAPTIVE LAYOUT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Report what the account supplies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response shape selects the layout; a plan label is not a credit entitlement.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Returned allowance, balance, purchased credits and reset period.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Legacy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Remaining session/weekly percentages; no guessed dollar conversion.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Purchased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reported purchased balance; no invented included quota.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Free or zero</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 actual data and omit percentages when allowance is zero.</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Team</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credit balance is distinct from member-scoped usage.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Unlimited label</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interpreted as unlimited cloud credits.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86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86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eight executable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3173882" cy="246887"/>
          </a:xfrm>
          <a:prstGeom prst="rect">
            <a:avLst/>
          </a:prstGeom>
          <a:noFill/>
        </p:spPr>
        <p:txBody>
          <a:bodyPr wrap="square" lIns="45720" rIns="45720" tIns="27432" bIns="27432" anchor="t">
            <a:noAutofit/>
          </a:bodyPr>
          <a:lstStyle/>
          <a:p>
            <a:pPr algn="l">
              <a:lnSpc>
                <a:spcPct val="100000"/>
              </a:lnSpc>
            </a:pPr>
            <a:r>
              <a:rPr sz="750" b="0" i="0">
                <a:solidFill>
                  <a:srgbClr val="A7B2B0"/>
                </a:solidFill>
                <a:latin typeface="Segoe UI"/>
              </a:rPr>
              <a:t>Sends its text to the model; Multi-Turn and ACPX can be enabled.</a:t>
            </a:r>
          </a:p>
        </p:txBody>
      </p:sp>
      <p:sp>
        <p:nvSpPr>
          <p:cNvPr id="12" name="Rounded Rectangle 11"/>
          <p:cNvSpPr/>
          <p:nvPr/>
        </p:nvSpPr>
        <p:spPr>
          <a:xfrm>
            <a:off x="4326026"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508906"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103266"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14746" y="2231136"/>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4508906" y="2953511"/>
            <a:ext cx="3173882" cy="246887"/>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Waits for a scheduled time or a delay, then sends.</a:t>
            </a:r>
          </a:p>
        </p:txBody>
      </p:sp>
      <p:sp>
        <p:nvSpPr>
          <p:cNvPr id="17" name="Rounded Rectangle 16"/>
          <p:cNvSpPr/>
          <p:nvPr/>
        </p:nvSpPr>
        <p:spPr>
          <a:xfrm>
            <a:off x="8085124"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8268004"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73844" y="2231136"/>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8268004" y="2953511"/>
            <a:ext cx="3173882" cy="246887"/>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Takes Yes or No from the last answer, or asks you.</a:t>
            </a:r>
          </a:p>
        </p:txBody>
      </p:sp>
      <p:sp>
        <p:nvSpPr>
          <p:cNvPr id="21" name="Rounded Rectangle 20"/>
          <p:cNvSpPr/>
          <p:nvPr/>
        </p:nvSpPr>
        <p:spPr>
          <a:xfrm>
            <a:off x="566928"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749808" y="3712463"/>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55648" y="3675887"/>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749808" y="4398264"/>
            <a:ext cx="3173882" cy="246887"/>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Adds reference text to this run's retrieval context.</a:t>
            </a:r>
          </a:p>
        </p:txBody>
      </p:sp>
      <p:sp>
        <p:nvSpPr>
          <p:cNvPr id="25" name="Rounded Rectangle 24"/>
          <p:cNvSpPr/>
          <p:nvPr/>
        </p:nvSpPr>
        <p:spPr>
          <a:xfrm>
            <a:off x="4326026"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4508906" y="3712463"/>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514746" y="3675887"/>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4508906" y="4398264"/>
            <a:ext cx="3173882" cy="246887"/>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Clears the run's retrieval context.</a:t>
            </a:r>
          </a:p>
        </p:txBody>
      </p:sp>
      <p:sp>
        <p:nvSpPr>
          <p:cNvPr id="29" name="Rounded Rectangle 28"/>
          <p:cNvSpPr/>
          <p:nvPr/>
        </p:nvSpPr>
        <p:spPr>
          <a:xfrm>
            <a:off x="8085124"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8268004" y="3712463"/>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273844" y="3675887"/>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8268004" y="4398264"/>
            <a:ext cx="3173882" cy="246887"/>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Clears the run's conversation and last output.</a:t>
            </a:r>
          </a:p>
        </p:txBody>
      </p:sp>
      <p:sp>
        <p:nvSpPr>
          <p:cNvPr id="33" name="Rounded Rectangle 32"/>
          <p:cNvSpPr/>
          <p:nvPr/>
        </p:nvSpPr>
        <p:spPr>
          <a:xfrm>
            <a:off x="566928"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964692" y="5157216"/>
            <a:ext cx="438912" cy="548639"/>
          </a:xfrm>
          <a:custGeom>
            <a:avLst/>
            <a:gdLst/>
            <a:ahLst/>
            <a:cxnLst/>
            <a:rect l="l" t="t" r="r" b="b"/>
            <a:pathLst>
              <a:path w="438912" h="548639">
                <a:moveTo>
                  <a:pt x="0" y="0"/>
                </a:moveTo>
                <a:lnTo>
                  <a:pt x="219456" y="155265"/>
                </a:lnTo>
                <a:lnTo>
                  <a:pt x="438912" y="0"/>
                </a:lnTo>
                <a:lnTo>
                  <a:pt x="438912" y="384048"/>
                </a:lnTo>
                <a:lnTo>
                  <a:pt x="219456" y="548639"/>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755648" y="5120640"/>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749808" y="5843016"/>
            <a:ext cx="3173882" cy="246887"/>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Stops to ask you something; your reply joins the run.</a:t>
            </a:r>
          </a:p>
        </p:txBody>
      </p:sp>
      <p:sp>
        <p:nvSpPr>
          <p:cNvPr id="37" name="Rounded Rectangle 36"/>
          <p:cNvSpPr/>
          <p:nvPr/>
        </p:nvSpPr>
        <p:spPr>
          <a:xfrm>
            <a:off x="4326026"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Parallelogram 37"/>
          <p:cNvSpPr/>
          <p:nvPr/>
        </p:nvSpPr>
        <p:spPr>
          <a:xfrm>
            <a:off x="4508906" y="5157216"/>
            <a:ext cx="868680" cy="548640"/>
          </a:xfrm>
          <a:prstGeom prst="parallelogram">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514746" y="5120640"/>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Terminater</a:t>
            </a:r>
          </a:p>
        </p:txBody>
      </p:sp>
      <p:sp>
        <p:nvSpPr>
          <p:cNvPr id="40" name="TextBox 39"/>
          <p:cNvSpPr txBox="1"/>
          <p:nvPr/>
        </p:nvSpPr>
        <p:spPr>
          <a:xfrm>
            <a:off x="4508906" y="5843016"/>
            <a:ext cx="3173882" cy="246887"/>
          </a:xfrm>
          <a:prstGeom prst="rect">
            <a:avLst/>
          </a:prstGeom>
          <a:noFill/>
        </p:spPr>
        <p:txBody>
          <a:bodyPr wrap="square" lIns="45720" rIns="45720" tIns="27432" bIns="27432" anchor="t">
            <a:noAutofit/>
          </a:bodyPr>
          <a:lstStyle/>
          <a:p>
            <a:pPr algn="l">
              <a:lnSpc>
                <a:spcPct val="100000"/>
              </a:lnSpc>
            </a:pPr>
            <a:r>
              <a:rPr sz="800" b="0" i="0">
                <a:solidFill>
                  <a:srgbClr val="A7B2B0"/>
                </a:solidFill>
                <a:latin typeface="Segoe UI"/>
              </a:rPr>
              <a:t>Types commands in a real visible terminal and reads their results.</a:t>
            </a:r>
          </a:p>
        </p:txBody>
      </p:sp>
      <p:sp>
        <p:nvSpPr>
          <p:cNvPr id="41" name="Rounded Rectangle 40"/>
          <p:cNvSpPr/>
          <p:nvPr/>
        </p:nvSpPr>
        <p:spPr>
          <a:xfrm>
            <a:off x="8085124"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ular Callout 41"/>
          <p:cNvSpPr/>
          <p:nvPr/>
        </p:nvSpPr>
        <p:spPr>
          <a:xfrm>
            <a:off x="8268004" y="5157216"/>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273844" y="5120640"/>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Commentary</a:t>
            </a:r>
          </a:p>
        </p:txBody>
      </p:sp>
      <p:sp>
        <p:nvSpPr>
          <p:cNvPr id="44" name="TextBox 43"/>
          <p:cNvSpPr txBox="1"/>
          <p:nvPr/>
        </p:nvSpPr>
        <p:spPr>
          <a:xfrm>
            <a:off x="8268004" y="5843016"/>
            <a:ext cx="3173882" cy="246887"/>
          </a:xfrm>
          <a:prstGeom prst="rect">
            <a:avLst/>
          </a:prstGeom>
          <a:noFill/>
        </p:spPr>
        <p:txBody>
          <a:bodyPr wrap="square" lIns="45720" rIns="45720" tIns="27432" bIns="27432" anchor="t">
            <a:noAutofit/>
          </a:bodyPr>
          <a:lstStyle/>
          <a:p>
            <a:pPr algn="l">
              <a:lnSpc>
                <a:spcPct val="100000"/>
              </a:lnSpc>
            </a:pPr>
            <a:r>
              <a:rPr sz="950" b="0" i="0">
                <a:solidFill>
                  <a:srgbClr val="A7B2B0"/>
                </a:solidFill>
                <a:latin typeface="Segoe UI"/>
              </a:rPr>
              <a:t>A static speech-bubble note for reviewers; it never runs.</a:t>
            </a:r>
          </a:p>
        </p:txBody>
      </p:sp>
      <p:cxnSp>
        <p:nvCxnSpPr>
          <p:cNvPr id="45" name="Connector 4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7" name="TextBox 4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shipped file associations open .flw agent flows and .fpmt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SETUP WINDOWS ·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Install and remove with a way back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Installer and Uninstaller share one window that prepares a recovery copy before changing anything.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window</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Installer and Uninstaller screens that never clip their buttons.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copy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Prepared and verified before any file changes; restored after an interruption.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locks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locked file and its holder are named; nothing is force-closed.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 scope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Tlamatini's registry values and shortcut; never UserChoice.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helpers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PowerShell helpers end within 120 seconds inside a Windows job.</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tally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stopped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MARKDOWN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Markdown opens as a page, and stays your source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or drop a .md file and the canvas renders it; Source opens the editable document.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Preview and Source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Rendered page, or editable source with line numbers.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Offline</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Vendored Marked and DOMPurify; no CDN at runtime.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Safe HTML</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Allowlisted markup; relative links never reach the app.</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source</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Copy, context and Save use the current source buffer.</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30 of 30 visible checkpoints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FILE DROP ·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file anywhere, and she knows what it is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One listener on every page reads each dropped file and sends it to the mechanism that fits it.</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YOU DROP</a:t>
            </a:r>
          </a:p>
        </p:txBody>
      </p:sp>
      <p:sp>
        <p:nvSpPr>
          <p:cNvPr id="11" name="TextBox 10"/>
          <p:cNvSpPr txBox="1"/>
          <p:nvPr/>
        </p:nvSpPr>
        <p:spPr>
          <a:xfrm>
            <a:off x="3957431" y="2121408"/>
            <a:ext cx="759418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HAPPENS</a:t>
            </a:r>
          </a:p>
        </p:txBody>
      </p:sp>
      <p:sp>
        <p:nvSpPr>
          <p:cNvPr id="12" name="TextBox 11"/>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MCP .json</a:t>
            </a:r>
          </a:p>
        </p:txBody>
      </p:sp>
      <p:sp>
        <p:nvSpPr>
          <p:cNvPr id="13" name="TextBox 12"/>
          <p:cNvSpPr txBox="1"/>
          <p:nvPr/>
        </p:nvSpPr>
        <p:spPr>
          <a:xfrm>
            <a:off x="3957431" y="250545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Confirm, then it joins the External MCP catalog; works on every page.</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.flw flow</a:t>
            </a:r>
          </a:p>
        </p:txBody>
      </p:sp>
      <p:sp>
        <p:nvSpPr>
          <p:cNvPr id="16" name="TextBox 15"/>
          <p:cNvSpPr txBox="1"/>
          <p:nvPr/>
        </p:nvSpPr>
        <p:spPr>
          <a:xfrm>
            <a:off x="3957431" y="2880360"/>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on the Agentic Control Panel canvas, or opens that panel in a new tab.</a:t>
            </a:r>
          </a:p>
        </p:txBody>
      </p:sp>
      <p:sp>
        <p:nvSpPr>
          <p:cNvPr id="17" name="TextBox 16"/>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.fpmt flow</a:t>
            </a:r>
          </a:p>
        </p:txBody>
      </p:sp>
      <p:sp>
        <p:nvSpPr>
          <p:cNvPr id="18" name="TextBox 17"/>
          <p:cNvSpPr txBox="1"/>
          <p:nvPr/>
        </p:nvSpPr>
        <p:spPr>
          <a:xfrm>
            <a:off x="3957431" y="3255264"/>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in the Prompt Flow Panel, asking first about unsaved work, or a new tab.</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image</a:t>
            </a:r>
          </a:p>
        </p:txBody>
      </p:sp>
      <p:sp>
        <p:nvSpPr>
          <p:cNvPr id="21" name="TextBox 20"/>
          <p:cNvSpPr txBox="1"/>
          <p:nvPr/>
        </p:nvSpPr>
        <p:spPr>
          <a:xfrm>
            <a:off x="3957431" y="3630168"/>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Attached to your message: saved in Temp, its path written into the message.</a:t>
            </a:r>
          </a:p>
        </p:txBody>
      </p:sp>
      <p:sp>
        <p:nvSpPr>
          <p:cNvPr id="22" name="TextBox 21"/>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 Markdown, code, plain JSON</a:t>
            </a:r>
          </a:p>
        </p:txBody>
      </p:sp>
      <p:sp>
        <p:nvSpPr>
          <p:cNvPr id="23" name="TextBox 22"/>
          <p:cNvSpPr txBox="1"/>
          <p:nvPr/>
        </p:nvSpPr>
        <p:spPr>
          <a:xfrm>
            <a:off x="3957431" y="4005072"/>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Opens in the chat canvas.</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folder, zip or program</a:t>
            </a:r>
          </a:p>
        </p:txBody>
      </p:sp>
      <p:sp>
        <p:nvSpPr>
          <p:cNvPr id="26" name="TextBox 25"/>
          <p:cNvSpPr txBox="1"/>
          <p:nvPr/>
        </p:nvSpPr>
        <p:spPr>
          <a:xfrm>
            <a:off x="3957431" y="437997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Explained in plain words; nothing opens.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ONE LOOK ·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page shares one theme and one way to resize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Chat, both panels, login, welcome, Usage, the PDF viewer and the admin pages share one identity.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palette, font set and scrollbar style for every page.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Five dividers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grip, one keyboard model, one clean cancel.</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 resize directions, keyboard resizing, buttons that match.</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High zoom</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modal stays above the menu at 400 percent.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source tests and visible checks passed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86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86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14</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9</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Parametrizer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Maps one agent's structured output into the next agent's configuration.</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FlowCreator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Designs a complete, validated .flw workflow from a plain objective.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FlowHypervisor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model watchdog that reads a running flow: OK or ATTENTION NEEDED.</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FlowBacker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Backs up a session's logs and configurations before clean-up.</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Prompter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Sends one prompt to a model and logs a structured answer.</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Summarizer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Summarizes text once, or watches logs and fires on a detected event.</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ACPXer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one external coding-agent CLI turn on the canvas and captures its answer.</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MCP Doctor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Diagnoses an external MCP server on paper, before any live connection.</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14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Terminater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Types commands into a real CMD or PowerShell terminal the user watches, and can hand the keyboard over.</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5" name="TextBox 34"/>
          <p:cNvSpPr txBox="1"/>
          <p:nvPr/>
        </p:nvSpPr>
        <p:spPr>
          <a:xfrm>
            <a:off x="6333591"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14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Deleter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Deletes by glob inside a guarded working directory.</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File-Interpreter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Reads DOCX, PPTX, XLSX, PDF and more, optionally summarizing them.</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File-Extractor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Extracts raw text from PDF, DOCX and similar documents.</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De-Compresser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Compresses or decompresses .zip, .7z, .gz and tar archives.</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J-Decompiler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Decompiles JAR and WAR archives with the bundled jd-cli.</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Gitter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git operations and custom git commands.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
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9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Shows an in-browser notification, optionally with a sound.</a:t>
            </a:r>
          </a:p>
        </p:txBody>
      </p:sp>
      <p:sp>
        <p:nvSpPr>
          <p:cNvPr id="12" name="Rounded Rectangle 11"/>
          <p:cNvSpPr/>
          <p:nvPr/>
        </p:nvSpPr>
        <p:spPr>
          <a:xfrm>
            <a:off x="4326026"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4454042"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8085124"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8213140"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566928"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694944"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4326026"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4454042"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WhatsApp through Meta's Cloud API, or explicitly from your own number.</a:t>
            </a:r>
          </a:p>
        </p:txBody>
      </p:sp>
      <p:sp>
        <p:nvSpPr>
          <p:cNvPr id="28" name="Rounded Rectangle 27"/>
          <p:cNvSpPr/>
          <p:nvPr/>
        </p:nvSpPr>
        <p:spPr>
          <a:xfrm>
            <a:off x="8085124"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1" name="TextBox 30"/>
          <p:cNvSpPr txBox="1"/>
          <p:nvPr/>
        </p:nvSpPr>
        <p:spPr>
          <a:xfrm>
            <a:off x="8213140"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Brings the full Tlamatini chat, Multi-Turn included, into Telegram.</a:t>
            </a:r>
          </a:p>
        </p:txBody>
      </p:sp>
      <p:sp>
        <p:nvSpPr>
          <p:cNvPr id="32" name="Rounded Rectangle 31"/>
          <p:cNvSpPr/>
          <p:nvPr/>
        </p:nvSpPr>
        <p:spPr>
          <a:xfrm>
            <a:off x="566928"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Instant Messaging Doctor</a:t>
            </a:r>
          </a:p>
        </p:txBody>
      </p:sp>
      <p:sp>
        <p:nvSpPr>
          <p:cNvPr id="35" name="TextBox 34"/>
          <p:cNvSpPr txBox="1"/>
          <p:nvPr/>
        </p:nvSpPr>
        <p:spPr>
          <a:xfrm>
            <a:off x="694944"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Diagnoses and safely repairs Telegram and WhatsApp readiness.</a:t>
            </a:r>
          </a:p>
        </p:txBody>
      </p:sp>
      <p:sp>
        <p:nvSpPr>
          <p:cNvPr id="36" name="Rounded Rectangle 35"/>
          <p:cNvSpPr/>
          <p:nvPr/>
        </p:nvSpPr>
        <p:spPr>
          <a:xfrm>
            <a:off x="4326026"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490618"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454042"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39" name="TextBox 38"/>
          <p:cNvSpPr txBox="1"/>
          <p:nvPr/>
        </p:nvSpPr>
        <p:spPr>
          <a:xfrm>
            <a:off x="4454042"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0" name="Rounded Rectangle 39"/>
          <p:cNvSpPr/>
          <p:nvPr/>
        </p:nvSpPr>
        <p:spPr>
          <a:xfrm>
            <a:off x="8085124"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249716"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213140"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3" name="TextBox 42"/>
          <p:cNvSpPr txBox="1"/>
          <p:nvPr/>
        </p:nvSpPr>
        <p:spPr>
          <a:xfrm>
            <a:off x="8213140"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A comma-separated list reads several images.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or a web link,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 a web link is downloaded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password prompt must not divert the wizard</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8" name="Diamond 17"/>
          <p:cNvSpPr/>
          <p:nvPr/>
        </p:nvSpPr>
        <p:spPr>
          <a:xfrm>
            <a:off x="420624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38912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INTENT GUARDS · v1.90.0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password prompt must not divert the wizard</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account wizard launches createsuperuser through Executer and waits for input in its console.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Launch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Executer opens the interactive source or frozen command in a visible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Username, optional email and password belong to the user's console interaction.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Wait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DONE / ERROR / NOWINDOW drive the next step; no automatic success claim.</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Notify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an explicit outbound request creates completion-notification debt.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recoverable release installer (Python 3.12.10 bundled),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18 dependency audit covers all 85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18: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clean Python dependency installation does not certify the compiled installer or every external integration.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Current Release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release v1.91.0; package delivery and runtime acceptance need separate evidence.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CURRENT VERSION · v1.91.0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settings for editor and terminal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Existing tag a771d27c, dated October 23, 2026; publication and installed acceptance are separate.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Pacing, teaching, terminal behavior, narration, appearance and draft previews.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Real settings snapshots, revision checks and cancellable narration receipts.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Compatibility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Legacy explicit flows keep their values; new flows can inherit defaults.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Inventory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agents; 110 tools; 220 migrations; 64 JS modules; 29 stylesheets.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v1.90.0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Edit, teach and preserve the learner's control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v1.89.0 introduced editing and native saving; v1.90.0 carries Interactor and the intent corrections.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Editing</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Native Save As, exact source, undo history and conflict-aware persistence.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Tutoring</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Fresh unsaved reads, small typing segments, learner fields and local suggestions.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Bounded tab-visibility pauses and usable narrow-canvas layout.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Inventory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agents; 67 wrapped; 110 built-in tools; 220 migrations. Counts describe the inspected source.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Keep source, model and frozen evidence separate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are recorded runs from October 21–22, not tests silently rerun by documentation generation.</a:t>
            </a:r>
          </a:p>
        </p:txBody>
      </p:sp>
      <p:sp>
        <p:nvSpPr>
          <p:cNvPr id="8" name="Rounded Rectangle 7"/>
          <p:cNvSpPr/>
          <p:nvPr/>
        </p:nvSpPr>
        <p:spPr>
          <a:xfrm>
            <a:off x="566928" y="2084831"/>
            <a:ext cx="11057839" cy="3547872"/>
          </a:xfrm>
          <a:prstGeom prst="roundRect">
            <a:avLst>
              <a:gd name="adj" fmla="val 206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SCOPE</a:t>
            </a:r>
          </a:p>
        </p:txBody>
      </p:sp>
      <p:sp>
        <p:nvSpPr>
          <p:cNvPr id="11" name="TextBox 10"/>
          <p:cNvSpPr txBox="1"/>
          <p:nvPr/>
        </p:nvSpPr>
        <p:spPr>
          <a:xfrm>
            <a:off x="3957431" y="2121408"/>
            <a:ext cx="759418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RECORDED RESULT AND LIMIT</a:t>
            </a:r>
          </a:p>
        </p:txBody>
      </p:sp>
      <p:sp>
        <p:nvSpPr>
          <p:cNvPr id="12" name="TextBox 11"/>
          <p:cNvSpPr txBox="1"/>
          <p:nvPr/>
        </p:nvSpPr>
        <p:spPr>
          <a:xfrm>
            <a:off x="640080" y="2505456"/>
            <a:ext cx="3171047"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Canvas editing / Oct 21</a:t>
            </a:r>
          </a:p>
        </p:txBody>
      </p:sp>
      <p:sp>
        <p:nvSpPr>
          <p:cNvPr id="13" name="TextBox 12"/>
          <p:cNvSpPr txBox="1"/>
          <p:nvPr/>
        </p:nvSpPr>
        <p:spPr>
          <a:xfrm>
            <a:off x="3957431" y="2505456"/>
            <a:ext cx="759418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29 distinct visible checkpoints; native saving, file types, encoding, conflicts and PDF copies.</a:t>
            </a:r>
          </a:p>
        </p:txBody>
      </p:sp>
      <p:sp>
        <p:nvSpPr>
          <p:cNvPr id="14" name="Rectangle 13"/>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3108960"/>
            <a:ext cx="3171047"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Interactor / Oct 21</a:t>
            </a:r>
          </a:p>
        </p:txBody>
      </p:sp>
      <p:sp>
        <p:nvSpPr>
          <p:cNvPr id="16" name="TextBox 15"/>
          <p:cNvSpPr txBox="1"/>
          <p:nvPr/>
        </p:nvSpPr>
        <p:spPr>
          <a:xfrm>
            <a:off x="3957431" y="3108960"/>
            <a:ext cx="759418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35/35 checks including three configured real-model cases; later UI runs add interruption and recovery coverage.</a:t>
            </a:r>
          </a:p>
        </p:txBody>
      </p:sp>
      <p:sp>
        <p:nvSpPr>
          <p:cNvPr id="17" name="TextBox 16"/>
          <p:cNvSpPr txBox="1"/>
          <p:nvPr/>
        </p:nvSpPr>
        <p:spPr>
          <a:xfrm>
            <a:off x="640080" y="3712463"/>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Final DEV modes / Oct 21</a:t>
            </a:r>
          </a:p>
        </p:txBody>
      </p:sp>
      <p:sp>
        <p:nvSpPr>
          <p:cNvPr id="18" name="TextBox 17"/>
          <p:cNvSpPr txBox="1"/>
          <p:nvPr/>
        </p:nvSpPr>
        <p:spPr>
          <a:xfrm>
            <a:off x="3957431" y="3712463"/>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19/19 visible checks; 136 passed + 2 skipped among 138 focused Django tests.</a:t>
            </a:r>
          </a:p>
        </p:txBody>
      </p:sp>
      <p:sp>
        <p:nvSpPr>
          <p:cNvPr id="19" name="Rectangle 18"/>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4087368"/>
            <a:ext cx="3171047"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Older frozen v1.89.0</a:t>
            </a:r>
          </a:p>
        </p:txBody>
      </p:sp>
      <p:sp>
        <p:nvSpPr>
          <p:cNvPr id="21" name="TextBox 20"/>
          <p:cNvSpPr txBox="1"/>
          <p:nvPr/>
        </p:nvSpPr>
        <p:spPr>
          <a:xfrm>
            <a:off x="3957431" y="4087368"/>
            <a:ext cx="759418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Real frozen-loader run: 16 passed, 2 failed after visual review (tab absence and narrow layout).</a:t>
            </a:r>
          </a:p>
        </p:txBody>
      </p:sp>
      <p:sp>
        <p:nvSpPr>
          <p:cNvPr id="22" name="TextBox 21"/>
          <p:cNvSpPr txBox="1"/>
          <p:nvPr/>
        </p:nvSpPr>
        <p:spPr>
          <a:xfrm>
            <a:off x="640080" y="4690872"/>
            <a:ext cx="3171047"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Wizard guards / Oct 22</a:t>
            </a:r>
          </a:p>
        </p:txBody>
      </p:sp>
      <p:sp>
        <p:nvSpPr>
          <p:cNvPr id="23" name="TextBox 22"/>
          <p:cNvSpPr txBox="1"/>
          <p:nvPr/>
        </p:nvSpPr>
        <p:spPr>
          <a:xfrm>
            <a:off x="3957431" y="4690872"/>
            <a:ext cx="759418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179 tests passed; exact installed-request replay passed. Controlled tool effects; no real account or notification.</a:t>
            </a:r>
          </a:p>
        </p:txBody>
      </p:sp>
      <p:sp>
        <p:nvSpPr>
          <p:cNvPr id="24" name="Rectangle 23"/>
          <p:cNvSpPr/>
          <p:nvPr/>
        </p:nvSpPr>
        <p:spPr>
          <a:xfrm>
            <a:off x="585216" y="52578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52943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New v1.90.0 package</a:t>
            </a:r>
          </a:p>
        </p:txBody>
      </p:sp>
      <p:sp>
        <p:nvSpPr>
          <p:cNvPr id="26" name="TextBox 25"/>
          <p:cNvSpPr txBox="1"/>
          <p:nvPr/>
        </p:nvSpPr>
        <p:spPr>
          <a:xfrm>
            <a:off x="3957431" y="529437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 new installed-package acceptance is claimed by this documentation pass.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2650" b="0" i="0">
                <a:solidFill>
                  <a:srgbClr val="F7F2E8"/>
                </a:solidFill>
                <a:latin typeface="Palatino Linotype"/>
              </a:rPr>
              <a:t>Terminals you can watch, and a private release that carries your data</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v1.88.0 introduced Terminater; its tag was created on October 20.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Terminals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Real CMD and PowerShell you can watch, typed like a person, with a hand-over.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counts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agents · 67 wrapped · 110 tools · 220 migrations.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check_terminater runs inside the frozen app; packaging stops on failure.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servers and data.keys travel in the keyed build only.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leaner catalog, a safer removal, a smaller release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18: the catalog shrank to 85 agents, and removal became fast and recoverable.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85 agents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Four retired agents removed in a forward migration.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Removal</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Move aside, verify, Retry cleanup for locked leftovers.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 size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Media and browser libraries ship once, in the carried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Quality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npm run lint:python checks every tracked Python file.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Uninstalling is fast and recoverable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Uninstaller moves entries into a recovery folder instead of copying and hashing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Journal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move recorded before and after.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Retry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Locked leftovers can be finished later.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Kept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agents/ and the content folders that hold files.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Benchmark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64,264 files in 22.3 s, October 18.</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owner for every library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frozen web process stops carrying libraries that only the pool agents use.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Pool-only libraries live in the carried Python.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Package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Bytecode, uninstaller copies and compression tuned.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Usage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Checking usage… until real data arrives.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Account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bodyless POST /api/me.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AFTER THE v1.87.0 TAG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consistency sweep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source-wide sweep re-derived every count and fixed what it found.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Patterns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Brace sets, lists and folder globs in Grepper and Globber.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Gates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Six wrapped tools follow their agent's checkbox; Configure opens with the saved ticks.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Harness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daily chat test reads this repository.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Quality gate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Runs in Windows Terminal, the Windows 11 default.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Mover folders and the Architecture atlas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17: a missing destination becomes a folder, and the atlas rebuilds itself.</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destination name becomes a folder.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Rename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when the destination names a file.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Atlas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Rebuilt by LaTeXer from the repository.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tracked file appears in the atlas.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Views and a centered avatar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16, with a more flexible chat workspace.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original document, read again without a chooser.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Views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Show or hide the canvas and keep its state.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 layout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both panes and dock the avatar.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Portrait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Center the whole frame above the complete action row.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the original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selects a file. Refresh reads that same source again, without writing to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Open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Choose a document and retain read access.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Reread the retained source without another picker.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Failure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previous content and allow retry.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 changed content before replacing active context.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Keep the reading position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Refreshing Markdown or PDF preserves the view while the underlying document changes.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Preview/Source, position and selected resources stay.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PDF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Page, zoom, rotation and scroll mode stay.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failed replacement retains the previous viewer.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20 visible Chrome checks on October 15.</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Choose a full-width chat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Views → Canvas shows or hides the canvas without unloading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width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Hide the canvas to give the chat more room.</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open document and active context.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Preference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Saved per account and browser origin.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Navigation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a document reveals its canvas.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centered portrait at every height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portrait and its frame share the center of the entire Mic-to-Send action row.</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Alignment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Mic's left edge through Send's right edge.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Sizing</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square portrait, never below 120 pixels.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layout while keeping content.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visible checks; center error below 0.02 CSS px, October 16.</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complete feature travels together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Required runtime and self-modify inventories cover the Views template and scripts.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Required template and four cooperating scripts.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Sources, identity and both Views harnesses.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Database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v1.85.0 introduced no migration.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v1.85.0 across the application at the time.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Catalog and fixture maintenance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14 maintenance commit updated catalog/configuration data and scrubbed test fixtures.</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Maintenance</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Catalog data and test fixtures changed in commit 1a8c5093.</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Product surface</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new subsystem, agent type, migration or dependency.</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Privacy</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Public documents exclude private catalog values.</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smart listener for every file you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14: a dropped file never errors, never opens as text by mistake and never navigates away.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listener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Capture phase, file drags only; text drags are untouched.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By the bytes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Extension, MIME, magic numbers, BOM-aware text test, real JSON parse.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MCP import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silent: a confirmation lists the servers first.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Everywhere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Chat, both panels, welcome, login, admin and the PDF frame.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138 router checks, 22 tests, 58 visible checks, 24 photographs.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at a2914019, pushed and published October 14.</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portrait shrinks with the message box</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63a62cc1 on October 13,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the divider down shrinks the portrait to a 120-pixel square.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it up gives the portrait back, up to its original column.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double-click and Escape still work.</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docked-avatar and 18 composer checkpoints passed.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wrongly worded request is not fatal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91ff8453 on October 12,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Request errors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Refused before any model ran; the model retries.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failures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Still raise the accumulated fatal dialog.</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engine setting</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engine= belongs to Whisperer, not Video-Analyzer.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Tests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tests in RequestRefusalIsNotFatalTests.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way back for installing and removing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12: new setup windows, and Markdown that opens as a page.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Setup windows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recoverable window for installing and removing.</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Rendered Preview, original Source, offline sanitizer.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12; the latest release until v1.83.0.</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v1.81.0</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number was skipped; v1.80.0 and v1.79.0 come before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Campaign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removal stopped safely.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Followed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on October 14 carries the three later changes.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look, and one way to drag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v1.80.0 at 82099963, pushed; no published release.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Slate surfaces, teal accent, one font set, one scrollbar.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Dividers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seams, one grip, arrows and Shift, Home and End.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Eight-direction and keyboard resizing; matching buttons.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tests and visible zoom, composer and dialog checks.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v1.79.0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Video-Analyzer takes a web link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item</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Sound for transcription, picture for summary or robotics.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Self-updating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private downloader, refreshed once on failure.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failures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Unavailable, login required, network, timeout and more.</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Prose works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Plain-language requests fill in the link and the mode.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141 unit tests and a visible 12-of-12 chat run.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Usage: credits and activity,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10; the Usage commit lands one commit after the tag. The published v1.78.0 zip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220 tests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Usage plus 202 existing regressions passed on October 10.</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24 browser checks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Visible live Pro comparisons plus clearly synthetic edge cases.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27 Usage tests and 12 visible checks; outages retried after 15 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During a request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Usage opened/refreshed while a real model answer completed.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the release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zip's files match the latest October 10 commit.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Privacy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 observations and authenticated screenshots stay out of this dossier.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Undock her, and the message box shrinks to fit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commits after the v1.78.0 tag, and carried by the published zip: the input area resizes once she floats.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Shrinks to fit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Undocked, the input area can shrink to its buttons; no 30% floor.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 again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Docking restores room for her portrait above the buttons.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and double-click on the divider.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Short windows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scrolls inside itself; chat history stays visible.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Narrow screens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640-pixel workspace pans; the page and dialogs stay anchored.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composer and 38 viewport checks passed, visibly, on October 10.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repaired one of her own agents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Image-Interpreter now reads a comma-separated list of images, a change credited to Tlamatini herself.</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Several images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Comma-separated paths are resolved one by one and merged.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duplicates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Repeated paths are removed; the original order is kept.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Commas in names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single existing file is never split at its comma.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warning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entry that resolves to nothing is logged, not hidden.</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Self-repair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commit credits Tlamatini's-AutoBot, her own self-modify work.</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v1.78.0</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tag points to this commit; no dedicated test yet.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9; v1.78.0 replaced it as the Latest release on October 10.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v1.79.0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v1.79.0 Video-Analizer agent way too improved!.</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v1.80.0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v1.80.0 Standarization stage completed of the GUI elements in every HTML page of Tlamatini.</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2026-10-12</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v1.82.0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v1.82.0 Installation/Uninstallation mechanisms: way too improved!.</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2026-10-14</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v1.83.0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v1.83.0 A smart file-drop router for every page: each dropped file is recognised by its bytes and sent to its own mechanism, so an MCP .json imports everywhere and never errors, opens as text or navigates away.</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2026-10-15</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v1.84.0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v1.84.0 Button Reopen refactored to Refresh and omtomized as-is.</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2026-10-16</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v1.85.0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v1.85.0 Improved canvas visibility introducing views modify behavior.</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2026-10-17</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v1.86.0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v1.86.0 Fixing Mover: a new folder name is created as a folder, not a file.</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2026-10-18</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v1.87.0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v1.87.0 Improving the uninstaller, the space taken, and the ollama usage..</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2026-10-20</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v1.88.0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v1.88.0 Terminater tightly coupled to Tlamatini, redically empowering Tlammatini.</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2026-10-21</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v1.89.0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v1.89.0 Enabling Tlamatini's GUI the edition of files in canvas.</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2026-10-22</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v1.90.0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v1.90.0 Fine-tunning Tlamatini on Interactor and Terminater.</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2026-10-23</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v1.91.0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v1.91.0 Implemented the configuration menu entry and all the mechnism to configure the Live Editor &amp; Terminater parameters for Tlamatini's GUI.</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released version: v1.91.0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application, user guides, PDF and PowerPoint all identify the same current release. The repository metadata records the implementation inspected for this dossier.</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Current release</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v1.91.0</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Audit commit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a771d27c</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version</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1.91.0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Current release</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v1.91.0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Runtime version</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1.91.0</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Existing annotated tag</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v1.91.0 → a771d27c (2026-10-23)</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commit</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a771d27c</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a771d27c · 2026-10-23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1.91.0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1,827</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1,586</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242</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611,516</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477,713</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86</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110 = 21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220</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64 · 29 · 8</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264</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477,713 effective lines across 1,586 text files; 611,516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917</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364,379</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262,309</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54.9%</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104,803</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103,320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240</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52,122</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39,679</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8.3%</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91</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36,412</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29,138</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6.1%</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36</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17,913</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14,435</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48</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11,994</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10,595</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6,111</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6,111</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93</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6,634</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2,643</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3,023</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2,355</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2,657</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2,122</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0.4%</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1,735</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1,678</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0.4%</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1,513</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1,368</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1,026</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882</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574</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540</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1,586</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611,516</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477,713</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166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1,444</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365,349</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142</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112,364</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1,586</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477,713</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8,645</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5,964</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4,972</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4,438</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3,474</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3,251</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2,626</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Tlamatini/agent/doc_generation/dossier_content.py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2,559</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scripts/architecture_atlas/gen_architecture.py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2,388</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2,363</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2,270</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168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Tlamatini/agent/external_mcp_manager.py</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2,144</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Tlamatini/agent/static/agent/css/agentic_control_panel.css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2,060</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1,943</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169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96512"/>
          </a:xfrm>
          <a:prstGeom prst="roundRect">
            <a:avLst>
              <a:gd name="adj" fmla="val 17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42367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a771d27c</a:t>
            </a:r>
          </a:p>
        </p:txBody>
      </p:sp>
      <p:sp>
        <p:nvSpPr>
          <p:cNvPr id="14" name="TextBox 13"/>
          <p:cNvSpPr txBox="1"/>
          <p:nvPr/>
        </p:nvSpPr>
        <p:spPr>
          <a:xfrm>
            <a:off x="1967020" y="2505456"/>
            <a:ext cx="1401793" cy="42367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2026-10-23</a:t>
            </a:r>
          </a:p>
        </p:txBody>
      </p:sp>
      <p:sp>
        <p:nvSpPr>
          <p:cNvPr id="15" name="TextBox 14"/>
          <p:cNvSpPr txBox="1"/>
          <p:nvPr/>
        </p:nvSpPr>
        <p:spPr>
          <a:xfrm>
            <a:off x="3515118" y="2505456"/>
            <a:ext cx="8036497" cy="42367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Implemented the configuration menu entry and all the mechnism to configure the Live Editor &amp; Terminater parameters for Tlamatini's GUI, by Tlamatini's-AutoBot.</a:t>
            </a:r>
          </a:p>
        </p:txBody>
      </p:sp>
      <p:sp>
        <p:nvSpPr>
          <p:cNvPr id="16" name="Rectangle 15"/>
          <p:cNvSpPr/>
          <p:nvPr/>
        </p:nvSpPr>
        <p:spPr>
          <a:xfrm>
            <a:off x="585216" y="2965704"/>
            <a:ext cx="11021263" cy="32156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002280"/>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23be0a25</a:t>
            </a:r>
          </a:p>
        </p:txBody>
      </p:sp>
      <p:sp>
        <p:nvSpPr>
          <p:cNvPr id="18" name="TextBox 17"/>
          <p:cNvSpPr txBox="1"/>
          <p:nvPr/>
        </p:nvSpPr>
        <p:spPr>
          <a:xfrm>
            <a:off x="1967020" y="3002280"/>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2026-10-22</a:t>
            </a:r>
          </a:p>
        </p:txBody>
      </p:sp>
      <p:sp>
        <p:nvSpPr>
          <p:cNvPr id="19" name="TextBox 18"/>
          <p:cNvSpPr txBox="1"/>
          <p:nvPr/>
        </p:nvSpPr>
        <p:spPr>
          <a:xfrm>
            <a:off x="3515118" y="3002280"/>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New README, more attractive, by Tlamatini's-AutoBot.</a:t>
            </a:r>
          </a:p>
        </p:txBody>
      </p:sp>
      <p:sp>
        <p:nvSpPr>
          <p:cNvPr id="20" name="TextBox 19"/>
          <p:cNvSpPr txBox="1"/>
          <p:nvPr/>
        </p:nvSpPr>
        <p:spPr>
          <a:xfrm>
            <a:off x="640080" y="3323844"/>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48a139ee</a:t>
            </a:r>
          </a:p>
        </p:txBody>
      </p:sp>
      <p:sp>
        <p:nvSpPr>
          <p:cNvPr id="21" name="TextBox 20"/>
          <p:cNvSpPr txBox="1"/>
          <p:nvPr/>
        </p:nvSpPr>
        <p:spPr>
          <a:xfrm>
            <a:off x="1967020" y="3323844"/>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2026-10-22</a:t>
            </a:r>
          </a:p>
        </p:txBody>
      </p:sp>
      <p:sp>
        <p:nvSpPr>
          <p:cNvPr id="22" name="TextBox 21"/>
          <p:cNvSpPr txBox="1"/>
          <p:nvPr/>
        </p:nvSpPr>
        <p:spPr>
          <a:xfrm>
            <a:off x="3515118" y="3323844"/>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Bumping to version 1.90.0, by Tlamatini's-AutoBot.</a:t>
            </a:r>
          </a:p>
        </p:txBody>
      </p:sp>
      <p:sp>
        <p:nvSpPr>
          <p:cNvPr id="23" name="Rectangle 22"/>
          <p:cNvSpPr/>
          <p:nvPr/>
        </p:nvSpPr>
        <p:spPr>
          <a:xfrm>
            <a:off x="585216" y="3608831"/>
            <a:ext cx="11021263" cy="32156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45407"/>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5403fa49</a:t>
            </a:r>
          </a:p>
        </p:txBody>
      </p:sp>
      <p:sp>
        <p:nvSpPr>
          <p:cNvPr id="25" name="TextBox 24"/>
          <p:cNvSpPr txBox="1"/>
          <p:nvPr/>
        </p:nvSpPr>
        <p:spPr>
          <a:xfrm>
            <a:off x="1967020" y="3645407"/>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2026-10-22</a:t>
            </a:r>
          </a:p>
        </p:txBody>
      </p:sp>
      <p:sp>
        <p:nvSpPr>
          <p:cNvPr id="26" name="TextBox 25"/>
          <p:cNvSpPr txBox="1"/>
          <p:nvPr/>
        </p:nvSpPr>
        <p:spPr>
          <a:xfrm>
            <a:off x="3515118" y="3645407"/>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Just a cleaning of config file, by Tlamatini's-AutoBot.</a:t>
            </a:r>
          </a:p>
        </p:txBody>
      </p:sp>
      <p:sp>
        <p:nvSpPr>
          <p:cNvPr id="27" name="TextBox 26"/>
          <p:cNvSpPr txBox="1"/>
          <p:nvPr/>
        </p:nvSpPr>
        <p:spPr>
          <a:xfrm>
            <a:off x="640080" y="3966971"/>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939acf6b</a:t>
            </a:r>
          </a:p>
        </p:txBody>
      </p:sp>
      <p:sp>
        <p:nvSpPr>
          <p:cNvPr id="28" name="TextBox 27"/>
          <p:cNvSpPr txBox="1"/>
          <p:nvPr/>
        </p:nvSpPr>
        <p:spPr>
          <a:xfrm>
            <a:off x="1967020" y="3966971"/>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2026-10-22</a:t>
            </a:r>
          </a:p>
        </p:txBody>
      </p:sp>
      <p:sp>
        <p:nvSpPr>
          <p:cNvPr id="29" name="TextBox 28"/>
          <p:cNvSpPr txBox="1"/>
          <p:nvPr/>
        </p:nvSpPr>
        <p:spPr>
          <a:xfrm>
            <a:off x="3515118" y="3966971"/>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Making some 'tryings' to GUI notifications, by Tlamatini's-AutoBot.</a:t>
            </a:r>
          </a:p>
        </p:txBody>
      </p:sp>
      <p:sp>
        <p:nvSpPr>
          <p:cNvPr id="30" name="Rectangle 29"/>
          <p:cNvSpPr/>
          <p:nvPr/>
        </p:nvSpPr>
        <p:spPr>
          <a:xfrm>
            <a:off x="585216" y="4251959"/>
            <a:ext cx="11021263" cy="32156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288536"/>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8c577d3a</a:t>
            </a:r>
          </a:p>
        </p:txBody>
      </p:sp>
      <p:sp>
        <p:nvSpPr>
          <p:cNvPr id="32" name="TextBox 31"/>
          <p:cNvSpPr txBox="1"/>
          <p:nvPr/>
        </p:nvSpPr>
        <p:spPr>
          <a:xfrm>
            <a:off x="1967020" y="4288536"/>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2026-10-22</a:t>
            </a:r>
          </a:p>
        </p:txBody>
      </p:sp>
      <p:sp>
        <p:nvSpPr>
          <p:cNvPr id="33" name="TextBox 32"/>
          <p:cNvSpPr txBox="1"/>
          <p:nvPr/>
        </p:nvSpPr>
        <p:spPr>
          <a:xfrm>
            <a:off x="3515118" y="4288536"/>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Bumping to version 1.90.0 by Tlamatini's-AutoBot.</a:t>
            </a:r>
          </a:p>
        </p:txBody>
      </p:sp>
      <p:sp>
        <p:nvSpPr>
          <p:cNvPr id="34" name="TextBox 33"/>
          <p:cNvSpPr txBox="1"/>
          <p:nvPr/>
        </p:nvSpPr>
        <p:spPr>
          <a:xfrm>
            <a:off x="640080" y="4610099"/>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d274f89c</a:t>
            </a:r>
          </a:p>
        </p:txBody>
      </p:sp>
      <p:sp>
        <p:nvSpPr>
          <p:cNvPr id="35" name="TextBox 34"/>
          <p:cNvSpPr txBox="1"/>
          <p:nvPr/>
        </p:nvSpPr>
        <p:spPr>
          <a:xfrm>
            <a:off x="1967020" y="4610099"/>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2026-10-22</a:t>
            </a:r>
          </a:p>
        </p:txBody>
      </p:sp>
      <p:sp>
        <p:nvSpPr>
          <p:cNvPr id="36" name="TextBox 35"/>
          <p:cNvSpPr txBox="1"/>
          <p:nvPr/>
        </p:nvSpPr>
        <p:spPr>
          <a:xfrm>
            <a:off x="3515118" y="4610099"/>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Fine-tunning Tlamatini on Interactor and Terminater, by Tlamatini's-AutoBot.</a:t>
            </a:r>
          </a:p>
        </p:txBody>
      </p:sp>
      <p:sp>
        <p:nvSpPr>
          <p:cNvPr id="37" name="Rectangle 36"/>
          <p:cNvSpPr/>
          <p:nvPr/>
        </p:nvSpPr>
        <p:spPr>
          <a:xfrm>
            <a:off x="585216" y="4895087"/>
            <a:ext cx="11021263" cy="32156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931663"/>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ebc5c3b4</a:t>
            </a:r>
          </a:p>
        </p:txBody>
      </p:sp>
      <p:sp>
        <p:nvSpPr>
          <p:cNvPr id="39" name="TextBox 38"/>
          <p:cNvSpPr txBox="1"/>
          <p:nvPr/>
        </p:nvSpPr>
        <p:spPr>
          <a:xfrm>
            <a:off x="1967020" y="4931663"/>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2026-10-22</a:t>
            </a:r>
          </a:p>
        </p:txBody>
      </p:sp>
      <p:sp>
        <p:nvSpPr>
          <p:cNvPr id="40" name="TextBox 39"/>
          <p:cNvSpPr txBox="1"/>
          <p:nvPr/>
        </p:nvSpPr>
        <p:spPr>
          <a:xfrm>
            <a:off x="3515118" y="4931663"/>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Fine-tunning Tlamatini on Interactor and Terminater, by Tlamatini's-AutoBot.</a:t>
            </a:r>
          </a:p>
        </p:txBody>
      </p:sp>
      <p:sp>
        <p:nvSpPr>
          <p:cNvPr id="41" name="TextBox 40"/>
          <p:cNvSpPr txBox="1"/>
          <p:nvPr/>
        </p:nvSpPr>
        <p:spPr>
          <a:xfrm>
            <a:off x="640080" y="5253227"/>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13508750</a:t>
            </a:r>
          </a:p>
        </p:txBody>
      </p:sp>
      <p:sp>
        <p:nvSpPr>
          <p:cNvPr id="42" name="TextBox 41"/>
          <p:cNvSpPr txBox="1"/>
          <p:nvPr/>
        </p:nvSpPr>
        <p:spPr>
          <a:xfrm>
            <a:off x="1967020" y="5253227"/>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2026-10-21</a:t>
            </a:r>
          </a:p>
        </p:txBody>
      </p:sp>
      <p:sp>
        <p:nvSpPr>
          <p:cNvPr id="43" name="TextBox 42"/>
          <p:cNvSpPr txBox="1"/>
          <p:nvPr/>
        </p:nvSpPr>
        <p:spPr>
          <a:xfrm>
            <a:off x="3515118" y="5253227"/>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Enabling Tlamatini's GUI the edition of files!!!, by Tlamaitni's--AutoBot.</a:t>
            </a:r>
          </a:p>
        </p:txBody>
      </p:sp>
      <p:sp>
        <p:nvSpPr>
          <p:cNvPr id="44" name="Rectangle 43"/>
          <p:cNvSpPr/>
          <p:nvPr/>
        </p:nvSpPr>
        <p:spPr>
          <a:xfrm>
            <a:off x="585216" y="5538215"/>
            <a:ext cx="11021263" cy="32156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74791"/>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e318eef8</a:t>
            </a:r>
          </a:p>
        </p:txBody>
      </p:sp>
      <p:sp>
        <p:nvSpPr>
          <p:cNvPr id="46" name="TextBox 45"/>
          <p:cNvSpPr txBox="1"/>
          <p:nvPr/>
        </p:nvSpPr>
        <p:spPr>
          <a:xfrm>
            <a:off x="1967020" y="5574791"/>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2026-10-20</a:t>
            </a:r>
          </a:p>
        </p:txBody>
      </p:sp>
      <p:sp>
        <p:nvSpPr>
          <p:cNvPr id="47" name="TextBox 46"/>
          <p:cNvSpPr txBox="1"/>
          <p:nvPr/>
        </p:nvSpPr>
        <p:spPr>
          <a:xfrm>
            <a:off x="3515118" y="5574791"/>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Fixed: no box floats over the terminal text in terminals, by angelahack1</a:t>
            </a:r>
          </a:p>
        </p:txBody>
      </p:sp>
      <p:sp>
        <p:nvSpPr>
          <p:cNvPr id="48" name="TextBox 47"/>
          <p:cNvSpPr txBox="1"/>
          <p:nvPr/>
        </p:nvSpPr>
        <p:spPr>
          <a:xfrm>
            <a:off x="640080" y="5896355"/>
            <a:ext cx="1180636" cy="248412"/>
          </a:xfrm>
          <a:prstGeom prst="rect">
            <a:avLst/>
          </a:prstGeom>
          <a:noFill/>
        </p:spPr>
        <p:txBody>
          <a:bodyPr wrap="square" lIns="45720" rIns="45720" tIns="27432" bIns="27432" anchor="ctr">
            <a:noAutofit/>
          </a:bodyPr>
          <a:lstStyle/>
          <a:p>
            <a:pPr algn="l">
              <a:lnSpc>
                <a:spcPct val="100000"/>
              </a:lnSpc>
            </a:pPr>
            <a:r>
              <a:rPr sz="1150" b="0" i="0">
                <a:solidFill>
                  <a:srgbClr val="F7F2E8"/>
                </a:solidFill>
                <a:latin typeface="Segoe UI Semibold"/>
              </a:rPr>
              <a:t>3f286a19</a:t>
            </a:r>
          </a:p>
        </p:txBody>
      </p:sp>
      <p:sp>
        <p:nvSpPr>
          <p:cNvPr id="49" name="TextBox 48"/>
          <p:cNvSpPr txBox="1"/>
          <p:nvPr/>
        </p:nvSpPr>
        <p:spPr>
          <a:xfrm>
            <a:off x="1967020" y="5896355"/>
            <a:ext cx="1401793"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2026-10-20</a:t>
            </a:r>
          </a:p>
        </p:txBody>
      </p:sp>
      <p:sp>
        <p:nvSpPr>
          <p:cNvPr id="50" name="TextBox 49"/>
          <p:cNvSpPr txBox="1"/>
          <p:nvPr/>
        </p:nvSpPr>
        <p:spPr>
          <a:xfrm>
            <a:off x="3515118" y="5896355"/>
            <a:ext cx="8036497" cy="248412"/>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Terminater complete mechanism within Tlamatni's enhanced by Codex, by angelahack1</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170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3129e0b8</a:t>
            </a:r>
          </a:p>
        </p:txBody>
      </p:sp>
      <p:sp>
        <p:nvSpPr>
          <p:cNvPr id="14" name="TextBox 13"/>
          <p:cNvSpPr txBox="1"/>
          <p:nvPr/>
        </p:nvSpPr>
        <p:spPr>
          <a:xfrm>
            <a:off x="1967020" y="2505456"/>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2026-10-20</a:t>
            </a:r>
          </a:p>
        </p:txBody>
      </p:sp>
      <p:sp>
        <p:nvSpPr>
          <p:cNvPr id="15" name="TextBox 14"/>
          <p:cNvSpPr txBox="1"/>
          <p:nvPr/>
        </p:nvSpPr>
        <p:spPr>
          <a:xfrm>
            <a:off x="3515118" y="2505456"/>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everything as 1.88.0, by Tlamatini's-AutoBot.</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171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172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application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1,606 application files, with 221 database-history files summarized.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173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build_env.py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ConfigureModels.png</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pyinstaller_guard.py</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setup_logging.py</a:t>
            </a:r>
          </a:p>
          <a:p>
            <a:pPr algn="l">
              <a:lnSpc>
                <a:spcPct val="100000"/>
              </a:lnSpc>
            </a:pPr>
            <a:r>
              <a:rPr sz="800" b="0" i="0">
                <a:solidFill>
                  <a:srgbClr val="ECE7DC"/>
                </a:solidFill>
                <a:latin typeface="Consolas"/>
              </a:rPr>
              <a:t>├── setup_recovery.py</a:t>
            </a:r>
          </a:p>
          <a:p>
            <a:pPr algn="l">
              <a:lnSpc>
                <a:spcPct val="100000"/>
              </a:lnSpc>
            </a:pPr>
            <a:r>
              <a:rPr sz="800" b="0" i="0">
                <a:solidFill>
                  <a:srgbClr val="ECE7DC"/>
                </a:solidFill>
                <a:latin typeface="Consolas"/>
              </a:rPr>
              <a:t>├── setup_windows.py</a:t>
            </a:r>
          </a:p>
          <a:p>
            <a:pPr algn="l">
              <a:lnSpc>
                <a:spcPct val="100000"/>
              </a:lnSpc>
            </a:pPr>
            <a:r>
              <a:rPr sz="800" b="0" i="0">
                <a:solidFill>
                  <a:srgbClr val="ECE7DC"/>
                </a:solidFill>
                <a:latin typeface="Consolas"/>
              </a:rPr>
              <a:t>├── setup_wizard.py</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Tlamatini-Architecture.pdf</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174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file_drop_visible.py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175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video_link_visible.py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canvas-and-interactor-quick-reference.txt</a:t>
            </a:r>
          </a:p>
          <a:p>
            <a:pPr algn="l">
              <a:lnSpc>
                <a:spcPct val="100000"/>
              </a:lnSpc>
            </a:pPr>
            <a:r>
              <a:rPr sz="800" b="0" i="0">
                <a:solidFill>
                  <a:srgbClr val="ECE7DC"/>
                </a:solidFill>
                <a:latin typeface="Consolas"/>
              </a:rPr>
              <a:t>│   ├── canvas-editing.md</a:t>
            </a:r>
          </a:p>
          <a:p>
            <a:pPr algn="l">
              <a:lnSpc>
                <a:spcPct val="100000"/>
              </a:lnSpc>
            </a:pPr>
            <a:r>
              <a:rPr sz="800" b="0" i="0">
                <a:solidFill>
                  <a:srgbClr val="ECE7DC"/>
                </a:solidFill>
                <a:latin typeface="Consolas"/>
              </a:rPr>
              <a:t>│   ├── canvas-refresh.md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interaction-settings.md</a:t>
            </a:r>
          </a:p>
          <a:p>
            <a:pPr algn="l">
              <a:lnSpc>
                <a:spcPct val="100000"/>
              </a:lnSpc>
            </a:pPr>
            <a:r>
              <a:rPr sz="800" b="0" i="0">
                <a:solidFill>
                  <a:srgbClr val="ECE7DC"/>
                </a:solidFill>
                <a:latin typeface="Consolas"/>
              </a:rPr>
              <a:t>│   ├── interactor.md</a:t>
            </a:r>
          </a:p>
          <a:p>
            <a:pPr algn="l">
              <a:lnSpc>
                <a:spcPct val="100000"/>
              </a:lnSpc>
            </a:pPr>
            <a:r>
              <a:rPr sz="800" b="0" i="0">
                <a:solidFill>
                  <a:srgbClr val="ECE7DC"/>
                </a:solidFill>
                <a:latin typeface="Consolas"/>
              </a:rPr>
              <a:t>│   ├── markdown-canvas.md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oob-namu-lifecycle.md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setup-lifecycle-research.md</a:t>
            </a:r>
          </a:p>
          <a:p>
            <a:pPr algn="l">
              <a:lnSpc>
                <a:spcPct val="100000"/>
              </a:lnSpc>
            </a:pPr>
            <a:r>
              <a:rPr sz="800" b="0" i="0">
                <a:solidFill>
                  <a:srgbClr val="ECE7DC"/>
                </a:solidFill>
                <a:latin typeface="Consolas"/>
              </a:rPr>
              <a:t>│   ├── setup-wizards.md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terminater.md</a:t>
            </a:r>
          </a:p>
          <a:p>
            <a:pPr algn="l">
              <a:lnSpc>
                <a:spcPct val="100000"/>
              </a:lnSpc>
            </a:pPr>
            <a:r>
              <a:rPr sz="800" b="0" i="0">
                <a:solidFill>
                  <a:srgbClr val="ECE7DC"/>
                </a:solidFill>
                <a:latin typeface="Consolas"/>
              </a:rPr>
              <a:t>│   ├── usage-dashboard.md</a:t>
            </a:r>
          </a:p>
          <a:p>
            <a:pPr algn="l">
              <a:lnSpc>
                <a:spcPct val="100000"/>
              </a:lnSpc>
            </a:pPr>
            <a:r>
              <a:rPr sz="800" b="0" i="0">
                <a:solidFill>
                  <a:srgbClr val="ECE7DC"/>
                </a:solidFill>
                <a:latin typeface="Consolas"/>
              </a:rPr>
              <a:t>│   ├── user-creation-wizard.md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assets/</a:t>
            </a:r>
          </a:p>
          <a:p>
            <a:pPr algn="l">
              <a:lnSpc>
                <a:spcPct val="100000"/>
              </a:lnSpc>
            </a:pPr>
            <a:r>
              <a:rPr sz="800" b="0" i="0">
                <a:solidFill>
                  <a:srgbClr val="ECE7DC"/>
                </a:solidFill>
                <a:latin typeface="Consolas"/>
              </a:rPr>
              <a:t>│   │   └── readme-hero.svg</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176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ECE7DC"/>
                </a:solidFill>
                <a:latin typeface="Consolas"/>
              </a:rPr>
              <a:t>│   │   ├── 2026-10-10-composer-resize.md</a:t>
            </a:r>
          </a:p>
          <a:p>
            <a:pPr algn="l">
              <a:lnSpc>
                <a:spcPct val="100000"/>
              </a:lnSpc>
            </a:pPr>
            <a:r>
              <a:rPr sz="800" b="0" i="0">
                <a:solidFill>
                  <a:srgbClr val="ECE7DC"/>
                </a:solidFill>
                <a:latin typeface="Consolas"/>
              </a:rPr>
              <a:t>│   │   ├── 2026-10-11-ui-sweep.md</a:t>
            </a:r>
          </a:p>
          <a:p>
            <a:pPr algn="l">
              <a:lnSpc>
                <a:spcPct val="100000"/>
              </a:lnSpc>
            </a:pPr>
            <a:r>
              <a:rPr sz="800" b="0" i="0">
                <a:solidFill>
                  <a:srgbClr val="ECE7DC"/>
                </a:solidFill>
                <a:latin typeface="Consolas"/>
              </a:rPr>
              <a:t>│   │   ├── 2026-10-13-docked-avatar-divider.md</a:t>
            </a:r>
          </a:p>
          <a:p>
            <a:pPr algn="l">
              <a:lnSpc>
                <a:spcPct val="100000"/>
              </a:lnSpc>
            </a:pPr>
            <a:r>
              <a:rPr sz="800" b="0" i="0">
                <a:solidFill>
                  <a:srgbClr val="ECE7DC"/>
                </a:solidFill>
                <a:latin typeface="Consolas"/>
              </a:rPr>
              <a:t>│   │   ├── 2026-10-16-v1.85.0.md</a:t>
            </a:r>
          </a:p>
          <a:p>
            <a:pPr algn="l">
              <a:lnSpc>
                <a:spcPct val="100000"/>
              </a:lnSpc>
            </a:pPr>
            <a:r>
              <a:rPr sz="800" b="0" i="0">
                <a:solidFill>
                  <a:srgbClr val="ECE7DC"/>
                </a:solidFill>
                <a:latin typeface="Consolas"/>
              </a:rPr>
              <a:t>│   │   ├── 2026-10-18-v1.87.0.md</a:t>
            </a:r>
          </a:p>
          <a:p>
            <a:pPr algn="l">
              <a:lnSpc>
                <a:spcPct val="100000"/>
              </a:lnSpc>
            </a:pPr>
            <a:r>
              <a:rPr sz="800" b="0" i="0">
                <a:solidFill>
                  <a:srgbClr val="ECE7DC"/>
                </a:solidFill>
                <a:latin typeface="Consolas"/>
              </a:rPr>
              <a:t>│   │   ├── 2026-10-19-private-release-data.md</a:t>
            </a:r>
          </a:p>
          <a:p>
            <a:pPr algn="l">
              <a:lnSpc>
                <a:spcPct val="100000"/>
              </a:lnSpc>
            </a:pPr>
            <a:r>
              <a:rPr sz="800" b="0" i="0">
                <a:solidFill>
                  <a:srgbClr val="ECE7DC"/>
                </a:solidFill>
                <a:latin typeface="Consolas"/>
              </a:rPr>
              <a:t>│   │   ├── 2026-10-19-terminater.md</a:t>
            </a:r>
          </a:p>
          <a:p>
            <a:pPr algn="l">
              <a:lnSpc>
                <a:spcPct val="100000"/>
              </a:lnSpc>
            </a:pPr>
            <a:r>
              <a:rPr sz="800" b="0" i="0">
                <a:solidFill>
                  <a:srgbClr val="ECE7DC"/>
                </a:solidFill>
                <a:latin typeface="Consolas"/>
              </a:rPr>
              <a:t>│   │   ├── 2026-10-20-terminater-audit.md</a:t>
            </a:r>
          </a:p>
          <a:p>
            <a:pPr algn="l">
              <a:lnSpc>
                <a:spcPct val="100000"/>
              </a:lnSpc>
            </a:pPr>
            <a:r>
              <a:rPr sz="800" b="0" i="0">
                <a:solidFill>
                  <a:srgbClr val="ECE7DC"/>
                </a:solidFill>
                <a:latin typeface="Consolas"/>
              </a:rPr>
              <a:t>│   │   ├── 2026-10-20-v1.88.0.md</a:t>
            </a:r>
          </a:p>
          <a:p>
            <a:pPr algn="l">
              <a:lnSpc>
                <a:spcPct val="100000"/>
              </a:lnSpc>
            </a:pPr>
            <a:r>
              <a:rPr sz="800" b="0" i="0">
                <a:solidFill>
                  <a:srgbClr val="ECE7DC"/>
                </a:solidFill>
                <a:latin typeface="Consolas"/>
              </a:rPr>
              <a:t>│   │   ├── 2026-10-22-documentation-refresh.md</a:t>
            </a:r>
          </a:p>
          <a:p>
            <a:pPr algn="l">
              <a:lnSpc>
                <a:spcPct val="100000"/>
              </a:lnSpc>
            </a:pPr>
            <a:r>
              <a:rPr sz="800" b="0" i="0">
                <a:solidFill>
                  <a:srgbClr val="ECE7DC"/>
                </a:solidFill>
                <a:latin typeface="Consolas"/>
              </a:rPr>
              <a:t>│   │   ├── 2026-10-22-release-version-pinning.md</a:t>
            </a:r>
          </a:p>
          <a:p>
            <a:pPr algn="l">
              <a:lnSpc>
                <a:spcPct val="100000"/>
              </a:lnSpc>
            </a:pPr>
            <a:r>
              <a:rPr sz="800" b="0" i="0">
                <a:solidFill>
                  <a:srgbClr val="ECE7DC"/>
                </a:solidFill>
                <a:latin typeface="Consolas"/>
              </a:rPr>
              <a:t>│   │   └── 2026-10-22-v1.90.0.md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agent_catalog_visible.py</a:t>
            </a:r>
          </a:p>
          <a:p>
            <a:pPr algn="l">
              <a:lnSpc>
                <a:spcPct val="100000"/>
              </a:lnSpc>
            </a:pPr>
            <a:r>
              <a:rPr sz="800" b="0" i="0">
                <a:solidFill>
                  <a:srgbClr val="ECE7DC"/>
                </a:solidFill>
                <a:latin typeface="Consolas"/>
              </a:rPr>
              <a:t>│   ├── build_canvas_editor.mjs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build_setup_full_payload.py</a:t>
            </a:r>
          </a:p>
          <a:p>
            <a:pPr algn="l">
              <a:lnSpc>
                <a:spcPct val="100000"/>
              </a:lnSpc>
            </a:pPr>
            <a:r>
              <a:rPr sz="800" b="0" i="0">
                <a:solidFill>
                  <a:srgbClr val="ECE7DC"/>
                </a:solidFill>
                <a:latin typeface="Consolas"/>
              </a:rPr>
              <a:t>│   ├── build_setup_validation.py</a:t>
            </a:r>
          </a:p>
          <a:p>
            <a:pPr algn="l">
              <a:lnSpc>
                <a:spcPct val="100000"/>
              </a:lnSpc>
            </a:pPr>
            <a:r>
              <a:rPr sz="800" b="0" i="0">
                <a:solidFill>
                  <a:srgbClr val="ECE7DC"/>
                </a:solidFill>
                <a:latin typeface="Consolas"/>
              </a:rPr>
              <a:t>│   ├── canvas_editing_visible.py</a:t>
            </a:r>
          </a:p>
          <a:p>
            <a:pPr algn="l">
              <a:lnSpc>
                <a:spcPct val="100000"/>
              </a:lnSpc>
            </a:pPr>
            <a:r>
              <a:rPr sz="800" b="0" i="0">
                <a:solidFill>
                  <a:srgbClr val="ECE7DC"/>
                </a:solidFill>
                <a:latin typeface="Consolas"/>
              </a:rPr>
              <a:t>│   ├── canvas_editor_entry.mjs</a:t>
            </a:r>
          </a:p>
          <a:p>
            <a:pPr algn="l">
              <a:lnSpc>
                <a:spcPct val="100000"/>
              </a:lnSpc>
            </a:pPr>
            <a:r>
              <a:rPr sz="800" b="0" i="0">
                <a:solidFill>
                  <a:srgbClr val="ECE7DC"/>
                </a:solidFill>
                <a:latin typeface="Consolas"/>
              </a:rPr>
              <a:t>│   ├── canvas_refresh_visible.py</a:t>
            </a:r>
          </a:p>
          <a:p>
            <a:pPr algn="l">
              <a:lnSpc>
                <a:spcPct val="100000"/>
              </a:lnSpc>
            </a:pPr>
            <a:r>
              <a:rPr sz="800" b="0" i="0">
                <a:solidFill>
                  <a:srgbClr val="ECE7DC"/>
                </a:solidFill>
                <a:latin typeface="Consolas"/>
              </a:rPr>
              <a:t>│   ├── chat_composer_resize_checks.py</a:t>
            </a:r>
          </a:p>
          <a:p>
            <a:pPr algn="l">
              <a:lnSpc>
                <a:spcPct val="100000"/>
              </a:lnSpc>
            </a:pPr>
            <a:r>
              <a:rPr sz="800" b="0" i="0">
                <a:solidFill>
                  <a:srgbClr val="ECE7DC"/>
                </a:solidFill>
                <a:latin typeface="Consolas"/>
              </a:rPr>
              <a:t>│   ├── chat_composer_resize_visible.py</a:t>
            </a:r>
          </a:p>
          <a:p>
            <a:pPr algn="l">
              <a:lnSpc>
                <a:spcPct val="100000"/>
              </a:lnSpc>
            </a:pPr>
            <a:r>
              <a:rPr sz="800" b="0" i="0">
                <a:solidFill>
                  <a:srgbClr val="ECE7DC"/>
                </a:solidFill>
                <a:latin typeface="Consolas"/>
              </a:rPr>
              <a:t>│   ├── chat_composer_visible_window.py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chat_viewport_visible_checks.py</a:t>
            </a:r>
          </a:p>
          <a:p>
            <a:pPr algn="l">
              <a:lnSpc>
                <a:spcPct val="100000"/>
              </a:lnSpc>
            </a:pPr>
            <a:r>
              <a:rPr sz="800" b="0" i="0">
                <a:solidFill>
                  <a:srgbClr val="ECE7DC"/>
                </a:solidFill>
                <a:latin typeface="Consolas"/>
              </a:rPr>
              <a:t>│   ├── chat_views_frozen_visible.py</a:t>
            </a:r>
          </a:p>
          <a:p>
            <a:pPr algn="l">
              <a:lnSpc>
                <a:spcPct val="100000"/>
              </a:lnSpc>
            </a:pPr>
            <a:r>
              <a:rPr sz="800" b="0" i="0">
                <a:solidFill>
                  <a:srgbClr val="ECE7DC"/>
                </a:solidFill>
                <a:latin typeface="Consolas"/>
              </a:rPr>
              <a:t>│   ├── chat_views_visible.py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check_python_quality.py</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docked_avatar_resize_checks.py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drag_divider_look_visible.py</a:t>
            </a:r>
          </a:p>
          <a:p>
            <a:pPr algn="l">
              <a:lnSpc>
                <a:spcPct val="100000"/>
              </a:lnSpc>
            </a:pPr>
            <a:r>
              <a:rPr sz="800" b="0" i="0">
                <a:solidFill>
                  <a:srgbClr val="ECE7DC"/>
                </a:solidFill>
                <a:latin typeface="Consolas"/>
              </a:rPr>
              <a:t>│   ├── file_drop_router_cases.mjs</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interaction_settings_visible.py</a:t>
            </a:r>
          </a:p>
          <a:p>
            <a:pPr algn="l">
              <a:lnSpc>
                <a:spcPct val="100000"/>
              </a:lnSpc>
            </a:pPr>
            <a:r>
              <a:rPr sz="800" b="0" i="0">
                <a:solidFill>
                  <a:srgbClr val="ECE7DC"/>
                </a:solidFill>
                <a:latin typeface="Consolas"/>
              </a:rPr>
              <a:t>│   ├── interactor_runtime_server.py</a:t>
            </a:r>
          </a:p>
          <a:p>
            <a:pPr algn="l">
              <a:lnSpc>
                <a:spcPct val="100000"/>
              </a:lnSpc>
            </a:pPr>
            <a:r>
              <a:rPr sz="800" b="0" i="0">
                <a:solidFill>
                  <a:srgbClr val="ECE7DC"/>
                </a:solidFill>
                <a:latin typeface="Consolas"/>
              </a:rPr>
              <a:t>│   ├── interactor_runtime_visible.py</a:t>
            </a:r>
          </a:p>
          <a:p>
            <a:pPr algn="l">
              <a:lnSpc>
                <a:spcPct val="100000"/>
              </a:lnSpc>
            </a:pPr>
            <a:r>
              <a:rPr sz="800" b="0" i="0">
                <a:solidFill>
                  <a:srgbClr val="ECE7DC"/>
                </a:solidFill>
                <a:latin typeface="Consolas"/>
              </a:rPr>
              <a:t>│   ├── interactor_visible.py</a:t>
            </a:r>
          </a:p>
          <a:p>
            <a:pPr algn="l">
              <a:lnSpc>
                <a:spcPct val="100000"/>
              </a:lnSpc>
            </a:pPr>
            <a:r>
              <a:rPr sz="800" b="0" i="0">
                <a:solidFill>
                  <a:srgbClr val="ECE7DC"/>
                </a:solidFill>
                <a:latin typeface="Consolas"/>
              </a:rPr>
              <a:t>│   ├── markdown_canvas_visible.py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playwright_real_visibility.cjs</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refresh_supporting_pdfs.py</a:t>
            </a:r>
          </a:p>
          <a:p>
            <a:pPr algn="l">
              <a:lnSpc>
                <a:spcPct val="100000"/>
              </a:lnSpc>
            </a:pPr>
            <a:r>
              <a:rPr sz="800" b="0" i="0">
                <a:solidFill>
                  <a:srgbClr val="ECE7DC"/>
                </a:solidFill>
                <a:latin typeface="Consolas"/>
              </a:rPr>
              <a:t>│   ├── release_acp_editor_checks.py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review_documentation_visuals.py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setup_crash_agents_visible.py</a:t>
            </a:r>
          </a:p>
          <a:p>
            <a:pPr algn="l">
              <a:lnSpc>
                <a:spcPct val="100000"/>
              </a:lnSpc>
            </a:pPr>
            <a:r>
              <a:rPr sz="800" b="0" i="0">
                <a:solidFill>
                  <a:srgbClr val="ECE7DC"/>
                </a:solidFill>
                <a:latin typeface="Consolas"/>
              </a:rPr>
              <a:t>│   ├── setup_desktop_cycles.py</a:t>
            </a:r>
          </a:p>
          <a:p>
            <a:pPr algn="l">
              <a:lnSpc>
                <a:spcPct val="100000"/>
              </a:lnSpc>
            </a:pPr>
            <a:r>
              <a:rPr sz="800" b="0" i="0">
                <a:solidFill>
                  <a:srgbClr val="ECE7DC"/>
                </a:solidFill>
                <a:latin typeface="Consolas"/>
              </a:rPr>
              <a:t>│   ├── setup_lifecycle_checks.py</a:t>
            </a:r>
          </a:p>
          <a:p>
            <a:pPr algn="l">
              <a:lnSpc>
                <a:spcPct val="100000"/>
              </a:lnSpc>
            </a:pPr>
            <a:r>
              <a:rPr sz="800" b="0" i="0">
                <a:solidFill>
                  <a:srgbClr val="ECE7DC"/>
                </a:solidFill>
                <a:latin typeface="Consolas"/>
              </a:rPr>
              <a:t>│   ├── setup_release_cycles.py</a:t>
            </a:r>
          </a:p>
          <a:p>
            <a:pPr algn="l">
              <a:lnSpc>
                <a:spcPct val="100000"/>
              </a:lnSpc>
            </a:pPr>
            <a:r>
              <a:rPr sz="800" b="0" i="0">
                <a:solidFill>
                  <a:srgbClr val="ECE7DC"/>
                </a:solidFill>
                <a:latin typeface="Consolas"/>
              </a:rPr>
              <a:t>│   ├── setup_wizard_visible.py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terminater_visible_acp.py</a:t>
            </a:r>
          </a:p>
          <a:p>
            <a:pPr algn="l">
              <a:lnSpc>
                <a:spcPct val="100000"/>
              </a:lnSpc>
            </a:pPr>
            <a:r>
              <a:rPr sz="800" b="0" i="0">
                <a:solidFill>
                  <a:srgbClr val="ECE7DC"/>
                </a:solidFill>
                <a:latin typeface="Consolas"/>
              </a:rPr>
              <a:t>│   ├── terminater_visible_all.py</a:t>
            </a:r>
          </a:p>
          <a:p>
            <a:pPr algn="l">
              <a:lnSpc>
                <a:spcPct val="100000"/>
              </a:lnSpc>
            </a:pPr>
            <a:r>
              <a:rPr sz="800" b="0" i="0">
                <a:solidFill>
                  <a:srgbClr val="ECE7DC"/>
                </a:solidFill>
                <a:latin typeface="Consolas"/>
              </a:rPr>
              <a:t>│   ├── terminater_visible_battery.py</a:t>
            </a:r>
          </a:p>
          <a:p>
            <a:pPr algn="l">
              <a:lnSpc>
                <a:spcPct val="100000"/>
              </a:lnSpc>
            </a:pPr>
            <a:r>
              <a:rPr sz="800" b="0" i="0">
                <a:solidFill>
                  <a:srgbClr val="ECE7DC"/>
                </a:solidFill>
                <a:latin typeface="Consolas"/>
              </a:rPr>
              <a:t>│   ├── terminater_visible_chat.py</a:t>
            </a:r>
          </a:p>
          <a:p>
            <a:pPr algn="l">
              <a:lnSpc>
                <a:spcPct val="100000"/>
              </a:lnSpc>
            </a:pPr>
            <a:r>
              <a:rPr sz="800" b="0" i="0">
                <a:solidFill>
                  <a:srgbClr val="ECE7DC"/>
                </a:solidFill>
                <a:latin typeface="Consolas"/>
              </a:rPr>
              <a:t>│   ├── terminater_visible_common.py</a:t>
            </a:r>
          </a:p>
          <a:p>
            <a:pPr algn="l">
              <a:lnSpc>
                <a:spcPct val="100000"/>
              </a:lnSpc>
            </a:pPr>
            <a:r>
              <a:rPr sz="800" b="0" i="0">
                <a:solidFill>
                  <a:srgbClr val="ECE7DC"/>
                </a:solidFill>
                <a:latin typeface="Consolas"/>
              </a:rPr>
              <a:t>│   ├── terminater_visible_pfp.py</a:t>
            </a:r>
          </a:p>
          <a:p>
            <a:pPr algn="l">
              <a:lnSpc>
                <a:spcPct val="100000"/>
              </a:lnSpc>
            </a:pPr>
            <a:r>
              <a:rPr sz="800" b="0" i="0">
                <a:solidFill>
                  <a:srgbClr val="ECE7DC"/>
                </a:solidFill>
                <a:latin typeface="Consolas"/>
              </a:rPr>
              <a:t>│   ├── tlamatini_clean_install.ps1</a:t>
            </a:r>
          </a:p>
          <a:p>
            <a:pPr algn="l">
              <a:lnSpc>
                <a:spcPct val="100000"/>
              </a:lnSpc>
            </a:pPr>
            <a:r>
              <a:rPr sz="800" b="0" i="0">
                <a:solidFill>
                  <a:srgbClr val="ECE7DC"/>
                </a:solidFill>
                <a:latin typeface="Consolas"/>
              </a:rPr>
              <a:t>│   ├── ui_sweep_resize_checks.py</a:t>
            </a:r>
          </a:p>
          <a:p>
            <a:pPr algn="l">
              <a:lnSpc>
                <a:spcPct val="100000"/>
              </a:lnSpc>
            </a:pPr>
            <a:r>
              <a:rPr sz="800" b="0" i="0">
                <a:solidFill>
                  <a:srgbClr val="ECE7DC"/>
                </a:solidFill>
                <a:latin typeface="Consolas"/>
              </a:rPr>
              <a:t>│   ├── ui_sweep_visible.py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usage_dashboard_browser_checks.py</a:t>
            </a:r>
          </a:p>
          <a:p>
            <a:pPr algn="l">
              <a:lnSpc>
                <a:spcPct val="100000"/>
              </a:lnSpc>
            </a:pPr>
            <a:r>
              <a:rPr sz="800" b="0" i="0">
                <a:solidFill>
                  <a:srgbClr val="ECE7DC"/>
                </a:solidFill>
                <a:latin typeface="Consolas"/>
              </a:rPr>
              <a:t>│   ├── usage_dashboard_fixture_checks.py</a:t>
            </a:r>
          </a:p>
          <a:p>
            <a:pPr algn="l">
              <a:lnSpc>
                <a:spcPct val="100000"/>
              </a:lnSpc>
            </a:pPr>
            <a:r>
              <a:rPr sz="800" b="0" i="0">
                <a:solidFill>
                  <a:srgbClr val="ECE7DC"/>
                </a:solidFill>
                <a:latin typeface="Consolas"/>
              </a:rPr>
              <a:t>│   ├── usage_dashboard_visible.py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 architecture_atlas/</a:t>
            </a:r>
          </a:p>
          <a:p>
            <a:pPr algn="l">
              <a:lnSpc>
                <a:spcPct val="100000"/>
              </a:lnSpc>
            </a:pPr>
            <a:r>
              <a:rPr sz="800" b="0" i="0">
                <a:solidFill>
                  <a:srgbClr val="ECE7DC"/>
                </a:solidFill>
                <a:latin typeface="Consolas"/>
              </a:rPr>
              <a:t>│       ├── build_architecture_pdf.py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177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gen_architecture.py</a:t>
            </a:r>
          </a:p>
          <a:p>
            <a:pPr algn="l">
              <a:lnSpc>
                <a:spcPct val="100000"/>
              </a:lnSpc>
            </a:pPr>
            <a:r>
              <a:rPr sz="800" b="0" i="0">
                <a:solidFill>
                  <a:srgbClr val="ECE7DC"/>
                </a:solidFill>
                <a:latin typeface="Consolas"/>
              </a:rPr>
              <a:t>│       └── README.md</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test_release_regeneration.py</a:t>
            </a:r>
          </a:p>
          <a:p>
            <a:pPr algn="l">
              <a:lnSpc>
                <a:spcPct val="100000"/>
              </a:lnSpc>
            </a:pPr>
            <a:r>
              <a:rPr sz="800" b="0" i="0">
                <a:solidFill>
                  <a:srgbClr val="ECE7DC"/>
                </a:solidFill>
                <a:latin typeface="Consolas"/>
              </a:rPr>
              <a:t>│   ├── test_release_version_pinning.py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ECE7DC"/>
                </a:solidFill>
                <a:latin typeface="Consolas"/>
              </a:rPr>
              <a:t>│   ├── test_setup_release_paths.py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canvas_file_views.py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interaction_narration.py</a:t>
            </a:r>
          </a:p>
          <a:p>
            <a:pPr algn="l">
              <a:lnSpc>
                <a:spcPct val="100000"/>
              </a:lnSpc>
            </a:pPr>
            <a:r>
              <a:rPr sz="800" b="0" i="0">
                <a:solidFill>
                  <a:srgbClr val="ECE7DC"/>
                </a:solidFill>
                <a:latin typeface="Consolas"/>
              </a:rPr>
              <a:t>    │   ├── interaction_settings.py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terminal_consumer.py</a:t>
            </a:r>
          </a:p>
          <a:p>
            <a:pPr algn="l">
              <a:lnSpc>
                <a:spcPct val="100000"/>
              </a:lnSpc>
            </a:pPr>
            <a:r>
              <a:rPr sz="800" b="0" i="0">
                <a:solidFill>
                  <a:srgbClr val="ECE7DC"/>
                </a:solidFill>
                <a:latin typeface="Consolas"/>
              </a:rPr>
              <a:t>    │   ├── terminal_guard.py</a:t>
            </a:r>
          </a:p>
          <a:p>
            <a:pPr algn="l">
              <a:lnSpc>
                <a:spcPct val="100000"/>
              </a:lnSpc>
            </a:pPr>
            <a:r>
              <a:rPr sz="800" b="0" i="0">
                <a:solidFill>
                  <a:srgbClr val="ECE7DC"/>
                </a:solidFill>
                <a:latin typeface="Consolas"/>
              </a:rPr>
              <a:t>    │   ├── terminal_hub.py</a:t>
            </a:r>
          </a:p>
          <a:p>
            <a:pPr algn="l">
              <a:lnSpc>
                <a:spcPct val="100000"/>
              </a:lnSpc>
            </a:pPr>
            <a:r>
              <a:rPr sz="800" b="0" i="0">
                <a:solidFill>
                  <a:srgbClr val="ECE7DC"/>
                </a:solidFill>
                <a:latin typeface="Consolas"/>
              </a:rPr>
              <a:t>    │   ├── terminal_views.py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178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terminater_testkit.py</a:t>
            </a:r>
          </a:p>
          <a:p>
            <a:pPr algn="l">
              <a:lnSpc>
                <a:spcPct val="100000"/>
              </a:lnSpc>
            </a:pPr>
            <a:r>
              <a:rPr sz="800" b="0" i="0">
                <a:solidFill>
                  <a:srgbClr val="ECE7DC"/>
                </a:solidFill>
                <a:latin typeface="Consolas"/>
              </a:rPr>
              <a:t>    │   ├── terminater_tool.py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test_build_env.py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test_canvas_file_views.py</a:t>
            </a:r>
          </a:p>
          <a:p>
            <a:pPr algn="l">
              <a:lnSpc>
                <a:spcPct val="100000"/>
              </a:lnSpc>
            </a:pPr>
            <a:r>
              <a:rPr sz="800" b="0" i="0">
                <a:solidFill>
                  <a:srgbClr val="ECE7DC"/>
                </a:solidFill>
                <a:latin typeface="Consolas"/>
              </a:rPr>
              <a:t>    │   ├── test_catalog_pruning.py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test_configure_dialog_initial_ticks.py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test_drag_divider_look.py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test_file_drop_router.py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test_glob_patterns.py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test_interaction_settings.py</a:t>
            </a:r>
          </a:p>
          <a:p>
            <a:pPr algn="l">
              <a:lnSpc>
                <a:spcPct val="100000"/>
              </a:lnSpc>
            </a:pPr>
            <a:r>
              <a:rPr sz="800" b="0" i="0">
                <a:solidFill>
                  <a:srgbClr val="ECE7DC"/>
                </a:solidFill>
                <a:latin typeface="Consolas"/>
              </a:rPr>
              <a:t>    │   ├── test_interactor.py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179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test_pyinstaller_guard.py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test_release_payload_ownership.py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test_terminater_agent.py</a:t>
            </a:r>
          </a:p>
          <a:p>
            <a:pPr algn="l">
              <a:lnSpc>
                <a:spcPct val="100000"/>
              </a:lnSpc>
            </a:pPr>
            <a:r>
              <a:rPr sz="800" b="0" i="0">
                <a:solidFill>
                  <a:srgbClr val="ECE7DC"/>
                </a:solidFill>
                <a:latin typeface="Consolas"/>
              </a:rPr>
              <a:t>    │   ├── test_terminater_engine.py</a:t>
            </a:r>
          </a:p>
          <a:p>
            <a:pPr algn="l">
              <a:lnSpc>
                <a:spcPct val="100000"/>
              </a:lnSpc>
            </a:pPr>
            <a:r>
              <a:rPr sz="800" b="0" i="0">
                <a:solidFill>
                  <a:srgbClr val="ECE7DC"/>
                </a:solidFill>
                <a:latin typeface="Consolas"/>
              </a:rPr>
              <a:t>    │   ├── test_terminater_hub_api.py</a:t>
            </a:r>
          </a:p>
          <a:p>
            <a:pPr algn="l">
              <a:lnSpc>
                <a:spcPct val="100000"/>
              </a:lnSpc>
            </a:pPr>
            <a:r>
              <a:rPr sz="800" b="0" i="0">
                <a:solidFill>
                  <a:srgbClr val="ECE7DC"/>
                </a:solidFill>
                <a:latin typeface="Consolas"/>
              </a:rPr>
              <a:t>    │   ├── test_terminater_integration.py</a:t>
            </a:r>
          </a:p>
          <a:p>
            <a:pPr algn="l">
              <a:lnSpc>
                <a:spcPct val="100000"/>
              </a:lnSpc>
            </a:pPr>
            <a:r>
              <a:rPr sz="800" b="0" i="0">
                <a:solidFill>
                  <a:srgbClr val="ECE7DC"/>
                </a:solidFill>
                <a:latin typeface="Consolas"/>
              </a:rPr>
              <a:t>    │   ├── test_terminater_pfp.py</a:t>
            </a:r>
          </a:p>
          <a:p>
            <a:pPr algn="l">
              <a:lnSpc>
                <a:spcPct val="100000"/>
              </a:lnSpc>
            </a:pPr>
            <a:r>
              <a:rPr sz="800" b="0" i="0">
                <a:solidFill>
                  <a:srgbClr val="ECE7DC"/>
                </a:solidFill>
                <a:latin typeface="Consolas"/>
              </a:rPr>
              <a:t>    │   ├── test_terminater_regressions.py</a:t>
            </a:r>
          </a:p>
          <a:p>
            <a:pPr algn="l">
              <a:lnSpc>
                <a:spcPct val="100000"/>
              </a:lnSpc>
            </a:pPr>
            <a:r>
              <a:rPr sz="800" b="0" i="0">
                <a:solidFill>
                  <a:srgbClr val="ECE7DC"/>
                </a:solidFill>
                <a:latin typeface="Consolas"/>
              </a:rPr>
              <a:t>    │   ├── test_terminater_reliability.py</a:t>
            </a:r>
          </a:p>
          <a:p>
            <a:pPr algn="l">
              <a:lnSpc>
                <a:spcPct val="100000"/>
              </a:lnSpc>
            </a:pPr>
            <a:r>
              <a:rPr sz="800" b="0" i="0">
                <a:solidFill>
                  <a:srgbClr val="ECE7DC"/>
                </a:solidFill>
                <a:latin typeface="Consolas"/>
              </a:rPr>
              <a:t>    │   ├── test_terminater_text.py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test_usage.py</a:t>
            </a:r>
          </a:p>
          <a:p>
            <a:pPr algn="l">
              <a:lnSpc>
                <a:spcPct val="100000"/>
              </a:lnSpc>
            </a:pPr>
            <a:r>
              <a:rPr sz="800" b="0" i="0">
                <a:solidFill>
                  <a:srgbClr val="ECE7DC"/>
                </a:solidFill>
                <a:latin typeface="Consolas"/>
              </a:rPr>
              <a:t>    │   ├── test_version_guard.py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test_video_analyzer_fetch.py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test_wizard_intent_guards.py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usage_provider.py</a:t>
            </a:r>
          </a:p>
          <a:p>
            <a:pPr algn="l">
              <a:lnSpc>
                <a:spcPct val="100000"/>
              </a:lnSpc>
            </a:pPr>
            <a:r>
              <a:rPr sz="800" b="0" i="0">
                <a:solidFill>
                  <a:srgbClr val="ECE7DC"/>
                </a:solidFill>
                <a:latin typeface="Consolas"/>
              </a:rPr>
              <a:t>    │   ├── usage_tracking.py</a:t>
            </a:r>
          </a:p>
          <a:p>
            <a:pPr algn="l">
              <a:lnSpc>
                <a:spcPct val="100000"/>
              </a:lnSpc>
            </a:pPr>
            <a:r>
              <a:rPr sz="800" b="0" i="0">
                <a:solidFill>
                  <a:srgbClr val="ECE7DC"/>
                </a:solidFill>
                <a:latin typeface="Consolas"/>
              </a:rPr>
              <a:t>    │   ├── usage_views.py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180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181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182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terminater/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terminater.py</a:t>
            </a:r>
          </a:p>
          <a:p>
            <a:pPr algn="l">
              <a:lnSpc>
                <a:spcPct val="100000"/>
              </a:lnSpc>
            </a:pPr>
            <a:r>
              <a:rPr sz="800" b="0" i="0">
                <a:solidFill>
                  <a:srgbClr val="ECE7DC"/>
                </a:solidFill>
                <a:latin typeface="Consolas"/>
              </a:rPr>
              <a:t>    │   │   │   ├── terminater_conpty.py</a:t>
            </a:r>
          </a:p>
          <a:p>
            <a:pPr algn="l">
              <a:lnSpc>
                <a:spcPct val="100000"/>
              </a:lnSpc>
            </a:pPr>
            <a:r>
              <a:rPr sz="800" b="0" i="0">
                <a:solidFill>
                  <a:srgbClr val="ECE7DC"/>
                </a:solidFill>
                <a:latin typeface="Consolas"/>
              </a:rPr>
              <a:t>    │   │   │   ├── terminater_engine.py</a:t>
            </a:r>
          </a:p>
          <a:p>
            <a:pPr algn="l">
              <a:lnSpc>
                <a:spcPct val="100000"/>
              </a:lnSpc>
            </a:pPr>
            <a:r>
              <a:rPr sz="800" b="0" i="0">
                <a:solidFill>
                  <a:srgbClr val="ECE7DC"/>
                </a:solidFill>
                <a:latin typeface="Consolas"/>
              </a:rPr>
              <a:t>    │   │   │   └── terminater_text.py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video_content.py</a:t>
            </a:r>
          </a:p>
          <a:p>
            <a:pPr algn="l">
              <a:lnSpc>
                <a:spcPct val="100000"/>
              </a:lnSpc>
            </a:pPr>
            <a:r>
              <a:rPr sz="800" b="0" i="0">
                <a:solidFill>
                  <a:srgbClr val="ECE7DC"/>
                </a:solidFill>
                <a:latin typeface="Consolas"/>
              </a:rPr>
              <a:t>    │   │   │   └── video_fetch.py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windower.py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dossier_editor_content.py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interactor/</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consumer.py</a:t>
            </a:r>
          </a:p>
          <a:p>
            <a:pPr algn="l">
              <a:lnSpc>
                <a:spcPct val="100000"/>
              </a:lnSpc>
            </a:pPr>
            <a:r>
              <a:rPr sz="800" b="0" i="0">
                <a:solidFill>
                  <a:srgbClr val="ECE7DC"/>
                </a:solidFill>
                <a:latin typeface="Consolas"/>
              </a:rPr>
              <a:t>    │   │   ├── context.py</a:t>
            </a:r>
          </a:p>
          <a:p>
            <a:pPr algn="l">
              <a:lnSpc>
                <a:spcPct val="100000"/>
              </a:lnSpc>
            </a:pPr>
            <a:r>
              <a:rPr sz="800" b="0" i="0">
                <a:solidFill>
                  <a:srgbClr val="ECE7DC"/>
                </a:solidFill>
                <a:latin typeface="Consolas"/>
              </a:rPr>
              <a:t>    │   │   ├── editor.mjs</a:t>
            </a:r>
          </a:p>
          <a:p>
            <a:pPr algn="l">
              <a:lnSpc>
                <a:spcPct val="100000"/>
              </a:lnSpc>
            </a:pPr>
            <a:r>
              <a:rPr sz="800" b="0" i="0">
                <a:solidFill>
                  <a:srgbClr val="ECE7DC"/>
                </a:solidFill>
                <a:latin typeface="Consolas"/>
              </a:rPr>
              <a:t>    │   │   ├── files.py</a:t>
            </a:r>
          </a:p>
          <a:p>
            <a:pPr algn="l">
              <a:lnSpc>
                <a:spcPct val="100000"/>
              </a:lnSpc>
            </a:pPr>
            <a:r>
              <a:rPr sz="800" b="0" i="0">
                <a:solidFill>
                  <a:srgbClr val="ECE7DC"/>
                </a:solidFill>
                <a:latin typeface="Consolas"/>
              </a:rPr>
              <a:t>    │   │   ├── hub.py</a:t>
            </a:r>
          </a:p>
          <a:p>
            <a:pPr algn="l">
              <a:lnSpc>
                <a:spcPct val="100000"/>
              </a:lnSpc>
            </a:pPr>
            <a:r>
              <a:rPr sz="800" b="0" i="0">
                <a:solidFill>
                  <a:srgbClr val="ECE7DC"/>
                </a:solidFill>
                <a:latin typeface="Consolas"/>
              </a:rPr>
              <a:t>    │   │   ├── protocol.py</a:t>
            </a:r>
          </a:p>
          <a:p>
            <a:pPr algn="l">
              <a:lnSpc>
                <a:spcPct val="100000"/>
              </a:lnSpc>
            </a:pPr>
            <a:r>
              <a:rPr sz="800" b="0" i="0">
                <a:solidFill>
                  <a:srgbClr val="ECE7DC"/>
                </a:solidFill>
                <a:latin typeface="Consolas"/>
              </a:rPr>
              <a:t>    │   │   └── tool.py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check_terminater.py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183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admin_theme.css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canvas_editor.css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entry_pages.css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interaction_settings.css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markdown_canvas.css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terminater_dock.css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184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ui_shell.css</a:t>
            </a:r>
          </a:p>
          <a:p>
            <a:pPr algn="l">
              <a:lnSpc>
                <a:spcPct val="100000"/>
              </a:lnSpc>
            </a:pPr>
            <a:r>
              <a:rPr sz="800" b="0" i="0">
                <a:solidFill>
                  <a:srgbClr val="ECE7DC"/>
                </a:solidFill>
                <a:latin typeface="Consolas"/>
              </a:rPr>
              <a:t>    │   │       │   ├── ui_splitters.css</a:t>
            </a:r>
          </a:p>
          <a:p>
            <a:pPr algn="l">
              <a:lnSpc>
                <a:spcPct val="100000"/>
              </a:lnSpc>
            </a:pPr>
            <a:r>
              <a:rPr sz="800" b="0" i="0">
                <a:solidFill>
                  <a:srgbClr val="ECE7DC"/>
                </a:solidFill>
                <a:latin typeface="Consolas"/>
              </a:rPr>
              <a:t>    │   │       │   ├── ui_tokens.css</a:t>
            </a:r>
          </a:p>
          <a:p>
            <a:pPr algn="l">
              <a:lnSpc>
                <a:spcPct val="100000"/>
              </a:lnSpc>
            </a:pPr>
            <a:r>
              <a:rPr sz="800" b="0" i="0">
                <a:solidFill>
                  <a:srgbClr val="ECE7DC"/>
                </a:solidFill>
                <a:latin typeface="Consolas"/>
              </a:rPr>
              <a:t>    │   │       │   ├── usage_dashboard.css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interactor/</a:t>
            </a:r>
          </a:p>
          <a:p>
            <a:pPr algn="l">
              <a:lnSpc>
                <a:spcPct val="100000"/>
              </a:lnSpc>
            </a:pPr>
            <a:r>
              <a:rPr sz="800" b="0" i="0">
                <a:solidFill>
                  <a:srgbClr val="ECE7DC"/>
                </a:solidFill>
                <a:latin typeface="Consolas"/>
              </a:rPr>
              <a:t>    │   │       │   ├── bridge.js</a:t>
            </a:r>
          </a:p>
          <a:p>
            <a:pPr algn="l">
              <a:lnSpc>
                <a:spcPct val="100000"/>
              </a:lnSpc>
            </a:pPr>
            <a:r>
              <a:rPr sz="800" b="0" i="0">
                <a:solidFill>
                  <a:srgbClr val="ECE7DC"/>
                </a:solidFill>
                <a:latin typeface="Consolas"/>
              </a:rPr>
              <a:t>    │   │       │   └── interactor.css</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agent_page_editing.js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agent_page_markdown.js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file_drop_router.js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interaction_settings.js</a:t>
            </a:r>
          </a:p>
          <a:p>
            <a:pPr algn="l">
              <a:lnSpc>
                <a:spcPct val="100000"/>
              </a:lnSpc>
            </a:pPr>
            <a:r>
              <a:rPr sz="800" b="0" i="0">
                <a:solidFill>
                  <a:srgbClr val="ECE7DC"/>
                </a:solidFill>
                <a:latin typeface="Consolas"/>
              </a:rPr>
              <a:t>    │   │       │   ├── interaction_speech.js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terminater_dock.js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ui_splitters.js</a:t>
            </a:r>
          </a:p>
          <a:p>
            <a:pPr algn="l">
              <a:lnSpc>
                <a:spcPct val="100000"/>
              </a:lnSpc>
            </a:pPr>
            <a:r>
              <a:rPr sz="800" b="0" i="0">
                <a:solidFill>
                  <a:srgbClr val="ECE7DC"/>
                </a:solidFill>
                <a:latin typeface="Consolas"/>
              </a:rPr>
              <a:t>    │   │       │   ├── usage_dashboard.js</a:t>
            </a:r>
          </a:p>
          <a:p>
            <a:pPr algn="l">
              <a:lnSpc>
                <a:spcPct val="100000"/>
              </a:lnSpc>
            </a:pPr>
            <a:r>
              <a:rPr sz="800" b="0" i="0">
                <a:solidFill>
                  <a:srgbClr val="ECE7DC"/>
                </a:solidFill>
                <a:latin typeface="Consolas"/>
              </a:rPr>
              <a:t>    │   │       │   ├── voice_runtime.js</a:t>
            </a:r>
          </a:p>
          <a:p>
            <a:pPr algn="l">
              <a:lnSpc>
                <a:spcPct val="100000"/>
              </a:lnSpc>
            </a:pPr>
            <a:r>
              <a:rPr sz="800" b="0" i="0">
                <a:solidFill>
                  <a:srgbClr val="ECE7DC"/>
                </a:solidFill>
                <a:latin typeface="Consolas"/>
              </a:rPr>
              <a:t>    │   │       │   └── welcome_enter_default.js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canvas-editor/</a:t>
            </a:r>
          </a:p>
          <a:p>
            <a:pPr algn="l">
              <a:lnSpc>
                <a:spcPct val="100000"/>
              </a:lnSpc>
            </a:pPr>
            <a:r>
              <a:rPr sz="800" b="0" i="0">
                <a:solidFill>
                  <a:srgbClr val="ECE7DC"/>
                </a:solidFill>
                <a:latin typeface="Consolas"/>
              </a:rPr>
              <a:t>    │   │       │   │   ├── editor.js</a:t>
            </a:r>
          </a:p>
          <a:p>
            <a:pPr algn="l">
              <a:lnSpc>
                <a:spcPct val="100000"/>
              </a:lnSpc>
            </a:pPr>
            <a:r>
              <a:rPr sz="800" b="0" i="0">
                <a:solidFill>
                  <a:srgbClr val="ECE7DC"/>
                </a:solidFill>
                <a:latin typeface="Consolas"/>
              </a:rPr>
              <a:t>    │   │       │   │   ├── LICENSES.txt</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dompurify/</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purify.min.js</a:t>
            </a:r>
          </a:p>
          <a:p>
            <a:pPr algn="l">
              <a:lnSpc>
                <a:spcPct val="100000"/>
              </a:lnSpc>
            </a:pPr>
            <a:r>
              <a:rPr sz="800" b="0" i="0">
                <a:solidFill>
                  <a:srgbClr val="ECE7DC"/>
                </a:solidFill>
                <a:latin typeface="Consolas"/>
              </a:rPr>
              <a:t>    │   │       │   │   │       └── purify.min.js.map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185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marked/</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 400.css</a:t>
            </a:r>
          </a:p>
          <a:p>
            <a:pPr algn="l">
              <a:lnSpc>
                <a:spcPct val="100000"/>
              </a:lnSpc>
            </a:pPr>
            <a:r>
              <a:rPr sz="800" b="0" i="0">
                <a:solidFill>
                  <a:srgbClr val="ECE7DC"/>
                </a:solidFill>
                <a:latin typeface="Consolas"/>
              </a:rPr>
              <a:t>    │   │       │   │   │   ├── 700.css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files/</a:t>
            </a:r>
          </a:p>
          <a:p>
            <a:pPr algn="l">
              <a:lnSpc>
                <a:spcPct val="100000"/>
              </a:lnSpc>
            </a:pPr>
            <a:r>
              <a:rPr sz="800" b="0" i="0">
                <a:solidFill>
                  <a:srgbClr val="ECE7DC"/>
                </a:solidFill>
                <a:latin typeface="Consolas"/>
              </a:rPr>
              <a:t>    │   │       │   │   │       ├── nunito-cyrillic-400-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nunito-cyrillic-400-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nunito-cyrillic-700-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nunito-cyrillic-700-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400-normal.woff</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400-normal.woff2</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700-normal.woff</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700-normal.woff2</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nunito-latin-400-nor</a:t>
            </a:r>
          </a:p>
          <a:p>
            <a:pPr algn="l">
              <a:lnSpc>
                <a:spcPct val="100000"/>
              </a:lnSpc>
            </a:pPr>
            <a:r>
              <a:rPr sz="800" b="0" i="0">
                <a:solidFill>
                  <a:srgbClr val="ECE7DC"/>
                </a:solidFill>
                <a:latin typeface="Consolas"/>
              </a:rPr>
              <a:t>    │   │       │   │   │       │     » mal.woff</a:t>
            </a:r>
          </a:p>
          <a:p>
            <a:pPr algn="l">
              <a:lnSpc>
                <a:spcPct val="100000"/>
              </a:lnSpc>
            </a:pPr>
            <a:r>
              <a:rPr sz="800" b="0" i="0">
                <a:solidFill>
                  <a:srgbClr val="ECE7DC"/>
                </a:solidFill>
                <a:latin typeface="Consolas"/>
              </a:rPr>
              <a:t>    │   │       │   │   │       ├── nunito-latin-400-nor</a:t>
            </a:r>
          </a:p>
          <a:p>
            <a:pPr algn="l">
              <a:lnSpc>
                <a:spcPct val="100000"/>
              </a:lnSpc>
            </a:pPr>
            <a:r>
              <a:rPr sz="800" b="0" i="0">
                <a:solidFill>
                  <a:srgbClr val="ECE7DC"/>
                </a:solidFill>
                <a:latin typeface="Consolas"/>
              </a:rPr>
              <a:t>    │   │       │   │   │       │     » mal.woff2</a:t>
            </a:r>
          </a:p>
          <a:p>
            <a:pPr algn="l">
              <a:lnSpc>
                <a:spcPct val="100000"/>
              </a:lnSpc>
            </a:pPr>
            <a:r>
              <a:rPr sz="800" b="0" i="0">
                <a:solidFill>
                  <a:srgbClr val="ECE7DC"/>
                </a:solidFill>
                <a:latin typeface="Consolas"/>
              </a:rPr>
              <a:t>    │   │       │   │   │       ├── nunito-latin-700-nor</a:t>
            </a:r>
          </a:p>
          <a:p>
            <a:pPr algn="l">
              <a:lnSpc>
                <a:spcPct val="100000"/>
              </a:lnSpc>
            </a:pPr>
            <a:r>
              <a:rPr sz="800" b="0" i="0">
                <a:solidFill>
                  <a:srgbClr val="ECE7DC"/>
                </a:solidFill>
                <a:latin typeface="Consolas"/>
              </a:rPr>
              <a:t>    │   │       │   │   │       │     » mal.woff</a:t>
            </a:r>
          </a:p>
          <a:p>
            <a:pPr algn="l">
              <a:lnSpc>
                <a:spcPct val="100000"/>
              </a:lnSpc>
            </a:pPr>
            <a:r>
              <a:rPr sz="800" b="0" i="0">
                <a:solidFill>
                  <a:srgbClr val="ECE7DC"/>
                </a:solidFill>
                <a:latin typeface="Consolas"/>
              </a:rPr>
              <a:t>    │   │       │   │   │       ├── nunito-latin-700-nor</a:t>
            </a:r>
          </a:p>
          <a:p>
            <a:pPr algn="l">
              <a:lnSpc>
                <a:spcPct val="100000"/>
              </a:lnSpc>
            </a:pPr>
            <a:r>
              <a:rPr sz="800" b="0" i="0">
                <a:solidFill>
                  <a:srgbClr val="ECE7DC"/>
                </a:solidFill>
                <a:latin typeface="Consolas"/>
              </a:rPr>
              <a:t>    │   │       │   │   │       │     » mal.woff2</a:t>
            </a:r>
          </a:p>
          <a:p>
            <a:pPr algn="l">
              <a:lnSpc>
                <a:spcPct val="100000"/>
              </a:lnSpc>
            </a:pPr>
            <a:r>
              <a:rPr sz="800" b="0" i="0">
                <a:solidFill>
                  <a:srgbClr val="ECE7DC"/>
                </a:solidFill>
                <a:latin typeface="Consolas"/>
              </a:rPr>
              <a:t>    │   │       │   │   │       ├── nunito-latin-ext-400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nunito-latin-ext-400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nunito-latin-ext-700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nunito-latin-ext-700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nunito-vietnamese-40</a:t>
            </a:r>
          </a:p>
          <a:p>
            <a:pPr algn="l">
              <a:lnSpc>
                <a:spcPct val="100000"/>
              </a:lnSpc>
            </a:pPr>
            <a:r>
              <a:rPr sz="800" b="0" i="0">
                <a:solidFill>
                  <a:srgbClr val="ECE7DC"/>
                </a:solidFill>
                <a:latin typeface="Consolas"/>
              </a:rPr>
              <a:t>    │   │       │   │   │       │     » 0-normal.woff</a:t>
            </a:r>
          </a:p>
          <a:p>
            <a:pPr algn="l">
              <a:lnSpc>
                <a:spcPct val="100000"/>
              </a:lnSpc>
            </a:pPr>
            <a:r>
              <a:rPr sz="800" b="0" i="0">
                <a:solidFill>
                  <a:srgbClr val="ECE7DC"/>
                </a:solidFill>
                <a:latin typeface="Consolas"/>
              </a:rPr>
              <a:t>    │   │       │   │   │       ├── nunito-vietnamese-40</a:t>
            </a:r>
          </a:p>
          <a:p>
            <a:pPr algn="l">
              <a:lnSpc>
                <a:spcPct val="100000"/>
              </a:lnSpc>
            </a:pPr>
            <a:r>
              <a:rPr sz="800" b="0" i="0">
                <a:solidFill>
                  <a:srgbClr val="ECE7DC"/>
                </a:solidFill>
                <a:latin typeface="Consolas"/>
              </a:rPr>
              <a:t>    │   │       │   │   │       │     » 0-normal.woff2</a:t>
            </a:r>
          </a:p>
          <a:p>
            <a:pPr algn="l">
              <a:lnSpc>
                <a:spcPct val="100000"/>
              </a:lnSpc>
            </a:pPr>
            <a:r>
              <a:rPr sz="800" b="0" i="0">
                <a:solidFill>
                  <a:srgbClr val="ECE7DC"/>
                </a:solidFill>
                <a:latin typeface="Consolas"/>
              </a:rPr>
              <a:t>    │   │       │   │   │       ├── nunito-vietnamese-70</a:t>
            </a:r>
          </a:p>
          <a:p>
            <a:pPr algn="l">
              <a:lnSpc>
                <a:spcPct val="100000"/>
              </a:lnSpc>
            </a:pPr>
            <a:r>
              <a:rPr sz="800" b="0" i="0">
                <a:solidFill>
                  <a:srgbClr val="ECE7DC"/>
                </a:solidFill>
                <a:latin typeface="Consolas"/>
              </a:rPr>
              <a:t>    │   │       │   │   │       │     » 0-normal.woff</a:t>
            </a:r>
          </a:p>
          <a:p>
            <a:pPr algn="l">
              <a:lnSpc>
                <a:spcPct val="100000"/>
              </a:lnSpc>
            </a:pPr>
            <a:r>
              <a:rPr sz="800" b="0" i="0">
                <a:solidFill>
                  <a:srgbClr val="ECE7DC"/>
                </a:solidFill>
                <a:latin typeface="Consolas"/>
              </a:rPr>
              <a:t>    │   │       │   │   │       └── nunito-vietnamese-70</a:t>
            </a:r>
          </a:p>
          <a:p>
            <a:pPr algn="l">
              <a:lnSpc>
                <a:spcPct val="100000"/>
              </a:lnSpc>
            </a:pPr>
            <a:r>
              <a:rPr sz="800" b="0" i="0">
                <a:solidFill>
                  <a:srgbClr val="ECE7DC"/>
                </a:solidFill>
                <a:latin typeface="Consolas"/>
              </a:rPr>
              <a:t>    │   │       │   │   │             » 0-normal.woff2</a:t>
            </a:r>
          </a:p>
          <a:p>
            <a:pPr algn="l">
              <a:lnSpc>
                <a:spcPct val="100000"/>
              </a:lnSpc>
            </a:pPr>
            <a:r>
              <a:rPr sz="800" b="0" i="0">
                <a:solidFill>
                  <a:srgbClr val="3BBE93"/>
                </a:solidFill>
                <a:latin typeface="Consolas"/>
              </a:rPr>
              <a:t>    │   │       │   │   ├── xterm/</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xterm.css</a:t>
            </a:r>
          </a:p>
          <a:p>
            <a:pPr algn="l">
              <a:lnSpc>
                <a:spcPct val="100000"/>
              </a:lnSpc>
            </a:pPr>
            <a:r>
              <a:rPr sz="800" b="0" i="0">
                <a:solidFill>
                  <a:srgbClr val="3BBE93"/>
                </a:solidFill>
                <a:latin typeface="Consolas"/>
              </a:rPr>
              <a:t>    │   │       │   │   ├── xterm-addon-fit/</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xterm-addon-web-links/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186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187</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188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admin/</a:t>
            </a:r>
          </a:p>
          <a:p>
            <a:pPr algn="l">
              <a:lnSpc>
                <a:spcPct val="100000"/>
              </a:lnSpc>
            </a:pPr>
            <a:r>
              <a:rPr sz="800" b="0" i="0">
                <a:solidFill>
                  <a:srgbClr val="ECE7DC"/>
                </a:solidFill>
                <a:latin typeface="Consolas"/>
              </a:rPr>
              <a:t>    │   │   │   └── base_site.html</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interaction_settings.html</a:t>
            </a:r>
          </a:p>
          <a:p>
            <a:pPr algn="l">
              <a:lnSpc>
                <a:spcPct val="100000"/>
              </a:lnSpc>
            </a:pPr>
            <a:r>
              <a:rPr sz="800" b="0" i="0">
                <a:solidFill>
                  <a:srgbClr val="ECE7DC"/>
                </a:solidFill>
                <a:latin typeface="Consolas"/>
              </a:rPr>
              <a:t>    │   │       ├── interactor.html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usage_dialog.html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189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1,606 listed files at commit a771d27c; 221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6" name="Connector 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8" name="TextBox 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v1.91.0   ·   190</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23, 2026  ·  commit a771d27c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1.91.0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