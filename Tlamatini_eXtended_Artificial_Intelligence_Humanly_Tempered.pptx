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Prompt template</c:v>
                </c:pt>
                <c:pt idx="4">
                  <c:v>HTML</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981</c:v>
                </c:pt>
                <c:pt idx="1">
                  <c:v>882</c:v>
                </c:pt>
                <c:pt idx="2">
                  <c:v>1235</c:v>
                </c:pt>
                <c:pt idx="3">
                  <c:v>1339</c:v>
                </c:pt>
                <c:pt idx="4">
                  <c:v>1533</c:v>
                </c:pt>
                <c:pt idx="5">
                  <c:v>2042</c:v>
                </c:pt>
                <c:pt idx="6">
                  <c:v>2355</c:v>
                </c:pt>
                <c:pt idx="7">
                  <c:v>5883</c:v>
                </c:pt>
                <c:pt idx="8">
                  <c:v>10542</c:v>
                </c:pt>
                <c:pt idx="9">
                  <c:v>13841</c:v>
                </c:pt>
                <c:pt idx="10">
                  <c:v>27129</c:v>
                </c:pt>
                <c:pt idx="11">
                  <c:v>36596</c:v>
                </c:pt>
                <c:pt idx="12">
                  <c:v>102855</c:v>
                </c:pt>
                <c:pt idx="13">
                  <c:v>240151</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85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108 built-in tools, self-healing steps and Compact mode for small models.</a:t>
            </a:r>
          </a:p>
          <a:p/>
          <a:p>
            <a:r>
              <a:t>Agentic Control Panel: 85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85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+ 66 wrapped agent launchers + 12 ACPX and Skill tools + 10 External-MCP supervisors = 108 tools. Healthy, active external MCP servers add their own ext__&lt;server&gt;__&lt;tool&gt; tools on top.</a:t>
            </a:r>
          </a:p>
          <a:p/>
          <a:p>
            <a:r>
              <a:t>The application ships 59 JavaScript modules, 26 stylesheets and 6 page templates, 214 database migrations and 88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50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any page: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Docked, her portrait now follows the divider too: dragging the bar down shrinks it to a 120-pixel square and dragging up gives it back. Shipped in v1.83.0.</a:t>
            </a:r>
          </a:p>
          <a:p/>
          <a:p>
            <a:r>
              <a:t>In v1.85.0, the portrait and its frame stay centered over the complete Mic-to-Send row. Views → Canvas can give the chat the full width; Views → Reset layout restores both panes and docks the portrait while keeping the document, draft and context.</a:t>
            </a:r>
          </a:p>
          <a:p/>
          <a:p>
            <a:r>
              <a:t>Drag or type: Pointer, arrows, Shift+arrows, Home and End move the divider.</a:t>
            </a:r>
          </a:p>
          <a:p/>
          <a:p>
            <a:r>
              <a:t>Undocked: The message box can shrink to its own action buttons.</a:t>
            </a:r>
          </a:p>
          <a:p/>
          <a:p>
            <a:r>
              <a:t>Docked: A centered portrait above Mic through Send, down to a 120-pixel square.</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85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85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shipped file associations open .flw agent flows and .fpmt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Installer and Uninstaller share one window that prepares a recovery copy before changing anything.</a:t>
            </a:r>
          </a:p>
          <a:p/>
          <a:p>
            <a:r>
              <a:t>Both executables use one setup window: Tlamatini's palette, keyboard controls, a destination and review page, real progress and result details that stay on screen. The action row is its own window row, so buttons are never clipped, and large fonts or long paths scroll the body. Errors stay in the window with Retry and Change folder, and every run writes a private log under %LOCALAPPDATA%\Tlamatini\SetupLogs.</a:t>
            </a:r>
          </a:p>
          <a:p/>
          <a:p>
            <a:r>
              <a:t>Before installation or removal changes a file, a recovery copy is prepared and verified; its journal lives in the installation's Temp folder, and the next run restores an interrupted transaction first. A failed restoration is reported, never presented as a rollback. A locked file gets a five-second retry and is then named with the program holding it, which is never closed for you. Only Tlamatini's own registry values and Desktop shortcut are snapshotted.</a:t>
            </a:r>
          </a:p>
          <a:p/>
          <a:p>
            <a:r>
              <a:t>These are custom EXE recovery mechanics, not MSI transactions. In the visible October 11-12 campaign 52 interface checkpoints, 28 recovery checks, 21 lifecycle checks and 61 mechanics tests passed; five real installations and four real removals passed their independent audits. The fifth removal stopped safely before deleting anything, because a test browser held a file in the installation's Temp folder.</a:t>
            </a:r>
          </a:p>
          <a:p/>
          <a:p>
            <a:r>
              <a:t>One window: Shared Installer and Uninstaller screens that never clip their buttons.</a:t>
            </a:r>
          </a:p>
          <a:p/>
          <a:p>
            <a:r>
              <a:t>Recovery copy: Prepared and verified before any file changes; restored after an interruption.</a:t>
            </a:r>
          </a:p>
          <a:p/>
          <a:p>
            <a:r>
              <a:t>Named locks: A locked file and its holder are named; nothing is force-closed.</a:t>
            </a:r>
          </a:p>
          <a:p/>
          <a:p>
            <a:r>
              <a:t>Own scope: Only Tlamatini's registry values and shortcut; never UserChoice.</a:t>
            </a:r>
          </a:p>
          <a:p/>
          <a:p>
            <a:r>
              <a:t>Bounded helpers: PowerShell helpers end within 120 seconds inside a Windows job.</a:t>
            </a:r>
          </a:p>
          <a:p/>
          <a:p>
            <a:r>
              <a:t>Honest tally: Five installations and four removals passed; one stopped safely.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or drop a .md file and the canvas renders it; one click shows the original text.</a:t>
            </a:r>
          </a:p>
          <a:p/>
          <a:p>
            <a:r>
              <a:t>Open, Refresh, a dropped file, a generated-file link and Context ▸ Set file as context all recognise .md and .markdown. Preview renders CommonMark and GitHub-flavored Markdown: headings, tables, task lists, fenced code through the existing highlighter and safe embedded HTML such as expandable details. Source shows the full original text with line numbers.</a:t>
            </a:r>
          </a:p>
          <a:p/>
          <a:p>
            <a:r>
              <a:t>Rendering is local: Marked 18.1.0 and DOMPurify 3.4.16 are vendored with pinned integrity, so nothing is fetched from a CDN. The sanitizer allowlists HTML and attributes, scopes ids and restricts resource protocols. Choose folder resolves relative images and links from files you select; they stay on your device, and a relative URL never reaches an application endpoint.</a:t>
            </a:r>
          </a:p>
          <a:p/>
          <a:p>
            <a:r>
              <a:t>Copy, Use as context and Save always take the Markdown source, never the flattened preview; Save returns the original bytes, UTF-8 BOM and CRLF included. Shipped in v1.82.0 and checked on October 11 with 30 of 30 visible browser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listener on every page reads each dropped file and sends it to the mechanism that fits it.</a:t>
            </a:r>
          </a:p>
          <a:p/>
          <a:p>
            <a:r>
              <a:t>Drag a file from Windows Explorer onto the chat, the Agentic Control Panel, the Prompt Flow Panel, the welcome and login pages, the admin pages or the PDF viewer. A small overlay says what will happen on that page. The listener claims only file drags, so text you drag, such as an agent name or a palette item, is never touched, and a drop on a file input is left to the browser.</a:t>
            </a:r>
          </a:p>
          <a:p/>
          <a:p>
            <a:r>
              <a:t>It decides by the bytes, not the name: the extension, the MIME type, magic numbers, a byte-order-mark aware text-or-binary test and a real JSON parse that recognises an MCP configuration in every common shape, UTF-16 files from PowerShell included. A bare map of names to servers counts only when every value is a server, so ordinary JSON is never hijacked. An MCP import is never silent: a confirmation lists the servers and warns that they can start programs on this computer.</a:t>
            </a:r>
          </a:p>
          <a:p/>
          <a:p>
            <a:r>
              <a:t>Each page tells the listener what it can do, and the same registration writes the drag overlay. Up to 25 files at a time; a folder cannot be dropped because browsers do not reveal its path. Shipped in v1.83.0 and checked on October 14 with 138 router checks, 22 new tests and 58 visible browser checks.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both panels, login, welcome, Usage, the PDF viewer and the admin pages share one identity.</a:t>
            </a:r>
          </a:p>
          <a:p/>
          <a:p>
            <a:r>
              <a:t>One set of design tokens defines the slate surfaces, teal accent, readable text, borders, fonts and scrollbars for every first-party page, including a themed Django admin that keeps its light, dark and automatic modes. Dialog colors follow the same tokens, and the dialog theme always loads last.</a:t>
            </a:r>
          </a:p>
          <a:p/>
          <a:p>
            <a:r>
              <a:t>All five pane dividers share one grip and one gesture model: pointer capture, arrows for one percent, Shift for five, Home and End, and clean cancellation on Escape, blur or a lost pointer. Resizable dialogs accept all eight edges and corners and the keyboard, and a modal can no longer slide under the expanded menu at 400 percent zoom.</a:t>
            </a:r>
          </a:p>
          <a:p/>
          <a:p>
            <a:r>
              <a:t>Shared tokens: One palette, font set and scrollbar style for every page.</a:t>
            </a:r>
          </a:p>
          <a:p/>
          <a:p>
            <a:r>
              <a:t>Five dividers: One grip, one keyboard model, one clean cancel.</a:t>
            </a:r>
          </a:p>
          <a:p/>
          <a:p>
            <a:r>
              <a:t>Dialogs: Eight resize directions, keyboard resizing, buttons that match.</a:t>
            </a:r>
          </a:p>
          <a:p/>
          <a:p>
            <a:r>
              <a:t>High zoom: A modal stays above the menu at 400 percent.</a:t>
            </a:r>
          </a:p>
          <a:p/>
          <a:p>
            <a:r>
              <a:t>Evidence: 175 source tests and visible checks passed on October 11.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85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66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or a web link, locally.</a:t>
            </a:r>
          </a:p>
          <a:p/>
          <a:p>
            <a:r>
              <a:t>Video-Analyzer · summary: Speech plus sampled visual evidence: scenes, text, facts, decisions and limits; a web link is downloaded first.</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1.86.0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Current Release. Version v1.86.0,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v1.85.0 is the latest released version, with a more flexible chat workspace.</a:t>
            </a:r>
          </a:p>
          <a:p/>
          <a:p>
            <a:r>
              <a:t>Refresh rereads the open document. Views makes room for full-width chat while keeping the canvas alive. Reset restores the layout without clearing content. The portrait and its frame remain centered over Mic through Send as the message box shrinks.</a:t>
            </a:r>
          </a:p>
          <a:p/>
          <a:p>
            <a:r>
              <a:t>The release retains the page-wide file-drop router, setup recovery, Markdown rendering, Usage dashboard, Model Brain, Compact mode, voice dictation and both flow editors.</a:t>
            </a:r>
          </a:p>
          <a:p/>
          <a:p>
            <a:r>
              <a:t>Refresh: The original document, read again without a chooser.</a:t>
            </a:r>
          </a:p>
          <a:p/>
          <a:p>
            <a:r>
              <a:t>Views: Show or hide the canvas and keep its state.</a:t>
            </a:r>
          </a:p>
          <a:p/>
          <a:p>
            <a:r>
              <a:t>Reset layout: Restore both panes and dock the avatar.</a:t>
            </a:r>
          </a:p>
          <a:p/>
          <a:p>
            <a:r>
              <a:t>Portrait: Center the whole frame above the complete action row.</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selects a file. Refresh reads that same source again, without writing to it.</a:t>
            </a:r>
          </a:p>
          <a:p/>
          <a:p>
            <a:r>
              <a:t>Native-picker access retains a browser-granted handle. Drops retain their handle or entry during the original event, including the PDF-frame relay. A snapshot-only source explains why Refresh is unavailable. A generated document rereads its authenticated saved-content endpoint.</a:t>
            </a:r>
          </a:p>
          <a:p/>
          <a:p>
            <a:r>
              <a:t>Text and Markdown are compared in full, including empty files. Equal size or timestamp is never proof of equal content. An unchanged document stays in place without rebuilding context. Changed content replaces the complete document only when preparation succeeds.</a:t>
            </a:r>
          </a:p>
          <a:p/>
          <a:p>
            <a:r>
              <a:t>Busy, unchanged, updated, permission and error states have visible feedback. Cancel, Clear, opening another document and a new operation invalidate pending reads. Failure preserves the previous document and explains the next action.</a:t>
            </a:r>
          </a:p>
          <a:p/>
          <a:p>
            <a:r>
              <a:t>Open: Choose a document and retain read access.</a:t>
            </a:r>
          </a:p>
          <a:p/>
          <a:p>
            <a:r>
              <a:t>Refresh: Reread the retained source without another picker.</a:t>
            </a:r>
          </a:p>
          <a:p/>
          <a:p>
            <a:r>
              <a:t>Failure: Keep the previous content and allow retry.</a:t>
            </a:r>
          </a:p>
          <a:p/>
          <a:p>
            <a:r>
              <a:t>Context: Prepare changed content before replacing active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Refreshing Markdown or PDF preserves the view while the underlying document changes.</a:t>
            </a:r>
          </a:p>
          <a:p/>
          <a:p>
            <a:r>
              <a:t>Markdown retains Preview or Source, reading position and explicitly selected resources. Its source bytes remain the basis for Save. Folder-selected resource files remain snapshots and can be selected again when those separate files change.</a:t>
            </a:r>
          </a:p>
          <a:p/>
          <a:p>
            <a:r>
              <a:t>PDF Refresh stages a new range-backed PDF.js viewer before retiring the old one. It keeps page, zoom, rotation and scroll mode, clamping the page to a shorter document. A corrupt PDF or cancelled password entry leaves the prior viewer visible. The staged iframe stays attached during the swap so the browser does not reload it.</a:t>
            </a:r>
          </a:p>
          <a:p/>
          <a:p>
            <a:r>
              <a:t>PDFs always reload on Refresh. No whole-file hash, eager whole-document read or metadata-only equality claim is introduced. Active-context replacement keeps the established text/image options.</a:t>
            </a:r>
          </a:p>
          <a:p/>
          <a:p>
            <a:r>
              <a:t>Markdown: Preview/Source, position and selected resources stay.</a:t>
            </a:r>
          </a:p>
          <a:p/>
          <a:p>
            <a:r>
              <a:t>PDF: Page, zoom, rotation and scroll mode stay.</a:t>
            </a:r>
          </a:p>
          <a:p/>
          <a:p>
            <a:r>
              <a:t>Recovery: A failed replacement retains the previous viewer.</a:t>
            </a:r>
          </a:p>
          <a:p/>
          <a:p>
            <a:r>
              <a:t>Evidence: 20 visible Chrome checks on October 15.</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Views → Canvas shows or hides the canvas without unloading it.</a:t>
            </a:r>
          </a:p>
          <a:p/>
          <a:p>
            <a:r>
              <a:t>Hiding the canvas gives the chat the full width. The document, PDF viewer, Markdown mode, Refresh source, draft, history and loaded context remain intact. Open, a supported document drop and a generated-file link reveal the canvas when their result needs it.</a:t>
            </a:r>
          </a:p>
          <a:p/>
          <a:p>
            <a:r>
              <a:t>The choice is stored per account in that browser and synchronized across its tabs. It survives reload and browser restart. A different browser profile or origin has separate preferences.</a:t>
            </a:r>
          </a:p>
          <a:p/>
          <a:p>
            <a:r>
              <a:t>Changing visibility cancels divider gestures. Focus moves to the Views menu only when its current region disappears, and the check mark exposes its state to assistive technology.</a:t>
            </a:r>
          </a:p>
          <a:p/>
          <a:p>
            <a:r>
              <a:t>Full width: Hide the canvas to give the chat more room.</a:t>
            </a:r>
          </a:p>
          <a:p/>
          <a:p>
            <a:r>
              <a:t>Continuity: Keep the open document and active context.</a:t>
            </a:r>
          </a:p>
          <a:p/>
          <a:p>
            <a:r>
              <a:t>Preference: Saved per account and browser origin.</a:t>
            </a:r>
          </a:p>
          <a:p/>
          <a:p>
            <a:r>
              <a:t>Navigation: Opening a document reveals its canvas.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portrait and its frame share the center of the entire Mic-to-Send action row.</a:t>
            </a:r>
          </a:p>
          <a:p/>
          <a:p>
            <a:r>
              <a:t>Previously, reducing the composer height shrank the portrait but left it anchored to the right edge. The layout now measures from Mic's left edge to Send's right edge and centers the whole dock above that span. Both dividers, narrow layouts and zoom follow the same measurement.</a:t>
            </a:r>
          </a:p>
          <a:p/>
          <a:p>
            <a:r>
              <a:t>The portrait remains square with a 120-pixel minimum. Its floating size remains independent. Hiding the canvas docks the portrait and disables floating resize through pointer, keyboard and API paths. Showing the canvas enables resizing again and leaves the portrait docked.</a:t>
            </a:r>
          </a:p>
          <a:p/>
          <a:p>
            <a:r>
              <a:t>Views → Reset layout shows both panes, restores their initial sizes and docks the avatar. It does not clear the document, draft, history or context.</a:t>
            </a:r>
          </a:p>
          <a:p/>
          <a:p>
            <a:r>
              <a:t>Alignment: Mic's left edge through Send's right edge.</a:t>
            </a:r>
          </a:p>
          <a:p/>
          <a:p>
            <a:r>
              <a:t>Sizing: A square portrait, never below 120 pixels.</a:t>
            </a:r>
          </a:p>
          <a:p/>
          <a:p>
            <a:r>
              <a:t>Reset: Restore layout while keeping content.</a:t>
            </a:r>
          </a:p>
          <a:p/>
          <a:p>
            <a:r>
              <a:t>Evidence: 19 visible checks; center error below 0.02 CSS px, October 16.</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runtime and self-modify inventories cover the Views template and scripts.</a:t>
            </a:r>
          </a:p>
          <a:p/>
          <a:p>
            <a:r>
              <a:t>The runtime receipt requires agent_page.html plus agent_page_layout.js, avatar_size.js, agent_page_canvas.js and agent_page_init.js. The snapshot also requires the two visible Views harnesses and the identity instructions. Refresh retains the existing PDF and Markdown carriers.</a:t>
            </a:r>
          </a:p>
          <a:p/>
          <a:p>
            <a:r>
              <a:t>There is no new migration or Python dependency. The cache suffix is -avatar-center-1 and the Views template suffix is _views1. Visibility is browser-local and does not depend on Self-modify.</a:t>
            </a:r>
          </a:p>
          <a:p/>
          <a:p>
            <a:r>
              <a:t>Dated evidence includes 160 packaging/self-update/self-modify tests and 13 visible frozen frontend checks on October 16. The latter used an actual executable with byte-verified current frontend assets in a disposable fixture. The carriage guide records the exact scope.</a:t>
            </a:r>
          </a:p>
          <a:p/>
          <a:p>
            <a:r>
              <a:t>Runtime: Required template and four cooperating scripts.</a:t>
            </a:r>
          </a:p>
          <a:p/>
          <a:p>
            <a:r>
              <a:t>Snapshot: Sources, identity and both Views harnesses.</a:t>
            </a:r>
          </a:p>
          <a:p/>
          <a:p>
            <a:r>
              <a:t>Database: No new migration; 214 migrations remain.</a:t>
            </a:r>
          </a:p>
          <a:p/>
          <a:p>
            <a:r>
              <a:t>Version: v1.85.0 across the application and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14 maintenance commit updated catalog/configuration data and scrubbed test fixtures.</a:t>
            </a:r>
          </a:p>
          <a:p/>
          <a:p>
            <a:r>
              <a:t>Commit 1a8c5093 changed FlowCreator catalog data, the local External MCP catalog and test fixtures. It introduced no new product subsystem, agent type, migration or dependency. Private catalog values are excluded from this dossier.</a:t>
            </a:r>
          </a:p>
          <a:p/>
          <a:p>
            <a:r>
              <a:t>The current audit reads the actual implementation and keeps historical test results dated. A fixture value is test data, not a deployed credential or evidence that a provider ran.</a:t>
            </a:r>
          </a:p>
          <a:p/>
          <a:p>
            <a:r>
              <a:t>Maintenance: Catalog data and test fixtures changed in commit 1a8c5093.</a:t>
            </a:r>
          </a:p>
          <a:p/>
          <a:p>
            <a:r>
              <a:t>Product surface: No new subsystem, agent type, migration or dependency.</a:t>
            </a:r>
          </a:p>
          <a:p/>
          <a:p>
            <a:r>
              <a:t>Privacy: Public documents exclude private catalog values.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14: a dropped file never errors, never opens as text by mistake and never navigates away.</a:t>
            </a:r>
          </a:p>
          <a:p/>
          <a:p>
            <a:r>
              <a:t>Dropping an MCP .json on the chat used to report an error, on the canvas it opened as plain text and killed the import, and on every other page the browser left for the file. One listener now sits in the head of the chat, both panels, the welcome and login pages, the admin pages and the PDF viewer frame, as the File Drop section describes. It claims only file drags.</a:t>
            </a:r>
          </a:p>
          <a:p/>
          <a:p>
            <a:r>
              <a:t>It decides by the bytes, not the name, and sends each kind to its own mechanism: an MCP .json to a confirmation and the External MCP catalog, a .flw or .fpmt flow to its editor, an image to the message, a PDF, Markdown or code file to the chat canvas, and anything else to a plain explanation.</a:t>
            </a:r>
          </a:p>
          <a:p/>
          <a:p>
            <a:r>
              <a:t>It replaced four per-page handlers. Checked with 138 router checks against the real script, 22 new Django tests and a visible Chrome run of 58 checks with 24 Shoter photographs, all on October 14.</a:t>
            </a:r>
          </a:p>
          <a:p/>
          <a:p>
            <a:r>
              <a:t>One listener: Capture phase, file drags only; text drags are untouched.</a:t>
            </a:r>
          </a:p>
          <a:p/>
          <a:p>
            <a:r>
              <a:t>By the bytes: Extension, MIME, magic numbers, BOM-aware text test, real JSON parse.</a:t>
            </a:r>
          </a:p>
          <a:p/>
          <a:p>
            <a:r>
              <a:t>MCP import: Never silent: a confirmation lists the servers first.</a:t>
            </a:r>
          </a:p>
          <a:p/>
          <a:p>
            <a:r>
              <a:t>Everywhere: Chat, both panels, welcome, login, admin and the PDF frame.</a:t>
            </a:r>
          </a:p>
          <a:p/>
          <a:p>
            <a:r>
              <a:t>Evidence: 138 router checks, 22 tests, 58 visible checks, 24 photographs.</a:t>
            </a:r>
          </a:p>
          <a:p/>
          <a:p>
            <a:r>
              <a:t>Tag: v1.83.0 at a2914019, pushed and published October 14.</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63a62cc1 on October 13, credited to Tlamatini's-AutoBot; shipped in v1.83.0.</a:t>
            </a:r>
          </a:p>
          <a:p/>
          <a:p>
            <a:r>
              <a:t>The divider above the message box used to reserve the portrait's current width as the box's minimum height, so a wide portrait kept the box from shrinking. It now reserves only a 120-pixel portrait plus its controls, and the docked portrait follows the divider: its side is the smaller of a quarter of the form width and the height above the Send and Mic row, never below 120 pixels.</a:t>
            </a:r>
          </a:p>
          <a:p/>
          <a:p>
            <a:r>
              <a:t>At the initial 1440-pixel window the portrait went from 282 to 120 pixels, returning about 162 pixels to the chat history. Nineteen docked-avatar checkpoints and all eighteen existing composer checkpoints passed in a visible Chrome window.</a:t>
            </a:r>
          </a:p>
          <a:p/>
          <a:p>
            <a:r>
              <a:t>Down: Dragging the divider down shrinks the portrait to a 120-pixel square.</a:t>
            </a:r>
          </a:p>
          <a:p/>
          <a:p>
            <a:r>
              <a:t>Up: Dragging it up gives the portrait back, up to its original column.</a:t>
            </a:r>
          </a:p>
          <a:p/>
          <a:p>
            <a:r>
              <a:t>Keyboard: Arrows, Shift+arrows, Home, End, double-click and Escape still work.</a:t>
            </a:r>
          </a:p>
          <a:p/>
          <a:p>
            <a:r>
              <a:t>Evidence: 19 docked-avatar and 18 composer checkpoints passed.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91ff8453 on October 12, credited to Tlamatini's-AutoBot; shipped in v1.83.0.</a:t>
            </a:r>
          </a:p>
          <a:p/>
          <a:p>
            <a:r>
              <a:t>When the launcher refuses an Image-Interpreter or Video-Analyzer call before the agent starts, because a setting does not exist or a mandatory one is missing, the refusal is marked as a request error. It no longer raises the red fatal-analysis dialog and its sound; the model simply corrects the call. A real start failure still raises the dialog.</a:t>
            </a:r>
          </a:p>
          <a:p/>
          <a:p>
            <a:r>
              <a:t>Video-Analyzer's description now says it has no transcription engine setting, which belongs to Whisperer. Five new tests pin the behavior, and it reaches installations with v1.83.0.</a:t>
            </a:r>
          </a:p>
          <a:p/>
          <a:p>
            <a:r>
              <a:t>Request errors: Refused before any model ran; the model retries.</a:t>
            </a:r>
          </a:p>
          <a:p/>
          <a:p>
            <a:r>
              <a:t>Real failures: Still raise the accumulated fatal dialog.</a:t>
            </a:r>
          </a:p>
          <a:p/>
          <a:p>
            <a:r>
              <a:t>No engine setting: engine= belongs to Whisperer, not Video-Analyzer.</a:t>
            </a:r>
          </a:p>
          <a:p/>
          <a:p>
            <a:r>
              <a:t>Tests: Five tests in RequestRefusalIsNotFatalTests.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12: new setup windows, and Markdown that opens as a page.</a:t>
            </a:r>
          </a:p>
          <a:p/>
          <a:p>
            <a:r>
              <a:t>The Installer and Uninstaller share one window that prepares and verifies a recovery copy before changing any file, restores an interrupted run, names a locked file and keeps every error on screen with Retry, as the Setup Windows section describes. Markdown files now open in the chat canvas as a rendered page with their source kept intact.</a:t>
            </a:r>
          </a:p>
          <a:p/>
          <a:p>
            <a:r>
              <a:t>The release was published on GitHub on October 12 and was the latest until v1.83.0 replaced it on October 14. Its zip was a self-modify build whose package carried the setup windows, the Markdown canvas, the shared theme of v1.80.0 and the web links of v1.79.0. There is no v1.81.0 tag.</a:t>
            </a:r>
          </a:p>
          <a:p/>
          <a:p>
            <a:r>
              <a:t>The setup campaign ran visibly on October 11 and 12: 52 interface checkpoints, 28 recovery checks, 21 lifecycle checks and 61 mechanics tests passed, with five real installations and four real removals passing their independent audits. The Markdown canvas passed 30 of 30 visible checkpoints. The campaign did not install the published zip.</a:t>
            </a:r>
          </a:p>
          <a:p/>
          <a:p>
            <a:r>
              <a:t>Setup windows: One recoverable window for installing and removing.</a:t>
            </a:r>
          </a:p>
          <a:p/>
          <a:p>
            <a:r>
              <a:t>Markdown: Rendered Preview, original Source, offline sanitizer.</a:t>
            </a:r>
          </a:p>
          <a:p/>
          <a:p>
            <a:r>
              <a:t>Published: October 12; the latest release until v1.83.0.</a:t>
            </a:r>
          </a:p>
          <a:p/>
          <a:p>
            <a:r>
              <a:t>No v1.81.0: The number was skipped; v1.80.0 and v1.79.0 come before it.</a:t>
            </a:r>
          </a:p>
          <a:p/>
          <a:p>
            <a:r>
              <a:t>Campaign: Five installations and four removals passed; one removal stopped safely.</a:t>
            </a:r>
          </a:p>
          <a:p/>
          <a:p>
            <a:r>
              <a:t>Followed by: v1.83.0 on October 14 carries the three later changes.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Every first-party page now draws from one set of design tokens, and the five pane dividers share one grip and one gesture model, as the One Look section describes. The side divider was first made to match the composer divider, then the whole site followed the same evening.</a:t>
            </a:r>
          </a:p>
          <a:p/>
          <a:p>
            <a:r>
              <a:t>The source campaign passed 175 tests with two platform skips, 17 composer checkpoints, 38 zoom and responsive checkpoints at 25 to 400 percent, 13 commentary checkpoints and all eight dialog resize directions, in a visible Chrome window. It certifies the source pages, not a model answer or an installed build.</a:t>
            </a:r>
          </a:p>
          <a:p/>
          <a:p>
            <a:r>
              <a:t>Tag: v1.80.0 at 82099963, pushed; no published release.</a:t>
            </a:r>
          </a:p>
          <a:p/>
          <a:p>
            <a:r>
              <a:t>Tokens: Slate surfaces, teal accent, one font set, one scrollbar.</a:t>
            </a:r>
          </a:p>
          <a:p/>
          <a:p>
            <a:r>
              <a:t>Dividers: Five seams, one grip, arrows and Shift, Home and End.</a:t>
            </a:r>
          </a:p>
          <a:p/>
          <a:p>
            <a:r>
              <a:t>Dialogs: Eight-direction and keyboard resizing; matching buttons.</a:t>
            </a:r>
          </a:p>
          <a:p/>
          <a:p>
            <a:r>
              <a:t>Evidence: 175 tests and visible zoom, composer and dialog checks.</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Given a YouTube or other web link, Video-Analyzer downloads one item itself: only the sound for a transcription, the picture for a summary or a robotics check. It keeps a private, self-updating downloader, updates it once and retries when a download fails, joins picture and sound without ffmpeg, and names every failure instead of returning silence.</a:t>
            </a:r>
          </a:p>
          <a:p/>
          <a:p>
            <a:r>
              <a:t>The chat parser no longer mistakes a link's ?v= for a setting, a request written in plain words fills in the link and the mode, and the result adds the source address and title. The model is told to hand links to Video-Analyzer and never to install a downloader itself. 141 unit tests and a visible 12-of-12 chat run passed on October 11.</a:t>
            </a:r>
          </a:p>
          <a:p/>
          <a:p>
            <a:r>
              <a:t>One item: Sound for transcription, picture for summary or robotics.</a:t>
            </a:r>
          </a:p>
          <a:p/>
          <a:p>
            <a:r>
              <a:t>Self-updating: A private downloader, refreshed once on failure.</a:t>
            </a:r>
          </a:p>
          <a:p/>
          <a:p>
            <a:r>
              <a:t>Named failures: Unavailable, login required, network, timeout and more.</a:t>
            </a:r>
          </a:p>
          <a:p/>
          <a:p>
            <a:r>
              <a:t>Prose works: Plain-language requests fill in the link and the mode.</a:t>
            </a:r>
          </a:p>
          <a:p/>
          <a:p>
            <a:r>
              <a:t>Evidence: 141 unit tests and a visible 12-of-12 chat run.</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user guides, PDF and PowerPoint all identify the same current release. The repository metadata records the implementation inspected for this dossier.</a:t>
            </a:r>
          </a:p>
          <a:p/>
          <a:p>
            <a:r>
              <a:t>v1.86.0 is the latest released version. The application, user guides and both dossiers use the same version, 1.86.0.</a:t>
            </a:r>
          </a:p>
          <a:p/>
          <a:p>
            <a:r>
              <a:t>This audit inspected commit 2203b436. The existing annotated tag v1.86.0 was created on 2026-10-17 and resolves to 2203b436. Git history is preserved.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447,364 effective lines across 1,481 text files; 574,259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application file tree. 1,508 application files, with 215 database-history files summarized.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 Id="rId4" Type="http://schemas.openxmlformats.org/officeDocument/2006/relationships/chart" Target="../charts/char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6.xml"/><Relationship Id="rId4" Type="http://schemas.openxmlformats.org/officeDocument/2006/relationships/chart" Target="../charts/char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2.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85</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108</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v1.86.0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18,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the application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85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Release</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v1.86.0,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application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Application files; database history is summarized.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108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85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85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85</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108</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66</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214</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1,723</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447,364</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66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centered portrait above Mic through Send, down to a 120-pixel square.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4069080"/>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author credits and Check for updates. Since v1.78.0, About also opens Usage, even while she is busy.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85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85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shipped file associations open .flw agent flows and .fpmt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SETUP WINDOWS ·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Install and remove with a way back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Installer and Uninstaller share one window that prepares a recovery copy before changing anything.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window</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Installer and Uninstaller screens that never clip their buttons.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copy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and verified before any file changes; restored after an interruption.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locks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locked file and its holder are named; nothing is force-closed.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 scope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Tlamatini's registry values and shortcut; never UserChoice.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helpers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PowerShell helpers end within 120 seconds inside a Windows job.</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tally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stopped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MARKDOWN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Markdown opens as a page, and stays your source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or drop a .md file and the canvas renders it; one click shows the original 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Preview and Source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Rendered page, or the original text with line numbers.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Offline</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Vendored Marked and DOMPurify; no CDN at runtime.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Safe HTML</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Allowlisted markup; relative links never reach the app.</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source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Copy, context and Save keep the exact Markdown bytes.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30 of 30 visible checkpoints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FILE DROP ·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file anywhere, and she knows what it is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One listener on every page reads each dropped file and sends it to the mechanism that fits it.</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YOU DROP</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HAPPENS</a:t>
            </a:r>
          </a:p>
        </p:txBody>
      </p:sp>
      <p:sp>
        <p:nvSpPr>
          <p:cNvPr id="12" name="TextBox 11"/>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MCP .json</a:t>
            </a:r>
          </a:p>
        </p:txBody>
      </p:sp>
      <p:sp>
        <p:nvSpPr>
          <p:cNvPr id="13" name="TextBox 12"/>
          <p:cNvSpPr txBox="1"/>
          <p:nvPr/>
        </p:nvSpPr>
        <p:spPr>
          <a:xfrm>
            <a:off x="3957431" y="250545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Confirm, then it joins the External MCP catalog; works on every page.</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.flw flow</a:t>
            </a:r>
          </a:p>
        </p:txBody>
      </p:sp>
      <p:sp>
        <p:nvSpPr>
          <p:cNvPr id="16" name="TextBox 15"/>
          <p:cNvSpPr txBox="1"/>
          <p:nvPr/>
        </p:nvSpPr>
        <p:spPr>
          <a:xfrm>
            <a:off x="3957431" y="2880360"/>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on the Agentic Control Panel canvas, or opens that panel in a new tab.</a:t>
            </a:r>
          </a:p>
        </p:txBody>
      </p:sp>
      <p:sp>
        <p:nvSpPr>
          <p:cNvPr id="17" name="TextBox 16"/>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.fpmt flow</a:t>
            </a:r>
          </a:p>
        </p:txBody>
      </p:sp>
      <p:sp>
        <p:nvSpPr>
          <p:cNvPr id="18" name="TextBox 17"/>
          <p:cNvSpPr txBox="1"/>
          <p:nvPr/>
        </p:nvSpPr>
        <p:spPr>
          <a:xfrm>
            <a:off x="3957431" y="3255264"/>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in the Prompt Flow Panel, asking first about unsaved work, or a new tab.</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image</a:t>
            </a:r>
          </a:p>
        </p:txBody>
      </p:sp>
      <p:sp>
        <p:nvSpPr>
          <p:cNvPr id="21" name="TextBox 20"/>
          <p:cNvSpPr txBox="1"/>
          <p:nvPr/>
        </p:nvSpPr>
        <p:spPr>
          <a:xfrm>
            <a:off x="3957431" y="3630168"/>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Attached to your message: saved in Temp, its path written into the message.</a:t>
            </a:r>
          </a:p>
        </p:txBody>
      </p:sp>
      <p:sp>
        <p:nvSpPr>
          <p:cNvPr id="22" name="TextBox 21"/>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 Markdown, code, plain JSON</a:t>
            </a:r>
          </a:p>
        </p:txBody>
      </p:sp>
      <p:sp>
        <p:nvSpPr>
          <p:cNvPr id="23" name="TextBox 22"/>
          <p:cNvSpPr txBox="1"/>
          <p:nvPr/>
        </p:nvSpPr>
        <p:spPr>
          <a:xfrm>
            <a:off x="3957431" y="4005072"/>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Opens in the chat canvas.</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folder, zip or program</a:t>
            </a:r>
          </a:p>
        </p:txBody>
      </p:sp>
      <p:sp>
        <p:nvSpPr>
          <p:cNvPr id="26" name="TextBox 25"/>
          <p:cNvSpPr txBox="1"/>
          <p:nvPr/>
        </p:nvSpPr>
        <p:spPr>
          <a:xfrm>
            <a:off x="3957431" y="43799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Explained in plain words; nothing opens.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ONE LOOK ·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page shares one theme and one way to resize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Chat, both panels, login, welcome, Usage, the PDF viewer and the admin pages share one identity.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palette, font set and scrollbar style for every page.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Five dividers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grip, one keyboard model, one clean cancel.</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 resize directions, keyboard resizing, buttons that match.</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High zoom</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modal stays above the menu at 400 percent.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source tests and visible checks passed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85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85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9</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Parametrizer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Maps one agent's structured output into the next agent's configuration.</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FlowCreator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Designs a complete, validated .flw workflow from a plain objective.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FlowHypervisor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model watchdog that reads a running flow: OK or ATTENTION NEEDED.</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FlowBacker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Backs up a session's logs and configurations before clean-up.</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Prompter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Sends one prompt to a model and logs a structured answer.</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Summarizer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Summarizes text once, or watches logs and fires on a detected event.</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ACPXer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one external coding-agent CLI turn on the canvas and captures its answer.</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MCP Doctor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Diagnoses an external MCP server on paper, before any live connection.</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9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Shows an in-browser notification, optionally with a sound.</a:t>
            </a:r>
          </a:p>
        </p:txBody>
      </p:sp>
      <p:sp>
        <p:nvSpPr>
          <p:cNvPr id="12" name="Rounded Rectangle 11"/>
          <p:cNvSpPr/>
          <p:nvPr/>
        </p:nvSpPr>
        <p:spPr>
          <a:xfrm>
            <a:off x="4326026"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4454042"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8085124"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8213140"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566928"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694944"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4326026"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4454042"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WhatsApp through Meta's Cloud API, or explicitly from your own number.</a:t>
            </a:r>
          </a:p>
        </p:txBody>
      </p:sp>
      <p:sp>
        <p:nvSpPr>
          <p:cNvPr id="28" name="Rounded Rectangle 27"/>
          <p:cNvSpPr/>
          <p:nvPr/>
        </p:nvSpPr>
        <p:spPr>
          <a:xfrm>
            <a:off x="8085124"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1" name="TextBox 30"/>
          <p:cNvSpPr txBox="1"/>
          <p:nvPr/>
        </p:nvSpPr>
        <p:spPr>
          <a:xfrm>
            <a:off x="8213140"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Brings the full Tlamatini chat, Multi-Turn included, into Telegram.</a:t>
            </a:r>
          </a:p>
        </p:txBody>
      </p:sp>
      <p:sp>
        <p:nvSpPr>
          <p:cNvPr id="32" name="Rounded Rectangle 31"/>
          <p:cNvSpPr/>
          <p:nvPr/>
        </p:nvSpPr>
        <p:spPr>
          <a:xfrm>
            <a:off x="566928"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Instant Messaging Doctor</a:t>
            </a:r>
          </a:p>
        </p:txBody>
      </p:sp>
      <p:sp>
        <p:nvSpPr>
          <p:cNvPr id="35" name="TextBox 34"/>
          <p:cNvSpPr txBox="1"/>
          <p:nvPr/>
        </p:nvSpPr>
        <p:spPr>
          <a:xfrm>
            <a:off x="694944"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Diagnoses and safely repairs Telegram and WhatsApp readiness.</a:t>
            </a:r>
          </a:p>
        </p:txBody>
      </p:sp>
      <p:sp>
        <p:nvSpPr>
          <p:cNvPr id="36" name="Rounded Rectangle 35"/>
          <p:cNvSpPr/>
          <p:nvPr/>
        </p:nvSpPr>
        <p:spPr>
          <a:xfrm>
            <a:off x="4326026"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490618"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454042"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39" name="TextBox 38"/>
          <p:cNvSpPr txBox="1"/>
          <p:nvPr/>
        </p:nvSpPr>
        <p:spPr>
          <a:xfrm>
            <a:off x="4454042"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0" name="Rounded Rectangle 39"/>
          <p:cNvSpPr/>
          <p:nvPr/>
        </p:nvSpPr>
        <p:spPr>
          <a:xfrm>
            <a:off x="8085124"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249716"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213140"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3" name="TextBox 42"/>
          <p:cNvSpPr txBox="1"/>
          <p:nvPr/>
        </p:nvSpPr>
        <p:spPr>
          <a:xfrm>
            <a:off x="8213140"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or a web link,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 a web link is downloaded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recoverable release installer (Python 3.12.10 bundled),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Current Release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v1.86.0,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CURRENT RELEASE ·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Views and a centered avatar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v1.85.0 is the latest released version, with a more flexible chat workspace.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original document, read again without a chooser.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Views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Show or hide the canvas and keep its state.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 layout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both panes and dock the avatar.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Portrait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Center the whole frame above the complete action row.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the original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selects a file. Refresh reads that same source again, without writing to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Open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Choose a document and retain read access.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Reread the retained source without another picker.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Failure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previous content and allow retry.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 changed content before replacing active context.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Keep the reading position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Refreshing Markdown or PDF preserves the view while the underlying document changes.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Preview/Source, position and selected resources stay.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PDF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Page, zoom, rotation and scroll mode stay.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failed replacement retains the previous viewer.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20 visible Chrome checks on October 15.</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Choose a full-width chat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Views → Canvas shows or hides the canvas without unloading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width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Hide the canvas to give the chat more room.</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open document and active context.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Preference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Saved per account and browser origin.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Navigation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a document reveals its canvas.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centered portrait at every height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portrait and its frame share the center of the entire Mic-to-Send action row.</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Alignment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Mic's left edge through Send's right edge.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Sizing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square portrait, never below 120 pixels.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layout while keeping content.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visible checks; center error below 0.02 CSS px, October 16.</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v1.85.0 IMPLEMENTATION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complete feature travels together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Required runtime and self-modify inventories cover the Views template and scripts.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Required template and four cooperating scripts.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Sources, identity and both Views harnesses.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Database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 new migration; 214 migrations remain.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v1.85.0 across the application and documentation.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Catalog and fixture maintenance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14 maintenance commit updated catalog/configuration data and scrubbed test fixtures.</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Maintenance</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Catalog data and test fixtures changed in commit 1a8c5093.</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Product surface</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new subsystem, agent type, migration or dependency.</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Privacy</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Public documents exclude private catalog values.</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smart listener for every file you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14: a dropped file never errors, never opens as text by mistake and never navigates away.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listener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Capture phase, file drags only; text drags are untouched.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By the bytes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Extension, MIME, magic numbers, BOM-aware text test, real JSON parse.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MCP import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silent: a confirmation lists the servers first.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Everywhere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Chat, both panels, welcome, login, admin and the PDF frame.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138 router checks, 22 tests, 58 visible checks, 24 photographs.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at a2914019, pushed and published October 14.</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portrait shrinks with the message box</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63a62cc1 on October 13,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the divider down shrinks the portrait to a 120-pixel square.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it up gives the portrait back, up to its original column.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double-click and Escape still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docked-avatar and 18 composer checkpoints passed.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wrongly worded request is not fatal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91ff8453 on October 12,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Request errors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Refused before any model ran; the model retries.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failures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Still raise the accumulated fatal dialog.</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engine setting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engine= belongs to Whisperer, not Video-Analyzer.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Tests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tests in RequestRefusalIsNotFatalTests.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way back for installing and removing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12: new setup windows, and Markdown that opens as a page.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Setup windows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recoverable window for installing and removing.</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Rendered Preview, original Source, offline sanitizer.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12; the latest release until v1.83.0.</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v1.81.0</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number was skipped; v1.80.0 and v1.79.0 come before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Campaign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removal stopped safely.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Followed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on October 14 carries the three later changes.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look, and one way to drag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v1.80.0 at 82099963, pushed; no published release.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Slate surfaces, teal accent, one font set, one scrollbar.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Dividers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seams, one grip, arrows and Shift, Home and End.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Eight-direction and keyboard resizing; matching buttons.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tests and visible zoom, composer and dialog checks.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Video-Analyzer takes a web link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item</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Sound for transcription, picture for summary or robotics.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Self-updating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private downloader, refreshed once on failure.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failures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Unavailable, login required, network, timeout and more.</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Prose works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Plain-language requests fill in the link and the mode.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141 unit tests and a visible 12-of-12 chat run.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v1.77.0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2026-10-10</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v1.78.0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v1.78.0 Implementing the About -&gt; Usage dialog.</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v1.79.0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v1.79.0 Video-Analizer agent way too improved!.</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v1.80.0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v1.80.0 Standarization stage completed of the GUI elements in every HTML page of Tlamatini.</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2026-10-12</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v1.82.0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v1.82.0 Installation/Uninstallation mechanisms: way too improved!.</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2026-10-14</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v1.83.0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v1.83.0 A smart file-drop router for every page: each dropped file is recognised by its bytes and sent to its own mechanism, so an MCP .json imports everywhere and never errors, opens as text or navigates away.</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2026-10-15</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v1.84.0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v1.84.0 Button Reopen refactored to Refresh and omtomized as-is.</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2026-10-16</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v1.85.0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v1.85.0 Improved canvas visibility introducing views modify behavior.</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2026-10-17</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v1.86.0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v1.86.0 Fixing Mover: a new folder name is created as a folder, not a file.</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released version: v1.86.0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application, user guides, PDF and PowerPoint all identify the same current release. The repository metadata records the implementation inspected for this dossier.</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Current release</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v1.86.0</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Audit commit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2203b436</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version</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1.86.0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Current release</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v1.86.0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Runtime version</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1.86.0</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Existing annotated tag</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v1.86.0 → 2203b436 (2026-10-17)</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commit</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2203b436</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2203b436 · 2026-10-17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1.86.0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1,723</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1,481</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242</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574,259</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447,364</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85</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66</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108 = 20 core + 66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214</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59 · 26 · 6</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88</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447,364 effective lines across 1,481 text files; 574,259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853</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336,690</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240,151</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53.7%</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104,301</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102,855</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225</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48,478</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36,596</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83</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34,181</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27,129</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6.1%</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17,183</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13,841</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45</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11,932</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10,542</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5,883</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5,883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3,023</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5,849</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2,042</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1,590</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1,533</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1,481</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1,339</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1,562</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1,235</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1,026</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882</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1,481</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574,259</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447,364</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1,346</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336,079</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135</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111,285</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1,481</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447,364</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8,591</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5,964</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4,863</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4,205</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3,414</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3,175</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2,499</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Tlamatini/agent/doc_generation/dossier_content.py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2,434</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2,342</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scripts/architecture_atlas/gen_architecture.py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2,295</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Tlamatini/agent/chat_agent_registry.py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2,142</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Tlamatini/agent/static/agent/css/agentic_control_panel.css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2,050</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2,005</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1,937</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96512"/>
          </a:xfrm>
          <a:prstGeom prst="roundRect">
            <a:avLst>
              <a:gd name="adj" fmla="val 17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2203b436</a:t>
            </a:r>
          </a:p>
        </p:txBody>
      </p:sp>
      <p:sp>
        <p:nvSpPr>
          <p:cNvPr id="14" name="TextBox 13"/>
          <p:cNvSpPr txBox="1"/>
          <p:nvPr/>
        </p:nvSpPr>
        <p:spPr>
          <a:xfrm>
            <a:off x="1967020" y="2505456"/>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2026-10-17</a:t>
            </a:r>
          </a:p>
        </p:txBody>
      </p:sp>
      <p:sp>
        <p:nvSpPr>
          <p:cNvPr id="15" name="TextBox 14"/>
          <p:cNvSpPr txBox="1"/>
          <p:nvPr/>
        </p:nvSpPr>
        <p:spPr>
          <a:xfrm>
            <a:off x="3515118" y="2505456"/>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Fixing Mover: a new folder name is created as a folder, not a file, by angelahack1</a:t>
            </a:r>
          </a:p>
        </p:txBody>
      </p:sp>
      <p:sp>
        <p:nvSpPr>
          <p:cNvPr id="16" name="Rectangle 15"/>
          <p:cNvSpPr/>
          <p:nvPr/>
        </p:nvSpPr>
        <p:spPr>
          <a:xfrm>
            <a:off x="585216" y="2790443"/>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27019"/>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0e302118</a:t>
            </a:r>
          </a:p>
        </p:txBody>
      </p:sp>
      <p:sp>
        <p:nvSpPr>
          <p:cNvPr id="18" name="TextBox 17"/>
          <p:cNvSpPr txBox="1"/>
          <p:nvPr/>
        </p:nvSpPr>
        <p:spPr>
          <a:xfrm>
            <a:off x="1967020" y="2827019"/>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2026-10-17</a:t>
            </a:r>
          </a:p>
        </p:txBody>
      </p:sp>
      <p:sp>
        <p:nvSpPr>
          <p:cNvPr id="19" name="TextBox 18"/>
          <p:cNvSpPr txBox="1"/>
          <p:nvPr/>
        </p:nvSpPr>
        <p:spPr>
          <a:xfrm>
            <a:off x="3515118" y="2827019"/>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Mentioning the architecture atlas in the README, by angelahack1</a:t>
            </a:r>
          </a:p>
        </p:txBody>
      </p:sp>
      <p:sp>
        <p:nvSpPr>
          <p:cNvPr id="20" name="TextBox 19"/>
          <p:cNvSpPr txBox="1"/>
          <p:nvPr/>
        </p:nvSpPr>
        <p:spPr>
          <a:xfrm>
            <a:off x="640080" y="3148583"/>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5be9e21e</a:t>
            </a:r>
          </a:p>
        </p:txBody>
      </p:sp>
      <p:sp>
        <p:nvSpPr>
          <p:cNvPr id="21" name="TextBox 20"/>
          <p:cNvSpPr txBox="1"/>
          <p:nvPr/>
        </p:nvSpPr>
        <p:spPr>
          <a:xfrm>
            <a:off x="1967020" y="3148583"/>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2026-10-17</a:t>
            </a:r>
          </a:p>
        </p:txBody>
      </p:sp>
      <p:sp>
        <p:nvSpPr>
          <p:cNvPr id="22" name="TextBox 21"/>
          <p:cNvSpPr txBox="1"/>
          <p:nvPr/>
        </p:nvSpPr>
        <p:spPr>
          <a:xfrm>
            <a:off x="3515118" y="3148583"/>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Making the Tlamatini-Architecture.pdf generator committable (scripts/architecture_atlas), by angelahack1</a:t>
            </a:r>
          </a:p>
        </p:txBody>
      </p:sp>
      <p:sp>
        <p:nvSpPr>
          <p:cNvPr id="23" name="Rectangle 22"/>
          <p:cNvSpPr/>
          <p:nvPr/>
        </p:nvSpPr>
        <p:spPr>
          <a:xfrm>
            <a:off x="585216" y="3433571"/>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70147"/>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adba0fa9</a:t>
            </a:r>
          </a:p>
        </p:txBody>
      </p:sp>
      <p:sp>
        <p:nvSpPr>
          <p:cNvPr id="25" name="TextBox 24"/>
          <p:cNvSpPr txBox="1"/>
          <p:nvPr/>
        </p:nvSpPr>
        <p:spPr>
          <a:xfrm>
            <a:off x="1967020" y="3470147"/>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2026-10-17</a:t>
            </a:r>
          </a:p>
        </p:txBody>
      </p:sp>
      <p:sp>
        <p:nvSpPr>
          <p:cNvPr id="26" name="TextBox 25"/>
          <p:cNvSpPr txBox="1"/>
          <p:nvPr/>
        </p:nvSpPr>
        <p:spPr>
          <a:xfrm>
            <a:off x="3515118" y="3470147"/>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Tlamatini-Architecture.pdf made by Tlamatini's LaTeXer, by angelahack1</a:t>
            </a:r>
          </a:p>
        </p:txBody>
      </p:sp>
      <p:sp>
        <p:nvSpPr>
          <p:cNvPr id="27" name="TextBox 26"/>
          <p:cNvSpPr txBox="1"/>
          <p:nvPr/>
        </p:nvSpPr>
        <p:spPr>
          <a:xfrm>
            <a:off x="640080" y="3791712"/>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5a9631cd</a:t>
            </a:r>
          </a:p>
        </p:txBody>
      </p:sp>
      <p:sp>
        <p:nvSpPr>
          <p:cNvPr id="28" name="TextBox 27"/>
          <p:cNvSpPr txBox="1"/>
          <p:nvPr/>
        </p:nvSpPr>
        <p:spPr>
          <a:xfrm>
            <a:off x="1967020" y="3791712"/>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2026-10-17</a:t>
            </a:r>
          </a:p>
        </p:txBody>
      </p:sp>
      <p:sp>
        <p:nvSpPr>
          <p:cNvPr id="29" name="TextBox 28"/>
          <p:cNvSpPr txBox="1"/>
          <p:nvPr/>
        </p:nvSpPr>
        <p:spPr>
          <a:xfrm>
            <a:off x="3515118" y="3791712"/>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Making adjustments to default configuration models, by angelahack1</a:t>
            </a:r>
          </a:p>
        </p:txBody>
      </p:sp>
      <p:sp>
        <p:nvSpPr>
          <p:cNvPr id="30" name="Rectangle 29"/>
          <p:cNvSpPr/>
          <p:nvPr/>
        </p:nvSpPr>
        <p:spPr>
          <a:xfrm>
            <a:off x="585216" y="4076699"/>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13275"/>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aa4d4b2c</a:t>
            </a:r>
          </a:p>
        </p:txBody>
      </p:sp>
      <p:sp>
        <p:nvSpPr>
          <p:cNvPr id="32" name="TextBox 31"/>
          <p:cNvSpPr txBox="1"/>
          <p:nvPr/>
        </p:nvSpPr>
        <p:spPr>
          <a:xfrm>
            <a:off x="1967020" y="4113275"/>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2026-10-16</a:t>
            </a:r>
          </a:p>
        </p:txBody>
      </p:sp>
      <p:sp>
        <p:nvSpPr>
          <p:cNvPr id="33" name="TextBox 32"/>
          <p:cNvSpPr txBox="1"/>
          <p:nvPr/>
        </p:nvSpPr>
        <p:spPr>
          <a:xfrm>
            <a:off x="3515118" y="4113275"/>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Bumping everything to the release v1.85.0, by angelahack1</a:t>
            </a:r>
          </a:p>
        </p:txBody>
      </p:sp>
      <p:sp>
        <p:nvSpPr>
          <p:cNvPr id="34" name="TextBox 33"/>
          <p:cNvSpPr txBox="1"/>
          <p:nvPr/>
        </p:nvSpPr>
        <p:spPr>
          <a:xfrm>
            <a:off x="640080" y="4434840"/>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32a4a6d3</a:t>
            </a:r>
          </a:p>
        </p:txBody>
      </p:sp>
      <p:sp>
        <p:nvSpPr>
          <p:cNvPr id="35" name="TextBox 34"/>
          <p:cNvSpPr txBox="1"/>
          <p:nvPr/>
        </p:nvSpPr>
        <p:spPr>
          <a:xfrm>
            <a:off x="1967020" y="4434840"/>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2026-10-16</a:t>
            </a:r>
          </a:p>
        </p:txBody>
      </p:sp>
      <p:sp>
        <p:nvSpPr>
          <p:cNvPr id="36" name="TextBox 35"/>
          <p:cNvSpPr txBox="1"/>
          <p:nvPr/>
        </p:nvSpPr>
        <p:spPr>
          <a:xfrm>
            <a:off x="3515118" y="4434840"/>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Improved positioning when resizing, by Tlamatini's-AutoBot.</a:t>
            </a:r>
          </a:p>
        </p:txBody>
      </p:sp>
      <p:sp>
        <p:nvSpPr>
          <p:cNvPr id="37" name="Rectangle 36"/>
          <p:cNvSpPr/>
          <p:nvPr/>
        </p:nvSpPr>
        <p:spPr>
          <a:xfrm>
            <a:off x="585216" y="4719828"/>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756404"/>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c261fe20</a:t>
            </a:r>
          </a:p>
        </p:txBody>
      </p:sp>
      <p:sp>
        <p:nvSpPr>
          <p:cNvPr id="39" name="TextBox 38"/>
          <p:cNvSpPr txBox="1"/>
          <p:nvPr/>
        </p:nvSpPr>
        <p:spPr>
          <a:xfrm>
            <a:off x="1967020" y="4756404"/>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2026-10-16</a:t>
            </a:r>
          </a:p>
        </p:txBody>
      </p:sp>
      <p:sp>
        <p:nvSpPr>
          <p:cNvPr id="40" name="TextBox 39"/>
          <p:cNvSpPr txBox="1"/>
          <p:nvPr/>
        </p:nvSpPr>
        <p:spPr>
          <a:xfrm>
            <a:off x="3515118" y="4756404"/>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Improved canvas visibility introducing views modify behavior, by Tlamatini's-AutoBot.</a:t>
            </a:r>
          </a:p>
        </p:txBody>
      </p:sp>
      <p:sp>
        <p:nvSpPr>
          <p:cNvPr id="41" name="TextBox 40"/>
          <p:cNvSpPr txBox="1"/>
          <p:nvPr/>
        </p:nvSpPr>
        <p:spPr>
          <a:xfrm>
            <a:off x="640080" y="5077967"/>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5d1f0c76</a:t>
            </a:r>
          </a:p>
        </p:txBody>
      </p:sp>
      <p:sp>
        <p:nvSpPr>
          <p:cNvPr id="42" name="TextBox 41"/>
          <p:cNvSpPr txBox="1"/>
          <p:nvPr/>
        </p:nvSpPr>
        <p:spPr>
          <a:xfrm>
            <a:off x="1967020" y="5077967"/>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2026-10-15</a:t>
            </a:r>
          </a:p>
        </p:txBody>
      </p:sp>
      <p:sp>
        <p:nvSpPr>
          <p:cNvPr id="43" name="TextBox 42"/>
          <p:cNvSpPr txBox="1"/>
          <p:nvPr/>
        </p:nvSpPr>
        <p:spPr>
          <a:xfrm>
            <a:off x="3515118" y="5077967"/>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Button Reopen refactored to Refresh and omtomized as-is, by Tlamatini's-AutoBot.</a:t>
            </a:r>
          </a:p>
        </p:txBody>
      </p:sp>
      <p:sp>
        <p:nvSpPr>
          <p:cNvPr id="44" name="Rectangle 43"/>
          <p:cNvSpPr/>
          <p:nvPr/>
        </p:nvSpPr>
        <p:spPr>
          <a:xfrm>
            <a:off x="585216" y="5362955"/>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399531"/>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1a8c5093</a:t>
            </a:r>
          </a:p>
        </p:txBody>
      </p:sp>
      <p:sp>
        <p:nvSpPr>
          <p:cNvPr id="46" name="TextBox 45"/>
          <p:cNvSpPr txBox="1"/>
          <p:nvPr/>
        </p:nvSpPr>
        <p:spPr>
          <a:xfrm>
            <a:off x="1967020" y="5399531"/>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2026-10-14</a:t>
            </a:r>
          </a:p>
        </p:txBody>
      </p:sp>
      <p:sp>
        <p:nvSpPr>
          <p:cNvPr id="47" name="TextBox 46"/>
          <p:cNvSpPr txBox="1"/>
          <p:nvPr/>
        </p:nvSpPr>
        <p:spPr>
          <a:xfrm>
            <a:off x="3515118" y="5399531"/>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Some blinding patches, by Tlamatini's-AutoBot.</a:t>
            </a:r>
          </a:p>
        </p:txBody>
      </p:sp>
      <p:sp>
        <p:nvSpPr>
          <p:cNvPr id="48" name="TextBox 47"/>
          <p:cNvSpPr txBox="1"/>
          <p:nvPr/>
        </p:nvSpPr>
        <p:spPr>
          <a:xfrm>
            <a:off x="640080" y="5721095"/>
            <a:ext cx="1180636" cy="42367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ff2bf006</a:t>
            </a:r>
          </a:p>
        </p:txBody>
      </p:sp>
      <p:sp>
        <p:nvSpPr>
          <p:cNvPr id="49" name="TextBox 48"/>
          <p:cNvSpPr txBox="1"/>
          <p:nvPr/>
        </p:nvSpPr>
        <p:spPr>
          <a:xfrm>
            <a:off x="1967020" y="5721095"/>
            <a:ext cx="1401793" cy="42367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2026-10-14</a:t>
            </a:r>
          </a:p>
        </p:txBody>
      </p:sp>
      <p:sp>
        <p:nvSpPr>
          <p:cNvPr id="50" name="TextBox 49"/>
          <p:cNvSpPr txBox="1"/>
          <p:nvPr/>
        </p:nvSpPr>
        <p:spPr>
          <a:xfrm>
            <a:off x="3515118" y="5721095"/>
            <a:ext cx="8036497" cy="42367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Updating every Markdown document, the PDF dossier and the PPTX deck to v1.83.0 as released: the page-wide file-drop router, the docked avatar that follows both dividers and the not-fatal wrongly worded request, by Claude</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987552"/>
          </a:xfrm>
          <a:prstGeom prst="roundRect">
            <a:avLst>
              <a:gd name="adj" fmla="val 74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a2914019</a:t>
            </a:r>
          </a:p>
        </p:txBody>
      </p:sp>
      <p:sp>
        <p:nvSpPr>
          <p:cNvPr id="14" name="TextBox 13"/>
          <p:cNvSpPr txBox="1"/>
          <p:nvPr/>
        </p:nvSpPr>
        <p:spPr>
          <a:xfrm>
            <a:off x="1967020" y="2505456"/>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2026-10-14</a:t>
            </a:r>
          </a:p>
        </p:txBody>
      </p:sp>
      <p:sp>
        <p:nvSpPr>
          <p:cNvPr id="15" name="TextBox 14"/>
          <p:cNvSpPr txBox="1"/>
          <p:nvPr/>
        </p:nvSpPr>
        <p:spPr>
          <a:xfrm>
            <a:off x="3515118" y="2505456"/>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smart router for every file dropped on any Tlamatini page: an MCP .json no longer errors, opens as text or navigates away, by Claude</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application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1,508 application files, with 215 database-history files summarized.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setup_logging.py</a:t>
            </a:r>
          </a:p>
          <a:p>
            <a:pPr algn="l">
              <a:lnSpc>
                <a:spcPct val="100000"/>
              </a:lnSpc>
            </a:pPr>
            <a:r>
              <a:rPr sz="800" b="0" i="0">
                <a:solidFill>
                  <a:srgbClr val="ECE7DC"/>
                </a:solidFill>
                <a:latin typeface="Consolas"/>
              </a:rPr>
              <a:t>├── setup_recovery.py</a:t>
            </a:r>
          </a:p>
          <a:p>
            <a:pPr algn="l">
              <a:lnSpc>
                <a:spcPct val="100000"/>
              </a:lnSpc>
            </a:pPr>
            <a:r>
              <a:rPr sz="800" b="0" i="0">
                <a:solidFill>
                  <a:srgbClr val="ECE7DC"/>
                </a:solidFill>
                <a:latin typeface="Consolas"/>
              </a:rPr>
              <a:t>├── setup_windows.py</a:t>
            </a:r>
          </a:p>
          <a:p>
            <a:pPr algn="l">
              <a:lnSpc>
                <a:spcPct val="100000"/>
              </a:lnSpc>
            </a:pPr>
            <a:r>
              <a:rPr sz="800" b="0" i="0">
                <a:solidFill>
                  <a:srgbClr val="ECE7DC"/>
                </a:solidFill>
                <a:latin typeface="Consolas"/>
              </a:rPr>
              <a:t>├── setup_wizard.py</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Tlamatini-Architecture.pdf</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file_drop_visible.py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video_link_visible.py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canvas-refresh.md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markdown-canvas.md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setup-lifecycle-research.md</a:t>
            </a:r>
          </a:p>
          <a:p>
            <a:pPr algn="l">
              <a:lnSpc>
                <a:spcPct val="100000"/>
              </a:lnSpc>
            </a:pPr>
            <a:r>
              <a:rPr sz="800" b="0" i="0">
                <a:solidFill>
                  <a:srgbClr val="ECE7DC"/>
                </a:solidFill>
                <a:latin typeface="Consolas"/>
              </a:rPr>
              <a:t>│   ├── setup-wizards.md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ECE7DC"/>
                </a:solidFill>
                <a:latin typeface="Consolas"/>
              </a:rPr>
              <a:t>│   │   ├── 2026-10-10-composer-resize.md</a:t>
            </a:r>
          </a:p>
          <a:p>
            <a:pPr algn="l">
              <a:lnSpc>
                <a:spcPct val="100000"/>
              </a:lnSpc>
            </a:pPr>
            <a:r>
              <a:rPr sz="800" b="0" i="0">
                <a:solidFill>
                  <a:srgbClr val="ECE7DC"/>
                </a:solidFill>
                <a:latin typeface="Consolas"/>
              </a:rPr>
              <a:t>│   │   ├── 2026-10-11-ui-sweep.md</a:t>
            </a:r>
          </a:p>
          <a:p>
            <a:pPr algn="l">
              <a:lnSpc>
                <a:spcPct val="100000"/>
              </a:lnSpc>
            </a:pPr>
            <a:r>
              <a:rPr sz="800" b="0" i="0">
                <a:solidFill>
                  <a:srgbClr val="ECE7DC"/>
                </a:solidFill>
                <a:latin typeface="Consolas"/>
              </a:rPr>
              <a:t>│   │   ├── 2026-10-13-docked-avatar-divider.md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2026-10-16-v1.85.0.md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agent_catalog_visible.py</a:t>
            </a:r>
          </a:p>
          <a:p>
            <a:pPr algn="l">
              <a:lnSpc>
                <a:spcPct val="100000"/>
              </a:lnSpc>
            </a:pPr>
            <a:r>
              <a:rPr sz="800" b="0" i="0">
                <a:solidFill>
                  <a:srgbClr val="ECE7DC"/>
                </a:solidFill>
                <a:latin typeface="Consolas"/>
              </a:rPr>
              <a:t>│   ├── build_setup_full_payload.py</a:t>
            </a:r>
          </a:p>
          <a:p>
            <a:pPr algn="l">
              <a:lnSpc>
                <a:spcPct val="100000"/>
              </a:lnSpc>
            </a:pPr>
            <a:r>
              <a:rPr sz="800" b="0" i="0">
                <a:solidFill>
                  <a:srgbClr val="ECE7DC"/>
                </a:solidFill>
                <a:latin typeface="Consolas"/>
              </a:rPr>
              <a:t>│   ├── build_setup_validation.py</a:t>
            </a:r>
          </a:p>
          <a:p>
            <a:pPr algn="l">
              <a:lnSpc>
                <a:spcPct val="100000"/>
              </a:lnSpc>
            </a:pPr>
            <a:r>
              <a:rPr sz="800" b="0" i="0">
                <a:solidFill>
                  <a:srgbClr val="ECE7DC"/>
                </a:solidFill>
                <a:latin typeface="Consolas"/>
              </a:rPr>
              <a:t>│   ├── canvas_refresh_visible.py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chat_views_frozen_visible.py</a:t>
            </a:r>
          </a:p>
          <a:p>
            <a:pPr algn="l">
              <a:lnSpc>
                <a:spcPct val="100000"/>
              </a:lnSpc>
            </a:pPr>
            <a:r>
              <a:rPr sz="800" b="0" i="0">
                <a:solidFill>
                  <a:srgbClr val="ECE7DC"/>
                </a:solidFill>
                <a:latin typeface="Consolas"/>
              </a:rPr>
              <a:t>│   ├── chat_views_visible.py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docked_avatar_resize_checks.py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drag_divider_look_visible.py</a:t>
            </a:r>
          </a:p>
          <a:p>
            <a:pPr algn="l">
              <a:lnSpc>
                <a:spcPct val="100000"/>
              </a:lnSpc>
            </a:pPr>
            <a:r>
              <a:rPr sz="800" b="0" i="0">
                <a:solidFill>
                  <a:srgbClr val="ECE7DC"/>
                </a:solidFill>
                <a:latin typeface="Consolas"/>
              </a:rPr>
              <a:t>│   ├── file_drop_router_cases.mjs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markdown_canvas_visible.py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setup_crash_agents_visible.py</a:t>
            </a:r>
          </a:p>
          <a:p>
            <a:pPr algn="l">
              <a:lnSpc>
                <a:spcPct val="100000"/>
              </a:lnSpc>
            </a:pPr>
            <a:r>
              <a:rPr sz="800" b="0" i="0">
                <a:solidFill>
                  <a:srgbClr val="ECE7DC"/>
                </a:solidFill>
                <a:latin typeface="Consolas"/>
              </a:rPr>
              <a:t>│   ├── setup_desktop_cycles.py</a:t>
            </a:r>
          </a:p>
          <a:p>
            <a:pPr algn="l">
              <a:lnSpc>
                <a:spcPct val="100000"/>
              </a:lnSpc>
            </a:pPr>
            <a:r>
              <a:rPr sz="800" b="0" i="0">
                <a:solidFill>
                  <a:srgbClr val="ECE7DC"/>
                </a:solidFill>
                <a:latin typeface="Consolas"/>
              </a:rPr>
              <a:t>│   ├── setup_lifecycle_checks.py</a:t>
            </a:r>
          </a:p>
          <a:p>
            <a:pPr algn="l">
              <a:lnSpc>
                <a:spcPct val="100000"/>
              </a:lnSpc>
            </a:pPr>
            <a:r>
              <a:rPr sz="800" b="0" i="0">
                <a:solidFill>
                  <a:srgbClr val="ECE7DC"/>
                </a:solidFill>
                <a:latin typeface="Consolas"/>
              </a:rPr>
              <a:t>│   ├── setup_release_cycles.py</a:t>
            </a:r>
          </a:p>
          <a:p>
            <a:pPr algn="l">
              <a:lnSpc>
                <a:spcPct val="100000"/>
              </a:lnSpc>
            </a:pPr>
            <a:r>
              <a:rPr sz="800" b="0" i="0">
                <a:solidFill>
                  <a:srgbClr val="ECE7DC"/>
                </a:solidFill>
                <a:latin typeface="Consolas"/>
              </a:rPr>
              <a:t>│   ├── setup_wizard_visible.py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ui_sweep_resize_checks.py</a:t>
            </a:r>
          </a:p>
          <a:p>
            <a:pPr algn="l">
              <a:lnSpc>
                <a:spcPct val="100000"/>
              </a:lnSpc>
            </a:pPr>
            <a:r>
              <a:rPr sz="800" b="0" i="0">
                <a:solidFill>
                  <a:srgbClr val="ECE7DC"/>
                </a:solidFill>
                <a:latin typeface="Consolas"/>
              </a:rPr>
              <a:t>│   ├── ui_sweep_visible.py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 architecture_atlas/</a:t>
            </a:r>
          </a:p>
          <a:p>
            <a:pPr algn="l">
              <a:lnSpc>
                <a:spcPct val="100000"/>
              </a:lnSpc>
            </a:pPr>
            <a:r>
              <a:rPr sz="800" b="0" i="0">
                <a:solidFill>
                  <a:srgbClr val="ECE7DC"/>
                </a:solidFill>
                <a:latin typeface="Consolas"/>
              </a:rPr>
              <a:t>│       ├── build_architecture_pdf.py</a:t>
            </a:r>
          </a:p>
          <a:p>
            <a:pPr algn="l">
              <a:lnSpc>
                <a:spcPct val="100000"/>
              </a:lnSpc>
            </a:pPr>
            <a:r>
              <a:rPr sz="800" b="0" i="0">
                <a:solidFill>
                  <a:srgbClr val="ECE7DC"/>
                </a:solidFill>
                <a:latin typeface="Consolas"/>
              </a:rPr>
              <a:t>│       ├── gen_architecture.py</a:t>
            </a:r>
          </a:p>
          <a:p>
            <a:pPr algn="l">
              <a:lnSpc>
                <a:spcPct val="100000"/>
              </a:lnSpc>
            </a:pPr>
            <a:r>
              <a:rPr sz="800" b="0" i="0">
                <a:solidFill>
                  <a:srgbClr val="ECE7DC"/>
                </a:solidFill>
                <a:latin typeface="Consolas"/>
              </a:rPr>
              <a:t>│       └── README.md</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test_catalog_pruning.py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test_drag_divider_look.py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test_file_drop_router.py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test_video_analyzer_fetch.py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ECE7DC"/>
                </a:solidFill>
                <a:latin typeface="Consolas"/>
              </a:rPr>
              <a:t>    │   │   │   └── video_fetch.py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windower.py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admin_theme.css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entry_pages.css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markdown_canvas.css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ui_shell.css</a:t>
            </a:r>
          </a:p>
          <a:p>
            <a:pPr algn="l">
              <a:lnSpc>
                <a:spcPct val="100000"/>
              </a:lnSpc>
            </a:pPr>
            <a:r>
              <a:rPr sz="800" b="0" i="0">
                <a:solidFill>
                  <a:srgbClr val="ECE7DC"/>
                </a:solidFill>
                <a:latin typeface="Consolas"/>
              </a:rPr>
              <a:t>    │   │       │   ├── ui_splitters.css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ui_tokens.css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agent_page_markdown.js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file_drop_router.js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ui_splitters.js</a:t>
            </a:r>
          </a:p>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dompurify/</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purify.min.js</a:t>
            </a:r>
          </a:p>
          <a:p>
            <a:pPr algn="l">
              <a:lnSpc>
                <a:spcPct val="100000"/>
              </a:lnSpc>
            </a:pPr>
            <a:r>
              <a:rPr sz="800" b="0" i="0">
                <a:solidFill>
                  <a:srgbClr val="ECE7DC"/>
                </a:solidFill>
                <a:latin typeface="Consolas"/>
              </a:rPr>
              <a:t>    │   │       │   │   │       └── purify.min.js.map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marked/</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admin/</a:t>
            </a:r>
          </a:p>
          <a:p>
            <a:pPr algn="l">
              <a:lnSpc>
                <a:spcPct val="100000"/>
              </a:lnSpc>
            </a:pPr>
            <a:r>
              <a:rPr sz="800" b="0" i="0">
                <a:solidFill>
                  <a:srgbClr val="ECE7DC"/>
                </a:solidFill>
                <a:latin typeface="Consolas"/>
              </a:rPr>
              <a:t>    │   │   │   └── base_site.html</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170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1,508 listed files at commit 2203b436;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v1.86.0   ·   171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18, 2026  ·  commit 2203b436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1.86.0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