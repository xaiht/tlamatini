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spAutoFit/>
          </a:bodyPr>
          <a:lstStyle/>
          <a:p>
            <a:pPr algn="l"/>
            <a:r>
              <a:rPr sz="1700" b="0">
                <a:solidFill>
                  <a:srgbClr val="B4BAAE"/>
                </a:solidFill>
                <a:latin typeface="Aptos"/>
              </a:rPr>
              <a:t>Self-hosted AI developer assistant (cloud LLMs by default) with RAG, Multi-Turn orchestration, 87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957</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87</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spAutoFit/>
          </a:bodyPr>
          <a:lstStyle/>
          <a:p>
            <a:pPr algn="l"/>
            <a:r>
              <a:rPr sz="2000" b="1">
                <a:solidFill>
                  <a:srgbClr val="E8E8DE"/>
                </a:solidFill>
                <a:latin typeface="Aptos"/>
              </a:rPr>
              <a:t>209,061</a:t>
            </a:r>
          </a:p>
        </p:txBody>
      </p:sp>
      <p:sp>
        <p:nvSpPr>
          <p:cNvPr id="20" name="TextBox 19"/>
          <p:cNvSpPr txBox="1"/>
          <p:nvPr/>
        </p:nvSpPr>
        <p:spPr>
          <a:xfrm>
            <a:off x="822960" y="5806440"/>
            <a:ext cx="5669280" cy="292608"/>
          </a:xfrm>
          <a:prstGeom prst="rect">
            <a:avLst/>
          </a:prstGeom>
          <a:noFill/>
        </p:spPr>
        <p:txBody>
          <a:bodyPr wrap="square" anchor="t" lIns="12700" rIns="12700" tIns="12700" bIns="12700">
            <a:spAutoFit/>
          </a:bodyPr>
          <a:lstStyle/>
          <a:p>
            <a:pPr algn="l"/>
            <a:r>
              <a:rPr sz="900" b="0">
                <a:solidFill>
                  <a:srgbClr val="B4BAAE"/>
                </a:solidFill>
                <a:latin typeface="Aptos"/>
              </a:rPr>
              <a:t>Generated August 16, 2026 08:52 PM UTC-0600 at HEAD f948be7b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(1/8)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Lets operators manage provider secrets from the browser through the Config -&gt; Access Keys Wizard instead of hand-editing `config.json`.</a:t>
            </a:r>
          </a:p>
          <a:p>
            <a:pPr>
              <a:spcAft>
                <a:spcPts val="400"/>
              </a:spcAft>
              <a:defRPr sz="12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200">
                <a:solidFill>
                  <a:srgbClr val="B4BAAE"/>
                </a:solidFill>
                <a:latin typeface="Aptos"/>
              </a:defRPr>
            </a:pPr>
            <a:r>
              <a:t>Can pause before every state-changing Multi-Turn execution and ask the operator to approve or deny that exact step through the Ask Execs checkbox.</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Hardens generated files: File-Creator’s bulk-write path now preserves long content byte-complete even when it contains heavy quoting or semicolon-rich source text.</a:t>
            </a:r>
          </a:p>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(2/8)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11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1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(3/8)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(4/8)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(5/8)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Can manage real desktop windows by title: focus them, tile them, resize them, list them, and close them deterministically through Win32 calls.</a:t>
            </a:r>
          </a:p>
          <a:p>
            <a:pPr>
              <a:spcAft>
                <a:spcPts val="400"/>
              </a:spcAft>
              <a:defRPr sz="13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1300">
                <a:solidFill>
                  <a:srgbClr val="B4BAAE"/>
                </a:solidFill>
                <a:latin typeface="Aptos"/>
              </a:defRPr>
            </a:pPr>
            <a:r>
              <a:t>Can drive a live Unreal Engine 5 editor through the Unreal MCP plugin, from either Multi-Turn chat or the visual workflow canvas.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(6/8)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200">
                <a:solidFill>
                  <a:srgbClr val="B4BAAE"/>
                </a:solidFill>
                <a:latin typeface="Aptos"/>
              </a:defRPr>
            </a:pPr>
            <a:r>
              <a:t>Runs checked Multi-Turn requests through request-scoped planning, capability selection, tool calls, observations, monitoring, and final synthesis.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(7/8)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a:p>
            <a:pPr>
              <a:spcAft>
                <a:spcPts val="400"/>
              </a:spcAft>
              <a:defRPr sz="1400">
                <a:solidFill>
                  <a:srgbClr val="B4BAAE"/>
                </a:solidFill>
                <a:latin typeface="Aptos"/>
              </a:defRPr>
            </a:pPr>
            <a:r>
              <a:t>Lets users design, validate, save, pause, resume, and stop visual workflows through the Agentic Control Panel.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(8/8)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V1.10.0 SAFETY MODIFIER STILL ACTIVE IN V1.48.17</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V1.11.0 UNINSTALL INTEGRATION CARRIED INTO V1.48.17</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V1.48.17 - ENCODING-SAFE SEARCH, GUARDED VERDICTS, UNIFORM DIALOG DISMISSAL, UPDATER INTEGRITY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current release is annotated `v1.48.17` at aligned local/remote HEAD `f948be7b`, with `v1.48.15` and `v1.48.16` tagged the same day and carried by it. Runtime identity remains Git-tag-derived; generating this dossier changes no runtime code and creates no tag, commit, or push.</a:t>
            </a:r>
          </a:p>
          <a:p>
            <a:pPr>
              <a:spcAft>
                <a:spcPts val="400"/>
              </a:spcAft>
              <a:defRPr sz="1000">
                <a:solidFill>
                  <a:srgbClr val="B4BAAE"/>
                </a:solidFill>
                <a:latin typeface="Aptos"/>
              </a:defRPr>
            </a:pPr>
            <a:r>
              <a:t>Grepper now detects BOM-marked UTF-8/16/32 before cp1252/Latin-1 fallbacks, deliberately before the NUL-byte binary test, so Windows logs and accented source stay searchable while genuine binaries remain skipped. The updater also preserves `Uninstaller.exe`, and parser-sensitive PowerShell comments stay on standalone lines.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Carried runtime and typesetting foundation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carried `v1.48.14` foundation provides Tlamatini's private per-user Node/npm/npx/pnpm and uv/uvx runtime, inactive official Memory/Sequential-Thinking defaults, edit/tombstone semantics, persistent state outside the install directory, secret-separated public/private catalogs, and fixed-point nested-diagram restoration.</a:t>
            </a:r>
          </a:p>
          <a:p>
            <a:pPr>
              <a:spcAft>
                <a:spcPts val="400"/>
              </a:spcAft>
              <a:defRPr sz="1000">
                <a:solidFill>
                  <a:srgbClr val="B4BAAE"/>
                </a:solidFill>
                <a:latin typeface="Aptos"/>
              </a:defRPr>
            </a:pPr>
            <a:r>
              <a:t>`v1.48.0` introduced LaTeXer and `v1.48.2` hardened it with an eight-rung repair ladder and MiKTeX-first package acquisition. Tlamatini bundles no multi-gigabyte TeX distribution; degraded builds never claim clean success, `shell_escape` stays off, and `latexmk` must prove usable rather than merely exist.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The self-report outranks the process exit code, but numeric process results never belong in `status:`. Kuberneter therefore emits `returncode: &lt;int&gt;`, `success: &lt;bool&gt;`, and `status: ok|failed`; its Parametrizer contract exposes all three. Source-derived tests keep supervisor lists, prompt terminal rules, and public/private catalog expectations from drifting with implementation.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startup database guard (`agent/db_guard.py`, wired before Django in `manage.py`) checks SQLite shape/integrity, preserves suspicious evidence under `DB/Corrupted/`, prints an actionable alarm, remembers healthy size/table fingerprints, and detects silent shrink. It never auto-restores, never blocks startup, exempts volatile ledger/session tables from ordinary row-drop alarms, and caps its own evidence copies.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V1.48.16 - V1.48.17 OPERATOR-SAFETY CONTRACT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Search assets now include Grepper's encoding-aware source and `agent/test_grepper_encodings.py`, whose sixteen cases cover BOM precedence, UTF-8/16/32, cp1252/Latin-1, unreadable inputs, and genuine binary exclusion.</a:t>
            </a:r>
          </a:p>
          <a:p>
            <a:pPr>
              <a:spcAft>
                <a:spcPts val="400"/>
              </a:spcAft>
              <a:defRPr sz="1000">
                <a:solidFill>
                  <a:srgbClr val="B4BAAE"/>
                </a:solidFill>
                <a:latin typeface="Aptos"/>
              </a:defRPr>
            </a:pPr>
            <a:r>
              <a:t>Execution-truth assets include `agent/agent_verdict.py`, Kuberneter, `services/agent_contracts.py`, and `agent/test_status_vocabulary.py`, which statically guards the five status classes and rejects numeric-status interpolation.</a:t>
            </a:r>
          </a:p>
          <a:p>
            <a:pPr>
              <a:spcAft>
                <a:spcPts val="400"/>
              </a:spcAft>
              <a:defRPr sz="1000">
                <a:solidFill>
                  <a:srgbClr val="B4BAAE"/>
                </a:solidFill>
                <a:latin typeface="Aptos"/>
              </a:defRPr>
            </a:pPr>
            <a:r>
              <a:t>Updater/build evidence includes the `apply_update.ps1` `Uninstaller.exe` preservation rule and a source-derived `test_preserved_user_state.py` contract proving that only the explicit private builder can supply a maintainer External-MCP catalog.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carried External-MCP runtime/default wave remains represented by `runtime_provisioner.py`, `external_mcp_defaults.py`, manager/doctor/apps/build wiring, isolated state, and focused runtime/default/public-build tests.</a:t>
            </a:r>
          </a:p>
          <a:p>
            <a:pPr>
              <a:spcAft>
                <a:spcPts val="400"/>
              </a:spcAft>
              <a:defRPr sz="1000">
                <a:solidFill>
                  <a:srgbClr val="B4BAAE"/>
                </a:solidFill>
                <a:latin typeface="Aptos"/>
              </a:defRPr>
            </a:pPr>
            <a:r>
              <a:t>Response-rendering assets still harden `services/response_parser.py` and its tests so nested explicit/auto diagrams, Markdown thematic breaks, malformed sentinels, and NUL cleanup remain lossless.</a:t>
            </a:r>
          </a:p>
          <a:p>
            <a:pPr>
              <a:spcAft>
                <a:spcPts val="400"/>
              </a:spcAft>
              <a:defRPr sz="1000">
                <a:solidFill>
                  <a:srgbClr val="B4BAAE"/>
                </a:solidFill>
                <a:latin typeface="Aptos"/>
              </a:defRPr>
            </a:pPr>
            <a:r>
              <a:t>The tracked tree reflects repository cleanup too: obsolete draft performance/FlowPills documents and duplicate image assets removed after v1.48.14 are no longer presented as current assets; the transactional-updater document remains explicitly a design proposal, not shipped behavior.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`v1.47.0` keeps the binary-content guard: `agent/rag/binary_guard.py` screens candidate context bytes with a short-circuiting extension/BOM/signature/NUL/control-ratio/UTF-8 cascade and logs each omission as `--- [BINARY-GUARD]`. Configuration can disable detection, tune the control ratio, or override text/binary extensions.</a:t>
            </a:r>
          </a:p>
          <a:p>
            <a:pPr>
              <a:spcAft>
                <a:spcPts val="400"/>
              </a:spcAft>
              <a:defRPr sz="900">
                <a:solidFill>
                  <a:srgbClr val="B4BAAE"/>
                </a:solidFill>
                <a:latin typeface="Aptos"/>
              </a:defRPr>
            </a:pPr>
            <a:r>
              <a:t>`v1.46.0` PDFer, `v1.45.x` FlowCreator and oversized-context recovery, `v1.44.0` prompt grammar, `v1.43.5` recon free-run, `v1.42.0` STM32er PlatformIO and stepwise camera demos, and `v1.41.4` External-MCP structured-result delivery remain carried behavior.</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display `v1.48.17`, and the Git evidence section reports that same annotated tag at the aligned local/remote HEAD. Whenever the documentation version runs ahead of the newest tag it must be labelled a target and reported separately, so a documentation target is never misreported as an already-created tag.</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the current tagged behavior and its historical predecessors are described separately.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`v1.48.17` release.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identity: `v1.48.17` is the latest annotated tag and the documentation/package version, at aligned local/remote HEAD `f948be7b`; `v1.48.15` and `v1.48.16` were tagged the same day. The release adds encoding-safe Grepper search, guarded verdict classes, Kuberneter result normalization, updater/uninstaller preservation, source-derived drift checks, themed pop-ups with a frozen-bundle carriage proof, and the standardized Escape-closes-every-dialog policy with its sealed-updater exception, while carrying the private MCP runtime/defaults, diagram restoration, Mover/Deleter guard, LaTeXer, binary guard, PDFer, FlowCreator, prompt grammar, recon, STM32er PlatformIO, structured External-MCP output, and earlier waves.</a:t>
            </a:r>
          </a:p>
          <a:p>
            <a:pPr>
              <a:spcAft>
                <a:spcPts val="400"/>
              </a:spcAft>
              <a:defRPr sz="10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0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The 87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87</a:t>
            </a:r>
          </a:p>
          <a:p>
            <a:pPr>
              <a:spcAft>
                <a:spcPts val="400"/>
              </a:spcAft>
              <a:defRPr sz="1500">
                <a:solidFill>
                  <a:srgbClr val="B4BAAE"/>
                </a:solidFill>
                <a:latin typeface="Aptos"/>
              </a:defRPr>
            </a:pPr>
            <a:r>
              <a:t>Description rows in `agents_descriptions.md`: 87</a:t>
            </a:r>
          </a:p>
          <a:p>
            <a:pPr>
              <a:spcAft>
                <a:spcPts val="400"/>
              </a:spcAft>
              <a:defRPr sz="1500">
                <a:solidFill>
                  <a:srgbClr val="B4BAAE"/>
                </a:solidFill>
                <a:latin typeface="Aptos"/>
              </a:defRPr>
            </a:pPr>
            <a:r>
              <a:t>This dossier reconciles README and Book wording back to the same 87-agent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live operator surface now stands at 87 workflow agents, 107 Multi-Turn tools, 12 ACPX tools, and 28 skills.</a:t>
            </a:r>
          </a:p>
          <a:p>
            <a:pPr>
              <a:spcAft>
                <a:spcPts val="400"/>
              </a:spcAft>
              <a:defRPr sz="1000">
                <a:solidFill>
                  <a:srgbClr val="B4BAAE"/>
                </a:solidFill>
                <a:latin typeface="Aptos"/>
              </a:defRPr>
            </a:pPr>
            <a:r>
              <a:t>Source inspection confirms the total: 20 core Python tools + 65 wrapped chat-agent tools + 12 ACPX/Skill tools + 10 External-MCP supervisors = 107 built-in Multi-Turn tools; healthy active servers add dynamic `ext__*` remotes separately.</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87-agent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`v1.48.17` release documentation set; it adds encoding-safe search and guarded execution truth while carrying private MCP runtime/defaults, diagram hardening, LaTeXer, the binary guard, PDFer, chat-callable FlowCreator, prompt standardization, structured External-MCP delivery, category grouping, gap-tolerant loading, and ranked fuzzy search.</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spAutoFit/>
          </a:bodyPr>
          <a:lstStyle/>
          <a:p>
            <a:pPr algn="l"/>
            <a:r>
              <a:rPr sz="900" b="0">
                <a:solidFill>
                  <a:srgbClr val="B4BAAE"/>
                </a:solidFill>
                <a:latin typeface="Cascadia Mono"/>
              </a:rPr>
              <a:t>Resolved current version: 1.48.17 | build: 1.48.17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957</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87</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193</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37</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f948be7b - Standarization of escape as method of dialog-closing, except for the update mechanism, by angelahack1</a:t>
            </a:r>
          </a:p>
          <a:p>
            <a:pPr>
              <a:spcAft>
                <a:spcPts val="400"/>
              </a:spcAft>
              <a:defRPr sz="1300">
                <a:solidFill>
                  <a:srgbClr val="B4BAAE"/>
                </a:solidFill>
                <a:latin typeface="Aptos"/>
              </a:defRPr>
            </a:pPr>
            <a:r>
              <a:t>Resolved version: 1.48.17 (git)</a:t>
            </a:r>
          </a:p>
          <a:p>
            <a:pPr>
              <a:spcAft>
                <a:spcPts val="400"/>
              </a:spcAft>
              <a:defRPr sz="1300">
                <a:solidFill>
                  <a:srgbClr val="B4BAAE"/>
                </a:solidFill>
                <a:latin typeface="Aptos"/>
              </a:defRPr>
            </a:pPr>
            <a:r>
              <a:t>Generated on August 16, 2026 08:52 PM UTC-0600</a:t>
            </a:r>
          </a:p>
          <a:p>
            <a:pPr>
              <a:spcAft>
                <a:spcPts val="400"/>
              </a:spcAft>
              <a:defRPr sz="1300">
                <a:solidFill>
                  <a:srgbClr val="B4BAAE"/>
                </a:solidFill>
                <a:latin typeface="Aptos"/>
              </a:defRPr>
            </a:pPr>
            <a:r>
              <a:t>Inventory scope: 957 files = 957 tracked + 0 git-unignored working-tree additions</a:t>
            </a:r>
          </a:p>
          <a:p>
            <a:pPr>
              <a:spcAft>
                <a:spcPts val="400"/>
              </a:spcAft>
              <a:defRPr sz="1300">
                <a:solidFill>
                  <a:srgbClr val="B4BAAE"/>
                </a:solidFill>
                <a:latin typeface="Aptos"/>
              </a:defRPr>
            </a:pPr>
            <a:r>
              <a:t>Multi-Turn tools: 107; wrapped chat-agent tools: 65; skills: 28</a:t>
            </a:r>
          </a:p>
          <a:p>
            <a:pPr>
              <a:spcAft>
                <a:spcPts val="400"/>
              </a:spcAft>
              <a:defRPr sz="1300">
                <a:solidFill>
                  <a:srgbClr val="B4BAAE"/>
                </a:solidFill>
                <a:latin typeface="Aptos"/>
              </a:defRPr>
            </a:pPr>
            <a:r>
              <a:t>Python requirements: 80; authoritative agent-description rows: 87</a:t>
            </a:r>
          </a:p>
          <a:p>
            <a:pPr>
              <a:spcAft>
                <a:spcPts val="400"/>
              </a:spcAft>
              <a:defRPr sz="1300">
                <a:solidFill>
                  <a:srgbClr val="B4BAAE"/>
                </a:solidFill>
                <a:latin typeface="Aptos"/>
              </a:defRPr>
            </a:pPr>
            <a:r>
              <a:t>Binary or asset inventory files skipped from line count: 48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ab9dddc5 on 2026-08-16</a:t>
            </a:r>
          </a:p>
          <a:p>
            <a:pPr>
              <a:spcAft>
                <a:spcPts val="400"/>
              </a:spcAft>
              <a:defRPr sz="1300">
                <a:solidFill>
                  <a:srgbClr val="B4BAAE"/>
                </a:solidFill>
                <a:latin typeface="Aptos"/>
              </a:defRPr>
            </a:pPr>
            <a:r>
              <a:t>Fix stale test expectations + Grepper's UTF-16/cp1252 blindness and Memory and Sequential external MCPs, by angelahack1</a:t>
            </a:r>
          </a:p>
          <a:p>
            <a:pPr>
              <a:spcAft>
                <a:spcPts val="400"/>
              </a:spcAft>
              <a:defRPr sz="1300">
                <a:solidFill>
                  <a:srgbClr val="B4BAAE"/>
                </a:solidFill>
                <a:latin typeface="Aptos"/>
              </a:defRPr>
            </a:pPr>
            <a:r>
              <a:t>Commits since then: 3</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current release is annotated `v1.48.17` at aligned local/remote HEAD `f948be7b`; the runtime version remains tag-derived rather than hardcoded.</a:t>
            </a:r>
          </a:p>
          <a:p>
            <a:pPr>
              <a:spcAft>
                <a:spcPts val="400"/>
              </a:spcAft>
              <a:defRPr sz="1000">
                <a:solidFill>
                  <a:srgbClr val="B4BAAE"/>
                </a:solidFill>
                <a:latin typeface="Aptos"/>
              </a:defRPr>
            </a:pPr>
            <a:r>
              <a:t>The release delta adds Grepper's UTF-8/16/32 and Windows-encoding search, the guarded five-class agent-verdict vocabulary, Kuberneter's semantic result shape, updater preservation of `Uninstaller.exe`, and source-derived drift tests; it carries the v1.48.14 External-MCP runtime/defaults, catalog privacy boundary, diagram restoration, and all earlier safeguards.</a:t>
            </a:r>
          </a:p>
          <a:p>
            <a:pPr>
              <a:spcAft>
                <a:spcPts val="400"/>
              </a:spcAft>
              <a:defRPr sz="1000">
                <a:solidFill>
                  <a:srgbClr val="B4BAAE"/>
                </a:solidFill>
                <a:latin typeface="Aptos"/>
              </a:defRPr>
            </a:pPr>
            <a:r>
              <a:t>The markdown handbooks themselves were revised during that span, so this dossier refresh is carrying forward not only code/runtime changes but also the corrected operator-language and release-story wording.</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V1.48.15 - V1.48.16 - V1.48.17 RELEASE LINEAGE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PDFer (v1.46.0): visual and wrapped document composer for Markdown, HTML, text, images, mixed reports, and PDF merging, with safe preflight and real-renderer tests.</a:t>
            </a:r>
          </a:p>
          <a:p>
            <a:pPr>
              <a:spcAft>
                <a:spcPts val="400"/>
              </a:spcAft>
              <a:defRPr sz="900">
                <a:solidFill>
                  <a:srgbClr val="B4BAAE"/>
                </a:solidFill>
                <a:latin typeface="Aptos"/>
              </a:defRPr>
            </a:pPr>
            <a:r>
              <a:t>LaTeXer (v1.48.0/v1.48.2): visual and wrapped LaTeX typesetter with whole-project compilation, bibliography/index convergence, readable diagnostics, and an eight-rung repair ladder. Requires MiKTeX; refuses cleanly when no distribution is present.</a:t>
            </a:r>
          </a:p>
          <a:p>
            <a:pPr>
              <a:spcAft>
                <a:spcPts val="400"/>
              </a:spcAft>
              <a:defRPr sz="900">
                <a:solidFill>
                  <a:srgbClr val="B4BAAE"/>
                </a:solidFill>
                <a:latin typeface="Aptos"/>
              </a:defRPr>
            </a:pPr>
            <a:r>
              <a:t>Execution verdict (v1.48.17): five guarded status classes distinguish completed diagnostics and intact work from degraded, not-done, and error outcomes; Kuberneter exposes returncode/success/status without numeric-status ambiguity.</a:t>
            </a:r>
          </a:p>
          <a:p>
            <a:pPr>
              <a:spcAft>
                <a:spcPts val="400"/>
              </a:spcAft>
              <a:defRPr sz="900">
                <a:solidFill>
                  <a:srgbClr val="B4BAAE"/>
                </a:solidFill>
                <a:latin typeface="Aptos"/>
              </a:defRPr>
            </a:pPr>
            <a:r>
              <a:t>STM32er (v1.42.0): device-aware PlatformIO routing adds Blue Pill/mainstream-family build and safe flash; new stepwise Blue Pill/F407 demos finish with camera evidence.</a:t>
            </a:r>
          </a:p>
          <a:p>
            <a:pPr>
              <a:spcAft>
                <a:spcPts val="400"/>
              </a:spcAft>
              <a:defRPr sz="900">
                <a:solidFill>
                  <a:srgbClr val="B4BAAE"/>
                </a:solidFill>
                <a:latin typeface="Aptos"/>
              </a:defRPr>
            </a:pPr>
            <a:r>
              <a:t>Prompt catalog (v1.42.0): migration 0179 deliberately regroups and renumbers every row to contiguous 1..N category blocks, backed by four database invariants tests.</a:t>
            </a:r>
          </a:p>
          <a:p>
            <a:pPr>
              <a:spcAft>
                <a:spcPts val="400"/>
              </a:spcAft>
              <a:defRPr sz="900">
                <a:solidFill>
                  <a:srgbClr val="B4BAAE"/>
                </a:solidFill>
                <a:latin typeface="Aptos"/>
              </a:defRPr>
            </a:pPr>
            <a:r>
              <a:t>Hard Cancel (v1.41.2): per-user run epochs stop executor/retry/self-healing resurrection while preserving completed tool evidence and the next request.</a:t>
            </a:r>
          </a:p>
          <a:p>
            <a:pPr>
              <a:spcAft>
                <a:spcPts val="400"/>
              </a:spcAft>
              <a:defRPr sz="900">
                <a:solidFill>
                  <a:srgbClr val="B4BAAE"/>
                </a:solidFill>
                <a:latin typeface="Aptos"/>
              </a:defRPr>
            </a:pPr>
            <a:r>
              <a:t>Binary-content guard (v1.47.0): candidate context files are screened by bytes, binary content is dropped from the embedding chain, and each omission is logged as --- [BINARY-GUARD]; fail-open by contract.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v1.48.17 is the latest annotated tag, at aligned local/origin HEAD f948be7b; v1.48.15 and v1.48.16 were tagged the same day and are carried by it. Local configuration values are never reproduced here.</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The dossier distinguishes tagged behavior from local configuration-only changes, preserves private-data discipline, and does not stage, commit, or push.</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Catalog now stands at 87 workflow agents and 107 built-in Multi-Turn tools (20 core + 65 wrapped + 12 ACPX/Skill + 10 External-MCP supervisors), with 28 skills; dynamic ext__ remotes are separate.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spAutoFit/>
          </a:bodyPr>
          <a:lstStyle/>
          <a:p>
            <a:pPr algn="l"/>
            <a:r>
              <a:rPr sz="2000" b="1">
                <a:solidFill>
                  <a:srgbClr val="E8E8DE"/>
                </a:solidFill>
                <a:latin typeface="Aptos"/>
              </a:rPr>
              <a:t>209,061</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spAutoFit/>
          </a:bodyPr>
          <a:lstStyle/>
          <a:p>
            <a:pPr algn="l"/>
            <a:r>
              <a:rPr sz="2000" b="1">
                <a:solidFill>
                  <a:srgbClr val="E8E8DE"/>
                </a:solidFill>
                <a:latin typeface="Aptos"/>
              </a:rPr>
              <a:t>298,144</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sp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spAutoFit/>
          </a:bodyPr>
          <a:lstStyle/>
          <a:p>
            <a:pPr algn="l"/>
            <a:r>
              <a:rPr sz="800" b="0">
                <a:solidFill>
                  <a:srgbClr val="E8E8DE"/>
                </a:solidFill>
                <a:latin typeface="Cascadia Mono"/>
              </a:rPr>
              <a:t>LANGUAGE                 FILES   EFFECTIVE      TOTAL   SHARE
Python                   552     150,686    219,799  72.1%
Markdown                 166      22,762     30,290  10.9%
JavaScript                37      18,045     23,592   8.6%
CSS                       11       6,552      8,674   3.1%
Other text                14       2,637      3,098   1.3%
YAML                      92       2,093      5,400   1.0%
Text                       6       1,135      1,447   0.5%
HTML                       4       1,123      1,169   0.5%
Prompt template            2       1,121      1,246   0.5%
Tlamatini Flow             4         837        837   0.4%
PowerShell                 7         724      1,058   0.3%
JSON                      10         710        710   0.3%
JavaScript module          1         428        518   0.2%
Batch                      2         188        273   0.1%
Protocol Buffers           1          20         33   0.0%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spAutoFit/>
          </a:bodyPr>
          <a:lstStyle/>
          <a:p>
            <a:pPr algn="l"/>
            <a:r>
              <a:rPr sz="800" b="0">
                <a:solidFill>
                  <a:srgbClr val="E8E8DE"/>
                </a:solidFill>
                <a:latin typeface="Cascadia Mono"/>
              </a:rPr>
              <a:t>PATH                                                     LANGUAGE     EFFECTIVE   TOTAL
Tlamatini/agent/views.py                                Python         8,576  12,535
Tlamatini/agent/tests.py                                Python         5,700   7,452
Tlamatini/agent/doc_generation/complete_project_docs.py Python         3,804   4,231
Tlamatini/agent/tools.py                                Python         3,190   4,725
Tlamatini/agent/agents/latexer/latexer.py               Python         3,151   4,593
BookOfTlamatini.md                                      Markdown       2,557   3,638
Tlamatini/agent/agents/flowcreator/agentic_skill.md     Markdown       2,344   2,585
...ini/agent/static/agent/css/agentic_control_panel.css CSS            2,074   2,891
Tlamatini/agent/external_mcp_manager.py                 Python         2,066   2,604
Tlamatini/agent/agents/stm32er/stm32er.py               Python         1,983   2,694
Tlamatini/agent/chat_agent_registry.py                  Python         1,928   1,979
Tlamatini/agent/static/agent/css/agent_page.css         CSS            1,870   2,414
Tlamatini/agent/static/agent/js/agent_page_chat.js      JavaScript     1,747   2,406
Tlamatini/agent/mcp_agent.py                            Python         1,653   2,748</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current release is annotated `v1.48.17` at local/remote HEAD `f948be7b`; `v1.48.15` and `v1.48.16` were tagged the same day and are carried by it. Runtime versions remain git-tag-derived through `agent/version.py`. Generated inventories derive current agent, tool, skill, asset, and effective-line totals from live source.</a:t>
            </a:r>
          </a:p>
          <a:p>
            <a:pPr>
              <a:spcAft>
                <a:spcPts val="400"/>
              </a:spcAft>
              <a:defRPr sz="1100">
                <a:solidFill>
                  <a:srgbClr val="B4BAAE"/>
                </a:solidFill>
                <a:latin typeface="Aptos"/>
              </a:defRPr>
            </a:pPr>
            <a:r>
              <a:t>`v1.48.15` adds multi-encoding Grepper search, a guarded five-class Exec Report vocabulary, Kuberneter's canonical result fields, `Uninstaller.exe` preservation, and source-derived drift checks; `v1.48.16` adds the themed `tlmAlert`/`tlmConfirm` pop-ups and a post-build proof that fail-open `agent.*` modules really ship inside the frozen archive; `v1.48.17` standardizes dialog dismissal so Escape closes every dialog exactly as its close control does, while an outside click still never dismisses, with a sealed downloading updater as the single exception. The `v1.48.14` private External-MCP runtime/defaults, catalog boundary, and nested-diagram restoration remain carried with the earlier placement, dialog, logging, and runtime safeguards.</a:t>
            </a:r>
          </a:p>
          <a:p>
            <a:pPr>
              <a:spcAft>
                <a:spcPts val="400"/>
              </a:spcAft>
              <a:defRPr sz="11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100">
                <a:solidFill>
                  <a:srgbClr val="B4BAAE"/>
                </a:solidFill>
                <a:latin typeface="Aptos"/>
              </a:defRPr>
            </a:pPr>
            <a:r>
              <a:t>The latest dossier pass resolves the product at release `v1.48.17`, reports that annotated tag at the aligned local/remote HEAD, and combines README.md and BookOfTlamatini.md with source/Git truth while retaining complete installation, Ollama, architecture, usage, tree, line inventory, and responsibility context.</a:t>
            </a:r>
          </a:p>
          <a:p>
            <a:pPr>
              <a:spcAft>
                <a:spcPts val="400"/>
              </a:spcAft>
              <a:defRPr sz="1100">
                <a:solidFill>
                  <a:srgbClr val="B4BAAE"/>
                </a:solidFill>
                <a:latin typeface="Aptos"/>
              </a:defRPr>
            </a:pPr>
            <a:r>
              <a:t>Agent-catalog consistency work also remains visible: the live count, the markdown bestiaries, the flow-creator skill catalog, and the sidebar-description source were brought back into alignment around one shared workflow-agent inventory.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2026-08-16 | f948be7b | Standarization of escape as method of dialog-closing, except for the update mechanism, by angelahack1</a:t>
            </a:r>
          </a:p>
          <a:p>
            <a:pPr>
              <a:spcAft>
                <a:spcPts val="400"/>
              </a:spcAft>
              <a:defRPr sz="1200">
                <a:solidFill>
                  <a:srgbClr val="B4BAAE"/>
                </a:solidFill>
                <a:latin typeface="Aptos"/>
              </a:defRPr>
            </a:pPr>
            <a:r>
              <a:t>2026-08-16 | 6ee630ca | Tlamatini-Spanish claude findings applied now to Tlamatini (english), by angelahack1</a:t>
            </a:r>
          </a:p>
          <a:p>
            <a:pPr>
              <a:spcAft>
                <a:spcPts val="400"/>
              </a:spcAft>
              <a:defRPr sz="1200">
                <a:solidFill>
                  <a:srgbClr val="B4BAAE"/>
                </a:solidFill>
                <a:latin typeface="Aptos"/>
              </a:defRPr>
            </a:pPr>
            <a:r>
              <a:t>2026-08-16 | f8af3a88 | Just commiting the mportant markdowns to bump them to 1.48.15, by angelahack1</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2026-08-16 | f948be7b | Standarization of escape as method of dialog-closing, except for the update mechanism, by angelahack1</a:t>
            </a:r>
          </a:p>
          <a:p>
            <a:pPr>
              <a:spcAft>
                <a:spcPts val="400"/>
              </a:spcAft>
              <a:defRPr sz="1200">
                <a:solidFill>
                  <a:srgbClr val="B4BAAE"/>
                </a:solidFill>
                <a:latin typeface="Aptos"/>
              </a:defRPr>
            </a:pPr>
            <a:r>
              <a:t>2026-08-16 | 6ee630ca | Tlamatini-Spanish claude findings applied now to Tlamatini (english), by angelahack1</a:t>
            </a:r>
          </a:p>
          <a:p>
            <a:pPr>
              <a:spcAft>
                <a:spcPts val="400"/>
              </a:spcAft>
              <a:defRPr sz="1200">
                <a:solidFill>
                  <a:srgbClr val="B4BAAE"/>
                </a:solidFill>
                <a:latin typeface="Aptos"/>
              </a:defRPr>
            </a:pPr>
            <a:r>
              <a:t>2026-08-16 | f8af3a88 | Just commiting the mportant markdowns to bump them to 1.48.15, by angelahack1</a:t>
            </a:r>
          </a:p>
          <a:p>
            <a:pPr>
              <a:spcAft>
                <a:spcPts val="400"/>
              </a:spcAft>
              <a:defRPr sz="1200">
                <a:solidFill>
                  <a:srgbClr val="B4BAAE"/>
                </a:solidFill>
                <a:latin typeface="Aptos"/>
              </a:defRPr>
            </a:pPr>
            <a:r>
              <a:t>2026-08-16 | ab9dddc5 | Fix stale test expectations + Grepper's UTF-16/cp1252 blindness and Memory and Sequential external MCPs, by angelahack1</a:t>
            </a:r>
          </a:p>
          <a:p>
            <a:pPr>
              <a:spcAft>
                <a:spcPts val="400"/>
              </a:spcAft>
              <a:defRPr sz="1200">
                <a:solidFill>
                  <a:srgbClr val="B4BAAE"/>
                </a:solidFill>
                <a:latin typeface="Aptos"/>
              </a:defRPr>
            </a:pPr>
            <a:r>
              <a:t>2026-08-16 | 9531b43f | Fix stale test expectations + Grepper's UTF-16/cp1252 blindness</a:t>
            </a:r>
          </a:p>
          <a:p>
            <a:pPr>
              <a:spcAft>
                <a:spcPts val="400"/>
              </a:spcAft>
              <a:defRPr sz="1200">
                <a:solidFill>
                  <a:srgbClr val="B4BAAE"/>
                </a:solidFill>
                <a:latin typeface="Aptos"/>
              </a:defRPr>
            </a:pPr>
            <a:r>
              <a:t>2026-08-16 | 29e59c0a | Just a little autom. test fix, angelahack1</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2026-08-15 | 5c13ae55 | Just a little add for updating mecchanics, by angelahack1</a:t>
            </a:r>
          </a:p>
          <a:p>
            <a:pPr>
              <a:spcAft>
                <a:spcPts val="400"/>
              </a:spcAft>
              <a:defRPr sz="1200">
                <a:solidFill>
                  <a:srgbClr val="B4BAAE"/>
                </a:solidFill>
                <a:latin typeface="Aptos"/>
              </a:defRPr>
            </a:pPr>
            <a:r>
              <a:t>2026-08-15 | 9a8c3ed3 | Enabling Tlamatini with a OOS (Out Of Session Mechanism) on memory and sequential mcps by default, by angelahack1</a:t>
            </a:r>
          </a:p>
          <a:p>
            <a:pPr>
              <a:spcAft>
                <a:spcPts val="400"/>
              </a:spcAft>
              <a:defRPr sz="1200">
                <a:solidFill>
                  <a:srgbClr val="B4BAAE"/>
                </a:solidFill>
                <a:latin typeface="Aptos"/>
              </a:defRPr>
            </a:pPr>
            <a:r>
              <a:t>2026-08-15 | 848a011a | Implementing diagram on answers fixed, making a preeliminary change on memory MCPS as externals, by angelaahack1</a:t>
            </a:r>
          </a:p>
          <a:p>
            <a:pPr>
              <a:spcAft>
                <a:spcPts val="400"/>
              </a:spcAft>
              <a:defRPr sz="1200">
                <a:solidFill>
                  <a:srgbClr val="B4BAAE"/>
                </a:solidFill>
                <a:latin typeface="Aptos"/>
              </a:defRPr>
            </a:pPr>
            <a:r>
              <a:t>2026-08-15 | 3f07576b | Fixing Temp incorrect moving/deleting default mechanics, for mover and deleter, by angelahack1</a:t>
            </a:r>
          </a:p>
          <a:p>
            <a:pPr>
              <a:spcAft>
                <a:spcPts val="400"/>
              </a:spcAft>
              <a:defRPr sz="1200">
                <a:solidFill>
                  <a:srgbClr val="B4BAAE"/>
                </a:solidFill>
                <a:latin typeface="Aptos"/>
              </a:defRPr>
            </a:pPr>
            <a:r>
              <a:t>2026-08-14 | 67ea9ffe | Menus' states improved while in long-time operations, by angelahack1</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install.py
|-- KIMI.md
|-- LICENSE
|-- MCPMemoriesFlowCreation.flw
|-- MessagingConnectorAssistant_Design.md
|-- OllamaPricing.png
|-- OOB_shift_reaper-and-NAMU-Design.pdf
|-- package.json
|-- PIVOT_CHANGES.md
|-- pnpm-lock.yaml
|-- preserved_user_state.json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
|-- TlamatiniImprovementsByClaudeOnLaTeXer.md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
|   |   |-- project_ask_execs_feature.md
|   |   |-- project_audioplayer_agent.md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project_numpy_pyinstaller.md
|   |   |-- project_ollama_source_build_breaks_embeddings.md
|   |   |-- project_pdfer_agent.md
|   |   |-- project_planner_followup.md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latexer_openmp_e2e.py
|       |       |-- latexer_stepbystep_5.py
|       |       |-- mcp_playwright_suite.py
|       |       |-- playwrighter_run.py
|       |       |-- qualify.py
|       |       |-- questions.py
|       |       |-- README.md
|       |       |-- requirements.txt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8/37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docs/
|   |-- companion-app-discovery.md
|   |-- external_mcp_bulletproof_architecture.md
|   |-- stm32er_all_families_proposal.md
|   `-- claude/
|       |-- acpx.md
|       |-- agents.md
|       |-- architecture.md
|       |-- exec-report.md
|       |-- frontend.md
|       |-- gotchas.md
|       |-- INDEX.md
|       |-- mcp-tools.md
|       |-- multi-turn.md
|       `-- recent-fixes.md
|-- pyinstaller_hooks/
|   |-- hook-numpy.py
|   `-- hook-torch.py
|-- Tests/
|   |-- test_about_window_name_visible.py
|   `-- test_perf_3x_visual.py
`-- Tlamatini/
    |-- cat_art.py
    |-- hoy
    |-- manage.py
    |-- .agents/
    |   `-- workflows/
    |       `-- create_new_agent.md
    |-- .mcps/
    |   `-- create_new_mcp.md
    |-- .skills/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9/37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create_new_skill.md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db_guard.py
    |   |-- embedding_memory_guard.py
    |   |-- exec_permission.py
    |   |-- external_mcp_defaults.py
    |   |-- external_mcp_manager.py
    |   |-- external_mcps.json
    |   |-- filesearch.proto
    |   |-- filesearch_pb2.py
    |   |-- filesearch_pb2_grpc.py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10/37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global_execution_planner.py
    |   |-- global_state.py
    |   |-- gpu_perf.py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runtime_provisioner.py
    |   |-- self_healing.py
    |   |-- self_update.py
    |   |-- test_access_key_wizard.py
    |   |-- test_agent_display_names.py
    |   |-- test_agent_manifest.py
    |   |-- test_agent_verdict.py
    |   |-- test_agents_see_hidden_dirs.py
    |   |-- test_arduiner_agent.py
    |   |-- test_ask_execs_allowlist.py
    |   |-- test_audioplayer_agent.py
    |   |-- test_binary_guard.py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test_blenderer_agent.py
    |   |-- test_build_pip_quiet.py
    |   |-- test_build_scripts.py
    |   |-- test_camcorder_agent.py
    |   |-- test_cancellation.py
    |   |-- test_chain_readiness.py
    |   |-- test_chat_bridge_bots.py
    |   |-- test_chat_history_window.py
    |   |-- test_checkbox_bulk_toggle.py
    |   |-- test_command_watchdog.py
    |   |-- test_contacts.py
    |   |-- test_crawler_agent.py
    |   |-- test_createsuperuser_wizard.py
    |   |-- test_db_backup_safety.py
    |   |-- test_db_guard.py
    |   |-- test_de_compresser.py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
    |   |-- test_external_mcp_e2e.py
    |   |-- test_external_mcp_transports.py
    |   |-- test_external_mcp_universal.py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test_file_extractor_reader.py
    |   |-- test_flow_contracts.py
    |   |-- test_frontend_mutable_state.py
    |   |-- test_globber_agent.py
    |   |-- test_googler_agent.py
    |   |-- test_grepper_agent.py
    |   |-- test_grepper_encodings.py
    |   |-- test_image_interpreter_agent.py
    |   |-- test_instant_messaging_doctor.py
    |   |-- test_j_decompiler_agent.py
    |   |-- test_kalier_agent.py
    |   |-- test_latexer_agent.py
    |   |-- test_latexer_repair_ladder.py
    |   |-- test_latexer_suite.py
    |   |-- test_latexer_verbatim_channel.py
    |   |-- test_log_identity.py
    |   |-- test_native_dialogs.py
    |   |-- test_nmapper_agent.py
    |   |-- test_orphan_reaper.py
    |   |-- test_parametrizer_mcp_doctor.py
    |   |-- test_password_quoting.py
    |   |-- test_pdfer_agent.py
    |   |-- test_playwrighter_agent.py
    |   |-- test_preserved_user_state.py
    |   |-- test_prompt_catalog_contiguous.py
    |   |-- test_recorder_agent.py
    |   |-- test_runtime_provisioner.py
    |   |-- test_self_healing.py
    |   |-- test_self_modify_gate.py
    |   |-- test_self_update.py
    |   |-- test_shoter_takes_screenshots.py</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test_sqlite_wal_mode.py
    |   |-- test_status_vocabulary.py
    |   |-- test_step_by_step_mode.py
    |   |-- test_stm32er_agent.py
    |   |-- test_talker_agent.py
    |   |-- test_telegrammer_identity.py
    |   |-- test_temp_dir_policy.py
    |   |-- test_tool_failure_recovery.py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
    |   |   |-- agent_registry.py
    |   |   |-- config.py</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config.yaml
    |   |   |   `-- file_creator.py
    |   |   |-- file_extractor/
    |   |   |   |-- config.yaml
    |   |   |   `-- file_extractor.py
    |   |   |-- file_interpreter/
    |   |   |   |-- config.yaml
    |   |   |   `-- file_interpreter.py
    |   |   |-- flowbacker/
    |   |   |   |-- config.yaml
    |   |   |   `-- flowbacker.py
    |   |   |-- flowcreator/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18/37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19/37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keyboarder.py
    |   |   |-- kuberneter/
    |   |   |   |-- config.yaml
    |   |   |   `-- kuberneter.py
    |   |   |-- kyber_cipher/
    |   |   |   |-- config.yaml
    |   |   |   `-- kyber_cipher.py
    |   |   |-- kyber_decipher/
    |   |   |   |-- config.yaml
    |   |   |   `-- kyber_decipher.py
    |   |   |-- kyber_keygen/
    |   |   |   |-- config.yaml
    |   |   |   `-- kyber_keygen.py
    |   |   |-- latexer/
    |   |   |   |-- config.yaml
    |   |   |   `-- latexer.py
    |   |   |-- mcp_doctor/
    |   |   |   |-- config.yaml
    |   |   |   `-- mcp_doctor.py
    |   |   |-- mongoxer/
    |   |   |   |-- config.yaml
    |   |   |   `-- mongoxer.py
    |   |   |-- monitor_log/
    |   |   |   |-- config.yaml
    |   |   |   `-- monitor_log.py
    |   |   |-- monitor_netstat/
    |   |   |   |-- config.yaml
    |   |   |   `-- monitor_netstat.py
    |   |   |-- mouser/
    |   |   |   |-- config.yaml
    |   |   |   `-- mouser.py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20/37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mover/
    |   |   |   |-- config.yaml
    |   |   |   `-- mover.py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playwrighter/
    |   |   |   |-- config.yaml
    |   |   |   `-- playwrighter.py
    |   |   |-- prompter/
    |   |   |   |-- config.yaml
    |   |   |   `-- prompter.py
    |   |   |-- pser/</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28/37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29/37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30/37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|-- 0186_add_chat_agent_flowcreator.py
    |   |   |-- 0187_add_flowcreator_end_to_end_wizard_prompt.py
    |   |   |-- 0188_add_pdfer.py
    |   |   |-- 0189_add_chat_agent_pdfer_tool.py
    |   |   |-- 0190_add_pdfer_demo_prompts.py
    |   |   |-- 0191_add_latexer.py
    |   |   |-- 0192_add_chat_agent_latexer_tool.py
    |   |   |-- 0193_add_latexer_demo_prompts.py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unified.py
    |   |-- services/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agent_page_init.js
    |   |       |   |-- agent_page_layout.js
    |   |       |   |-- agent_page_state.js
    |   |       |   |-- agent_page_ui.js
    |   |       |   |-- agentic_control_panel.js
    |   |       |   |-- avatar.js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TlamatiniSourceCode/
    |       `-- README.md
    |-- DB/
    |   |-- Older/
    |   |   `-- README.md
    |   `-- ToLoad/
    |       `-- README.md
    |-- jd-cli/
    |   |-- jd-cli.bat
    |   `-- jd-cli.jar
    |-- tests_e2e/
    |   |-- oob_child_helper.py
    |   |-- README.md
    |   |-- test_create_flow_visual.py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