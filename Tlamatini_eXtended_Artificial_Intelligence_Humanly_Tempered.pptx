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HTML</c:v>
                </c:pt>
                <c:pt idx="4">
                  <c:v>Prompt template</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1385</c:v>
                </c:pt>
                <c:pt idx="4">
                  <c:v>1387</c:v>
                </c:pt>
                <c:pt idx="5">
                  <c:v>2320</c:v>
                </c:pt>
                <c:pt idx="6">
                  <c:v>2357</c:v>
                </c:pt>
                <c:pt idx="7">
                  <c:v>6392</c:v>
                </c:pt>
                <c:pt idx="8">
                  <c:v>10338</c:v>
                </c:pt>
                <c:pt idx="9">
                  <c:v>13455</c:v>
                </c:pt>
                <c:pt idx="10">
                  <c:v>25767</c:v>
                </c:pt>
                <c:pt idx="11">
                  <c:v>35143</c:v>
                </c:pt>
                <c:pt idx="12">
                  <c:v>102470</c:v>
                </c:pt>
                <c:pt idx="13">
                  <c:v>231507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55 JavaScript modules, 19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v1.77.0; latest published release v1.76.0.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9 and pushed. Self-update offers only published releases, so it delivers v1.77.0 once that release is published.</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which passed again in this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v1.77.0 was created on 2026-10-09 and resolves to commit 052bfe0f, and the remote advertises it.</a:t>
            </a:r>
          </a:p>
          <a:p/>
          <a:p>
            <a:r>
              <a:t>The inspected source is 1 commit(s) beyond that tag (757a8233). A build from this source reports version 1.77.0, because the version string always carries the base tag and never a distance suffix.</a:t>
            </a:r>
          </a:p>
          <a:p/>
          <a:p>
            <a:r>
              <a:t>The newest release published on GitHub is v1.76.0, published 2026-10-08. Self-update offers only published releases, so installations are offered v1.77.0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436,017 effective lines across 1,429 text files; 561,330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1,669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 Id="rId4"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 Id="rId4" Type="http://schemas.openxmlformats.org/officeDocument/2006/relationships/chart" Target="../charts/char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v1.77.0; latest published release v1.76.0.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1,669</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436,017</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v1.77.0; latest published release v1.76.0.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9 and pushed. Self-update offers only published releases, so it delivers v1.77.0 once that release is published.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v1.77.0 resolves to </a:t>
            </a:r>
            <a:r>
              <a:rPr sz="1300" b="0" i="0">
                <a:solidFill>
                  <a:srgbClr val="E2B462"/>
                </a:solidFill>
                <a:latin typeface="Consolas"/>
              </a:rPr>
              <a:t>052bfe0f</a:t>
            </a:r>
            <a:r>
              <a:rPr sz="1400" b="0" i="0">
                <a:solidFill>
                  <a:srgbClr val="A7B2B0"/>
                </a:solidFill>
                <a:latin typeface="Segoe UI"/>
              </a:rPr>
              <a:t>, created 2026-10-09.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from them still reports 1.77.0.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v1.76.0.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 → 052bfe0f (2026-10-09)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757a8233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v1.76.0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757a8233 · 2026-10-09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1.77.0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1,669</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1,429</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561,330</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436,017</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55 · 19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436,017 effective lines across 1,429 text files; 561,330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816</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327,417</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231,507</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46,386</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35,143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32,476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25,767</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16,791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13,455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1,429</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561,330</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436,017</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1,298</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324,970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1,429</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436,017</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3,842</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1,958</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901440"/>
          </a:xfrm>
          <a:prstGeom prst="roundRect">
            <a:avLst>
              <a:gd name="adj" fmla="val 187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757a8233</a:t>
            </a:r>
          </a:p>
        </p:txBody>
      </p:sp>
      <p:sp>
        <p:nvSpPr>
          <p:cNvPr id="14" name="TextBox 13"/>
          <p:cNvSpPr txBox="1"/>
          <p:nvPr/>
        </p:nvSpPr>
        <p:spPr>
          <a:xfrm>
            <a:off x="1967020" y="2505456"/>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15" name="TextBox 14"/>
          <p:cNvSpPr txBox="1"/>
          <p:nvPr/>
        </p:nvSpPr>
        <p:spPr>
          <a:xfrm>
            <a:off x="3515118" y="2505456"/>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16" name="Rectangle 15"/>
          <p:cNvSpPr/>
          <p:nvPr/>
        </p:nvSpPr>
        <p:spPr>
          <a:xfrm>
            <a:off x="585216" y="2950464"/>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87040"/>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052bfe0f</a:t>
            </a:r>
          </a:p>
        </p:txBody>
      </p:sp>
      <p:sp>
        <p:nvSpPr>
          <p:cNvPr id="18" name="TextBox 17"/>
          <p:cNvSpPr txBox="1"/>
          <p:nvPr/>
        </p:nvSpPr>
        <p:spPr>
          <a:xfrm>
            <a:off x="1967020" y="2987040"/>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19" name="TextBox 18"/>
          <p:cNvSpPr txBox="1"/>
          <p:nvPr/>
        </p:nvSpPr>
        <p:spPr>
          <a:xfrm>
            <a:off x="3515118" y="2987040"/>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sp>
        <p:nvSpPr>
          <p:cNvPr id="20" name="TextBox 19"/>
          <p:cNvSpPr txBox="1"/>
          <p:nvPr/>
        </p:nvSpPr>
        <p:spPr>
          <a:xfrm>
            <a:off x="640080" y="346862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a821dc34</a:t>
            </a:r>
          </a:p>
        </p:txBody>
      </p:sp>
      <p:sp>
        <p:nvSpPr>
          <p:cNvPr id="21" name="TextBox 20"/>
          <p:cNvSpPr txBox="1"/>
          <p:nvPr/>
        </p:nvSpPr>
        <p:spPr>
          <a:xfrm>
            <a:off x="1967020" y="346862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22" name="TextBox 21"/>
          <p:cNvSpPr txBox="1"/>
          <p:nvPr/>
        </p:nvSpPr>
        <p:spPr>
          <a:xfrm>
            <a:off x="3515118" y="346862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Updating the docs for the published v1.76.0, first-person chat lines and the uninstaller Templates fix, and teaching the self-update sweep that an in-app update keeps the old Uninstaller.exe, by Claude</a:t>
            </a:r>
          </a:p>
        </p:txBody>
      </p:sp>
      <p:sp>
        <p:nvSpPr>
          <p:cNvPr id="23" name="Rectangle 22"/>
          <p:cNvSpPr/>
          <p:nvPr/>
        </p:nvSpPr>
        <p:spPr>
          <a:xfrm>
            <a:off x="585216" y="3913631"/>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50207"/>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0520dc97</a:t>
            </a:r>
          </a:p>
        </p:txBody>
      </p:sp>
      <p:sp>
        <p:nvSpPr>
          <p:cNvPr id="25" name="TextBox 24"/>
          <p:cNvSpPr txBox="1"/>
          <p:nvPr/>
        </p:nvSpPr>
        <p:spPr>
          <a:xfrm>
            <a:off x="1967020" y="3950207"/>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26" name="TextBox 25"/>
          <p:cNvSpPr txBox="1"/>
          <p:nvPr/>
        </p:nvSpPr>
        <p:spPr>
          <a:xfrm>
            <a:off x="3515118" y="3950207"/>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the uninstaller keep Templates/ and doc_generated/ whenever they hold files, and always erase Temp/, after uninstalling C:\Tlamatini deleted Angela's code in Templates, by Claude</a:t>
            </a:r>
          </a:p>
        </p:txBody>
      </p:sp>
      <p:sp>
        <p:nvSpPr>
          <p:cNvPr id="27" name="TextBox 26"/>
          <p:cNvSpPr txBox="1"/>
          <p:nvPr/>
        </p:nvSpPr>
        <p:spPr>
          <a:xfrm>
            <a:off x="640080" y="4431791"/>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6e6ec39c</a:t>
            </a:r>
          </a:p>
        </p:txBody>
      </p:sp>
      <p:sp>
        <p:nvSpPr>
          <p:cNvPr id="28" name="TextBox 27"/>
          <p:cNvSpPr txBox="1"/>
          <p:nvPr/>
        </p:nvSpPr>
        <p:spPr>
          <a:xfrm>
            <a:off x="1967020" y="4431791"/>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29" name="TextBox 28"/>
          <p:cNvSpPr txBox="1"/>
          <p:nvPr/>
        </p:nvSpPr>
        <p:spPr>
          <a:xfrm>
            <a:off x="3515118" y="4431791"/>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Refreshing the PDF and PPTX dossier for v1.76.0: the Model Brain, the coloured console, truthful LaTeXer and Mover delivery and the smaller October fixes, with every stale "uncommitted" claim corrected, by Claude</a:t>
            </a:r>
          </a:p>
        </p:txBody>
      </p:sp>
      <p:sp>
        <p:nvSpPr>
          <p:cNvPr id="30" name="Rectangle 29"/>
          <p:cNvSpPr/>
          <p:nvPr/>
        </p:nvSpPr>
        <p:spPr>
          <a:xfrm>
            <a:off x="585216" y="4876799"/>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913375"/>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ec875a47</a:t>
            </a:r>
          </a:p>
        </p:txBody>
      </p:sp>
      <p:sp>
        <p:nvSpPr>
          <p:cNvPr id="32" name="TextBox 31"/>
          <p:cNvSpPr txBox="1"/>
          <p:nvPr/>
        </p:nvSpPr>
        <p:spPr>
          <a:xfrm>
            <a:off x="1967020" y="4913375"/>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33" name="TextBox 32"/>
          <p:cNvSpPr txBox="1"/>
          <p:nvPr/>
        </p:nvSpPr>
        <p:spPr>
          <a:xfrm>
            <a:off x="3515118" y="4913375"/>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to version 1.76.0, by angelahack1</a:t>
            </a:r>
          </a:p>
        </p:txBody>
      </p:sp>
      <p:sp>
        <p:nvSpPr>
          <p:cNvPr id="34" name="TextBox 33"/>
          <p:cNvSpPr txBox="1"/>
          <p:nvPr/>
        </p:nvSpPr>
        <p:spPr>
          <a:xfrm>
            <a:off x="640080" y="522731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72799950</a:t>
            </a:r>
          </a:p>
        </p:txBody>
      </p:sp>
      <p:sp>
        <p:nvSpPr>
          <p:cNvPr id="35" name="TextBox 34"/>
          <p:cNvSpPr txBox="1"/>
          <p:nvPr/>
        </p:nvSpPr>
        <p:spPr>
          <a:xfrm>
            <a:off x="1967020" y="522731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36" name="TextBox 35"/>
          <p:cNvSpPr txBox="1"/>
          <p:nvPr/>
        </p:nvSpPr>
        <p:spPr>
          <a:xfrm>
            <a:off x="3515118" y="522731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Implementing the Model Brain tunning system (comes into action everytime user config any model, by angelahack1</a:t>
            </a:r>
          </a:p>
        </p:txBody>
      </p:sp>
      <p:sp>
        <p:nvSpPr>
          <p:cNvPr id="37" name="Rectangle 36"/>
          <p:cNvSpPr/>
          <p:nvPr/>
        </p:nvSpPr>
        <p:spPr>
          <a:xfrm>
            <a:off x="585216" y="5504688"/>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541264"/>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953ad2d8</a:t>
            </a:r>
          </a:p>
        </p:txBody>
      </p:sp>
      <p:sp>
        <p:nvSpPr>
          <p:cNvPr id="39" name="TextBox 38"/>
          <p:cNvSpPr txBox="1"/>
          <p:nvPr/>
        </p:nvSpPr>
        <p:spPr>
          <a:xfrm>
            <a:off x="1967020" y="5541264"/>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2026-10-08</a:t>
            </a:r>
          </a:p>
        </p:txBody>
      </p:sp>
      <p:sp>
        <p:nvSpPr>
          <p:cNvPr id="40" name="TextBox 39"/>
          <p:cNvSpPr txBox="1"/>
          <p:nvPr/>
        </p:nvSpPr>
        <p:spPr>
          <a:xfrm>
            <a:off x="3515118" y="5541264"/>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LaTeXer save a mostly-deleted degraded PDF as &lt;name&gt;.DEGRADED.pdf instead of the requested name, and repair only the region around a compiler error in large documents with a capped, protective model request,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340864"/>
          </a:xfrm>
          <a:prstGeom prst="roundRect">
            <a:avLst>
              <a:gd name="adj" fmla="val 312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e8813bdc</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Repairing what the interrupted public-release scrub left behind: restoring three test values and the flow catalog labels, fixing a stale LaTeXer box test, and adding the two missing change records, by Claude</a:t>
            </a:r>
          </a:p>
        </p:txBody>
      </p:sp>
      <p:sp>
        <p:nvSpPr>
          <p:cNvPr id="16" name="Rectangle 15"/>
          <p:cNvSpPr/>
          <p:nvPr/>
        </p:nvSpPr>
        <p:spPr>
          <a:xfrm>
            <a:off x="585216" y="33009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0f124cd6</a:t>
            </a:r>
          </a:p>
        </p:txBody>
      </p:sp>
      <p:sp>
        <p:nvSpPr>
          <p:cNvPr id="18" name="TextBox 17"/>
          <p:cNvSpPr txBox="1"/>
          <p:nvPr/>
        </p:nvSpPr>
        <p:spPr>
          <a:xfrm>
            <a:off x="1967020" y="33375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19" name="TextBox 18"/>
          <p:cNvSpPr txBox="1"/>
          <p:nvPr/>
        </p:nvSpPr>
        <p:spPr>
          <a:xfrm>
            <a:off x="3515118" y="33375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Pairing of external mcp json</a:t>
            </a:r>
          </a:p>
        </p:txBody>
      </p:sp>
      <p:sp>
        <p:nvSpPr>
          <p:cNvPr id="20" name="TextBox 19"/>
          <p:cNvSpPr txBox="1"/>
          <p:nvPr/>
        </p:nvSpPr>
        <p:spPr>
          <a:xfrm>
            <a:off x="640080" y="3712463"/>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cbb85e94</a:t>
            </a:r>
          </a:p>
        </p:txBody>
      </p:sp>
      <p:sp>
        <p:nvSpPr>
          <p:cNvPr id="21" name="TextBox 20"/>
          <p:cNvSpPr txBox="1"/>
          <p:nvPr/>
        </p:nvSpPr>
        <p:spPr>
          <a:xfrm>
            <a:off x="1967020" y="3712463"/>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2" name="TextBox 21"/>
          <p:cNvSpPr txBox="1"/>
          <p:nvPr/>
        </p:nvSpPr>
        <p:spPr>
          <a:xfrm>
            <a:off x="3515118" y="3712463"/>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Staging some incomplete, by angelahack1</a:t>
            </a:r>
          </a:p>
        </p:txBody>
      </p:sp>
      <p:sp>
        <p:nvSpPr>
          <p:cNvPr id="23" name="Rectangle 22"/>
          <p:cNvSpPr/>
          <p:nvPr/>
        </p:nvSpPr>
        <p:spPr>
          <a:xfrm>
            <a:off x="585216" y="40507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56bd240e</a:t>
            </a:r>
          </a:p>
        </p:txBody>
      </p:sp>
      <p:sp>
        <p:nvSpPr>
          <p:cNvPr id="25" name="TextBox 24"/>
          <p:cNvSpPr txBox="1"/>
          <p:nvPr/>
        </p:nvSpPr>
        <p:spPr>
          <a:xfrm>
            <a:off x="1967020" y="4087368"/>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6" name="TextBox 25"/>
          <p:cNvSpPr txBox="1"/>
          <p:nvPr/>
        </p:nvSpPr>
        <p:spPr>
          <a:xfrm>
            <a:off x="3515118" y="4087368"/>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Trying to improve Tlamatini with the use of limited models, by angelahack1</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1,669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1,669 tracked files at commit 757a8233;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9, 2026  ·  commit 757a8233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