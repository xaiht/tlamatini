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Settings</c:v>
                </c:pt>
              </c:strCache>
            </c:strRef>
          </c:tx>
          <c:spPr>
            <a:solidFill>
              <a:srgbClr val="3BBE93"/>
            </a:solidFill>
          </c:spPr>
          <c:cat>
            <c:strRef>
              <c:f>Sheet1!$A$2:$A$7</c:f>
              <c:strCache>
                <c:ptCount val="6"/>
                <c:pt idx="0">
                  <c:v>Monitoring &amp; messaging</c:v>
                </c:pt>
                <c:pt idx="1">
                  <c:v>Documents</c:v>
                </c:pt>
                <c:pt idx="2">
                  <c:v>Workflows</c:v>
                </c:pt>
                <c:pt idx="3">
                  <c:v>Speech</c:v>
                </c:pt>
                <c:pt idx="4">
                  <c:v>Vision</c:v>
                </c:pt>
                <c:pt idx="5">
                  <c:v>Core</c:v>
                </c:pt>
              </c:strCache>
            </c:strRef>
          </c:cat>
          <c:val>
            <c:numRef>
              <c:f>Sheet1!$B$2:$B$7</c:f>
              <c:numCache>
                <c:formatCode>General</c:formatCode>
                <c:ptCount val="6"/>
                <c:pt idx="0">
                  <c:v>6</c:v>
                </c:pt>
                <c:pt idx="1">
                  <c:v>5</c:v>
                </c:pt>
                <c:pt idx="2">
                  <c:v>6</c:v>
                </c:pt>
                <c:pt idx="3">
                  <c:v>7</c:v>
                </c:pt>
                <c:pt idx="4">
                  <c:v>7</c:v>
                </c:pt>
                <c:pt idx="5">
                  <c:v>7</c:v>
                </c:pt>
              </c:numCache>
            </c:numRef>
          </c:val>
        </c:ser>
        <c:dLbls>
          <c:numFmt formatCode="#,##0" sourceLinked="0"/>
          <c:txPr>
            <a:bodyPr/>
            <a:lstStyle/>
            <a:p>
              <a:pPr>
                <a:defRPr sz="1100">
                  <a:solidFill>
                    <a:srgbClr val="E2B462"/>
                  </a:solidFill>
                </a:defRPr>
              </a:pPr>
            </a:p>
          </c:txPr>
          <c:dLblPos val="outEnd"/>
          <c:showLegendKey val="0"/>
          <c:showVal val="1"/>
          <c:showCatName val="0"/>
          <c:showSerName val="0"/>
          <c:showPercent val="0"/>
          <c:showBubbleSize val="0"/>
          <c:showLeaderLines val="1"/>
        </c:dLbls>
        <c:gapWidth val="45"/>
        <c:axId val="1"/>
        <c:axId val="2"/>
      </c:barChart>
      <c:catAx>
        <c:axId val="1"/>
        <c:scaling>
          <c:orientation val="minMax"/>
        </c:scaling>
        <c:delete val="0"/>
        <c:axPos val="l"/>
        <c:majorTickMark val="out"/>
        <c:minorTickMark val="none"/>
        <c:tickLblPos val="nextTo"/>
        <c:spPr>
          <a:ln>
            <a:solidFill>
              <a:srgbClr val="2A3A40"/>
            </a:solidFill>
          </a:ln>
        </c:spPr>
        <c:txPr>
          <a:bodyPr/>
          <a:lstStyle/>
          <a:p>
            <a:pPr>
              <a:defRPr sz="1200">
                <a:solidFill>
                  <a:srgbClr val="ECE7DC"/>
                </a:solidFill>
              </a:defRPr>
            </a:pPr>
          </a:p>
        </c:txPr>
        <c:crossAx val="2"/>
        <c:crosses val="autoZero"/>
        <c:auto val="1"/>
        <c:lblAlgn val="ctr"/>
        <c:lblOffset val="100"/>
        <c:noMultiLvlLbl val="0"/>
      </c:catAx>
      <c:valAx>
        <c:axId val="2"/>
        <c:scaling/>
        <c:delete/>
        <c:axPos val="b"/>
        <c:majorTickMark val="out"/>
        <c:minorTickMark val="none"/>
        <c:tickLblPos val="nextTo"/>
        <c:crossAx val="1"/>
        <c:crosses val="autoZero"/>
      </c:valAx>
    </c:plotArea>
    <c:dispBlanksAs val="gap"/>
  </c:chart>
  <c:txPr>
    <a:bodyPr/>
    <a:lstStyle/>
    <a:p>
      <a:pPr>
        <a:defRPr sz="1200">
          <a:solidFill>
            <a:srgbClr val="ECE7DC"/>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varyColors val="0"/>
        <c:ser>
          <c:idx val="0"/>
          <c:order val="0"/>
          <c:tx>
            <c:strRef>
              <c:f>Sheet1!$B$1</c:f>
              <c:strCache>
                <c:ptCount val="1"/>
                <c:pt idx="0">
                  <c:v>Effective lines</c:v>
                </c:pt>
              </c:strCache>
            </c:strRef>
          </c:tx>
          <c:spPr>
            <a:solidFill>
              <a:srgbClr val="3BBE93"/>
            </a:solidFill>
          </c:spPr>
          <c:cat>
            <c:strRef>
              <c:f>Sheet1!$A$2:$A$15</c:f>
              <c:strCache>
                <c:ptCount val="14"/>
                <c:pt idx="0">
                  <c:v>6 more</c:v>
                </c:pt>
                <c:pt idx="1">
                  <c:v>Batch</c:v>
                </c:pt>
                <c:pt idx="2">
                  <c:v>Prompt template</c:v>
                </c:pt>
                <c:pt idx="3">
                  <c:v>HTML</c:v>
                </c:pt>
                <c:pt idx="4">
                  <c:v>Text</c:v>
                </c:pt>
                <c:pt idx="5">
                  <c:v>PowerShell</c:v>
                </c:pt>
                <c:pt idx="6">
                  <c:v>YAML</c:v>
                </c:pt>
                <c:pt idx="7">
                  <c:v>JSON</c:v>
                </c:pt>
                <c:pt idx="8">
                  <c:v>Other text</c:v>
                </c:pt>
                <c:pt idx="9">
                  <c:v>CSS</c:v>
                </c:pt>
                <c:pt idx="10">
                  <c:v>JavaScript</c:v>
                </c:pt>
                <c:pt idx="11">
                  <c:v>Markdown</c:v>
                </c:pt>
                <c:pt idx="12">
                  <c:v>JavaScript module</c:v>
                </c:pt>
                <c:pt idx="13">
                  <c:v>Python</c:v>
                </c:pt>
              </c:strCache>
            </c:strRef>
          </c:cat>
          <c:val>
            <c:numRef>
              <c:f>Sheet1!$B$2:$B$15</c:f>
              <c:numCache>
                <c:formatCode>General</c:formatCode>
                <c:ptCount val="14"/>
                <c:pt idx="0">
                  <c:v>1078</c:v>
                </c:pt>
                <c:pt idx="1">
                  <c:v>882</c:v>
                </c:pt>
                <c:pt idx="2">
                  <c:v>1368</c:v>
                </c:pt>
                <c:pt idx="3">
                  <c:v>1678</c:v>
                </c:pt>
                <c:pt idx="4">
                  <c:v>2122</c:v>
                </c:pt>
                <c:pt idx="5">
                  <c:v>2355</c:v>
                </c:pt>
                <c:pt idx="6">
                  <c:v>2643</c:v>
                </c:pt>
                <c:pt idx="7">
                  <c:v>6111</c:v>
                </c:pt>
                <c:pt idx="8">
                  <c:v>10595</c:v>
                </c:pt>
                <c:pt idx="9">
                  <c:v>14435</c:v>
                </c:pt>
                <c:pt idx="10">
                  <c:v>29139</c:v>
                </c:pt>
                <c:pt idx="11">
                  <c:v>40052</c:v>
                </c:pt>
                <c:pt idx="12">
                  <c:v>103320</c:v>
                </c:pt>
                <c:pt idx="13">
                  <c:v>262408</c:v>
                </c:pt>
              </c:numCache>
            </c:numRef>
          </c:val>
        </c:ser>
        <c:dLbls>
          <c:numFmt formatCode="#,##0" sourceLinked="0"/>
          <c:txPr>
            <a:bodyPr/>
            <a:lstStyle/>
            <a:p>
              <a:pPr>
                <a:defRPr sz="1100">
                  <a:solidFill>
                    <a:srgbClr val="E2B462"/>
                  </a:solidFill>
                </a:defRPr>
              </a:pPr>
            </a:p>
          </c:txPr>
          <c:dLblPos val="outEnd"/>
          <c:showLegendKey val="0"/>
          <c:showVal val="1"/>
          <c:showCatName val="0"/>
          <c:showSerName val="0"/>
          <c:showPercent val="0"/>
          <c:showBubbleSize val="0"/>
          <c:showLeaderLines val="1"/>
        </c:dLbls>
        <c:gapWidth val="45"/>
        <c:axId val="1"/>
        <c:axId val="2"/>
      </c:barChart>
      <c:catAx>
        <c:axId val="1"/>
        <c:scaling>
          <c:orientation val="minMax"/>
        </c:scaling>
        <c:delete val="0"/>
        <c:axPos val="l"/>
        <c:majorTickMark val="out"/>
        <c:minorTickMark val="none"/>
        <c:tickLblPos val="nextTo"/>
        <c:spPr>
          <a:ln>
            <a:solidFill>
              <a:srgbClr val="2A3A40"/>
            </a:solidFill>
          </a:ln>
        </c:spPr>
        <c:txPr>
          <a:bodyPr/>
          <a:lstStyle/>
          <a:p>
            <a:pPr>
              <a:defRPr sz="1200">
                <a:solidFill>
                  <a:srgbClr val="ECE7DC"/>
                </a:solidFill>
              </a:defRPr>
            </a:pPr>
          </a:p>
        </c:txPr>
        <c:crossAx val="2"/>
        <c:crosses val="autoZero"/>
        <c:auto val="1"/>
        <c:lblAlgn val="ctr"/>
        <c:lblOffset val="100"/>
        <c:noMultiLvlLbl val="0"/>
      </c:catAx>
      <c:valAx>
        <c:axId val="2"/>
        <c:scaling/>
        <c:delete/>
        <c:axPos val="b"/>
        <c:majorTickMark val="out"/>
        <c:minorTickMark val="none"/>
        <c:tickLblPos val="nextTo"/>
        <c:crossAx val="1"/>
        <c:crosses val="autoZero"/>
      </c:valAx>
    </c:plotArea>
    <c:dispBlanksAs val="gap"/>
  </c:chart>
  <c:txPr>
    <a:bodyPr/>
    <a:lstStyle/>
    <a:p>
      <a:pPr>
        <a:defRPr sz="1200">
          <a:solidFill>
            <a:srgbClr val="ECE7DC"/>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the complete project dossier. Created by Angela López Mendoza.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this dossier covers, chapter by chapter.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I: Who She Is. A self-hosted developer assistant that reads, reasons, builds and acts, and lets you design how.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is a self-hosted AI developer assistant for Windows 10 and 11: a Django application that converses, retrieves, plans, runs agents, and lets you draw whole agent workflows on a canvas.</a:t>
            </a:r>
          </a:p>
          <a:p/>
          <a:p>
            <a:r>
              <a:t>Her name is Nahuatl. In the Nahua world a tlamatini was a sage, literally “one who knows”: a keeper of the painted books who carried knowledge and taught others to see. The name is a promise about behaviour. She should know what she is doing, say what she actually did, and never pretend.</a:t>
            </a:r>
          </a:p>
          <a:p/>
          <a:p>
            <a:r>
              <a:t>Tlamatini was conceived, designed and built by Angela López Mendoza (@angelahack1), who gave her the name. Her birthday is October 29, 2025. She is female by design, including her spoken voice, which is always a female voice, and she refers to herself as she.</a:t>
            </a:r>
          </a:p>
          <a:p/>
          <a:p>
            <a:r>
              <a:t>She is free, open-source software under the MIT license, published at github.com/XAIHT/Tlamatini. The repository carries the application and every one of its 86 workflow-agent programs as plain, readable Python.</a:t>
            </a:r>
          </a:p>
          <a:p/>
          <a:p>
            <a:r>
              <a:t>Creator: Angela López Mendoza · @angelahack1</a:t>
            </a:r>
          </a:p>
          <a:p/>
          <a:p>
            <a:r>
              <a:t>Born: October 29, 2025</a:t>
            </a:r>
          </a:p>
          <a:p/>
          <a:p>
            <a:r>
              <a:t>Platform: Windows 10 and 11 · Python 3.12.10 · Django 5.2.15</a:t>
            </a:r>
          </a:p>
          <a:p/>
          <a:p>
            <a:r>
              <a:t>License: MIT: free and open source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“Local-first” describes where control lives: the application, database, workflows, credentials, agent code and the small embedding model stay on your machine, while the demanding reasoning is done by cloud models reached through Ollama.</a:t>
            </a:r>
          </a:p>
          <a:p/>
          <a:p>
            <a:r>
              <a:t>Three planes cooperate. The local control plane is the Django application with its chat, canvases, SQLite database, agent programs, permissions, files and hardware connections. Local retrieval builds embeddings with nomic-embed-text so project context is found quickly. Cloud reasoning — configured :cloud models served through Ollama — performs chat, tool calling, long context, vision and Multi-Turn planning. A smaller local model also works: a request it cannot hold is sent in Compact mode, and the Model Brain tunes every model from its maker's published settings.</a:t>
            </a:r>
          </a:p>
          <a:p/>
          <a:p>
            <a:r>
              <a:t>Because the complete experience was engineered around Ollama's cloud-model capacity, an active Ollama Pro plan or higher is part of the intended system requirements. This is an independent technical recommendation: Tlamatini and XAIHT are not sponsored by, affiliated with or compensated by Ollama.</a:t>
            </a:r>
          </a:p>
          <a:p/>
          <a:p>
            <a:r>
              <a:t>Whatever you send to a configured cloud model is processed by that provider. Direct Claude API use, external coding-agent CLIs and remote MCP servers are configured separately, so you decide what material leaves your machine.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Tlamatini does rests on seven cooperating subsystems.</a:t>
            </a:r>
          </a:p>
          <a:p/>
          <a:p>
            <a:r>
              <a:t>Hybrid RAG: FAISS vectors, BM25 keywords, metadata extraction, context budgeting and a binary-content guard keep answers grounded in your real project.</a:t>
            </a:r>
          </a:p>
          <a:p/>
          <a:p>
            <a:r>
              <a:t>Multi-Turn: A planner and a tool loop of up to 4,096 iterations over the full enabled surface of 110 built-in tools, self-healing steps and Compact mode for small models.</a:t>
            </a:r>
          </a:p>
          <a:p/>
          <a:p>
            <a:r>
              <a:t>Agentic Control Panel: 86 drag-and-drop agent types wired into runnable, savable .flw workflows.</a:t>
            </a:r>
          </a:p>
          <a:p/>
          <a:p>
            <a:r>
              <a:t>Prompt Flow Panel: New in v1.70.0: prompts, decisions and embeddings drawn as a diagram, saved as .fpmt, and played against your models.</a:t>
            </a:r>
          </a:p>
          <a:p/>
          <a:p>
            <a:r>
              <a:t>ACPX: 14 external coding-agent CLIs, from Claude Code to Codex and Gemini, spawned as children and brokered through 12 tools.</a:t>
            </a:r>
          </a:p>
          <a:p/>
          <a:p>
            <a:r>
              <a:t>External MCPs: A universal client for any MCP server over four transports, with up to five servers active at once.</a:t>
            </a:r>
          </a:p>
          <a:p/>
          <a:p>
            <a:r>
              <a:t>Skills: 29 SKILL.md runbooks, from code review to MCP onboarding, handed to the model as complete procedures.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Coding assistants edit text files. Tlamatini does that too, then reaches into engines, boards and networks, and lets you wire all of it together visually.</a:t>
            </a:r>
          </a:p>
          <a:p/>
          <a:p>
            <a:r>
              <a:t>Visual workflow design: 86 agent types on a canvas you connect, validate, run, pause and save.</a:t>
            </a:r>
          </a:p>
          <a:p/>
          <a:p>
            <a:r>
              <a:t>Unreal Engine: Drive a live UE5 editor from chat or canvas: actors, Blueprints, levels, assets and materials.</a:t>
            </a:r>
          </a:p>
          <a:p/>
          <a:p>
            <a:r>
              <a:t>Blender: Scenes, objects, materials, renders and raw bpy code over the official add-on socket.</a:t>
            </a:r>
          </a:p>
          <a:p/>
          <a:p>
            <a:r>
              <a:t>Real firmware: Scaffold, build and flash STM32, ESP32, Arduino and ESPHome boards behind fail-safe preflights.</a:t>
            </a:r>
          </a:p>
          <a:p/>
          <a:p>
            <a:r>
              <a:t>Whole projects: Find, read, edit and rebuild entire codebases with grounded retrieval.</a:t>
            </a:r>
          </a:p>
          <a:p/>
          <a:p>
            <a:r>
              <a:t>Any MCP server: One client for the MCP ecosystem: stdio, streamable HTTP, SSE and WebSocket.</a:t>
            </a:r>
          </a:p>
          <a:p/>
          <a:p>
            <a:r>
              <a:t>Security assessment: Authorized Kali, ProjectDiscovery and nmap work, driven from chat.</a:t>
            </a:r>
          </a:p>
          <a:p/>
          <a:p>
            <a:r>
              <a:t>Blue-hat defence: An administrator-run Windows monitoring and response toolkit.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figure below was counted from the repository while this dossier was generated.</a:t>
            </a:r>
          </a:p>
          <a:p/>
          <a:p>
            <a:r>
              <a:t>The built-in Multi-Turn surface is 21 core tools + 67 wrapped agent launchers + 12 ACPX and Skill tools + 10 External-MCP supervisors = 110 tools. Healthy, active external MCP servers add their own ext__&lt;server&gt;__&lt;tool&gt; tools on top.</a:t>
            </a:r>
          </a:p>
          <a:p/>
          <a:p>
            <a:r>
              <a:t>The application ships 64 JavaScript modules, 29 stylesheets and 8 page templates, 220 database migrations and 264 pinned Python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II: How She Works. From a keystroke in the browser to a verified result on disk: the layers, the loop and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browser editor and the synchronous tool loop share an account/session-bound bridge.</a:t>
            </a:r>
          </a:p>
          <a:p/>
          <a:p>
            <a:r>
              <a:t>Browser: CodeMirror is authoritative; bridge.js sends receipts/access/stop, not host-path commands.</a:t>
            </a:r>
          </a:p>
          <a:p/>
          <a:p>
            <a:r>
              <a:t>Transport: ws/interactor/ authenticates the session and exact Origin/Host; the server issues tab identity.</a:t>
            </a:r>
          </a:p>
          <a:p/>
          <a:p>
            <a:r>
              <a:t>Tool context: ContextVar carries tab/account/session identity into workers; read gets the live buffer.</a:t>
            </a:r>
          </a:p>
          <a:p/>
          <a:p>
            <a:r>
              <a:t>Hub: Bounded queues, command IDs, deadlines, revision checks and full-buffer verification.</a:t>
            </a:r>
          </a:p>
          <a:p/>
          <a:p>
            <a:r>
              <a:t>Persistence: Ask Execs gates new/save; loopback host access uses the existing path and file-capability guards.</a:t>
            </a:r>
          </a:p>
          <a:p/>
          <a:p>
            <a:r>
              <a:t>Carriage: Migration 0218, tool_gate_table, prompt rules, frozen modules and offline source/static inventories.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request passes through five layers, each with one responsibility, between the browser above and the model back-ends below.</a:t>
            </a:r>
          </a:p>
          <a:p/>
          <a:p>
            <a:r>
              <a:t>Above the layers sit the browser pages — the chat, the Agentic Control Panel and the Prompt Flow Panel — talking to Django Channels over WebSockets under the Daphne ASGI server. Below them sit the language-model back-ends: Ollama (local and cloud), Anthropic Claude and Qwen vision.</a:t>
            </a:r>
          </a:p>
          <a:p/>
          <a:p>
            <a:r>
              <a:t>A row in the database only switches a capability on or off. It never creates one: an MCP provider needs its runtime service and context chain, and a tool needs its implementation.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Eleven steps take a message from the browser to a verified, reported result.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Multi-Turn checked, Tlamatini stops being an advisor and becomes an operator: she plans, calls tools, reads their results and continues until the task is done.</a:t>
            </a:r>
          </a:p>
          <a:p/>
          <a:p>
            <a:r>
              <a:t>A global execution planner builds a request-scoped plan and capability hints, but the executor binds the full enabled tool surface: every enabled tool, wrapped agent and skill, with ACPX still filtered by its own checkbox. An earlier design bound only a narrow planner subset and could starve the loop of the one tool it needed.</a:t>
            </a:r>
          </a:p>
          <a:p/>
          <a:p>
            <a:r>
              <a:t>The loop runs up to 4,096 iterations. Identical wrapped-agent calls in one request are deduplicated, a repetition breaker nudges a model that circles, and each wrapped agent runs in its own isolated runtime folder, so templates are never modified.</a:t>
            </a:r>
          </a:p>
          <a:p/>
          <a:p>
            <a:r>
              <a:t>When at least one agent succeeded, the answer carries a Create Flow button. It turns exactly the successful tool calls into a canvas-loadable .flw workflow, normalized and secret-redacted by the backend, so a conversation can become a reusable workflow.</a:t>
            </a:r>
          </a:p>
          <a:p/>
          <a:p>
            <a:r>
              <a:t>Step-by-Step: One concrete action at a time; she waits for your READY or output.</a:t>
            </a:r>
          </a:p>
          <a:p/>
          <a:p>
            <a:r>
              <a:t>Ask Execs: A human Proceed/Deny gate before each risky step.</a:t>
            </a:r>
          </a:p>
          <a:p/>
          <a:p>
            <a:r>
              <a:t>Exec Report: One table per agent family, one row per real tool call.</a:t>
            </a:r>
          </a:p>
          <a:p/>
          <a:p>
            <a:r>
              <a:t>ACPX: Adds the external coding-agent and Skill tools to the surface.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call inside the loop goes through a per-request self-healing invoker that switches to a genuinely different tactic each time a transient failure strikes.</a:t>
            </a:r>
          </a:p>
          <a:p/>
          <a:p>
            <a:r>
              <a:t>Each attempt runs under a watchdog. The shipped configuration allows 900 seconds, deliberately longer than the 600-second model-client timeout, so the watchdog never abandons a call the client would still finish; the Cancel button is polled every quarter of a second, so she never blocks forever. The ladder cycles through six tactics and keeps going up to 4,096 of them. Only you, with Cancel, stop her.</a:t>
            </a:r>
          </a:p>
          <a:p/>
          <a:p>
            <a:r>
              <a:t>If the ladder is ever exhausted after agents already ran, she finishes gracefully from that real work: the Create Flow button and the Exec Report survive, and the answer says what happened.</a:t>
            </a:r>
          </a:p>
          <a:p/>
          <a:p>
            <a:r>
              <a:t>Recovery is narrated live. Status lines such as “Tactic #3 … I will NOT hang” stream into the chat as they happen, and a SELF-HEALING NOTE opens the final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model call inside the loop goes through a per-request self-healing invoker that switches to a genuinely different tactic each time a transient failure strikes.</a:t>
            </a:r>
          </a:p>
          <a:p/>
          <a:p>
            <a:r>
              <a:t>Each attempt runs under a watchdog. The shipped configuration allows 900 seconds, deliberately longer than the 600-second model-client timeout, so the watchdog never abandons a call the client would still finish; the Cancel button is polled every quarter of a second, so she never blocks forever. The ladder cycles through six tactics and keeps going up to 4,096 of them. Only you, with Cancel, stop her.</a:t>
            </a:r>
          </a:p>
          <a:p/>
          <a:p>
            <a:r>
              <a:t>If the ladder is ever exhausted after agents already ran, she finishes gracefully from that real work: the Create Flow button and the Exec Report survive, and the answer says what happened.</a:t>
            </a:r>
          </a:p>
          <a:p/>
          <a:p>
            <a:r>
              <a:t>Recovery is narrated live. Status lines such as “Tactic #3 … I will NOT hang” stream into the chat as they happen, and a SELF-HEALING NOTE opens the final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whose real window cannot hold the complete request receives a compact one; a model that can hold it receives exactly the request it always did.</a:t>
            </a:r>
          </a:p>
          <a:p/>
          <a:p>
            <a:r>
              <a:t>Ollama does not refuse an oversized request for a local model: it keeps the end and answers from that. A local qwen2.5 whose 32,768 tokens were split between two request slots read 16,386 tokens of a request of about 52,000, lost the live system metrics, and answered a CPU question with the time.</a:t>
            </a:r>
          </a:p>
          <a:p/>
          <a:p>
            <a:r>
              <a:t>Ollama's own count is now the proof. When the characters sent cannot fit the tokens Ollama says it read, the request was cut, and that count is learned as the model's real window. A local model's reported context length is never taken as its per-request window, because parallel request slots divide it.</a:t>
            </a:r>
          </a:p>
          <a:p/>
          <a:p>
            <a:r>
              <a:t>A request that fits the usable window is sent byte for byte, as before. Otherwise Compact mode keeps System-Metrics and Files-Search, whose context rides inside the question, and binds only the rows you tick. Since v1.75.0 that is a toolbar switch: ticking it unticks every Configure row but those three and pauses External MCPs, and each row shows its price. The system prompt is rebuilt by rule priority and closed by a seven-rule note, and history keeps the six newest messages. A first step that Ollama still cut is re-fitted and resent before any tool runs.</a:t>
            </a:r>
          </a:p>
          <a:p/>
          <a:p>
            <a:r>
              <a:t>Full: A model that can hold the request receives it unchanged, byte for byte.</a:t>
            </a:r>
          </a:p>
          <a:p/>
          <a:p>
            <a:r>
              <a:t>Compact: A toolbar switch: only the rows you tick are bound, each with its price.</a:t>
            </a:r>
          </a:p>
          <a:p/>
          <a:p>
            <a:r>
              <a:t>Locked: A model too small for everything turns Compact on by itself and locks it.</a:t>
            </a:r>
          </a:p>
          <a:p/>
          <a:p>
            <a:r>
              <a:t>Your choice: context_compact_mode is auto by default, or always or never, obeyed exactly.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model whose real window cannot hold the complete request receives a compact one; a model that can hold it receives exactly the request it always did.</a:t>
            </a:r>
          </a:p>
          <a:p/>
          <a:p>
            <a:r>
              <a:t>Ollama does not refuse an oversized request for a local model: it keeps the end and answers from that. A local qwen2.5 whose 32,768 tokens were split between two request slots read 16,386 tokens of a request of about 52,000, lost the live system metrics, and answered a CPU question with the time.</a:t>
            </a:r>
          </a:p>
          <a:p/>
          <a:p>
            <a:r>
              <a:t>Ollama's own count is now the proof. When the characters sent cannot fit the tokens Ollama says it read, the request was cut, and that count is learned as the model's real window. A local model's reported context length is never taken as its per-request window, because parallel request slots divide it.</a:t>
            </a:r>
          </a:p>
          <a:p/>
          <a:p>
            <a:r>
              <a:t>A request that fits the usable window is sent byte for byte, as before. Otherwise Compact mode keeps System-Metrics and Files-Search, whose context rides inside the question, and binds only the rows you tick. Since v1.75.0 that is a toolbar switch: ticking it unticks every Configure row but those three and pauses External MCPs, and each row shows its price. The system prompt is rebuilt by rule priority and closed by a seven-rule note, and history keeps the six newest messages. A first step that Ollama still cut is re-fitted and resent before any tool runs.</a:t>
            </a:r>
          </a:p>
          <a:p/>
          <a:p>
            <a:r>
              <a:t>Full: A model that can hold the request receives it unchanged, byte for byte.</a:t>
            </a:r>
          </a:p>
          <a:p/>
          <a:p>
            <a:r>
              <a:t>Compact: A toolbar switch: only the rows you tick are bound, each with its price.</a:t>
            </a:r>
          </a:p>
          <a:p/>
          <a:p>
            <a:r>
              <a:t>Locked: A model too small for everything turns Compact on by itself and locks it.</a:t>
            </a:r>
          </a:p>
          <a:p/>
          <a:p>
            <a:r>
              <a:t>Your choice: context_compact_mode is auto by default, or always or never, obeyed exactly.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v1.76.0 each model receives its own sampling, thinking level and context size, taken from formal sources, instead of one fixed set of values for every model.</a:t>
            </a:r>
          </a:p>
          <a:p/>
          <a:p>
            <a:r>
              <a:t>The values come, in this order, from your own model_brain_overrides; a built-in knowledge base whose every profile cites its vendor model card or Hugging Face generation_config.json (GLM-5, DeepSeek-V4, MiniMax-M3, Gemma 4, Qwen 3.5, Qwen 2.5, gpt-oss, Kimi, Mistral Large 3 and Nemotron 3); a profile learned once, in the background, for a model she does not know yet and kept outside the installation so it survives updates; the parameters Ollama publishes for the model; and finally the model's own defaults. The requested context never exceeds what the model can really read.</a:t>
            </a:r>
          </a:p>
          <a:p/>
          <a:p>
            <a:r>
              <a:t>Inside one answer, between tool calls, a thinking model gets its own earlier reasoning back, as its maker requires, instead of starting over at every step; it is dropped between your questions, and the context gauge counts it. In Config ▸ Models, Save opens an Auto-tuning dialog that tunes every configured model in front of you, with the source of each value.</a:t>
            </a:r>
          </a:p>
          <a:p/>
          <a:p>
            <a:r>
              <a:t>The stall clocks that abandoned a slow model and started again from scratch were removed. Measured with Ollama's own numbers, reading even a very long prompt is not the bottleneck on Ollama cloud: the time is the reasoning the model generates, and a clock cannot tell a dead call from a model that is still thinking. The self-healing watchdog and the client time limit remain.</a:t>
            </a:r>
          </a:p>
          <a:p/>
          <a:p>
            <a:r>
              <a:t>Formal sources: Your overrides, cited profiles, learned profiles, Ollama, model defaults.</a:t>
            </a:r>
          </a:p>
          <a:p/>
          <a:p>
            <a:r>
              <a:t>Real context: The requested window never exceeds what the model can read.</a:t>
            </a:r>
          </a:p>
          <a:p/>
          <a:p>
            <a:r>
              <a:t>Reasoning kept: Thinking models keep their train of thought between tool calls.</a:t>
            </a:r>
          </a:p>
          <a:p/>
          <a:p>
            <a:r>
              <a:t>Auto-tuning: Config ▸ Models ▸ Save shows each model tuned, with its sources.</a:t>
            </a:r>
          </a:p>
          <a:p/>
          <a:p>
            <a:r>
              <a:t>No stall clocks: A slow model is never thrown away and restarted.</a:t>
            </a:r>
          </a:p>
          <a:p/>
          <a:p>
            <a:r>
              <a:t>Your choice: model_brain: off restores the legacy fixed sampler exactly.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Since v1.76.0 each model receives its own sampling, thinking level and context size, taken from formal sources, instead of one fixed set of values for every model.</a:t>
            </a:r>
          </a:p>
          <a:p/>
          <a:p>
            <a:r>
              <a:t>The values come, in this order, from your own model_brain_overrides; a built-in knowledge base whose every profile cites its vendor model card or Hugging Face generation_config.json (GLM-5, DeepSeek-V4, MiniMax-M3, Gemma 4, Qwen 3.5, Qwen 2.5, gpt-oss, Kimi, Mistral Large 3 and Nemotron 3); a profile learned once, in the background, for a model she does not know yet and kept outside the installation so it survives updates; the parameters Ollama publishes for the model; and finally the model's own defaults. The requested context never exceeds what the model can really read.</a:t>
            </a:r>
          </a:p>
          <a:p/>
          <a:p>
            <a:r>
              <a:t>Inside one answer, between tool calls, a thinking model gets its own earlier reasoning back, as its maker requires, instead of starting over at every step; it is dropped between your questions, and the context gauge counts it. In Config ▸ Models, Save opens an Auto-tuning dialog that tunes every configured model in front of you, with the source of each value.</a:t>
            </a:r>
          </a:p>
          <a:p/>
          <a:p>
            <a:r>
              <a:t>The stall clocks that abandoned a slow model and started again from scratch were removed. Measured with Ollama's own numbers, reading even a very long prompt is not the bottleneck on Ollama cloud: the time is the reasoning the model generates, and a clock cannot tell a dead call from a model that is still thinking. The self-healing watchdog and the client time limit remain.</a:t>
            </a:r>
          </a:p>
          <a:p/>
          <a:p>
            <a:r>
              <a:t>Formal sources: Your overrides, cited profiles, learned profiles, Ollama, model defaults.</a:t>
            </a:r>
          </a:p>
          <a:p/>
          <a:p>
            <a:r>
              <a:t>Real context: The requested window never exceeds what the model can read.</a:t>
            </a:r>
          </a:p>
          <a:p/>
          <a:p>
            <a:r>
              <a:t>Reasoning kept: Thinking models keep their train of thought between tool calls.</a:t>
            </a:r>
          </a:p>
          <a:p/>
          <a:p>
            <a:r>
              <a:t>Auto-tuning: Config ▸ Models ▸ Save shows each model tuned, with its sources.</a:t>
            </a:r>
          </a:p>
          <a:p/>
          <a:p>
            <a:r>
              <a:t>No stall clocks: A slow model is never thrown away and restarted.</a:t>
            </a:r>
          </a:p>
          <a:p/>
          <a:p>
            <a:r>
              <a:t>Your choice: model_brain: off restores the legacy fixed sampler exactly.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exit code is one bit. An agent's own structured self-report is a typed record, and it outranks the exit code.</a:t>
            </a:r>
          </a:p>
          <a:p/>
          <a:p>
            <a:r>
              <a:t>agent_verdict.py parses each agent's INI_SECTION block into a typed tree and runs an ordered rule table over it. There is no model call and no heuristic, so the same input always yields the same colour. The status vocabulary is closed: five disjoint sets, united as KNOWN_STATUSES, and a repository-wide test rejects any status token an agent invents.</a:t>
            </a:r>
          </a:p>
          <a:p/>
          <a:p>
            <a:r>
              <a:t>A read-only diagnostic that reports a problem has succeeded, because the finding is the deliverable. Degraded work, work not done and agent errors stay red. A red row therefore means that no clean requested deliverable exists, never merely that a check found something.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exit code is one bit. An agent's own structured self-report is a typed record, and it outranks the exit code.</a:t>
            </a:r>
          </a:p>
          <a:p/>
          <a:p>
            <a:r>
              <a:t>agent_verdict.py parses each agent's INI_SECTION block into a typed tree and runs an ordered rule table over it. There is no model call and no heuristic, so the same input always yields the same colour. The status vocabulary is closed: five disjoint sets, united as KNOWN_STATUSES, and a repository-wide test rejects any status token an agent invents.</a:t>
            </a:r>
          </a:p>
          <a:p/>
          <a:p>
            <a:r>
              <a:t>A read-only diagnostic that reports a problem has succeeded, because the finding is the deliverable. Degraded work, work not done and agent errors stay red. A red row therefore means that no clean requested deliverable exists, never merely that a check found something.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Ask Execs on, the executor blocks before each risky tool and waits for Proceed or Deny in the browser. A single Deny halts the whole chain and leaves a red “Execution interrupted” banner.</a:t>
            </a:r>
          </a:p>
          <a:p/>
          <a:p>
            <a:r>
              <a:t>The gate is an explicit allowlist, chosen tier by tier. Every doubtful path resolves to Deny: a failed prompt, a Cancel or a disconnected browser never lets a risky tool run unconfirmed. Unchecking Ask Execs during a run relaxes that run; checking it again re-arms the prompts.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Hybrid retrieval combines FAISS vectors with BM25 keywords, extracts metadata, budgets the context and falls back gracefully when a chain cannot retrieve.</a:t>
            </a:r>
          </a:p>
          <a:p/>
          <a:p>
            <a:r>
              <a:t>When you load a directory or file, that loaded context outranks her self-knowledge: a request to “summarize the project” is answered from your project, not from a description of herself.</a:t>
            </a:r>
          </a:p>
          <a:p/>
          <a:p>
            <a:r>
              <a:t>Before any file is embedded, a binary-content guard screens its bytes in a short-circuiting cascade that reads at most one 8 KiB block. Binary files are dropped exactly like a name you chose to omit, and every drop is named in tlamatini.log under --- [BINARY-GUARD].</a:t>
            </a:r>
          </a:p>
          <a:p/>
          <a:p>
            <a:r>
              <a:t>The guard fails open: any doubt means “load it as text”, because silently deleting real context is worse than embedding one odd file. The byte-order-mark stage runs before the NUL-byte stage, or every UTF-16 document would vanish.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Canvas snapshots and chat-generated drafts compile through the same Agent Contract registry before any file reaches the session pool.</a:t>
            </a:r>
          </a:p>
          <a:p/>
          <a:p>
            <a:r>
              <a:t>Each agent's contract declares which configuration field a connection on each slot writes, which fields Parametrizer may read, which paths are secrets to redact, and whether it is a singleton, long-running or never starts its targets. Both surfaces normalize into one FlowSpec (schema version 2).</a:t>
            </a:r>
          </a:p>
          <a:p/>
          <a:p>
            <a:r>
              <a:t>The canvas Start button compiles the live snapshot in write mode, so an edited but unsaved flow runs under the same validation as a freshly loaded file. Validate uses a dry run that previews the compiled configuration without touching disk.</a:t>
            </a:r>
          </a:p>
          <a:p/>
          <a:p>
            <a:r>
              <a:t>Agents that feed Parametrizer emit one atomic INI_SECTION block per result. 51 agents currently declare structured outputs.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Small, deliberate mechanisms keep the core alive under the conditions that used to stop it.</a:t>
            </a:r>
          </a:p>
          <a:p/>
          <a:p>
            <a:r>
              <a:t>Console shield: The log file is written first; console output goes through a bounded queue, so clicking the console cannot freeze her. Since v1.76.0 lines are coloured by level.</a:t>
            </a:r>
          </a:p>
          <a:p/>
          <a:p>
            <a:r>
              <a:t>Orphan reaper: Three tiers sweep dead descendants and orphaned console hosts after tools, after answers and at shutdown, without ever raising into the chat.</a:t>
            </a:r>
          </a:p>
          <a:p/>
          <a:p>
            <a:r>
              <a:t>Per-user log lines: Lines carry a five-character tag such as [a3] so concurrent users and turns never blur.</a:t>
            </a:r>
          </a:p>
          <a:p/>
          <a:p>
            <a:r>
              <a:t>Clean Ctrl+C: The signal handler only sets an event; a worker cleans up, a watchdog guarantees exit, and a second Ctrl+C exits at once.</a:t>
            </a:r>
          </a:p>
          <a:p/>
          <a:p>
            <a:r>
              <a:t>Configurable port: django_port moves the web port with no rebuild and falls back to 8000 on any bad value.</a:t>
            </a:r>
          </a:p>
          <a:p/>
          <a:p>
            <a:r>
              <a:t>Temp and Templates: Scratch files live under the application's Temp folder; scaffolded projects default to its Templates folder.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III: Where You Work With Her. The chat, the two canvases, the catalog and the dialogs that operate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 → Live Editor &amp; Terminater opens one shared dialog on the chat and control panels.</a:t>
            </a:r>
          </a:p>
          <a:p/>
          <a:p>
            <a:r>
              <a:t>Live Editor controls 40–160 WPM, a 0–3 second pause after each segment, teaching detail, field suggestions, ghost text versus choices, and following the typed cursor. Manual scrolling suspends following for that segment. Font, line numbers and wrapping affect the real editor. Teaching detail instructs the model; exact wording still varies.</a:t>
            </a:r>
          </a:p>
          <a:p/>
          <a:p>
            <a:r>
              <a:t>Standard and Guided learning presets populate a draft. Preview types and speaks a harmless sample without editing files or executing commands. Save applies behavior to the next action. Cancel, Escape and Close discard the draft. Stop, mute and current-tab editor access are immediate.</a:t>
            </a:r>
          </a:p>
          <a:p/>
          <a:p>
            <a:r>
              <a:t>Pace: Separate speeds or a linked 40–160 WPM setting; no instant typing.</a:t>
            </a:r>
          </a:p>
          <a:p/>
          <a:p>
            <a:r>
              <a:t>Teaching: Brief, balanced or detailed guidance with optional local suggestions.</a:t>
            </a:r>
          </a:p>
          <a:p/>
          <a:p>
            <a:r>
              <a:t>Appearance: Editor and terminal presentation saved per account/browser.</a:t>
            </a:r>
          </a:p>
          <a:p/>
          <a:p>
            <a:r>
              <a:t>Account: Behavior persists on the server; concurrent saves detect revision conflicts.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TerminalHub resolves account preferences across chat, ACP, Prompt Flow and browser actions.</a:t>
            </a:r>
          </a:p>
          <a:p/>
          <a:p>
            <a:r>
              <a:t>Choose 20–160 WPM, an available default shell, advisor for new terminals, a command wait window, a no-output threshold and a user handoff wait. Shell and advisor defaults affect new terminals. A wait timeout does not kill the process. Layout, font and cursor changes apply to existing views; resized prompts retain honest screen-based read-back.</a:t>
            </a:r>
          </a:p>
          <a:p/>
          <a:p>
            <a:r>
              <a:t>I always press Enter prevents automated submission, including aliases, encoded text and control characters; the user's keyboard still works. New flows can use account defaults. Older flow files retain explicit values. Manual Enter and narration remain account choices, and typed chat preserves a shell explicitly requested by the task.</a:t>
            </a:r>
          </a:p>
          <a:p/>
          <a:p>
            <a:r>
              <a:t>Type: One key at a time, 20–160 WPM; no paste or instant mode.</a:t>
            </a:r>
          </a:p>
          <a:p/>
          <a:p>
            <a:r>
              <a:t>Submit: Task-controlled execution or user-only Enter enforced by the hub.</a:t>
            </a:r>
          </a:p>
          <a:p/>
          <a:p>
            <a:r>
              <a:t>Wait: Command, no-output and handoff windows have separate meanings.</a:t>
            </a:r>
          </a:p>
          <a:p/>
          <a:p>
            <a:r>
              <a:t>Inherit: use_my_defaults applies account preferences without rewriting older flows.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Narration uses the existing browser voice and a shared, cancellable speech queue.</a:t>
            </a:r>
          </a:p>
          <a:p/>
          <a:p>
            <a:r>
              <a:t>Enable narration independently for Terminater commands and Live Editor segments. Choose an explanation, literal command/code or both, spoken before, during or after typing. When waiting before typing is enabled, a real speech-completion receipt or explicit skip is required. An unavailable voice offers Continue without voice or Stop.</a:t>
            </a:r>
          </a:p>
          <a:p/>
          <a:p>
            <a:r>
              <a:t>A single focused account tab speaks each terminal event. Receipts belong to that exact connection; disconnect, Stop and the bounded deadline can cancel before any key. A reconnect never replays a command. Secret-marked text and user handoff values are excluded. Outcome notices describe command-action status without reading terminal output aloud.</a:t>
            </a:r>
          </a:p>
          <a:p/>
          <a:p>
            <a:r>
              <a:t>Shared voice: Reuse voice choice, rate, volume and pitch from Config → Voice.</a:t>
            </a:r>
          </a:p>
          <a:p/>
          <a:p>
            <a:r>
              <a:t>Priority: Global mute and microphone listening override narration.</a:t>
            </a:r>
          </a:p>
          <a:p/>
          <a:p>
            <a:r>
              <a:t>Timing: Before/during/after; optional completion before typing.</a:t>
            </a:r>
          </a:p>
          <a:p/>
          <a:p>
            <a:r>
              <a:t>Control: Escape stops speech; Ctrl+Shift+M toggles global mute.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local CodeMirror 6 editor keeps text, code, JSON and Markdown Source editable in the chat canvas.</a:t>
            </a:r>
          </a:p>
          <a:p/>
          <a:p>
            <a:r>
              <a:t>Open or drop a file, make a change, and use the filename bar: Save, Save as, Undo, Redo, Find/replace and Wrap. Copy and Use as context take the edited source. Ctrl/Cmd+S saves; Ctrl/Cmd+Shift+S chooses a destination. Tab normally navigates; Ctrl+[ and Ctrl+] indent.</a:t>
            </a:r>
          </a:p>
          <a:p/>
          <a:p>
            <a:r>
              <a:t>Markdown Preview is sanitized with the existing Marked/DOMPurify renderer. Source and Preview share one buffer and undo history. HTML and SVG remain text, never an active web page. PDFs remain read-only viewers and export their original bytes; flows and images keep their own routes.</a:t>
            </a:r>
          </a:p>
          <a:p/>
          <a:p>
            <a:r>
              <a:t>The dirty marker survives failed or cancelled saves. Open, Clear and Refresh ask before discarding edits. Unsaved text lives in memory, so save before closing. Automatic sizing reserves 320 CSS pixels for the canvas and wraps controls; manual splits remain the user's choice.</a:t>
            </a:r>
          </a:p>
          <a:p/>
          <a:p>
            <a:r>
              <a:t>One document: Code, configuration and plain text share the same editing authority.</a:t>
            </a:r>
          </a:p>
          <a:p/>
          <a:p>
            <a:r>
              <a:t>Markdown: Editable source and sanitized preview preserve undo history.</a:t>
            </a:r>
          </a:p>
          <a:p/>
          <a:p>
            <a:r>
              <a:t>Controls: Save, Save as, Undo/Redo, Find/replace and Wrap.</a:t>
            </a:r>
          </a:p>
          <a:p/>
          <a:p>
            <a:r>
              <a:t>Layout: A reserved canvas width and an editor that fills its available height.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native Windows picker makes Downloads optional.</a:t>
            </a:r>
          </a:p>
          <a:p/>
          <a:p>
            <a:r>
              <a:t>Save uses a browser-granted writable handle or an already authorized native destination. Without one, it asks. Save as and the navbar Save open a native Windows Save As dialog on a local connection; subsequent toolbar Save writes there and Refresh reads it. PDF exports stay copies. Remote browsers need their own supported File System Access picker.</a:t>
            </a:r>
          </a:p>
          <a:p/>
          <a:p>
            <a:r>
              <a:t>A complete revision check refuses external changes. Writes stage on the destination volume, flush and recheck before replacement. ReplaceFileW preserves existing Windows security, named streams and creation time; partial failure retains a recoverable original. The protected database backup/restore path is unchanged.</a:t>
            </a:r>
          </a:p>
          <a:p/>
          <a:p>
            <a:r>
              <a:t>Unedited files keep exact bytes. Edited files retain encoding/BOM and existing line endings; new lines use the original first terminator. UTF-8 and BOM-marked UTF-16 are decoded strictly. Malformed/binary data is refused. Text editing and native saving are limited to 64 MiB.</a:t>
            </a:r>
          </a:p>
          <a:p/>
          <a:p>
            <a:r>
              <a:t>Choose: Native Save As to any writable local folder.</a:t>
            </a:r>
          </a:p>
          <a:p/>
          <a:p>
            <a:r>
              <a:t>Authorize: Account/session-bound capability; 12 idle hours, lost on restart.</a:t>
            </a:r>
          </a:p>
          <a:p/>
          <a:p>
            <a:r>
              <a:t>Compare: External disk changes refuse overwrite; Save As keeps a separate copy.</a:t>
            </a:r>
          </a:p>
          <a:p/>
          <a:p>
            <a:r>
              <a:t>Preserve: Encoding, BOM, line endings and existing Windows metadata.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Interactor is a module and a built-in tool, not a workflow agent or a terminal.</a:t>
            </a:r>
          </a:p>
          <a:p/>
          <a:p>
            <a:r>
              <a:t>Enable Multi-Turn, Interactor in Configure MCPs/Tools and Live editor above the canvas. Ask: Help me create a Dockerfile for a Java servlet application using your text editor; teach one step at a time. The English/Spanish editor aliases are taught in prompt.pmt.</a:t>
            </a:r>
          </a:p>
          <a:p/>
          <a:p>
            <a:r>
              <a:t>First read the exact current buffer, selection, document ID and revision. With no requested path, new creates an empty file under Temp/interactor/&lt;account&gt;/&lt;random&gt;/ using the requested filename. Existing files are never overwritten. Tlamatini types a short known segment, then guide hands the next field to the learner and prevents further mutations in that turn.</a:t>
            </a:r>
          </a:p>
          <a:p/>
          <a:p>
            <a:r>
              <a:t>Continue sends a normal new chat request and reads again before reviewing the learner's answer. Another hint and Explain selection also use normal chat without replacing an existing draft. Typing does not save or execute code. The ordinary Use as context snapshot is separate from Interactor's fresh read of unsaved text.</a:t>
            </a:r>
          </a:p>
          <a:p/>
          <a:p>
            <a:r>
              <a:t>Read: Exact unsaved text and selection, never a stale disk substitute.</a:t>
            </a:r>
          </a:p>
          <a:p/>
          <a:p>
            <a:r>
              <a:t>Type: One small visible teaching segment; one undoable edit.</a:t>
            </a:r>
          </a:p>
          <a:p/>
          <a:p>
            <a:r>
              <a:t>Hand over: Explain the learner's next field, then stop tool mutations.</a:t>
            </a:r>
          </a:p>
          <a:p/>
          <a:p>
            <a:r>
              <a:t>Review: Continue starts a fresh read in a new chat turn.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 plans the next field once; local matching avoids a model request on every keystroke.</a:t>
            </a:r>
          </a:p>
          <a:p/>
          <a:p>
            <a:r>
              <a:t>Ghost text appears only for a matching prefix among bounded choices prepared for the current field. Tab accepts, Ctrl+Right accepts a word and Escape dismisses. Suggestions are optional; the learner can write an alternative value. This is contextual teaching support, not a claim of unrestricted predictive autocomplete or vendor benchmark latency.</a:t>
            </a:r>
          </a:p>
          <a:p/>
          <a:p>
            <a:r>
              <a:t>User input, selection, Stop, Escape, chat cancellation and disconnect interrupt AI typing. The typed prefix stays editable. A temporarily hidden or occluded tab pauses the same action for up to two extra minutes and resumes at the exact next character when visible. Timeout never replays a partial edit. Switching Markdown to Preview or hiding the canvas returns control.</a:t>
            </a:r>
          </a:p>
          <a:p/>
          <a:p>
            <a:r>
              <a:t>Live tutoring accepts at most 262,144 UTF-16 units and checks document/revision before mutations. A smaller configured tool-result/context budget can refuse the receipt. Oversized content is refused explicitly, never truncated into misleading context.</a:t>
            </a:r>
          </a:p>
          <a:p/>
          <a:p>
            <a:r>
              <a:t>Local matching: Prepared field choices; no model call per key.</a:t>
            </a:r>
          </a:p>
          <a:p/>
          <a:p>
            <a:r>
              <a:t>Optional: Accept a suggestion, take one word, dismiss it or type your own value.</a:t>
            </a:r>
          </a:p>
          <a:p/>
          <a:p>
            <a:r>
              <a:t>User priority: Interruptions preserve the typed prefix and invalidate stale work.</a:t>
            </a:r>
          </a:p>
          <a:p/>
          <a:p>
            <a:r>
              <a:t>Honest latency: New questions still wait on chat/model processing.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chat page is where you talk to her. Up to eight toolbar switches decide how each request runs.</a:t>
            </a:r>
          </a:p>
          <a:p/>
          <a:p>
            <a:r>
              <a:t>Beside the conversation sits a canvas that shows code, text and PDFs. Paste a screenshot with Ctrl+V or drop images on any page: she saves them to her Temp folder and writes the full path into your message, ready for Image-Interpreter. A context ring between the toolbar and the message box shows how much of the model's window the real request uses, measured by the backend in bytes. Tokens use Ollama's own prompt_eval_count for the request; an estimate is labeled until a measured count arrives. When Ollama cut a request the ring says so, and an answer built from a cut request carries a CONTEXT-WINDOW warning.</a:t>
            </a:r>
          </a:p>
          <a:p/>
          <a:p>
            <a:r>
              <a:t>Her avatar speaks answers aloud when you ask. Since v1.72.3, clearer syllable movement and faster closure make her lips easier to follow, with opening capped to her portrait. After login, pressing Enter on the welcome page takes you straight to the chat.</a:t>
            </a:r>
          </a:p>
          <a:p/>
          <a:p>
            <a:r>
              <a:t>Answer tables stay readable with every model: only a cell whose text would fall below 3:1 contrast is recoloured, while readable tables, Exec Report tables and gradient backgrounds keep their colours.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Drag the divider above the message box. With her avatar undocked, the box can shrink to its buttons.</a:t>
            </a:r>
          </a:p>
          <a:p/>
          <a:p>
            <a:r>
              <a:t>The divider between the conversation and the message box follows the pointer and the keyboard. The arrow keys move it one step and Shift+arrows five; Home or a double-click shrinks the box to its smallest, End makes it as tall as allowed, and Escape ends a drag. Screen readers hear the box height. The toolbar, context gauge, attachment and dictation rows are measured, so none of them is cut off.</a:t>
            </a:r>
          </a:p>
          <a:p/>
          <a:p>
            <a:r>
              <a:t>Docked, her portrait keeps its room above the action buttons. Undocked, the box can shrink to those buttons plus a six-pixel guard, and docking her again gives the portrait its room back. In a short window the box scrolls inside itself, and on a narrow screen the workspace pans while the page and its dialogs stay in place.</a:t>
            </a:r>
          </a:p>
          <a:p/>
          <a:p>
            <a:r>
              <a:t>Docked, her portrait now follows the divider too: dragging the bar down shrinks it to a 120-pixel square and dragging up gives it back. Shipped in v1.83.0.</a:t>
            </a:r>
          </a:p>
          <a:p/>
          <a:p>
            <a:r>
              <a:t>In v1.85.0, the portrait and its frame stay centered over the complete Mic-to-Send row. Views → Canvas can give the chat the full width; Views → Reset layout restores both panes and docks the portrait while keeping the document, draft and context.</a:t>
            </a:r>
          </a:p>
          <a:p/>
          <a:p>
            <a:r>
              <a:t>Drag or type: Pointer, arrows, Shift+arrows, Home and End move the divider.</a:t>
            </a:r>
          </a:p>
          <a:p/>
          <a:p>
            <a:r>
              <a:t>Undocked: The message box can shrink to its own action buttons.</a:t>
            </a:r>
          </a:p>
          <a:p/>
          <a:p>
            <a:r>
              <a:t>Docked: A centered portrait above Mic through Send, down to a 120-pixel square.</a:t>
            </a:r>
          </a:p>
          <a:p/>
          <a:p>
            <a:r>
              <a:t>Small windows: The box scrolls itself; dialogs stay inside the window.</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message card has Drop beside Copy, for your prompts and Tlamatini's answers.</a:t>
            </a:r>
          </a:p>
          <a:p/>
          <a:p>
            <a:r>
              <a:t>Press Drop and read the themed confirmation. Cancel starts focused, so Enter cancels by default. The red Drop button confirms deletion. Escape and the close button also cancel. The saved message disappears from the chat and the database history used for future requests.</a:t>
            </a:r>
          </a:p>
          <a:p/>
          <a:p>
            <a:r>
              <a:t>The other messages stay. Dropping only a prompt leaves its answer; dropping only an answer leaves its prompt. Remove both cards to remove the exchange. A user prompt also takes its directly following Referenced Rephrase rows, so a reload cannot show those duplicate words.</a:t>
            </a:r>
          </a:p>
          <a:p/>
          <a:p>
            <a:r>
              <a:t>Connected tabs for the same user remove the saved cards after the server confirms. A status, error or retry card without a saved message id only disappears from the current screen. The connection refuses Drop while it is answering, and a disconnected chat asks you to reconnect.</a:t>
            </a:r>
          </a:p>
          <a:p/>
          <a:p>
            <a:r>
              <a:t>Choose: Drop sits beside Copy on both user and assistant message cards.</a:t>
            </a:r>
          </a:p>
          <a:p/>
          <a:p>
            <a:r>
              <a:t>Confirm: Cancel starts focused. Red Drop confirms; Escape and close cancel.</a:t>
            </a:r>
          </a:p>
          <a:p/>
          <a:p>
            <a:r>
              <a:t>Remove: Delete the saved message from chat history. Its paired prompt or answer stays.</a:t>
            </a:r>
          </a:p>
          <a:p/>
          <a:p>
            <a:r>
              <a:t>Continue: The next request reads the updated history without a reconnect.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Deleting a chat card changes future conversation context. Separate saved notes and completed work remain.</a:t>
            </a:r>
          </a:p>
          <a:p/>
          <a:p>
            <a:r>
              <a:t>Each request reloads up to eight newest AgentMessage rows through DBChatHistoryLoader, then filters status and rephrase content. No cached conversation summary or LangGraph checkpoint needs clearing. Removing a row lets the window reach an older row when one exists.</a:t>
            </a:r>
          </a:p>
          <a:p/>
          <a:p>
            <a:r>
              <a:t>An enabled External MCP memory tool stores notes separately from AgentMessage. Drop does not erase that knowledge graph; ask Tlamatini to forget the saved note too. Retained messages may also repeat a fact from a deleted card, so Drop is not a guarantee of complete forgetting.</a:t>
            </a:r>
          </a:p>
          <a:p/>
          <a:p>
            <a:r>
              <a:t>Files created, messages sent, agent runs and Exec Report rows remain real completed work. Dropping their prompt or answer cannot undo those effects. A Create Flow button belongs to its answer card and disappears with it, so download a needed .flw before deleting the card.</a:t>
            </a:r>
          </a:p>
          <a:p/>
          <a:p>
            <a:r>
              <a:t>History: Every request reloads a window of up to eight newest database rows.</a:t>
            </a:r>
          </a:p>
          <a:p/>
          <a:p>
            <a:r>
              <a:t>Saved notes: External MCP memory is separate. Ask her to forget its note too.</a:t>
            </a:r>
          </a:p>
          <a:p/>
          <a:p>
            <a:r>
              <a:t>Other messages: The paired answer or prompt stays and may repeat the same information.</a:t>
            </a:r>
          </a:p>
          <a:p/>
          <a:p>
            <a:r>
              <a:t>Completed work: Files and sent messages remain. Save a needed flow before dropping its card.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microphone captures first; no model tool-selection step stands between the click and recording.</a:t>
            </a:r>
          </a:p>
          <a:p/>
          <a:p>
            <a:r>
              <a:t>Click Mic beside Send, wait for Listening, and speak into the microphone on the Tlamatini host. Real input level, elapsed time and the silence countdown stay in the chat. After the configured silence window (shipped default 3.5 seconds), recognition runs and the text is appended to the existing draft. Config &gt; Mic selects automatic normal-form submission or an editable draft for manual Send.</a:t>
            </a:r>
          </a:p>
          <a:p/>
          <a:p>
            <a:r>
              <a:t>Review mode starts no task until Send. A second click or Escape cancels; empty or failed recognition sends nothing. Current modes and permission behavior remain in force. The avatar acknowledges dispatch through browser speech and respects Silent mode.</a:t>
            </a:r>
          </a:p>
          <a:p/>
          <a:p>
            <a:r>
              <a:t>Click: Direct Whisperer start; the host microphone opens only for a recording.</a:t>
            </a:r>
          </a:p>
          <a:p/>
          <a:p>
            <a:r>
              <a:t>Listen: Live samples drive the in-chat indicator and the configured silence gate.</a:t>
            </a:r>
          </a:p>
          <a:p/>
          <a:p>
            <a:r>
              <a:t>Recognize: Local faster-whisper or the explicitly configured cloud speech engine.</a:t>
            </a:r>
          </a:p>
          <a:p/>
          <a:p>
            <a:r>
              <a:t>Send or review: Submit once with current modes, or review the editable draft and press Send yourself.</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Choose automatic Send or an editable draft, using the same dialog style as the rest of Tlamatini.</a:t>
            </a:r>
          </a:p>
          <a:p/>
          <a:p>
            <a:r>
              <a:t>The button label is Mic. Config &gt; Mic follows Voice and controls what happens after recognition. Send automatically is the default. Keep in the chat input restores editing without launching a task or processing acknowledgment; correct the words, then press Send.</a:t>
            </a:r>
          </a:p>
          <a:p/>
          <a:p>
            <a:r>
              <a:t>Preferences are saved in this browser for the next recording. Each recording owns a snapshot. Unset fields inherit the current Whisperer template; Reset then Save restores that inheritance. Cancel, close and Escape discard unsaved edits; outside clicks leave the dialog open. Config &gt; Voice controls avatar playback; Config &gt; Models &gt; Speech selects the recognizer.</a:t>
            </a:r>
          </a:p>
          <a:p/>
          <a:p>
            <a:r>
              <a:t>Input: Configured/default/listed host device, refresh and software gain from 0 to 300%.</a:t>
            </a:r>
          </a:p>
          <a:p/>
          <a:p>
            <a:r>
              <a:t>Sound gate: Silence 0.3-20 seconds, cap 5-600 seconds, adaptive or manual sensitivity.</a:t>
            </a:r>
          </a:p>
          <a:p/>
          <a:p>
            <a:r>
              <a:t>Recognition: Language, English translation, capture rate/channels, local beam size and VAD.</a:t>
            </a:r>
          </a:p>
          <a:p/>
          <a:p>
            <a:r>
              <a:t>Guardrails: Validate settings before capture; removed or ambiguous saved devices cannot silently change inputs.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Developer visibility requirements do not become additional product windows.</a:t>
            </a:r>
          </a:p>
          <a:p/>
          <a:p>
            <a:r>
              <a:t>The authenticated same-origin /ws/chat-voice/ connection prepares one resident worker per web process. Source/carried Python runs chat_worker.py; the frozen Django process stays free of the speech ML stack. A private token-authenticated loopback socket carries control and result frames. Preparation does not open the microphone.</a:t>
            </a:r>
          </a:p>
          <a:p/>
          <a:p>
            <a:r>
              <a:t>No PowerShell, conhost, focus activation or console-visibility prerequisite is involved. The worker's stdout/stderr flows through agent.chat_voice_runtime into the main console/log. Failed startup and shutdown reap the child. Config reloads per job; compatible models are cached, and late cancelled results cannot submit.</a:t>
            </a:r>
          </a:p>
          <a:p/>
          <a:p>
            <a:r>
              <a:t>UI ownership: The composer displays recording and transcription; no second console.</a:t>
            </a:r>
          </a:p>
          <a:p/>
          <a:p>
            <a:r>
              <a:t>Configuration: Model/template inheritance plus validated, per-recording Mic capture overrides.</a:t>
            </a:r>
          </a:p>
          <a:p/>
          <a:p>
            <a:r>
              <a:t>Boundary: The direct button is input, not a wrapped tool or an Exec Report row.</a:t>
            </a:r>
          </a:p>
          <a:p/>
          <a:p>
            <a:r>
              <a:t>Release: Ship consumer/runtime/settings modules, carried validator and worker, Mic JS/CSS and template.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Dated source checks are evidence, not a claim that an older installer contains the change.</a:t>
            </a:r>
          </a:p>
          <a:p/>
          <a:p>
            <a:r>
              <a:t>On September 27, 2026, 108 voice regressions and 42 existing dialog-theme tests passed. The worker refreshed 16 host inputs and restarted twice without extra windows or focus changes. Earlier real host capture yielded samples in 297 ms after direct start; cancellation and normal worker exit were observed. Two startup/shutdown cycles created no additional visible windows and left foreground focus unchanged.</a:t>
            </a:r>
          </a:p>
          <a:p/>
          <a:p>
            <a:r>
              <a:t>The updated headed-browser suite passed 62 controlled-transport checks, including both modes, settings persistence, shared control styles and narrow layouts. Earlier cached recognition of a 5.768-second synthetic speech file took 0.203 seconds, versus 11.094 seconds on first decode. These are separate observations, not end-to-end latency guarantees. No new live Ollama task or rebuilt installer was certified by those checks.</a:t>
            </a:r>
          </a:p>
          <a:p/>
          <a:p>
            <a:r>
              <a:t>Current source: 108 voice regressions, 42 theme tests and real worker metadata/lifecycle probes.</a:t>
            </a:r>
          </a:p>
          <a:p/>
          <a:p>
            <a:r>
              <a:t>Browser evidence: 62 headed checks with controlled transport; separate from live ASR.</a:t>
            </a:r>
          </a:p>
          <a:p/>
          <a:p>
            <a:r>
              <a:t>Limits: Cold model loading, provider latency and hardware vary; no zero-latency promise.</a:t>
            </a:r>
          </a:p>
          <a:p/>
          <a:p>
            <a:r>
              <a:t>Detailed guide: docs/chat-microphone-design.md records configuration, protocol and evidence.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Views controls the workspace, Panels opens the flow editors, and Config holds settings.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USAGE follows the shared dialog theme and remains available during a long answer.</a:t>
            </a:r>
          </a:p>
          <a:p/>
          <a:p>
            <a:r>
              <a:t>Open About → Usage, then choose Cloud credits, Chat activity or Models. The first tab reads the configured Ollama account; the other views identify measured main-chat activity for the signed-in Tlamatini user. Recording begins with this feature and does not reconstruct earlier history or include child agents and other applications.</a:t>
            </a:r>
          </a:p>
          <a:p/>
          <a:p>
            <a:r>
              <a:t>The desktop dialog is 80vw by 74dvh, capped at 1440 pixels wide: at most 59.2% of the client area. Narrow screens use 94vw by 63dvh. Text follows normal dialog sizing, buttons have clear borders and the body scrolls between fixed controls. Fractional displays have at most two decimal places. Colored bars offer keyboard-focus and pointer tooltips plus exact tables.</a:t>
            </a:r>
          </a:p>
          <a:p/>
          <a:p>
            <a:r>
              <a:t>Cloud credits: Reported balance, monthly usage, allowance and refill weeks/date.</a:t>
            </a:r>
          </a:p>
          <a:p/>
          <a:p>
            <a:r>
              <a:t>Chat activity: Your measured calls, input/output tokens and daily trends.</a:t>
            </a:r>
          </a:p>
          <a:p/>
          <a:p>
            <a:r>
              <a:t>Models: Recorded model activity and peak UTC dates; server inventory alongside it.</a:t>
            </a:r>
          </a:p>
          <a:p/>
          <a:p>
            <a:r>
              <a:t>While busy: Open and refresh without interrupting the model request.</a:t>
            </a:r>
          </a:p>
          <a:p/>
          <a:p>
            <a:r>
              <a:t>Normal size: Under 60% client area; ordinary typography and clear buttons.</a:t>
            </a:r>
          </a:p>
          <a:p/>
          <a:p>
            <a:r>
              <a:t>Accessible: Keyboard tabs, chart tooltips, focus trap and normal Escape/Close behavior.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Monthly credits, rolling cloud usage and recorded local activity answer different questions.</a:t>
            </a:r>
          </a:p>
          <a:p/>
          <a:p>
            <a:r>
              <a:t>The authoritative /api/balance response supplies included allowance and remaining balance, purchased credits and the UTC refill period. Used credits equal allowance minus included balance; total available adds purchased credits only when both values are reported. Plan names never supply an assumed allowance. Refill weeks/date come from the returned period, not an assumed 30-day cycle.</a:t>
            </a:r>
          </a:p>
          <a:p/>
          <a:p>
            <a:r>
              <a:t>Cloud /api/usage supplies rolling 7/30-day history, including today's partial UTC day. That spend is not monthly credits used. Cached input is already part of input. The local ledger's 7/30 calendar dates include today and have a narrower measurement scope.</a:t>
            </a:r>
          </a:p>
          <a:p/>
          <a:p>
            <a:r>
              <a:t>Ollama's documented API does not yet expose the website's full per-model history or individual purchased-credit expiries. The dialog links to Ollama Usage for website-only details. Missing fields are explained, never replaced with invented values. Balances follow the configured server account, which can differ from the user's website login.</a:t>
            </a:r>
          </a:p>
          <a:p/>
          <a:p>
            <a:r>
              <a:t>Monthly balance: Actual included and purchased credits from /api/balance.</a:t>
            </a:r>
          </a:p>
          <a:p/>
          <a:p>
            <a:r>
              <a:t>Rolling history: 7/30-day cloud spend and tokens; separate from the billing period.</a:t>
            </a:r>
          </a:p>
          <a:p/>
          <a:p>
            <a:r>
              <a:t>Local model graphs: Measured Tlamatini main-chat activity, not website-wide history.</a:t>
            </a:r>
          </a:p>
          <a:p/>
          <a:p>
            <a:r>
              <a:t>Refresh: Healthy data is cached 60 s; a brief outage is retried after 15 s.</a:t>
            </a:r>
          </a:p>
          <a:p/>
          <a:p>
            <a:r>
              <a:t>Missing data: Explain unavailable or stale values; no guessed balance or token count.</a:t>
            </a:r>
          </a:p>
          <a:p/>
          <a:p>
            <a:r>
              <a:t>References: docs.ollama.com/api/balance and /api/cloud-usage; docs/usage-dashboard.md.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response shape selects the layout; a plan label is not a credit entitlement.</a:t>
            </a:r>
          </a:p>
          <a:p/>
          <a:p>
            <a:r>
              <a:t>Free, Pro and Max accounts with monthly balance fields use credit cards. Legacy session and weekly responses use reported remaining percentages and reset times; unsupported cost and token fields are omitted. Purchased-only responses display only the supplied balance. A zero monthly allowance does not produce an invented percentage.</a:t>
            </a:r>
          </a:p>
          <a:p/>
          <a:p>
            <a:r>
              <a:t>As checked on October 10, 2026, Ollama lists Free, Pro, Max, Team and Enterprise, with no cloud plan named Unlimited. Unlimited local execution is a different claim. Team balances are shared, while this adapter requests default member usage, not administrator team scope. Commercial terms remain at ollama.com/pricing; they are not hardcoded into the dialog.</a:t>
            </a:r>
          </a:p>
          <a:p/>
          <a:p>
            <a:r>
              <a:t>Monthly: Returned allowance, balance, purchased credits and reset period.</a:t>
            </a:r>
          </a:p>
          <a:p/>
          <a:p>
            <a:r>
              <a:t>Legacy: Remaining session/weekly percentages; no guessed dollar conversion.</a:t>
            </a:r>
          </a:p>
          <a:p/>
          <a:p>
            <a:r>
              <a:t>Purchased only: Only the reported purchased balance; no invented included quota.</a:t>
            </a:r>
          </a:p>
          <a:p/>
          <a:p>
            <a:r>
              <a:t>Free or zero: Report actual data and omit percentages when allowance is zero.</a:t>
            </a:r>
          </a:p>
          <a:p/>
          <a:p>
            <a:r>
              <a:t>Team: Shared credit balance is distinct from member-scoped usage.</a:t>
            </a:r>
          </a:p>
          <a:p/>
          <a:p>
            <a:r>
              <a:t>Unlimited label: Never interpreted as unlimited cloud credits.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Drag any of the 86 agent types onto the canvas, connect output triangles to input triangles, configure each node, validate, and press Start.</a:t>
            </a:r>
          </a:p>
          <a:p/>
          <a:p>
            <a:r>
              <a:t>Agents run as separate, log-emitting processes that talk through their config.yaml files, with a live LED for each. Flows can be paused, resumed and stopped, and saved or loaded as .flw files. FlowCreator can design a flow from a sentence, and FlowHypervisor watches a running flow and raises an alert when something looks wrong.</a:t>
            </a:r>
          </a:p>
          <a:p/>
          <a:p>
            <a:r>
              <a:t>Since v1.70.0 the canvas is a real editor. Duplicate copies agents together with their saved settings and the connections between them; Undo also restores an agent's configuration. Editing locks while a flow runs, so a flow is never changed underneath its own processes.</a:t>
            </a:r>
          </a:p>
          <a:p/>
          <a:p>
            <a:r>
              <a:t>Undo and Redo: Up to 1,024 steps, configuration included.</a:t>
            </a:r>
          </a:p>
          <a:p/>
          <a:p>
            <a:r>
              <a:t>Duplicate: Copies settings and internal connections.</a:t>
            </a:r>
          </a:p>
          <a:p/>
          <a:p>
            <a:r>
              <a:t>Zoom: 25 to 200 percent, and Fit.</a:t>
            </a:r>
          </a:p>
          <a:p/>
          <a:p>
            <a:r>
              <a:t>Agent search: Filters the 86 agent types by name.</a:t>
            </a:r>
          </a:p>
          <a:p/>
          <a:p>
            <a:r>
              <a:t>Starters: Locates each Starter on a large canvas.</a:t>
            </a:r>
          </a:p>
          <a:p/>
          <a:p>
            <a:r>
              <a:t>Help: Explains every gesture; • marks unsaved changes.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Prompt Flow Panel turns a chain of prompts into a diagram of eight executable operations plus static review notes, saved as a portable .fpmt file and played against your configured models.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Validate checks the diagram, Play runs it, and every run keeps its own conversation, embeddings and cancellation identity, so it never disturbs your chat.</a:t>
            </a:r>
          </a:p>
          <a:p/>
          <a:p>
            <a:r>
              <a:t>Write {{last_output}} to pass the previous answer forward. Decisions compare strings — contains, does not contain, equals, empty, with optional case matching — and never evaluate expressions from a file. Cycles are allowed and bounded by a maximum number of executed operations, 500 by default and up to 5,000.</a:t>
            </a:r>
          </a:p>
          <a:p/>
          <a:p>
            <a:r>
              <a:t>The running figure lights up and traversed connections are highlighted. Pause lets the current operation finish and holds the next; Stop drains the running worker before another run may start. Opening a file never runs it, and a User Commentary note never runs at all.</a:t>
            </a:r>
          </a:p>
          <a:p/>
          <a:p>
            <a:r>
              <a:t>Feed embeddings requires a real vector store. A provider error cannot become success through the chat stack's prompt-only fallback, including with tools enabled. The flow reports failure before its next operation and keeps any previously accepted context.</a:t>
            </a:r>
          </a:p>
          <a:p/>
          <a:p>
            <a:r>
              <a:t>Format: JSON tlamatini-prompting-flow, version 2; version 1 files migrate.</a:t>
            </a:r>
          </a:p>
          <a:p/>
          <a:p>
            <a:r>
              <a:t>Limits: 5 MiB, 500 assets, 1,000 connections.</a:t>
            </a:r>
          </a:p>
          <a:p/>
          <a:p>
            <a:r>
              <a:t>Isolation: Empty history and embeddings at every start.</a:t>
            </a:r>
          </a:p>
          <a:p/>
          <a:p>
            <a:r>
              <a:t>Validation: Checked in the browser and again on the server.</a:t>
            </a:r>
          </a:p>
          <a:p/>
          <a:p>
            <a:r>
              <a:t>Not .pmt: Plain-text system prompts keep .pmt and are refused.</a:t>
            </a:r>
          </a:p>
          <a:p/>
          <a:p>
            <a:r>
              <a:t>Drafts: Kept per user in browser storage.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 Commentary is a review note on the canvas. User Input is the operation that pauses playback for a reply, using the notched figure.</a:t>
            </a:r>
          </a:p>
          <a:p/>
          <a:p>
            <a:r>
              <a:t>Double-click a bubble or press Enter to write directly in it. Select words or paragraphs, then use the floating mini toolbar for font, size, text color, bold, italic and underline. For example, one bubble can have a large Verdana heading, an italic Arial sentence and a Georgia paragraph. With only a caret, formatting applies to subsequent typing. Outside editing, it applies to the whole selected note. Bubble color and alignment affect the note.</a:t>
            </a:r>
          </a:p>
          <a:p/>
          <a:p>
            <a:r>
              <a:t>Drag any of the eight borders or corners to resize, even while writing. The handles also accept arrow keys. Fit text removes spare height, and the bubble grows to contain all wrapped text. There are no internal scrollbars, numeric size fields or commentary configuration dialogs.</a:t>
            </a:r>
          </a:p>
          <a:p/>
          <a:p>
            <a:r>
              <a:t>Done or Ctrl+Enter saves the complete edit. Cancel or Escape restores its original text, styles, dimensions and position. Ctrl+Z/Y works inside the editor. Completed edits, moves, resizes and duplicates participate in the diagram's Undo/Redo. Copying between comment editors preserves formatting. External clipboard text stays literal.</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2 .fpmt files retain independent notes with their full text, formatting and geometry.</a:t>
            </a:r>
          </a:p>
          <a:p/>
          <a:p>
            <a:r>
              <a:t>Each note stores allowlisted text runs plus matching literal text. Runs carry font, size, text color, bold, italic and underline. Older plain version 2 notes normalize to one run. Version 1 executable commentary migrates to User Input with its identifiers, connections, settings and reply/cancellation behavior intact. Opening a file never starts playback.</a:t>
            </a:r>
          </a:p>
          <a:p/>
          <a:p>
            <a:r>
              <a:t>A note has no connection ports or Start state and never enters model context, conversation history or playback step counts. Tokens such as {{last_output}} and HTML-like text remain literal in a comment. Several independently styled notes can share a diagram.</a:t>
            </a:r>
          </a:p>
          <a:p/>
          <a:p>
            <a:r>
              <a:t>The per-user browser draft keeps the existing .draft.v1 key for compatibility. Portable files retain the .fpmt extension. The similarly named .pmt files belong to system prompts and remain a separate format. Limits are 5 MiB per flow, 500 assets, 1,000 connections, 100,000 characters and 10,000 formatted runs per note.</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shipped file associations open .flw agent flows and .fpmt prompting flows. Opening never runs them.</a:t>
            </a:r>
          </a:p>
          <a:p/>
          <a:p>
            <a:r>
              <a:t>The main chat routes both formats into their own editor tabs and keeps its current document. An external file launch validates a bounded snapshot and reuses a matching running server before any database startup work. A cold launch starts the application on its configured port.</a:t>
            </a:r>
          </a:p>
          <a:p/>
          <a:p>
            <a:r>
              <a:t>Login returns to the requested file. Short-lived, single-use opening links carry a random token rather than a filesystem path; browser uploads are bound to the signed-in user. Invalid formats, unsupported versions and files over 5 MiB are rejected before replacement.</a:t>
            </a:r>
          </a:p>
          <a:p/>
          <a:p>
            <a:r>
              <a:t>Unsaved diagrams and recovered drafts require confirmation. Rich commentary runs retain their fonts, styles and layout through .fpmt save/open. Agent-flow opening now awaits validation and session preparation; failed credential redaction blocks unsafe .flw downloads.</a:t>
            </a:r>
          </a:p>
          <a:p/>
          <a:p>
            <a:r>
              <a:t>From chat: Open either flow in its editor and keep the chat document.</a:t>
            </a:r>
          </a:p>
          <a:p/>
          <a:p>
            <a:r>
              <a:t>From Windows: Start once or reuse the running app; return through login.</a:t>
            </a:r>
          </a:p>
          <a:p/>
          <a:p>
            <a:r>
              <a:t>Preserve work: Validate before replacement; confirm unsaved changes.</a:t>
            </a:r>
          </a:p>
          <a:p/>
          <a:p>
            <a:r>
              <a:t>No automatic run: Opening prepares the diagram. Play remains a user action.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Per-user associations, installation ownership and Windows default-app choices.</a:t>
            </a:r>
          </a:p>
          <a:p/>
          <a:p>
            <a:r>
              <a:t>A shared PowerShell helper registers .flw and .fpmt with separate ProgIDs, friendly names, icons, Open With entries and Default Apps capabilities. Status reports the current registration; DefaultApps opens Windows Settings so the user can choose a default.</a:t>
            </a:r>
          </a:p>
          <a:p/>
          <a:p>
            <a:r>
              <a:t>Installation registers both formats. Update Repair preserves explicit unregistration and never takes another installation's owned entry. Removal deletes only this installation's values, preserving Windows UserChoice and other applications' Open With entries. Historical .flw wrappers cover both formats so existing installer/uninstaller binaries remain compatible.</a:t>
            </a:r>
          </a:p>
          <a:p/>
          <a:p>
            <a:r>
              <a:t>The scripts and opening modules are included in frozen and self-modify packaging. Native registry checks use an isolated test key, and visible Chrome tests exercise real file opening and login. The October 4 release campaign also rebuilt local main and uninstaller executables. The work was committed to main that day and is carried by the v1.76.0 tag; compiled acceptance is recorded separately from source tests. See docs/windows-flow-files.md for commands, contracts and verification.</a:t>
            </a:r>
          </a:p>
          <a:p/>
          <a:p>
            <a:r>
              <a:t>Install: Register both types with names, icons and the correct editor destinations.</a:t>
            </a:r>
          </a:p>
          <a:p/>
          <a:p>
            <a:r>
              <a:t>Administer: Inspect Status, register or remove one type, or open Default Apps.</a:t>
            </a:r>
          </a:p>
          <a:p/>
          <a:p>
            <a:r>
              <a:t>Update: Repair owned entries without undoing the user's opt-out.</a:t>
            </a:r>
          </a:p>
          <a:p/>
          <a:p>
            <a:r>
              <a:t>Uninstall: Remove owned registrations; keep other apps and user documents.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Confirmation, installation ownership, retryable errors and preserved user content.</a:t>
            </a:r>
          </a:p>
          <a:p/>
          <a:p>
            <a:r>
              <a:t>The real installer registration failure came from an omitted InstallDir whose parameter default evaluated before Windows PowerShell populated PSScriptRoot. The wrappers now resolve that default inside the script. Fresh powershell.exe -File tests exercise the same entry point from an unrelated working directory.</a:t>
            </a:r>
          </a:p>
          <a:p/>
          <a:p>
            <a:r>
              <a:t>The uninstaller first requires the main application to close. After confirmation it stops workers belonging to the selected installation and their descendants. Exact path boundaries, creation times and inherited TLAMATINI_AGENTS_ROOT identify agent children even after reparenting; unrelated processes and Explorer remain running.</a:t>
            </a:r>
          </a:p>
          <a:p/>
          <a:p>
            <a:r>
              <a:t>A temporary independent copy allows the installed uninstaller itself to be removed. Helpers and the installation marker remain until file and owned-registry removal succeed, so a partial failure can be retried. Locked files and denied registry deletion report failure. Drive roots, shared folders, source checkouts and redirected targets are rejected.</a:t>
            </a:r>
          </a:p>
          <a:p/>
          <a:p>
            <a:r>
              <a:t>Since v1.76.0, when Windows still holds Uninstaller.exe itself, the file is retried, moved aside and removed by a hidden cleanup after the uninstaller exits, so the uninstall finishes cleanly.</a:t>
            </a:r>
          </a:p>
          <a:p/>
          <a:p>
            <a:r>
              <a:t>Agents and nonempty user-content directories remain under the existing preservation contract. A full directory/registry reset is a separate authorized action. Verification distinguishes real compiled GUI outcomes from backend tests and records any blocked native launch explicitly.</a:t>
            </a:r>
          </a:p>
          <a:p/>
          <a:p>
            <a:r>
              <a:t>Installer entry points: Resolve the installation directory inside PowerShell script bodies.</a:t>
            </a:r>
          </a:p>
          <a:p/>
          <a:p>
            <a:r>
              <a:t>Owned workers: Stop this installation's agents and surviving descendants after confirmation.</a:t>
            </a:r>
          </a:p>
          <a:p/>
          <a:p>
            <a:r>
              <a:t>Honest retry: Retain removal support until success; report locked files and registry errors.</a:t>
            </a:r>
          </a:p>
          <a:p/>
          <a:p>
            <a:r>
              <a:t>Preserve user work: Keep agents and nonempty content; notify the shell without restarting Explorer.</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Installer and Uninstaller share one window that prepares a recovery copy before changing anything.</a:t>
            </a:r>
          </a:p>
          <a:p/>
          <a:p>
            <a:r>
              <a:t>Both executables use one setup window: Tlamatini's palette, keyboard controls, a destination and review page, real progress and result details that stay on screen. The action row is its own window row, so buttons are never clipped, and large fonts or long paths scroll the body. Errors stay in the window with Retry and Change folder, and every run writes a private log under %LOCALAPPDATA%\Tlamatini\SetupLogs.</a:t>
            </a:r>
          </a:p>
          <a:p/>
          <a:p>
            <a:r>
              <a:t>Before installation or removal changes a file, a recovery copy is prepared and verified; its journal lives in the installation's Temp folder, and the next run restores an interrupted transaction first. A failed restoration is reported, never presented as a rollback. A locked file gets a five-second retry and is then named with the program holding it, which is never closed for you. Only Tlamatini's own registry values and Desktop shortcut are snapshotted.</a:t>
            </a:r>
          </a:p>
          <a:p/>
          <a:p>
            <a:r>
              <a:t>These are custom EXE recovery mechanics, not MSI transactions. In the visible October 11-12 campaign 52 interface checkpoints, 28 recovery checks, 21 lifecycle checks and 61 mechanics tests passed; five real installations and four real removals passed their independent audits. The fifth removal stopped safely before deleting anything, because a test browser held a file in the installation's Temp folder.</a:t>
            </a:r>
          </a:p>
          <a:p/>
          <a:p>
            <a:r>
              <a:t>One window: Shared Installer and Uninstaller screens that never clip their buttons.</a:t>
            </a:r>
          </a:p>
          <a:p/>
          <a:p>
            <a:r>
              <a:t>Recovery copy: Prepared and verified before any file changes; restored after an interruption.</a:t>
            </a:r>
          </a:p>
          <a:p/>
          <a:p>
            <a:r>
              <a:t>Named locks: A locked file and its holder are named; nothing is force-closed.</a:t>
            </a:r>
          </a:p>
          <a:p/>
          <a:p>
            <a:r>
              <a:t>Own scope: Only Tlamatini's registry values and shortcut; never UserChoice.</a:t>
            </a:r>
          </a:p>
          <a:p/>
          <a:p>
            <a:r>
              <a:t>Bounded helpers: PowerShell helpers end within 120 seconds inside a Windows job.</a:t>
            </a:r>
          </a:p>
          <a:p/>
          <a:p>
            <a:r>
              <a:t>Honest tally: Five installations and four removals passed; one stopped safely.</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October 4 repairs, now carried by v1.76.0, have separate source, frozen, package and visual evidence.</a:t>
            </a:r>
          </a:p>
          <a:p/>
          <a:p>
            <a:r>
              <a:t>The visible campaign checks the actual installer, Windows associations, authenticated file opening, administration, main chat and both flow panels. It also compares several rich comments across repeated file writes and reads, executes local agents, and audits owned workers after shutdown. A configuration dialog opening is not proof that a hardware or external-service agent executed successfully.</a:t>
            </a:r>
          </a:p>
          <a:p/>
          <a:p>
            <a:r>
              <a:t>System-Metrics and Files-Search now honor the effective configuration and nondefault ports, including UTF-8 BOM files. The path-security and chat-chain readers accept the same encoding without weakening directory boundaries. Both auxiliary context chains use the same effective paths and endpoints; system sockets close after each request and file RPCs have deadlines. Parametrizer restores connections when a saved file contains mappings without explicit connection lists. Model-free agents avoid unrelated model-setting reads. Numeric messaging identifiers keep the same string/integer contract in public and keyed templates.</a:t>
            </a:r>
          </a:p>
          <a:p/>
          <a:p>
            <a:r>
              <a:t>A rejected embedding request must fail the flow before its next operation. The campaign's provider returned HTTP 401; this is recorded as a blocked capability with a tested failure path. The desktop-control tool also blocked the compiled uninstaller launch. Backend cleanup tests do not certify its unobserved native confirmation and completion screens.</a:t>
            </a:r>
          </a:p>
          <a:p/>
          <a:p>
            <a:r>
              <a:t>Detailed results and retained failed attempts are in docs/changes/2026-10-04-release-validation.md. The review profile requested by Angela lists each changed file and code segment. The work was committed on October 4 and is carried by the v1.76.0 tag.</a:t>
            </a:r>
          </a:p>
          <a:p/>
          <a:p>
            <a:r>
              <a:t>Real user paths: Installer, login, Admin, chat, both panels and Windows file opening.</a:t>
            </a:r>
          </a:p>
          <a:p/>
          <a:p>
            <a:r>
              <a:t>File fidelity: Mixed styles, geometry and rendered text checked across save/open cycles.</a:t>
            </a:r>
          </a:p>
          <a:p/>
          <a:p>
            <a:r>
              <a:t>Runtime boundaries: Configured MCP endpoints, agent defaults, mappings and identifier types.</a:t>
            </a:r>
          </a:p>
          <a:p/>
          <a:p>
            <a:r>
              <a:t>Explicit limits: Provider failure and blocked native launch remain visible in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Drag the horizontal divider above Run output to give it 5% to 95% of the available pane height.</a:t>
            </a:r>
          </a:p>
          <a:p/>
          <a:p>
            <a:r>
              <a:t>The percentage uses the combined canvas and output height, excluding headers, the status strip and the divider. The initial allocation is 20%. The canvas and Run output each keep their own scrollbar. Moving the divider preserves canvas zoom, node dimensions and text size. The Operations bar keeps its separate horizontal sizing control.</a:t>
            </a:r>
          </a:p>
          <a:p/>
          <a:p>
            <a:r>
              <a:t>Tab to the divider and use Up/Down for one percentage point, or Shift+Up/Down for five. Home selects 5% and End selects 95%. Escape ends a drag. Click the Run output heading to collapse it. Reopening restores the chosen height, and resizing the window retains the ratio.</a:t>
            </a:r>
          </a:p>
          <a:p/>
          <a:p>
            <a:r>
              <a:t>The browser remembers the output height per signed-in user. This layout preference does not modify a flow file, mark the diagram as edited or add an Undo step. Resizing the panel also leaves the run and its output unchanged.</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Catalog of Prompts opens with 16 sections, each beginning with a guided Step-by-Step wizard and growing from simple to advanced.</a:t>
            </a:r>
          </a:p>
          <a:p/>
          <a:p>
            <a:r>
              <a:t>Sections: Voice Commands, Getting Started, Files &amp; Search, Run &amp; Execute, Code &amp; Project Generation, Documents &amp; PDF, Images &amp; Vision, Agents &amp; Flows, ACPX, Skills &amp; MCPs, Desktop Automation, Games &amp; 3D, Firmware &amp; IoT, Security &amp; Recon, Messaging &amp; Contacts, Media &amp; Voice, More. VOICE COMMANDS comes first, because speaking is the shortest way to use her: you talk, Whisperer transcribes, and the transcript becomes the prompt. These catalog workflows use the model-mediated wrapped tool and their card-specific modes; they are distinct from the direct microphone button beside Send.</a:t>
            </a:r>
          </a:p>
          <a:p/>
          <a:p>
            <a:r>
              <a:t>The mode badges on each card are derived from the prompt text itself, and clicking a card sets the toolbar switches to exactly those modes. Every prompt uses one grammar, so it is always clear whose blank is whose.</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PDF beside the chat in a vendored Mozilla PDF.js viewer, then use it as context.</a:t>
            </a:r>
          </a:p>
          <a:p/>
          <a:p>
            <a:r>
              <a:t>Reading uploads nothing and calls no model: the viewer reads byte ranges straight from your disk, so there is no size or page cutoff on Tlamatini's side. Text selection, navigation, zoom, fit, rotation and in-viewer passwords behave as you expect; Copy lifts the text of every page and Save As returns the original bytes.</a:t>
            </a:r>
          </a:p>
          <a:p/>
          <a:p>
            <a:r>
              <a:t>Use as context asks one question first: Process images? It starts unticked every time, and nothing runs until you press Continue. Unticked, she reads the selectable text only. Ticked, she also renders every page and analyzes every embedded image with Image-Interpreter. Progress is honest, Cancel really cancels, and partial image failures are reported, not hidden. A PDF password is used in memory only: never written to disk, to the context text or to the log.</a:t>
            </a:r>
          </a:p>
          <a:p/>
          <a:p>
            <a:r>
              <a:t>A second account signed in from the same browser takes over every open tab, while an open chat keeps its first account, so loading is refused. Since v1.76.0 the message names that cause and the fix, reloading with F5, the header comes back and the progress dialog marks the failed step.</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or drop a .md file and the canvas renders it; Source opens the editable document.</a:t>
            </a:r>
          </a:p>
          <a:p/>
          <a:p>
            <a:r>
              <a:t>Open, Refresh, a dropped file, a generated-file link and Context ▸ Set file as context all recognise .md and .markdown. Preview renders CommonMark and GitHub-flavored Markdown: headings, tables, task lists, fenced code through the existing highlighter and safe embedded HTML such as expandable details. Source edits the current text with line numbers.</a:t>
            </a:r>
          </a:p>
          <a:p/>
          <a:p>
            <a:r>
              <a:t>Rendering is local: Marked 18.1.0 and DOMPurify 3.4.16 are vendored with pinned integrity, so nothing is fetched from a CDN. The sanitizer allowlists HTML and attributes, scopes ids and restricts resource protocols. Choose folder resolves relative images and links from files you select; they stay on your device, and a relative URL never reaches an application endpoint.</a:t>
            </a:r>
          </a:p>
          <a:p/>
          <a:p>
            <a:r>
              <a:t>Copy, Use as context and Save always take the Markdown source, never the flattened preview; Unedited saves retain original bytes; edits retain encoding/BOM and line endings. Preview shipped in v1.82.0 and was checked on October 11 with 30 of 30 visible browser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listener on every page reads each dropped file and sends it to the mechanism that fits it.</a:t>
            </a:r>
          </a:p>
          <a:p/>
          <a:p>
            <a:r>
              <a:t>Drag a file from Windows Explorer onto the chat, the Agentic Control Panel, the Prompt Flow Panel, the welcome and login pages, the admin pages or the PDF viewer. A small overlay says what will happen on that page. The listener claims only file drags, so text you drag, such as an agent name or a palette item, is never touched, and a drop on a file input is left to the browser.</a:t>
            </a:r>
          </a:p>
          <a:p/>
          <a:p>
            <a:r>
              <a:t>It decides by the bytes, not the name: the extension, the MIME type, magic numbers, a byte-order-mark aware text-or-binary test and a real JSON parse that recognises an MCP configuration in every common shape, UTF-16 files from PowerShell included. A bare map of names to servers counts only when every value is a server, so ordinary JSON is never hijacked. An MCP import is never silent: a confirmation lists the servers and warns that they can start programs on this computer.</a:t>
            </a:r>
          </a:p>
          <a:p/>
          <a:p>
            <a:r>
              <a:t>Each page tells the listener what it can do, and the same registration writes the drag overlay. Up to 25 files at a time; a folder cannot be dropped because browsers do not reveal its path. Shipped in v1.83.0 and checked on October 14 with 138 router checks, 22 new tests and 58 visible browser checks.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Models dialog exposes 38 model, engine and voice settings for the core services and 21 model-backed agents, in six searchable categories.</a:t>
            </a:r>
          </a:p>
          <a:p/>
          <a:p>
            <a:r>
              <a:t>Categories: Core 7, Vision 7, Speech 7, Workflows 6, Documents 5, Monitoring &amp; messaging 6. Save submits all values, preserves unrelated configuration and downloads nothing. Reconnect the chat to rebuild its clients; agents pick up a choice at their next configuration load. The model list comes from the configured Ollama servers, asked by the backend with their token, so a remote server's models are offered and accepted. Since v1.76.0 Save also opens the Model Brain's Auto-tuning dialog, which tunes each configured model in front of you and names the source of every value.</a:t>
            </a:r>
          </a:p>
          <a:p/>
          <a:p>
            <a:r>
              <a:t>Agent templates marked "@config" follow the global choice, while a literal value in a workflow remains an explicit override. Wrapped chat launches seed the global choices before any explicit tool argument, and the frozen build proves every model loader runs before it packages.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Chat, both panels, login, welcome, Usage, the PDF viewer and the admin pages share one identity.</a:t>
            </a:r>
          </a:p>
          <a:p/>
          <a:p>
            <a:r>
              <a:t>One set of design tokens defines the slate surfaces, teal accent, readable text, borders, fonts and scrollbars for every first-party page, including a themed Django admin that keeps its light, dark and automatic modes. Dialog colors follow the same tokens, and the dialog theme always loads last.</a:t>
            </a:r>
          </a:p>
          <a:p/>
          <a:p>
            <a:r>
              <a:t>All five pane dividers share one grip and one gesture model: pointer capture, arrows for one percent, Shift for five, Home and End, and clean cancellation on Escape, blur or a lost pointer. Resizable dialogs accept all eight edges and corners and the keyboard, and a modal can no longer slide under the expanded menu at 400 percent zoom.</a:t>
            </a:r>
          </a:p>
          <a:p/>
          <a:p>
            <a:r>
              <a:t>Shared tokens: One palette, font set and scrollbar style for every page.</a:t>
            </a:r>
          </a:p>
          <a:p/>
          <a:p>
            <a:r>
              <a:t>Five dividers: One grip, one keyboard model, one clean cancel.</a:t>
            </a:r>
          </a:p>
          <a:p/>
          <a:p>
            <a:r>
              <a:t>Dialogs: Eight resize directions, keyboard resizing, buttons that match.</a:t>
            </a:r>
          </a:p>
          <a:p/>
          <a:p>
            <a:r>
              <a:t>High zoom: A modal stays above the menu at 400 percent.</a:t>
            </a:r>
          </a:p>
          <a:p/>
          <a:p>
            <a:r>
              <a:t>Evidence: 175 source tests and visible checks passed on October 11.</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Configuration, credentials, databases and updates are handled from the browser.</a:t>
            </a:r>
          </a:p>
          <a:p/>
          <a:p>
            <a:r>
              <a:t>Access Keys Wizard: One guided place for provider keys; blank fields keep what is set.</a:t>
            </a:r>
          </a:p>
          <a:p/>
          <a:p>
            <a:r>
              <a:t>Contacts: Names resolve to addresses, phones and @usernames for messaging agents.</a:t>
            </a:r>
          </a:p>
          <a:p/>
          <a:p>
            <a:r>
              <a:t>DB menu: WAL-safe backup, and a verified database staged for the next start.</a:t>
            </a:r>
          </a:p>
          <a:p/>
          <a:p>
            <a:r>
              <a:t>External ▸ MCPs: Search the catalog, activate up to five servers, install runtimes.</a:t>
            </a:r>
          </a:p>
          <a:p/>
          <a:p>
            <a:r>
              <a:t>ACPX-Skills: Browse, enable, diagnose and reload skills.</a:t>
            </a:r>
          </a:p>
          <a:p/>
          <a:p>
            <a:r>
              <a:t>Check for updates: Stage the latest published release and swap it in safely.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Configuration, credentials, databases and updates are handled from the browser.</a:t>
            </a:r>
          </a:p>
          <a:p/>
          <a:p>
            <a:r>
              <a:t>Access Keys Wizard: One guided place for provider keys; blank fields keep what is set.</a:t>
            </a:r>
          </a:p>
          <a:p/>
          <a:p>
            <a:r>
              <a:t>Contacts: Names resolve to addresses, phones and @usernames for messaging agents.</a:t>
            </a:r>
          </a:p>
          <a:p/>
          <a:p>
            <a:r>
              <a:t>DB menu: WAL-safe backup, and a verified database staged for the next start.</a:t>
            </a:r>
          </a:p>
          <a:p/>
          <a:p>
            <a:r>
              <a:t>External ▸ MCPs: Search the catalog, activate up to five servers, install runtimes.</a:t>
            </a:r>
          </a:p>
          <a:p/>
          <a:p>
            <a:r>
              <a:t>ACPX-Skills: Browse, enable, diagnose and reload skills.</a:t>
            </a:r>
          </a:p>
          <a:p/>
          <a:p>
            <a:r>
              <a:t>Check for updates: Stage the latest published release and swap it in safely.</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IV: The Bestiary. 86 agent types in twelve families. Each is a plain-Python program you can read, audit and change.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agent follows one skeleton: a template directory, a config.yaml, a session-scoped pool copy, PID and log files, and explicit source and target wiring.</a:t>
            </a:r>
          </a:p>
          <a:p/>
          <a:p>
            <a:r>
              <a:t>67 of them also run from the chat as wrapped chat_agent_* tools, each in its own isolated runtime folder. Every wrapped agent appears in the Exec Report automatically, and each ships at least one example prompt in the catalog.</a:t>
            </a:r>
          </a:p>
          <a:p/>
          <a:p>
            <a:r>
              <a:t>Display names keep their exact designed casing — STM32er, PDFer, LaTeXer, ACPXer — while directories, pools and style classes use lowercase forms.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Begin, pause, schedule and end a flow.</a:t>
            </a:r>
          </a:p>
          <a:p/>
          <a:p>
            <a:r>
              <a:t>Starter: The entry point of every flow; launches its targets when you press Start.</a:t>
            </a:r>
          </a:p>
          <a:p/>
          <a:p>
            <a:r>
              <a:t>Ender: Ends a flow gracefully: kills its targets, then starts backups and cleaners.</a:t>
            </a:r>
          </a:p>
          <a:p/>
          <a:p>
            <a:r>
              <a:t>Stopper: Watches logs for a pattern and stops exactly those source agents.</a:t>
            </a:r>
          </a:p>
          <a:p/>
          <a:p>
            <a:r>
              <a:t>Cleaner: Post-run janitor that removes the logs and PID files of finished agents.</a:t>
            </a:r>
          </a:p>
          <a:p/>
          <a:p>
            <a:r>
              <a:t>Sleeper: Waits a configured number of milliseconds, then starts its targets.</a:t>
            </a:r>
          </a:p>
          <a:p/>
          <a:p>
            <a:r>
              <a:t>Croner: A daily clock trigger that starts its targets at a configured HH:MM.</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Decide where the flow goes next.</a:t>
            </a:r>
          </a:p>
          <a:p/>
          <a:p>
            <a:r>
              <a:t>Raiser: Fires its targets the moment a pattern appears in a watched log.</a:t>
            </a:r>
          </a:p>
          <a:p/>
          <a:p>
            <a:r>
              <a:t>Forker: Automatic A/B router: whichever of two patterns appears first picks the path.</a:t>
            </a:r>
          </a:p>
          <a:p/>
          <a:p>
            <a:r>
              <a:t>Asker: Asks you in the chat to choose Path A or Path B: a human in the loop.</a:t>
            </a:r>
          </a:p>
          <a:p/>
          <a:p>
            <a:r>
              <a:t>Counter: A persistent tally that routes below, or at and above, a threshold.</a:t>
            </a:r>
          </a:p>
          <a:p/>
          <a:p>
            <a:r>
              <a:t>AND: Two-input gate that fires once both sources have matched.</a:t>
            </a:r>
          </a:p>
          <a:p/>
          <a:p>
            <a:r>
              <a:t>OR: Two-input gate that fires as soon as either source matches.</a:t>
            </a:r>
          </a:p>
          <a:p/>
          <a:p>
            <a:r>
              <a:t>Barrier: N-input fan-in that releases once every configured source has arrived.</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Design, connect, supervise and reason.</a:t>
            </a:r>
          </a:p>
          <a:p/>
          <a:p>
            <a:r>
              <a:t>Parametrizer: Maps one agent's structured output into the next agent's configuration.</a:t>
            </a:r>
          </a:p>
          <a:p/>
          <a:p>
            <a:r>
              <a:t>FlowCreator: Designs a complete, validated .flw workflow from a plain objective.</a:t>
            </a:r>
          </a:p>
          <a:p/>
          <a:p>
            <a:r>
              <a:t>FlowHypervisor: A model watchdog that reads a running flow: OK or ATTENTION NEEDED.</a:t>
            </a:r>
          </a:p>
          <a:p/>
          <a:p>
            <a:r>
              <a:t>FlowBacker: Backs up a session's logs and configurations before clean-up.</a:t>
            </a:r>
          </a:p>
          <a:p/>
          <a:p>
            <a:r>
              <a:t>Prompter: Sends one prompt to a model and logs a structured answer.</a:t>
            </a:r>
          </a:p>
          <a:p/>
          <a:p>
            <a:r>
              <a:t>Summarizer: Summarizes text once, or watches logs and fires on a detected event.</a:t>
            </a:r>
          </a:p>
          <a:p/>
          <a:p>
            <a:r>
              <a:t>ACPXer: Runs one external coding-agent CLI turn on the canvas and captures its answer.</a:t>
            </a:r>
          </a:p>
          <a:p/>
          <a:p>
            <a:r>
              <a:t>MCP Doctor: Diagnoses an external MCP server on paper, before any live connection.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read, change and run.</a:t>
            </a:r>
          </a:p>
          <a:p/>
          <a:p>
            <a:r>
              <a:t>Executer: Runs a shell command, optionally in its own visible console.</a:t>
            </a:r>
          </a:p>
          <a:p/>
          <a:p>
            <a:r>
              <a:t>Pythonxer: Runs inline Python behind a compile() and Ruff correctness gate.</a:t>
            </a:r>
          </a:p>
          <a:p/>
          <a:p>
            <a:r>
              <a:t>Terminater: Types commands into a real CMD or PowerShell terminal the user watches, and can hand the keyboard over.</a:t>
            </a:r>
          </a:p>
          <a:p/>
          <a:p>
            <a:r>
              <a:t>Editor: Byte-exact find-and-replace in one file; refuses an ambiguous match.</a:t>
            </a:r>
          </a:p>
          <a:p/>
          <a:p>
            <a:r>
              <a:t>Grepper: Encoding-aware regex search, plus verbatim reads of a line range.</a:t>
            </a:r>
          </a:p>
          <a:p/>
          <a:p>
            <a:r>
              <a:t>Globber: Finds files by glob pattern, newest first.</a:t>
            </a:r>
          </a:p>
          <a:p/>
          <a:p>
            <a:r>
              <a:t>File-Creator: Creates a file with exact content, including a base64 channel.</a:t>
            </a:r>
          </a:p>
          <a:p/>
          <a:p>
            <a:r>
              <a:t>Mover: Moves or copies files by glob pattern.</a:t>
            </a:r>
          </a:p>
          <a:p/>
          <a:p>
            <a:r>
              <a:t>Deleter: Deletes by glob inside a guarded working directory.</a:t>
            </a:r>
          </a:p>
          <a:p/>
          <a:p>
            <a:r>
              <a:t>File-Interpreter: Reads DOCX, PPTX, XLSX, PDF and more, optionally summarizing them.</a:t>
            </a:r>
          </a:p>
          <a:p/>
          <a:p>
            <a:r>
              <a:t>File-Extractor: Extracts raw text from PDF, DOCX and similar documents.</a:t>
            </a:r>
          </a:p>
          <a:p/>
          <a:p>
            <a:r>
              <a:t>De-Compresser: Compresses or decompresses .zip, .7z, .gz and tar archives.</a:t>
            </a:r>
          </a:p>
          <a:p/>
          <a:p>
            <a:r>
              <a:t>J-Decompiler: Decompiles JAR and WAR archives with the bundled jd-cli.</a:t>
            </a:r>
          </a:p>
          <a:p/>
          <a:p>
            <a:r>
              <a:t>Gitter: Runs git operations and custom git commands.</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read, change and run.</a:t>
            </a:r>
          </a:p>
          <a:p/>
          <a:p>
            <a:r>
              <a:t>Executer: Runs a shell command, optionally in its own visible console.</a:t>
            </a:r>
          </a:p>
          <a:p/>
          <a:p>
            <a:r>
              <a:t>Pythonxer: Runs inline Python behind a compile() and Ruff correctness gate.</a:t>
            </a:r>
          </a:p>
          <a:p/>
          <a:p>
            <a:r>
              <a:t>Terminater: Types commands into a real CMD or PowerShell terminal the user watches, and can hand the keyboard over.</a:t>
            </a:r>
          </a:p>
          <a:p/>
          <a:p>
            <a:r>
              <a:t>Editor: Byte-exact find-and-replace in one file; refuses an ambiguous match.</a:t>
            </a:r>
          </a:p>
          <a:p/>
          <a:p>
            <a:r>
              <a:t>Grepper: Encoding-aware regex search, plus verbatim reads of a line range.</a:t>
            </a:r>
          </a:p>
          <a:p/>
          <a:p>
            <a:r>
              <a:t>Globber: Finds files by glob pattern, newest first.</a:t>
            </a:r>
          </a:p>
          <a:p/>
          <a:p>
            <a:r>
              <a:t>File-Creator: Creates a file with exact content, including a base64 channel.</a:t>
            </a:r>
          </a:p>
          <a:p/>
          <a:p>
            <a:r>
              <a:t>Mover: Moves or copies files by glob pattern.</a:t>
            </a:r>
          </a:p>
          <a:p/>
          <a:p>
            <a:r>
              <a:t>Deleter: Deletes by glob inside a guarded working directory.</a:t>
            </a:r>
          </a:p>
          <a:p/>
          <a:p>
            <a:r>
              <a:t>File-Interpreter: Reads DOCX, PPTX, XLSX, PDF and more, optionally summarizing them.</a:t>
            </a:r>
          </a:p>
          <a:p/>
          <a:p>
            <a:r>
              <a:t>File-Extractor: Extracts raw text from PDF, DOCX and similar documents.</a:t>
            </a:r>
          </a:p>
          <a:p/>
          <a:p>
            <a:r>
              <a:t>De-Compresser: Compresses or decompresses .zip, .7z, .gz and tar archives.</a:t>
            </a:r>
          </a:p>
          <a:p/>
          <a:p>
            <a:r>
              <a:t>J-Decompiler: Decompiles JAR and WAR archives with the bundled jd-cli.</a:t>
            </a:r>
          </a:p>
          <a:p/>
          <a:p>
            <a:r>
              <a:t>Gitter: Runs git operations and custom git commands.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Compose, typeset and present.</a:t>
            </a:r>
          </a:p>
          <a:p/>
          <a:p>
            <a:r>
              <a:t>PDFer: Composes PDFs from text, Markdown, HTML and images: 24 styles, 20 themes.</a:t>
            </a:r>
          </a:p>
          <a:p/>
          <a:p>
            <a:r>
              <a:t>PPTXer: Builds editable PowerPoint decks whose text is measured, never truncated.</a:t>
            </a:r>
          </a:p>
          <a:p/>
          <a:p>
            <a:r>
              <a:t>LaTeXer: Typesets LaTeX projects, with a self-healing eight-rung repair ladder.</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Search, browse, call and measure.</a:t>
            </a:r>
          </a:p>
          <a:p/>
          <a:p>
            <a:r>
              <a:t>Googler: Resilient two-tier web search with a structured Google-dork builder.</a:t>
            </a:r>
          </a:p>
          <a:p/>
          <a:p>
            <a:r>
              <a:t>Crawler: Fetches a page raw or as text and analyzes it with a model.</a:t>
            </a:r>
          </a:p>
          <a:p/>
          <a:p>
            <a:r>
              <a:t>Playwrighter: Drives a real browser through scripted steps: log in, fill, click, extract.</a:t>
            </a:r>
          </a:p>
          <a:p/>
          <a:p>
            <a:r>
              <a:t>Apirer: Calls REST APIs with any method, headers, body and timeout.</a:t>
            </a:r>
          </a:p>
          <a:p/>
          <a:p>
            <a:r>
              <a:t>SQLer: Runs Python against Microsoft SQL Server with a ready cursor.</a:t>
            </a:r>
          </a:p>
          <a:p/>
          <a:p>
            <a:r>
              <a:t>Mongoxer: Runs Python against MongoDB with a ready database handle.</a:t>
            </a:r>
          </a:p>
          <a:p/>
          <a:p>
            <a:r>
              <a:t>NetSpeed-Calculator: Measures your connection with confidence intervals and bufferbloat.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Containers, clusters, pipelines and hosts.</a:t>
            </a:r>
          </a:p>
          <a:p/>
          <a:p>
            <a:r>
              <a:t>Dockerer: A Docker and docker-compose front-end.</a:t>
            </a:r>
          </a:p>
          <a:p/>
          <a:p>
            <a:r>
              <a:t>Kuberneter: A kubectl front-end with a structured, truthful result.</a:t>
            </a:r>
          </a:p>
          <a:p/>
          <a:p>
            <a:r>
              <a:t>Jenkinser: Triggers Jenkins jobs, handling the CSRF crumb.</a:t>
            </a:r>
          </a:p>
          <a:p/>
          <a:p>
            <a:r>
              <a:t>SSHer: Runs a command on a remote host over SSH.</a:t>
            </a:r>
          </a:p>
          <a:p/>
          <a:p>
            <a:r>
              <a:t>SCPer: Sends or receives files over SCP.</a:t>
            </a:r>
          </a:p>
          <a:p/>
          <a:p>
            <a:r>
              <a:t>PSer: Finds a running process from a fuzzy name with a model's help.</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 analyze, assess and protect.</a:t>
            </a:r>
          </a:p>
          <a:p/>
          <a:p>
            <a:r>
              <a:t>Reviewer: Model-driven review of a git diff with an APPROVE or REQUEST_CHANGES verdict.</a:t>
            </a:r>
          </a:p>
          <a:p/>
          <a:p>
            <a:r>
              <a:t>Analyzer: Deterministic static analysis: bandit, semgrep, ruff, eslint, gitleaks, pip-audit.</a:t>
            </a:r>
          </a:p>
          <a:p/>
          <a:p>
            <a:r>
              <a:t>Kalier: Authorized Kali Linux tooling through MCP-Kali-Server.</a:t>
            </a:r>
          </a:p>
          <a:p/>
          <a:p>
            <a:r>
              <a:t>Discoverer: The ProjectDiscovery recon suite on a private, self-installing Go toolchain.</a:t>
            </a:r>
          </a:p>
          <a:p/>
          <a:p>
            <a:r>
              <a:t>Nmapper: A local, use-only nmap bridge; unprivileged connect scan by default.</a:t>
            </a:r>
          </a:p>
          <a:p/>
          <a:p>
            <a:r>
              <a:t>Kyber-KeyGen: Generates CRYSTALS-Kyber post-quantum key pairs.</a:t>
            </a:r>
          </a:p>
          <a:p/>
          <a:p>
            <a:r>
              <a:t>Kyber-Cipher: Encrypts with Kyber post-quantum cryptography.</a:t>
            </a:r>
          </a:p>
          <a:p/>
          <a:p>
            <a:r>
              <a:t>Kyber-DeCipher: Decrypts Kyber-protected data.</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boards and live editors.</a:t>
            </a:r>
          </a:p>
          <a:p/>
          <a:p>
            <a:r>
              <a:t>STM32er: STM32 firmware from Blue Pill to H7: build, flash, observe, fail-safe.</a:t>
            </a:r>
          </a:p>
          <a:p/>
          <a:p>
            <a:r>
              <a:t>ESP32er: ESP32 firmware through PlatformIO, from a template that compiles at once.</a:t>
            </a:r>
          </a:p>
          <a:p/>
          <a:p>
            <a:r>
              <a:t>Arduiner: Arduino firmware through arduino-cli, with cores installed automatically.</a:t>
            </a:r>
          </a:p>
          <a:p/>
          <a:p>
            <a:r>
              <a:t>ESPHomer: ESPHome smart-home devices from YAML, no C++ required.</a:t>
            </a:r>
          </a:p>
          <a:p/>
          <a:p>
            <a:r>
              <a:t>Unrealer: Drives a live Unreal Engine 5 editor: 53 commands in nine categories.</a:t>
            </a:r>
          </a:p>
          <a:p/>
          <a:p>
            <a:r>
              <a:t>Blenderer: Drives Blender over the official Blender MCP add-on socket.</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See the screen, move the pointer, type.</a:t>
            </a:r>
          </a:p>
          <a:p/>
          <a:p>
            <a:r>
              <a:t>Mouser: Moves and clicks in explicitly declared coordinate spaces.</a:t>
            </a:r>
          </a:p>
          <a:p/>
          <a:p>
            <a:r>
              <a:t>Keyboarder: Types Unicode into a verified foreground window.</a:t>
            </a:r>
          </a:p>
          <a:p/>
          <a:p>
            <a:r>
              <a:t>Windower: Focuses, tiles, resizes, lists and closes windows by title.</a:t>
            </a:r>
          </a:p>
          <a:p/>
          <a:p>
            <a:r>
              <a:t>Shoter: Whole-desktop screenshots with published capture geometry.</a:t>
            </a:r>
          </a:p>
          <a:p/>
          <a:p>
            <a:r>
              <a:t>Camcorder: Webcam photo or video at the camera's native resolution.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Hear, speak, play and look.</a:t>
            </a:r>
          </a:p>
          <a:p/>
          <a:p>
            <a:r>
              <a:t>Recorder: Microphone capture to WAV at the device's native sample rate.</a:t>
            </a:r>
          </a:p>
          <a:p/>
          <a:p>
            <a:r>
              <a:t>Whisperer: Speech to text that keeps listening until you stop talking.</a:t>
            </a:r>
          </a:p>
          <a:p/>
          <a:p>
            <a:r>
              <a:t>Talker: Text to speech, always in Tlamatini's female voice.</a:t>
            </a:r>
          </a:p>
          <a:p/>
          <a:p>
            <a:r>
              <a:t>AudioPlayer: Plays audio files with volume, truncate and loop control.</a:t>
            </a:r>
          </a:p>
          <a:p/>
          <a:p>
            <a:r>
              <a:t>VideoPlayer: Plays video with its audio on a chosen display.</a:t>
            </a:r>
          </a:p>
          <a:p/>
          <a:p>
            <a:r>
              <a:t>Image-Interpreter: Two vision models in parallel, merged by a third into one report.</a:t>
            </a:r>
          </a:p>
          <a:p/>
          <a:p>
            <a:r>
              <a:t>Video-Analyzer: Rules on robot motion, transcribes audio tracks, or summarizes a video.</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 people and watch systems.</a:t>
            </a:r>
          </a:p>
          <a:p/>
          <a:p>
            <a:r>
              <a:t>Notifier: Shows an in-browser notification, optionally with a sound.</a:t>
            </a:r>
          </a:p>
          <a:p/>
          <a:p>
            <a:r>
              <a:t>Emailer: Sends email over SMTP.</a:t>
            </a:r>
          </a:p>
          <a:p/>
          <a:p>
            <a:r>
              <a:t>RecMailer: Watches an IMAP mailbox for new messages.</a:t>
            </a:r>
          </a:p>
          <a:p/>
          <a:p>
            <a:r>
              <a:t>Telegrammer: Telegram as the bot or as your own account.</a:t>
            </a:r>
          </a:p>
          <a:p/>
          <a:p>
            <a:r>
              <a:t>Whatsapper: WhatsApp through Meta's Cloud API, or explicitly from your own number.</a:t>
            </a:r>
          </a:p>
          <a:p/>
          <a:p>
            <a:r>
              <a:t>TeleTlamatini: Brings the full Tlamatini chat, Multi-Turn included, into Telegram.</a:t>
            </a:r>
          </a:p>
          <a:p/>
          <a:p>
            <a:r>
              <a:t>Instant Messaging Doctor: Diagnoses and safely repairs Telegram and WhatsApp readiness.</a:t>
            </a:r>
          </a:p>
          <a:p/>
          <a:p>
            <a:r>
              <a:t>Monitor-Log: Model-powered log monitor.</a:t>
            </a:r>
          </a:p>
          <a:p/>
          <a:p>
            <a:r>
              <a:t>Monitor Netstat: Model-powered network-port monitor.</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V: Deep Capabilities. The subsystems that give her reach: other agents, other servers, documents, boards, engines and senses.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ACPX spawns external coding-agent CLIs as out-of-process children, talks to them over stdin and stdout, keeps an NDJSON transcript of every turn, and brokers it all to the model as twelve tools.</a:t>
            </a:r>
          </a:p>
          <a:p/>
          <a:p>
            <a:r>
              <a:t>14 peers are registered: claude, codex, cursor, gemini, qwen, copilot, pi, droid, iflow, kilocode, kimi, kiro, opencode, tlamatini. One-shot peers receive the prompt as a command-line argument and are read to completion; the Tlamatini self-host speaks strict JSON; interactive peers are drained by a transport-aware idle rule. ACPX is a Python port of OpenClaw's ACPX plugin, so its agent identifiers and skill contract are compatible.</a:t>
            </a:r>
          </a:p>
          <a:p/>
          <a:p>
            <a:r>
              <a:t>ACPX tells the truth about its peers. A version check is not health and exit code 0 is not success: a stdlib-only classifier decides whether a child actually delivered, and a refusal is returned as ok: false with a named code instead of a green row. acp_doctor(deep=True) sends a real one-line prompt to each peer and names what is broken.</a:t>
            </a:r>
          </a:p>
          <a:p/>
          <a:p>
            <a:r>
              <a:t>Children are never spawned through the shell, because cmd.exe silently cuts a command line at its first newline. npm and pnpm shims are rewritten to node.exe with the script path.</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Tlamatini to any MCP server declared in a JSON catalog and use its tools at once, with no code written for the server.</a:t>
            </a:r>
          </a:p>
          <a:p/>
          <a:p>
            <a:r>
              <a:t>The catalog uses the standard mcpServers shape and lives beside config.json, preserved across updates. Four transports connect — stdio, streamable HTTP, SSE and WebSocket — lazily on a background thread, so a slow server can never delay an answer. Up to five servers are active at once, and each remote tool appears as ext__&lt;server&gt;__&lt;tool&gt;.</a:t>
            </a:r>
          </a:p>
          <a:p/>
          <a:p>
            <a:r>
              <a:t>Most servers start with npx or uvx, which a fresh machine lacks. A private runtime provisioner downloads Node and uv once from their official sources into the user's profile, verifies checksums, installs atomically, needs no administrator rights and never changes the system PATH.</a:t>
            </a:r>
          </a:p>
          <a:p/>
          <a:p>
            <a:r>
              <a:t>Memory and Sequential Thinking ship in every installation, inactive. A default you delete is remembered and never resurrected; one you edit is never overwritten.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SKILL.md packages are loaded at start-up and offered to the model through list_skills and invoke_skill.</a:t>
            </a:r>
          </a:p>
          <a:p/>
          <a:p>
            <a:r>
              <a:t>Invoking an in-process skill is a planning handoff, not a hidden execution. It returns the complete procedure, the contract of outputs still owed, and an honest statement of what is enforced — argument checks, secret redaction and time budgets — and what remains declared policy, gated by the normal Configure and Ask Execs surfaces.</a:t>
            </a:r>
          </a:p>
          <a:p/>
          <a:p>
            <a:r>
              <a:t>Skills include code review, security audit, the Kali pentest runbook, flow making, skill creation, summarization, the adding-external-mcp runbook, Roblox Studio, repository audit and refactor helpers, and integration guides for GitHub, Gmail, Slack, Jira, Notion, Todoist, Trello and weather. The ACPX-Skills menu enables, diagnoses and reloads them without a restart.</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29 SKILL.md packages are loaded at start-up and offered to the model through list_skills and invoke_skill.</a:t>
            </a:r>
          </a:p>
          <a:p/>
          <a:p>
            <a:r>
              <a:t>Invoking an in-process skill is a planning handoff, not a hidden execution. It returns the complete procedure, the contract of outputs still owed, and an honest statement of what is enforced — argument checks, secret redaction and time budgets — and what remains declared policy, gated by the normal Configure and Ask Execs surfaces.</a:t>
            </a:r>
          </a:p>
          <a:p/>
          <a:p>
            <a:r>
              <a:t>Skills include code review, security audit, the Kali pentest runbook, flow making, skill creation, summarization, the adding-external-mcp runbook, Roblox Studio, repository audit and refactor helpers, and integration guides for GitHub, Gmail, Slack, Jira, Notion, Todoist, Trello and weather. The ACPX-Skills menu enables, diagnoses and reloads them without a restart.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agents produce documents, each with its own craft, and none of them calls a file clean just because it was created.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agents produce documents, each with its own craft, and none of them calls a file clean just because it was created.</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build fails, LaTeXer climbs eight rungs in a fixed order, each tried only if the one before produced no PDF.</a:t>
            </a:r>
          </a:p>
          <a:p/>
          <a:p>
            <a:r>
              <a:t>Every repair is applied to a copy and re-linted; a repair that makes the lint worse is reverted. The author's file is never overwritten unless repair_write_back is set, every rung is recorded in an audit trace, and any block set aside is named with its line number.</a:t>
            </a:r>
          </a:p>
          <a:p/>
          <a:p>
            <a:r>
              <a:t>Bisect is strictly last because it is the only rung that removes content, and it is skipped when the model rung merely could not be reached. A clean build tells the model plainly that the document is finished, so a good PDF is never “improved” into a broken one.</a:t>
            </a:r>
          </a:p>
          <a:p/>
          <a:p>
            <a:r>
              <a:t>Since v1.76.0 a PDF is reported only when the delivered file really exists. A build that had to cut a quarter or more of its body is delivered as &lt;name&gt;.DEGRADED.pdf, never under the name you asked for, and in a document over 8,000 characters the model rung first repairs only the lines around the compiler's error with a capped request; a reply that never came forbids bisect.</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agents take firmware from scaffold to a running board, and each refuses rather than flash something that cannot be right.</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agents take firmware from scaffold to a running board, and each refuses rather than flash something that cannot be right.</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agents drive running editors over their own sockets, from chat or from the canvas.</a:t>
            </a:r>
          </a:p>
          <a:p/>
          <a:p>
            <a:r>
              <a:t>Unrealer: Talks to the Unreal MCP plugin over TCP: 53 commands in nine categories — editor, Blueprint, nodes, project, UMG, system, level, asset and material.</a:t>
            </a:r>
          </a:p>
          <a:p/>
          <a:p>
            <a:r>
              <a:t>Tlamatini's Unreal fork: XaihtUnrealEngineMCP ships the full surface plus a scaffolder for a ready-to-build UE 5.8 C++ project with a Visual Studio 2026 solution.</a:t>
            </a:r>
          </a:p>
          <a:p/>
          <a:p>
            <a:r>
              <a:t>Blenderer: Speaks the official Blender MCP add-on's code-execution protocol on its local socket, with a rich action catalog so most tasks need no hand-written Python.</a:t>
            </a:r>
          </a:p>
          <a:p/>
          <a:p>
            <a:r>
              <a:t>Chainable: Both return structured blocks, so Parametrizer can carry a result into the next step and a Forker can branch on it.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Offensive and defensive tooling is part of the catalog, always limited to systems you own or are explicitly authorized to test.</a:t>
            </a:r>
          </a:p>
          <a:p/>
          <a:p>
            <a:r>
              <a:t>Kalier: Kali Linux tools through MCP-Kali-Server: nmap, gobuster, nikto, sqlmap and more.</a:t>
            </a:r>
          </a:p>
          <a:p/>
          <a:p>
            <a:r>
              <a:t>Discoverer: subfinder, httpx, naabu, katana, nuclei and vulnx on a private Go toolchain.</a:t>
            </a:r>
          </a:p>
          <a:p/>
          <a:p>
            <a:r>
              <a:t>Nmapper: Uses the nmap you installed; never bundles it; connect scan needs no admin.</a:t>
            </a:r>
          </a:p>
          <a:p/>
          <a:p>
            <a:r>
              <a:t>Analyzer: bandit, semgrep, ruff, eslint, gitleaks and pip-audit, deterministically.</a:t>
            </a:r>
          </a:p>
          <a:p/>
          <a:p>
            <a:r>
              <a:t>Reviewer: A senior-engineer review of a diff, with a verdict a flow can branch on.</a:t>
            </a:r>
          </a:p>
          <a:p/>
          <a:p>
            <a:r>
              <a:t>Kyber: Post-quantum key generation, encryption and decryption.</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toolkit is an administrator-run monitoring and response kit, not a chat tool: a person launches it, reads its evidence and decides.</a:t>
            </a:r>
          </a:p>
          <a:p/>
          <a:p>
            <a:r>
              <a:t>Enablement makes persistent changes. Defender and the firewall keep running, but the installation is excluded from scans, allowed through Controlled Folder Access, and six attack surface reduction rules move to Audit. Those exceptions are real trade-offs, so record a baseline before elevation; there is no automatic rollback.</a:t>
            </a:r>
          </a:p>
          <a:p/>
          <a:p>
            <a:r>
              <a:t>The monitor watches ten signal families, from Defender health and logons to persistence, ransomware indicators and administrator-group changes. Start with a detect-only baseline, investigate, and arm only when justified. A non-destructive visible harness validates the assets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Direct chat dictation, workflow Whisperer, Talker and catalog commands have distinct voice contracts.</a:t>
            </a:r>
          </a:p>
          <a:p/>
          <a:p>
            <a:r>
              <a:t>In standalone/workflow Whisperer, no duration means the gate records while you talk and stops after 3.5 seconds of silence, with a 300-second ceiling. record_seconds: 0 is the switch; name a duration and it is honoured exactly. The gate starts at a sensitive floor so a speaker who begins at once is heard, and if a sound driver refuses the live stream she records a fixed length and says so. Direct chat dictation instead requires the gate and refuses that fallback.</a:t>
            </a:r>
          </a:p>
          <a:p/>
          <a:p>
            <a:r>
              <a:t>Transcription runs locally with faster-whisper, on a GPU when present and on the CPU otherwise, or through a cloud Whisper provider. Talker speaks through an Orpheus-compatible model in a female voice — tara, leah, jess, mia or zoe. A male voice is refused by design.</a:t>
            </a:r>
          </a:p>
          <a:p/>
          <a:p>
            <a:r>
              <a:t>The catalog's first section, VOICE COMMANDS, makes the microphone the keyboard: she transcribes your instruction, reads it back, and only then acts. Anything irreversible still needs your written confirmation under those catalog instructions. Config &gt; Mic selects automatic submission or an editable draft. Actual dispatch uses browser speech for acknowledgment, respecting Silent mode.</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and video analysis combine independent observers, so one model's guess is never presented as fact.</a:t>
            </a:r>
          </a:p>
          <a:p/>
          <a:p>
            <a:r>
              <a:t>Image-Interpreter: Two vision models read each image in parallel on their own connections; a third merges both. A comma-separated list reads several images.</a:t>
            </a:r>
          </a:p>
          <a:p/>
          <a:p>
            <a:r>
              <a:t>Video-Analyzer · robotics: A deterministic motion gate plus two vision models; PASS only when both agree.</a:t>
            </a:r>
          </a:p>
          <a:p/>
          <a:p>
            <a:r>
              <a:t>Video-Analyzer · transcription: Timestamped speech from chosen audio tracks or a web link, locally.</a:t>
            </a:r>
          </a:p>
          <a:p/>
          <a:p>
            <a:r>
              <a:t>Video-Analyzer · summary: Speech plus sampled visual evidence: scenes, text, facts, decisions and limits; a web link is downloaded first.</a:t>
            </a:r>
          </a:p>
          <a:p/>
          <a:p>
            <a:r>
              <a:t>Capture: Shoter, Camcorder and Recorder save to your known folders with exact names.</a:t>
            </a:r>
          </a:p>
          <a:p/>
          <a:p>
            <a:r>
              <a:t>Paste to chat: A screenshot pasted into the chat becomes a path she can analyze.</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Desktop agents state their coordinate spaces and their evidence, because a click that lands in the wrong place is worse than no click.</a:t>
            </a:r>
          </a:p>
          <a:p/>
          <a:p>
            <a:r>
              <a:t>Mouser: Coordinates are declared: physical screen, desktop, normalized, window or screenshot.</a:t>
            </a:r>
          </a:p>
          <a:p/>
          <a:p>
            <a:r>
              <a:t>Shoter: Publishes the exact captured rectangle, image size and monitor geometry.</a:t>
            </a:r>
          </a:p>
          <a:p/>
          <a:p>
            <a:r>
              <a:t>Keyboarder: Binds each keystroke to a verified window and stops on focus loss.</a:t>
            </a:r>
          </a:p>
          <a:p/>
          <a:p>
            <a:r>
              <a:t>Delivery is not acceptance: input_sent proves delivery only; interrupted input is inspected before any replay.</a:t>
            </a:r>
          </a:p>
          <a:p/>
          <a:p>
            <a:r>
              <a:t>Playwrighter: A real browser through declared steps, with a hold-open knob to watch.</a:t>
            </a:r>
          </a:p>
          <a:p/>
          <a:p>
            <a:r>
              <a:t>Windower: Focus, move, resize, tile, pin and close windows by title.</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chat search tool and pool agent use the same Googler implementation, with a default 120-second budget and explicit outcomes.</a:t>
            </a:r>
          </a:p>
          <a:p/>
          <a:p>
            <a:r>
              <a:t>With no engine pinned, six plain-HTTP routes race for relevant results. If none answers, real installed Chrome uses a persistent profile across eight browser routes. Open knowledge sources form the final tier: Wikipedia, arXiv, OpenAlex, Hacker News, GitHub, Internet Archive and Project Gutenberg. The log names the answering engine and tier.</a:t>
            </a:r>
          </a:p>
          <a:p/>
          <a:p>
            <a:r>
              <a:t>A shared health ledger rests refusing engines for 3, 10 or 30 minutes; an off-topic result is rejected, and a refusing route is not asked again in the same run. Blocked, timed out, unreachable and no matches are separate outcomes. The chat wrapper supports Cancel and enforces a process deadline with a cleanup allowance.</a:t>
            </a:r>
          </a:p>
          <a:p/>
          <a:p>
            <a:r>
              <a:t>Structured dorks retain presets, grouped filters and links_only URL delivery. An explicit engines list skips the HTTP and open-source tiers. Pin Google when Google-only operators matter; fallback engines may broaden their meaning. Licensing and authorization remain yours.</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Crawler starts with the supplied page, bounds its work and keeps refusal pages away from the model.</a:t>
            </a:r>
          </a:p>
          <a:p/>
          <a:p>
            <a:r>
              <a:t>The default crawl_type is page, with include_seed enabled. A range crawl defaults to 25 pages and a 900-second whole-run budget. Each download has a 45-second default wall-clock limit and an 8,000,000-byte cap. These are configurable defaults; zero disables the page count or whole-crawl limit, so unlimited operation must be a deliberate choice.</a:t>
            </a:r>
          </a:p>
          <a:p/>
          <a:p>
            <a:r>
              <a:t>Headers are read case-insensitively. Bot walls, CAPTCHA pages and access refusals are reported before analysis; timeouts and unreachable pages remain named outcomes. If nothing was analyzed, the final report says so. Crawler reads fetched HTML; it does not execute JavaScript.</a:t>
            </a:r>
          </a:p>
          <a:p/>
          <a:p>
            <a:r>
              <a:t>Since v1.72.4, both Crawler and Googler use a stack of skipped HTML regions, handle omitted head endings and self-closing tags, and compare the extraction with a plain-text fallback. When that fallback has at least 200 characters and the parser kept less than 25 percent, the fallback takes over. Crawler warns in its log; Googler returns an extraction_note. Parser exceptions also use the fallback; healthy extractions stay unchanged.</a:t>
            </a:r>
          </a:p>
          <a:p/>
          <a:p>
            <a:r>
              <a:t>Page first: Read the seed URL by default; range crawling is explicit.</a:t>
            </a:r>
          </a:p>
          <a:p/>
          <a:p>
            <a:r>
              <a:t>Budgets: Defaults: 25 pages, 900 seconds overall, 45 seconds per download.</a:t>
            </a:r>
          </a:p>
          <a:p/>
          <a:p>
            <a:r>
              <a:t>Truthful outcome: Refusals never become source content; no analysis is reported plainly.</a:t>
            </a:r>
          </a:p>
          <a:p/>
          <a:p>
            <a:r>
              <a:t>Text safety net: Below 25% of a 200+ character fallback: recover and disclose.</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NetSpeed-Calculator publishes a speed with a confidence interval and measures latency under load.</a:t>
            </a:r>
          </a:p>
          <a:p/>
          <a:p>
            <a:r>
              <a:t>Several keyless providers run in parallel. The measurement discards the TCP slow-start ramp, samples throughput as a derivative, rejects outliers and fuses providers with a random-effects meta-analysis. It grades bufferbloat from A+ to F. A full run transfers about 100 to 200 MB, so it asks before running.</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Messaging agents use official surfaces by default and make every unofficial route an explicit choice.</a:t>
            </a:r>
          </a:p>
          <a:p/>
          <a:p>
            <a:r>
              <a:t>Telegrammer: Sends as the bot or as your own account; “send it as me” picks yours.</a:t>
            </a:r>
          </a:p>
          <a:p/>
          <a:p>
            <a:r>
              <a:t>Whatsapper: Meta's official Cloud API by default; your own number only when you say so.</a:t>
            </a:r>
          </a:p>
          <a:p/>
          <a:p>
            <a:r>
              <a:t>TeleTlamatini: The full chat in Telegram, on a dedicated account.</a:t>
            </a:r>
          </a:p>
          <a:p/>
          <a:p>
            <a:r>
              <a:t>Instant Messaging Doctor: Checks tokens, contacts, templates and policy windows.</a:t>
            </a:r>
          </a:p>
          <a:p/>
          <a:p>
            <a:r>
              <a:t>Contacts: A contact name resolves to the real address when a message is sent.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VI: Promises She Keeps. Honesty, consent, safety and control, written into the code rather than into a brochure.</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account wizard launches createsuperuser through Executer and waits for input in its console.</a:t>
            </a:r>
          </a:p>
          <a:p/>
          <a:p>
            <a:r>
              <a:t>The installed log showed two independent false positives. 'I will type it' referred to a password but reserved all commands for the user. A completion phrase plus the optional email field falsely created notification debt. These runtime guards overrode an initially correct Executer selection and diverted the wizard.</a:t>
            </a:r>
          </a:p>
          <a:p/>
          <a:p>
            <a:r>
              <a:t>Typing/entering ownership now requires a command object; ambiguous input is neutral. An explicit assistant launch of a named program lifts a prior lesson. Genuine user-runs tutorials still refuse command runners and keep Terminater's Enter disabled.</a:t>
            </a:r>
          </a:p>
          <a:p/>
          <a:p>
            <a:r>
              <a:t>A completion notification requires a positive outbound instruction tied to completion in the same sentence. Email fields, ordinary chat explanations, quoted examples, negations and the user's DONE reply do not authorize sending. Passwords stay out of chat. The catalog wizard creates an administrative superuser, not a restricted ordinary account.</a:t>
            </a:r>
          </a:p>
          <a:p/>
          <a:p>
            <a:r>
              <a:t>Launch: Executer opens the interactive source or frozen command in a visible console.</a:t>
            </a:r>
          </a:p>
          <a:p/>
          <a:p>
            <a:r>
              <a:t>Input: Username, optional email and password belong to the user's console interaction.</a:t>
            </a:r>
          </a:p>
          <a:p/>
          <a:p>
            <a:r>
              <a:t>Wait: DONE / ERROR / NOWINDOW drive the next step; no automatic success claim.</a:t>
            </a:r>
          </a:p>
          <a:p/>
          <a:p>
            <a:r>
              <a:t>Notify: Only an explicit outbound request creates completion-notification debt.</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a system can be confidently wrong, Tlamatini is built to say what she knows and what she does not.</a:t>
            </a:r>
          </a:p>
          <a:p/>
          <a:p>
            <a:r>
              <a:t>Self-report first: An agent's typed result outranks a one-bit exit code.</a:t>
            </a:r>
          </a:p>
          <a:p/>
          <a:p>
            <a:r>
              <a:t>Degraded is red: A compromised deliverable is never painted green.</a:t>
            </a:r>
          </a:p>
          <a:p/>
          <a:p>
            <a:r>
              <a:t>Silence is named: Skipped files, dead transfers and refusals carry a reason.</a:t>
            </a:r>
          </a:p>
          <a:p/>
          <a:p>
            <a:r>
              <a:t>Recovery is narrated: Retries are shown live and summarized in the answer.</a:t>
            </a:r>
          </a:p>
          <a:p/>
          <a:p>
            <a:r>
              <a:t>Created is not clean: Documents report their audits before being called finished.</a:t>
            </a:r>
          </a:p>
          <a:p/>
          <a:p>
            <a:r>
              <a:t>Delivered is not accepted: Desktop input evidence is kept distinct from success.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guard chooses its failure direction deliberately, by asking which mistake would hurt you more.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agent is a plain-Python program so you can read, audit, edit, restrict or disable it. That transparency is a means of control, not a warranty of safety.</a:t>
            </a:r>
          </a:p>
          <a:p/>
          <a:p>
            <a:r>
              <a:t>Agents have no independent authority. You decide whether, where, how and with which permissions they run. When you enable, configure, modify, chain or execute an agent, that execution is under your control and your jurisdiction.</a:t>
            </a:r>
          </a:p>
          <a:p/>
          <a:p>
            <a:r>
              <a:t>You are responsible for reviewing code and configuration, limiting secrets and permissions, authorizing every file, target, browser, shell, API, MCP server, machine and device an agent can reach, supervising its output and complying with the law, policies, licenses and agreements that apply.</a:t>
            </a:r>
          </a:p>
          <a:p/>
          <a:p>
            <a:r>
              <a:t>By running an agent you accept responsibility for its actions and consequences. Tlamatini's orchestration, documentation and guardrails do not authorize access to third-party systems and cannot replace your own security review, permission controls, monitoring or legal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Databases, secrets and scratch files each have one well-defined path.</a:t>
            </a:r>
          </a:p>
          <a:p/>
          <a:p>
            <a:r>
              <a:t>WAL-safe database: Backups read through the write-ahead log with SQLite's online backup API and are verified with quick_check.</a:t>
            </a:r>
          </a:p>
          <a:p/>
          <a:p>
            <a:r>
              <a:t>Staged replacement: A new database waits in DB/ToLoad; the old one is archived with its sidecars before Django starts.</a:t>
            </a:r>
          </a:p>
          <a:p/>
          <a:p>
            <a:r>
              <a:t>Secrets: Known secret fields are redacted from exported .flw files and public builds.</a:t>
            </a:r>
          </a:p>
          <a:p/>
          <a:p>
            <a:r>
              <a:t>Private contacts: Public builds and source snapshots carry no contact data.</a:t>
            </a:r>
          </a:p>
          <a:p/>
          <a:p>
            <a:r>
              <a:t>Scratch files: Temporary files stay inside the application's own Temp folder.</a:t>
            </a:r>
          </a:p>
          <a:p/>
          <a:p>
            <a:r>
              <a:t>Passwords: PDF passwords live in memory only.</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Tlamatini's development rule is that every test, build and diagnostic runs visibly, on a real desktop, where its creator can watch each step.</a:t>
            </a:r>
          </a:p>
          <a:p/>
          <a:p>
            <a:r>
              <a:t>Browser tests run headed in real Chrome, consoles open in the foreground, and whole-desktop photographs are taken by Tlamatini's own Shoter agent — because using the agent is the test of the agent. A stale, transient or timed-out answer is never recorded as a pass.</a:t>
            </a:r>
          </a:p>
          <a:p/>
          <a:p>
            <a:r>
              <a:t>Source-derived guards stop drift before it ships: the status vocabulary, display names, dialog dismissal, catalog ordering, the Ask Execs allowlist, the self-modify gate and the frozen-bundle module proof are all checked by tests that read the real source.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VII: Install, Configure, Run. From a fresh Windows machine to a working assistant, and from source to a signed-off release.</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itself is free. The only purchase is an Ollama plan, bought directly from Ollama.</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October 18 dependency audit covers all 85 agents, build helpers, optional imports and tests.</a:t>
            </a:r>
          </a:p>
          <a:p/>
          <a:p>
            <a:r>
              <a:t>The refreshed static guard scanned 855 Python files and 72 directly referenced distributions. The complete requirements file pins all 263 distributions, including CPU PyTorch. A clean Python installation, dependency consistency check and runtime imports passed.</a:t>
            </a:r>
          </a:p>
          <a:p/>
          <a:p>
            <a:r>
              <a:t>ESPHome has a separate requirements-esphome.txt manifest because its py7zr and PlatformIO pins conflict with the main environment. Keep it in its private runtime. Blender bpy, Unreal unreal, device toolchains, npm packages and model weights follow their own runtime contracts; they are not missing pip packages.</a:t>
            </a:r>
          </a:p>
          <a:p/>
          <a:p>
            <a:r>
              <a:t>Coverage guard: scripts/check_requirements_coverage.py checks source and build inventories.</a:t>
            </a:r>
          </a:p>
          <a:p/>
          <a:p>
            <a:r>
              <a:t>Verification: October 18: no missing declarations, syntax errors or unreviewed dynamic imports.</a:t>
            </a:r>
          </a:p>
          <a:p/>
          <a:p>
            <a:r>
              <a:t>Earlier evidence: September 27: main/ESPHome dry runs and temporary-environment dependency smoke checks passed.</a:t>
            </a:r>
          </a:p>
          <a:p/>
          <a:p>
            <a:r>
              <a:t>Limits: A clean Python dependency installation does not certify the compiled installer or every external integration.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runs either from source or as a frozen executable built by PyInstaller. Only path resolution differs, and CONFIG_PATH overrides the configuration location in both.</a:t>
            </a:r>
          </a:p>
          <a:p/>
          <a:p>
            <a:r>
              <a:t>An installed build resolves config.json beside Tlamatini.exe; a source run uses Tlamatini/agent/config.json. A second, independent axis is self-modification: a build made with --self-modify carries her complete, rebuildable source beside the executable, and her self-knowledge travels with it. Without the flag, neither ships. A source run is always self-able, and a toolbar Self-modify switch decides per request whether her self-knowledge is sent; it locks off when the model cannot hold it.</a:t>
            </a:r>
          </a:p>
          <a:p/>
          <a:p>
            <a:r>
              <a:t>Direct dictation additionally uses a private ephemeral loopback listener for its worker handshake. It closes after authentication; it is not a fourth public service or fixed port.</a:t>
            </a:r>
          </a:p>
          <a:p/>
          <a:p>
            <a:r>
              <a:t>Both MCP services honor their configured hosts and ports in source and frozen mode; their client URIs must match. Files-Search also honors its worker count and bounds RPC waits. UTF-8 BOM configuration files and CONFIG_PATH overrides are supported by both clients.</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handful of config.json keys shape her behaviour; everything else has sensible defaults.</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handful of config.json keys shape her behaviour; everything else has sensible defaults.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handful of config.json keys shape her behaviour; everything else has sensible defaults.</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build scripts produce a standalone Windows release, and the build proves what it ships before it packages anything.</a:t>
            </a:r>
          </a:p>
          <a:p/>
          <a:p>
            <a:r>
              <a:t>PyInstaller bundle: Collected static files, templates, agents, skills and helpers, with numpy and OpenCV embedded in both shipped Pythons.</a:t>
            </a:r>
          </a:p>
          <a:p/>
          <a:p>
            <a:r>
              <a:t>Carriage proof: The build opens the archive it produced and aborts if a required fail-open module is missing.</a:t>
            </a:r>
          </a:p>
          <a:p/>
          <a:p>
            <a:r>
              <a:t>Runtime gates: Every agent runtime and every model loader is executed inside the new frozen executable, and the Prompt Flow Panel check runs there too.</a:t>
            </a:r>
          </a:p>
          <a:p/>
          <a:p>
            <a:r>
              <a:t>Integrity receipt: A SHA-256 receipt covers every payload file and is checked again when the installer is assembled.</a:t>
            </a:r>
          </a:p>
          <a:p/>
          <a:p>
            <a:r>
              <a:t>Size ceiling: The final release ZIP stays under 1,990,000,000 bytes; required files are never dropped to fit.</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September 27 repair, carried since v1.72.1, ships the Whisperer settings helper without weakening package verification.</a:t>
            </a:r>
          </a:p>
          <a:p/>
          <a:p>
            <a:r>
              <a:t>A build correctly refused a runtime receipt because chat_voice_settings.py was missing. The verifier required the loose helper, but build.py used a separate copy dictionary that omitted it. Compiling agent.chat_voice_settings does not satisfy the standalone Whisperer worker running under the carried Python.</a:t>
            </a:r>
          </a:p>
          <a:p/>
          <a:p>
            <a:r>
              <a:t>build.py now calls copy_root_sources using the verifier's ROOT_SOURCES inventory. All inputs are checked before copying. Every mapped destination is mandatory in both ZIP and extracted-stage receipts, so removing a required file and its receipt entry still fails. The pre-freeze hash baseline continues to reject source changes during a build.</a:t>
            </a:r>
          </a:p>
          <a:p/>
          <a:p>
            <a:r>
              <a:t>One carrier: Copy and verification share ROOT_SOURCES; a new required helper needs no second list.</a:t>
            </a:r>
          </a:p>
          <a:p/>
          <a:p>
            <a:r>
              <a:t>Worker import: Carry chat_voice_settings.py at the installation root as well as compiling the Django module.</a:t>
            </a:r>
          </a:p>
          <a:p/>
          <a:p>
            <a:r>
              <a:t>Integrity: Reject missing, edited or unmanifested files, including otherwise consistent incomplete receipts.</a:t>
            </a:r>
          </a:p>
          <a:p/>
          <a:p>
            <a:r>
              <a:t>Rebuild inputs: Mirrored self-update/self-modify sweeps include the shared inventory and report omitted Git checks.</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September 27 file-level checks establish carriage and integrity; a full installer is a separate verification.</a:t>
            </a:r>
          </a:p>
          <a:p/>
          <a:p>
            <a:r>
              <a:t>The recorded focused suite ran 146 tests: 145 passed and one Git-dependent census was skipped. It exercised the real carrier with source files, imported the worker from a staged installation, and verified ZIP creation, extraction and receipts with synthetic runtime binaries. Missing or corrupted helpers and extra files were rejected.</a:t>
            </a:r>
          </a:p>
          <a:p/>
          <a:p>
            <a:r>
              <a:t>The recorded self-update sweep with --no-git had no findings. A self-modify snapshot copied 1,579 files with zero copy errors and accounted for all 778 runtime source inputs. These are that audit's dated counts. Neither those checks nor this dossier regeneration ran a complete PyInstaller build, installed a release or performed a live update swap.</a:t>
            </a:r>
          </a:p>
          <a:p/>
          <a:p>
            <a:r>
              <a:t>Focused suite: 146 tests recorded: 145 passed, one skipped; file-only harness exited successfully.</a:t>
            </a:r>
          </a:p>
          <a:p/>
          <a:p>
            <a:r>
              <a:t>Real files: Every mapped source destination matched; the staged worker resolved its settings helper.</a:t>
            </a:r>
          </a:p>
          <a:p/>
          <a:p>
            <a:r>
              <a:t>Snapshot: Recorded audit: 1,579 files, 11 redacted, 778 runtime inputs covered, zero copy errors.</a:t>
            </a:r>
          </a:p>
          <a:p/>
          <a:p>
            <a:r>
              <a:t>Evidence: docs/build-root-assets-verification.md records scope, skipped checks and local transcripts.</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 Check for updates fetches the latest published release, stages it, and hands the locked-file swap to an external script.</a:t>
            </a:r>
          </a:p>
          <a:p/>
          <a:p>
            <a:r>
              <a:t>The swap preserves config.json, the database, contacts, the external-MCP catalog, Temp, Templates, generated content and the separately built uninstaller. The database is copied through SQLite's online backup API before shutdown, then new migrations are applied to it on the next launch, so chat history and settings survive while new agents and prompts arrive.</a:t>
            </a:r>
          </a:p>
          <a:p/>
          <a:p>
            <a:r>
              <a:t>Downloads and staging receipts are verified before shutdown, and a failed prerequisite stops before any file is replaced. While the download runs, the update dialog is sealed and refuses to close.</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follows Semantic Versioning, with annotated Git tags as the single source of truth.</a:t>
            </a:r>
          </a:p>
          <a:p/>
          <a:p>
            <a:r>
              <a:t>The runtime resolver, the About window, the /agent/version/ endpoint and every build artefact report the same base tag. The reported version never carries a development or dirty suffix, and TLAMATINI_VERSION can document a release before its tag is cut.</a:t>
            </a:r>
          </a:p>
          <a:p/>
          <a:p>
            <a:r>
              <a:t>This dossier reports version 1.91.1 and states the exact tag, commit and publication status in its Release chapter.</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VIII: Current Release. Source release v1.91.1; package delivery and runtime acceptance need separate evidence.</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 9915938a, dated October 27, 2026; published as the Latest release.</a:t>
            </a:r>
          </a:p>
          <a:p/>
          <a:p>
            <a:r>
              <a:t>A patch on v1.91.0. Every chain loads the history of its own conversation, so a Prompt Flow run keeps its own memory and is never answered with another conversation.</a:t>
            </a:r>
          </a:p>
          <a:p/>
          <a:p>
            <a:r>
              <a:t>An equals Decision accepts an answer that opens with the expected word, and the Prompt before it asks for that word alone on the first line. A flow run's usage is recorded for the account that owns it.</a:t>
            </a:r>
          </a:p>
          <a:p/>
          <a:p>
            <a:r>
              <a:t>Telegrammer sends as the bot when the request says 'using the bot'. A wrapped agent called by its short name is resolved and logged as [TOOL-ALIAS]. No agent, tool, skill or migration was added.</a:t>
            </a:r>
          </a:p>
          <a:p/>
          <a:p>
            <a:r>
              <a:t>History: Each run and each user reads only its own conversation.</a:t>
            </a:r>
          </a:p>
          <a:p/>
          <a:p>
            <a:r>
              <a:t>Decisions: '## YES - ...' equals YES; 'Yesterday' does not.</a:t>
            </a:r>
          </a:p>
          <a:p/>
          <a:p>
            <a:r>
              <a:t>Routing: 'Using the bot' sends as the bot; short tool names still run.</a:t>
            </a:r>
          </a:p>
          <a:p/>
          <a:p>
            <a:r>
              <a:t>Inventory: 86 agents; 110 tools; 220 migrations; 64 JS modules; 29 stylesheets.</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 a771d27c, dated October 23, 2026, and published on GitHub that day.</a:t>
            </a:r>
          </a:p>
          <a:p/>
          <a:p>
            <a:r>
              <a:t>The Live Editor, Terminater and Voice tabs share one schema, authenticated account storage and optimistic revisions. Migration 0220 adds InteractionSettings. Account behavior reaches the actual editor and the one TerminalHub; browser/account appearance stays local.</a:t>
            </a:r>
          </a:p>
          <a:p/>
          <a:p>
            <a:r>
              <a:t>October 23 source evidence: 17 visible browser checks passed, including genuine OS speech finishing before the first terminal key. The implementation regression run passed 929 of 931 tests; two existing README documentation assertions failed. This documentation sweep restores those sections; its 94 focused tests passed, including both README assertions.</a:t>
            </a:r>
          </a:p>
          <a:p/>
          <a:p>
            <a:r>
              <a:t>v1.91.0 was published on GitHub on October 23, 2026. These regenerated documents do not claim a new executable build or installed acceptance. The existing tag is preserved.</a:t>
            </a:r>
          </a:p>
          <a:p/>
          <a:p>
            <a:r>
              <a:t>Dialog: Pacing, teaching, terminal behavior, narration, appearance and draft previews.</a:t>
            </a:r>
          </a:p>
          <a:p/>
          <a:p>
            <a:r>
              <a:t>Runtime: Real settings snapshots, revision checks and cancellable narration receipts.</a:t>
            </a:r>
          </a:p>
          <a:p/>
          <a:p>
            <a:r>
              <a:t>Compatibility: Legacy explicit flows keep their values; new flows can inherit defaults.</a:t>
            </a:r>
          </a:p>
          <a:p/>
          <a:p>
            <a:r>
              <a:t>Inventory: 86 agents; 110 tools; 220 migrations; 64 JS modules; 29 stylesheets.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v1.89.0 introduced editing and native saving; v1.90.0 carries Interactor and the intent corrections.</a:t>
            </a:r>
          </a:p>
          <a:p/>
          <a:p>
            <a:r>
              <a:t>The annotated v1.90.0 tag resolves to ebc5c3b4; this documentation refresh began at d274f89c, the follow-up commit also present on origin/main. A tag and source tests do not establish that a separately installed executable has been rebuilt or accepted.</a:t>
            </a:r>
          </a:p>
          <a:p/>
          <a:p>
            <a:r>
              <a:t>Interactor adds one module tool, not a workflow-agent template. Migration 0218 seeds its Tool row and catalog example. Full enabled-tool binding, Compact-mode selection and cost labels share tool_gate_table. The offline editor bundle includes the tutoring extension.</a:t>
            </a:r>
          </a:p>
          <a:p/>
          <a:p>
            <a:r>
              <a:t>Editing: Native Save As, exact source, undo history and conflict-aware persistence.</a:t>
            </a:r>
          </a:p>
          <a:p/>
          <a:p>
            <a:r>
              <a:t>Tutoring: Fresh unsaved reads, small typing segments, learner fields and local suggestions.</a:t>
            </a:r>
          </a:p>
          <a:p/>
          <a:p>
            <a:r>
              <a:t>Recovery: Bounded tab-visibility pauses and usable narrow-canvas layout.</a:t>
            </a:r>
          </a:p>
          <a:p/>
          <a:p>
            <a:r>
              <a:t>Inventory: 86 agents; 67 wrapped; 110 built-in tools; 220 migrations. Counts describe the inspected source.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recorded runs from October 21–22, not tests silently rerun by documentation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v1.88.0 introduced Terminater; its tag was created on October 20.</a:t>
            </a:r>
          </a:p>
          <a:p/>
          <a:p>
            <a:r>
              <a:t>Terminater is workflow agent number 86. It raises real CMD and PowerShell terminals in a new Terminals area (Views → Terminals, or Ctrl+`) on the chat, Agentic Control Panel and Prompt Flow Panel pages. Tlamatini types every key like a person, about 50 words per minute and never pasted, waits for the command, reads its whole output and reports the exit code. Esc takes the keyboard; a command can hand it to you on purpose with &lt;&lt;USER:hint&gt;&gt;.</a:t>
            </a:r>
          </a:p>
          <a:p/>
          <a:p>
            <a:r>
              <a:t>A command that stops answering is flagged hung and can be aborted without losing the terminal; one that exits with an error is a red Exec Report row even though the terminal worked. One hub in the Django process owns the shells, so closing a page never closes one. It is wrapped chat agent number 67, the eighth Prompt Flow Panel operation, and has three safe cards in the Catalog of Prompts.</a:t>
            </a:r>
          </a:p>
          <a:p/>
          <a:p>
            <a:r>
              <a:t>The build now proves it inside the frozen app: check_terminater drives a real PowerShell, a real cmd.exe, the shipped pool agent under the carried Python and a WebSocket round trip, and packaging stops if it fails. On October 19, 774 unit tests passed, and 1,668 passed after the documentation pass. The saved chat-page and canvas visible suites were not re-run as one clean pass after their last fixes.</a:t>
            </a:r>
          </a:p>
          <a:p/>
          <a:p>
            <a:r>
              <a:t>The v1.88.0 tag was created on October 20 and points to the commit before this work; the work landed on main in the next commit, so a build of main then reported 1.88.0 and carried all of it.</a:t>
            </a:r>
          </a:p>
          <a:p/>
          <a:p>
            <a:r>
              <a:t>The private (keyed) release now carries the data of the machine that builds it: every External MCP server of the installed copy and its active choice, merged into a gitignored private catalog, and the whole data.keys vault. The public builder refuses both. An in-app update does not keep data.keys.</a:t>
            </a:r>
          </a:p>
          <a:p/>
          <a:p>
            <a:r>
              <a:t>Terminals: Real CMD and PowerShell you can watch, typed like a person, with a hand-over.</a:t>
            </a:r>
          </a:p>
          <a:p/>
          <a:p>
            <a:r>
              <a:t>Current counts: 86 agents · 67 wrapped · 110 tools · 220 migrations.</a:t>
            </a:r>
          </a:p>
          <a:p/>
          <a:p>
            <a:r>
              <a:t>Gate: check_terminater runs inside the frozen app; packaging stops on failure.</a:t>
            </a:r>
          </a:p>
          <a:p/>
          <a:p>
            <a:r>
              <a:t>Private release: External MCP servers and data.keys travel in the keyed build only.</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18: the catalog shrank to 85 agents, and removal became fast and recoverable.</a:t>
            </a:r>
          </a:p>
          <a:p/>
          <a:p>
            <a:r>
              <a:t>That release held 85 workflow agents: Gatewayer, Gateway-Relayer, Node-Manager and Zavuerer were removed. Migration 0214 deletes their rows and catalog prompts without renumbering anything that remains.</a:t>
            </a:r>
          </a:p>
          <a:p/>
          <a:p>
            <a:r>
              <a:t>The Uninstaller moves the installation aside on the same drive instead of copying it, and offers Retry cleanup when a locked file stays behind. The frozen release no longer carries the media and browser libraries twice. About → Usage waits for real data, and every tracked Python file has a quality gate.</a:t>
            </a:r>
          </a:p>
          <a:p/>
          <a:p>
            <a:r>
              <a:t>The v1.87.0 tag was created one minute before the work it names. Both follow-up commits landed on main right after it, so a build of main then reported 1.87.0 and carried all of it.</a:t>
            </a:r>
          </a:p>
          <a:p/>
          <a:p>
            <a:r>
              <a:t>85 agents: Four retired agents removed in a forward migration.</a:t>
            </a:r>
          </a:p>
          <a:p/>
          <a:p>
            <a:r>
              <a:t>Removal: Move aside, verify, Retry cleanup for locked leftovers.</a:t>
            </a:r>
          </a:p>
          <a:p/>
          <a:p>
            <a:r>
              <a:t>Release size: Media and browser libraries ship once, in the carried Python.</a:t>
            </a:r>
          </a:p>
          <a:p/>
          <a:p>
            <a:r>
              <a:t>Quality: npm run lint:python checks every tracked Python file.</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Uninstaller moves entries into a recovery folder instead of copying and hashing them.</a:t>
            </a:r>
          </a:p>
          <a:p/>
          <a:p>
            <a:r>
              <a:t>Each move is recorded in a schema 2 journal before and after it happens. A destination collision is refused, and the journal stays until cleanup succeeds. If a reversible step fails, the entries and the Windows state are put back.</a:t>
            </a:r>
          </a:p>
          <a:p/>
          <a:p>
            <a:r>
              <a:t>If the application is removed but a locked file remains, the window says Application removed; cleanup incomplete, lists what remains and offers Retry cleanup. Reopening the Uninstaller can finish the job later. agents/ and the six content folders that hold files are kept.</a:t>
            </a:r>
          </a:p>
          <a:p/>
          <a:p>
            <a:r>
              <a:t>A filesystem benchmark removed 64,264 package files (3.88 GB) in 22.3 seconds with all 254 preserved hashes unchanged. It measures the filesystem phase; a compiled-client run remains the acceptance test.</a:t>
            </a:r>
          </a:p>
          <a:p/>
          <a:p>
            <a:r>
              <a:t>Journal: Every move recorded before and after.</a:t>
            </a:r>
          </a:p>
          <a:p/>
          <a:p>
            <a:r>
              <a:t>Retry: Locked leftovers can be finished later.</a:t>
            </a:r>
          </a:p>
          <a:p/>
          <a:p>
            <a:r>
              <a:t>Kept: agents/ and the content folders that hold files.</a:t>
            </a:r>
          </a:p>
          <a:p/>
          <a:p>
            <a:r>
              <a:t>Benchmark: 64,264 files in 22.3 s, October 18.</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frozen web process stops carrying libraries that only the pool agents use.</a:t>
            </a:r>
          </a:p>
          <a:p/>
          <a:p>
            <a:r>
              <a:t>cv2, ffpyplayer, av, playwright, faster_whisper, ctranslate2 and onnxruntime run under the carried Python, so build.py keeps them out of the frozen interpreter. Chromium and FFmpeg revisions come from the carried Playwright manifest.</a:t>
            </a:r>
          </a:p>
          <a:p/>
          <a:p>
            <a:r>
              <a:t>Only bytecode caches whose source sits beside them are removed, Git's copied uninstaller files are dropped and the package is written with DEFLATE level 9. A release-payload test pins who owns each library.</a:t>
            </a:r>
          </a:p>
          <a:p/>
          <a:p>
            <a:r>
              <a:t>About → Usage shows Checking usage… until real report data arrives, explains a failed connection under Connection details and retries by itself. Its account request is a bodyless POST /api/me: a {} body made the local server reset the connection.</a:t>
            </a:r>
          </a:p>
          <a:p/>
          <a:p>
            <a:r>
              <a:t>Ownership: Pool-only libraries live in the carried Python.</a:t>
            </a:r>
          </a:p>
          <a:p/>
          <a:p>
            <a:r>
              <a:t>Package: Bytecode, uninstaller copies and compression tuned.</a:t>
            </a:r>
          </a:p>
          <a:p/>
          <a:p>
            <a:r>
              <a:t>Usage: Checking usage… until real data arrives.</a:t>
            </a:r>
          </a:p>
          <a:p/>
          <a:p>
            <a:r>
              <a:t>Account: A bodyless POST /api/me.</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source-wide sweep re-derived every count and fixed what it found.</a:t>
            </a:r>
          </a:p>
          <a:p/>
          <a:p>
            <a:r>
              <a:t>Grepper's glob and Globber's pattern now understand brace sets such as *.{js,py}, lists such as *.py,*.js and folder globs such as src/**/*.py. Before, each searched zero files and answered no_matches. Globber walks the tree once for several patterns: three minutes became ten seconds.</a:t>
            </a:r>
          </a:p>
          <a:p/>
          <a:p>
            <a:r>
              <a:t>Six wrapped tools whose label names an action (Send Email, Move File, Summarize Text and the three Kyber tools) now obey their agent's Configure Agents checkbox. A loaded flow keeps FlowCreator's label, and the Python quality gate runs in Windows Terminal.</a:t>
            </a:r>
          </a:p>
          <a:p/>
          <a:p>
            <a:r>
              <a:t>The daily chat test reads this repository again instead of an old copy, and its question banks cover all 85 agents and all 66 wrapped tools. Configure Agents and Configure MCPs now open with the boxes the server saved, so a quick Continue can no longer switch most agents off.</a:t>
            </a:r>
          </a:p>
          <a:p/>
          <a:p>
            <a:r>
              <a:t>Patterns: Brace sets, lists and folder globs in Grepper and Globber.</a:t>
            </a:r>
          </a:p>
          <a:p/>
          <a:p>
            <a:r>
              <a:t>Gates: Six wrapped tools follow their agent's checkbox; Configure opens with the saved ticks.</a:t>
            </a:r>
          </a:p>
          <a:p/>
          <a:p>
            <a:r>
              <a:t>Harness: The daily chat test reads this repository.</a:t>
            </a:r>
          </a:p>
          <a:p/>
          <a:p>
            <a:r>
              <a:t>Quality gate: Runs in Windows Terminal, the Windows 11 default.</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17: a missing destination becomes a folder, and the atlas rebuilds itself.</a:t>
            </a:r>
          </a:p>
          <a:p/>
          <a:p>
            <a:r>
              <a:t>Mover creates a destination that does not exist yet, such as scripts/architecture_atlas, as a folder, and the file keeps its own name. A rename still happens when the destination names a file: it exists as a file, has an extension, or the source has none either. A trailing slash always means a folder.</a:t>
            </a:r>
          </a:p>
          <a:p/>
          <a:p>
            <a:r>
              <a:t>python scripts/architecture_atlas/build_architecture_pdf.py regenerates Tlamatini-Architecture.pdf with Tlamatini's own LaTeXer and verifies that every tracked file appears in it. Exit codes 0, 1, 2 and 3 mean ok, typeset failed, a file left unplaced and a file missing.</a:t>
            </a:r>
          </a:p>
          <a:p/>
          <a:p>
            <a:r>
              <a:t>Mover: A new destination name becomes a folder.</a:t>
            </a:r>
          </a:p>
          <a:p/>
          <a:p>
            <a:r>
              <a:t>Rename: Only when the destination names a file.</a:t>
            </a:r>
          </a:p>
          <a:p/>
          <a:p>
            <a:r>
              <a:t>Atlas: Rebuilt by LaTeXer from the repository.</a:t>
            </a:r>
          </a:p>
          <a:p/>
          <a:p>
            <a:r>
              <a:t>Proof: Every tracked file appears in the atlas.</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and published on October 16, with a more flexible chat workspace.</a:t>
            </a:r>
          </a:p>
          <a:p/>
          <a:p>
            <a:r>
              <a:t>Refresh rereads the open document. Views makes room for full-width chat while keeping the canvas alive. Reset restores the layout without clearing content. The portrait and its frame remain centered over Mic through Send as the message box shrinks.</a:t>
            </a:r>
          </a:p>
          <a:p/>
          <a:p>
            <a:r>
              <a:t>The release retains the page-wide file-drop router, setup recovery, Markdown rendering, Usage dashboard, Model Brain, Compact mode, voice dictation and both flow editors.</a:t>
            </a:r>
          </a:p>
          <a:p/>
          <a:p>
            <a:r>
              <a:t>Refresh: The original document, read again without a chooser.</a:t>
            </a:r>
          </a:p>
          <a:p/>
          <a:p>
            <a:r>
              <a:t>Views: Show or hide the canvas and keep its state.</a:t>
            </a:r>
          </a:p>
          <a:p/>
          <a:p>
            <a:r>
              <a:t>Reset layout: Restore both panes and dock the avatar.</a:t>
            </a:r>
          </a:p>
          <a:p/>
          <a:p>
            <a:r>
              <a:t>Portrait: Center the whole frame above the complete action row.</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selects a file. Refresh reads that same source again, without writing to it.</a:t>
            </a:r>
          </a:p>
          <a:p/>
          <a:p>
            <a:r>
              <a:t>Native-picker access retains a browser-granted handle. Drops retain their handle or entry during the original event, including the PDF-frame relay. A snapshot-only source explains why Refresh is unavailable. A generated document rereads its authenticated saved-content endpoint.</a:t>
            </a:r>
          </a:p>
          <a:p/>
          <a:p>
            <a:r>
              <a:t>Text and Markdown are compared in full, including empty files. Equal size or timestamp is never proof of equal content. An unchanged document stays in place without rebuilding context. Changed content replaces the complete document only when preparation succeeds.</a:t>
            </a:r>
          </a:p>
          <a:p/>
          <a:p>
            <a:r>
              <a:t>Busy, unchanged, updated, permission and error states have visible feedback. Cancel, Clear, opening another document and a new operation invalidate pending reads. Failure preserves the previous document and explains the next action.</a:t>
            </a:r>
          </a:p>
          <a:p/>
          <a:p>
            <a:r>
              <a:t>Open: Choose a document and retain read access.</a:t>
            </a:r>
          </a:p>
          <a:p/>
          <a:p>
            <a:r>
              <a:t>Refresh: Reread the retained source without another picker.</a:t>
            </a:r>
          </a:p>
          <a:p/>
          <a:p>
            <a:r>
              <a:t>Failure: Keep the previous content and allow retry.</a:t>
            </a:r>
          </a:p>
          <a:p/>
          <a:p>
            <a:r>
              <a:t>Context: Prepare changed content before replacing active context.</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Refreshing Markdown or PDF preserves the view while the underlying document changes.</a:t>
            </a:r>
          </a:p>
          <a:p/>
          <a:p>
            <a:r>
              <a:t>Markdown retains Preview or Source, reading position and explicitly selected resources. Its source bytes remain the basis for Save. Folder-selected resource files remain snapshots and can be selected again when those separate files change.</a:t>
            </a:r>
          </a:p>
          <a:p/>
          <a:p>
            <a:r>
              <a:t>PDF Refresh stages a new range-backed PDF.js viewer before retiring the old one. It keeps page, zoom, rotation and scroll mode, clamping the page to a shorter document. A corrupt PDF or cancelled password entry leaves the prior viewer visible. The staged iframe stays attached during the swap so the browser does not reload it.</a:t>
            </a:r>
          </a:p>
          <a:p/>
          <a:p>
            <a:r>
              <a:t>PDFs always reload on Refresh. No whole-file hash, eager whole-document read or metadata-only equality claim is introduced. Active-context replacement keeps the established text/image options.</a:t>
            </a:r>
          </a:p>
          <a:p/>
          <a:p>
            <a:r>
              <a:t>Markdown: Preview/Source, position and selected resources stay.</a:t>
            </a:r>
          </a:p>
          <a:p/>
          <a:p>
            <a:r>
              <a:t>PDF: Page, zoom, rotation and scroll mode stay.</a:t>
            </a:r>
          </a:p>
          <a:p/>
          <a:p>
            <a:r>
              <a:t>Recovery: A failed replacement retains the previous viewer.</a:t>
            </a:r>
          </a:p>
          <a:p/>
          <a:p>
            <a:r>
              <a:t>Evidence: 20 visible Chrome checks on October 15.</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Views → Canvas shows or hides the canvas without unloading it.</a:t>
            </a:r>
          </a:p>
          <a:p/>
          <a:p>
            <a:r>
              <a:t>Hiding the canvas gives the chat the full width. The document, PDF viewer, Markdown mode, Refresh source, draft, history and loaded context remain intact. Open, a supported document drop and a generated-file link reveal the canvas when their result needs it.</a:t>
            </a:r>
          </a:p>
          <a:p/>
          <a:p>
            <a:r>
              <a:t>The choice is stored per account in that browser and synchronized across its tabs. It survives reload and browser restart. A different browser profile or origin has separate preferences.</a:t>
            </a:r>
          </a:p>
          <a:p/>
          <a:p>
            <a:r>
              <a:t>Changing visibility cancels divider gestures. Focus moves to the Views menu only when its current region disappears, and the check mark exposes its state to assistive technology.</a:t>
            </a:r>
          </a:p>
          <a:p/>
          <a:p>
            <a:r>
              <a:t>Full width: Hide the canvas to give the chat more room.</a:t>
            </a:r>
          </a:p>
          <a:p/>
          <a:p>
            <a:r>
              <a:t>Continuity: Keep the open document and active context.</a:t>
            </a:r>
          </a:p>
          <a:p/>
          <a:p>
            <a:r>
              <a:t>Preference: Saved per account and browser origin.</a:t>
            </a:r>
          </a:p>
          <a:p/>
          <a:p>
            <a:r>
              <a:t>Navigation: Opening a document reveals its canvas.</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portrait and its frame share the center of the entire Mic-to-Send action row.</a:t>
            </a:r>
          </a:p>
          <a:p/>
          <a:p>
            <a:r>
              <a:t>Previously, reducing the composer height shrank the portrait but left it anchored to the right edge. The layout now measures from Mic's left edge to Send's right edge and centers the whole dock above that span. Both dividers, narrow layouts and zoom follow the same measurement.</a:t>
            </a:r>
          </a:p>
          <a:p/>
          <a:p>
            <a:r>
              <a:t>The portrait remains square with a 120-pixel minimum. Its floating size remains independent. Hiding the canvas docks the portrait and disables floating resize through pointer, keyboard and API paths. Showing the canvas enables resizing again and leaves the portrait docked.</a:t>
            </a:r>
          </a:p>
          <a:p/>
          <a:p>
            <a:r>
              <a:t>Views → Reset layout shows both panes, restores their initial sizes and docks the avatar. It does not clear the document, draft, history or context.</a:t>
            </a:r>
          </a:p>
          <a:p/>
          <a:p>
            <a:r>
              <a:t>Alignment: Mic's left edge through Send's right edge.</a:t>
            </a:r>
          </a:p>
          <a:p/>
          <a:p>
            <a:r>
              <a:t>Sizing: A square portrait, never below 120 pixels.</a:t>
            </a:r>
          </a:p>
          <a:p/>
          <a:p>
            <a:r>
              <a:t>Reset: Restore layout while keeping content.</a:t>
            </a:r>
          </a:p>
          <a:p/>
          <a:p>
            <a:r>
              <a:t>Evidence: 19 visible checks; center error below 0.02 CSS px, October 16.</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runtime and self-modify inventories cover the Views template and scripts.</a:t>
            </a:r>
          </a:p>
          <a:p/>
          <a:p>
            <a:r>
              <a:t>The runtime receipt requires agent_page.html plus agent_page_layout.js, avatar_size.js, agent_page_canvas.js and agent_page_init.js. The snapshot also requires the two visible Views harnesses and the identity instructions. Refresh retains the existing PDF and Markdown carriers.</a:t>
            </a:r>
          </a:p>
          <a:p/>
          <a:p>
            <a:r>
              <a:t>There is no new migration or Python dependency. Its cache suffix was -avatar-center-1 and the Views template suffix is _views1. Visibility is browser-local and does not depend on Self-modify.</a:t>
            </a:r>
          </a:p>
          <a:p/>
          <a:p>
            <a:r>
              <a:t>Dated evidence includes 160 packaging/self-update/self-modify tests and 13 visible frozen frontend checks on October 16. The latter used an actual executable with byte-verified current frontend assets in a disposable fixture. The carriage guide records the exact scope.</a:t>
            </a:r>
          </a:p>
          <a:p/>
          <a:p>
            <a:r>
              <a:t>Runtime: Required template and four cooperating scripts.</a:t>
            </a:r>
          </a:p>
          <a:p/>
          <a:p>
            <a:r>
              <a:t>Snapshot: Sources, identity and both Views harnesses.</a:t>
            </a:r>
          </a:p>
          <a:p/>
          <a:p>
            <a:r>
              <a:t>Database: v1.85.0 introduced no migration.</a:t>
            </a:r>
          </a:p>
          <a:p/>
          <a:p>
            <a:r>
              <a:t>Version: v1.85.0 across the application at the time.</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October 14 maintenance commit updated catalog/configuration data and scrubbed test fixtures.</a:t>
            </a:r>
          </a:p>
          <a:p/>
          <a:p>
            <a:r>
              <a:t>Commit 1a8c5093 changed FlowCreator catalog data, the local External MCP catalog and test fixtures. It introduced no new product subsystem, agent type, migration or dependency. Private catalog values are excluded from this dossier.</a:t>
            </a:r>
          </a:p>
          <a:p/>
          <a:p>
            <a:r>
              <a:t>The current audit reads the actual implementation and keeps historical test results dated. A fixture value is test data, not a deployed credential or evidence that a provider ran.</a:t>
            </a:r>
          </a:p>
          <a:p/>
          <a:p>
            <a:r>
              <a:t>Maintenance: Catalog data and test fixtures changed in commit 1a8c5093.</a:t>
            </a:r>
          </a:p>
          <a:p/>
          <a:p>
            <a:r>
              <a:t>Product surface: No new subsystem, agent type, migration or dependency.</a:t>
            </a:r>
          </a:p>
          <a:p/>
          <a:p>
            <a:r>
              <a:t>Privacy: Public documents exclude private catalog values.</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and published on October 14: a dropped file never errors, never opens as text by mistake and never navigates away.</a:t>
            </a:r>
          </a:p>
          <a:p/>
          <a:p>
            <a:r>
              <a:t>Dropping an MCP .json on the chat used to report an error, on the canvas it opened as plain text and killed the import, and on every other page the browser left for the file. One listener now sits in the head of the chat, both panels, the welcome and login pages, the admin pages and the PDF viewer frame, as the File Drop section describes. It claims only file drags.</a:t>
            </a:r>
          </a:p>
          <a:p/>
          <a:p>
            <a:r>
              <a:t>It decides by the bytes, not the name, and sends each kind to its own mechanism: an MCP .json to a confirmation and the External MCP catalog, a .flw or .fpmt flow to its editor, an image to the message, a PDF, Markdown or code file to the chat canvas, and anything else to a plain explanation.</a:t>
            </a:r>
          </a:p>
          <a:p/>
          <a:p>
            <a:r>
              <a:t>It replaced four per-page handlers. Checked with 138 router checks against the real script, 22 new Django tests and a visible Chrome run of 58 checks with 24 Shoter photographs, all on October 14.</a:t>
            </a:r>
          </a:p>
          <a:p/>
          <a:p>
            <a:r>
              <a:t>One listener: Capture phase, file drags only; text drags are untouched.</a:t>
            </a:r>
          </a:p>
          <a:p/>
          <a:p>
            <a:r>
              <a:t>By the bytes: Extension, MIME, magic numbers, BOM-aware text test, real JSON parse.</a:t>
            </a:r>
          </a:p>
          <a:p/>
          <a:p>
            <a:r>
              <a:t>MCP import: Never silent: a confirmation lists the servers first.</a:t>
            </a:r>
          </a:p>
          <a:p/>
          <a:p>
            <a:r>
              <a:t>Everywhere: Chat, both panels, welcome, login, admin and the PDF frame.</a:t>
            </a:r>
          </a:p>
          <a:p/>
          <a:p>
            <a:r>
              <a:t>Evidence: 138 router checks, 22 tests, 58 visible checks, 24 photographs.</a:t>
            </a:r>
          </a:p>
          <a:p/>
          <a:p>
            <a:r>
              <a:t>Tag: v1.83.0 at a2914019, pushed and published October 14.</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63a62cc1 on October 13, credited to Tlamatini's-AutoBot; shipped in v1.83.0.</a:t>
            </a:r>
          </a:p>
          <a:p/>
          <a:p>
            <a:r>
              <a:t>The divider above the message box used to reserve the portrait's current width as the box's minimum height, so a wide portrait kept the box from shrinking. It now reserves only a 120-pixel portrait plus its controls, and the docked portrait follows the divider: its side is the smaller of a quarter of the form width and the height above the Send and Mic row, never below 120 pixels.</a:t>
            </a:r>
          </a:p>
          <a:p/>
          <a:p>
            <a:r>
              <a:t>At the initial 1440-pixel window the portrait went from 282 to 120 pixels, returning about 162 pixels to the chat history. Nineteen docked-avatar checkpoints and all eighteen existing composer checkpoints passed in a visible Chrome window.</a:t>
            </a:r>
          </a:p>
          <a:p/>
          <a:p>
            <a:r>
              <a:t>Down: Dragging the divider down shrinks the portrait to a 120-pixel square.</a:t>
            </a:r>
          </a:p>
          <a:p/>
          <a:p>
            <a:r>
              <a:t>Up: Dragging it up gives the portrait back, up to its original column.</a:t>
            </a:r>
          </a:p>
          <a:p/>
          <a:p>
            <a:r>
              <a:t>Keyboard: Arrows, Shift+arrows, Home, End, double-click and Escape still work.</a:t>
            </a:r>
          </a:p>
          <a:p/>
          <a:p>
            <a:r>
              <a:t>Evidence: 19 docked-avatar and 18 composer checkpoints passed.</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 91ff8453 on October 12, credited to Tlamatini's-AutoBot; shipped in v1.83.0.</a:t>
            </a:r>
          </a:p>
          <a:p/>
          <a:p>
            <a:r>
              <a:t>When the launcher refuses an Image-Interpreter or Video-Analyzer call before the agent starts, because a setting does not exist or a mandatory one is missing, the refusal is marked as a request error. It no longer raises the red fatal-analysis dialog and its sound; the model simply corrects the call. A real start failure still raises the dialog.</a:t>
            </a:r>
          </a:p>
          <a:p/>
          <a:p>
            <a:r>
              <a:t>Video-Analyzer's description now says it has no transcription engine setting, which belongs to Whisperer. Five new tests pin the behavior, and it reaches installations with v1.83.0.</a:t>
            </a:r>
          </a:p>
          <a:p/>
          <a:p>
            <a:r>
              <a:t>Request errors: Refused before any model ran; the model retries.</a:t>
            </a:r>
          </a:p>
          <a:p/>
          <a:p>
            <a:r>
              <a:t>Real failures: Still raise the accumulated fatal dialog.</a:t>
            </a:r>
          </a:p>
          <a:p/>
          <a:p>
            <a:r>
              <a:t>No engine setting: engine= belongs to Whisperer, not Video-Analyzer.</a:t>
            </a:r>
          </a:p>
          <a:p/>
          <a:p>
            <a:r>
              <a:t>Tests: Five tests in RequestRefusalIsNotFatalTests.</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and published on October 12: new setup windows, and Markdown that opens as a page.</a:t>
            </a:r>
          </a:p>
          <a:p/>
          <a:p>
            <a:r>
              <a:t>The Installer and Uninstaller share one window that prepares and verifies a recovery copy before changing any file, restores an interrupted run, names a locked file and keeps every error on screen with Retry, as the Setup Windows section describes. Markdown files now open in the chat canvas as a rendered page with their source kept intact.</a:t>
            </a:r>
          </a:p>
          <a:p/>
          <a:p>
            <a:r>
              <a:t>The release was published on GitHub on October 12 and was the latest until v1.83.0 replaced it on October 14. Its zip was a self-modify build whose package carried the setup windows, the Markdown canvas, the shared theme of v1.80.0 and the web links of v1.79.0. There is no v1.81.0 tag.</a:t>
            </a:r>
          </a:p>
          <a:p/>
          <a:p>
            <a:r>
              <a:t>The setup campaign ran visibly on October 11 and 12: 52 interface checkpoints, 28 recovery checks, 21 lifecycle checks and 61 mechanics tests passed, with five real installations and four real removals passing their independent audits. The Markdown canvas passed 30 of 30 visible checkpoints. The campaign did not install the published zip.</a:t>
            </a:r>
          </a:p>
          <a:p/>
          <a:p>
            <a:r>
              <a:t>Setup windows: One recoverable window for installing and removing.</a:t>
            </a:r>
          </a:p>
          <a:p/>
          <a:p>
            <a:r>
              <a:t>Markdown: Rendered Preview, original Source, offline sanitizer.</a:t>
            </a:r>
          </a:p>
          <a:p/>
          <a:p>
            <a:r>
              <a:t>Published: October 12; the latest release until v1.83.0.</a:t>
            </a:r>
          </a:p>
          <a:p/>
          <a:p>
            <a:r>
              <a:t>No v1.81.0: The number was skipped; v1.80.0 and v1.79.0 come before it.</a:t>
            </a:r>
          </a:p>
          <a:p/>
          <a:p>
            <a:r>
              <a:t>Campaign: Five installations and four removals passed; one removal stopped safely.</a:t>
            </a:r>
          </a:p>
          <a:p/>
          <a:p>
            <a:r>
              <a:t>Followed by: v1.83.0 on October 14 carries the three later changes.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11 without a release of its own; it reaches users through v1.82.0 and v1.83.0.</a:t>
            </a:r>
          </a:p>
          <a:p/>
          <a:p>
            <a:r>
              <a:t>Every first-party page now draws from one set of design tokens, and the five pane dividers share one grip and one gesture model, as the One Look section describes. The side divider was first made to match the composer divider, then the whole site followed the same evening.</a:t>
            </a:r>
          </a:p>
          <a:p/>
          <a:p>
            <a:r>
              <a:t>The source campaign passed 175 tests with two platform skips, 17 composer checkpoints, 38 zoom and responsive checkpoints at 25 to 400 percent, 13 commentary checkpoints and all eight dialog resize directions, in a visible Chrome window. It certifies the source pages, not a model answer or an installed build.</a:t>
            </a:r>
          </a:p>
          <a:p/>
          <a:p>
            <a:r>
              <a:t>Tag: v1.80.0 at 82099963, pushed; no published release.</a:t>
            </a:r>
          </a:p>
          <a:p/>
          <a:p>
            <a:r>
              <a:t>Tokens: Slate surfaces, teal accent, one font set, one scrollbar.</a:t>
            </a:r>
          </a:p>
          <a:p/>
          <a:p>
            <a:r>
              <a:t>Dividers: Five seams, one grip, arrows and Shift, Home and End.</a:t>
            </a:r>
          </a:p>
          <a:p/>
          <a:p>
            <a:r>
              <a:t>Dialogs: Eight-direction and keyboard resizing; matching buttons.</a:t>
            </a:r>
          </a:p>
          <a:p/>
          <a:p>
            <a:r>
              <a:t>Evidence: 175 tests and visible zoom, composer and dialog checks.</a:t>
            </a:r>
          </a:p>
          <a:p/>
          <a:p>
            <a:r>
              <a:t>Delivered by: The published v1.82.0 and v1.83.0 releases.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11 without a release of its own; it reaches users through v1.82.0 and v1.83.0.</a:t>
            </a:r>
          </a:p>
          <a:p/>
          <a:p>
            <a:r>
              <a:t>Given a YouTube or other web link, Video-Analyzer downloads one item itself: only the sound for a transcription, the picture for a summary or a robotics check. It keeps a private, self-updating downloader, updates it once and retries when a download fails, joins picture and sound without ffmpeg, and names every failure instead of returning silence.</a:t>
            </a:r>
          </a:p>
          <a:p/>
          <a:p>
            <a:r>
              <a:t>The chat parser no longer mistakes a link's ?v= for a setting, a request written in plain words fills in the link and the mode, and the result adds the source address and title. The model is told to hand links to Video-Analyzer and never to install a downloader itself. 141 unit tests and a visible 12-of-12 chat run passed on October 11.</a:t>
            </a:r>
          </a:p>
          <a:p/>
          <a:p>
            <a:r>
              <a:t>One item: Sound for transcription, picture for summary or robotics.</a:t>
            </a:r>
          </a:p>
          <a:p/>
          <a:p>
            <a:r>
              <a:t>Self-updating: A private downloader, refreshed once on failure.</a:t>
            </a:r>
          </a:p>
          <a:p/>
          <a:p>
            <a:r>
              <a:t>Named failures: Unavailable, login required, network, timeout and more.</a:t>
            </a:r>
          </a:p>
          <a:p/>
          <a:p>
            <a:r>
              <a:t>Prose works: Plain-language requests fill in the link and the mode.</a:t>
            </a:r>
          </a:p>
          <a:p/>
          <a:p>
            <a:r>
              <a:t>Evidence: 141 unit tests and a visible 12-of-12 chat run.</a:t>
            </a:r>
          </a:p>
          <a:p/>
          <a:p>
            <a:r>
              <a:t>Delivered by: The published v1.82.0 and v1.83.0 releases.</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10; the Usage commit lands one commit after the tag. The published v1.78.0 zip carries it.</a:t>
            </a:r>
          </a:p>
          <a:p/>
          <a:p>
            <a:r>
              <a:t>The first October 10 campaign passed 18 Usage tests, 202 existing regressions and 24 visible browser checks, plus source/collected-static byte parity. The live Pro account was compared with Ollama Settings before and after a real model request, and Usage opened and refreshed while that request ran. Other-plan, failure and account-switch cases used explicitly synthetic fixtures, not live Free, Max or Unlimited subscriptions.</a:t>
            </a:r>
          </a:p>
          <a:p/>
          <a:p>
            <a:r>
              <a:t>A follow-up the same day made Usage recover when Ollama starts late. Temporary connection, timeout and invalid-response failures now retry after 15 seconds instead of a full minute, an upstream Retry-After is respected even when Refresh is clicked repeatedly, and a refused connection is checked again at once on Refresh or reopen. It passed 27 Usage tests and 12 visible browser checks: Refresh recovered in 0.47 seconds, reopening in 0.52 seconds and the automatic retry in 15.02 seconds.</a:t>
            </a:r>
          </a:p>
          <a:p/>
          <a:p>
            <a:r>
              <a:t>UsageDaily, migration 0213, records counters by user/model/UTC day through a bounded worker queue; it is best-effort telemetry, not a billing ledger. Both inclusion sweeps passed. Those campaigns ran from source. This refresh checked that the published zip matches the local build byte for byte (SHA-256); it did not install the release or rerun the browser tests.</a:t>
            </a:r>
          </a:p>
          <a:p/>
          <a:p>
            <a:r>
              <a:t>220 tests: 18 Usage plus 202 existing regressions passed on October 10.</a:t>
            </a:r>
          </a:p>
          <a:p/>
          <a:p>
            <a:r>
              <a:t>24 browser checks: Visible live Pro comparisons plus clearly synthetic edge cases.</a:t>
            </a:r>
          </a:p>
          <a:p/>
          <a:p>
            <a:r>
              <a:t>Recovery: 27 Usage tests and 12 visible checks; outages retried after 15 s.</a:t>
            </a:r>
          </a:p>
          <a:p/>
          <a:p>
            <a:r>
              <a:t>During a request: Usage opened/refreshed while a real model answer completed.</a:t>
            </a:r>
          </a:p>
          <a:p/>
          <a:p>
            <a:r>
              <a:t>In the release: The published zip's files match the latest October 10 commit.</a:t>
            </a:r>
          </a:p>
          <a:p/>
          <a:p>
            <a:r>
              <a:t>Privacy: Account observations and authenticated screenshots stay out of this dossier.</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commits after the v1.78.0 tag, and carried by the published zip: the input area resizes once she floats.</a:t>
            </a:r>
          </a:p>
          <a:p/>
          <a:p>
            <a:r>
              <a:t>With the avatar undocked, the input form can now be dragged down to its own action buttons plus a six-pixel guard; the old 30% floor is gone. The toolbar, context gauge, attachment and dictation rows count with their measured heights. Docking her again restores room for the portrait. The divider answers the pointer, the arrow keys, Shift+arrows, Home, End and double-click, and reports its height to screen readers.</a:t>
            </a:r>
          </a:p>
          <a:p/>
          <a:p>
            <a:r>
              <a:t>Short windows scroll the composer inside itself and keep the chat history. The page occupies the real viewport: collapsed navigation opens over the workspace instead of pushing it down, and a 640-pixel minimum workspace keeps both panes on narrow screens. jQuery UI dialogs stay inside the window after opening, dragging or resizing, short native dialogs scroll as complete cards, and the avatar never covers a modal dialog.</a:t>
            </a:r>
          </a:p>
          <a:p/>
          <a:p>
            <a:r>
              <a:t>In a verified foreground Chrome window, 18 composer checks and 38 viewport checks passed at 100%, native 400% and 25% zoom and in a phone-sized window, with eight dialogs at each size. That is a desktop browser at phone-sized dimensions, not a physical phone; 20% zoom was unavailable and is not claimed. These layout checks do not certify model inference or audio capture.</a:t>
            </a:r>
          </a:p>
          <a:p/>
          <a:p>
            <a:r>
              <a:t>Shrinks to fit: Undocked, the input area can shrink to its buttons; no 30% floor.</a:t>
            </a:r>
          </a:p>
          <a:p/>
          <a:p>
            <a:r>
              <a:t>Dock again: Docking restores room for her portrait above the buttons.</a:t>
            </a:r>
          </a:p>
          <a:p/>
          <a:p>
            <a:r>
              <a:t>Keyboard: Arrows, Shift+arrows, Home, End and double-click on the divider.</a:t>
            </a:r>
          </a:p>
          <a:p/>
          <a:p>
            <a:r>
              <a:t>Short windows: The composer scrolls inside itself; chat history stays visible.</a:t>
            </a:r>
          </a:p>
          <a:p/>
          <a:p>
            <a:r>
              <a:t>Narrow screens: A 640-pixel workspace pans; the page and dialogs stay anchored.</a:t>
            </a:r>
          </a:p>
          <a:p/>
          <a:p>
            <a:r>
              <a:t>Evidence: 18 composer and 38 viewport checks passed, visibly, on October 10.</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Image-Interpreter now reads a comma-separated list of images, a change credited to Tlamatini herself.</a:t>
            </a:r>
          </a:p>
          <a:p/>
          <a:p>
            <a:r>
              <a:t>Commit 0e6fc72d is titled “Tlamatini's self-repair Image-Interpreter, by Tlamatini's-AutoBot” and is the commit the v1.78.0 tag points to. When the images field holds several paths separated by commas, each entry is resolved on its own, the results are merged, and repeated paths are removed while the original order is kept.</a:t>
            </a:r>
          </a:p>
          <a:p/>
          <a:p>
            <a:r>
              <a:t>The list is split only when the whole value is not itself an existing file, so a single image whose name contains a comma still resolves. An entry that matches nothing is logged as a warning and the other images are still analyzed. The 22-line change arrived without a new automated test; it ships in the published v1.78.0 release.</a:t>
            </a:r>
          </a:p>
          <a:p/>
          <a:p>
            <a:r>
              <a:t>Several images: Comma-separated paths are resolved one by one and merged.</a:t>
            </a:r>
          </a:p>
          <a:p/>
          <a:p>
            <a:r>
              <a:t>No duplicates: Repeated paths are removed; the original order is kept.</a:t>
            </a:r>
          </a:p>
          <a:p/>
          <a:p>
            <a:r>
              <a:t>Commas in names: A single existing file is never split at its comma.</a:t>
            </a:r>
          </a:p>
          <a:p/>
          <a:p>
            <a:r>
              <a:t>Honest warning: An entry that resolves to nothing is logged, not hidden.</a:t>
            </a:r>
          </a:p>
          <a:p/>
          <a:p>
            <a:r>
              <a:t>Self-repair: The commit credits Tlamatini's-AutoBot, her own self-modify work.</a:t>
            </a:r>
          </a:p>
          <a:p/>
          <a:p>
            <a:r>
              <a:t>In v1.78.0: The tag points to this commit; no dedicated test yet.</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and published on October 9; v1.78.0 replaced it as the Latest release on October 10.</a:t>
            </a:r>
          </a:p>
          <a:p/>
          <a:p>
            <a:r>
              <a:t>Every fixed line Tlamatini sends to the chat, and that her avatar reads aloud, is now written in the first person and addressed to the user by name: “I'm ready, Angela! You can start chatting with me now.” replaces “Your agent is ready.” The lines live in one place, agent/constants.py; a helper fills in the first name, or the user name when there is no first name, and leaves the name out cleanly when there is neither.</a:t>
            </a:r>
          </a:p>
          <a:p/>
          <a:p>
            <a:r>
              <a:t>Some of these lines are recognised by their words: the chat page uses them to know it is busy or ready, the avatar to decide what to say, and the Telegram bridge to filter its replies. Every one of those matchers changed in the same commit and still accepts the old wording, so a saved chat history and an older server still read correctly.</a:t>
            </a:r>
          </a:p>
          <a:p/>
          <a:p>
            <a:r>
              <a:t>The uninstaller no longer erases the user's own work. Uninstalling an installation had deleted the projects kept in Templates/, where STM32er, ESP32er, Arduiner, ESPHomer, Unrealer and LaTeXer create their projects by default. It now keeps application, applications, content_generated, context_files, doc_generated and Templates whenever they hold a file, always erases Temp/, and still keeps agents/. Only a rebuilt Uninstaller.exe carries this: a fresh install or a reinstall copies it, while an in-app update keeps the old one.</a:t>
            </a:r>
          </a:p>
          <a:p/>
          <a:p>
            <a:r>
              <a:t>Both changes are covered by unit tests (the message tests in test_compact_mode_switch.py and test_uninstaller_mechanics.py), recorded as passing in the October 9 documentation refresh.</a:t>
            </a:r>
          </a:p>
          <a:p/>
          <a:p>
            <a:r>
              <a:t>First person: Fixed chat lines say “I” and use your name.</a:t>
            </a:r>
          </a:p>
          <a:p/>
          <a:p>
            <a:r>
              <a:t>One source: Every fixed line lives in agent/constants.py.</a:t>
            </a:r>
          </a:p>
          <a:p/>
          <a:p>
            <a:r>
              <a:t>Old wording kept: Matchers accept both, so old histories still read.</a:t>
            </a:r>
          </a:p>
          <a:p/>
          <a:p>
            <a:r>
              <a:t>Templates kept: Uninstalling keeps the projects in Templates/.</a:t>
            </a:r>
          </a:p>
          <a:p/>
          <a:p>
            <a:r>
              <a:t>Temp erased: Scratch goes; folders holding your files stay.</a:t>
            </a:r>
          </a:p>
          <a:p/>
          <a:p>
            <a:r>
              <a:t>Rebuilt uninstaller: A reinstall carries the fix; an in-app update does not.</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8; the Model Brain commit lands on main one commit after the tag. The published v1.76.0 release was built from main and carries it.</a:t>
            </a:r>
          </a:p>
          <a:p/>
          <a:p>
            <a:r>
              <a:t>Every model Tlamatini calls now receives its own sampling, thinking level and context size from formal sources, as the How She Works chapter describes. Config ▸ Models ▸ Save opens an Auto-tuning dialog that tunes each configured model in front of you, thinking models keep their own reasoning between tool calls inside one answer, and the stall clocks that threw finished work away are gone.</a:t>
            </a:r>
          </a:p>
          <a:p/>
          <a:p>
            <a:r>
              <a:t>The console window paints each line by level: errors red, fatal errors white on red, warnings yellow, debug grey and successes green, while tlamatini.log stays plain text. At startup she logs which program draws the window, the classic console or Windows Terminal, the default on Windows 11. console_colors and the standard NO_COLOR variable turn the colours off.</a:t>
            </a:r>
          </a:p>
          <a:p/>
          <a:p>
            <a:r>
              <a:t>Two smaller repairs ship beside it. A PDF refused because a second account signed in from the same browser now names that cause and the fix, reloading with F5, and the progress dialog marks the failed step. Two chat pages on two different models no longer make each other measure again forever: a model's verdict updates the boxes and stops. On two idle test pages the re-sends fell from 1,081 in one minute to none.</a:t>
            </a:r>
          </a:p>
          <a:p/>
          <a:p>
            <a:r>
              <a:t>On October 8 the visible Model Brain test passed 25 of 25 checks in a source run and the visible PDF-account test passed 20 of 20. These are dated results, not a claim that this documentation refresh reran them. Publication status is stated in the Release Identity section.</a:t>
            </a:r>
          </a:p>
          <a:p/>
          <a:p>
            <a:r>
              <a:t>Model Brain: Per-model settings from cited sources; Auto-tuning shows each one.</a:t>
            </a:r>
          </a:p>
          <a:p/>
          <a:p>
            <a:r>
              <a:t>Reasoning kept: Thinking models keep their train of thought between tool calls.</a:t>
            </a:r>
          </a:p>
          <a:p/>
          <a:p>
            <a:r>
              <a:t>Coloured console: Lines coloured by level; the log file stays plain text.</a:t>
            </a:r>
          </a:p>
          <a:p/>
          <a:p>
            <a:r>
              <a:t>Truthful refusal: A PDF refused for a second account says why and how to fix it.</a:t>
            </a:r>
          </a:p>
          <a:p/>
          <a:p>
            <a:r>
              <a:t>Quiet tabs: Two pages on two models no longer re-measure each other.</a:t>
            </a:r>
          </a:p>
          <a:p/>
          <a:p>
            <a:r>
              <a:t>Evidence: 25 of 25 and 20 of 20 visible checks on October 8.</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October 7 and 8: LaTeXer, Mover and the document agents report what really happened.</a:t>
            </a:r>
          </a:p>
          <a:p/>
          <a:p>
            <a:r>
              <a:t>LaTeXer reports a PDF only when the delivered file really exists and is not empty, and a PDF whose text sticks out more than five points past the margin is reported as created with findings, not as clean. When it had to cut a quarter or more of a broken document's body to produce any PDF at all, it saves the result as &lt;name&gt;.DEGRADED.pdf and leaves the requested name untouched. In a document longer than 8,000 characters the model rung first repairs only the lines around the compiler's error with a capped request; an unusable reply falls back to the whole-document request, and a reply that never came forbids the bisect rung.</a:t>
            </a:r>
          </a:p>
          <a:p/>
          <a:p>
            <a:r>
              <a:t>Mover no longer erases a destination folder to copy into it: folders are merged, each file is staged and published whole, a move removes its source only afterwards, and a failure ends with a failure receipt and a non-zero exit instead of a success. Document and capture agents keep a finished file when Windows Controlled Folder Access blocks the folder, and the security whitelist script now finds every Tlamatini installation and lets its Python save files.</a:t>
            </a:r>
          </a:p>
          <a:p/>
          <a:p>
            <a:r>
              <a:t>The October 8 LaTeXer change added 37 tests, and all 549 LaTeXer tests passed with it. The October 7 Mover and LaTeXer delivery work passed 126 focused tests.</a:t>
            </a:r>
          </a:p>
          <a:p/>
          <a:p>
            <a:r>
              <a:t>Real PDFs: Success only when the delivered file exists and is not empty.</a:t>
            </a:r>
          </a:p>
          <a:p/>
          <a:p>
            <a:r>
              <a:t>Layout findings: Text past the margin is reported, never called clean.</a:t>
            </a:r>
          </a:p>
          <a:p/>
          <a:p>
            <a:r>
              <a:t>DEGRADED name: A mostly-cut build never wears the name you asked for.</a:t>
            </a:r>
          </a:p>
          <a:p/>
          <a:p>
            <a:r>
              <a:t>Region repair: Large documents: the lines around the error are repaired first.</a:t>
            </a:r>
          </a:p>
          <a:p/>
          <a:p>
            <a:r>
              <a:t>Mover: Destinations are merged, never erased; failures are reported.</a:t>
            </a:r>
          </a:p>
          <a:p/>
          <a:p>
            <a:r>
              <a:t>Protected folders: Finished files survive Controlled Folder Access.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Committed after the v1.75.0 tag and carried by the v1.76.0 tag.</a:t>
            </a:r>
          </a:p>
          <a:p/>
          <a:p>
            <a:r>
              <a:t>The Files-Search and System-Metrics helpers ask Ollama their own questions before the main answer. Those calls now have a time limit, context_sidecar_llm_timeout_seconds, 60 seconds by default; at the limit, or when you press Cancel, a helper skips its context and the answer goes ahead, so a slow reply can no longer freeze the chat.</a:t>
            </a:r>
          </a:p>
          <a:p/>
          <a:p>
            <a:r>
              <a:t>When Windows still holds Uninstaller.exe while the uninstaller finishes, the file is retried, moved aside and deleted by a hidden cleanup after exit, so the uninstall completes. File-Creator gained append: true adds the content to the end of a file, byte for byte, instead of overwriting it.</a:t>
            </a:r>
          </a:p>
          <a:p/>
          <a:p>
            <a:r>
              <a:t>Context helpers: Their own model calls stop at a time limit or on Cancel.</a:t>
            </a:r>
          </a:p>
          <a:p/>
          <a:p>
            <a:r>
              <a:t>Uninstaller: A held Uninstaller.exe is moved aside and removed after exit.</a:t>
            </a:r>
          </a:p>
          <a:p/>
          <a:p>
            <a:r>
              <a:t>File-Creator: append: true adds to a file instead of overwriting it.</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Committed to main on October 4 and carried by the v1.76.0 tag; local executables were rebuilt to validate them.</a:t>
            </a:r>
          </a:p>
          <a:p/>
          <a:p>
            <a:r>
              <a:t>User Commentary is edited entirely on the canvas. Double-click or press Enter to write, then format selected words with the floating mini toolbar. A single note can combine different fonts, sizes, text colors, bold, italic and underline. A caret styles the next text you type. Bubble color and alignment apply to the whole note.</a:t>
            </a:r>
          </a:p>
          <a:p/>
          <a:p>
            <a:r>
              <a:t>Drag any border or corner, including while writing. Fit text removes spare height. Every wrapped line stays inside the bubble without an internal scrollbar. Done or Ctrl+Enter saves the edit. Cancel or Escape restores its text, styles, size and position.</a:t>
            </a:r>
          </a:p>
          <a:p/>
          <a:p>
            <a:r>
              <a:t>The divider above Run output allocates 5% to 95% of the usable canvas/output height. Only the two viewports change. Canvas zoom, figure dimensions and text sizes stay fixed, and each pane scrolls independently. The browser remembers the ratio per signed-in user.</a:t>
            </a:r>
          </a:p>
          <a:p/>
          <a:p>
            <a:r>
              <a:t>The October 4 commentary verification passed 29 diagram/runner tests, 3 carriage tests and 23 visible Chrome checkpoints, including three mixed-style comments through three file save/open cycles with identical data and rendered line boxes. The output-divider verification separately passed 14 visible Chrome checkpoints and 3 carriage tests. These are dated results, not a claim that this documentation refresh reran them.</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Committed on main after the v1.75.0 tag and carried by the v1.76.0 tag.</a:t>
            </a:r>
          </a:p>
          <a:p/>
          <a:p>
            <a:r>
              <a:t>Ollama's cloud models refuse a request that carries more than four stop sequences, and the chat model used to send nine, so the chat-history summary, the first call once a conversation grows long, failed the whole request. Every stop list now passes through one fitter that keeps at most four, most important first, and a failed summary no longer fails the answer: the request continues without it, while Cancel still stops it.</a:t>
            </a:r>
          </a:p>
          <a:p/>
          <a:p>
            <a:r>
              <a:t>The Prompt Flow Panel separates two things that shared one name. User Input is the operation that stops to ask you something; it keeps exactly its old behaviour under a new notched figure. User Commentary is now a static speech-bubble note for reviewers: written in place, coloured and styled freely, growing to hold its whole text without a scrollbar, and never run. New files are saved as version 2; version 1 files open with their old commentary steps turned into User Input, identifiers and connections kept.</a:t>
            </a:r>
          </a:p>
          <a:p/>
          <a:p>
            <a:r>
              <a:t>The October 3 refresh reran 430 targeted unit tests, the offline Prompt Flow check, ESLint with zero errors, the skills inventory and both inclusion sweeps; all passed, and ruff now reports a clean tree. In a visible Chrome on the real desktop, the commentary test passed all nine checkpoints: long notes without scrollbars, fonts and colours, resize with Undo and Redo, save and reopen, a real User Input run, Escape stopping it, and a version 1 file migrating.</a:t>
            </a:r>
          </a:p>
          <a:p/>
          <a:p>
            <a:r>
              <a:t>Four stop sequences: Every Ollama request; a failed summary never fails the answer.</a:t>
            </a:r>
          </a:p>
          <a:p/>
          <a:p>
            <a:r>
              <a:t>User Input: The step that asks you: same mechanism, new figure.</a:t>
            </a:r>
          </a:p>
          <a:p/>
          <a:p>
            <a:r>
              <a:t>User Commentary: A static review note; it never runs and never reaches the model.</a:t>
            </a:r>
          </a:p>
          <a:p/>
          <a:p>
            <a:r>
              <a:t>Version 2 files: Version 1 flows migrate on open; identifiers and links are kept.</a:t>
            </a:r>
          </a:p>
          <a:p/>
          <a:p>
            <a:r>
              <a:t>October 3 evidence: 430 unit tests; 9 of 9 visible Chrome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3: Compact mode is a toolbar switch; the Self-modify switch followed and ships in v1.76.0.</a:t>
            </a:r>
          </a:p>
          <a:p/>
          <a:p>
            <a:r>
              <a:t>Compact mode as tagged in v1.74.0 was a verdict made behind the user's back. In v1.75.0 it is a toolbar box. Ticking it unticks every row in Configure MCPs, Configure Agents and ACPX-Skills except System-Metrics, Files-Search and Current-Time, and pauses the External MCPs; unticking it ticks every row again. Each row shows the tokens it adds, a model that cannot hold everything turns the box on and locks it, and an answer built from a cut request carries a CONTEXT-WINDOW warning.</a:t>
            </a:r>
          </a:p>
          <a:p/>
          <a:p>
            <a:r>
              <a:t>Right after the tag, commit 70aeeb87 added the Self-modify box, which ships in v1.76.0. A source run always shows it; a frozen build shows it only when built with --self-modify. On, it sends her self-knowledge, about 28,900 tokens per request; off, one line tells her not to change her own code. A model that cannot hold it shows the box locked off.</a:t>
            </a:r>
          </a:p>
          <a:p/>
          <a:p>
            <a:r>
              <a:t>The visible Compact-switch run passed 57 of 57 checks on a local qwen2.5 and a free cloud model. The visible Self-modify run passed 28 of 28: with the same 119 tools, the request with the self-knowledge was 117,517 bytes larger than without it. 473 unit tests passed, including a render of the page as a frozen build.</a:t>
            </a:r>
          </a:p>
          <a:p/>
          <a:p>
            <a:r>
              <a:t>Compact switch: Only the rows you tick; locked on when the model cannot hold everything.</a:t>
            </a:r>
          </a:p>
          <a:p/>
          <a:p>
            <a:r>
              <a:t>Prices: Every Configure row shows the tokens it adds to each request.</a:t>
            </a:r>
          </a:p>
          <a:p/>
          <a:p>
            <a:r>
              <a:t>Self-modify: Her self-knowledge on or off; locked off when it does not fit.</a:t>
            </a:r>
          </a:p>
          <a:p/>
          <a:p>
            <a:r>
              <a:t>Proof: 57/57 and 28/28 visible checks; 473 unit tests.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1: every request is fitted to the model it is sent to.</a:t>
            </a:r>
          </a:p>
          <a:p/>
          <a:p>
            <a:r>
              <a:t>A model that can hold Tlamatini's complete request still receives it byte for byte. A model whose real window is smaller receives Compact mode, described in the How She Works chapter, with a once-per-model dialog, a Compact badge and a locked ACPX box, replaced in v1.75.0 by a switch.</a:t>
            </a:r>
          </a:p>
          <a:p/>
          <a:p>
            <a:r>
              <a:t>The visible run on a local qwen2.5 exposed three more problems, fixed in the same release. In Compact mode the one-shot file guard now states the real reason a file cannot be opened, and a table the user asked to see is shown as a table instead of fenced code. For every model, an answer-table cell whose text would be unreadable is recoloured.</a:t>
            </a:r>
          </a:p>
          <a:p/>
          <a:p>
            <a:r>
              <a:t>On October 1 the visible Compact run on the installed qwen2.5:latest passed 37 of 37 checks at about 8,100 tokens per request, with no cuts. On nemotron-3-ultra:cloud every request stayed complete, with Ollama reading 102,539 to 104,259 tokens. A small model can still sometimes re-answer an earlier question before the new one. The v1.74.0 dossier refresh reran the 43 Compact-mode regression tests; all passed.</a:t>
            </a:r>
          </a:p>
          <a:p/>
          <a:p>
            <a:r>
              <a:t>Fitted: Full when the model can hold the request; Compact when it cannot.</a:t>
            </a:r>
          </a:p>
          <a:p/>
          <a:p>
            <a:r>
              <a:t>Compact proof: 37/37 visible checks on a local qwen2.5, about 8.1K tokens, no cuts.</a:t>
            </a:r>
          </a:p>
          <a:p/>
          <a:p>
            <a:r>
              <a:t>Full proof: A large cloud model read every request complete: about 103K tokens.</a:t>
            </a:r>
          </a:p>
          <a:p/>
          <a:p>
            <a:r>
              <a:t>Readable tables: Cells below 3:1 contrast are recoloured, for every model.</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on October 1: Config ▸ Models asks the configured Ollama servers, with their token.</a:t>
            </a:r>
          </a:p>
          <a:p/>
          <a:p>
            <a:r>
              <a:t>Config ▸ Models used to ask the browser's own Ollama for the model list, at an address fixed when the page loaded. After Config ▸ URLs pointed Tlamatini at a remote server, a model installed only there was marked red and could not be saved.</a:t>
            </a:r>
          </a:p>
          <a:p/>
          <a:p>
            <a:r>
              <a:t>A login-protected endpoint now reads config.json on every call, asks each distinct configured Ollama address in parallel with the same bearer token the chat sends, and merges their model names. Each server reports its own status, and the dialog names the server and the reason when one cannot answer, such as an HTTP 401 that points to the token.</a:t>
            </a:r>
          </a:p>
          <a:p/>
          <a:p>
            <a:r>
              <a:t>The same release made the start-up GPU step send the token too, so a token-protected remote server no longer answers 401 at every start. A visible run against a simulated token-protected server passed 16 of 16 checks, with every request carrying the token. The v1.74.0 dossier refresh reran the 18 model-catalog regression tests; all passed.</a:t>
            </a:r>
          </a:p>
          <a:p/>
          <a:p>
            <a:r>
              <a:t>Fresh address: Read from config.json on every call, never fixed at page load.</a:t>
            </a:r>
          </a:p>
          <a:p/>
          <a:p>
            <a:r>
              <a:t>Token: Every configured server is asked with the chat's own bearer token.</a:t>
            </a:r>
          </a:p>
          <a:p/>
          <a:p>
            <a:r>
              <a:t>Clear errors: Each server reports its status; a 401 points at the token.</a:t>
            </a:r>
          </a:p>
          <a:p/>
          <a:p>
            <a:r>
              <a:t>Start-up: The GPU warm-up sends the token too: no 401 at every start.</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and published on September 30: Drop throughout chat, with confirmation and history updates.</a:t>
            </a:r>
          </a:p>
          <a:p/>
          <a:p>
            <a:r>
              <a:t>Saved greetings, user prompts and answers carry their AgentMessage id from the first page render and subsequent WebSocket frames. The drop-message request validates that id against the signed-in conversation owner before deleting rows. A busy guard checks this connection's active run; it is not a global lock across all of the user's tabs.</a:t>
            </a:r>
          </a:p>
          <a:p/>
          <a:p>
            <a:r>
              <a:t>Successful deletion broadcasts message-dropped with all deleted ids to the user's tabs, then schedules a context-gauge refresh. Dropping a user prompt also removes up to twenty directly following Referenced Rephrase rows, stopping at the first other row. An answer or another user's message is never included in that cleanup.</a:t>
            </a:r>
          </a:p>
          <a:p/>
          <a:p>
            <a:r>
              <a:t>All 23 focused Drop regression tests passed on September 30, covering ownership, both message roles, neighboring rows, the history window, busy refusal, rephrases and browser/server protocol contracts. The September 30 maintainer record reports 42/42 checks in the extended visible browser harness, including a new real context count after every drop that ends lower than before; this dossier refresh reruns the focused suite without writing to the real memory graph.</a:t>
            </a:r>
          </a:p>
          <a:p/>
          <a:p>
            <a:r>
              <a:t>Owned rows: Server deletion is scoped to the signed-in user's conversation.</a:t>
            </a:r>
          </a:p>
          <a:p/>
          <a:p>
            <a:r>
              <a:t>Tabs and gauge: Confirmed ids remove saved cards across tabs and refresh the context estimate.</a:t>
            </a:r>
          </a:p>
          <a:p/>
          <a:p>
            <a:r>
              <a:t>Rephrases: Prompt cleanup removes following rephrase copies and keeps the answer.</a:t>
            </a:r>
          </a:p>
          <a:p/>
          <a:p>
            <a:r>
              <a:t>Run guard: An active answer blocks Drop on that connection. Other tabs have separate runs.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and published on September 29: no web page loses its text without saying so.</a:t>
            </a:r>
          </a:p>
          <a:p/>
          <a:p>
            <a:r>
              <a:t>Crawler and Googler strip a page to its words by skipping scripts, styles and similar blocks. A block that never closed, such as an omitted closing head tag or a cut-off download, used to swallow the rest of the page. Both now track open blocks with a stack, and a plain-text safety net replaces any result that kept too little, logging a warning when it does.</a:t>
            </a:r>
          </a:p>
          <a:p/>
          <a:p>
            <a:r>
              <a:t>Two tags travel with it. v1.72.2 added deadline-bound defaults to both agents, and a CAPTCHA or bot wall is reported as blocked, never read as content. v1.72.3 made the chat avatar's lips move clearly while she speaks, never wider than her own portrait.</a:t>
            </a:r>
          </a:p>
          <a:p/>
          <a:p>
            <a:r>
              <a:t>No silent loss: A stack of open tags replaces a counter in both agents.</a:t>
            </a:r>
          </a:p>
          <a:p/>
          <a:p>
            <a:r>
              <a:t>Safety net: A plain reading takes over when a parse keeps too little.</a:t>
            </a:r>
          </a:p>
          <a:p/>
          <a:p>
            <a:r>
              <a:t>Bounded defaults: v1.72.2: search and crawl budgets, cancellation and explicit outcomes.</a:t>
            </a:r>
          </a:p>
          <a:p/>
          <a:p>
            <a:r>
              <a:t>Refusals named: A CAPTCHA or bot wall comes back as blocked, never as content.</a:t>
            </a:r>
          </a:p>
          <a:p/>
          <a:p>
            <a:r>
              <a:t>Visible lips: v1.72.3: her lips open and close clearly, without gaping.</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Tagged and published on September 28: the ring beside the message box shows Ollama's own count.</a:t>
            </a:r>
          </a:p>
          <a:p/>
          <a:p>
            <a:r>
              <a:t>The ring now reports the exact request Tlamatini's main chain sends. Bytes are measured; the token figure is Ollama's own prompt_eval_count for that request, and the ceiling is the context length Ollama reports. An estimate is shown only until Ollama answers, and says so.</a:t>
            </a:r>
          </a:p>
          <a:p/>
          <a:p>
            <a:r>
              <a:t>Between questions the ring shows what the next request will cost, recalculated whenever the state changes: page open, Clear history, Drop, Clear context, a context loaded, an answer finished or a mode toggled. It is exact in one-shot and Multi-Turn alike, per connected user, and one-shot questions no longer carry an empty System-Metrics line.</a:t>
            </a:r>
          </a:p>
          <a:p/>
          <a:p>
            <a:r>
              <a:t>Real tokens: Ollama's prompt_eval_count, paired to its own request.</a:t>
            </a:r>
          </a:p>
          <a:p/>
          <a:p>
            <a:r>
              <a:t>Exact in both modes: Live = at-rest prediction + the question + the Multi-Turn plan.</a:t>
            </a:r>
          </a:p>
          <a:p/>
          <a:p>
            <a:r>
              <a:t>Main chain only: Out-of-band calls never reach the ring; each user sees their own.</a:t>
            </a:r>
          </a:p>
          <a:p/>
          <a:p>
            <a:r>
              <a:t>Less waste: The question is sent once; the one-shot placeholder line is gone.</a:t>
            </a:r>
          </a:p>
          <a:p/>
          <a:p>
            <a:r>
              <a:t>Proof: A visible lab passed 60 of 60 checks against tlamatini.log.</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September 27 changes were tagged v1.72.0 and published on September 28.</a:t>
            </a:r>
          </a:p>
          <a:p/>
          <a:p>
            <a:r>
              <a:t>The chat microphone starts Whisperer directly, stops on the configured silence gate, recognizes speech and sends or leaves an editable draft as selected in Config &gt; Mic. The dialog also saves browser-local input, gain, gate and recognition preferences. The worker uses the main application logger and creates no second console. Developer tests remain visibly executed.</a:t>
            </a:r>
          </a:p>
          <a:p/>
          <a:p>
            <a:r>
              <a:t>The root dependency manifest and separate ESPHome manifest now account for referenced libraries across agents and source. The static guard and detailed dependency audit record coverage and runtime boundaries. They shipped in the published v1.72.0 release; the shared root-asset carrier repair that followed is committed and carried by v1.72.1.</a:t>
            </a:r>
          </a:p>
          <a:p/>
          <a:p>
            <a:r>
              <a:t>User guide: README.md and BookOfTlamatini.md explain Mic settings, recording, cancellation and both modes.</a:t>
            </a:r>
          </a:p>
          <a:p/>
          <a:p>
            <a:r>
              <a:t>Runtime contract: docs/chat-microphone-design.md records ownership, protocol, configuration and limits.</a:t>
            </a:r>
          </a:p>
          <a:p/>
          <a:p>
            <a:r>
              <a:t>Dependencies: docs/dependency-coverage-audit.md records declarations, isolation and verification.</a:t>
            </a:r>
          </a:p>
          <a:p/>
          <a:p>
            <a:r>
              <a:t>Delivery: Published as v1.72.0 and carried by v1.72.1, with the root-asset carrier repair.</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1.70.0 is about designing conversations and editing flows with the same ease.</a:t>
            </a:r>
          </a:p>
          <a:p/>
          <a:p>
            <a:r>
              <a:t>Prompt Flow Panel: Seven operations, .fpmt files, validated playback, isolated runs.</a:t>
            </a:r>
          </a:p>
          <a:p/>
          <a:p>
            <a:r>
              <a:t>Panels and Config: The canvases live under Panels; every Configure dialog under Config.</a:t>
            </a:r>
          </a:p>
          <a:p/>
          <a:p>
            <a:r>
              <a:t>A real editor: Undo and Redo, Duplicate with settings, zoom, Fit, agent search, Help.</a:t>
            </a:r>
          </a:p>
          <a:p/>
          <a:p>
            <a:r>
              <a:t>Shared mechanics: Both canvases connect, drag, select and zoom the same way.</a:t>
            </a:r>
          </a:p>
          <a:p/>
          <a:p>
            <a:r>
              <a:t>Busy-safe menus: Panels stays usable while she answers; one path re-arms the menus.</a:t>
            </a:r>
          </a:p>
          <a:p/>
          <a:p>
            <a:r>
              <a:t>Context line carried: The context meter, Context Governor and context gauge of v1.65.</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Recent tags, oldest first, read from Git.</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application, user guides, PDF and PowerPoint all identify the same current release. The repository metadata records the implementation inspected for this dossier.</a:t>
            </a:r>
          </a:p>
          <a:p/>
          <a:p>
            <a:r>
              <a:t>v1.91.1 is the current tagged source version. The application, user guides and both dossiers use the same version, 1.91.1.</a:t>
            </a:r>
          </a:p>
          <a:p/>
          <a:p>
            <a:r>
              <a:t>This audit inspected commit 9915938a. The existing annotated tag v1.91.1 was created on 2026-10-27 and resolves to 9915938a. Git history is preserved.</a:t>
            </a:r>
          </a:p>
          <a:p/>
          <a:p>
            <a:r>
              <a:t>A source tag identifies the implementation. GitHub publication and installed-package acceptance require separate evidence; documentation generation does not build or install an executable.</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IX: Repository Facts. The source tree measured: files, languages, effective lines, the largest files and recent history.</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come from Git and from the source files at the moment of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Counts come from Git and from the source files at the moment of generation.</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478,186 effective lines across 1,587 text files; 612,111 physical lines.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lines exclude blank lines, comment-only lines and Python docstrings.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lines exclude blank lines, comment-only lines and Python docstrings.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Third-party frontend libraries are vendored so the application needs no CDN at runtime; their lines are counted separately here so they are never mistaken for Tlamatini's own logic.</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Ranked by effective lines.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Ranked by effective lines.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recent commits on the inspected branch, newest first.</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recent commits on the inspected branch, newest first.</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inventory is reproducible: run the generator again and the same tree yields the same counts.</a:t>
            </a:r>
          </a:p>
          <a:p/>
          <a:p>
            <a:r>
              <a:t>Scope: Every Git-tracked file plus unignored working-tree additions; ignored build output, caches and runtime state are excluded.</a:t>
            </a:r>
          </a:p>
          <a:p/>
          <a:p>
            <a:r>
              <a:t>Text only: Binary assets such as images, fonts and archives are counted as files, never as lines.</a:t>
            </a:r>
          </a:p>
          <a:p/>
          <a:p>
            <a:r>
              <a:t>Python: Tokenized: comments, blank lines and module, class and function docstrings are excluded.</a:t>
            </a:r>
          </a:p>
          <a:p/>
          <a:p>
            <a:r>
              <a:t>Other languages: Block and line comments are stripped, then non-blank lines are counted.</a:t>
            </a:r>
          </a:p>
          <a:p/>
          <a:p>
            <a:r>
              <a:t>No private values: Configuration values, credentials and addresses are never reproduced.</a:t>
            </a:r>
          </a:p>
          <a:p/>
          <a:p>
            <a:r>
              <a:t>Regenerate: python Tlamatini\agent\doc_generation\refresh_project_docs.py</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A: The application file tree. 1,608 application files, with 221 database-history files summarized.</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A: the application file tree, continued.</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Tlamatini — one who knows. Created by Angela López Mendoza.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1.xml"/><Relationship Id="rId4" Type="http://schemas.openxmlformats.org/officeDocument/2006/relationships/chart" Target="../charts/char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5.xml"/><Relationship Id="rId4" Type="http://schemas.openxmlformats.org/officeDocument/2006/relationships/chart" Target="../charts/char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2.xml"/><Relationship Id="rId4" Type="http://schemas.openxmlformats.org/officeDocument/2006/relationships/image" Target="../media/image6.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ver.png"/>
          <p:cNvPicPr>
            <a:picLocks noChangeAspect="1"/>
          </p:cNvPicPr>
          <p:nvPr/>
        </p:nvPicPr>
        <p:blipFill>
          <a:blip r:embed="rId2"/>
          <a:stretch>
            <a:fillRect/>
          </a:stretch>
        </p:blipFill>
        <p:spPr>
          <a:xfrm>
            <a:off x="0" y="0"/>
            <a:ext cx="12191695" cy="6858000"/>
          </a:xfrm>
          <a:prstGeom prst="rect">
            <a:avLst/>
          </a:prstGeom>
        </p:spPr>
      </p:pic>
      <p:pic>
        <p:nvPicPr>
          <p:cNvPr id="3" name="Picture 2" descr="portrait_eo_mo_jade.png"/>
          <p:cNvPicPr>
            <a:picLocks noChangeAspect="1"/>
          </p:cNvPicPr>
          <p:nvPr/>
        </p:nvPicPr>
        <p:blipFill>
          <a:blip r:embed="rId4"/>
          <a:stretch>
            <a:fillRect/>
          </a:stretch>
        </p:blipFill>
        <p:spPr>
          <a:xfrm>
            <a:off x="1714408" y="1623060"/>
            <a:ext cx="3886200" cy="3886200"/>
          </a:xfrm>
          <a:prstGeom prst="rect">
            <a:avLst/>
          </a:prstGeom>
        </p:spPr>
      </p:pic>
      <p:sp>
        <p:nvSpPr>
          <p:cNvPr id="4" name="TextBox 3"/>
          <p:cNvSpPr txBox="1"/>
          <p:nvPr/>
        </p:nvSpPr>
        <p:spPr>
          <a:xfrm>
            <a:off x="6446520" y="896112"/>
            <a:ext cx="5303520" cy="329184"/>
          </a:xfrm>
          <a:prstGeom prst="rect">
            <a:avLst/>
          </a:prstGeom>
          <a:noFill/>
        </p:spPr>
        <p:txBody>
          <a:bodyPr wrap="square" lIns="45720" rIns="45720" tIns="27432" bIns="27432" anchor="t">
            <a:noAutofit/>
          </a:bodyPr>
          <a:lstStyle/>
          <a:p>
            <a:pPr algn="l">
              <a:lnSpc>
                <a:spcPct val="100000"/>
              </a:lnSpc>
            </a:pPr>
            <a:r>
              <a:rPr sz="1200" b="0" i="0" spc="340">
                <a:solidFill>
                  <a:srgbClr val="C98457"/>
                </a:solidFill>
                <a:latin typeface="Segoe UI Semibold"/>
              </a:rPr>
              <a:t>THE COMPLETE PROJECT DOSSIER</a:t>
            </a:r>
          </a:p>
        </p:txBody>
      </p:sp>
      <p:sp>
        <p:nvSpPr>
          <p:cNvPr id="5" name="TextBox 4"/>
          <p:cNvSpPr txBox="1"/>
          <p:nvPr/>
        </p:nvSpPr>
        <p:spPr>
          <a:xfrm>
            <a:off x="6391656" y="1261872"/>
            <a:ext cx="5394960" cy="1216152"/>
          </a:xfrm>
          <a:prstGeom prst="rect">
            <a:avLst/>
          </a:prstGeom>
          <a:noFill/>
        </p:spPr>
        <p:txBody>
          <a:bodyPr wrap="square" lIns="45720" rIns="45720" tIns="27432" bIns="27432" anchor="t">
            <a:noAutofit/>
          </a:bodyPr>
          <a:lstStyle/>
          <a:p>
            <a:pPr algn="l">
              <a:lnSpc>
                <a:spcPct val="100000"/>
              </a:lnSpc>
            </a:pPr>
            <a:r>
              <a:rPr sz="7450" b="0" i="0">
                <a:solidFill>
                  <a:srgbClr val="F7F2E8"/>
                </a:solidFill>
                <a:latin typeface="Palatino Linotype"/>
              </a:rPr>
              <a:t>Tlamatini</a:t>
            </a:r>
          </a:p>
        </p:txBody>
      </p:sp>
      <p:sp>
        <p:nvSpPr>
          <p:cNvPr id="6" name="TextBox 5"/>
          <p:cNvSpPr txBox="1"/>
          <p:nvPr/>
        </p:nvSpPr>
        <p:spPr>
          <a:xfrm>
            <a:off x="6446520" y="2505456"/>
            <a:ext cx="5303520" cy="502920"/>
          </a:xfrm>
          <a:prstGeom prst="rect">
            <a:avLst/>
          </a:prstGeom>
          <a:noFill/>
        </p:spPr>
        <p:txBody>
          <a:bodyPr wrap="square" lIns="45720" rIns="45720" tIns="27432" bIns="27432" anchor="t">
            <a:noAutofit/>
          </a:bodyPr>
          <a:lstStyle/>
          <a:p>
            <a:pPr algn="l">
              <a:lnSpc>
                <a:spcPct val="100000"/>
              </a:lnSpc>
            </a:pPr>
            <a:r>
              <a:rPr sz="2600" b="0" i="1">
                <a:solidFill>
                  <a:srgbClr val="3BBE93"/>
                </a:solidFill>
                <a:latin typeface="Palatino Linotype"/>
              </a:rPr>
              <a:t>the one who knows</a:t>
            </a:r>
          </a:p>
        </p:txBody>
      </p:sp>
      <p:sp>
        <p:nvSpPr>
          <p:cNvPr id="7" name="TextBox 6"/>
          <p:cNvSpPr txBox="1"/>
          <p:nvPr/>
        </p:nvSpPr>
        <p:spPr>
          <a:xfrm>
            <a:off x="6446520" y="3127248"/>
            <a:ext cx="5212080" cy="1005840"/>
          </a:xfrm>
          <a:prstGeom prst="rect">
            <a:avLst/>
          </a:prstGeom>
          <a:noFill/>
        </p:spPr>
        <p:txBody>
          <a:bodyPr wrap="square" lIns="45720" rIns="45720" tIns="27432" bIns="27432" anchor="t">
            <a:noAutofit/>
          </a:bodyPr>
          <a:lstStyle/>
          <a:p>
            <a:pPr algn="l">
              <a:lnSpc>
                <a:spcPct val="100000"/>
              </a:lnSpc>
            </a:pPr>
            <a:r>
              <a:rPr sz="1650" b="0" i="0">
                <a:solidFill>
                  <a:srgbClr val="ECE7DC"/>
                </a:solidFill>
                <a:latin typeface="Segoe UI Light"/>
              </a:rPr>
              <a:t>A self-hosted AI developer assistant with a visual agent-workflow designer, a universal MCP client, and the reach to drive real boards, engines and networks.</a:t>
            </a:r>
          </a:p>
        </p:txBody>
      </p:sp>
      <p:sp>
        <p:nvSpPr>
          <p:cNvPr id="8" name="TextBox 7"/>
          <p:cNvSpPr txBox="1"/>
          <p:nvPr/>
        </p:nvSpPr>
        <p:spPr>
          <a:xfrm>
            <a:off x="6446520" y="4370832"/>
            <a:ext cx="1234439" cy="548640"/>
          </a:xfrm>
          <a:prstGeom prst="rect">
            <a:avLst/>
          </a:prstGeom>
          <a:noFill/>
        </p:spPr>
        <p:txBody>
          <a:bodyPr wrap="square" lIns="45720" rIns="45720" tIns="27432" bIns="27432" anchor="t">
            <a:noAutofit/>
          </a:bodyPr>
          <a:lstStyle/>
          <a:p>
            <a:pPr algn="l">
              <a:lnSpc>
                <a:spcPct val="100000"/>
              </a:lnSpc>
            </a:pPr>
            <a:r>
              <a:rPr sz="3000" b="1" i="0">
                <a:solidFill>
                  <a:srgbClr val="E2B462"/>
                </a:solidFill>
                <a:latin typeface="Palatino Linotype"/>
              </a:rPr>
              <a:t>86</a:t>
            </a:r>
          </a:p>
        </p:txBody>
      </p:sp>
      <p:sp>
        <p:nvSpPr>
          <p:cNvPr id="9" name="TextBox 8"/>
          <p:cNvSpPr txBox="1"/>
          <p:nvPr/>
        </p:nvSpPr>
        <p:spPr>
          <a:xfrm>
            <a:off x="6446520" y="4937760"/>
            <a:ext cx="1234439" cy="274320"/>
          </a:xfrm>
          <a:prstGeom prst="rect">
            <a:avLst/>
          </a:prstGeom>
          <a:noFill/>
        </p:spPr>
        <p:txBody>
          <a:bodyPr wrap="square" lIns="45720" rIns="45720" tIns="27432" bIns="27432" anchor="t">
            <a:noAutofit/>
          </a:bodyPr>
          <a:lstStyle/>
          <a:p>
            <a:pPr algn="l">
              <a:lnSpc>
                <a:spcPct val="100000"/>
              </a:lnSpc>
            </a:pPr>
            <a:r>
              <a:rPr sz="950" b="0" i="0" spc="120">
                <a:solidFill>
                  <a:srgbClr val="A7B2B0"/>
                </a:solidFill>
                <a:latin typeface="Segoe UI Semibold"/>
              </a:rPr>
              <a:t>AGENT TYPES</a:t>
            </a:r>
          </a:p>
        </p:txBody>
      </p:sp>
      <p:sp>
        <p:nvSpPr>
          <p:cNvPr id="10" name="TextBox 9"/>
          <p:cNvSpPr txBox="1"/>
          <p:nvPr/>
        </p:nvSpPr>
        <p:spPr>
          <a:xfrm>
            <a:off x="7772400" y="4370832"/>
            <a:ext cx="1234439" cy="548640"/>
          </a:xfrm>
          <a:prstGeom prst="rect">
            <a:avLst/>
          </a:prstGeom>
          <a:noFill/>
        </p:spPr>
        <p:txBody>
          <a:bodyPr wrap="square" lIns="45720" rIns="45720" tIns="27432" bIns="27432" anchor="t">
            <a:noAutofit/>
          </a:bodyPr>
          <a:lstStyle/>
          <a:p>
            <a:pPr algn="l">
              <a:lnSpc>
                <a:spcPct val="100000"/>
              </a:lnSpc>
            </a:pPr>
            <a:r>
              <a:rPr sz="3000" b="1" i="0">
                <a:solidFill>
                  <a:srgbClr val="E2B462"/>
                </a:solidFill>
                <a:latin typeface="Palatino Linotype"/>
              </a:rPr>
              <a:t>110</a:t>
            </a:r>
          </a:p>
        </p:txBody>
      </p:sp>
      <p:sp>
        <p:nvSpPr>
          <p:cNvPr id="11" name="TextBox 10"/>
          <p:cNvSpPr txBox="1"/>
          <p:nvPr/>
        </p:nvSpPr>
        <p:spPr>
          <a:xfrm>
            <a:off x="7772400" y="4937760"/>
            <a:ext cx="1234439" cy="274320"/>
          </a:xfrm>
          <a:prstGeom prst="rect">
            <a:avLst/>
          </a:prstGeom>
          <a:noFill/>
        </p:spPr>
        <p:txBody>
          <a:bodyPr wrap="square" lIns="45720" rIns="45720" tIns="27432" bIns="27432" anchor="t">
            <a:noAutofit/>
          </a:bodyPr>
          <a:lstStyle/>
          <a:p>
            <a:pPr algn="l">
              <a:lnSpc>
                <a:spcPct val="100000"/>
              </a:lnSpc>
            </a:pPr>
            <a:r>
              <a:rPr sz="750" b="0" i="0" spc="95">
                <a:solidFill>
                  <a:srgbClr val="A7B2B0"/>
                </a:solidFill>
                <a:latin typeface="Segoe UI Semibold"/>
              </a:rPr>
              <a:t>MULTI-TURN TOOLS</a:t>
            </a:r>
          </a:p>
        </p:txBody>
      </p:sp>
      <p:cxnSp>
        <p:nvCxnSpPr>
          <p:cNvPr id="12" name="Connector 11"/>
          <p:cNvCxnSpPr/>
          <p:nvPr/>
        </p:nvCxnSpPr>
        <p:spPr>
          <a:xfrm>
            <a:off x="7680960" y="4443984"/>
            <a:ext cx="0" cy="676656"/>
          </a:xfrm>
          <a:prstGeom prst="line">
            <a:avLst/>
          </a:prstGeom>
          <a:ln w="11430">
            <a:solidFill>
              <a:srgbClr val="2A3A40"/>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098280" y="4370832"/>
            <a:ext cx="1234439" cy="548640"/>
          </a:xfrm>
          <a:prstGeom prst="rect">
            <a:avLst/>
          </a:prstGeom>
          <a:noFill/>
        </p:spPr>
        <p:txBody>
          <a:bodyPr wrap="square" lIns="45720" rIns="45720" tIns="27432" bIns="27432" anchor="t">
            <a:noAutofit/>
          </a:bodyPr>
          <a:lstStyle/>
          <a:p>
            <a:pPr algn="l">
              <a:lnSpc>
                <a:spcPct val="100000"/>
              </a:lnSpc>
            </a:pPr>
            <a:r>
              <a:rPr sz="3000" b="1" i="0">
                <a:solidFill>
                  <a:srgbClr val="E2B462"/>
                </a:solidFill>
                <a:latin typeface="Palatino Linotype"/>
              </a:rPr>
              <a:t>29</a:t>
            </a:r>
          </a:p>
        </p:txBody>
      </p:sp>
      <p:sp>
        <p:nvSpPr>
          <p:cNvPr id="14" name="TextBox 13"/>
          <p:cNvSpPr txBox="1"/>
          <p:nvPr/>
        </p:nvSpPr>
        <p:spPr>
          <a:xfrm>
            <a:off x="9098280" y="4937760"/>
            <a:ext cx="1234439" cy="274320"/>
          </a:xfrm>
          <a:prstGeom prst="rect">
            <a:avLst/>
          </a:prstGeom>
          <a:noFill/>
        </p:spPr>
        <p:txBody>
          <a:bodyPr wrap="square" lIns="45720" rIns="45720" tIns="27432" bIns="27432" anchor="t">
            <a:noAutofit/>
          </a:bodyPr>
          <a:lstStyle/>
          <a:p>
            <a:pPr algn="l">
              <a:lnSpc>
                <a:spcPct val="100000"/>
              </a:lnSpc>
            </a:pPr>
            <a:r>
              <a:rPr sz="950" b="0" i="0" spc="120">
                <a:solidFill>
                  <a:srgbClr val="A7B2B0"/>
                </a:solidFill>
                <a:latin typeface="Segoe UI Semibold"/>
              </a:rPr>
              <a:t>SKILLS</a:t>
            </a:r>
          </a:p>
        </p:txBody>
      </p:sp>
      <p:cxnSp>
        <p:nvCxnSpPr>
          <p:cNvPr id="15" name="Connector 14"/>
          <p:cNvCxnSpPr/>
          <p:nvPr/>
        </p:nvCxnSpPr>
        <p:spPr>
          <a:xfrm>
            <a:off x="9006840" y="4443984"/>
            <a:ext cx="0" cy="676656"/>
          </a:xfrm>
          <a:prstGeom prst="line">
            <a:avLst/>
          </a:prstGeom>
          <a:ln w="11430">
            <a:solidFill>
              <a:srgbClr val="2A3A40"/>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10424159" y="4370832"/>
            <a:ext cx="1234439" cy="548640"/>
          </a:xfrm>
          <a:prstGeom prst="rect">
            <a:avLst/>
          </a:prstGeom>
          <a:noFill/>
        </p:spPr>
        <p:txBody>
          <a:bodyPr wrap="square" lIns="45720" rIns="45720" tIns="27432" bIns="27432" anchor="t">
            <a:noAutofit/>
          </a:bodyPr>
          <a:lstStyle/>
          <a:p>
            <a:pPr algn="l">
              <a:lnSpc>
                <a:spcPct val="100000"/>
              </a:lnSpc>
            </a:pPr>
            <a:r>
              <a:rPr sz="2750" b="1" i="0">
                <a:solidFill>
                  <a:srgbClr val="E2B462"/>
                </a:solidFill>
                <a:latin typeface="Palatino Linotype"/>
              </a:rPr>
              <a:t>v1.91.1</a:t>
            </a:r>
          </a:p>
        </p:txBody>
      </p:sp>
      <p:sp>
        <p:nvSpPr>
          <p:cNvPr id="17" name="TextBox 16"/>
          <p:cNvSpPr txBox="1"/>
          <p:nvPr/>
        </p:nvSpPr>
        <p:spPr>
          <a:xfrm>
            <a:off x="10424159" y="4937760"/>
            <a:ext cx="1234439" cy="274320"/>
          </a:xfrm>
          <a:prstGeom prst="rect">
            <a:avLst/>
          </a:prstGeom>
          <a:noFill/>
        </p:spPr>
        <p:txBody>
          <a:bodyPr wrap="square" lIns="45720" rIns="45720" tIns="27432" bIns="27432" anchor="t">
            <a:noAutofit/>
          </a:bodyPr>
          <a:lstStyle/>
          <a:p>
            <a:pPr algn="l">
              <a:lnSpc>
                <a:spcPct val="100000"/>
              </a:lnSpc>
            </a:pPr>
            <a:r>
              <a:rPr sz="800" b="0" i="0" spc="103">
                <a:solidFill>
                  <a:srgbClr val="A7B2B0"/>
                </a:solidFill>
                <a:latin typeface="Segoe UI Semibold"/>
              </a:rPr>
              <a:t>CURRENT RELEASE</a:t>
            </a:r>
          </a:p>
        </p:txBody>
      </p:sp>
      <p:cxnSp>
        <p:nvCxnSpPr>
          <p:cNvPr id="18" name="Connector 17"/>
          <p:cNvCxnSpPr/>
          <p:nvPr/>
        </p:nvCxnSpPr>
        <p:spPr>
          <a:xfrm>
            <a:off x="10332719" y="4443984"/>
            <a:ext cx="0" cy="676656"/>
          </a:xfrm>
          <a:prstGeom prst="line">
            <a:avLst/>
          </a:prstGeom>
          <a:ln w="11430">
            <a:solidFill>
              <a:srgbClr val="2A3A4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446520" y="5596128"/>
            <a:ext cx="5303520" cy="310896"/>
          </a:xfrm>
          <a:prstGeom prst="rect">
            <a:avLst/>
          </a:prstGeom>
          <a:noFill/>
        </p:spPr>
        <p:txBody>
          <a:bodyPr wrap="square" lIns="45720" rIns="45720" tIns="27432" bIns="27432" anchor="t">
            <a:noAutofit/>
          </a:bodyPr>
          <a:lstStyle/>
          <a:p>
            <a:pPr algn="l">
              <a:lnSpc>
                <a:spcPct val="100000"/>
              </a:lnSpc>
            </a:pPr>
            <a:r>
              <a:rPr sz="1300" b="0" i="0">
                <a:solidFill>
                  <a:srgbClr val="F7F2E8"/>
                </a:solidFill>
                <a:latin typeface="Segoe UI Semibold"/>
              </a:rPr>
              <a:t>Created by Angela López Mendoza  ·  @angelahack1</a:t>
            </a:r>
          </a:p>
        </p:txBody>
      </p:sp>
      <p:sp>
        <p:nvSpPr>
          <p:cNvPr id="20" name="TextBox 19"/>
          <p:cNvSpPr txBox="1"/>
          <p:nvPr/>
        </p:nvSpPr>
        <p:spPr>
          <a:xfrm>
            <a:off x="6446520" y="5907024"/>
            <a:ext cx="5303520" cy="274320"/>
          </a:xfrm>
          <a:prstGeom prst="rect">
            <a:avLst/>
          </a:prstGeom>
          <a:noFill/>
        </p:spPr>
        <p:txBody>
          <a:bodyPr wrap="square" lIns="45720" rIns="45720" tIns="27432" bIns="27432" anchor="t">
            <a:noAutofit/>
          </a:bodyPr>
          <a:lstStyle/>
          <a:p>
            <a:pPr algn="l">
              <a:lnSpc>
                <a:spcPct val="100000"/>
              </a:lnSpc>
            </a:pPr>
            <a:r>
              <a:rPr sz="1050" b="0" i="0">
                <a:solidFill>
                  <a:srgbClr val="A7B2B0"/>
                </a:solidFill>
                <a:latin typeface="Segoe UI"/>
              </a:rPr>
              <a:t>October 27, 2026  ·  github.com/XAIHT/Tlamatini  ·  MIT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CONTENTS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What this dossier covers</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Nine chapters from identity to inventory, and the application file tree at the end.</a:t>
            </a:r>
          </a:p>
        </p:txBody>
      </p:sp>
      <p:sp>
        <p:nvSpPr>
          <p:cNvPr id="8" name="TextBox 7"/>
          <p:cNvSpPr txBox="1"/>
          <p:nvPr/>
        </p:nvSpPr>
        <p:spPr>
          <a:xfrm>
            <a:off x="566928" y="2084831"/>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3BBE93"/>
                </a:solidFill>
                <a:latin typeface="Palatino Linotype"/>
              </a:rPr>
              <a:t>I</a:t>
            </a:r>
          </a:p>
        </p:txBody>
      </p:sp>
      <p:sp>
        <p:nvSpPr>
          <p:cNvPr id="9" name="TextBox 8"/>
          <p:cNvSpPr txBox="1"/>
          <p:nvPr/>
        </p:nvSpPr>
        <p:spPr>
          <a:xfrm>
            <a:off x="1389888" y="2103120"/>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Who She Is</a:t>
            </a:r>
          </a:p>
        </p:txBody>
      </p:sp>
      <p:sp>
        <p:nvSpPr>
          <p:cNvPr id="10" name="TextBox 9"/>
          <p:cNvSpPr txBox="1"/>
          <p:nvPr/>
        </p:nvSpPr>
        <p:spPr>
          <a:xfrm>
            <a:off x="1389888" y="2468879"/>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A self-hosted developer assistant that reads, reasons, builds and acts, and lets you design how.</a:t>
            </a:r>
          </a:p>
        </p:txBody>
      </p:sp>
      <p:sp>
        <p:nvSpPr>
          <p:cNvPr id="11" name="TextBox 10"/>
          <p:cNvSpPr txBox="1"/>
          <p:nvPr/>
        </p:nvSpPr>
        <p:spPr>
          <a:xfrm>
            <a:off x="566928" y="2907791"/>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C98457"/>
                </a:solidFill>
                <a:latin typeface="Palatino Linotype"/>
              </a:rPr>
              <a:t>II</a:t>
            </a:r>
          </a:p>
        </p:txBody>
      </p:sp>
      <p:sp>
        <p:nvSpPr>
          <p:cNvPr id="12" name="TextBox 11"/>
          <p:cNvSpPr txBox="1"/>
          <p:nvPr/>
        </p:nvSpPr>
        <p:spPr>
          <a:xfrm>
            <a:off x="1389888" y="292607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How She Works</a:t>
            </a:r>
          </a:p>
        </p:txBody>
      </p:sp>
      <p:sp>
        <p:nvSpPr>
          <p:cNvPr id="13" name="TextBox 12"/>
          <p:cNvSpPr txBox="1"/>
          <p:nvPr/>
        </p:nvSpPr>
        <p:spPr>
          <a:xfrm>
            <a:off x="1389888" y="3291839"/>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From a keystroke in the browser to a verified result on disk: the layers, the loop and the verdict.</a:t>
            </a:r>
          </a:p>
        </p:txBody>
      </p:sp>
      <p:sp>
        <p:nvSpPr>
          <p:cNvPr id="14" name="TextBox 13"/>
          <p:cNvSpPr txBox="1"/>
          <p:nvPr/>
        </p:nvSpPr>
        <p:spPr>
          <a:xfrm>
            <a:off x="566928" y="373075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E2B462"/>
                </a:solidFill>
                <a:latin typeface="Palatino Linotype"/>
              </a:rPr>
              <a:t>III</a:t>
            </a:r>
          </a:p>
        </p:txBody>
      </p:sp>
      <p:sp>
        <p:nvSpPr>
          <p:cNvPr id="15" name="TextBox 14"/>
          <p:cNvSpPr txBox="1"/>
          <p:nvPr/>
        </p:nvSpPr>
        <p:spPr>
          <a:xfrm>
            <a:off x="1389888" y="374903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Where You Work With Her</a:t>
            </a:r>
          </a:p>
        </p:txBody>
      </p:sp>
      <p:sp>
        <p:nvSpPr>
          <p:cNvPr id="16" name="TextBox 15"/>
          <p:cNvSpPr txBox="1"/>
          <p:nvPr/>
        </p:nvSpPr>
        <p:spPr>
          <a:xfrm>
            <a:off x="1389888" y="411480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The chat, the two canvases, the catalog and the dialogs that operate everything else.</a:t>
            </a:r>
          </a:p>
        </p:txBody>
      </p:sp>
      <p:sp>
        <p:nvSpPr>
          <p:cNvPr id="17" name="TextBox 16"/>
          <p:cNvSpPr txBox="1"/>
          <p:nvPr/>
        </p:nvSpPr>
        <p:spPr>
          <a:xfrm>
            <a:off x="566928" y="455371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D25CD6"/>
                </a:solidFill>
                <a:latin typeface="Palatino Linotype"/>
              </a:rPr>
              <a:t>IV</a:t>
            </a:r>
          </a:p>
        </p:txBody>
      </p:sp>
      <p:sp>
        <p:nvSpPr>
          <p:cNvPr id="18" name="TextBox 17"/>
          <p:cNvSpPr txBox="1"/>
          <p:nvPr/>
        </p:nvSpPr>
        <p:spPr>
          <a:xfrm>
            <a:off x="1389888" y="4572000"/>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The Bestiary</a:t>
            </a:r>
          </a:p>
        </p:txBody>
      </p:sp>
      <p:sp>
        <p:nvSpPr>
          <p:cNvPr id="19" name="TextBox 18"/>
          <p:cNvSpPr txBox="1"/>
          <p:nvPr/>
        </p:nvSpPr>
        <p:spPr>
          <a:xfrm>
            <a:off x="1389888" y="493776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86 agent types in twelve families. Each is a plain-Python program you can read, audit and change.</a:t>
            </a:r>
          </a:p>
        </p:txBody>
      </p:sp>
      <p:sp>
        <p:nvSpPr>
          <p:cNvPr id="20" name="TextBox 19"/>
          <p:cNvSpPr txBox="1"/>
          <p:nvPr/>
        </p:nvSpPr>
        <p:spPr>
          <a:xfrm>
            <a:off x="566928" y="537667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46D2E2"/>
                </a:solidFill>
                <a:latin typeface="Palatino Linotype"/>
              </a:rPr>
              <a:t>V</a:t>
            </a:r>
          </a:p>
        </p:txBody>
      </p:sp>
      <p:sp>
        <p:nvSpPr>
          <p:cNvPr id="21" name="TextBox 20"/>
          <p:cNvSpPr txBox="1"/>
          <p:nvPr/>
        </p:nvSpPr>
        <p:spPr>
          <a:xfrm>
            <a:off x="1389888" y="539495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Deep Capabilities</a:t>
            </a:r>
          </a:p>
        </p:txBody>
      </p:sp>
      <p:sp>
        <p:nvSpPr>
          <p:cNvPr id="22" name="TextBox 21"/>
          <p:cNvSpPr txBox="1"/>
          <p:nvPr/>
        </p:nvSpPr>
        <p:spPr>
          <a:xfrm>
            <a:off x="1389888" y="576072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The subsystems that give her reach: other agents, other servers, documents, boards, engines and senses.</a:t>
            </a:r>
          </a:p>
        </p:txBody>
      </p:sp>
      <p:sp>
        <p:nvSpPr>
          <p:cNvPr id="23" name="TextBox 22"/>
          <p:cNvSpPr txBox="1"/>
          <p:nvPr/>
        </p:nvSpPr>
        <p:spPr>
          <a:xfrm>
            <a:off x="6278727" y="2084831"/>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D9576B"/>
                </a:solidFill>
                <a:latin typeface="Palatino Linotype"/>
              </a:rPr>
              <a:t>VI</a:t>
            </a:r>
          </a:p>
        </p:txBody>
      </p:sp>
      <p:sp>
        <p:nvSpPr>
          <p:cNvPr id="24" name="TextBox 23"/>
          <p:cNvSpPr txBox="1"/>
          <p:nvPr/>
        </p:nvSpPr>
        <p:spPr>
          <a:xfrm>
            <a:off x="7101687" y="2103120"/>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Promises She Keeps</a:t>
            </a:r>
          </a:p>
        </p:txBody>
      </p:sp>
      <p:sp>
        <p:nvSpPr>
          <p:cNvPr id="25" name="TextBox 24"/>
          <p:cNvSpPr txBox="1"/>
          <p:nvPr/>
        </p:nvSpPr>
        <p:spPr>
          <a:xfrm>
            <a:off x="7101687" y="2468879"/>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Honesty, consent, safety and control, written into the code rather than into a brochure.</a:t>
            </a:r>
          </a:p>
        </p:txBody>
      </p:sp>
      <p:sp>
        <p:nvSpPr>
          <p:cNvPr id="26" name="TextBox 25"/>
          <p:cNvSpPr txBox="1"/>
          <p:nvPr/>
        </p:nvSpPr>
        <p:spPr>
          <a:xfrm>
            <a:off x="6278727" y="2907791"/>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3BBE93"/>
                </a:solidFill>
                <a:latin typeface="Palatino Linotype"/>
              </a:rPr>
              <a:t>VII</a:t>
            </a:r>
          </a:p>
        </p:txBody>
      </p:sp>
      <p:sp>
        <p:nvSpPr>
          <p:cNvPr id="27" name="TextBox 26"/>
          <p:cNvSpPr txBox="1"/>
          <p:nvPr/>
        </p:nvSpPr>
        <p:spPr>
          <a:xfrm>
            <a:off x="7101687" y="292607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Install, Configure, Run</a:t>
            </a:r>
          </a:p>
        </p:txBody>
      </p:sp>
      <p:sp>
        <p:nvSpPr>
          <p:cNvPr id="28" name="TextBox 27"/>
          <p:cNvSpPr txBox="1"/>
          <p:nvPr/>
        </p:nvSpPr>
        <p:spPr>
          <a:xfrm>
            <a:off x="7101687" y="3291839"/>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From a fresh Windows machine to a working assistant, and from source to a signed-off release.</a:t>
            </a:r>
          </a:p>
        </p:txBody>
      </p:sp>
      <p:sp>
        <p:nvSpPr>
          <p:cNvPr id="29" name="TextBox 28"/>
          <p:cNvSpPr txBox="1"/>
          <p:nvPr/>
        </p:nvSpPr>
        <p:spPr>
          <a:xfrm>
            <a:off x="6278727" y="373075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E2B462"/>
                </a:solidFill>
                <a:latin typeface="Palatino Linotype"/>
              </a:rPr>
              <a:t>VIII</a:t>
            </a:r>
          </a:p>
        </p:txBody>
      </p:sp>
      <p:sp>
        <p:nvSpPr>
          <p:cNvPr id="30" name="TextBox 29"/>
          <p:cNvSpPr txBox="1"/>
          <p:nvPr/>
        </p:nvSpPr>
        <p:spPr>
          <a:xfrm>
            <a:off x="7101687" y="374903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Current Release</a:t>
            </a:r>
          </a:p>
        </p:txBody>
      </p:sp>
      <p:sp>
        <p:nvSpPr>
          <p:cNvPr id="31" name="TextBox 30"/>
          <p:cNvSpPr txBox="1"/>
          <p:nvPr/>
        </p:nvSpPr>
        <p:spPr>
          <a:xfrm>
            <a:off x="7101687" y="411480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Source release v1.91.1; package delivery and runtime acceptance need separate evidence.</a:t>
            </a:r>
          </a:p>
        </p:txBody>
      </p:sp>
      <p:sp>
        <p:nvSpPr>
          <p:cNvPr id="32" name="TextBox 31"/>
          <p:cNvSpPr txBox="1"/>
          <p:nvPr/>
        </p:nvSpPr>
        <p:spPr>
          <a:xfrm>
            <a:off x="6278727" y="455371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C98457"/>
                </a:solidFill>
                <a:latin typeface="Palatino Linotype"/>
              </a:rPr>
              <a:t>IX</a:t>
            </a:r>
          </a:p>
        </p:txBody>
      </p:sp>
      <p:sp>
        <p:nvSpPr>
          <p:cNvPr id="33" name="TextBox 32"/>
          <p:cNvSpPr txBox="1"/>
          <p:nvPr/>
        </p:nvSpPr>
        <p:spPr>
          <a:xfrm>
            <a:off x="7101687" y="4572000"/>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Repository Facts</a:t>
            </a:r>
          </a:p>
        </p:txBody>
      </p:sp>
      <p:sp>
        <p:nvSpPr>
          <p:cNvPr id="34" name="TextBox 33"/>
          <p:cNvSpPr txBox="1"/>
          <p:nvPr/>
        </p:nvSpPr>
        <p:spPr>
          <a:xfrm>
            <a:off x="7101687" y="4937760"/>
            <a:ext cx="4477359" cy="402336"/>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The source tree measured: files, languages, effective lines, the largest files and recent history.</a:t>
            </a:r>
          </a:p>
        </p:txBody>
      </p:sp>
      <p:sp>
        <p:nvSpPr>
          <p:cNvPr id="35" name="TextBox 34"/>
          <p:cNvSpPr txBox="1"/>
          <p:nvPr/>
        </p:nvSpPr>
        <p:spPr>
          <a:xfrm>
            <a:off x="6278727" y="5376672"/>
            <a:ext cx="731520" cy="768096"/>
          </a:xfrm>
          <a:prstGeom prst="rect">
            <a:avLst/>
          </a:prstGeom>
          <a:noFill/>
        </p:spPr>
        <p:txBody>
          <a:bodyPr wrap="square" lIns="45720" rIns="45720" tIns="27432" bIns="27432" anchor="ctr">
            <a:noAutofit/>
          </a:bodyPr>
          <a:lstStyle/>
          <a:p>
            <a:pPr algn="ctr">
              <a:lnSpc>
                <a:spcPct val="100000"/>
              </a:lnSpc>
            </a:pPr>
            <a:r>
              <a:rPr sz="2600" b="0" i="0">
                <a:solidFill>
                  <a:srgbClr val="E2B462"/>
                </a:solidFill>
                <a:latin typeface="Palatino Linotype"/>
              </a:rPr>
              <a:t>A</a:t>
            </a:r>
          </a:p>
        </p:txBody>
      </p:sp>
      <p:sp>
        <p:nvSpPr>
          <p:cNvPr id="36" name="TextBox 35"/>
          <p:cNvSpPr txBox="1"/>
          <p:nvPr/>
        </p:nvSpPr>
        <p:spPr>
          <a:xfrm>
            <a:off x="7101687" y="5394959"/>
            <a:ext cx="4477359" cy="365760"/>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The application file tree</a:t>
            </a:r>
          </a:p>
        </p:txBody>
      </p:sp>
      <p:sp>
        <p:nvSpPr>
          <p:cNvPr id="37" name="TextBox 36"/>
          <p:cNvSpPr txBox="1"/>
          <p:nvPr/>
        </p:nvSpPr>
        <p:spPr>
          <a:xfrm>
            <a:off x="7101687" y="5760720"/>
            <a:ext cx="4477359" cy="402336"/>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Application files; database history is summarized.</a:t>
            </a:r>
          </a:p>
        </p:txBody>
      </p:sp>
      <p:cxnSp>
        <p:nvCxnSpPr>
          <p:cNvPr id="38" name="Connector 3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CONTENTS</a:t>
            </a:r>
          </a:p>
        </p:txBody>
      </p:sp>
      <p:sp>
        <p:nvSpPr>
          <p:cNvPr id="40" name="TextBox 3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3BBE93"/>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Who She Is</a:t>
            </a:r>
          </a:p>
        </p:txBody>
      </p:sp>
      <p:sp>
        <p:nvSpPr>
          <p:cNvPr id="6" name="Rectangle 5"/>
          <p:cNvSpPr/>
          <p:nvPr/>
        </p:nvSpPr>
        <p:spPr>
          <a:xfrm>
            <a:off x="841248" y="4315968"/>
            <a:ext cx="100584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A self-hosted developer assistant that reads, reasons, builds and acts, and lets you design how.</a:t>
            </a:r>
          </a:p>
        </p:txBody>
      </p:sp>
      <p:sp>
        <p:nvSpPr>
          <p:cNvPr id="8" name="Diamond 7"/>
          <p:cNvSpPr/>
          <p:nvPr/>
        </p:nvSpPr>
        <p:spPr>
          <a:xfrm>
            <a:off x="822960" y="534009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524865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Tlamatini, the one who knows</a:t>
            </a:r>
          </a:p>
        </p:txBody>
      </p:sp>
      <p:sp>
        <p:nvSpPr>
          <p:cNvPr id="10" name="Diamond 9"/>
          <p:cNvSpPr/>
          <p:nvPr/>
        </p:nvSpPr>
        <p:spPr>
          <a:xfrm>
            <a:off x="822960" y="561441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5840" y="552297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Local control, cloud reasoning</a:t>
            </a:r>
          </a:p>
        </p:txBody>
      </p:sp>
      <p:sp>
        <p:nvSpPr>
          <p:cNvPr id="12" name="Diamond 11"/>
          <p:cNvSpPr/>
          <p:nvPr/>
        </p:nvSpPr>
        <p:spPr>
          <a:xfrm>
            <a:off x="822960" y="588873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5840" y="579729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Seven subsystems, one assistant</a:t>
            </a:r>
          </a:p>
        </p:txBody>
      </p:sp>
      <p:sp>
        <p:nvSpPr>
          <p:cNvPr id="14" name="Diamond 13"/>
          <p:cNvSpPr/>
          <p:nvPr/>
        </p:nvSpPr>
        <p:spPr>
          <a:xfrm>
            <a:off x="4206240" y="534009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89120" y="524865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The jewels</a:t>
            </a:r>
          </a:p>
        </p:txBody>
      </p:sp>
      <p:sp>
        <p:nvSpPr>
          <p:cNvPr id="16" name="Diamond 15"/>
          <p:cNvSpPr/>
          <p:nvPr/>
        </p:nvSpPr>
        <p:spPr>
          <a:xfrm>
            <a:off x="4206240" y="5614416"/>
            <a:ext cx="91440" cy="91440"/>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89120" y="552297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The numbers, derived from source</a:t>
            </a:r>
          </a:p>
        </p:txBody>
      </p:sp>
      <p:cxnSp>
        <p:nvCxnSpPr>
          <p:cNvPr id="18" name="Connector 1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I</a:t>
            </a:r>
          </a:p>
        </p:txBody>
      </p:sp>
      <p:sp>
        <p:nvSpPr>
          <p:cNvPr id="20" name="TextBox 1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pic>
        <p:nvPicPr>
          <p:cNvPr id="3" name="Picture 2" descr="portrait_eo_mo_jade.png"/>
          <p:cNvPicPr>
            <a:picLocks noChangeAspect="1"/>
          </p:cNvPicPr>
          <p:nvPr/>
        </p:nvPicPr>
        <p:blipFill>
          <a:blip r:embed="rId4"/>
          <a:stretch>
            <a:fillRect/>
          </a:stretch>
        </p:blipFill>
        <p:spPr>
          <a:xfrm>
            <a:off x="640080" y="960120"/>
            <a:ext cx="3840480" cy="3840480"/>
          </a:xfrm>
          <a:prstGeom prst="rect">
            <a:avLst/>
          </a:prstGeom>
        </p:spPr>
      </p:pic>
      <p:sp>
        <p:nvSpPr>
          <p:cNvPr id="4" name="TextBox 3"/>
          <p:cNvSpPr txBox="1"/>
          <p:nvPr/>
        </p:nvSpPr>
        <p:spPr>
          <a:xfrm>
            <a:off x="640080" y="4892040"/>
            <a:ext cx="3840480" cy="457200"/>
          </a:xfrm>
          <a:prstGeom prst="rect">
            <a:avLst/>
          </a:prstGeom>
          <a:noFill/>
        </p:spPr>
        <p:txBody>
          <a:bodyPr wrap="square" lIns="45720" rIns="45720" tIns="27432" bIns="27432" anchor="t">
            <a:noAutofit/>
          </a:bodyPr>
          <a:lstStyle/>
          <a:p>
            <a:pPr algn="ctr">
              <a:lnSpc>
                <a:spcPct val="100000"/>
              </a:lnSpc>
            </a:pPr>
            <a:r>
              <a:rPr sz="2000" b="0" i="1">
                <a:solidFill>
                  <a:srgbClr val="3BBE93"/>
                </a:solidFill>
                <a:latin typeface="Palatino Linotype"/>
              </a:rPr>
              <a:t>“one who knows”</a:t>
            </a:r>
          </a:p>
        </p:txBody>
      </p:sp>
      <p:sp>
        <p:nvSpPr>
          <p:cNvPr id="5" name="TextBox 4"/>
          <p:cNvSpPr txBox="1"/>
          <p:nvPr/>
        </p:nvSpPr>
        <p:spPr>
          <a:xfrm>
            <a:off x="640080" y="5376672"/>
            <a:ext cx="3840480" cy="329184"/>
          </a:xfrm>
          <a:prstGeom prst="rect">
            <a:avLst/>
          </a:prstGeom>
          <a:noFill/>
        </p:spPr>
        <p:txBody>
          <a:bodyPr wrap="square" lIns="45720" rIns="45720" tIns="27432" bIns="27432" anchor="t">
            <a:noAutofit/>
          </a:bodyPr>
          <a:lstStyle/>
          <a:p>
            <a:pPr algn="ctr">
              <a:lnSpc>
                <a:spcPct val="100000"/>
              </a:lnSpc>
            </a:pPr>
            <a:r>
              <a:rPr sz="1100" b="0" i="0" spc="300">
                <a:solidFill>
                  <a:srgbClr val="C98457"/>
                </a:solidFill>
                <a:latin typeface="Segoe UI Semibold"/>
              </a:rPr>
              <a:t>NAHUATL</a:t>
            </a:r>
          </a:p>
        </p:txBody>
      </p:sp>
      <p:sp>
        <p:nvSpPr>
          <p:cNvPr id="6" name="TextBox 5"/>
          <p:cNvSpPr txBox="1"/>
          <p:nvPr/>
        </p:nvSpPr>
        <p:spPr>
          <a:xfrm>
            <a:off x="4983480" y="438912"/>
            <a:ext cx="6583680" cy="274320"/>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IDENTITY</a:t>
            </a:r>
          </a:p>
        </p:txBody>
      </p:sp>
      <p:sp>
        <p:nvSpPr>
          <p:cNvPr id="7" name="TextBox 6"/>
          <p:cNvSpPr txBox="1"/>
          <p:nvPr/>
        </p:nvSpPr>
        <p:spPr>
          <a:xfrm>
            <a:off x="4956048" y="713232"/>
            <a:ext cx="6675120" cy="731520"/>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Tlamatini, the one who knows</a:t>
            </a:r>
          </a:p>
        </p:txBody>
      </p:sp>
      <p:sp>
        <p:nvSpPr>
          <p:cNvPr id="8" name="TextBox 7"/>
          <p:cNvSpPr txBox="1"/>
          <p:nvPr/>
        </p:nvSpPr>
        <p:spPr>
          <a:xfrm>
            <a:off x="4983480" y="1481328"/>
            <a:ext cx="6583680" cy="1261872"/>
          </a:xfrm>
          <a:prstGeom prst="rect">
            <a:avLst/>
          </a:prstGeom>
          <a:noFill/>
        </p:spPr>
        <p:txBody>
          <a:bodyPr wrap="square" lIns="45720" rIns="45720" tIns="27432" bIns="27432" anchor="t">
            <a:noAutofit/>
          </a:bodyPr>
          <a:lstStyle/>
          <a:p>
            <a:pPr algn="l">
              <a:lnSpc>
                <a:spcPct val="100000"/>
              </a:lnSpc>
            </a:pPr>
            <a:r>
              <a:rPr sz="1500" b="0" i="0">
                <a:solidFill>
                  <a:srgbClr val="ECE7DC"/>
                </a:solidFill>
                <a:latin typeface="Segoe UI Semilight"/>
              </a:rPr>
              <a:t>Tlamatini is a self-hosted AI developer assistant for Windows 10 and 11: a Django application that converses, retrieves, plans, runs agents, and lets you draw whole agent workflows on a canvas.</a:t>
            </a:r>
          </a:p>
        </p:txBody>
      </p:sp>
      <p:sp>
        <p:nvSpPr>
          <p:cNvPr id="9" name="Rounded Rectangle 8"/>
          <p:cNvSpPr/>
          <p:nvPr/>
        </p:nvSpPr>
        <p:spPr>
          <a:xfrm>
            <a:off x="4983480" y="2907792"/>
            <a:ext cx="6583680" cy="640080"/>
          </a:xfrm>
          <a:prstGeom prst="roundRect">
            <a:avLst>
              <a:gd name="adj" fmla="val 142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184648" y="2962656"/>
            <a:ext cx="1554480" cy="530352"/>
          </a:xfrm>
          <a:prstGeom prst="rect">
            <a:avLst/>
          </a:prstGeom>
          <a:noFill/>
        </p:spPr>
        <p:txBody>
          <a:bodyPr wrap="square" lIns="45720" rIns="45720" tIns="27432" bIns="27432" anchor="ctr">
            <a:noAutofit/>
          </a:bodyPr>
          <a:lstStyle/>
          <a:p>
            <a:pPr algn="l">
              <a:lnSpc>
                <a:spcPct val="100000"/>
              </a:lnSpc>
            </a:pPr>
            <a:r>
              <a:rPr sz="1100" b="0" i="0" spc="160">
                <a:solidFill>
                  <a:srgbClr val="3BBE93"/>
                </a:solidFill>
                <a:latin typeface="Segoe UI Semibold"/>
              </a:rPr>
              <a:t>CREATOR</a:t>
            </a:r>
          </a:p>
        </p:txBody>
      </p:sp>
      <p:sp>
        <p:nvSpPr>
          <p:cNvPr id="11" name="TextBox 10"/>
          <p:cNvSpPr txBox="1"/>
          <p:nvPr/>
        </p:nvSpPr>
        <p:spPr>
          <a:xfrm>
            <a:off x="6812280" y="2962656"/>
            <a:ext cx="4617720"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a:rPr>
              <a:t>Angela López Mendoza · @angelahack1</a:t>
            </a:r>
          </a:p>
        </p:txBody>
      </p:sp>
      <p:sp>
        <p:nvSpPr>
          <p:cNvPr id="12" name="Rounded Rectangle 11"/>
          <p:cNvSpPr/>
          <p:nvPr/>
        </p:nvSpPr>
        <p:spPr>
          <a:xfrm>
            <a:off x="4983480" y="3675888"/>
            <a:ext cx="6583680" cy="640080"/>
          </a:xfrm>
          <a:prstGeom prst="roundRect">
            <a:avLst>
              <a:gd name="adj" fmla="val 142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5184648" y="3730752"/>
            <a:ext cx="1554480" cy="530352"/>
          </a:xfrm>
          <a:prstGeom prst="rect">
            <a:avLst/>
          </a:prstGeom>
          <a:noFill/>
        </p:spPr>
        <p:txBody>
          <a:bodyPr wrap="square" lIns="45720" rIns="45720" tIns="27432" bIns="27432" anchor="ctr">
            <a:noAutofit/>
          </a:bodyPr>
          <a:lstStyle/>
          <a:p>
            <a:pPr algn="l">
              <a:lnSpc>
                <a:spcPct val="100000"/>
              </a:lnSpc>
            </a:pPr>
            <a:r>
              <a:rPr sz="1100" b="0" i="0" spc="160">
                <a:solidFill>
                  <a:srgbClr val="C98457"/>
                </a:solidFill>
                <a:latin typeface="Segoe UI Semibold"/>
              </a:rPr>
              <a:t>BORN</a:t>
            </a:r>
          </a:p>
        </p:txBody>
      </p:sp>
      <p:sp>
        <p:nvSpPr>
          <p:cNvPr id="14" name="TextBox 13"/>
          <p:cNvSpPr txBox="1"/>
          <p:nvPr/>
        </p:nvSpPr>
        <p:spPr>
          <a:xfrm>
            <a:off x="6812280" y="3730752"/>
            <a:ext cx="4617720"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a:rPr>
              <a:t>October 29, 2025</a:t>
            </a:r>
          </a:p>
        </p:txBody>
      </p:sp>
      <p:sp>
        <p:nvSpPr>
          <p:cNvPr id="15" name="Rounded Rectangle 14"/>
          <p:cNvSpPr/>
          <p:nvPr/>
        </p:nvSpPr>
        <p:spPr>
          <a:xfrm>
            <a:off x="4983480" y="4443984"/>
            <a:ext cx="6583680" cy="640080"/>
          </a:xfrm>
          <a:prstGeom prst="roundRect">
            <a:avLst>
              <a:gd name="adj" fmla="val 142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184648" y="4498848"/>
            <a:ext cx="1554480" cy="530352"/>
          </a:xfrm>
          <a:prstGeom prst="rect">
            <a:avLst/>
          </a:prstGeom>
          <a:noFill/>
        </p:spPr>
        <p:txBody>
          <a:bodyPr wrap="square" lIns="45720" rIns="45720" tIns="27432" bIns="27432" anchor="ctr">
            <a:noAutofit/>
          </a:bodyPr>
          <a:lstStyle/>
          <a:p>
            <a:pPr algn="l">
              <a:lnSpc>
                <a:spcPct val="100000"/>
              </a:lnSpc>
            </a:pPr>
            <a:r>
              <a:rPr sz="1100" b="0" i="0" spc="160">
                <a:solidFill>
                  <a:srgbClr val="E2B462"/>
                </a:solidFill>
                <a:latin typeface="Segoe UI Semibold"/>
              </a:rPr>
              <a:t>PLATFORM</a:t>
            </a:r>
          </a:p>
        </p:txBody>
      </p:sp>
      <p:sp>
        <p:nvSpPr>
          <p:cNvPr id="17" name="TextBox 16"/>
          <p:cNvSpPr txBox="1"/>
          <p:nvPr/>
        </p:nvSpPr>
        <p:spPr>
          <a:xfrm>
            <a:off x="6812280" y="4498848"/>
            <a:ext cx="4617720"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a:rPr>
              <a:t>Windows 10 and 11 · Python 3.12.10 · Django 5.2.15</a:t>
            </a:r>
          </a:p>
        </p:txBody>
      </p:sp>
      <p:sp>
        <p:nvSpPr>
          <p:cNvPr id="18" name="Rounded Rectangle 17"/>
          <p:cNvSpPr/>
          <p:nvPr/>
        </p:nvSpPr>
        <p:spPr>
          <a:xfrm>
            <a:off x="4983480" y="5212080"/>
            <a:ext cx="6583680" cy="640080"/>
          </a:xfrm>
          <a:prstGeom prst="roundRect">
            <a:avLst>
              <a:gd name="adj" fmla="val 1428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184648" y="5266944"/>
            <a:ext cx="1554480" cy="530352"/>
          </a:xfrm>
          <a:prstGeom prst="rect">
            <a:avLst/>
          </a:prstGeom>
          <a:noFill/>
        </p:spPr>
        <p:txBody>
          <a:bodyPr wrap="square" lIns="45720" rIns="45720" tIns="27432" bIns="27432" anchor="ctr">
            <a:noAutofit/>
          </a:bodyPr>
          <a:lstStyle/>
          <a:p>
            <a:pPr algn="l">
              <a:lnSpc>
                <a:spcPct val="100000"/>
              </a:lnSpc>
            </a:pPr>
            <a:r>
              <a:rPr sz="1100" b="0" i="0" spc="160">
                <a:solidFill>
                  <a:srgbClr val="46D2E2"/>
                </a:solidFill>
                <a:latin typeface="Segoe UI Semibold"/>
              </a:rPr>
              <a:t>LICENSE</a:t>
            </a:r>
          </a:p>
        </p:txBody>
      </p:sp>
      <p:sp>
        <p:nvSpPr>
          <p:cNvPr id="20" name="TextBox 19"/>
          <p:cNvSpPr txBox="1"/>
          <p:nvPr/>
        </p:nvSpPr>
        <p:spPr>
          <a:xfrm>
            <a:off x="6812280" y="5266944"/>
            <a:ext cx="4617720"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a:rPr>
              <a:t>MIT: free and open source</a:t>
            </a:r>
          </a:p>
        </p:txBody>
      </p:sp>
      <p:cxnSp>
        <p:nvCxnSpPr>
          <p:cNvPr id="21" name="Connector 2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WHO SHE IS</a:t>
            </a:r>
          </a:p>
        </p:txBody>
      </p:sp>
      <p:sp>
        <p:nvSpPr>
          <p:cNvPr id="23" name="TextBox 2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WHERE THINGS RUN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Local control, cloud reasoning</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“Local-first” describes where control lives: the application, database, workflows, credentials, agent code and the small embedding model stay on your machine, while the demanding reasoning is done by cloud models reached through Ollama.</a:t>
            </a:r>
          </a:p>
        </p:txBody>
      </p:sp>
      <p:sp>
        <p:nvSpPr>
          <p:cNvPr id="8" name="Rounded Rectangle 7"/>
          <p:cNvSpPr/>
          <p:nvPr/>
        </p:nvSpPr>
        <p:spPr>
          <a:xfrm>
            <a:off x="566928" y="2084831"/>
            <a:ext cx="3350666" cy="3703320"/>
          </a:xfrm>
          <a:prstGeom prst="roundRect">
            <a:avLst>
              <a:gd name="adj" fmla="val 3820"/>
            </a:avLst>
          </a:prstGeom>
          <a:solidFill>
            <a:srgbClr val="121A1D"/>
          </a:solidFill>
          <a:ln w="1587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3350666" cy="566928"/>
          </a:xfrm>
          <a:prstGeom prst="roundRect">
            <a:avLst>
              <a:gd name="adj" fmla="val 22580"/>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49808" y="2157984"/>
            <a:ext cx="2984906" cy="438912"/>
          </a:xfrm>
          <a:prstGeom prst="rect">
            <a:avLst/>
          </a:prstGeom>
          <a:noFill/>
        </p:spPr>
        <p:txBody>
          <a:bodyPr wrap="square" lIns="45720" rIns="45720" tIns="27432" bIns="27432" anchor="ctr">
            <a:noAutofit/>
          </a:bodyPr>
          <a:lstStyle/>
          <a:p>
            <a:pPr algn="l">
              <a:lnSpc>
                <a:spcPct val="100000"/>
              </a:lnSpc>
            </a:pPr>
            <a:r>
              <a:rPr sz="1700" b="0" i="0">
                <a:solidFill>
                  <a:srgbClr val="090E10"/>
                </a:solidFill>
                <a:latin typeface="Segoe UI Semibold"/>
              </a:rPr>
              <a:t>Local control plane</a:t>
            </a:r>
          </a:p>
        </p:txBody>
      </p:sp>
      <p:sp>
        <p:nvSpPr>
          <p:cNvPr id="11" name="TextBox 10"/>
          <p:cNvSpPr txBox="1"/>
          <p:nvPr/>
        </p:nvSpPr>
        <p:spPr>
          <a:xfrm>
            <a:off x="795528" y="2862072"/>
            <a:ext cx="2939186" cy="2743200"/>
          </a:xfrm>
          <a:prstGeom prst="rect">
            <a:avLst/>
          </a:prstGeom>
          <a:noFill/>
        </p:spPr>
        <p:txBody>
          <a:bodyPr wrap="square" lIns="45720" rIns="45720" tIns="27432" bIns="27432" anchor="t">
            <a:noAutofit/>
          </a:bodyPr>
          <a:lstStyle/>
          <a:p>
            <a:pPr algn="l">
              <a:lnSpc>
                <a:spcPct val="100000"/>
              </a:lnSpc>
            </a:pPr>
            <a:r>
              <a:rPr sz="1450" b="0" i="0">
                <a:solidFill>
                  <a:srgbClr val="ECE7DC"/>
                </a:solidFill>
                <a:latin typeface="Segoe UI"/>
              </a:rPr>
              <a:t>▪  Django, Channels and Daphne</a:t>
            </a:r>
          </a:p>
          <a:p>
            <a:pPr algn="l">
              <a:lnSpc>
                <a:spcPct val="100000"/>
              </a:lnSpc>
              <a:spcBef>
                <a:spcPts val="900"/>
              </a:spcBef>
            </a:pPr>
            <a:r>
              <a:rPr sz="1450" b="0" i="0">
                <a:solidFill>
                  <a:srgbClr val="ECE7DC"/>
                </a:solidFill>
                <a:latin typeface="Segoe UI"/>
              </a:rPr>
              <a:t>▪  Chat, canvases and dialogs</a:t>
            </a:r>
          </a:p>
          <a:p>
            <a:pPr algn="l">
              <a:lnSpc>
                <a:spcPct val="100000"/>
              </a:lnSpc>
              <a:spcBef>
                <a:spcPts val="900"/>
              </a:spcBef>
            </a:pPr>
            <a:r>
              <a:rPr sz="1450" b="0" i="0">
                <a:solidFill>
                  <a:srgbClr val="ECE7DC"/>
                </a:solidFill>
                <a:latin typeface="Segoe UI"/>
              </a:rPr>
              <a:t>▪  SQLite database and settings</a:t>
            </a:r>
          </a:p>
          <a:p>
            <a:pPr algn="l">
              <a:lnSpc>
                <a:spcPct val="100000"/>
              </a:lnSpc>
              <a:spcBef>
                <a:spcPts val="900"/>
              </a:spcBef>
            </a:pPr>
            <a:r>
              <a:rPr sz="1450" b="0" i="0">
                <a:solidFill>
                  <a:srgbClr val="ECE7DC"/>
                </a:solidFill>
                <a:latin typeface="Segoe UI"/>
              </a:rPr>
              <a:t>▪  Agent programs and permissions</a:t>
            </a:r>
          </a:p>
        </p:txBody>
      </p:sp>
      <p:sp>
        <p:nvSpPr>
          <p:cNvPr id="12" name="TextBox 11"/>
          <p:cNvSpPr txBox="1"/>
          <p:nvPr/>
        </p:nvSpPr>
        <p:spPr>
          <a:xfrm>
            <a:off x="566928" y="5852159"/>
            <a:ext cx="3350666" cy="310896"/>
          </a:xfrm>
          <a:prstGeom prst="rect">
            <a:avLst/>
          </a:prstGeom>
          <a:noFill/>
        </p:spPr>
        <p:txBody>
          <a:bodyPr wrap="square" lIns="45720" rIns="45720" tIns="27432" bIns="27432" anchor="t">
            <a:noAutofit/>
          </a:bodyPr>
          <a:lstStyle/>
          <a:p>
            <a:pPr algn="ctr">
              <a:lnSpc>
                <a:spcPct val="100000"/>
              </a:lnSpc>
            </a:pPr>
            <a:r>
              <a:rPr sz="1050" b="0" i="0" spc="200">
                <a:solidFill>
                  <a:srgbClr val="3BBE93"/>
                </a:solidFill>
                <a:latin typeface="Segoe UI Semibold"/>
              </a:rPr>
              <a:t>YOUR MACHINE</a:t>
            </a:r>
          </a:p>
        </p:txBody>
      </p:sp>
      <p:cxnSp>
        <p:nvCxnSpPr>
          <p:cNvPr id="13" name="Connector 12"/>
          <p:cNvCxnSpPr/>
          <p:nvPr/>
        </p:nvCxnSpPr>
        <p:spPr>
          <a:xfrm>
            <a:off x="3990746" y="3845052"/>
            <a:ext cx="356616" cy="0"/>
          </a:xfrm>
          <a:prstGeom prst="line">
            <a:avLst/>
          </a:prstGeom>
          <a:ln w="1905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3990746" y="4046220"/>
            <a:ext cx="356616" cy="0"/>
          </a:xfrm>
          <a:prstGeom prst="line">
            <a:avLst/>
          </a:prstGeom>
          <a:ln w="19050">
            <a:solidFill>
              <a:srgbClr val="3BBE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20514" y="2084831"/>
            <a:ext cx="3350666" cy="3703320"/>
          </a:xfrm>
          <a:prstGeom prst="roundRect">
            <a:avLst>
              <a:gd name="adj" fmla="val 3820"/>
            </a:avLst>
          </a:prstGeom>
          <a:solidFill>
            <a:srgbClr val="121A1D"/>
          </a:solidFill>
          <a:ln w="15875">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4420514" y="2084831"/>
            <a:ext cx="3350666" cy="566928"/>
          </a:xfrm>
          <a:prstGeom prst="roundRect">
            <a:avLst>
              <a:gd name="adj" fmla="val 22580"/>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603394" y="2157984"/>
            <a:ext cx="2984906" cy="438912"/>
          </a:xfrm>
          <a:prstGeom prst="rect">
            <a:avLst/>
          </a:prstGeom>
          <a:noFill/>
        </p:spPr>
        <p:txBody>
          <a:bodyPr wrap="square" lIns="45720" rIns="45720" tIns="27432" bIns="27432" anchor="ctr">
            <a:noAutofit/>
          </a:bodyPr>
          <a:lstStyle/>
          <a:p>
            <a:pPr algn="l">
              <a:lnSpc>
                <a:spcPct val="100000"/>
              </a:lnSpc>
            </a:pPr>
            <a:r>
              <a:rPr sz="1700" b="0" i="0">
                <a:solidFill>
                  <a:srgbClr val="090E10"/>
                </a:solidFill>
                <a:latin typeface="Segoe UI Semibold"/>
              </a:rPr>
              <a:t>Local retrieval</a:t>
            </a:r>
          </a:p>
        </p:txBody>
      </p:sp>
      <p:sp>
        <p:nvSpPr>
          <p:cNvPr id="18" name="TextBox 17"/>
          <p:cNvSpPr txBox="1"/>
          <p:nvPr/>
        </p:nvSpPr>
        <p:spPr>
          <a:xfrm>
            <a:off x="4649114" y="2862072"/>
            <a:ext cx="2939186" cy="2743200"/>
          </a:xfrm>
          <a:prstGeom prst="rect">
            <a:avLst/>
          </a:prstGeom>
          <a:noFill/>
        </p:spPr>
        <p:txBody>
          <a:bodyPr wrap="square" lIns="45720" rIns="45720" tIns="27432" bIns="27432" anchor="t">
            <a:noAutofit/>
          </a:bodyPr>
          <a:lstStyle/>
          <a:p>
            <a:pPr algn="l">
              <a:lnSpc>
                <a:spcPct val="100000"/>
              </a:lnSpc>
            </a:pPr>
            <a:r>
              <a:rPr sz="1450" b="0" i="0">
                <a:solidFill>
                  <a:srgbClr val="ECE7DC"/>
                </a:solidFill>
                <a:latin typeface="Segoe UI"/>
              </a:rPr>
              <a:t>▪  nomic-embed-text embeddings</a:t>
            </a:r>
          </a:p>
          <a:p>
            <a:pPr algn="l">
              <a:lnSpc>
                <a:spcPct val="100000"/>
              </a:lnSpc>
              <a:spcBef>
                <a:spcPts val="900"/>
              </a:spcBef>
            </a:pPr>
            <a:r>
              <a:rPr sz="1450" b="0" i="0">
                <a:solidFill>
                  <a:srgbClr val="ECE7DC"/>
                </a:solidFill>
                <a:latin typeface="Segoe UI"/>
              </a:rPr>
              <a:t>▪  FAISS vectors and BM25</a:t>
            </a:r>
          </a:p>
          <a:p>
            <a:pPr algn="l">
              <a:lnSpc>
                <a:spcPct val="100000"/>
              </a:lnSpc>
              <a:spcBef>
                <a:spcPts val="900"/>
              </a:spcBef>
            </a:pPr>
            <a:r>
              <a:rPr sz="1450" b="0" i="0">
                <a:solidFill>
                  <a:srgbClr val="ECE7DC"/>
                </a:solidFill>
                <a:latin typeface="Segoe UI"/>
              </a:rPr>
              <a:t>▪  Context budgeting</a:t>
            </a:r>
          </a:p>
          <a:p>
            <a:pPr algn="l">
              <a:lnSpc>
                <a:spcPct val="100000"/>
              </a:lnSpc>
              <a:spcBef>
                <a:spcPts val="900"/>
              </a:spcBef>
            </a:pPr>
            <a:r>
              <a:rPr sz="1450" b="0" i="0">
                <a:solidFill>
                  <a:srgbClr val="ECE7DC"/>
                </a:solidFill>
                <a:latin typeface="Segoe UI"/>
              </a:rPr>
              <a:t>▪  Binary-content guard</a:t>
            </a:r>
          </a:p>
        </p:txBody>
      </p:sp>
      <p:sp>
        <p:nvSpPr>
          <p:cNvPr id="19" name="TextBox 18"/>
          <p:cNvSpPr txBox="1"/>
          <p:nvPr/>
        </p:nvSpPr>
        <p:spPr>
          <a:xfrm>
            <a:off x="4420514" y="5852159"/>
            <a:ext cx="3350666" cy="310896"/>
          </a:xfrm>
          <a:prstGeom prst="rect">
            <a:avLst/>
          </a:prstGeom>
          <a:noFill/>
        </p:spPr>
        <p:txBody>
          <a:bodyPr wrap="square" lIns="45720" rIns="45720" tIns="27432" bIns="27432" anchor="t">
            <a:noAutofit/>
          </a:bodyPr>
          <a:lstStyle/>
          <a:p>
            <a:pPr algn="ctr">
              <a:lnSpc>
                <a:spcPct val="100000"/>
              </a:lnSpc>
            </a:pPr>
            <a:r>
              <a:rPr sz="1050" b="0" i="0" spc="200">
                <a:solidFill>
                  <a:srgbClr val="E2B462"/>
                </a:solidFill>
                <a:latin typeface="Segoe UI Semibold"/>
              </a:rPr>
              <a:t>YOUR MACHINE</a:t>
            </a:r>
          </a:p>
        </p:txBody>
      </p:sp>
      <p:cxnSp>
        <p:nvCxnSpPr>
          <p:cNvPr id="20" name="Connector 19"/>
          <p:cNvCxnSpPr/>
          <p:nvPr/>
        </p:nvCxnSpPr>
        <p:spPr>
          <a:xfrm>
            <a:off x="7844332" y="3845052"/>
            <a:ext cx="356616" cy="0"/>
          </a:xfrm>
          <a:prstGeom prst="line">
            <a:avLst/>
          </a:prstGeom>
          <a:ln w="1905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a:off x="7844332" y="4046220"/>
            <a:ext cx="356616" cy="0"/>
          </a:xfrm>
          <a:prstGeom prst="line">
            <a:avLst/>
          </a:prstGeom>
          <a:ln w="19050">
            <a:solidFill>
              <a:srgbClr val="3BBE93"/>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8274100" y="2084831"/>
            <a:ext cx="3350666" cy="3703320"/>
          </a:xfrm>
          <a:prstGeom prst="roundRect">
            <a:avLst>
              <a:gd name="adj" fmla="val 3820"/>
            </a:avLst>
          </a:prstGeom>
          <a:solidFill>
            <a:srgbClr val="121A1D"/>
          </a:solidFill>
          <a:ln w="15875">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ounded Rectangle 22"/>
          <p:cNvSpPr/>
          <p:nvPr/>
        </p:nvSpPr>
        <p:spPr>
          <a:xfrm>
            <a:off x="8274100" y="2084831"/>
            <a:ext cx="3350666" cy="566928"/>
          </a:xfrm>
          <a:prstGeom prst="roundRect">
            <a:avLst>
              <a:gd name="adj" fmla="val 22580"/>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8456980" y="2157984"/>
            <a:ext cx="2984906" cy="438912"/>
          </a:xfrm>
          <a:prstGeom prst="rect">
            <a:avLst/>
          </a:prstGeom>
          <a:noFill/>
        </p:spPr>
        <p:txBody>
          <a:bodyPr wrap="square" lIns="45720" rIns="45720" tIns="27432" bIns="27432" anchor="ctr">
            <a:noAutofit/>
          </a:bodyPr>
          <a:lstStyle/>
          <a:p>
            <a:pPr algn="l">
              <a:lnSpc>
                <a:spcPct val="100000"/>
              </a:lnSpc>
            </a:pPr>
            <a:r>
              <a:rPr sz="1700" b="0" i="0">
                <a:solidFill>
                  <a:srgbClr val="090E10"/>
                </a:solidFill>
                <a:latin typeface="Segoe UI Semibold"/>
              </a:rPr>
              <a:t>Cloud reasoning</a:t>
            </a:r>
          </a:p>
        </p:txBody>
      </p:sp>
      <p:sp>
        <p:nvSpPr>
          <p:cNvPr id="25" name="TextBox 24"/>
          <p:cNvSpPr txBox="1"/>
          <p:nvPr/>
        </p:nvSpPr>
        <p:spPr>
          <a:xfrm>
            <a:off x="8502700" y="2862072"/>
            <a:ext cx="2939186" cy="2743200"/>
          </a:xfrm>
          <a:prstGeom prst="rect">
            <a:avLst/>
          </a:prstGeom>
          <a:noFill/>
        </p:spPr>
        <p:txBody>
          <a:bodyPr wrap="square" lIns="45720" rIns="45720" tIns="27432" bIns="27432" anchor="t">
            <a:noAutofit/>
          </a:bodyPr>
          <a:lstStyle/>
          <a:p>
            <a:pPr algn="l">
              <a:lnSpc>
                <a:spcPct val="100000"/>
              </a:lnSpc>
            </a:pPr>
            <a:r>
              <a:rPr sz="1450" b="0" i="0">
                <a:solidFill>
                  <a:srgbClr val="ECE7DC"/>
                </a:solidFill>
                <a:latin typeface="Segoe UI"/>
              </a:rPr>
              <a:t>▪  Chat and tool calling</a:t>
            </a:r>
          </a:p>
          <a:p>
            <a:pPr algn="l">
              <a:lnSpc>
                <a:spcPct val="100000"/>
              </a:lnSpc>
              <a:spcBef>
                <a:spcPts val="900"/>
              </a:spcBef>
            </a:pPr>
            <a:r>
              <a:rPr sz="1450" b="0" i="0">
                <a:solidFill>
                  <a:srgbClr val="ECE7DC"/>
                </a:solidFill>
                <a:latin typeface="Segoe UI"/>
              </a:rPr>
              <a:t>▪  Long context</a:t>
            </a:r>
          </a:p>
          <a:p>
            <a:pPr algn="l">
              <a:lnSpc>
                <a:spcPct val="100000"/>
              </a:lnSpc>
              <a:spcBef>
                <a:spcPts val="900"/>
              </a:spcBef>
            </a:pPr>
            <a:r>
              <a:rPr sz="1450" b="0" i="0">
                <a:solidFill>
                  <a:srgbClr val="ECE7DC"/>
                </a:solidFill>
                <a:latin typeface="Segoe UI"/>
              </a:rPr>
              <a:t>▪  Vision observers and mergers</a:t>
            </a:r>
          </a:p>
          <a:p>
            <a:pPr algn="l">
              <a:lnSpc>
                <a:spcPct val="100000"/>
              </a:lnSpc>
              <a:spcBef>
                <a:spcPts val="900"/>
              </a:spcBef>
            </a:pPr>
            <a:r>
              <a:rPr sz="1450" b="0" i="0">
                <a:solidFill>
                  <a:srgbClr val="ECE7DC"/>
                </a:solidFill>
                <a:latin typeface="Segoe UI"/>
              </a:rPr>
              <a:t>▪  Multi-Turn planning</a:t>
            </a:r>
          </a:p>
        </p:txBody>
      </p:sp>
      <p:sp>
        <p:nvSpPr>
          <p:cNvPr id="26" name="TextBox 25"/>
          <p:cNvSpPr txBox="1"/>
          <p:nvPr/>
        </p:nvSpPr>
        <p:spPr>
          <a:xfrm>
            <a:off x="8274100" y="5852159"/>
            <a:ext cx="3350666" cy="310896"/>
          </a:xfrm>
          <a:prstGeom prst="rect">
            <a:avLst/>
          </a:prstGeom>
          <a:noFill/>
        </p:spPr>
        <p:txBody>
          <a:bodyPr wrap="square" lIns="45720" rIns="45720" tIns="27432" bIns="27432" anchor="t">
            <a:noAutofit/>
          </a:bodyPr>
          <a:lstStyle/>
          <a:p>
            <a:pPr algn="ctr">
              <a:lnSpc>
                <a:spcPct val="100000"/>
              </a:lnSpc>
            </a:pPr>
            <a:r>
              <a:rPr sz="1050" b="0" i="0" spc="200">
                <a:solidFill>
                  <a:srgbClr val="C98457"/>
                </a:solidFill>
                <a:latin typeface="Segoe UI Semibold"/>
              </a:rPr>
              <a:t>OLLAMA CLOUD</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WHO SHE IS</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THE PILLARS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Seven subsystems, one assistant</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Everything Tlamatini does rests on seven cooperating subsystems.</a:t>
            </a:r>
          </a:p>
        </p:txBody>
      </p:sp>
      <p:sp>
        <p:nvSpPr>
          <p:cNvPr id="8" name="Rounded Rectangle 7"/>
          <p:cNvSpPr/>
          <p:nvPr/>
        </p:nvSpPr>
        <p:spPr>
          <a:xfrm>
            <a:off x="566928"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Hybrid RAG</a:t>
            </a:r>
          </a:p>
        </p:txBody>
      </p:sp>
      <p:sp>
        <p:nvSpPr>
          <p:cNvPr id="11" name="TextBox 10"/>
          <p:cNvSpPr txBox="1"/>
          <p:nvPr/>
        </p:nvSpPr>
        <p:spPr>
          <a:xfrm>
            <a:off x="694944"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FAISS vectors, BM25 keywords, metadata extraction, context budgeting and a binary-content guard keep answers grounded in your real project.</a:t>
            </a:r>
          </a:p>
        </p:txBody>
      </p:sp>
      <p:sp>
        <p:nvSpPr>
          <p:cNvPr id="12" name="Rounded Rectangle 11"/>
          <p:cNvSpPr/>
          <p:nvPr/>
        </p:nvSpPr>
        <p:spPr>
          <a:xfrm>
            <a:off x="3381679"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46271"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Multi-Turn</a:t>
            </a:r>
          </a:p>
        </p:txBody>
      </p:sp>
      <p:sp>
        <p:nvSpPr>
          <p:cNvPr id="15" name="TextBox 14"/>
          <p:cNvSpPr txBox="1"/>
          <p:nvPr/>
        </p:nvSpPr>
        <p:spPr>
          <a:xfrm>
            <a:off x="3509695" y="2657855"/>
            <a:ext cx="2357551" cy="1292352"/>
          </a:xfrm>
          <a:prstGeom prst="rect">
            <a:avLst/>
          </a:prstGeom>
          <a:noFill/>
        </p:spPr>
        <p:txBody>
          <a:bodyPr wrap="square" lIns="45720" rIns="45720" tIns="27432" bIns="27432" anchor="t">
            <a:noAutofit/>
          </a:bodyPr>
          <a:lstStyle/>
          <a:p>
            <a:pPr algn="l">
              <a:lnSpc>
                <a:spcPct val="100000"/>
              </a:lnSpc>
            </a:pPr>
            <a:r>
              <a:rPr sz="1250" b="0" i="0">
                <a:solidFill>
                  <a:srgbClr val="A7B2B0"/>
                </a:solidFill>
                <a:latin typeface="Segoe UI"/>
              </a:rPr>
              <a:t>A planner and a tool loop of up to 4,096 iterations over the full enabled surface of 110 built-in tools, self-healing steps and Compact mode for small models.</a:t>
            </a:r>
          </a:p>
        </p:txBody>
      </p:sp>
      <p:sp>
        <p:nvSpPr>
          <p:cNvPr id="16" name="Rounded Rectangle 15"/>
          <p:cNvSpPr/>
          <p:nvPr/>
        </p:nvSpPr>
        <p:spPr>
          <a:xfrm>
            <a:off x="6196431"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61023"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24447"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Agentic Control Panel</a:t>
            </a:r>
          </a:p>
        </p:txBody>
      </p:sp>
      <p:sp>
        <p:nvSpPr>
          <p:cNvPr id="19" name="TextBox 18"/>
          <p:cNvSpPr txBox="1"/>
          <p:nvPr/>
        </p:nvSpPr>
        <p:spPr>
          <a:xfrm>
            <a:off x="6324447"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drag-and-drop agent types wired into runnable, savable </a:t>
            </a:r>
            <a:r>
              <a:rPr sz="1200" b="0" i="0">
                <a:solidFill>
                  <a:srgbClr val="E2B462"/>
                </a:solidFill>
                <a:latin typeface="Consolas"/>
              </a:rPr>
              <a:t>.flw</a:t>
            </a:r>
            <a:r>
              <a:rPr sz="1300" b="0" i="0">
                <a:solidFill>
                  <a:srgbClr val="A7B2B0"/>
                </a:solidFill>
                <a:latin typeface="Segoe UI"/>
              </a:rPr>
              <a:t> workflows.</a:t>
            </a:r>
          </a:p>
        </p:txBody>
      </p:sp>
      <p:sp>
        <p:nvSpPr>
          <p:cNvPr id="20" name="Rounded Rectangle 19"/>
          <p:cNvSpPr/>
          <p:nvPr/>
        </p:nvSpPr>
        <p:spPr>
          <a:xfrm>
            <a:off x="9011183"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75775"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39199"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Prompt Flow Panel</a:t>
            </a:r>
          </a:p>
        </p:txBody>
      </p:sp>
      <p:sp>
        <p:nvSpPr>
          <p:cNvPr id="23" name="TextBox 22"/>
          <p:cNvSpPr txBox="1"/>
          <p:nvPr/>
        </p:nvSpPr>
        <p:spPr>
          <a:xfrm>
            <a:off x="9139199"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New in v1.70.0: prompts, decisions and embeddings drawn as a diagram, saved as </a:t>
            </a:r>
            <a:r>
              <a:rPr sz="1200" b="0" i="0">
                <a:solidFill>
                  <a:srgbClr val="E2B462"/>
                </a:solidFill>
                <a:latin typeface="Consolas"/>
              </a:rPr>
              <a:t>.fpmt</a:t>
            </a:r>
            <a:r>
              <a:rPr sz="1300" b="0" i="0">
                <a:solidFill>
                  <a:srgbClr val="A7B2B0"/>
                </a:solidFill>
                <a:latin typeface="Segoe UI"/>
              </a:rPr>
              <a:t>, and played against your models.</a:t>
            </a:r>
          </a:p>
        </p:txBody>
      </p:sp>
      <p:sp>
        <p:nvSpPr>
          <p:cNvPr id="24" name="Rounded Rectangle 23"/>
          <p:cNvSpPr/>
          <p:nvPr/>
        </p:nvSpPr>
        <p:spPr>
          <a:xfrm>
            <a:off x="566928"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ACPX</a:t>
            </a:r>
          </a:p>
        </p:txBody>
      </p:sp>
      <p:sp>
        <p:nvSpPr>
          <p:cNvPr id="27" name="TextBox 26"/>
          <p:cNvSpPr txBox="1"/>
          <p:nvPr/>
        </p:nvSpPr>
        <p:spPr>
          <a:xfrm>
            <a:off x="694944"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14 external coding-agent CLIs, from Claude Code to Codex and Gemini, spawned as children and brokered through 12 tools.</a:t>
            </a:r>
          </a:p>
        </p:txBody>
      </p:sp>
      <p:sp>
        <p:nvSpPr>
          <p:cNvPr id="28" name="Rounded Rectangle 27"/>
          <p:cNvSpPr/>
          <p:nvPr/>
        </p:nvSpPr>
        <p:spPr>
          <a:xfrm>
            <a:off x="3381679"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46271"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09695"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External MCPs</a:t>
            </a:r>
          </a:p>
        </p:txBody>
      </p:sp>
      <p:sp>
        <p:nvSpPr>
          <p:cNvPr id="31" name="TextBox 30"/>
          <p:cNvSpPr txBox="1"/>
          <p:nvPr/>
        </p:nvSpPr>
        <p:spPr>
          <a:xfrm>
            <a:off x="3509695"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universal client for any MCP server over four transports, with up to five servers active at once.</a:t>
            </a:r>
          </a:p>
        </p:txBody>
      </p:sp>
      <p:sp>
        <p:nvSpPr>
          <p:cNvPr id="32" name="Rounded Rectangle 31"/>
          <p:cNvSpPr/>
          <p:nvPr/>
        </p:nvSpPr>
        <p:spPr>
          <a:xfrm>
            <a:off x="6196431"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61023" y="4370832"/>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24447"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Skills</a:t>
            </a:r>
          </a:p>
        </p:txBody>
      </p:sp>
      <p:sp>
        <p:nvSpPr>
          <p:cNvPr id="35" name="TextBox 34"/>
          <p:cNvSpPr txBox="1"/>
          <p:nvPr/>
        </p:nvSpPr>
        <p:spPr>
          <a:xfrm>
            <a:off x="6324447"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29 </a:t>
            </a:r>
            <a:r>
              <a:rPr sz="1200" b="0" i="0">
                <a:solidFill>
                  <a:srgbClr val="E2B462"/>
                </a:solidFill>
                <a:latin typeface="Consolas"/>
              </a:rPr>
              <a:t>SKILL.md</a:t>
            </a:r>
            <a:r>
              <a:rPr sz="1300" b="0" i="0">
                <a:solidFill>
                  <a:srgbClr val="A7B2B0"/>
                </a:solidFill>
                <a:latin typeface="Segoe UI"/>
              </a:rPr>
              <a:t> runbooks, from code review to MCP onboarding, handed to the model as complete procedures.</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WHO SHE IS</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WHAT SETS HER APART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jewels</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Coding assistants edit text files. Tlamatini does that too, then reaches into engines, boards and networks, and lets you wire all of it together visually.</a:t>
            </a:r>
          </a:p>
        </p:txBody>
      </p:sp>
      <p:sp>
        <p:nvSpPr>
          <p:cNvPr id="8" name="Rounded Rectangle 7"/>
          <p:cNvSpPr/>
          <p:nvPr/>
        </p:nvSpPr>
        <p:spPr>
          <a:xfrm>
            <a:off x="566928"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Visual workflow design</a:t>
            </a:r>
          </a:p>
        </p:txBody>
      </p:sp>
      <p:sp>
        <p:nvSpPr>
          <p:cNvPr id="11" name="TextBox 10"/>
          <p:cNvSpPr txBox="1"/>
          <p:nvPr/>
        </p:nvSpPr>
        <p:spPr>
          <a:xfrm>
            <a:off x="694944"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 types on a canvas you connect, validate, run, pause and save.</a:t>
            </a:r>
          </a:p>
        </p:txBody>
      </p:sp>
      <p:sp>
        <p:nvSpPr>
          <p:cNvPr id="12" name="Rounded Rectangle 11"/>
          <p:cNvSpPr/>
          <p:nvPr/>
        </p:nvSpPr>
        <p:spPr>
          <a:xfrm>
            <a:off x="3381679"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46271"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09695"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Unreal Engine</a:t>
            </a:r>
          </a:p>
        </p:txBody>
      </p:sp>
      <p:sp>
        <p:nvSpPr>
          <p:cNvPr id="15" name="TextBox 14"/>
          <p:cNvSpPr txBox="1"/>
          <p:nvPr/>
        </p:nvSpPr>
        <p:spPr>
          <a:xfrm>
            <a:off x="3509695"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Drive a live UE5 editor from chat or canvas: actors, Blueprints, levels, assets and materials.</a:t>
            </a:r>
          </a:p>
        </p:txBody>
      </p:sp>
      <p:sp>
        <p:nvSpPr>
          <p:cNvPr id="16" name="Rounded Rectangle 15"/>
          <p:cNvSpPr/>
          <p:nvPr/>
        </p:nvSpPr>
        <p:spPr>
          <a:xfrm>
            <a:off x="6196431"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61023"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24447"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Blender</a:t>
            </a:r>
          </a:p>
        </p:txBody>
      </p:sp>
      <p:sp>
        <p:nvSpPr>
          <p:cNvPr id="19" name="TextBox 18"/>
          <p:cNvSpPr txBox="1"/>
          <p:nvPr/>
        </p:nvSpPr>
        <p:spPr>
          <a:xfrm>
            <a:off x="6324447"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Scenes, objects, materials, renders and raw bpy code over the official add-on socket.</a:t>
            </a:r>
          </a:p>
        </p:txBody>
      </p:sp>
      <p:sp>
        <p:nvSpPr>
          <p:cNvPr id="20" name="Rounded Rectangle 19"/>
          <p:cNvSpPr/>
          <p:nvPr/>
        </p:nvSpPr>
        <p:spPr>
          <a:xfrm>
            <a:off x="9011183" y="2084831"/>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75775"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39199" y="2304287"/>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Real firmware</a:t>
            </a:r>
          </a:p>
        </p:txBody>
      </p:sp>
      <p:sp>
        <p:nvSpPr>
          <p:cNvPr id="23" name="TextBox 22"/>
          <p:cNvSpPr txBox="1"/>
          <p:nvPr/>
        </p:nvSpPr>
        <p:spPr>
          <a:xfrm>
            <a:off x="9139199" y="2657855"/>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Scaffold, build and flash STM32, ESP32, Arduino and ESPHome boards behind fail-safe preflights.</a:t>
            </a:r>
          </a:p>
        </p:txBody>
      </p:sp>
      <p:sp>
        <p:nvSpPr>
          <p:cNvPr id="24" name="Rounded Rectangle 23"/>
          <p:cNvSpPr/>
          <p:nvPr/>
        </p:nvSpPr>
        <p:spPr>
          <a:xfrm>
            <a:off x="566928"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Whole projects</a:t>
            </a:r>
          </a:p>
        </p:txBody>
      </p:sp>
      <p:sp>
        <p:nvSpPr>
          <p:cNvPr id="27" name="TextBox 26"/>
          <p:cNvSpPr txBox="1"/>
          <p:nvPr/>
        </p:nvSpPr>
        <p:spPr>
          <a:xfrm>
            <a:off x="694944"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Find, read, edit and rebuild entire codebases with grounded retrieval.</a:t>
            </a:r>
          </a:p>
        </p:txBody>
      </p:sp>
      <p:sp>
        <p:nvSpPr>
          <p:cNvPr id="28" name="Rounded Rectangle 27"/>
          <p:cNvSpPr/>
          <p:nvPr/>
        </p:nvSpPr>
        <p:spPr>
          <a:xfrm>
            <a:off x="3381679"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46271"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09695"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Any MCP server</a:t>
            </a:r>
          </a:p>
        </p:txBody>
      </p:sp>
      <p:sp>
        <p:nvSpPr>
          <p:cNvPr id="31" name="TextBox 30"/>
          <p:cNvSpPr txBox="1"/>
          <p:nvPr/>
        </p:nvSpPr>
        <p:spPr>
          <a:xfrm>
            <a:off x="3509695"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One client for the MCP ecosystem: stdio, streamable HTTP, SSE and WebSocket.</a:t>
            </a:r>
          </a:p>
        </p:txBody>
      </p:sp>
      <p:sp>
        <p:nvSpPr>
          <p:cNvPr id="32" name="Rounded Rectangle 31"/>
          <p:cNvSpPr/>
          <p:nvPr/>
        </p:nvSpPr>
        <p:spPr>
          <a:xfrm>
            <a:off x="6196431"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61023" y="4370832"/>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24447"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Security assessment</a:t>
            </a:r>
          </a:p>
        </p:txBody>
      </p:sp>
      <p:sp>
        <p:nvSpPr>
          <p:cNvPr id="35" name="TextBox 34"/>
          <p:cNvSpPr txBox="1"/>
          <p:nvPr/>
        </p:nvSpPr>
        <p:spPr>
          <a:xfrm>
            <a:off x="6324447"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Authorized Kali, ProjectDiscovery and nmap work, driven from chat.</a:t>
            </a:r>
          </a:p>
        </p:txBody>
      </p:sp>
      <p:sp>
        <p:nvSpPr>
          <p:cNvPr id="36" name="Rounded Rectangle 35"/>
          <p:cNvSpPr/>
          <p:nvPr/>
        </p:nvSpPr>
        <p:spPr>
          <a:xfrm>
            <a:off x="9011183" y="4242816"/>
            <a:ext cx="2613583"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175775" y="4370832"/>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39199" y="4462272"/>
            <a:ext cx="2357551"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Blue-hat defence</a:t>
            </a:r>
          </a:p>
        </p:txBody>
      </p:sp>
      <p:sp>
        <p:nvSpPr>
          <p:cNvPr id="39" name="TextBox 38"/>
          <p:cNvSpPr txBox="1"/>
          <p:nvPr/>
        </p:nvSpPr>
        <p:spPr>
          <a:xfrm>
            <a:off x="9139199" y="4815840"/>
            <a:ext cx="2357551"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An administrator-run Windows monitoring and response toolkit.</a:t>
            </a:r>
          </a:p>
        </p:txBody>
      </p:sp>
      <p:cxnSp>
        <p:nvCxnSpPr>
          <p:cNvPr id="40" name="Connector 3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WHO SHE IS</a:t>
            </a:r>
          </a:p>
        </p:txBody>
      </p:sp>
      <p:sp>
        <p:nvSpPr>
          <p:cNvPr id="42" name="TextBox 4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AT A GLANCE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numbers, derived from source</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Every figure below was counted from the repository while this dossier was generated.</a:t>
            </a:r>
          </a:p>
        </p:txBody>
      </p:sp>
      <p:sp>
        <p:nvSpPr>
          <p:cNvPr id="8" name="Rounded Rectangle 7"/>
          <p:cNvSpPr/>
          <p:nvPr/>
        </p:nvSpPr>
        <p:spPr>
          <a:xfrm>
            <a:off x="566928" y="2130551"/>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822960" y="2404871"/>
            <a:ext cx="64008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68096" y="2514599"/>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86</a:t>
            </a:r>
          </a:p>
        </p:txBody>
      </p:sp>
      <p:sp>
        <p:nvSpPr>
          <p:cNvPr id="11" name="TextBox 10"/>
          <p:cNvSpPr txBox="1"/>
          <p:nvPr/>
        </p:nvSpPr>
        <p:spPr>
          <a:xfrm>
            <a:off x="786384" y="3497579"/>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3BBE93"/>
                </a:solidFill>
                <a:latin typeface="Segoe UI Semibold"/>
              </a:rPr>
              <a:t>AGENT TYPES</a:t>
            </a:r>
          </a:p>
        </p:txBody>
      </p:sp>
      <p:sp>
        <p:nvSpPr>
          <p:cNvPr id="12" name="Rounded Rectangle 11"/>
          <p:cNvSpPr/>
          <p:nvPr/>
        </p:nvSpPr>
        <p:spPr>
          <a:xfrm>
            <a:off x="3390823" y="2130551"/>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646855" y="2404871"/>
            <a:ext cx="64008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91991" y="2514599"/>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110</a:t>
            </a:r>
          </a:p>
        </p:txBody>
      </p:sp>
      <p:sp>
        <p:nvSpPr>
          <p:cNvPr id="15" name="TextBox 14"/>
          <p:cNvSpPr txBox="1"/>
          <p:nvPr/>
        </p:nvSpPr>
        <p:spPr>
          <a:xfrm>
            <a:off x="3610279" y="3497579"/>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C98457"/>
                </a:solidFill>
                <a:latin typeface="Segoe UI Semibold"/>
              </a:rPr>
              <a:t>MULTI-TURN TOOLS</a:t>
            </a:r>
          </a:p>
        </p:txBody>
      </p:sp>
      <p:sp>
        <p:nvSpPr>
          <p:cNvPr id="16" name="Rounded Rectangle 15"/>
          <p:cNvSpPr/>
          <p:nvPr/>
        </p:nvSpPr>
        <p:spPr>
          <a:xfrm>
            <a:off x="6214719" y="2130551"/>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470751" y="2404871"/>
            <a:ext cx="64008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15887" y="2514599"/>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67</a:t>
            </a:r>
          </a:p>
        </p:txBody>
      </p:sp>
      <p:sp>
        <p:nvSpPr>
          <p:cNvPr id="19" name="TextBox 18"/>
          <p:cNvSpPr txBox="1"/>
          <p:nvPr/>
        </p:nvSpPr>
        <p:spPr>
          <a:xfrm>
            <a:off x="6434175" y="3497579"/>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E2B462"/>
                </a:solidFill>
                <a:latin typeface="Segoe UI Semibold"/>
              </a:rPr>
              <a:t>WRAPPED AGENTS</a:t>
            </a:r>
          </a:p>
        </p:txBody>
      </p:sp>
      <p:sp>
        <p:nvSpPr>
          <p:cNvPr id="20" name="Rounded Rectangle 19"/>
          <p:cNvSpPr/>
          <p:nvPr/>
        </p:nvSpPr>
        <p:spPr>
          <a:xfrm>
            <a:off x="9038615" y="2130551"/>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294647" y="2404871"/>
            <a:ext cx="64008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39783" y="2514599"/>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29</a:t>
            </a:r>
          </a:p>
        </p:txBody>
      </p:sp>
      <p:sp>
        <p:nvSpPr>
          <p:cNvPr id="23" name="TextBox 22"/>
          <p:cNvSpPr txBox="1"/>
          <p:nvPr/>
        </p:nvSpPr>
        <p:spPr>
          <a:xfrm>
            <a:off x="9258071" y="3497579"/>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46D2E2"/>
                </a:solidFill>
                <a:latin typeface="Segoe UI Semibold"/>
              </a:rPr>
              <a:t>SKILLS</a:t>
            </a:r>
          </a:p>
        </p:txBody>
      </p:sp>
      <p:sp>
        <p:nvSpPr>
          <p:cNvPr id="24" name="Rounded Rectangle 23"/>
          <p:cNvSpPr/>
          <p:nvPr/>
        </p:nvSpPr>
        <p:spPr>
          <a:xfrm>
            <a:off x="566928" y="4283964"/>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822960" y="4558284"/>
            <a:ext cx="64008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768096" y="4668012"/>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14</a:t>
            </a:r>
          </a:p>
        </p:txBody>
      </p:sp>
      <p:sp>
        <p:nvSpPr>
          <p:cNvPr id="27" name="TextBox 26"/>
          <p:cNvSpPr txBox="1"/>
          <p:nvPr/>
        </p:nvSpPr>
        <p:spPr>
          <a:xfrm>
            <a:off x="786384" y="5650992"/>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D25CD6"/>
                </a:solidFill>
                <a:latin typeface="Segoe UI Semibold"/>
              </a:rPr>
              <a:t>ACPX PEERS</a:t>
            </a:r>
          </a:p>
        </p:txBody>
      </p:sp>
      <p:sp>
        <p:nvSpPr>
          <p:cNvPr id="28" name="Rounded Rectangle 27"/>
          <p:cNvSpPr/>
          <p:nvPr/>
        </p:nvSpPr>
        <p:spPr>
          <a:xfrm>
            <a:off x="3390823" y="4283964"/>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646855" y="4558284"/>
            <a:ext cx="64008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91991" y="4668012"/>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220</a:t>
            </a:r>
          </a:p>
        </p:txBody>
      </p:sp>
      <p:sp>
        <p:nvSpPr>
          <p:cNvPr id="31" name="TextBox 30"/>
          <p:cNvSpPr txBox="1"/>
          <p:nvPr/>
        </p:nvSpPr>
        <p:spPr>
          <a:xfrm>
            <a:off x="3610279" y="5650992"/>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D9576B"/>
                </a:solidFill>
                <a:latin typeface="Segoe UI Semibold"/>
              </a:rPr>
              <a:t>MIGRATIONS</a:t>
            </a:r>
          </a:p>
        </p:txBody>
      </p:sp>
      <p:sp>
        <p:nvSpPr>
          <p:cNvPr id="32" name="Rounded Rectangle 31"/>
          <p:cNvSpPr/>
          <p:nvPr/>
        </p:nvSpPr>
        <p:spPr>
          <a:xfrm>
            <a:off x="6214719" y="4283964"/>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470751" y="4558284"/>
            <a:ext cx="64008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15887" y="4668012"/>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1,829</a:t>
            </a:r>
          </a:p>
        </p:txBody>
      </p:sp>
      <p:sp>
        <p:nvSpPr>
          <p:cNvPr id="35" name="TextBox 34"/>
          <p:cNvSpPr txBox="1"/>
          <p:nvPr/>
        </p:nvSpPr>
        <p:spPr>
          <a:xfrm>
            <a:off x="6434175" y="5650992"/>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3BBE93"/>
                </a:solidFill>
                <a:latin typeface="Segoe UI Semibold"/>
              </a:rPr>
              <a:t>TRACKED FILES</a:t>
            </a:r>
          </a:p>
        </p:txBody>
      </p:sp>
      <p:sp>
        <p:nvSpPr>
          <p:cNvPr id="36" name="Rounded Rectangle 35"/>
          <p:cNvSpPr/>
          <p:nvPr/>
        </p:nvSpPr>
        <p:spPr>
          <a:xfrm>
            <a:off x="9038615" y="4283964"/>
            <a:ext cx="2586151" cy="1915668"/>
          </a:xfrm>
          <a:prstGeom prst="roundRect">
            <a:avLst>
              <a:gd name="adj" fmla="val 668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294647" y="4558284"/>
            <a:ext cx="64008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239783" y="4668012"/>
            <a:ext cx="2183815" cy="946404"/>
          </a:xfrm>
          <a:prstGeom prst="rect">
            <a:avLst/>
          </a:prstGeom>
          <a:noFill/>
        </p:spPr>
        <p:txBody>
          <a:bodyPr wrap="square" lIns="45720" rIns="45720" tIns="27432" bIns="27432" anchor="ctr">
            <a:noAutofit/>
          </a:bodyPr>
          <a:lstStyle/>
          <a:p>
            <a:pPr algn="l">
              <a:lnSpc>
                <a:spcPct val="100000"/>
              </a:lnSpc>
            </a:pPr>
            <a:r>
              <a:rPr sz="4600" b="1" i="0">
                <a:solidFill>
                  <a:srgbClr val="F7F2E8"/>
                </a:solidFill>
                <a:latin typeface="Palatino Linotype"/>
              </a:rPr>
              <a:t>478,186</a:t>
            </a:r>
          </a:p>
        </p:txBody>
      </p:sp>
      <p:sp>
        <p:nvSpPr>
          <p:cNvPr id="39" name="TextBox 38"/>
          <p:cNvSpPr txBox="1"/>
          <p:nvPr/>
        </p:nvSpPr>
        <p:spPr>
          <a:xfrm>
            <a:off x="9258071" y="5650992"/>
            <a:ext cx="2147239" cy="402336"/>
          </a:xfrm>
          <a:prstGeom prst="rect">
            <a:avLst/>
          </a:prstGeom>
          <a:noFill/>
        </p:spPr>
        <p:txBody>
          <a:bodyPr wrap="square" lIns="45720" rIns="45720" tIns="27432" bIns="27432" anchor="t">
            <a:noAutofit/>
          </a:bodyPr>
          <a:lstStyle/>
          <a:p>
            <a:pPr algn="l">
              <a:lnSpc>
                <a:spcPct val="100000"/>
              </a:lnSpc>
            </a:pPr>
            <a:r>
              <a:rPr sz="1150" b="0" i="0" spc="160">
                <a:solidFill>
                  <a:srgbClr val="C98457"/>
                </a:solidFill>
                <a:latin typeface="Segoe UI Semibold"/>
              </a:rPr>
              <a:t>EFFECTIVE LINES</a:t>
            </a:r>
          </a:p>
        </p:txBody>
      </p:sp>
      <p:cxnSp>
        <p:nvCxnSpPr>
          <p:cNvPr id="40" name="Connector 3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 · WHO SHE IS</a:t>
            </a:r>
          </a:p>
        </p:txBody>
      </p:sp>
      <p:sp>
        <p:nvSpPr>
          <p:cNvPr id="42" name="TextBox 4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C98457"/>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How She Works</a:t>
            </a:r>
          </a:p>
        </p:txBody>
      </p:sp>
      <p:sp>
        <p:nvSpPr>
          <p:cNvPr id="6" name="Rectangle 5"/>
          <p:cNvSpPr/>
          <p:nvPr/>
        </p:nvSpPr>
        <p:spPr>
          <a:xfrm>
            <a:off x="841248" y="4315968"/>
            <a:ext cx="100584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From a keystroke in the browser to a verified result on disk: the layers, the loop and the verdict.</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II</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LIVE EDITOR BRIDGE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authenticated tab, one exact buffer</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browser editor and the synchronous tool loop share an account/session-bound bridge.</a:t>
            </a:r>
          </a:p>
        </p:txBody>
      </p:sp>
      <p:sp>
        <p:nvSpPr>
          <p:cNvPr id="8" name="Rounded Rectangle 7"/>
          <p:cNvSpPr/>
          <p:nvPr/>
        </p:nvSpPr>
        <p:spPr>
          <a:xfrm>
            <a:off x="566928" y="2084831"/>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10384"/>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Browser</a:t>
            </a:r>
          </a:p>
        </p:txBody>
      </p:sp>
      <p:sp>
        <p:nvSpPr>
          <p:cNvPr id="11" name="TextBox 10"/>
          <p:cNvSpPr txBox="1"/>
          <p:nvPr/>
        </p:nvSpPr>
        <p:spPr>
          <a:xfrm>
            <a:off x="3767328" y="2139696"/>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CodeMirror is authoritative; bridge.js sends receipts/access/stop, not host-path commands.</a:t>
            </a:r>
          </a:p>
        </p:txBody>
      </p:sp>
      <p:sp>
        <p:nvSpPr>
          <p:cNvPr id="12" name="Rounded Rectangle 11"/>
          <p:cNvSpPr/>
          <p:nvPr/>
        </p:nvSpPr>
        <p:spPr>
          <a:xfrm>
            <a:off x="566928" y="2791968"/>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01752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846832"/>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Transport</a:t>
            </a:r>
          </a:p>
        </p:txBody>
      </p:sp>
      <p:sp>
        <p:nvSpPr>
          <p:cNvPr id="15" name="TextBox 14"/>
          <p:cNvSpPr txBox="1"/>
          <p:nvPr/>
        </p:nvSpPr>
        <p:spPr>
          <a:xfrm>
            <a:off x="3767328" y="2846832"/>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ws/interactor/ authenticates the session and exact Origin/Host; the server issues tab identity.</a:t>
            </a:r>
          </a:p>
        </p:txBody>
      </p:sp>
      <p:sp>
        <p:nvSpPr>
          <p:cNvPr id="16" name="Rounded Rectangle 15"/>
          <p:cNvSpPr/>
          <p:nvPr/>
        </p:nvSpPr>
        <p:spPr>
          <a:xfrm>
            <a:off x="566928" y="3499103"/>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372465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553967"/>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Tool context</a:t>
            </a:r>
          </a:p>
        </p:txBody>
      </p:sp>
      <p:sp>
        <p:nvSpPr>
          <p:cNvPr id="19" name="TextBox 18"/>
          <p:cNvSpPr txBox="1"/>
          <p:nvPr/>
        </p:nvSpPr>
        <p:spPr>
          <a:xfrm>
            <a:off x="3767328" y="3553967"/>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ContextVar carries tab/account/session identity into workers; read gets the live buffer.</a:t>
            </a:r>
          </a:p>
        </p:txBody>
      </p:sp>
      <p:sp>
        <p:nvSpPr>
          <p:cNvPr id="20" name="Rounded Rectangle 19"/>
          <p:cNvSpPr/>
          <p:nvPr/>
        </p:nvSpPr>
        <p:spPr>
          <a:xfrm>
            <a:off x="566928" y="4206240"/>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431791"/>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261103"/>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Hub</a:t>
            </a:r>
          </a:p>
        </p:txBody>
      </p:sp>
      <p:sp>
        <p:nvSpPr>
          <p:cNvPr id="23" name="TextBox 22"/>
          <p:cNvSpPr txBox="1"/>
          <p:nvPr/>
        </p:nvSpPr>
        <p:spPr>
          <a:xfrm>
            <a:off x="3767328" y="4261103"/>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Bounded queues, command IDs, deadlines, revision checks and full-buffer verification.</a:t>
            </a:r>
          </a:p>
        </p:txBody>
      </p:sp>
      <p:sp>
        <p:nvSpPr>
          <p:cNvPr id="24" name="Rounded Rectangle 23"/>
          <p:cNvSpPr/>
          <p:nvPr/>
        </p:nvSpPr>
        <p:spPr>
          <a:xfrm>
            <a:off x="566928" y="4913376"/>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138927"/>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4968239"/>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Persistence</a:t>
            </a:r>
          </a:p>
        </p:txBody>
      </p:sp>
      <p:sp>
        <p:nvSpPr>
          <p:cNvPr id="27" name="TextBox 26"/>
          <p:cNvSpPr txBox="1"/>
          <p:nvPr/>
        </p:nvSpPr>
        <p:spPr>
          <a:xfrm>
            <a:off x="3767328" y="4968239"/>
            <a:ext cx="7720279"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Ask Execs gates new/save; loopback host access uses the existing path and file-capability guards.</a:t>
            </a:r>
          </a:p>
        </p:txBody>
      </p:sp>
      <p:sp>
        <p:nvSpPr>
          <p:cNvPr id="28" name="Rounded Rectangle 27"/>
          <p:cNvSpPr/>
          <p:nvPr/>
        </p:nvSpPr>
        <p:spPr>
          <a:xfrm>
            <a:off x="566928" y="5620512"/>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iamond 28"/>
          <p:cNvSpPr/>
          <p:nvPr/>
        </p:nvSpPr>
        <p:spPr>
          <a:xfrm>
            <a:off x="768096" y="5846063"/>
            <a:ext cx="128016" cy="128016"/>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675375"/>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Carriage</a:t>
            </a:r>
          </a:p>
        </p:txBody>
      </p:sp>
      <p:sp>
        <p:nvSpPr>
          <p:cNvPr id="31" name="TextBox 30"/>
          <p:cNvSpPr txBox="1"/>
          <p:nvPr/>
        </p:nvSpPr>
        <p:spPr>
          <a:xfrm>
            <a:off x="3767328" y="5675375"/>
            <a:ext cx="7720279"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Migration 0218, tool_gate_table, prompt rules, frozen modules and offline source/static inventories.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ARCHITECTURE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Five layers, from toggle to tool</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 request passes through five layers, each with one responsibility, between the browser above and the model back-ends below.</a:t>
            </a:r>
          </a:p>
        </p:txBody>
      </p:sp>
      <p:sp>
        <p:nvSpPr>
          <p:cNvPr id="8" name="Rounded Rectangle 7"/>
          <p:cNvSpPr/>
          <p:nvPr/>
        </p:nvSpPr>
        <p:spPr>
          <a:xfrm>
            <a:off x="566928" y="2084831"/>
            <a:ext cx="11057839" cy="365760"/>
          </a:xfrm>
          <a:prstGeom prst="roundRect">
            <a:avLst>
              <a:gd name="adj" fmla="val 20000"/>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49808" y="2084831"/>
            <a:ext cx="10692079" cy="365760"/>
          </a:xfrm>
          <a:prstGeom prst="rect">
            <a:avLst/>
          </a:prstGeom>
          <a:noFill/>
        </p:spPr>
        <p:txBody>
          <a:bodyPr wrap="square" lIns="45720" rIns="45720" tIns="27432" bIns="27432" anchor="ctr">
            <a:noAutofit/>
          </a:bodyPr>
          <a:lstStyle/>
          <a:p>
            <a:pPr algn="l">
              <a:lnSpc>
                <a:spcPct val="100000"/>
              </a:lnSpc>
            </a:pPr>
            <a:r>
              <a:rPr sz="1100" b="0" i="0" spc="160">
                <a:solidFill>
                  <a:srgbClr val="E2B462"/>
                </a:solidFill>
                <a:latin typeface="Segoe UI Semibold"/>
              </a:rPr>
              <a:t>BROWSER   </a:t>
            </a:r>
            <a:r>
              <a:rPr sz="1300" b="0" i="0">
                <a:solidFill>
                  <a:srgbClr val="ECE7DC"/>
                </a:solidFill>
                <a:latin typeface="Segoe UI"/>
              </a:rPr>
              <a:t>Chat page  ·  Agentic Control Panel  ·  Prompt Flow Panel  ·  WebSockets</a:t>
            </a:r>
          </a:p>
        </p:txBody>
      </p:sp>
      <p:sp>
        <p:nvSpPr>
          <p:cNvPr id="10" name="Rounded Rectangle 9"/>
          <p:cNvSpPr/>
          <p:nvPr/>
        </p:nvSpPr>
        <p:spPr>
          <a:xfrm>
            <a:off x="566928" y="2542032"/>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ounded Rectangle 10"/>
          <p:cNvSpPr/>
          <p:nvPr/>
        </p:nvSpPr>
        <p:spPr>
          <a:xfrm>
            <a:off x="566928" y="2542032"/>
            <a:ext cx="566928" cy="566928"/>
          </a:xfrm>
          <a:prstGeom prst="roundRect">
            <a:avLst>
              <a:gd name="adj" fmla="val 12903"/>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566928" y="2542032"/>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1</a:t>
            </a:r>
          </a:p>
        </p:txBody>
      </p:sp>
      <p:sp>
        <p:nvSpPr>
          <p:cNvPr id="13" name="TextBox 12"/>
          <p:cNvSpPr txBox="1"/>
          <p:nvPr/>
        </p:nvSpPr>
        <p:spPr>
          <a:xfrm>
            <a:off x="1298448" y="2578608"/>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Persisted toggles</a:t>
            </a:r>
          </a:p>
        </p:txBody>
      </p:sp>
      <p:sp>
        <p:nvSpPr>
          <p:cNvPr id="14" name="TextBox 13"/>
          <p:cNvSpPr txBox="1"/>
          <p:nvPr/>
        </p:nvSpPr>
        <p:spPr>
          <a:xfrm>
            <a:off x="4224528" y="2578608"/>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Mcp, Tool, Agent and Skill rows decide what is enabled; the Configure dialogs flip them.</a:t>
            </a:r>
          </a:p>
        </p:txBody>
      </p:sp>
      <p:sp>
        <p:nvSpPr>
          <p:cNvPr id="15" name="Rounded Rectangle 14"/>
          <p:cNvSpPr/>
          <p:nvPr/>
        </p:nvSpPr>
        <p:spPr>
          <a:xfrm>
            <a:off x="566928" y="3200400"/>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566928" y="3200400"/>
            <a:ext cx="566928" cy="566928"/>
          </a:xfrm>
          <a:prstGeom prst="roundRect">
            <a:avLst>
              <a:gd name="adj" fmla="val 12903"/>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566928" y="3200400"/>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2</a:t>
            </a:r>
          </a:p>
        </p:txBody>
      </p:sp>
      <p:sp>
        <p:nvSpPr>
          <p:cNvPr id="18" name="TextBox 17"/>
          <p:cNvSpPr txBox="1"/>
          <p:nvPr/>
        </p:nvSpPr>
        <p:spPr>
          <a:xfrm>
            <a:off x="1298448" y="3236976"/>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Runtime MCP services</a:t>
            </a:r>
          </a:p>
        </p:txBody>
      </p:sp>
      <p:sp>
        <p:nvSpPr>
          <p:cNvPr id="19" name="TextBox 18"/>
          <p:cNvSpPr txBox="1"/>
          <p:nvPr/>
        </p:nvSpPr>
        <p:spPr>
          <a:xfrm>
            <a:off x="4224528" y="3236976"/>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System-Metrics (WebSocket :8765) and Files-Search (gRPC :50051) start with the application.</a:t>
            </a:r>
          </a:p>
        </p:txBody>
      </p:sp>
      <p:sp>
        <p:nvSpPr>
          <p:cNvPr id="20" name="Rounded Rectangle 19"/>
          <p:cNvSpPr/>
          <p:nvPr/>
        </p:nvSpPr>
        <p:spPr>
          <a:xfrm>
            <a:off x="566928" y="3858768"/>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566928" y="3858768"/>
            <a:ext cx="566928" cy="566928"/>
          </a:xfrm>
          <a:prstGeom prst="roundRect">
            <a:avLst>
              <a:gd name="adj" fmla="val 12903"/>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66928" y="3858768"/>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3</a:t>
            </a:r>
          </a:p>
        </p:txBody>
      </p:sp>
      <p:sp>
        <p:nvSpPr>
          <p:cNvPr id="23" name="TextBox 22"/>
          <p:cNvSpPr txBox="1"/>
          <p:nvPr/>
        </p:nvSpPr>
        <p:spPr>
          <a:xfrm>
            <a:off x="1298448" y="3895344"/>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Context sidecars</a:t>
            </a:r>
          </a:p>
        </p:txBody>
      </p:sp>
      <p:sp>
        <p:nvSpPr>
          <p:cNvPr id="24" name="TextBox 23"/>
          <p:cNvSpPr txBox="1"/>
          <p:nvPr/>
        </p:nvSpPr>
        <p:spPr>
          <a:xfrm>
            <a:off x="4224528" y="3895344"/>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Chains that decide whether system or file context is needed and inject it into the payload.</a:t>
            </a:r>
          </a:p>
        </p:txBody>
      </p:sp>
      <p:sp>
        <p:nvSpPr>
          <p:cNvPr id="25" name="Rounded Rectangle 24"/>
          <p:cNvSpPr/>
          <p:nvPr/>
        </p:nvSpPr>
        <p:spPr>
          <a:xfrm>
            <a:off x="566928" y="4517136"/>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566928" y="4517136"/>
            <a:ext cx="566928" cy="566928"/>
          </a:xfrm>
          <a:prstGeom prst="roundRect">
            <a:avLst>
              <a:gd name="adj" fmla="val 12903"/>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66928" y="4517136"/>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4</a:t>
            </a:r>
          </a:p>
        </p:txBody>
      </p:sp>
      <p:sp>
        <p:nvSpPr>
          <p:cNvPr id="28" name="TextBox 27"/>
          <p:cNvSpPr txBox="1"/>
          <p:nvPr/>
        </p:nvSpPr>
        <p:spPr>
          <a:xfrm>
            <a:off x="1298448" y="4553712"/>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Answer chains</a:t>
            </a:r>
          </a:p>
        </p:txBody>
      </p:sp>
      <p:sp>
        <p:nvSpPr>
          <p:cNvPr id="29" name="TextBox 28"/>
          <p:cNvSpPr txBox="1"/>
          <p:nvPr/>
        </p:nvSpPr>
        <p:spPr>
          <a:xfrm>
            <a:off x="4224528" y="4553712"/>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Basic, history-aware RAG and unified-agent chains compose the prompt and produce the answer.</a:t>
            </a:r>
          </a:p>
        </p:txBody>
      </p:sp>
      <p:sp>
        <p:nvSpPr>
          <p:cNvPr id="30" name="Rounded Rectangle 29"/>
          <p:cNvSpPr/>
          <p:nvPr/>
        </p:nvSpPr>
        <p:spPr>
          <a:xfrm>
            <a:off x="566928" y="5175503"/>
            <a:ext cx="11057839" cy="566928"/>
          </a:xfrm>
          <a:prstGeom prst="roundRect">
            <a:avLst>
              <a:gd name="adj" fmla="val 129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566928" y="5175503"/>
            <a:ext cx="566928" cy="566928"/>
          </a:xfrm>
          <a:prstGeom prst="roundRect">
            <a:avLst>
              <a:gd name="adj" fmla="val 12903"/>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566928" y="5175503"/>
            <a:ext cx="566928" cy="566928"/>
          </a:xfrm>
          <a:prstGeom prst="rect">
            <a:avLst/>
          </a:prstGeom>
          <a:noFill/>
        </p:spPr>
        <p:txBody>
          <a:bodyPr wrap="square" lIns="45720" rIns="45720" tIns="27432" bIns="27432" anchor="ctr">
            <a:noAutofit/>
          </a:bodyPr>
          <a:lstStyle/>
          <a:p>
            <a:pPr algn="ctr">
              <a:lnSpc>
                <a:spcPct val="100000"/>
              </a:lnSpc>
            </a:pPr>
            <a:r>
              <a:rPr sz="2200" b="1" i="0">
                <a:solidFill>
                  <a:srgbClr val="090E10"/>
                </a:solidFill>
                <a:latin typeface="Palatino Linotype"/>
              </a:rPr>
              <a:t>5</a:t>
            </a:r>
          </a:p>
        </p:txBody>
      </p:sp>
      <p:sp>
        <p:nvSpPr>
          <p:cNvPr id="33" name="TextBox 32"/>
          <p:cNvSpPr txBox="1"/>
          <p:nvPr/>
        </p:nvSpPr>
        <p:spPr>
          <a:xfrm>
            <a:off x="1298448" y="5212079"/>
            <a:ext cx="2834640" cy="493776"/>
          </a:xfrm>
          <a:prstGeom prst="rect">
            <a:avLst/>
          </a:prstGeom>
          <a:noFill/>
        </p:spPr>
        <p:txBody>
          <a:bodyPr wrap="square" lIns="45720" rIns="45720" tIns="27432" bIns="27432" anchor="ctr">
            <a:noAutofit/>
          </a:bodyPr>
          <a:lstStyle/>
          <a:p>
            <a:pPr algn="l">
              <a:lnSpc>
                <a:spcPct val="100000"/>
              </a:lnSpc>
            </a:pPr>
            <a:r>
              <a:rPr sz="1650" b="0" i="0">
                <a:solidFill>
                  <a:srgbClr val="F7F2E8"/>
                </a:solidFill>
                <a:latin typeface="Segoe UI Semibold"/>
              </a:rPr>
              <a:t>Unified-agent tools</a:t>
            </a:r>
          </a:p>
        </p:txBody>
      </p:sp>
      <p:sp>
        <p:nvSpPr>
          <p:cNvPr id="34" name="TextBox 33"/>
          <p:cNvSpPr txBox="1"/>
          <p:nvPr/>
        </p:nvSpPr>
        <p:spPr>
          <a:xfrm>
            <a:off x="4224528" y="5212079"/>
            <a:ext cx="7217359" cy="493776"/>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21 core, 67 wrapped agents, 12 ACPX/Skill and 10 External-MCP supervisor tools.</a:t>
            </a:r>
          </a:p>
        </p:txBody>
      </p:sp>
      <p:sp>
        <p:nvSpPr>
          <p:cNvPr id="35" name="Rounded Rectangle 34"/>
          <p:cNvSpPr/>
          <p:nvPr/>
        </p:nvSpPr>
        <p:spPr>
          <a:xfrm>
            <a:off x="566928" y="5833871"/>
            <a:ext cx="11057839" cy="365760"/>
          </a:xfrm>
          <a:prstGeom prst="roundRect">
            <a:avLst>
              <a:gd name="adj" fmla="val 20000"/>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49808" y="5833871"/>
            <a:ext cx="10692079" cy="365760"/>
          </a:xfrm>
          <a:prstGeom prst="rect">
            <a:avLst/>
          </a:prstGeom>
          <a:noFill/>
        </p:spPr>
        <p:txBody>
          <a:bodyPr wrap="square" lIns="45720" rIns="45720" tIns="27432" bIns="27432" anchor="ctr">
            <a:noAutofit/>
          </a:bodyPr>
          <a:lstStyle/>
          <a:p>
            <a:pPr algn="l">
              <a:lnSpc>
                <a:spcPct val="100000"/>
              </a:lnSpc>
            </a:pPr>
            <a:r>
              <a:rPr sz="1100" b="0" i="0" spc="160">
                <a:solidFill>
                  <a:srgbClr val="E2B462"/>
                </a:solidFill>
                <a:latin typeface="Segoe UI Semibold"/>
              </a:rPr>
              <a:t>MODELS   </a:t>
            </a:r>
            <a:r>
              <a:rPr sz="1300" b="0" i="0">
                <a:solidFill>
                  <a:srgbClr val="ECE7DC"/>
                </a:solidFill>
                <a:latin typeface="Segoe UI"/>
              </a:rPr>
              <a:t>Ollama (local and cloud)  ·  Anthropic Claude  ·  Qwen vision</a:t>
            </a:r>
          </a:p>
        </p:txBody>
      </p:sp>
      <p:cxnSp>
        <p:nvCxnSpPr>
          <p:cNvPr id="37" name="Connector 3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39" name="TextBox 3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REQUEST JOURNEY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life of one message</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Eleven steps take a message from the browser to a verified, reported result.</a:t>
            </a:r>
          </a:p>
        </p:txBody>
      </p:sp>
      <p:sp>
        <p:nvSpPr>
          <p:cNvPr id="8" name="Rounded Rectangle 7"/>
          <p:cNvSpPr/>
          <p:nvPr/>
        </p:nvSpPr>
        <p:spPr>
          <a:xfrm>
            <a:off x="566928" y="2084831"/>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94944"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1</a:t>
            </a:r>
          </a:p>
        </p:txBody>
      </p:sp>
      <p:sp>
        <p:nvSpPr>
          <p:cNvPr id="11" name="TextBox 10"/>
          <p:cNvSpPr txBox="1"/>
          <p:nvPr/>
        </p:nvSpPr>
        <p:spPr>
          <a:xfrm>
            <a:off x="1152144" y="2157984"/>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Send</a:t>
            </a:r>
          </a:p>
        </p:txBody>
      </p:sp>
      <p:sp>
        <p:nvSpPr>
          <p:cNvPr id="12" name="TextBox 11"/>
          <p:cNvSpPr txBox="1"/>
          <p:nvPr/>
        </p:nvSpPr>
        <p:spPr>
          <a:xfrm>
            <a:off x="694944" y="2651760"/>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The browser sends the text and its toolbar flags over the chat WebSocket.</a:t>
            </a:r>
          </a:p>
        </p:txBody>
      </p:sp>
      <p:cxnSp>
        <p:nvCxnSpPr>
          <p:cNvPr id="13" name="Connector 12"/>
          <p:cNvCxnSpPr/>
          <p:nvPr/>
        </p:nvCxnSpPr>
        <p:spPr>
          <a:xfrm>
            <a:off x="3134791"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3409111" y="2084831"/>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3537127"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537127"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2</a:t>
            </a:r>
          </a:p>
        </p:txBody>
      </p:sp>
      <p:sp>
        <p:nvSpPr>
          <p:cNvPr id="17" name="TextBox 16"/>
          <p:cNvSpPr txBox="1"/>
          <p:nvPr/>
        </p:nvSpPr>
        <p:spPr>
          <a:xfrm>
            <a:off x="3994327" y="2157984"/>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Route</a:t>
            </a:r>
          </a:p>
        </p:txBody>
      </p:sp>
      <p:sp>
        <p:nvSpPr>
          <p:cNvPr id="18" name="TextBox 17"/>
          <p:cNvSpPr txBox="1"/>
          <p:nvPr/>
        </p:nvSpPr>
        <p:spPr>
          <a:xfrm>
            <a:off x="3537127" y="2651760"/>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AgentConsumer receives it, attributes it to the user and queues retrieval.</a:t>
            </a:r>
          </a:p>
        </p:txBody>
      </p:sp>
      <p:cxnSp>
        <p:nvCxnSpPr>
          <p:cNvPr id="19" name="Connector 18"/>
          <p:cNvCxnSpPr/>
          <p:nvPr/>
        </p:nvCxnSpPr>
        <p:spPr>
          <a:xfrm>
            <a:off x="5976975"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251295" y="2084831"/>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6379311"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79311"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3</a:t>
            </a:r>
          </a:p>
        </p:txBody>
      </p:sp>
      <p:sp>
        <p:nvSpPr>
          <p:cNvPr id="23" name="TextBox 22"/>
          <p:cNvSpPr txBox="1"/>
          <p:nvPr/>
        </p:nvSpPr>
        <p:spPr>
          <a:xfrm>
            <a:off x="6836511" y="2157984"/>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Context</a:t>
            </a:r>
          </a:p>
        </p:txBody>
      </p:sp>
      <p:sp>
        <p:nvSpPr>
          <p:cNvPr id="24" name="TextBox 23"/>
          <p:cNvSpPr txBox="1"/>
          <p:nvPr/>
        </p:nvSpPr>
        <p:spPr>
          <a:xfrm>
            <a:off x="6379311" y="2651760"/>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It decides whether RAG context is loaded and whether web search is needed.</a:t>
            </a:r>
          </a:p>
        </p:txBody>
      </p:sp>
      <p:cxnSp>
        <p:nvCxnSpPr>
          <p:cNvPr id="25" name="Connector 24"/>
          <p:cNvCxnSpPr/>
          <p:nvPr/>
        </p:nvCxnSpPr>
        <p:spPr>
          <a:xfrm>
            <a:off x="8819159"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9093479" y="2084831"/>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9221495"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221495"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4</a:t>
            </a:r>
          </a:p>
        </p:txBody>
      </p:sp>
      <p:sp>
        <p:nvSpPr>
          <p:cNvPr id="29" name="TextBox 28"/>
          <p:cNvSpPr txBox="1"/>
          <p:nvPr/>
        </p:nvSpPr>
        <p:spPr>
          <a:xfrm>
            <a:off x="9678695" y="2157984"/>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Chain</a:t>
            </a:r>
          </a:p>
        </p:txBody>
      </p:sp>
      <p:sp>
        <p:nvSpPr>
          <p:cNvPr id="30" name="TextBox 29"/>
          <p:cNvSpPr txBox="1"/>
          <p:nvPr/>
        </p:nvSpPr>
        <p:spPr>
          <a:xfrm>
            <a:off x="9221495" y="2651760"/>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The RAG, Basic or Unified-Agent chain is selected and fitted to the model.</a:t>
            </a:r>
          </a:p>
        </p:txBody>
      </p:sp>
      <p:sp>
        <p:nvSpPr>
          <p:cNvPr id="31" name="Rounded Rectangle 30"/>
          <p:cNvSpPr/>
          <p:nvPr/>
        </p:nvSpPr>
        <p:spPr>
          <a:xfrm>
            <a:off x="566928" y="3511296"/>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694944" y="3621024"/>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94944" y="3621024"/>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5</a:t>
            </a:r>
          </a:p>
        </p:txBody>
      </p:sp>
      <p:sp>
        <p:nvSpPr>
          <p:cNvPr id="34" name="TextBox 33"/>
          <p:cNvSpPr txBox="1"/>
          <p:nvPr/>
        </p:nvSpPr>
        <p:spPr>
          <a:xfrm>
            <a:off x="1152144" y="3584448"/>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Gate</a:t>
            </a:r>
          </a:p>
        </p:txBody>
      </p:sp>
      <p:sp>
        <p:nvSpPr>
          <p:cNvPr id="35" name="TextBox 34"/>
          <p:cNvSpPr txBox="1"/>
          <p:nvPr/>
        </p:nvSpPr>
        <p:spPr>
          <a:xfrm>
            <a:off x="694944" y="4078224"/>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Multi-Turn selects planned execution; ACPX filters its twelve tools in or out.</a:t>
            </a:r>
          </a:p>
        </p:txBody>
      </p:sp>
      <p:cxnSp>
        <p:nvCxnSpPr>
          <p:cNvPr id="36" name="Connector 35"/>
          <p:cNvCxnSpPr/>
          <p:nvPr/>
        </p:nvCxnSpPr>
        <p:spPr>
          <a:xfrm>
            <a:off x="3134791" y="3867911"/>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3409111" y="3511296"/>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3537127" y="3621024"/>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3537127" y="3621024"/>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6</a:t>
            </a:r>
          </a:p>
        </p:txBody>
      </p:sp>
      <p:sp>
        <p:nvSpPr>
          <p:cNvPr id="40" name="TextBox 39"/>
          <p:cNvSpPr txBox="1"/>
          <p:nvPr/>
        </p:nvSpPr>
        <p:spPr>
          <a:xfrm>
            <a:off x="3994327" y="3584448"/>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Permission</a:t>
            </a:r>
          </a:p>
        </p:txBody>
      </p:sp>
      <p:sp>
        <p:nvSpPr>
          <p:cNvPr id="41" name="TextBox 40"/>
          <p:cNvSpPr txBox="1"/>
          <p:nvPr/>
        </p:nvSpPr>
        <p:spPr>
          <a:xfrm>
            <a:off x="3537127" y="4078224"/>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With Ask Execs on, a risky tool waits for Proceed or Deny.</a:t>
            </a:r>
          </a:p>
        </p:txBody>
      </p:sp>
      <p:cxnSp>
        <p:nvCxnSpPr>
          <p:cNvPr id="42" name="Connector 41"/>
          <p:cNvCxnSpPr/>
          <p:nvPr/>
        </p:nvCxnSpPr>
        <p:spPr>
          <a:xfrm>
            <a:off x="5976975" y="3867911"/>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ounded Rectangle 42"/>
          <p:cNvSpPr/>
          <p:nvPr/>
        </p:nvSpPr>
        <p:spPr>
          <a:xfrm>
            <a:off x="6251295" y="3511296"/>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379311" y="3621024"/>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379311" y="3621024"/>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7</a:t>
            </a:r>
          </a:p>
        </p:txBody>
      </p:sp>
      <p:sp>
        <p:nvSpPr>
          <p:cNvPr id="46" name="TextBox 45"/>
          <p:cNvSpPr txBox="1"/>
          <p:nvPr/>
        </p:nvSpPr>
        <p:spPr>
          <a:xfrm>
            <a:off x="6836511" y="3584448"/>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Prefetch</a:t>
            </a:r>
          </a:p>
        </p:txBody>
      </p:sp>
      <p:sp>
        <p:nvSpPr>
          <p:cNvPr id="47" name="TextBox 46"/>
          <p:cNvSpPr txBox="1"/>
          <p:nvPr/>
        </p:nvSpPr>
        <p:spPr>
          <a:xfrm>
            <a:off x="6379311" y="4078224"/>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System-metrics and file-search sidecars add context when it helps.</a:t>
            </a:r>
          </a:p>
        </p:txBody>
      </p:sp>
      <p:cxnSp>
        <p:nvCxnSpPr>
          <p:cNvPr id="48" name="Connector 47"/>
          <p:cNvCxnSpPr/>
          <p:nvPr/>
        </p:nvCxnSpPr>
        <p:spPr>
          <a:xfrm>
            <a:off x="8819159" y="3867911"/>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9093479" y="3511296"/>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Oval 49"/>
          <p:cNvSpPr/>
          <p:nvPr/>
        </p:nvSpPr>
        <p:spPr>
          <a:xfrm>
            <a:off x="9221495" y="3621024"/>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9221495" y="3621024"/>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8</a:t>
            </a:r>
          </a:p>
        </p:txBody>
      </p:sp>
      <p:sp>
        <p:nvSpPr>
          <p:cNvPr id="52" name="TextBox 51"/>
          <p:cNvSpPr txBox="1"/>
          <p:nvPr/>
        </p:nvSpPr>
        <p:spPr>
          <a:xfrm>
            <a:off x="9678695" y="3584448"/>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Loop</a:t>
            </a:r>
          </a:p>
        </p:txBody>
      </p:sp>
      <p:sp>
        <p:nvSpPr>
          <p:cNvPr id="53" name="TextBox 52"/>
          <p:cNvSpPr txBox="1"/>
          <p:nvPr/>
        </p:nvSpPr>
        <p:spPr>
          <a:xfrm>
            <a:off x="9221495" y="4078224"/>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Tool calls run, wrapped agents launch, every model step is self-healed.</a:t>
            </a:r>
          </a:p>
        </p:txBody>
      </p:sp>
      <p:sp>
        <p:nvSpPr>
          <p:cNvPr id="54" name="Rounded Rectangle 53"/>
          <p:cNvSpPr/>
          <p:nvPr/>
        </p:nvSpPr>
        <p:spPr>
          <a:xfrm>
            <a:off x="566928" y="4937759"/>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694944" y="5047488"/>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6" name="TextBox 55"/>
          <p:cNvSpPr txBox="1"/>
          <p:nvPr/>
        </p:nvSpPr>
        <p:spPr>
          <a:xfrm>
            <a:off x="694944" y="5047488"/>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9</a:t>
            </a:r>
          </a:p>
        </p:txBody>
      </p:sp>
      <p:sp>
        <p:nvSpPr>
          <p:cNvPr id="57" name="TextBox 56"/>
          <p:cNvSpPr txBox="1"/>
          <p:nvPr/>
        </p:nvSpPr>
        <p:spPr>
          <a:xfrm>
            <a:off x="1152144" y="5010912"/>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Verdict</a:t>
            </a:r>
          </a:p>
        </p:txBody>
      </p:sp>
      <p:sp>
        <p:nvSpPr>
          <p:cNvPr id="58" name="TextBox 57"/>
          <p:cNvSpPr txBox="1"/>
          <p:nvPr/>
        </p:nvSpPr>
        <p:spPr>
          <a:xfrm>
            <a:off x="694944" y="5504688"/>
            <a:ext cx="2293543" cy="62179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Each agent's own self-report decides SUCCESS or FAILED.</a:t>
            </a:r>
          </a:p>
        </p:txBody>
      </p:sp>
      <p:cxnSp>
        <p:nvCxnSpPr>
          <p:cNvPr id="59" name="Connector 58"/>
          <p:cNvCxnSpPr/>
          <p:nvPr/>
        </p:nvCxnSpPr>
        <p:spPr>
          <a:xfrm>
            <a:off x="3134791" y="5294375"/>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0" name="Rounded Rectangle 59"/>
          <p:cNvSpPr/>
          <p:nvPr/>
        </p:nvSpPr>
        <p:spPr>
          <a:xfrm>
            <a:off x="3409111" y="4937759"/>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Oval 60"/>
          <p:cNvSpPr/>
          <p:nvPr/>
        </p:nvSpPr>
        <p:spPr>
          <a:xfrm>
            <a:off x="3537127" y="5047488"/>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2" name="TextBox 61"/>
          <p:cNvSpPr txBox="1"/>
          <p:nvPr/>
        </p:nvSpPr>
        <p:spPr>
          <a:xfrm>
            <a:off x="3537127" y="5047488"/>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10</a:t>
            </a:r>
          </a:p>
        </p:txBody>
      </p:sp>
      <p:sp>
        <p:nvSpPr>
          <p:cNvPr id="63" name="TextBox 62"/>
          <p:cNvSpPr txBox="1"/>
          <p:nvPr/>
        </p:nvSpPr>
        <p:spPr>
          <a:xfrm>
            <a:off x="3994327" y="5010912"/>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Answer</a:t>
            </a:r>
          </a:p>
        </p:txBody>
      </p:sp>
      <p:sp>
        <p:nvSpPr>
          <p:cNvPr id="64" name="TextBox 63"/>
          <p:cNvSpPr txBox="1"/>
          <p:nvPr/>
        </p:nvSpPr>
        <p:spPr>
          <a:xfrm>
            <a:off x="3537127" y="5504688"/>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The reply streams back with Exec Report tables and Create Flow.</a:t>
            </a:r>
          </a:p>
        </p:txBody>
      </p:sp>
      <p:cxnSp>
        <p:nvCxnSpPr>
          <p:cNvPr id="65" name="Connector 64"/>
          <p:cNvCxnSpPr/>
          <p:nvPr/>
        </p:nvCxnSpPr>
        <p:spPr>
          <a:xfrm>
            <a:off x="5976975" y="5294375"/>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6" name="Rounded Rectangle 65"/>
          <p:cNvSpPr/>
          <p:nvPr/>
        </p:nvSpPr>
        <p:spPr>
          <a:xfrm>
            <a:off x="6251295" y="4937759"/>
            <a:ext cx="2531287" cy="1261872"/>
          </a:xfrm>
          <a:prstGeom prst="roundRect">
            <a:avLst>
              <a:gd name="adj" fmla="val 86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7" name="Oval 66"/>
          <p:cNvSpPr/>
          <p:nvPr/>
        </p:nvSpPr>
        <p:spPr>
          <a:xfrm>
            <a:off x="6379311" y="5047488"/>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8" name="TextBox 67"/>
          <p:cNvSpPr txBox="1"/>
          <p:nvPr/>
        </p:nvSpPr>
        <p:spPr>
          <a:xfrm>
            <a:off x="6379311" y="5047488"/>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11</a:t>
            </a:r>
          </a:p>
        </p:txBody>
      </p:sp>
      <p:sp>
        <p:nvSpPr>
          <p:cNvPr id="69" name="TextBox 68"/>
          <p:cNvSpPr txBox="1"/>
          <p:nvPr/>
        </p:nvSpPr>
        <p:spPr>
          <a:xfrm>
            <a:off x="6836511" y="5010912"/>
            <a:ext cx="1836343"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Clean-up</a:t>
            </a:r>
          </a:p>
        </p:txBody>
      </p:sp>
      <p:sp>
        <p:nvSpPr>
          <p:cNvPr id="70" name="TextBox 69"/>
          <p:cNvSpPr txBox="1"/>
          <p:nvPr/>
        </p:nvSpPr>
        <p:spPr>
          <a:xfrm>
            <a:off x="6379311" y="5504688"/>
            <a:ext cx="2293543" cy="621792"/>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The orphan reaper sweeps console hosts left by child processes.</a:t>
            </a:r>
          </a:p>
        </p:txBody>
      </p:sp>
      <p:cxnSp>
        <p:nvCxnSpPr>
          <p:cNvPr id="71" name="Connector 7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73" name="TextBox 7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MULTI-TURN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operator loop</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With Multi-Turn checked, Tlamatini stops being an advisor and becomes an operator: she plans, calls tools, reads their results and continues until the task is done.</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Step-by-Step</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One concrete action at a time; she waits for your READY or output.</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Ask Execs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 human Proceed/Deny gate before each risky step.</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Exec Report</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One table per agent family, one row per real tool call.</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ACPX</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Adds the external coding-agent and Skill tools to the surface.</a:t>
            </a:r>
          </a:p>
        </p:txBody>
      </p:sp>
      <p:sp>
        <p:nvSpPr>
          <p:cNvPr id="24" name="Rounded Rectangle 23"/>
          <p:cNvSpPr/>
          <p:nvPr/>
        </p:nvSpPr>
        <p:spPr>
          <a:xfrm>
            <a:off x="6144768" y="2084831"/>
            <a:ext cx="5479999" cy="4114800"/>
          </a:xfrm>
          <a:prstGeom prst="roundRect">
            <a:avLst>
              <a:gd name="adj" fmla="val 266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19088" y="2313432"/>
            <a:ext cx="4931359" cy="3657600"/>
          </a:xfrm>
          <a:prstGeom prst="rect">
            <a:avLst/>
          </a:prstGeom>
          <a:noFill/>
        </p:spPr>
        <p:txBody>
          <a:bodyPr wrap="square" lIns="45720" rIns="45720" tIns="27432" bIns="27432" anchor="t">
            <a:noAutofit/>
          </a:bodyPr>
          <a:lstStyle/>
          <a:p>
            <a:pPr algn="l">
              <a:lnSpc>
                <a:spcPct val="100000"/>
              </a:lnSpc>
            </a:pPr>
            <a:r>
              <a:rPr sz="1350" b="0" i="0">
                <a:solidFill>
                  <a:srgbClr val="ECE7DC"/>
                </a:solidFill>
                <a:latin typeface="Segoe UI"/>
              </a:rPr>
              <a:t>A global execution planner builds a request-scoped plan and capability hints, but the executor binds the </a:t>
            </a:r>
            <a:r>
              <a:rPr sz="1350" b="0" i="0">
                <a:solidFill>
                  <a:srgbClr val="ECE7DC"/>
                </a:solidFill>
                <a:latin typeface="Segoe UI Semibold"/>
              </a:rPr>
              <a:t>full enabled tool surface</a:t>
            </a:r>
            <a:r>
              <a:rPr sz="1350" b="0" i="0">
                <a:solidFill>
                  <a:srgbClr val="ECE7DC"/>
                </a:solidFill>
                <a:latin typeface="Segoe UI"/>
              </a:rPr>
              <a:t>: every enabled tool, wrapped agent and skill, with ACPX still filtered by its own checkbox. An earlier design bound only a narrow planner subset and could starve the loop of the one tool it needed.</a:t>
            </a:r>
          </a:p>
          <a:p>
            <a:pPr algn="l">
              <a:lnSpc>
                <a:spcPct val="100000"/>
              </a:lnSpc>
              <a:spcBef>
                <a:spcPts val="1000"/>
              </a:spcBef>
            </a:pPr>
            <a:r>
              <a:rPr sz="1350" b="0" i="0">
                <a:solidFill>
                  <a:srgbClr val="ECE7DC"/>
                </a:solidFill>
                <a:latin typeface="Segoe UI"/>
              </a:rPr>
              <a:t>The loop runs up to 4,096 iterations. Identical wrapped-agent calls in one request are deduplicated, a repetition breaker nudges a model that circles, and each wrapped agent runs in its own isolated runtime folder, so templates are never modified.</a:t>
            </a:r>
          </a:p>
          <a:p>
            <a:pPr algn="l">
              <a:lnSpc>
                <a:spcPct val="100000"/>
              </a:lnSpc>
              <a:spcBef>
                <a:spcPts val="1000"/>
              </a:spcBef>
            </a:pPr>
            <a:r>
              <a:rPr sz="1350" b="0" i="0">
                <a:solidFill>
                  <a:srgbClr val="ECE7DC"/>
                </a:solidFill>
                <a:latin typeface="Segoe UI"/>
              </a:rPr>
              <a:t>When at least one agent succeeded, the answer carries a </a:t>
            </a:r>
            <a:r>
              <a:rPr sz="1350" b="0" i="0">
                <a:solidFill>
                  <a:srgbClr val="ECE7DC"/>
                </a:solidFill>
                <a:latin typeface="Segoe UI Semibold"/>
              </a:rPr>
              <a:t>Create Flow</a:t>
            </a:r>
            <a:r>
              <a:rPr sz="1350" b="0" i="0">
                <a:solidFill>
                  <a:srgbClr val="ECE7DC"/>
                </a:solidFill>
                <a:latin typeface="Segoe UI"/>
              </a:rPr>
              <a:t> button. It turns exactly the successful tool calls into a canvas-loadable </a:t>
            </a:r>
            <a:r>
              <a:rPr sz="1250" b="0" i="0">
                <a:solidFill>
                  <a:srgbClr val="E2B462"/>
                </a:solidFill>
                <a:latin typeface="Consolas"/>
              </a:rPr>
              <a:t>.flw</a:t>
            </a:r>
            <a:r>
              <a:rPr sz="1350" b="0" i="0">
                <a:solidFill>
                  <a:srgbClr val="ECE7DC"/>
                </a:solidFill>
                <a:latin typeface="Segoe UI"/>
              </a:rPr>
              <a:t> workflow, normalized and secret-redacted by the backend, so a conversation can become a reusable workflow.</a:t>
            </a:r>
          </a:p>
        </p:txBody>
      </p:sp>
      <p:cxnSp>
        <p:nvCxnSpPr>
          <p:cNvPr id="26" name="Connector 2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28" name="TextBox 2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SELF-HEALING</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Never hang, never discard, never lie</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Every model call inside the loop goes through a per-request self-healing invoker that switches to a genuinely different tactic each time a transient failure strikes.</a:t>
            </a:r>
          </a:p>
        </p:txBody>
      </p:sp>
      <p:sp>
        <p:nvSpPr>
          <p:cNvPr id="8" name="Rounded Rectangle 7"/>
          <p:cNvSpPr/>
          <p:nvPr/>
        </p:nvSpPr>
        <p:spPr>
          <a:xfrm>
            <a:off x="877824" y="2084831"/>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6928" y="2490215"/>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2490215"/>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1</a:t>
            </a:r>
          </a:p>
        </p:txBody>
      </p:sp>
      <p:sp>
        <p:nvSpPr>
          <p:cNvPr id="11" name="TextBox 10"/>
          <p:cNvSpPr txBox="1"/>
          <p:nvPr/>
        </p:nvSpPr>
        <p:spPr>
          <a:xfrm>
            <a:off x="1133856" y="2121408"/>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normal</a:t>
            </a:r>
          </a:p>
        </p:txBody>
      </p:sp>
      <p:sp>
        <p:nvSpPr>
          <p:cNvPr id="12" name="TextBox 11"/>
          <p:cNvSpPr txBox="1"/>
          <p:nvPr/>
        </p:nvSpPr>
        <p:spPr>
          <a:xfrm>
            <a:off x="2944368" y="2121408"/>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The full request again.</a:t>
            </a:r>
          </a:p>
        </p:txBody>
      </p:sp>
      <p:sp>
        <p:nvSpPr>
          <p:cNvPr id="13" name="Rounded Rectangle 12"/>
          <p:cNvSpPr/>
          <p:nvPr/>
        </p:nvSpPr>
        <p:spPr>
          <a:xfrm>
            <a:off x="877824" y="3499103"/>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66928" y="3904487"/>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904487"/>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2</a:t>
            </a:r>
          </a:p>
        </p:txBody>
      </p:sp>
      <p:sp>
        <p:nvSpPr>
          <p:cNvPr id="16" name="TextBox 15"/>
          <p:cNvSpPr txBox="1"/>
          <p:nvPr/>
        </p:nvSpPr>
        <p:spPr>
          <a:xfrm>
            <a:off x="1133856" y="3535679"/>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retry</a:t>
            </a:r>
          </a:p>
        </p:txBody>
      </p:sp>
      <p:sp>
        <p:nvSpPr>
          <p:cNvPr id="17" name="TextBox 16"/>
          <p:cNvSpPr txBox="1"/>
          <p:nvPr/>
        </p:nvSpPr>
        <p:spPr>
          <a:xfrm>
            <a:off x="2944368" y="3535679"/>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The same tool-bound request; most blips clear here.</a:t>
            </a:r>
          </a:p>
        </p:txBody>
      </p:sp>
      <p:sp>
        <p:nvSpPr>
          <p:cNvPr id="18" name="Rounded Rectangle 17"/>
          <p:cNvSpPr/>
          <p:nvPr/>
        </p:nvSpPr>
        <p:spPr>
          <a:xfrm>
            <a:off x="877824" y="4913376"/>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66928" y="5318760"/>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5318760"/>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3</a:t>
            </a:r>
          </a:p>
        </p:txBody>
      </p:sp>
      <p:sp>
        <p:nvSpPr>
          <p:cNvPr id="21" name="TextBox 20"/>
          <p:cNvSpPr txBox="1"/>
          <p:nvPr/>
        </p:nvSpPr>
        <p:spPr>
          <a:xfrm>
            <a:off x="1133856" y="4949952"/>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patient retry</a:t>
            </a:r>
          </a:p>
        </p:txBody>
      </p:sp>
      <p:sp>
        <p:nvSpPr>
          <p:cNvPr id="22" name="TextBox 21"/>
          <p:cNvSpPr txBox="1"/>
          <p:nvPr/>
        </p:nvSpPr>
        <p:spPr>
          <a:xfrm>
            <a:off x="2944368" y="4949952"/>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Wait, then retry with extra patience.</a:t>
            </a:r>
          </a:p>
        </p:txBody>
      </p:sp>
      <p:sp>
        <p:nvSpPr>
          <p:cNvPr id="23" name="Rounded Rectangle 22"/>
          <p:cNvSpPr/>
          <p:nvPr/>
        </p:nvSpPr>
        <p:spPr>
          <a:xfrm>
            <a:off x="6589623" y="2084831"/>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6278727" y="2490215"/>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278727" y="2490215"/>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4</a:t>
            </a:r>
          </a:p>
        </p:txBody>
      </p:sp>
      <p:sp>
        <p:nvSpPr>
          <p:cNvPr id="26" name="TextBox 25"/>
          <p:cNvSpPr txBox="1"/>
          <p:nvPr/>
        </p:nvSpPr>
        <p:spPr>
          <a:xfrm>
            <a:off x="6845655" y="2121408"/>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trim context</a:t>
            </a:r>
          </a:p>
        </p:txBody>
      </p:sp>
      <p:sp>
        <p:nvSpPr>
          <p:cNvPr id="27" name="TextBox 26"/>
          <p:cNvSpPr txBox="1"/>
          <p:nvPr/>
        </p:nvSpPr>
        <p:spPr>
          <a:xfrm>
            <a:off x="8656167" y="2121408"/>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Keep the system messages and the last twelve.</a:t>
            </a:r>
          </a:p>
        </p:txBody>
      </p:sp>
      <p:sp>
        <p:nvSpPr>
          <p:cNvPr id="28" name="Rounded Rectangle 27"/>
          <p:cNvSpPr/>
          <p:nvPr/>
        </p:nvSpPr>
        <p:spPr>
          <a:xfrm>
            <a:off x="6589623" y="3499103"/>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278727" y="3904487"/>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78727" y="3904487"/>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5</a:t>
            </a:r>
          </a:p>
        </p:txBody>
      </p:sp>
      <p:sp>
        <p:nvSpPr>
          <p:cNvPr id="31" name="TextBox 30"/>
          <p:cNvSpPr txBox="1"/>
          <p:nvPr/>
        </p:nvSpPr>
        <p:spPr>
          <a:xfrm>
            <a:off x="6845655" y="3535679"/>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minimal</a:t>
            </a:r>
          </a:p>
        </p:txBody>
      </p:sp>
      <p:sp>
        <p:nvSpPr>
          <p:cNvPr id="32" name="TextBox 31"/>
          <p:cNvSpPr txBox="1"/>
          <p:nvPr/>
        </p:nvSpPr>
        <p:spPr>
          <a:xfrm>
            <a:off x="8656167" y="3535679"/>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Keep the last six messages; tools stay bound.</a:t>
            </a:r>
          </a:p>
        </p:txBody>
      </p:sp>
      <p:sp>
        <p:nvSpPr>
          <p:cNvPr id="33" name="Rounded Rectangle 32"/>
          <p:cNvSpPr/>
          <p:nvPr/>
        </p:nvSpPr>
        <p:spPr>
          <a:xfrm>
            <a:off x="6589623" y="4913376"/>
            <a:ext cx="5035143"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278727" y="5318760"/>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78727" y="5318760"/>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6</a:t>
            </a:r>
          </a:p>
        </p:txBody>
      </p:sp>
      <p:sp>
        <p:nvSpPr>
          <p:cNvPr id="36" name="TextBox 35"/>
          <p:cNvSpPr txBox="1"/>
          <p:nvPr/>
        </p:nvSpPr>
        <p:spPr>
          <a:xfrm>
            <a:off x="6845655" y="4949952"/>
            <a:ext cx="1783080" cy="1213103"/>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plain summary</a:t>
            </a:r>
          </a:p>
        </p:txBody>
      </p:sp>
      <p:sp>
        <p:nvSpPr>
          <p:cNvPr id="37" name="TextBox 36"/>
          <p:cNvSpPr txBox="1"/>
          <p:nvPr/>
        </p:nvSpPr>
        <p:spPr>
          <a:xfrm>
            <a:off x="8656167" y="4949952"/>
            <a:ext cx="2858871" cy="1213103"/>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Last resort: summarize truthfully what was gathered.</a:t>
            </a:r>
          </a:p>
        </p:txBody>
      </p:sp>
      <p:cxnSp>
        <p:nvCxnSpPr>
          <p:cNvPr id="38" name="Connector 3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40" name="TextBox 3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SELF-HEALING</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Real bugs are not hidden</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Only transient failures — timeouts, resets, HTTP 429 and 5xx — trigger new tactics. A deterministic error such as a bad schema is raised at once so it gets fixed.</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“Never hang, never discard, never lie”</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COMPACT MODE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Every request fits the model it is sent to</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 model whose real window cannot hold the complete request receives a compact one; a model that can hold it receives exactly the request it always did.</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Full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model that can hold the request receives it unchanged, byte for byte.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Compact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toolbar switch: only the rows you tick are bound, each with its price.</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Locked</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model too small for everything turns Compact on by itself and locks it.</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Your choice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context_compact_mode</a:t>
            </a:r>
            <a:r>
              <a:rPr sz="1300" b="0" i="0">
                <a:solidFill>
                  <a:srgbClr val="A7B2B0"/>
                </a:solidFill>
                <a:latin typeface="Segoe UI"/>
              </a:rPr>
              <a:t> is auto by default, or always or never, obeyed exactly.</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COMPACT MODE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It fails open to the full request</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Every part of the fitter fails open: when anything is uncertain, the complete request is sent exactly as before.</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“Every request fits the model it is sent to”</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MODEL BRAIN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Every model tuned from formal sources</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Since v1.76.0 each model receives its own sampling, thinking level and context size, taken from formal sources, instead of one fixed set of values for every model.</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Formal sources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Your overrides, cited profiles, learned profiles, Ollama, model defaults.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Real context</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requested window never exceeds what the model can read.</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Reasoning kept</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Thinking models keep their train of thought between tool calls.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Auto-tuning</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Config </a:t>
            </a:r>
            <a:r>
              <a:rPr sz="1300" b="0" i="0">
                <a:solidFill>
                  <a:srgbClr val="A7B2B0"/>
                </a:solidFill>
                <a:latin typeface="Segoe UI Symbol"/>
              </a:rPr>
              <a:t>▸</a:t>
            </a:r>
            <a:r>
              <a:rPr sz="1300" b="0" i="0">
                <a:solidFill>
                  <a:srgbClr val="A7B2B0"/>
                </a:solidFill>
                <a:latin typeface="Segoe UI"/>
              </a:rPr>
              <a:t> Models </a:t>
            </a:r>
            <a:r>
              <a:rPr sz="1300" b="0" i="0">
                <a:solidFill>
                  <a:srgbClr val="A7B2B0"/>
                </a:solidFill>
                <a:latin typeface="Segoe UI Symbol"/>
              </a:rPr>
              <a:t>▸</a:t>
            </a:r>
            <a:r>
              <a:rPr sz="1300" b="0" i="0">
                <a:solidFill>
                  <a:srgbClr val="A7B2B0"/>
                </a:solidFill>
                <a:latin typeface="Segoe UI"/>
              </a:rPr>
              <a:t> Save shows each model tuned, with its sources.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 stall clocks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slow model is never thrown away and restarted.</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Your choice</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model_brain: off</a:t>
            </a:r>
            <a:r>
              <a:rPr sz="1300" b="0" i="0">
                <a:solidFill>
                  <a:srgbClr val="A7B2B0"/>
                </a:solidFill>
                <a:latin typeface="Segoe UI"/>
              </a:rPr>
              <a:t> restores the legacy fixed sampler exactly.</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MODEL BRAIN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No model name in the code</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A new model gets its values from the knowledge base, research, Ollama or its own defaults, never from a branch written for one model name, and a value you set always wins.</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“Every model tuned from formal sources”</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EXEC REPORT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verdict you can trust</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An exit code is one bit. An agent's own structured self-report is a typed record, and it outranks the exit code.</a:t>
            </a:r>
          </a:p>
        </p:txBody>
      </p:sp>
      <p:sp>
        <p:nvSpPr>
          <p:cNvPr id="8" name="Rounded Rectangle 7"/>
          <p:cNvSpPr/>
          <p:nvPr/>
        </p:nvSpPr>
        <p:spPr>
          <a:xfrm>
            <a:off x="566928" y="2084831"/>
            <a:ext cx="11057839" cy="4088892"/>
          </a:xfrm>
          <a:prstGeom prst="roundRect">
            <a:avLst>
              <a:gd name="adj" fmla="val 1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95947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RULE</a:t>
            </a:r>
          </a:p>
        </p:txBody>
      </p:sp>
      <p:sp>
        <p:nvSpPr>
          <p:cNvPr id="11" name="TextBox 10"/>
          <p:cNvSpPr txBox="1"/>
          <p:nvPr/>
        </p:nvSpPr>
        <p:spPr>
          <a:xfrm>
            <a:off x="1745863" y="2121408"/>
            <a:ext cx="715186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FIRES WHEN</a:t>
            </a:r>
          </a:p>
        </p:txBody>
      </p:sp>
      <p:sp>
        <p:nvSpPr>
          <p:cNvPr id="12" name="TextBox 11"/>
          <p:cNvSpPr txBox="1"/>
          <p:nvPr/>
        </p:nvSpPr>
        <p:spPr>
          <a:xfrm>
            <a:off x="9044037" y="2121408"/>
            <a:ext cx="250757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VERDICT</a:t>
            </a:r>
          </a:p>
        </p:txBody>
      </p:sp>
      <p:sp>
        <p:nvSpPr>
          <p:cNvPr id="13" name="TextBox 12"/>
          <p:cNvSpPr txBox="1"/>
          <p:nvPr/>
        </p:nvSpPr>
        <p:spPr>
          <a:xfrm>
            <a:off x="640080" y="2505456"/>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R1</a:t>
            </a:r>
          </a:p>
        </p:txBody>
      </p:sp>
      <p:sp>
        <p:nvSpPr>
          <p:cNvPr id="14" name="TextBox 13"/>
          <p:cNvSpPr txBox="1"/>
          <p:nvPr/>
        </p:nvSpPr>
        <p:spPr>
          <a:xfrm>
            <a:off x="1745863" y="2505456"/>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The agent wrote no self-report</a:t>
            </a:r>
          </a:p>
        </p:txBody>
      </p:sp>
      <p:sp>
        <p:nvSpPr>
          <p:cNvPr id="15" name="TextBox 14"/>
          <p:cNvSpPr txBox="1"/>
          <p:nvPr/>
        </p:nvSpPr>
        <p:spPr>
          <a:xfrm>
            <a:off x="9044037" y="2505456"/>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Exit code decides</a:t>
            </a:r>
          </a:p>
        </p:txBody>
      </p:sp>
      <p:sp>
        <p:nvSpPr>
          <p:cNvPr id="16" name="Rectangle 15"/>
          <p:cNvSpPr/>
          <p:nvPr/>
        </p:nvSpPr>
        <p:spPr>
          <a:xfrm>
            <a:off x="585216" y="2805683"/>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42259"/>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R2</a:t>
            </a:r>
          </a:p>
        </p:txBody>
      </p:sp>
      <p:sp>
        <p:nvSpPr>
          <p:cNvPr id="18" name="TextBox 17"/>
          <p:cNvSpPr txBox="1"/>
          <p:nvPr/>
        </p:nvSpPr>
        <p:spPr>
          <a:xfrm>
            <a:off x="1745863" y="2842259"/>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The agent declares error or failed</a:t>
            </a:r>
          </a:p>
        </p:txBody>
      </p:sp>
      <p:sp>
        <p:nvSpPr>
          <p:cNvPr id="19" name="TextBox 18"/>
          <p:cNvSpPr txBox="1"/>
          <p:nvPr/>
        </p:nvSpPr>
        <p:spPr>
          <a:xfrm>
            <a:off x="9044037" y="2842259"/>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20" name="TextBox 19"/>
          <p:cNvSpPr txBox="1"/>
          <p:nvPr/>
        </p:nvSpPr>
        <p:spPr>
          <a:xfrm>
            <a:off x="640080" y="3179063"/>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R3</a:t>
            </a:r>
          </a:p>
        </p:txBody>
      </p:sp>
      <p:sp>
        <p:nvSpPr>
          <p:cNvPr id="21" name="TextBox 20"/>
          <p:cNvSpPr txBox="1"/>
          <p:nvPr/>
        </p:nvSpPr>
        <p:spPr>
          <a:xfrm>
            <a:off x="1745863" y="3179063"/>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Work not done: refused, not_found, engine_unavailable …</a:t>
            </a:r>
          </a:p>
        </p:txBody>
      </p:sp>
      <p:sp>
        <p:nvSpPr>
          <p:cNvPr id="22" name="TextBox 21"/>
          <p:cNvSpPr txBox="1"/>
          <p:nvPr/>
        </p:nvSpPr>
        <p:spPr>
          <a:xfrm>
            <a:off x="9044037" y="3179063"/>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23" name="Rectangle 22"/>
          <p:cNvSpPr/>
          <p:nvPr/>
        </p:nvSpPr>
        <p:spPr>
          <a:xfrm>
            <a:off x="585216" y="3479291"/>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515867"/>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R3b</a:t>
            </a:r>
          </a:p>
        </p:txBody>
      </p:sp>
      <p:sp>
        <p:nvSpPr>
          <p:cNvPr id="25" name="TextBox 24"/>
          <p:cNvSpPr txBox="1"/>
          <p:nvPr/>
        </p:nvSpPr>
        <p:spPr>
          <a:xfrm>
            <a:off x="1745863" y="3515867"/>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Degraded: tokens_only, compiled_with_errors, operator_required …</a:t>
            </a:r>
          </a:p>
        </p:txBody>
      </p:sp>
      <p:sp>
        <p:nvSpPr>
          <p:cNvPr id="26" name="TextBox 25"/>
          <p:cNvSpPr txBox="1"/>
          <p:nvPr/>
        </p:nvSpPr>
        <p:spPr>
          <a:xfrm>
            <a:off x="9044037" y="3515867"/>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27" name="TextBox 26"/>
          <p:cNvSpPr txBox="1"/>
          <p:nvPr/>
        </p:nvSpPr>
        <p:spPr>
          <a:xfrm>
            <a:off x="640080" y="3852671"/>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R4</a:t>
            </a:r>
          </a:p>
        </p:txBody>
      </p:sp>
      <p:sp>
        <p:nvSpPr>
          <p:cNvPr id="28" name="TextBox 27"/>
          <p:cNvSpPr txBox="1"/>
          <p:nvPr/>
        </p:nvSpPr>
        <p:spPr>
          <a:xfrm>
            <a:off x="1745863" y="3852671"/>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A diagnostic completed: invalid, findings, no_matches, listed …</a:t>
            </a:r>
          </a:p>
        </p:txBody>
      </p:sp>
      <p:sp>
        <p:nvSpPr>
          <p:cNvPr id="29" name="TextBox 28"/>
          <p:cNvSpPr txBox="1"/>
          <p:nvPr/>
        </p:nvSpPr>
        <p:spPr>
          <a:xfrm>
            <a:off x="9044037" y="3852671"/>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SUCCESS</a:t>
            </a:r>
          </a:p>
        </p:txBody>
      </p:sp>
      <p:sp>
        <p:nvSpPr>
          <p:cNvPr id="30" name="Rectangle 29"/>
          <p:cNvSpPr/>
          <p:nvPr/>
        </p:nvSpPr>
        <p:spPr>
          <a:xfrm>
            <a:off x="585216" y="4152899"/>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189475"/>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R5</a:t>
            </a:r>
          </a:p>
        </p:txBody>
      </p:sp>
      <p:sp>
        <p:nvSpPr>
          <p:cNvPr id="32" name="TextBox 31"/>
          <p:cNvSpPr txBox="1"/>
          <p:nvPr/>
        </p:nvSpPr>
        <p:spPr>
          <a:xfrm>
            <a:off x="1745863" y="4189475"/>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An explicit success or ok flag</a:t>
            </a:r>
          </a:p>
        </p:txBody>
      </p:sp>
      <p:sp>
        <p:nvSpPr>
          <p:cNvPr id="33" name="TextBox 32"/>
          <p:cNvSpPr txBox="1"/>
          <p:nvPr/>
        </p:nvSpPr>
        <p:spPr>
          <a:xfrm>
            <a:off x="9044037" y="4189475"/>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That flag</a:t>
            </a:r>
          </a:p>
        </p:txBody>
      </p:sp>
      <p:sp>
        <p:nvSpPr>
          <p:cNvPr id="34" name="TextBox 33"/>
          <p:cNvSpPr txBox="1"/>
          <p:nvPr/>
        </p:nvSpPr>
        <p:spPr>
          <a:xfrm>
            <a:off x="640080" y="4526279"/>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R6</a:t>
            </a:r>
          </a:p>
        </p:txBody>
      </p:sp>
      <p:sp>
        <p:nvSpPr>
          <p:cNvPr id="35" name="TextBox 34"/>
          <p:cNvSpPr txBox="1"/>
          <p:nvPr/>
        </p:nvSpPr>
        <p:spPr>
          <a:xfrm>
            <a:off x="1745863" y="4526279"/>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A non-zero errors count</a:t>
            </a:r>
          </a:p>
        </p:txBody>
      </p:sp>
      <p:sp>
        <p:nvSpPr>
          <p:cNvPr id="36" name="TextBox 35"/>
          <p:cNvSpPr txBox="1"/>
          <p:nvPr/>
        </p:nvSpPr>
        <p:spPr>
          <a:xfrm>
            <a:off x="9044037" y="4526279"/>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37" name="Rectangle 36"/>
          <p:cNvSpPr/>
          <p:nvPr/>
        </p:nvSpPr>
        <p:spPr>
          <a:xfrm>
            <a:off x="585216" y="4826507"/>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863083"/>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R7</a:t>
            </a:r>
          </a:p>
        </p:txBody>
      </p:sp>
      <p:sp>
        <p:nvSpPr>
          <p:cNvPr id="39" name="TextBox 38"/>
          <p:cNvSpPr txBox="1"/>
          <p:nvPr/>
        </p:nvSpPr>
        <p:spPr>
          <a:xfrm>
            <a:off x="1745863" y="4863083"/>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Nothing decisive and a non-zero exit code</a:t>
            </a:r>
          </a:p>
        </p:txBody>
      </p:sp>
      <p:sp>
        <p:nvSpPr>
          <p:cNvPr id="40" name="TextBox 39"/>
          <p:cNvSpPr txBox="1"/>
          <p:nvPr/>
        </p:nvSpPr>
        <p:spPr>
          <a:xfrm>
            <a:off x="9044037" y="4863083"/>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FAILED</a:t>
            </a:r>
          </a:p>
        </p:txBody>
      </p:sp>
      <p:sp>
        <p:nvSpPr>
          <p:cNvPr id="41" name="TextBox 40"/>
          <p:cNvSpPr txBox="1"/>
          <p:nvPr/>
        </p:nvSpPr>
        <p:spPr>
          <a:xfrm>
            <a:off x="640080" y="5199887"/>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R7b</a:t>
            </a:r>
          </a:p>
        </p:txBody>
      </p:sp>
      <p:sp>
        <p:nvSpPr>
          <p:cNvPr id="42" name="TextBox 41"/>
          <p:cNvSpPr txBox="1"/>
          <p:nvPr/>
        </p:nvSpPr>
        <p:spPr>
          <a:xfrm>
            <a:off x="1745863" y="5199887"/>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A named completion: ok, created, sent …</a:t>
            </a:r>
          </a:p>
        </p:txBody>
      </p:sp>
      <p:sp>
        <p:nvSpPr>
          <p:cNvPr id="43" name="TextBox 42"/>
          <p:cNvSpPr txBox="1"/>
          <p:nvPr/>
        </p:nvSpPr>
        <p:spPr>
          <a:xfrm>
            <a:off x="9044037" y="5199887"/>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SUCCESS</a:t>
            </a:r>
          </a:p>
        </p:txBody>
      </p:sp>
      <p:sp>
        <p:nvSpPr>
          <p:cNvPr id="44" name="Rectangle 43"/>
          <p:cNvSpPr/>
          <p:nvPr/>
        </p:nvSpPr>
        <p:spPr>
          <a:xfrm>
            <a:off x="585216" y="5500115"/>
            <a:ext cx="11021263" cy="3368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536691"/>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R8b</a:t>
            </a:r>
          </a:p>
        </p:txBody>
      </p:sp>
      <p:sp>
        <p:nvSpPr>
          <p:cNvPr id="46" name="TextBox 45"/>
          <p:cNvSpPr txBox="1"/>
          <p:nvPr/>
        </p:nvSpPr>
        <p:spPr>
          <a:xfrm>
            <a:off x="1745863" y="5536691"/>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A status token outside the vocabulary</a:t>
            </a:r>
          </a:p>
        </p:txBody>
      </p:sp>
      <p:sp>
        <p:nvSpPr>
          <p:cNvPr id="47" name="TextBox 46"/>
          <p:cNvSpPr txBox="1"/>
          <p:nvPr/>
        </p:nvSpPr>
        <p:spPr>
          <a:xfrm>
            <a:off x="9044037" y="5536691"/>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SUCCESS, flagged</a:t>
            </a:r>
          </a:p>
        </p:txBody>
      </p:sp>
      <p:sp>
        <p:nvSpPr>
          <p:cNvPr id="48" name="TextBox 47"/>
          <p:cNvSpPr txBox="1"/>
          <p:nvPr/>
        </p:nvSpPr>
        <p:spPr>
          <a:xfrm>
            <a:off x="640080" y="5873495"/>
            <a:ext cx="959479" cy="263652"/>
          </a:xfrm>
          <a:prstGeom prst="rect">
            <a:avLst/>
          </a:prstGeom>
          <a:noFill/>
        </p:spPr>
        <p:txBody>
          <a:bodyPr wrap="square" lIns="45720" rIns="45720" tIns="27432" bIns="27432" anchor="ctr">
            <a:noAutofit/>
          </a:bodyPr>
          <a:lstStyle/>
          <a:p>
            <a:pPr algn="l">
              <a:lnSpc>
                <a:spcPct val="100000"/>
              </a:lnSpc>
            </a:pPr>
            <a:r>
              <a:rPr sz="1250" b="0" i="0">
                <a:solidFill>
                  <a:srgbClr val="F7F2E8"/>
                </a:solidFill>
                <a:latin typeface="Segoe UI Semibold"/>
              </a:rPr>
              <a:t>R8</a:t>
            </a:r>
          </a:p>
        </p:txBody>
      </p:sp>
      <p:sp>
        <p:nvSpPr>
          <p:cNvPr id="49" name="TextBox 48"/>
          <p:cNvSpPr txBox="1"/>
          <p:nvPr/>
        </p:nvSpPr>
        <p:spPr>
          <a:xfrm>
            <a:off x="1745863" y="5873495"/>
            <a:ext cx="7151869"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No failure signal at all</a:t>
            </a:r>
          </a:p>
        </p:txBody>
      </p:sp>
      <p:sp>
        <p:nvSpPr>
          <p:cNvPr id="50" name="TextBox 49"/>
          <p:cNvSpPr txBox="1"/>
          <p:nvPr/>
        </p:nvSpPr>
        <p:spPr>
          <a:xfrm>
            <a:off x="9044037" y="5873495"/>
            <a:ext cx="2507577" cy="263652"/>
          </a:xfrm>
          <a:prstGeom prst="rect">
            <a:avLst/>
          </a:prstGeom>
          <a:noFill/>
        </p:spPr>
        <p:txBody>
          <a:bodyPr wrap="square" lIns="45720" rIns="45720" tIns="27432" bIns="27432" anchor="ctr">
            <a:noAutofit/>
          </a:bodyPr>
          <a:lstStyle/>
          <a:p>
            <a:pPr algn="l">
              <a:lnSpc>
                <a:spcPct val="100000"/>
              </a:lnSpc>
            </a:pPr>
            <a:r>
              <a:rPr sz="1250" b="0" i="0">
                <a:solidFill>
                  <a:srgbClr val="A7B2B0"/>
                </a:solidFill>
                <a:latin typeface="Segoe UI"/>
              </a:rPr>
              <a:t>SUCCESS</a:t>
            </a:r>
          </a:p>
        </p:txBody>
      </p:sp>
      <p:cxnSp>
        <p:nvCxnSpPr>
          <p:cNvPr id="51" name="Connector 5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53" name="TextBox 5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EXEC REPORT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Why R4 outranks R5 and R6</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A linter that worked perfectly reports </a:t>
            </a:r>
            <a:r>
              <a:rPr sz="2400" b="0" i="0">
                <a:solidFill>
                  <a:srgbClr val="E2B462"/>
                </a:solidFill>
                <a:latin typeface="Consolas"/>
              </a:rPr>
              <a:t>status: invalid</a:t>
            </a:r>
            <a:r>
              <a:rPr sz="2600" b="0" i="0">
                <a:solidFill>
                  <a:srgbClr val="F7F2E8"/>
                </a:solidFill>
                <a:latin typeface="Segoe UI Light"/>
              </a:rPr>
              <a:t>, </a:t>
            </a:r>
            <a:r>
              <a:rPr sz="2400" b="0" i="0">
                <a:solidFill>
                  <a:srgbClr val="E2B462"/>
                </a:solidFill>
                <a:latin typeface="Consolas"/>
              </a:rPr>
              <a:t>success: False</a:t>
            </a:r>
            <a:r>
              <a:rPr sz="2600" b="0" i="0">
                <a:solidFill>
                  <a:srgbClr val="F7F2E8"/>
                </a:solidFill>
                <a:latin typeface="Segoe UI Light"/>
              </a:rPr>
              <a:t> and </a:t>
            </a:r>
            <a:r>
              <a:rPr sz="2400" b="0" i="0">
                <a:solidFill>
                  <a:srgbClr val="E2B462"/>
                </a:solidFill>
                <a:latin typeface="Consolas"/>
              </a:rPr>
              <a:t>errors: 2</a:t>
            </a:r>
            <a:r>
              <a:rPr sz="2600" b="0" i="0">
                <a:solidFill>
                  <a:srgbClr val="F7F2E8"/>
                </a:solidFill>
                <a:latin typeface="Segoe UI Light"/>
              </a:rPr>
              <a:t> together. The last two describe the document, not the agent.</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“A verdict you can trust”</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PERMISSION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Ask Execs: a human gate before risky steps</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With Ask Execs on, the executor blocks before each risky tool and waits for Proceed or Deny in the browser. A single Deny halts the whole chain and leaves a red “Execution interrupted” banner.</a:t>
            </a:r>
          </a:p>
        </p:txBody>
      </p:sp>
      <p:sp>
        <p:nvSpPr>
          <p:cNvPr id="8" name="Rounded Rectangle 7"/>
          <p:cNvSpPr/>
          <p:nvPr/>
        </p:nvSpPr>
        <p:spPr>
          <a:xfrm>
            <a:off x="566928" y="2084831"/>
            <a:ext cx="11057839" cy="3547872"/>
          </a:xfrm>
          <a:prstGeom prst="roundRect">
            <a:avLst>
              <a:gd name="adj" fmla="val 206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2728734"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TIER</a:t>
            </a:r>
          </a:p>
        </p:txBody>
      </p:sp>
      <p:sp>
        <p:nvSpPr>
          <p:cNvPr id="11" name="TextBox 10"/>
          <p:cNvSpPr txBox="1"/>
          <p:nvPr/>
        </p:nvSpPr>
        <p:spPr>
          <a:xfrm>
            <a:off x="3515118" y="2121408"/>
            <a:ext cx="162295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PROMPTED</a:t>
            </a:r>
          </a:p>
        </p:txBody>
      </p:sp>
      <p:sp>
        <p:nvSpPr>
          <p:cNvPr id="12" name="TextBox 11"/>
          <p:cNvSpPr txBox="1"/>
          <p:nvPr/>
        </p:nvSpPr>
        <p:spPr>
          <a:xfrm>
            <a:off x="5284372" y="2121408"/>
            <a:ext cx="6267242"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AGENTS</a:t>
            </a:r>
          </a:p>
        </p:txBody>
      </p:sp>
      <p:sp>
        <p:nvSpPr>
          <p:cNvPr id="13" name="TextBox 12"/>
          <p:cNvSpPr txBox="1"/>
          <p:nvPr/>
        </p:nvSpPr>
        <p:spPr>
          <a:xfrm>
            <a:off x="640080" y="2505456"/>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Command and script runners</a:t>
            </a:r>
          </a:p>
        </p:txBody>
      </p:sp>
      <p:sp>
        <p:nvSpPr>
          <p:cNvPr id="14" name="TextBox 13"/>
          <p:cNvSpPr txBox="1"/>
          <p:nvPr/>
        </p:nvSpPr>
        <p:spPr>
          <a:xfrm>
            <a:off x="3515118" y="2505456"/>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Yes</a:t>
            </a:r>
          </a:p>
        </p:txBody>
      </p:sp>
      <p:sp>
        <p:nvSpPr>
          <p:cNvPr id="15" name="TextBox 14"/>
          <p:cNvSpPr txBox="1"/>
          <p:nvPr/>
        </p:nvSpPr>
        <p:spPr>
          <a:xfrm>
            <a:off x="5284372" y="2505456"/>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Terminater, Executer, Pythonxer, SSHer, Kalier, Dockerer, Kuberneter, SQLer, Mongoxer, Gitter, Jenkinser, PSer, J-Decompiler</a:t>
            </a:r>
          </a:p>
        </p:txBody>
      </p:sp>
      <p:sp>
        <p:nvSpPr>
          <p:cNvPr id="16" name="Rectangle 15"/>
          <p:cNvSpPr/>
          <p:nvPr/>
        </p:nvSpPr>
        <p:spPr>
          <a:xfrm>
            <a:off x="585216" y="30723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108960"/>
            <a:ext cx="2728734"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Editor persistence</a:t>
            </a:r>
          </a:p>
        </p:txBody>
      </p:sp>
      <p:sp>
        <p:nvSpPr>
          <p:cNvPr id="18" name="TextBox 17"/>
          <p:cNvSpPr txBox="1"/>
          <p:nvPr/>
        </p:nvSpPr>
        <p:spPr>
          <a:xfrm>
            <a:off x="3515118" y="3108960"/>
            <a:ext cx="1622950"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Yes</a:t>
            </a:r>
          </a:p>
        </p:txBody>
      </p:sp>
      <p:sp>
        <p:nvSpPr>
          <p:cNvPr id="19" name="TextBox 18"/>
          <p:cNvSpPr txBox="1"/>
          <p:nvPr/>
        </p:nvSpPr>
        <p:spPr>
          <a:xfrm>
            <a:off x="5284372" y="3108960"/>
            <a:ext cx="6267242"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Interactor new/save; reads and guided typing do not persist a file.</a:t>
            </a:r>
          </a:p>
        </p:txBody>
      </p:sp>
      <p:sp>
        <p:nvSpPr>
          <p:cNvPr id="20" name="TextBox 19"/>
          <p:cNvSpPr txBox="1"/>
          <p:nvPr/>
        </p:nvSpPr>
        <p:spPr>
          <a:xfrm>
            <a:off x="640080" y="3483864"/>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 · destroys or overwrites</a:t>
            </a:r>
          </a:p>
        </p:txBody>
      </p:sp>
      <p:sp>
        <p:nvSpPr>
          <p:cNvPr id="21" name="TextBox 20"/>
          <p:cNvSpPr txBox="1"/>
          <p:nvPr/>
        </p:nvSpPr>
        <p:spPr>
          <a:xfrm>
            <a:off x="3515118" y="3483864"/>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Yes</a:t>
            </a:r>
          </a:p>
        </p:txBody>
      </p:sp>
      <p:sp>
        <p:nvSpPr>
          <p:cNvPr id="22" name="TextBox 21"/>
          <p:cNvSpPr txBox="1"/>
          <p:nvPr/>
        </p:nvSpPr>
        <p:spPr>
          <a:xfrm>
            <a:off x="5284372" y="3483864"/>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Deleter, Mover, File-Creator, Editor, De-Compresser, unzip, PDFer, LaTeXer</a:t>
            </a:r>
          </a:p>
        </p:txBody>
      </p:sp>
      <p:sp>
        <p:nvSpPr>
          <p:cNvPr id="23" name="Rectangle 22"/>
          <p:cNvSpPr/>
          <p:nvPr/>
        </p:nvSpPr>
        <p:spPr>
          <a:xfrm>
            <a:off x="585216" y="4050791"/>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4087368"/>
            <a:ext cx="2728734"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D · remote systems</a:t>
            </a:r>
          </a:p>
        </p:txBody>
      </p:sp>
      <p:sp>
        <p:nvSpPr>
          <p:cNvPr id="25" name="TextBox 24"/>
          <p:cNvSpPr txBox="1"/>
          <p:nvPr/>
        </p:nvSpPr>
        <p:spPr>
          <a:xfrm>
            <a:off x="3515118" y="4087368"/>
            <a:ext cx="1622950"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Yes</a:t>
            </a:r>
          </a:p>
        </p:txBody>
      </p:sp>
      <p:sp>
        <p:nvSpPr>
          <p:cNvPr id="26" name="TextBox 25"/>
          <p:cNvSpPr txBox="1"/>
          <p:nvPr/>
        </p:nvSpPr>
        <p:spPr>
          <a:xfrm>
            <a:off x="5284372" y="4087368"/>
            <a:ext cx="6267242"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SCPer, Apirer, Nmapper, Discoverer, Crawler, NetSpeed-Calculator</a:t>
            </a:r>
          </a:p>
        </p:txBody>
      </p:sp>
      <p:sp>
        <p:nvSpPr>
          <p:cNvPr id="27" name="TextBox 26"/>
          <p:cNvSpPr txBox="1"/>
          <p:nvPr/>
        </p:nvSpPr>
        <p:spPr>
          <a:xfrm>
            <a:off x="640080" y="4462272"/>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B · messaging</a:t>
            </a:r>
          </a:p>
        </p:txBody>
      </p:sp>
      <p:sp>
        <p:nvSpPr>
          <p:cNvPr id="28" name="TextBox 27"/>
          <p:cNvSpPr txBox="1"/>
          <p:nvPr/>
        </p:nvSpPr>
        <p:spPr>
          <a:xfrm>
            <a:off x="3515118" y="4462272"/>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No</a:t>
            </a:r>
          </a:p>
        </p:txBody>
      </p:sp>
      <p:sp>
        <p:nvSpPr>
          <p:cNvPr id="29" name="TextBox 28"/>
          <p:cNvSpPr txBox="1"/>
          <p:nvPr/>
        </p:nvSpPr>
        <p:spPr>
          <a:xfrm>
            <a:off x="5284372" y="4462272"/>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Emailer, Whatsapper, Telegrammer, Instant Messaging Doctor: user authorization is still required</a:t>
            </a:r>
          </a:p>
        </p:txBody>
      </p:sp>
      <p:sp>
        <p:nvSpPr>
          <p:cNvPr id="30" name="Rectangle 29"/>
          <p:cNvSpPr/>
          <p:nvPr/>
        </p:nvSpPr>
        <p:spPr>
          <a:xfrm>
            <a:off x="585216" y="5029200"/>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5065776"/>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 · desktop and hardware</a:t>
            </a:r>
          </a:p>
        </p:txBody>
      </p:sp>
      <p:sp>
        <p:nvSpPr>
          <p:cNvPr id="32" name="TextBox 31"/>
          <p:cNvSpPr txBox="1"/>
          <p:nvPr/>
        </p:nvSpPr>
        <p:spPr>
          <a:xfrm>
            <a:off x="3515118" y="5065776"/>
            <a:ext cx="1622950"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No</a:t>
            </a:r>
          </a:p>
        </p:txBody>
      </p:sp>
      <p:sp>
        <p:nvSpPr>
          <p:cNvPr id="33" name="TextBox 32"/>
          <p:cNvSpPr txBox="1"/>
          <p:nvPr/>
        </p:nvSpPr>
        <p:spPr>
          <a:xfrm>
            <a:off x="5284372" y="5065776"/>
            <a:ext cx="6267242"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Keyboarder, Mouser, Windower, Playwrighter, firmware agents, Blenderer, Unrealer: visible while they act</a:t>
            </a:r>
          </a:p>
        </p:txBody>
      </p:sp>
      <p:cxnSp>
        <p:nvCxnSpPr>
          <p:cNvPr id="34" name="Connector 3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36" name="TextBox 3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RETRIEVAL</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Grounded in your project, and only its text</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Hybrid retrieval combines FAISS vectors with BM25 keywords, extracts metadata, budgets the context and falls back gracefully when a chain cannot retrieve.</a:t>
            </a:r>
          </a:p>
        </p:txBody>
      </p:sp>
      <p:sp>
        <p:nvSpPr>
          <p:cNvPr id="8" name="Rounded Rectangle 7"/>
          <p:cNvSpPr/>
          <p:nvPr/>
        </p:nvSpPr>
        <p:spPr>
          <a:xfrm>
            <a:off x="566928" y="226771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31520" y="239572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1   </a:t>
            </a:r>
            <a:r>
              <a:rPr sz="1600" b="0" i="0">
                <a:solidFill>
                  <a:srgbClr val="F7F2E8"/>
                </a:solidFill>
                <a:latin typeface="Segoe UI Semibold"/>
              </a:rPr>
              <a:t>Extension</a:t>
            </a:r>
          </a:p>
        </p:txBody>
      </p:sp>
      <p:sp>
        <p:nvSpPr>
          <p:cNvPr id="10" name="TextBox 9"/>
          <p:cNvSpPr txBox="1"/>
          <p:nvPr/>
        </p:nvSpPr>
        <p:spPr>
          <a:xfrm>
            <a:off x="731520" y="287121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Known binary suffix, no I/O</a:t>
            </a:r>
          </a:p>
        </p:txBody>
      </p:sp>
      <p:cxnSp>
        <p:nvCxnSpPr>
          <p:cNvPr id="11" name="Connector 10"/>
          <p:cNvCxnSpPr/>
          <p:nvPr/>
        </p:nvCxnSpPr>
        <p:spPr>
          <a:xfrm>
            <a:off x="3134791" y="283921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409111" y="2267712"/>
            <a:ext cx="2531287" cy="1143000"/>
          </a:xfrm>
          <a:prstGeom prst="roundRect">
            <a:avLst>
              <a:gd name="adj" fmla="val 9600"/>
            </a:avLst>
          </a:prstGeom>
          <a:solidFill>
            <a:srgbClr val="121A1D"/>
          </a:solidFill>
          <a:ln w="1778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3573703" y="239572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E2B462"/>
                </a:solidFill>
                <a:latin typeface="Palatino Linotype"/>
              </a:rPr>
              <a:t>2   </a:t>
            </a:r>
            <a:r>
              <a:rPr sz="1600" b="0" i="0">
                <a:solidFill>
                  <a:srgbClr val="F7F2E8"/>
                </a:solidFill>
                <a:latin typeface="Segoe UI Semibold"/>
              </a:rPr>
              <a:t>Sample</a:t>
            </a:r>
          </a:p>
        </p:txBody>
      </p:sp>
      <p:sp>
        <p:nvSpPr>
          <p:cNvPr id="14" name="TextBox 13"/>
          <p:cNvSpPr txBox="1"/>
          <p:nvPr/>
        </p:nvSpPr>
        <p:spPr>
          <a:xfrm>
            <a:off x="3573703" y="287121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One 8 KiB read</a:t>
            </a:r>
          </a:p>
        </p:txBody>
      </p:sp>
      <p:cxnSp>
        <p:nvCxnSpPr>
          <p:cNvPr id="15" name="Connector 14"/>
          <p:cNvCxnSpPr/>
          <p:nvPr/>
        </p:nvCxnSpPr>
        <p:spPr>
          <a:xfrm>
            <a:off x="5976975" y="283921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251295" y="2267712"/>
            <a:ext cx="2531287" cy="1143000"/>
          </a:xfrm>
          <a:prstGeom prst="roundRect">
            <a:avLst>
              <a:gd name="adj" fmla="val 9600"/>
            </a:avLst>
          </a:prstGeom>
          <a:solidFill>
            <a:srgbClr val="121A1D"/>
          </a:solidFill>
          <a:ln w="1778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15887" y="239572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3BBE93"/>
                </a:solidFill>
                <a:latin typeface="Palatino Linotype"/>
              </a:rPr>
              <a:t>3   </a:t>
            </a:r>
            <a:r>
              <a:rPr sz="1600" b="0" i="0">
                <a:solidFill>
                  <a:srgbClr val="F7F2E8"/>
                </a:solidFill>
                <a:latin typeface="Segoe UI Semibold"/>
              </a:rPr>
              <a:t>Empty</a:t>
            </a:r>
          </a:p>
        </p:txBody>
      </p:sp>
      <p:sp>
        <p:nvSpPr>
          <p:cNvPr id="18" name="TextBox 17"/>
          <p:cNvSpPr txBox="1"/>
          <p:nvPr/>
        </p:nvSpPr>
        <p:spPr>
          <a:xfrm>
            <a:off x="6415887" y="287121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Nothing to embed</a:t>
            </a:r>
          </a:p>
        </p:txBody>
      </p:sp>
      <p:cxnSp>
        <p:nvCxnSpPr>
          <p:cNvPr id="19" name="Connector 18"/>
          <p:cNvCxnSpPr/>
          <p:nvPr/>
        </p:nvCxnSpPr>
        <p:spPr>
          <a:xfrm>
            <a:off x="8819159" y="283921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9093479" y="2267712"/>
            <a:ext cx="2531287" cy="1143000"/>
          </a:xfrm>
          <a:prstGeom prst="roundRect">
            <a:avLst>
              <a:gd name="adj" fmla="val 9600"/>
            </a:avLst>
          </a:prstGeom>
          <a:solidFill>
            <a:srgbClr val="121A1D"/>
          </a:solidFill>
          <a:ln w="1778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9258071" y="239572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3BBE93"/>
                </a:solidFill>
                <a:latin typeface="Palatino Linotype"/>
              </a:rPr>
              <a:t>4   </a:t>
            </a:r>
            <a:r>
              <a:rPr sz="1600" b="0" i="0">
                <a:solidFill>
                  <a:srgbClr val="F7F2E8"/>
                </a:solidFill>
                <a:latin typeface="Segoe UI Semibold"/>
              </a:rPr>
              <a:t>BOM</a:t>
            </a:r>
          </a:p>
        </p:txBody>
      </p:sp>
      <p:sp>
        <p:nvSpPr>
          <p:cNvPr id="22" name="TextBox 21"/>
          <p:cNvSpPr txBox="1"/>
          <p:nvPr/>
        </p:nvSpPr>
        <p:spPr>
          <a:xfrm>
            <a:off x="9258071" y="287121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UTF-8/16/32 is text</a:t>
            </a:r>
          </a:p>
        </p:txBody>
      </p:sp>
      <p:sp>
        <p:nvSpPr>
          <p:cNvPr id="23" name="Rounded Rectangle 22"/>
          <p:cNvSpPr/>
          <p:nvPr/>
        </p:nvSpPr>
        <p:spPr>
          <a:xfrm>
            <a:off x="566928" y="391363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731520" y="404164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5   </a:t>
            </a:r>
            <a:r>
              <a:rPr sz="1600" b="0" i="0">
                <a:solidFill>
                  <a:srgbClr val="F7F2E8"/>
                </a:solidFill>
                <a:latin typeface="Segoe UI Semibold"/>
              </a:rPr>
              <a:t>Signature</a:t>
            </a:r>
          </a:p>
        </p:txBody>
      </p:sp>
      <p:sp>
        <p:nvSpPr>
          <p:cNvPr id="25" name="TextBox 24"/>
          <p:cNvSpPr txBox="1"/>
          <p:nvPr/>
        </p:nvSpPr>
        <p:spPr>
          <a:xfrm>
            <a:off x="731520" y="451713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45 magic numbers</a:t>
            </a:r>
          </a:p>
        </p:txBody>
      </p:sp>
      <p:cxnSp>
        <p:nvCxnSpPr>
          <p:cNvPr id="26" name="Connector 25"/>
          <p:cNvCxnSpPr/>
          <p:nvPr/>
        </p:nvCxnSpPr>
        <p:spPr>
          <a:xfrm>
            <a:off x="3134791" y="448513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409111" y="391363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3573703" y="404164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6   </a:t>
            </a:r>
            <a:r>
              <a:rPr sz="1600" b="0" i="0">
                <a:solidFill>
                  <a:srgbClr val="F7F2E8"/>
                </a:solidFill>
                <a:latin typeface="Segoe UI Semibold"/>
              </a:rPr>
              <a:t>NUL byte</a:t>
            </a:r>
          </a:p>
        </p:txBody>
      </p:sp>
      <p:sp>
        <p:nvSpPr>
          <p:cNvPr id="29" name="TextBox 28"/>
          <p:cNvSpPr txBox="1"/>
          <p:nvPr/>
        </p:nvSpPr>
        <p:spPr>
          <a:xfrm>
            <a:off x="3573703" y="451713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Classic binary test</a:t>
            </a:r>
          </a:p>
        </p:txBody>
      </p:sp>
      <p:cxnSp>
        <p:nvCxnSpPr>
          <p:cNvPr id="30" name="Connector 29"/>
          <p:cNvCxnSpPr/>
          <p:nvPr/>
        </p:nvCxnSpPr>
        <p:spPr>
          <a:xfrm>
            <a:off x="5976975" y="448513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251295" y="391363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15887" y="404164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7   </a:t>
            </a:r>
            <a:r>
              <a:rPr sz="1600" b="0" i="0">
                <a:solidFill>
                  <a:srgbClr val="F7F2E8"/>
                </a:solidFill>
                <a:latin typeface="Segoe UI Semibold"/>
              </a:rPr>
              <a:t>Control ratio</a:t>
            </a:r>
          </a:p>
        </p:txBody>
      </p:sp>
      <p:sp>
        <p:nvSpPr>
          <p:cNvPr id="33" name="TextBox 32"/>
          <p:cNvSpPr txBox="1"/>
          <p:nvPr/>
        </p:nvSpPr>
        <p:spPr>
          <a:xfrm>
            <a:off x="6415887" y="451713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Non-text byte share</a:t>
            </a:r>
          </a:p>
        </p:txBody>
      </p:sp>
      <p:cxnSp>
        <p:nvCxnSpPr>
          <p:cNvPr id="34" name="Connector 33"/>
          <p:cNvCxnSpPr/>
          <p:nvPr/>
        </p:nvCxnSpPr>
        <p:spPr>
          <a:xfrm>
            <a:off x="8819159" y="4485132"/>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9093479" y="3913632"/>
            <a:ext cx="2531287" cy="1143000"/>
          </a:xfrm>
          <a:prstGeom prst="roundRect">
            <a:avLst>
              <a:gd name="adj" fmla="val 9600"/>
            </a:avLst>
          </a:prstGeom>
          <a:solidFill>
            <a:srgbClr val="121A1D"/>
          </a:solidFill>
          <a:ln w="17780">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258071" y="4041648"/>
            <a:ext cx="2202103" cy="457200"/>
          </a:xfrm>
          <a:prstGeom prst="rect">
            <a:avLst/>
          </a:prstGeom>
          <a:noFill/>
        </p:spPr>
        <p:txBody>
          <a:bodyPr wrap="square" lIns="45720" rIns="45720" tIns="27432" bIns="27432" anchor="t">
            <a:noAutofit/>
          </a:bodyPr>
          <a:lstStyle/>
          <a:p>
            <a:pPr algn="l">
              <a:lnSpc>
                <a:spcPct val="100000"/>
              </a:lnSpc>
            </a:pPr>
            <a:r>
              <a:rPr sz="1600" b="1" i="0">
                <a:solidFill>
                  <a:srgbClr val="C98457"/>
                </a:solidFill>
                <a:latin typeface="Palatino Linotype"/>
              </a:rPr>
              <a:t>8   </a:t>
            </a:r>
            <a:r>
              <a:rPr sz="1600" b="0" i="0">
                <a:solidFill>
                  <a:srgbClr val="F7F2E8"/>
                </a:solidFill>
                <a:latin typeface="Segoe UI Semibold"/>
              </a:rPr>
              <a:t>UTF-8</a:t>
            </a:r>
          </a:p>
        </p:txBody>
      </p:sp>
      <p:sp>
        <p:nvSpPr>
          <p:cNvPr id="37" name="TextBox 36"/>
          <p:cNvSpPr txBox="1"/>
          <p:nvPr/>
        </p:nvSpPr>
        <p:spPr>
          <a:xfrm>
            <a:off x="9258071" y="4517136"/>
            <a:ext cx="2202103" cy="42976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Undecodable and dirty</a:t>
            </a:r>
          </a:p>
        </p:txBody>
      </p:sp>
      <p:sp>
        <p:nvSpPr>
          <p:cNvPr id="38" name="TextBox 37"/>
          <p:cNvSpPr txBox="1"/>
          <p:nvPr/>
        </p:nvSpPr>
        <p:spPr>
          <a:xfrm>
            <a:off x="566928" y="5696712"/>
            <a:ext cx="11057839" cy="457200"/>
          </a:xfrm>
          <a:prstGeom prst="rect">
            <a:avLst/>
          </a:prstGeom>
          <a:noFill/>
        </p:spPr>
        <p:txBody>
          <a:bodyPr wrap="square" lIns="45720" rIns="45720" tIns="27432" bIns="27432" anchor="t">
            <a:noAutofit/>
          </a:bodyPr>
          <a:lstStyle/>
          <a:p>
            <a:pPr algn="l">
              <a:lnSpc>
                <a:spcPct val="100000"/>
              </a:lnSpc>
            </a:pPr>
            <a:r>
              <a:rPr sz="1250" b="0" i="1">
                <a:solidFill>
                  <a:srgbClr val="A7B2B0"/>
                </a:solidFill>
                <a:latin typeface="Segoe UI"/>
              </a:rPr>
              <a:t>Copper stages can drop a binary file; jade stages can only keep a file as text. Any doubt keeps the file, and every omission is logged under </a:t>
            </a:r>
            <a:r>
              <a:rPr sz="1150" b="0" i="0">
                <a:solidFill>
                  <a:srgbClr val="E2B462"/>
                </a:solidFill>
                <a:latin typeface="Consolas"/>
              </a:rPr>
              <a:t>--- [BINARY-GUARD]</a:t>
            </a:r>
            <a:r>
              <a:rPr sz="1250" b="0" i="1">
                <a:solidFill>
                  <a:srgbClr val="A7B2B0"/>
                </a:solidFill>
                <a:latin typeface="Segoe UI"/>
              </a:rPr>
              <a:t>.</a:t>
            </a:r>
          </a:p>
        </p:txBody>
      </p:sp>
      <p:cxnSp>
        <p:nvCxnSpPr>
          <p:cNvPr id="39" name="Connector 3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41" name="TextBox 4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FLOW COMPILER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compiler for the canvas and the chat</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Canvas snapshots and chat-generated drafts compile through the same Agent Contract registry before any file reaches the session pool.</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Contracts</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Connection slots, Parametrizer fields, secret paths, lifecycle flags.</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Start</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Compiles the live canvas in write mode before any agent runs.</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Validate</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 dry run that previews the compiled configuration.</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Create Flow</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Chat drafts pass the same normalizer and redaction.</a:t>
            </a:r>
          </a:p>
        </p:txBody>
      </p:sp>
      <p:sp>
        <p:nvSpPr>
          <p:cNvPr id="24" name="Rounded Rectangle 23"/>
          <p:cNvSpPr/>
          <p:nvPr/>
        </p:nvSpPr>
        <p:spPr>
          <a:xfrm>
            <a:off x="6144768" y="2084831"/>
            <a:ext cx="5479999" cy="4114800"/>
          </a:xfrm>
          <a:prstGeom prst="roundRect">
            <a:avLst>
              <a:gd name="adj" fmla="val 2666"/>
            </a:avLst>
          </a:prstGeom>
          <a:solidFill>
            <a:srgbClr val="090E10"/>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45936" y="2249424"/>
            <a:ext cx="118872" cy="118872"/>
          </a:xfrm>
          <a:prstGeom prst="ellipse">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6565392" y="2249424"/>
            <a:ext cx="118872" cy="118872"/>
          </a:xfrm>
          <a:prstGeom prst="ellipse">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784848" y="2249424"/>
            <a:ext cx="118872" cy="118872"/>
          </a:xfrm>
          <a:prstGeom prst="ellipse">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373368" y="2468879"/>
            <a:ext cx="5022799" cy="3602736"/>
          </a:xfrm>
          <a:prstGeom prst="rect">
            <a:avLst/>
          </a:prstGeom>
          <a:noFill/>
        </p:spPr>
        <p:txBody>
          <a:bodyPr wrap="none" lIns="45720" rIns="45720" tIns="27432" bIns="27432" anchor="t">
            <a:noAutofit/>
          </a:bodyPr>
          <a:lstStyle/>
          <a:p>
            <a:pPr algn="l">
              <a:lnSpc>
                <a:spcPct val="100000"/>
              </a:lnSpc>
            </a:pPr>
            <a:r>
              <a:rPr sz="1300" b="0" i="0">
                <a:solidFill>
                  <a:srgbClr val="E2B462"/>
                </a:solidFill>
                <a:latin typeface="Consolas"/>
              </a:rPr>
              <a:t>INI_SECTION_APIRER&lt;&lt;&lt;</a:t>
            </a:r>
          </a:p>
          <a:p>
            <a:pPr algn="l">
              <a:lnSpc>
                <a:spcPct val="100000"/>
              </a:lnSpc>
            </a:pPr>
            <a:r>
              <a:rPr sz="1300" b="0" i="0">
                <a:solidFill>
                  <a:srgbClr val="ECE7DC"/>
                </a:solidFill>
                <a:latin typeface="Consolas"/>
              </a:rPr>
              <a:t>url: https://example.org/status</a:t>
            </a:r>
          </a:p>
          <a:p>
            <a:pPr algn="l">
              <a:lnSpc>
                <a:spcPct val="100000"/>
              </a:lnSpc>
            </a:pPr>
            <a:r>
              <a:rPr sz="1300" b="0" i="0">
                <a:solidFill>
                  <a:srgbClr val="ECE7DC"/>
                </a:solidFill>
                <a:latin typeface="Consolas"/>
              </a:rPr>
              <a:t>status: 200</a:t>
            </a:r>
          </a:p>
          <a:p>
            <a:pPr algn="l">
              <a:lnSpc>
                <a:spcPct val="100000"/>
              </a:lnSpc>
            </a:pPr>
            <a:r>
              <a:rPr sz="1300" b="0" i="0">
                <a:solidFill>
                  <a:srgbClr val="ECE7DC"/>
                </a:solidFill>
                <a:latin typeface="Consolas"/>
              </a:rPr>
              <a:t> </a:t>
            </a:r>
          </a:p>
          <a:p>
            <a:pPr algn="l">
              <a:lnSpc>
                <a:spcPct val="100000"/>
              </a:lnSpc>
            </a:pPr>
            <a:r>
              <a:rPr sz="1300" b="0" i="0">
                <a:solidFill>
                  <a:srgbClr val="ECE7DC"/>
                </a:solidFill>
                <a:latin typeface="Consolas"/>
              </a:rPr>
              <a:t>{"service": "ok"}</a:t>
            </a:r>
          </a:p>
          <a:p>
            <a:pPr algn="l">
              <a:lnSpc>
                <a:spcPct val="100000"/>
              </a:lnSpc>
            </a:pPr>
            <a:r>
              <a:rPr sz="1300" b="0" i="0">
                <a:solidFill>
                  <a:srgbClr val="E2B462"/>
                </a:solidFill>
                <a:latin typeface="Consolas"/>
              </a:rPr>
              <a:t>&gt;&gt;&gt;END_SECTION_APIRER</a:t>
            </a:r>
          </a:p>
        </p:txBody>
      </p:sp>
      <p:cxnSp>
        <p:nvCxnSpPr>
          <p:cNvPr id="29" name="Connector 2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31" name="TextBox 3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RELIABILITY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Built to keep running</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Small, deliberate mechanisms keep the core alive under the conditions that used to stop it.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Console shield</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log file is written first; console output goes through a bounded queue, so clicking the console cannot freeze her. Since v1.76.0 lines are coloured by level.</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Orphan reaper</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Three tiers sweep dead descendants and orphaned console hosts after tools, after answers and at shutdown, without ever raising into the chat.</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Per-user log lines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Lines carry a five-character tag such as [a3] so concurrent users and turns never blur.</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Clean Ctrl+C</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signal handler only sets an event; a worker cleans up, a watchdog guarantees exit, and a second Ctrl+C exits at once.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Configurable port</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django_port</a:t>
            </a:r>
            <a:r>
              <a:rPr sz="1300" b="0" i="0">
                <a:solidFill>
                  <a:srgbClr val="A7B2B0"/>
                </a:solidFill>
                <a:latin typeface="Segoe UI"/>
              </a:rPr>
              <a:t> moves the web port with no rebuild and falls back to 8000 on any bad value.</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Temp and Templates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Scratch files live under the application's Temp folder; scaffolded projects default to its Templates folder.</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 · HOW SHE WORKS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E2B462"/>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III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050" b="0" i="0">
                <a:solidFill>
                  <a:srgbClr val="F7F2E8"/>
                </a:solidFill>
                <a:latin typeface="Palatino Linotype"/>
              </a:rPr>
              <a:t>Where You Work With Her</a:t>
            </a:r>
          </a:p>
        </p:txBody>
      </p:sp>
      <p:sp>
        <p:nvSpPr>
          <p:cNvPr id="6" name="Rectangle 5"/>
          <p:cNvSpPr/>
          <p:nvPr/>
        </p:nvSpPr>
        <p:spPr>
          <a:xfrm>
            <a:off x="841248" y="4315968"/>
            <a:ext cx="100584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The chat, the two canvases, the catalog and the dialogs that operate everything else.</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III</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CONFIGURATION · v1.91.0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Choose how she types and teaches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Config → Live Editor &amp; Terminater opens one shared dialog on the chat and control panels.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Pace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Separate speeds or a linked 40–160 WPM setting; no instant typing.</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Teaching</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Brief, balanced or detailed guidance with optional local suggestions.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Appearance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Editor and terminal presentation saved per account/browser.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Account</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Behavior persists on the server; concurrent saves detect revision conflicts.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TERMINATER SETTINGS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command follows the learner's controls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One TerminalHub resolves account preferences across chat, ACP, Prompt Flow and browser actions.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Type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One key at a time, 20–160 WPM; no paste or instant mode.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Submit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Task-controlled execution or user-only Enter enforced by the hub.</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Wait</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Command, no-output and handoff windows have separate meanings.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Inherit</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use_my_defaults applies account preferences without rewriting older flows.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COMMAND AND LESSON VOICE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Hear the step before the first key</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Narration uses the existing browser voice and a shared, cancellable speech queue.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Shared voice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Reuse voice choice, rate, volume and pitch from Config → Voice.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Priority</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Global mute and microphone listening override narration.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Timing</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Before/during/after; optional completion before typing.</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Control</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Escape stops speech; Ctrl+Shift+M toggles global mute.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CANVAS EDITOR · v1.89.0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Edit the document you are discussing</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 local CodeMirror 6 editor keeps text, code, JSON and Markdown Source editable in the chat canvas.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One document</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Code, configuration and plain text share the same editing authority.</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Markdown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Editable source and sanitized preview preserve undo history.</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Controls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Save, Save as, Undo/Redo, Find/replace and Wrap.</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Layout</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reserved canvas width and an editor that fills its available height.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NATIVE SAVING</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Save into the project folder you choose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local native Windows picker makes Downloads optional.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Choose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Native Save As to any writable local folder.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Authorize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Account/session-bound capability; 12 idle hours, lost on restart.</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Compare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External disk changes refuse overwrite; Save As keeps a separate copy.</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Preserve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Encoding, BOM, line endings and existing Windows metadata.</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INTERACTOR · v1.90.0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Teach inside the live, unsaved document</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Interactor is a module and a built-in tool, not a workflow agent or a terminal.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Read</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Exact unsaved text and selection, never a stale disk substitute.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Type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One small visible teaching segment; one undoable edit.</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Hand over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Explain the learner's next field, then stop tool mutations.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Review</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Continue starts a fresh read in a new chat turn.</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TUTOR COMPLETION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Immediate help while the learner types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model plans the next field once; local matching avoids a model request on every keystroke.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Local matching</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Prepared field choices; no model call per key.</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Optional</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Accept a suggestion, take one word, dismiss it or type your own value.</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User priority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Interruptions preserve the typed prefix and invalidate stale work.</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Honest latency</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New questions still wait on chat/model processing.</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THE CHAT PAGE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Conversation with modes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chat page is where you talk to her. Up to eight toolbar switches decide how each request runs.</a:t>
            </a:r>
          </a:p>
        </p:txBody>
      </p:sp>
      <p:sp>
        <p:nvSpPr>
          <p:cNvPr id="8" name="Rounded Rectangle 7"/>
          <p:cNvSpPr/>
          <p:nvPr/>
        </p:nvSpPr>
        <p:spPr>
          <a:xfrm>
            <a:off x="566928" y="2084831"/>
            <a:ext cx="11057839" cy="3383280"/>
          </a:xfrm>
          <a:prstGeom prst="roundRect">
            <a:avLst>
              <a:gd name="adj" fmla="val 216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250757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SWITCH</a:t>
            </a:r>
          </a:p>
        </p:txBody>
      </p:sp>
      <p:sp>
        <p:nvSpPr>
          <p:cNvPr id="11" name="TextBox 10"/>
          <p:cNvSpPr txBox="1"/>
          <p:nvPr/>
        </p:nvSpPr>
        <p:spPr>
          <a:xfrm>
            <a:off x="3293961" y="2121408"/>
            <a:ext cx="825765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WHAT IT DOES</a:t>
            </a:r>
          </a:p>
        </p:txBody>
      </p:sp>
      <p:sp>
        <p:nvSpPr>
          <p:cNvPr id="12" name="TextBox 11"/>
          <p:cNvSpPr txBox="1"/>
          <p:nvPr/>
        </p:nvSpPr>
        <p:spPr>
          <a:xfrm>
            <a:off x="640080" y="2505456"/>
            <a:ext cx="250757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Multi-Turn</a:t>
            </a:r>
          </a:p>
        </p:txBody>
      </p:sp>
      <p:sp>
        <p:nvSpPr>
          <p:cNvPr id="13" name="TextBox 12"/>
          <p:cNvSpPr txBox="1"/>
          <p:nvPr/>
        </p:nvSpPr>
        <p:spPr>
          <a:xfrm>
            <a:off x="3293961" y="2505456"/>
            <a:ext cx="825765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Planned, tool-calling operator mode; unchecked means direct one-shot answers.</a:t>
            </a:r>
          </a:p>
        </p:txBody>
      </p:sp>
      <p:sp>
        <p:nvSpPr>
          <p:cNvPr id="14" name="Rectangle 13"/>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2880360"/>
            <a:ext cx="250757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Exec Report</a:t>
            </a:r>
          </a:p>
        </p:txBody>
      </p:sp>
      <p:sp>
        <p:nvSpPr>
          <p:cNvPr id="16" name="TextBox 15"/>
          <p:cNvSpPr txBox="1"/>
          <p:nvPr/>
        </p:nvSpPr>
        <p:spPr>
          <a:xfrm>
            <a:off x="3293961" y="2880360"/>
            <a:ext cx="825765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Appends per-agent execution tables; available while Multi-Turn is on.</a:t>
            </a:r>
          </a:p>
        </p:txBody>
      </p:sp>
      <p:sp>
        <p:nvSpPr>
          <p:cNvPr id="17" name="TextBox 16"/>
          <p:cNvSpPr txBox="1"/>
          <p:nvPr/>
        </p:nvSpPr>
        <p:spPr>
          <a:xfrm>
            <a:off x="640080" y="3255264"/>
            <a:ext cx="250757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ACPX</a:t>
            </a:r>
          </a:p>
        </p:txBody>
      </p:sp>
      <p:sp>
        <p:nvSpPr>
          <p:cNvPr id="18" name="TextBox 17"/>
          <p:cNvSpPr txBox="1"/>
          <p:nvPr/>
        </p:nvSpPr>
        <p:spPr>
          <a:xfrm>
            <a:off x="3293961" y="3255264"/>
            <a:ext cx="825765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Adds the twelve ACPX and Skill tools to the bound surface; off by default.</a:t>
            </a:r>
          </a:p>
        </p:txBody>
      </p:sp>
      <p:sp>
        <p:nvSpPr>
          <p:cNvPr id="19" name="Rectangle 18"/>
          <p:cNvSpPr/>
          <p:nvPr/>
        </p:nvSpPr>
        <p:spPr>
          <a:xfrm>
            <a:off x="585216" y="35935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630168"/>
            <a:ext cx="250757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Ask Execs</a:t>
            </a:r>
          </a:p>
        </p:txBody>
      </p:sp>
      <p:sp>
        <p:nvSpPr>
          <p:cNvPr id="21" name="TextBox 20"/>
          <p:cNvSpPr txBox="1"/>
          <p:nvPr/>
        </p:nvSpPr>
        <p:spPr>
          <a:xfrm>
            <a:off x="3293961" y="3630168"/>
            <a:ext cx="825765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Proceed/Deny before each risky tool; a Deny stops the chain.</a:t>
            </a:r>
          </a:p>
        </p:txBody>
      </p:sp>
      <p:sp>
        <p:nvSpPr>
          <p:cNvPr id="22" name="TextBox 21"/>
          <p:cNvSpPr txBox="1"/>
          <p:nvPr/>
        </p:nvSpPr>
        <p:spPr>
          <a:xfrm>
            <a:off x="640080" y="4005072"/>
            <a:ext cx="250757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Step-by-Step</a:t>
            </a:r>
          </a:p>
        </p:txBody>
      </p:sp>
      <p:sp>
        <p:nvSpPr>
          <p:cNvPr id="23" name="TextBox 22"/>
          <p:cNvSpPr txBox="1"/>
          <p:nvPr/>
        </p:nvSpPr>
        <p:spPr>
          <a:xfrm>
            <a:off x="3293961" y="4005072"/>
            <a:ext cx="825765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One concrete action at a time, waiting for your reply before the next.</a:t>
            </a:r>
          </a:p>
        </p:txBody>
      </p:sp>
      <p:sp>
        <p:nvSpPr>
          <p:cNvPr id="24" name="Rectangle 23"/>
          <p:cNvSpPr/>
          <p:nvPr/>
        </p:nvSpPr>
        <p:spPr>
          <a:xfrm>
            <a:off x="585216" y="43434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379976"/>
            <a:ext cx="250757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Internet</a:t>
            </a:r>
          </a:p>
        </p:txBody>
      </p:sp>
      <p:sp>
        <p:nvSpPr>
          <p:cNvPr id="26" name="TextBox 25"/>
          <p:cNvSpPr txBox="1"/>
          <p:nvPr/>
        </p:nvSpPr>
        <p:spPr>
          <a:xfrm>
            <a:off x="3293961" y="4379976"/>
            <a:ext cx="825765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Allows a web search to add context to the answer.</a:t>
            </a:r>
          </a:p>
        </p:txBody>
      </p:sp>
      <p:sp>
        <p:nvSpPr>
          <p:cNvPr id="27" name="TextBox 26"/>
          <p:cNvSpPr txBox="1"/>
          <p:nvPr/>
        </p:nvSpPr>
        <p:spPr>
          <a:xfrm>
            <a:off x="640080" y="4754880"/>
            <a:ext cx="250757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Compact mode</a:t>
            </a:r>
          </a:p>
        </p:txBody>
      </p:sp>
      <p:sp>
        <p:nvSpPr>
          <p:cNvPr id="28" name="TextBox 27"/>
          <p:cNvSpPr txBox="1"/>
          <p:nvPr/>
        </p:nvSpPr>
        <p:spPr>
          <a:xfrm>
            <a:off x="3293961" y="4754880"/>
            <a:ext cx="825765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Binds only the rows you tick; locked on when the model cannot hold all.</a:t>
            </a:r>
          </a:p>
        </p:txBody>
      </p:sp>
      <p:sp>
        <p:nvSpPr>
          <p:cNvPr id="29" name="Rectangle 28"/>
          <p:cNvSpPr/>
          <p:nvPr/>
        </p:nvSpPr>
        <p:spPr>
          <a:xfrm>
            <a:off x="585216" y="5093208"/>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129784"/>
            <a:ext cx="250757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Self-modify</a:t>
            </a:r>
          </a:p>
        </p:txBody>
      </p:sp>
      <p:sp>
        <p:nvSpPr>
          <p:cNvPr id="31" name="TextBox 30"/>
          <p:cNvSpPr txBox="1"/>
          <p:nvPr/>
        </p:nvSpPr>
        <p:spPr>
          <a:xfrm>
            <a:off x="3293961" y="5129784"/>
            <a:ext cx="825765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Source runs and self-modify builds; sends self-knowledge, locked off if too big.</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THE MESSAGE BOX</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More room to write, or more room to read</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Drag the divider above the message box. With her avatar undocked, the box can shrink to its buttons.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Drag or type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Pointer, arrows, Shift+arrows, Home and End move the divider.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Undocked</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message box can shrink to its own action buttons.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Docked</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centered portrait above Mic through Send, down to a 120-pixel square.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Small windows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box scrolls itself; dialogs stay inside the window.</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CHAT HISTORY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Drop a message from the conversation</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Every message card has Drop beside Copy, for your prompts and Tlamatini's answers.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Choose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Drop sits beside Copy on both user and assistant message cards.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Confirm</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Cancel starts focused. Red Drop confirms; Escape and close cancel.</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Remove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Delete the saved message from chat history. Its paired prompt or answer stays.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Continue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next request reads the updated history without a reconnect.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MEMORY AND EFFECTS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What remains after Drop</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Deleting a chat card changes future conversation context. Separate saved notes and completed work remain.</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History</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request reloads a window of up to eight newest database rows.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Saved notes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External MCP memory is separate. Ask her to forget its note too.</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Other messages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paired answer or prompt stays and may repeat the same information.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Completed work</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Files and sent messages remain. Save a needed flow before dropping its card.</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DIRECT VOICE INPUT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Speak beside Send</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microphone captures first; no model tool-selection step stands between the click and recording.</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Click</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Direct Whisperer start; the host microphone opens only for a recording.</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Listen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Live samples drive the in-chat indicator and the configured silence gate.</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Recognize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Local faster-whisper or the explicitly configured cloud speech engine.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Send or review</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Submit once with current modes, or review the editable draft and press Send yourself.</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Config ends with Mic</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Choose automatic Send or an editable draft, using the same dialog style as the rest of Tlamatini.</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Input</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Configured/default/listed host device, refresh and software gain from 0 to 300%.</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Sound gate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Silence 0.3-20 seconds, cap 5-600 seconds, adaptive or manual sensitivity.</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Recognition</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Language, English translation, capture rate/channels, local beam size and VAD.</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Guardrails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Validate settings before capture; removed or ambiguous saved devices cannot silently change inputs.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INTERNAL SERVICE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main console, no extra window</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Developer visibility requirements do not become additional product windows.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UI ownership</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composer displays recording and transcription; no second console.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Configuration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Model/template inheritance plus validated, per-recording Mic capture overrides.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Boundary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direct button is input, not a wrapped tool or an Exec Report row.</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Release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Ship consumer/runtime/settings modules, carried validator and worker, Mic JS/CSS and template.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VERIFICATION SCOPE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Measured source behavior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Dated source checks are evidence, not a claim that an older installer contains the change.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Current source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108 voice regressions, 42 theme tests and real worker metadata/lifecycle probes.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Browser evidence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62 headed checks with controlled transport; separate from live ASR.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Limits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Cold model loading, provider latency and hardware vary; no zero-latency promise.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Detailed guide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docs/chat-microphone-design.md records configuration, protocol and evidence.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NAVIGATION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menu bar in v1.91.1</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Views controls the workspace, Panels opens the flow editors, and Config holds settings.</a:t>
            </a:r>
          </a:p>
        </p:txBody>
      </p:sp>
      <p:sp>
        <p:nvSpPr>
          <p:cNvPr id="8" name="Rounded Rectangle 7"/>
          <p:cNvSpPr/>
          <p:nvPr/>
        </p:nvSpPr>
        <p:spPr>
          <a:xfrm>
            <a:off x="566928" y="2084831"/>
            <a:ext cx="11057839" cy="3963924"/>
          </a:xfrm>
          <a:prstGeom prst="roundRect">
            <a:avLst>
              <a:gd name="adj" fmla="val 184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206526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MENU</a:t>
            </a:r>
          </a:p>
        </p:txBody>
      </p:sp>
      <p:sp>
        <p:nvSpPr>
          <p:cNvPr id="11" name="TextBox 10"/>
          <p:cNvSpPr txBox="1"/>
          <p:nvPr/>
        </p:nvSpPr>
        <p:spPr>
          <a:xfrm>
            <a:off x="2851647" y="2121408"/>
            <a:ext cx="869996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WHAT YOU FIND THERE</a:t>
            </a:r>
          </a:p>
        </p:txBody>
      </p:sp>
      <p:sp>
        <p:nvSpPr>
          <p:cNvPr id="12" name="TextBox 11"/>
          <p:cNvSpPr txBox="1"/>
          <p:nvPr/>
        </p:nvSpPr>
        <p:spPr>
          <a:xfrm>
            <a:off x="640080" y="2505456"/>
            <a:ext cx="2065263" cy="27889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Open · Save</a:t>
            </a:r>
          </a:p>
        </p:txBody>
      </p:sp>
      <p:sp>
        <p:nvSpPr>
          <p:cNvPr id="13" name="TextBox 12"/>
          <p:cNvSpPr txBox="1"/>
          <p:nvPr/>
        </p:nvSpPr>
        <p:spPr>
          <a:xfrm>
            <a:off x="2851647" y="2505456"/>
            <a:ext cx="8699967" cy="27889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Open a canvas file; menu Save chooses a destination with native Save As.</a:t>
            </a:r>
          </a:p>
        </p:txBody>
      </p:sp>
      <p:sp>
        <p:nvSpPr>
          <p:cNvPr id="14" name="Rectangle 13"/>
          <p:cNvSpPr/>
          <p:nvPr/>
        </p:nvSpPr>
        <p:spPr>
          <a:xfrm>
            <a:off x="585216" y="2820924"/>
            <a:ext cx="11021263" cy="3520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2857500"/>
            <a:ext cx="2065263" cy="27889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Views</a:t>
            </a:r>
          </a:p>
        </p:txBody>
      </p:sp>
      <p:sp>
        <p:nvSpPr>
          <p:cNvPr id="16" name="TextBox 15"/>
          <p:cNvSpPr txBox="1"/>
          <p:nvPr/>
        </p:nvSpPr>
        <p:spPr>
          <a:xfrm>
            <a:off x="2851647" y="2857500"/>
            <a:ext cx="8699967" cy="27889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Show Canvas or Terminals; Reset layout restores the workspace.</a:t>
            </a:r>
          </a:p>
        </p:txBody>
      </p:sp>
      <p:sp>
        <p:nvSpPr>
          <p:cNvPr id="17" name="TextBox 16"/>
          <p:cNvSpPr txBox="1"/>
          <p:nvPr/>
        </p:nvSpPr>
        <p:spPr>
          <a:xfrm>
            <a:off x="640080" y="3209544"/>
            <a:ext cx="2065263" cy="27889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Context</a:t>
            </a:r>
          </a:p>
        </p:txBody>
      </p:sp>
      <p:sp>
        <p:nvSpPr>
          <p:cNvPr id="18" name="TextBox 17"/>
          <p:cNvSpPr txBox="1"/>
          <p:nvPr/>
        </p:nvSpPr>
        <p:spPr>
          <a:xfrm>
            <a:off x="2851647" y="3209544"/>
            <a:ext cx="8699967" cy="27889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Load a directory or file as context, and set file-type omissions.</a:t>
            </a:r>
          </a:p>
        </p:txBody>
      </p:sp>
      <p:sp>
        <p:nvSpPr>
          <p:cNvPr id="19" name="Rectangle 18"/>
          <p:cNvSpPr/>
          <p:nvPr/>
        </p:nvSpPr>
        <p:spPr>
          <a:xfrm>
            <a:off x="585216" y="3525011"/>
            <a:ext cx="11021263" cy="3520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561587"/>
            <a:ext cx="2065263" cy="27889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Panels</a:t>
            </a:r>
          </a:p>
        </p:txBody>
      </p:sp>
      <p:sp>
        <p:nvSpPr>
          <p:cNvPr id="21" name="TextBox 20"/>
          <p:cNvSpPr txBox="1"/>
          <p:nvPr/>
        </p:nvSpPr>
        <p:spPr>
          <a:xfrm>
            <a:off x="2851647" y="3561587"/>
            <a:ext cx="8699967" cy="27889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Agentic Control Panel, Prompt Flow Panel and, for staff, the Admin Panel. It stays usable while she is busy.</a:t>
            </a:r>
          </a:p>
        </p:txBody>
      </p:sp>
      <p:sp>
        <p:nvSpPr>
          <p:cNvPr id="22" name="TextBox 21"/>
          <p:cNvSpPr txBox="1"/>
          <p:nvPr/>
        </p:nvSpPr>
        <p:spPr>
          <a:xfrm>
            <a:off x="640080" y="3913631"/>
            <a:ext cx="2065263" cy="27889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ACPX-Skills</a:t>
            </a:r>
          </a:p>
        </p:txBody>
      </p:sp>
      <p:sp>
        <p:nvSpPr>
          <p:cNvPr id="23" name="TextBox 22"/>
          <p:cNvSpPr txBox="1"/>
          <p:nvPr/>
        </p:nvSpPr>
        <p:spPr>
          <a:xfrm>
            <a:off x="2851647" y="3913631"/>
            <a:ext cx="8699967" cy="27889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Browse, configure, diagnose and reload the skill catalog.</a:t>
            </a:r>
          </a:p>
        </p:txBody>
      </p:sp>
      <p:sp>
        <p:nvSpPr>
          <p:cNvPr id="24" name="Rectangle 23"/>
          <p:cNvSpPr/>
          <p:nvPr/>
        </p:nvSpPr>
        <p:spPr>
          <a:xfrm>
            <a:off x="585216" y="4229099"/>
            <a:ext cx="11021263" cy="3520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265675"/>
            <a:ext cx="2065263" cy="27889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External</a:t>
            </a:r>
          </a:p>
        </p:txBody>
      </p:sp>
      <p:sp>
        <p:nvSpPr>
          <p:cNvPr id="26" name="TextBox 25"/>
          <p:cNvSpPr txBox="1"/>
          <p:nvPr/>
        </p:nvSpPr>
        <p:spPr>
          <a:xfrm>
            <a:off x="2851647" y="4265675"/>
            <a:ext cx="8699967" cy="27889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The External MCPs dialog: catalog, activation and runtime readiness.</a:t>
            </a:r>
          </a:p>
        </p:txBody>
      </p:sp>
      <p:sp>
        <p:nvSpPr>
          <p:cNvPr id="27" name="TextBox 26"/>
          <p:cNvSpPr txBox="1"/>
          <p:nvPr/>
        </p:nvSpPr>
        <p:spPr>
          <a:xfrm>
            <a:off x="640080" y="4617719"/>
            <a:ext cx="2065263" cy="48463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Config</a:t>
            </a:r>
          </a:p>
        </p:txBody>
      </p:sp>
      <p:sp>
        <p:nvSpPr>
          <p:cNvPr id="28" name="TextBox 27"/>
          <p:cNvSpPr txBox="1"/>
          <p:nvPr/>
        </p:nvSpPr>
        <p:spPr>
          <a:xfrm>
            <a:off x="2851647" y="4617719"/>
            <a:ext cx="8699967" cy="48463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Configure MCPs, Configure Agents, Models, URLs, Contacts, Access Keys Wizard, Voice, Mic, and Live Editor &amp; Terminater (pacing, narration and interaction preferences).</a:t>
            </a:r>
          </a:p>
        </p:txBody>
      </p:sp>
      <p:sp>
        <p:nvSpPr>
          <p:cNvPr id="29" name="Rectangle 28"/>
          <p:cNvSpPr/>
          <p:nvPr/>
        </p:nvSpPr>
        <p:spPr>
          <a:xfrm>
            <a:off x="585216" y="5138927"/>
            <a:ext cx="11021263" cy="3520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5175503"/>
            <a:ext cx="2065263" cy="27889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DB</a:t>
            </a:r>
          </a:p>
        </p:txBody>
      </p:sp>
      <p:sp>
        <p:nvSpPr>
          <p:cNvPr id="31" name="TextBox 30"/>
          <p:cNvSpPr txBox="1"/>
          <p:nvPr/>
        </p:nvSpPr>
        <p:spPr>
          <a:xfrm>
            <a:off x="2851647" y="5175503"/>
            <a:ext cx="8699967" cy="27889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WAL-safe database backup and staged replacement.</a:t>
            </a:r>
          </a:p>
        </p:txBody>
      </p:sp>
      <p:sp>
        <p:nvSpPr>
          <p:cNvPr id="32" name="TextBox 31"/>
          <p:cNvSpPr txBox="1"/>
          <p:nvPr/>
        </p:nvSpPr>
        <p:spPr>
          <a:xfrm>
            <a:off x="640080" y="5527547"/>
            <a:ext cx="2065263" cy="484632"/>
          </a:xfrm>
          <a:prstGeom prst="rect">
            <a:avLst/>
          </a:prstGeom>
          <a:noFill/>
        </p:spPr>
        <p:txBody>
          <a:bodyPr wrap="square" lIns="45720" rIns="45720" tIns="27432" bIns="27432" anchor="ctr">
            <a:noAutofit/>
          </a:bodyPr>
          <a:lstStyle/>
          <a:p>
            <a:pPr algn="l">
              <a:lnSpc>
                <a:spcPct val="100000"/>
              </a:lnSpc>
            </a:pPr>
            <a:r>
              <a:rPr sz="1350" b="0" i="0">
                <a:solidFill>
                  <a:srgbClr val="F7F2E8"/>
                </a:solidFill>
                <a:latin typeface="Segoe UI Semibold"/>
              </a:rPr>
              <a:t>Reconnect · About</a:t>
            </a:r>
          </a:p>
        </p:txBody>
      </p:sp>
      <p:sp>
        <p:nvSpPr>
          <p:cNvPr id="33" name="TextBox 32"/>
          <p:cNvSpPr txBox="1"/>
          <p:nvPr/>
        </p:nvSpPr>
        <p:spPr>
          <a:xfrm>
            <a:off x="2851647" y="5527547"/>
            <a:ext cx="8699967" cy="484632"/>
          </a:xfrm>
          <a:prstGeom prst="rect">
            <a:avLst/>
          </a:prstGeom>
          <a:noFill/>
        </p:spPr>
        <p:txBody>
          <a:bodyPr wrap="square" lIns="45720" rIns="45720" tIns="27432" bIns="27432" anchor="ctr">
            <a:noAutofit/>
          </a:bodyPr>
          <a:lstStyle/>
          <a:p>
            <a:pPr algn="l">
              <a:lnSpc>
                <a:spcPct val="100000"/>
              </a:lnSpc>
            </a:pPr>
            <a:r>
              <a:rPr sz="1350" b="0" i="0">
                <a:solidFill>
                  <a:srgbClr val="A7B2B0"/>
                </a:solidFill>
                <a:latin typeface="Segoe UI"/>
              </a:rPr>
              <a:t>Rebuild the chat connection; version, author credits and Check for updates. Since v1.78.0, About also opens Usage, even while she is busy.</a:t>
            </a:r>
          </a:p>
        </p:txBody>
      </p:sp>
      <p:cxnSp>
        <p:nvCxnSpPr>
          <p:cNvPr id="34" name="Connector 3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6" name="TextBox 3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ABOUT → USAGE · NEW IN v1.78.0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Read usage while she works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ABOUT USAGE follows the shared dialog theme and remains available during a long answer.</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Cloud credits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Reported balance, monthly usage, allowance and refill weeks/date.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Chat activity</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Your measured calls, input/output tokens and daily trends.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Models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Recorded model activity and peak UTC dates; server inventory alongside it.</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While busy</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Open and refresh without interrupting the model request.</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Normal size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Under 60% client area; ordinary typography and clear buttons.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Accessible</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Keyboard tabs, chart tooltips, focus trap and normal Escape/Close behavior.</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ACCOUNT DATA</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Different scopes, clearly identified</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Monthly credits, rolling cloud usage and recorded local activity answer different questions.</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Monthly balance</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Actual included and purchased credits from /api/balance.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Rolling history</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7/30-day cloud spend and tokens; separate from the billing period.</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Local model graphs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Measured Tlamatini main-chat activity, not website-wide history.</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Refresh</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Healthy data is cached 60 s; a brief outage is retried after 15 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Missing data</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Explain unavailable or stale values; no guessed balance or token count.</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References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docs.ollama.com/api/balance and /api/cloud-usage; docs/usage-dashboard.md.</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ADAPTIVE LAYOUT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Report what the account supplies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response shape selects the layout; a plan label is not a credit entitlement.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Monthly</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Returned allowance, balance, purchased credits and reset period.</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Legacy</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Remaining session/weekly percentages; no guessed dollar conversion.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Purchased only</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Only the reported purchased balance; no invented included quota.</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Free or zero</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Report actual data and omit percentages when allowance is zero.</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Team</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Shared credit balance is distinct from member-scoped usage.</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Unlimited label</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Never interpreted as unlimited cloud credits.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AGENTIC CONTROL PANEL</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Design agent workflows visually</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Drag any of the 86 agent types onto the canvas, connect output triangles to input triangles, configure each node, validate, and press Start.</a:t>
            </a:r>
          </a:p>
        </p:txBody>
      </p:sp>
      <p:sp>
        <p:nvSpPr>
          <p:cNvPr id="8" name="Rounded Rectangle 7"/>
          <p:cNvSpPr/>
          <p:nvPr/>
        </p:nvSpPr>
        <p:spPr>
          <a:xfrm>
            <a:off x="566928" y="2084831"/>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10384"/>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469392"/>
          </a:xfrm>
          <a:prstGeom prst="rect">
            <a:avLst/>
          </a:prstGeom>
          <a:noFill/>
        </p:spPr>
        <p:txBody>
          <a:bodyPr wrap="square" lIns="45720" rIns="45720" tIns="27432" bIns="27432" anchor="ctr">
            <a:noAutofit/>
          </a:bodyPr>
          <a:lstStyle/>
          <a:p>
            <a:pPr algn="l">
              <a:lnSpc>
                <a:spcPct val="100000"/>
              </a:lnSpc>
            </a:pPr>
            <a:r>
              <a:rPr sz="1550" b="0" i="0">
                <a:solidFill>
                  <a:srgbClr val="F7F2E8"/>
                </a:solidFill>
                <a:latin typeface="Segoe UI Semibold"/>
              </a:rPr>
              <a:t>Undo and Redo</a:t>
            </a:r>
          </a:p>
        </p:txBody>
      </p:sp>
      <p:sp>
        <p:nvSpPr>
          <p:cNvPr id="11" name="TextBox 10"/>
          <p:cNvSpPr txBox="1"/>
          <p:nvPr/>
        </p:nvSpPr>
        <p:spPr>
          <a:xfrm>
            <a:off x="2670048" y="2139696"/>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Up to 1,024 steps, configuration included.</a:t>
            </a:r>
          </a:p>
        </p:txBody>
      </p:sp>
      <p:sp>
        <p:nvSpPr>
          <p:cNvPr id="12" name="Rounded Rectangle 11"/>
          <p:cNvSpPr/>
          <p:nvPr/>
        </p:nvSpPr>
        <p:spPr>
          <a:xfrm>
            <a:off x="566928" y="2791968"/>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01752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846832"/>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Duplicate</a:t>
            </a:r>
          </a:p>
        </p:txBody>
      </p:sp>
      <p:sp>
        <p:nvSpPr>
          <p:cNvPr id="15" name="TextBox 14"/>
          <p:cNvSpPr txBox="1"/>
          <p:nvPr/>
        </p:nvSpPr>
        <p:spPr>
          <a:xfrm>
            <a:off x="2670048" y="2846832"/>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Copies settings and internal connections.</a:t>
            </a:r>
          </a:p>
        </p:txBody>
      </p:sp>
      <p:sp>
        <p:nvSpPr>
          <p:cNvPr id="16" name="Rounded Rectangle 15"/>
          <p:cNvSpPr/>
          <p:nvPr/>
        </p:nvSpPr>
        <p:spPr>
          <a:xfrm>
            <a:off x="566928" y="3499103"/>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372465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553967"/>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Zoom</a:t>
            </a:r>
          </a:p>
        </p:txBody>
      </p:sp>
      <p:sp>
        <p:nvSpPr>
          <p:cNvPr id="19" name="TextBox 18"/>
          <p:cNvSpPr txBox="1"/>
          <p:nvPr/>
        </p:nvSpPr>
        <p:spPr>
          <a:xfrm>
            <a:off x="2670048" y="3553967"/>
            <a:ext cx="2971800"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25 to 200 percent, and Fit.</a:t>
            </a:r>
          </a:p>
        </p:txBody>
      </p:sp>
      <p:sp>
        <p:nvSpPr>
          <p:cNvPr id="20" name="Rounded Rectangle 19"/>
          <p:cNvSpPr/>
          <p:nvPr/>
        </p:nvSpPr>
        <p:spPr>
          <a:xfrm>
            <a:off x="566928" y="4206240"/>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431791"/>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261103"/>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Agent search</a:t>
            </a:r>
          </a:p>
        </p:txBody>
      </p:sp>
      <p:sp>
        <p:nvSpPr>
          <p:cNvPr id="23" name="TextBox 22"/>
          <p:cNvSpPr txBox="1"/>
          <p:nvPr/>
        </p:nvSpPr>
        <p:spPr>
          <a:xfrm>
            <a:off x="2670048" y="4261103"/>
            <a:ext cx="2971800"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Filters the 86 agent types by name.</a:t>
            </a:r>
          </a:p>
        </p:txBody>
      </p:sp>
      <p:sp>
        <p:nvSpPr>
          <p:cNvPr id="24" name="Rounded Rectangle 23"/>
          <p:cNvSpPr/>
          <p:nvPr/>
        </p:nvSpPr>
        <p:spPr>
          <a:xfrm>
            <a:off x="566928" y="4913376"/>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138927"/>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4968239"/>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Starters</a:t>
            </a:r>
          </a:p>
        </p:txBody>
      </p:sp>
      <p:sp>
        <p:nvSpPr>
          <p:cNvPr id="27" name="TextBox 26"/>
          <p:cNvSpPr txBox="1"/>
          <p:nvPr/>
        </p:nvSpPr>
        <p:spPr>
          <a:xfrm>
            <a:off x="2670048" y="4968239"/>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Locates each Starter on a large canvas.</a:t>
            </a:r>
          </a:p>
        </p:txBody>
      </p:sp>
      <p:sp>
        <p:nvSpPr>
          <p:cNvPr id="28" name="Rounded Rectangle 27"/>
          <p:cNvSpPr/>
          <p:nvPr/>
        </p:nvSpPr>
        <p:spPr>
          <a:xfrm>
            <a:off x="566928" y="5620512"/>
            <a:ext cx="5212080"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iamond 28"/>
          <p:cNvSpPr/>
          <p:nvPr/>
        </p:nvSpPr>
        <p:spPr>
          <a:xfrm>
            <a:off x="768096" y="5846063"/>
            <a:ext cx="128016" cy="128016"/>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675375"/>
            <a:ext cx="155448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Help</a:t>
            </a:r>
          </a:p>
        </p:txBody>
      </p:sp>
      <p:sp>
        <p:nvSpPr>
          <p:cNvPr id="31" name="TextBox 30"/>
          <p:cNvSpPr txBox="1"/>
          <p:nvPr/>
        </p:nvSpPr>
        <p:spPr>
          <a:xfrm>
            <a:off x="2670048" y="5675375"/>
            <a:ext cx="2971800" cy="469392"/>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Explains every gesture; • marks unsaved changes.</a:t>
            </a:r>
          </a:p>
        </p:txBody>
      </p:sp>
      <p:sp>
        <p:nvSpPr>
          <p:cNvPr id="32" name="Rounded Rectangle 31"/>
          <p:cNvSpPr/>
          <p:nvPr/>
        </p:nvSpPr>
        <p:spPr>
          <a:xfrm>
            <a:off x="6144768" y="2084831"/>
            <a:ext cx="5479999" cy="4114800"/>
          </a:xfrm>
          <a:prstGeom prst="roundRect">
            <a:avLst>
              <a:gd name="adj" fmla="val 266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19088" y="2313432"/>
            <a:ext cx="4931359" cy="3657600"/>
          </a:xfrm>
          <a:prstGeom prst="rect">
            <a:avLst/>
          </a:prstGeom>
          <a:noFill/>
        </p:spPr>
        <p:txBody>
          <a:bodyPr wrap="square" lIns="45720" rIns="45720" tIns="27432" bIns="27432" anchor="t">
            <a:noAutofit/>
          </a:bodyPr>
          <a:lstStyle/>
          <a:p>
            <a:pPr algn="l">
              <a:lnSpc>
                <a:spcPct val="100000"/>
              </a:lnSpc>
            </a:pPr>
            <a:r>
              <a:rPr sz="1350" b="0" i="0">
                <a:solidFill>
                  <a:srgbClr val="ECE7DC"/>
                </a:solidFill>
                <a:latin typeface="Segoe UI"/>
              </a:rPr>
              <a:t>Agents run as separate, log-emitting processes that talk through their </a:t>
            </a:r>
            <a:r>
              <a:rPr sz="1250" b="0" i="0">
                <a:solidFill>
                  <a:srgbClr val="E2B462"/>
                </a:solidFill>
                <a:latin typeface="Consolas"/>
              </a:rPr>
              <a:t>config.yaml</a:t>
            </a:r>
            <a:r>
              <a:rPr sz="1350" b="0" i="0">
                <a:solidFill>
                  <a:srgbClr val="ECE7DC"/>
                </a:solidFill>
                <a:latin typeface="Segoe UI"/>
              </a:rPr>
              <a:t> files, with a live LED for each. Flows can be paused, resumed and stopped, and saved or loaded as </a:t>
            </a:r>
            <a:r>
              <a:rPr sz="1250" b="0" i="0">
                <a:solidFill>
                  <a:srgbClr val="E2B462"/>
                </a:solidFill>
                <a:latin typeface="Consolas"/>
              </a:rPr>
              <a:t>.flw</a:t>
            </a:r>
            <a:r>
              <a:rPr sz="1350" b="0" i="0">
                <a:solidFill>
                  <a:srgbClr val="ECE7DC"/>
                </a:solidFill>
                <a:latin typeface="Segoe UI"/>
              </a:rPr>
              <a:t> files. FlowCreator can design a flow from a sentence, and FlowHypervisor watches a running flow and raises an alert when something looks wrong.</a:t>
            </a:r>
          </a:p>
          <a:p>
            <a:pPr algn="l">
              <a:lnSpc>
                <a:spcPct val="100000"/>
              </a:lnSpc>
              <a:spcBef>
                <a:spcPts val="1000"/>
              </a:spcBef>
            </a:pPr>
            <a:r>
              <a:rPr sz="1350" b="0" i="0">
                <a:solidFill>
                  <a:srgbClr val="ECE7DC"/>
                </a:solidFill>
                <a:latin typeface="Segoe UI"/>
              </a:rPr>
              <a:t>Since v1.70.0 the canvas is a real editor. Duplicate copies agents together with their saved settings and the connections between them; Undo also restores an agent's configuration. Editing locks while a flow runs, so a flow is never changed underneath its own processes.</a:t>
            </a:r>
          </a:p>
        </p:txBody>
      </p:sp>
      <p:cxnSp>
        <p:nvCxnSpPr>
          <p:cNvPr id="34" name="Connector 3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6" name="TextBox 3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PROMPT FLOW PANEL</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Draw a conversation, then press Play</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Prompt Flow Panel turns a chain of prompts into a diagram of eight executable operations plus static review notes, saved as a portable </a:t>
            </a:r>
            <a:r>
              <a:rPr sz="1350" b="0" i="0">
                <a:solidFill>
                  <a:srgbClr val="E2B462"/>
                </a:solidFill>
                <a:latin typeface="Consolas"/>
              </a:rPr>
              <a:t>.fpmt</a:t>
            </a:r>
            <a:r>
              <a:rPr sz="1450" b="0" i="0">
                <a:solidFill>
                  <a:srgbClr val="A7B2B0"/>
                </a:solidFill>
                <a:latin typeface="Segoe UI Semilight"/>
              </a:rPr>
              <a:t> file and played against your configured models.</a:t>
            </a:r>
          </a:p>
        </p:txBody>
      </p:sp>
      <p:sp>
        <p:nvSpPr>
          <p:cNvPr id="8" name="Rounded Rectangle 7"/>
          <p:cNvSpPr/>
          <p:nvPr/>
        </p:nvSpPr>
        <p:spPr>
          <a:xfrm>
            <a:off x="566928"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749808" y="2267712"/>
            <a:ext cx="868680" cy="548640"/>
          </a:xfrm>
          <a:prstGeom prst="roundRect">
            <a:avLst>
              <a:gd name="adj" fmla="val 13333"/>
            </a:avLst>
          </a:prstGeom>
          <a:solidFill>
            <a:srgbClr val="3BBE93">
              <a:alpha val="25000"/>
            </a:srgbClr>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755648" y="2231136"/>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Prompt</a:t>
            </a:r>
          </a:p>
        </p:txBody>
      </p:sp>
      <p:sp>
        <p:nvSpPr>
          <p:cNvPr id="11" name="TextBox 10"/>
          <p:cNvSpPr txBox="1"/>
          <p:nvPr/>
        </p:nvSpPr>
        <p:spPr>
          <a:xfrm>
            <a:off x="749808" y="2953511"/>
            <a:ext cx="3173882" cy="246887"/>
          </a:xfrm>
          <a:prstGeom prst="rect">
            <a:avLst/>
          </a:prstGeom>
          <a:noFill/>
        </p:spPr>
        <p:txBody>
          <a:bodyPr wrap="square" lIns="45720" rIns="45720" tIns="27432" bIns="27432" anchor="t">
            <a:noAutofit/>
          </a:bodyPr>
          <a:lstStyle/>
          <a:p>
            <a:pPr algn="l">
              <a:lnSpc>
                <a:spcPct val="100000"/>
              </a:lnSpc>
            </a:pPr>
            <a:r>
              <a:rPr sz="750" b="0" i="0">
                <a:solidFill>
                  <a:srgbClr val="A7B2B0"/>
                </a:solidFill>
                <a:latin typeface="Segoe UI"/>
              </a:rPr>
              <a:t>Sends its text to the model; Multi-Turn and ACPX can be enabled.</a:t>
            </a:r>
          </a:p>
        </p:txBody>
      </p:sp>
      <p:sp>
        <p:nvSpPr>
          <p:cNvPr id="12" name="Rounded Rectangle 11"/>
          <p:cNvSpPr/>
          <p:nvPr/>
        </p:nvSpPr>
        <p:spPr>
          <a:xfrm>
            <a:off x="4326026"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508906" y="2267712"/>
            <a:ext cx="868680" cy="548640"/>
          </a:xfrm>
          <a:prstGeom prst="roundRect">
            <a:avLst>
              <a:gd name="adj" fmla="val 13333"/>
            </a:avLst>
          </a:prstGeom>
          <a:solidFill>
            <a:srgbClr val="3BBE93">
              <a:alpha val="25000"/>
            </a:srgbClr>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103266" y="2322576"/>
            <a:ext cx="219456" cy="219456"/>
          </a:xfrm>
          <a:prstGeom prst="ellipse">
            <a:avLst/>
          </a:prstGeom>
          <a:solidFill>
            <a:srgbClr val="121A1D"/>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514746" y="2231136"/>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Programmed Prompt</a:t>
            </a:r>
          </a:p>
        </p:txBody>
      </p:sp>
      <p:sp>
        <p:nvSpPr>
          <p:cNvPr id="16" name="TextBox 15"/>
          <p:cNvSpPr txBox="1"/>
          <p:nvPr/>
        </p:nvSpPr>
        <p:spPr>
          <a:xfrm>
            <a:off x="4508906" y="2953511"/>
            <a:ext cx="3173882" cy="246887"/>
          </a:xfrm>
          <a:prstGeom prst="rect">
            <a:avLst/>
          </a:prstGeom>
          <a:noFill/>
        </p:spPr>
        <p:txBody>
          <a:bodyPr wrap="square" lIns="45720" rIns="45720" tIns="27432" bIns="27432" anchor="t">
            <a:noAutofit/>
          </a:bodyPr>
          <a:lstStyle/>
          <a:p>
            <a:pPr algn="l">
              <a:lnSpc>
                <a:spcPct val="100000"/>
              </a:lnSpc>
            </a:pPr>
            <a:r>
              <a:rPr sz="1050" b="0" i="0">
                <a:solidFill>
                  <a:srgbClr val="A7B2B0"/>
                </a:solidFill>
                <a:latin typeface="Segoe UI"/>
              </a:rPr>
              <a:t>Waits for a scheduled time or a delay, then sends.</a:t>
            </a:r>
          </a:p>
        </p:txBody>
      </p:sp>
      <p:sp>
        <p:nvSpPr>
          <p:cNvPr id="17" name="Rounded Rectangle 16"/>
          <p:cNvSpPr/>
          <p:nvPr/>
        </p:nvSpPr>
        <p:spPr>
          <a:xfrm>
            <a:off x="8085124"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Diamond 17"/>
          <p:cNvSpPr/>
          <p:nvPr/>
        </p:nvSpPr>
        <p:spPr>
          <a:xfrm>
            <a:off x="8268004" y="2267712"/>
            <a:ext cx="868680" cy="548640"/>
          </a:xfrm>
          <a:prstGeom prst="diamond">
            <a:avLst/>
          </a:prstGeom>
          <a:solidFill>
            <a:srgbClr val="E2B462">
              <a:alpha val="25000"/>
            </a:srgbClr>
          </a:solidFill>
          <a:ln w="9525">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273844" y="2231136"/>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Decision</a:t>
            </a:r>
          </a:p>
        </p:txBody>
      </p:sp>
      <p:sp>
        <p:nvSpPr>
          <p:cNvPr id="20" name="TextBox 19"/>
          <p:cNvSpPr txBox="1"/>
          <p:nvPr/>
        </p:nvSpPr>
        <p:spPr>
          <a:xfrm>
            <a:off x="8268004" y="2953511"/>
            <a:ext cx="3173882" cy="246887"/>
          </a:xfrm>
          <a:prstGeom prst="rect">
            <a:avLst/>
          </a:prstGeom>
          <a:noFill/>
        </p:spPr>
        <p:txBody>
          <a:bodyPr wrap="square" lIns="45720" rIns="45720" tIns="27432" bIns="27432" anchor="t">
            <a:noAutofit/>
          </a:bodyPr>
          <a:lstStyle/>
          <a:p>
            <a:pPr algn="l">
              <a:lnSpc>
                <a:spcPct val="100000"/>
              </a:lnSpc>
            </a:pPr>
            <a:r>
              <a:rPr sz="1050" b="0" i="0">
                <a:solidFill>
                  <a:srgbClr val="A7B2B0"/>
                </a:solidFill>
                <a:latin typeface="Segoe UI"/>
              </a:rPr>
              <a:t>Takes Yes or No from the last answer, or asks you.</a:t>
            </a:r>
          </a:p>
        </p:txBody>
      </p:sp>
      <p:sp>
        <p:nvSpPr>
          <p:cNvPr id="21" name="Rounded Rectangle 20"/>
          <p:cNvSpPr/>
          <p:nvPr/>
        </p:nvSpPr>
        <p:spPr>
          <a:xfrm>
            <a:off x="566928"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Isosceles Triangle 21"/>
          <p:cNvSpPr/>
          <p:nvPr/>
        </p:nvSpPr>
        <p:spPr>
          <a:xfrm>
            <a:off x="749808" y="3712463"/>
            <a:ext cx="868680" cy="548640"/>
          </a:xfrm>
          <a:prstGeom prst="triangle">
            <a:avLst/>
          </a:prstGeom>
          <a:solidFill>
            <a:srgbClr val="46D2E2">
              <a:alpha val="25000"/>
            </a:srgbClr>
          </a:solidFill>
          <a:ln w="9525">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1755648" y="3675887"/>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Feed embeddings</a:t>
            </a:r>
          </a:p>
        </p:txBody>
      </p:sp>
      <p:sp>
        <p:nvSpPr>
          <p:cNvPr id="24" name="TextBox 23"/>
          <p:cNvSpPr txBox="1"/>
          <p:nvPr/>
        </p:nvSpPr>
        <p:spPr>
          <a:xfrm>
            <a:off x="749808" y="4398264"/>
            <a:ext cx="3173882" cy="246887"/>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Adds reference text to this run's retrieval context.</a:t>
            </a:r>
          </a:p>
        </p:txBody>
      </p:sp>
      <p:sp>
        <p:nvSpPr>
          <p:cNvPr id="25" name="Rounded Rectangle 24"/>
          <p:cNvSpPr/>
          <p:nvPr/>
        </p:nvSpPr>
        <p:spPr>
          <a:xfrm>
            <a:off x="4326026"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Merge 25"/>
          <p:cNvSpPr/>
          <p:nvPr/>
        </p:nvSpPr>
        <p:spPr>
          <a:xfrm>
            <a:off x="4508906" y="3712463"/>
            <a:ext cx="868680" cy="548640"/>
          </a:xfrm>
          <a:prstGeom prst="flowChartMerge">
            <a:avLst/>
          </a:prstGeom>
          <a:solidFill>
            <a:srgbClr val="46D2E2">
              <a:alpha val="25000"/>
            </a:srgbClr>
          </a:solidFill>
          <a:ln w="9525">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5514746" y="3675887"/>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Flush embeddings</a:t>
            </a:r>
          </a:p>
        </p:txBody>
      </p:sp>
      <p:sp>
        <p:nvSpPr>
          <p:cNvPr id="28" name="TextBox 27"/>
          <p:cNvSpPr txBox="1"/>
          <p:nvPr/>
        </p:nvSpPr>
        <p:spPr>
          <a:xfrm>
            <a:off x="4508906" y="4398264"/>
            <a:ext cx="3173882" cy="246887"/>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Clears the run's retrieval context.</a:t>
            </a:r>
          </a:p>
        </p:txBody>
      </p:sp>
      <p:sp>
        <p:nvSpPr>
          <p:cNvPr id="29" name="Rounded Rectangle 28"/>
          <p:cNvSpPr/>
          <p:nvPr/>
        </p:nvSpPr>
        <p:spPr>
          <a:xfrm>
            <a:off x="8085124"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rapezoid 29"/>
          <p:cNvSpPr/>
          <p:nvPr/>
        </p:nvSpPr>
        <p:spPr>
          <a:xfrm>
            <a:off x="8268004" y="3712463"/>
            <a:ext cx="868680" cy="548640"/>
          </a:xfrm>
          <a:prstGeom prst="trapezoid">
            <a:avLst/>
          </a:prstGeom>
          <a:solidFill>
            <a:srgbClr val="C98457">
              <a:alpha val="25000"/>
            </a:srgbClr>
          </a:solidFill>
          <a:ln w="9525">
            <a:solidFill>
              <a:srgbClr val="C984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273844" y="3675887"/>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Clean History</a:t>
            </a:r>
          </a:p>
        </p:txBody>
      </p:sp>
      <p:sp>
        <p:nvSpPr>
          <p:cNvPr id="32" name="TextBox 31"/>
          <p:cNvSpPr txBox="1"/>
          <p:nvPr/>
        </p:nvSpPr>
        <p:spPr>
          <a:xfrm>
            <a:off x="8268004" y="4398264"/>
            <a:ext cx="3173882" cy="246887"/>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Clears the run's conversation and last output.</a:t>
            </a:r>
          </a:p>
        </p:txBody>
      </p:sp>
      <p:sp>
        <p:nvSpPr>
          <p:cNvPr id="33" name="Rounded Rectangle 32"/>
          <p:cNvSpPr/>
          <p:nvPr/>
        </p:nvSpPr>
        <p:spPr>
          <a:xfrm>
            <a:off x="566928"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Freeform 33"/>
          <p:cNvSpPr/>
          <p:nvPr/>
        </p:nvSpPr>
        <p:spPr>
          <a:xfrm>
            <a:off x="964692" y="5157216"/>
            <a:ext cx="438912" cy="548639"/>
          </a:xfrm>
          <a:custGeom>
            <a:avLst/>
            <a:gdLst/>
            <a:ahLst/>
            <a:cxnLst/>
            <a:rect l="l" t="t" r="r" b="b"/>
            <a:pathLst>
              <a:path w="438912" h="548639">
                <a:moveTo>
                  <a:pt x="0" y="0"/>
                </a:moveTo>
                <a:lnTo>
                  <a:pt x="219456" y="155265"/>
                </a:lnTo>
                <a:lnTo>
                  <a:pt x="438912" y="0"/>
                </a:lnTo>
                <a:lnTo>
                  <a:pt x="438912" y="384048"/>
                </a:lnTo>
                <a:lnTo>
                  <a:pt x="219456" y="548639"/>
                </a:lnTo>
                <a:lnTo>
                  <a:pt x="0" y="384048"/>
                </a:lnTo>
                <a:close/>
              </a:path>
            </a:pathLst>
          </a:custGeom>
          <a:solidFill>
            <a:srgbClr val="D25CD6">
              <a:alpha val="25000"/>
            </a:srgbClr>
          </a:solidFill>
          <a:ln w="9525">
            <a:solidFill>
              <a:srgbClr val="D25CD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755648" y="5120640"/>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User Input</a:t>
            </a:r>
          </a:p>
        </p:txBody>
      </p:sp>
      <p:sp>
        <p:nvSpPr>
          <p:cNvPr id="36" name="TextBox 35"/>
          <p:cNvSpPr txBox="1"/>
          <p:nvPr/>
        </p:nvSpPr>
        <p:spPr>
          <a:xfrm>
            <a:off x="749808" y="5843016"/>
            <a:ext cx="3173882" cy="246887"/>
          </a:xfrm>
          <a:prstGeom prst="rect">
            <a:avLst/>
          </a:prstGeom>
          <a:noFill/>
        </p:spPr>
        <p:txBody>
          <a:bodyPr wrap="square" lIns="45720" rIns="45720" tIns="27432" bIns="27432" anchor="t">
            <a:noAutofit/>
          </a:bodyPr>
          <a:lstStyle/>
          <a:p>
            <a:pPr algn="l">
              <a:lnSpc>
                <a:spcPct val="100000"/>
              </a:lnSpc>
            </a:pPr>
            <a:r>
              <a:rPr sz="1000" b="0" i="0">
                <a:solidFill>
                  <a:srgbClr val="A7B2B0"/>
                </a:solidFill>
                <a:latin typeface="Segoe UI"/>
              </a:rPr>
              <a:t>Stops to ask you something; your reply joins the run.</a:t>
            </a:r>
          </a:p>
        </p:txBody>
      </p:sp>
      <p:sp>
        <p:nvSpPr>
          <p:cNvPr id="37" name="Rounded Rectangle 36"/>
          <p:cNvSpPr/>
          <p:nvPr/>
        </p:nvSpPr>
        <p:spPr>
          <a:xfrm>
            <a:off x="4326026"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Parallelogram 37"/>
          <p:cNvSpPr/>
          <p:nvPr/>
        </p:nvSpPr>
        <p:spPr>
          <a:xfrm>
            <a:off x="4508906" y="5157216"/>
            <a:ext cx="868680" cy="548640"/>
          </a:xfrm>
          <a:prstGeom prst="parallelogram">
            <a:avLst/>
          </a:prstGeom>
          <a:solidFill>
            <a:srgbClr val="46D2E2">
              <a:alpha val="25000"/>
            </a:srgbClr>
          </a:solidFill>
          <a:ln w="9525">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5514746" y="5120640"/>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Terminater</a:t>
            </a:r>
          </a:p>
        </p:txBody>
      </p:sp>
      <p:sp>
        <p:nvSpPr>
          <p:cNvPr id="40" name="TextBox 39"/>
          <p:cNvSpPr txBox="1"/>
          <p:nvPr/>
        </p:nvSpPr>
        <p:spPr>
          <a:xfrm>
            <a:off x="4508906" y="5843016"/>
            <a:ext cx="3173882" cy="246887"/>
          </a:xfrm>
          <a:prstGeom prst="rect">
            <a:avLst/>
          </a:prstGeom>
          <a:noFill/>
        </p:spPr>
        <p:txBody>
          <a:bodyPr wrap="square" lIns="45720" rIns="45720" tIns="27432" bIns="27432" anchor="t">
            <a:noAutofit/>
          </a:bodyPr>
          <a:lstStyle/>
          <a:p>
            <a:pPr algn="l">
              <a:lnSpc>
                <a:spcPct val="100000"/>
              </a:lnSpc>
            </a:pPr>
            <a:r>
              <a:rPr sz="800" b="0" i="0">
                <a:solidFill>
                  <a:srgbClr val="A7B2B0"/>
                </a:solidFill>
                <a:latin typeface="Segoe UI"/>
              </a:rPr>
              <a:t>Types commands in a real visible terminal and reads their results.</a:t>
            </a:r>
          </a:p>
        </p:txBody>
      </p:sp>
      <p:sp>
        <p:nvSpPr>
          <p:cNvPr id="41" name="Rounded Rectangle 40"/>
          <p:cNvSpPr/>
          <p:nvPr/>
        </p:nvSpPr>
        <p:spPr>
          <a:xfrm>
            <a:off x="8085124"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Rounded Rectangular Callout 41"/>
          <p:cNvSpPr/>
          <p:nvPr/>
        </p:nvSpPr>
        <p:spPr>
          <a:xfrm>
            <a:off x="8268004" y="5157216"/>
            <a:ext cx="868680" cy="548640"/>
          </a:xfrm>
          <a:prstGeom prst="wedgeRoundRectCallout">
            <a:avLst/>
          </a:prstGeom>
          <a:solidFill>
            <a:srgbClr val="D9576B">
              <a:alpha val="25000"/>
            </a:srgbClr>
          </a:solidFill>
          <a:ln w="9525">
            <a:solidFill>
              <a:srgbClr val="D957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273844" y="5120640"/>
            <a:ext cx="2241194" cy="6217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User Commentary</a:t>
            </a:r>
          </a:p>
        </p:txBody>
      </p:sp>
      <p:sp>
        <p:nvSpPr>
          <p:cNvPr id="44" name="TextBox 43"/>
          <p:cNvSpPr txBox="1"/>
          <p:nvPr/>
        </p:nvSpPr>
        <p:spPr>
          <a:xfrm>
            <a:off x="8268004" y="5843016"/>
            <a:ext cx="3173882" cy="246887"/>
          </a:xfrm>
          <a:prstGeom prst="rect">
            <a:avLst/>
          </a:prstGeom>
          <a:noFill/>
        </p:spPr>
        <p:txBody>
          <a:bodyPr wrap="square" lIns="45720" rIns="45720" tIns="27432" bIns="27432" anchor="t">
            <a:noAutofit/>
          </a:bodyPr>
          <a:lstStyle/>
          <a:p>
            <a:pPr algn="l">
              <a:lnSpc>
                <a:spcPct val="100000"/>
              </a:lnSpc>
            </a:pPr>
            <a:r>
              <a:rPr sz="950" b="0" i="0">
                <a:solidFill>
                  <a:srgbClr val="A7B2B0"/>
                </a:solidFill>
                <a:latin typeface="Segoe UI"/>
              </a:rPr>
              <a:t>A static speech-bubble note for reviewers; it never runs.</a:t>
            </a:r>
          </a:p>
        </p:txBody>
      </p:sp>
      <p:cxnSp>
        <p:nvCxnSpPr>
          <p:cNvPr id="45" name="Connector 44"/>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47" name="TextBox 46"/>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PROMPT FLOW PANEL</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Playback that stays in its own lane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Validate checks the diagram, Play runs it, and every run keeps its own conversation, embeddings and cancellation identity, so it never disturbs your chat.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Format</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JSON </a:t>
            </a:r>
            <a:r>
              <a:rPr sz="1200" b="0" i="0">
                <a:solidFill>
                  <a:srgbClr val="E2B462"/>
                </a:solidFill>
                <a:latin typeface="Consolas"/>
              </a:rPr>
              <a:t>tlamatini-prompting-flow</a:t>
            </a:r>
            <a:r>
              <a:rPr sz="1300" b="0" i="0">
                <a:solidFill>
                  <a:srgbClr val="A7B2B0"/>
                </a:solidFill>
                <a:latin typeface="Segoe UI"/>
              </a:rPr>
              <a:t>, version 2; version 1 files migrate.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Limits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5 MiB, 500 assets, 1,000 connections.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Isolation</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Empty history and embeddings at every start.</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Validation</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Checked in the browser and again on the server.</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Not .pmt</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Plain-text system prompts keep .pmt and are refused.</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Drafts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Kept per user in browser storage.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STATIC REVIEW NOTES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Writing and formatting a commentary</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User Commentary is a review note on the canvas. User Input is the operation that pauses playback for a reply, using the notched figure.</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Write in place</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Double-click or Enter edits the bubble. No configuration dialog or numeric dimensions.</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Mixed styles</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Floating toolbar: font, size, text color, bold, italic and underline for each passage.</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Selection or caret</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Format selected text or subsequent typing; outside editing, format the whole note.</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Direct sizing</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Drag any edge/corner, even while writing. Fit text removes spare height. No internal scrollbars.</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Finish or restore</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Done/Ctrl+Enter saves; Cancel/Escape restores text, styles and geometry. Editor and flow Undo/Redo.</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PORTABLE FLOW FILES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Comments survive save, open and draft recovery</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Version 2 .fpmt files retain independent notes with their full text, formatting and geometry.</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Version 2</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Literal text and allowlisted runs preserve mixed formatting.</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Older files</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Plain v2 notes normalize. Version 1 reply steps become User Input with IDs, edges and settings intact.</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Static isolation</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No ports, Start or execution steps. Text stays literal and never enters context or history.</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Recovery</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Independent notes retain text, styles and geometry. Opening never plays the flow; draft key stays compatible.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OPENING FLOW FILES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right editor, from chat or Windows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shipped file associations open .flw agent flows and .fpmt prompting flows. Opening never runs them.</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From chat</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Open either flow in its editor and keep the chat document.</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From Windows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Start once or reuse the running app; return through login.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Preserve work</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Validate before replacement; confirm unsaved changes.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 automatic run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Opening prepares the diagram. Play remains a user action.</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WINDOWS FILE TYPES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Register, repair and remove both formats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Per-user associations, installation ownership and Windows default-app choices.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Install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Register both types with names, icons and the correct editor destinations.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Administer</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Inspect Status, register or remove one type, or open Default Apps.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Update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Repair owned entries without undoing the user's opt-out.</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Uninstall</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Remove owned registrations; keep other apps and user documents.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WINDOWS LIFECYCLE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Remove the application and its owned workers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Confirmation, installation ownership, retryable errors and preserved user content.</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Installer entry points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Resolve the installation directory inside PowerShell script bodies.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Owned workers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Stop this installation's agents and surviving descendants after confirmation.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Honest retry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Retain removal support until success; report locked files and registry errors.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Preserve user work</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Keep agents and nonempty content; notify the shell without restarting Explorer.</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SETUP WINDOWS · v1.82.0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Install and remove with a way back</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Installer and Uninstaller share one window that prepares a recovery copy before changing anything.</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One window</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Shared Installer and Uninstaller screens that never clip their buttons.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Recovery copy</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Prepared and verified before any file changes; restored after an interruption.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Named locks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locked file and its holder are named; nothing is force-closed.</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Own scope</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Only Tlamatini's registry values and shortcut; never UserChoice.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Bounded helpers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PowerShell helpers end within 120 seconds inside a Windows job.</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Honest tally</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Five installations and four removals passed; one stopped safely.</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LOCAL RELEASE VALIDATION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Repair the boundary, then repeat the real operation</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October 4 repairs, now carried by v1.76.0, have separate source, frozen, package and visual evidence.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Real user paths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Installer, login, Admin, chat, both panels and Windows file opening.</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File fidelity</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Mixed styles, geometry and rendered text checked across save/open cycles.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Runtime boundaries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Configured MCP endpoints, agent defaults, mappings and identifier types.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Explicit limits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Provider failure and blocked native launch remain visible in the verdict.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RUN OUTPUT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More room for the canvas or the log</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Drag the horizontal divider above Run output to give it 5% to 95% of the available pane height.</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5% to 95%</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Share of canvas/output height, excluding headers, status and divider. Initial share: 20%.</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Stable content</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Independent scrolling. Canvas zoom and text sizes stay unchanged.</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Keyboard</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Up/Down: 1 point; Shift: 5. Home: 5%; End: 95%. Escape ends the drag.</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Remembered layout</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Collapse/reopen and window resizing retain the ratio. Saved per user, outside flow files and Undo/Redo.</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CATALOG OF PROMPTS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Ready-made prompts, grouped by purpose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Catalog of Prompts opens with 16 sections, each beginning with a guided Step-by-Step wizard and growing from simple to advanced.</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Sections</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16, beginning with VOICE COMMANDS.</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Openers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Every section starts with a guided Step-by-Step wizard.</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Badges</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Derived from the prompt text; a click sets the modes.</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Grammar</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 you ]], {{ runtime }}, &lt; report slot &gt;.</a:t>
            </a:r>
          </a:p>
        </p:txBody>
      </p:sp>
      <p:sp>
        <p:nvSpPr>
          <p:cNvPr id="24" name="Rounded Rectangle 23"/>
          <p:cNvSpPr/>
          <p:nvPr/>
        </p:nvSpPr>
        <p:spPr>
          <a:xfrm>
            <a:off x="6144768" y="2084831"/>
            <a:ext cx="5479999" cy="1554479"/>
          </a:xfrm>
          <a:prstGeom prst="roundRect">
            <a:avLst>
              <a:gd name="adj" fmla="val 470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2121408"/>
            <a:ext cx="8400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MARK</a:t>
            </a:r>
          </a:p>
        </p:txBody>
      </p:sp>
      <p:sp>
        <p:nvSpPr>
          <p:cNvPr id="27" name="TextBox 26"/>
          <p:cNvSpPr txBox="1"/>
          <p:nvPr/>
        </p:nvSpPr>
        <p:spPr>
          <a:xfrm>
            <a:off x="7204319" y="2121408"/>
            <a:ext cx="10592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FILLED BY</a:t>
            </a:r>
          </a:p>
        </p:txBody>
      </p:sp>
      <p:sp>
        <p:nvSpPr>
          <p:cNvPr id="28" name="TextBox 27"/>
          <p:cNvSpPr txBox="1"/>
          <p:nvPr/>
        </p:nvSpPr>
        <p:spPr>
          <a:xfrm>
            <a:off x="8409919" y="2121408"/>
            <a:ext cx="31416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MEANING</a:t>
            </a:r>
          </a:p>
        </p:txBody>
      </p:sp>
      <p:sp>
        <p:nvSpPr>
          <p:cNvPr id="29" name="TextBox 28"/>
          <p:cNvSpPr txBox="1"/>
          <p:nvPr/>
        </p:nvSpPr>
        <p:spPr>
          <a:xfrm>
            <a:off x="6217920" y="2505456"/>
            <a:ext cx="840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 … ]]</a:t>
            </a:r>
          </a:p>
        </p:txBody>
      </p:sp>
      <p:sp>
        <p:nvSpPr>
          <p:cNvPr id="30" name="TextBox 29"/>
          <p:cNvSpPr txBox="1"/>
          <p:nvPr/>
        </p:nvSpPr>
        <p:spPr>
          <a:xfrm>
            <a:off x="7204319" y="2505456"/>
            <a:ext cx="105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You</a:t>
            </a:r>
          </a:p>
        </p:txBody>
      </p:sp>
      <p:sp>
        <p:nvSpPr>
          <p:cNvPr id="31" name="TextBox 30"/>
          <p:cNvSpPr txBox="1"/>
          <p:nvPr/>
        </p:nvSpPr>
        <p:spPr>
          <a:xfrm>
            <a:off x="8409919" y="2505456"/>
            <a:ext cx="31416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A value you provide, collected at the top with a safe default.</a:t>
            </a:r>
          </a:p>
        </p:txBody>
      </p:sp>
      <p:sp>
        <p:nvSpPr>
          <p:cNvPr id="32" name="Rectangle 31"/>
          <p:cNvSpPr/>
          <p:nvPr/>
        </p:nvSpPr>
        <p:spPr>
          <a:xfrm>
            <a:off x="6163056" y="2980944"/>
            <a:ext cx="5443423" cy="32918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0" y="3017520"/>
            <a:ext cx="8400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 … }}</a:t>
            </a:r>
          </a:p>
        </p:txBody>
      </p:sp>
      <p:sp>
        <p:nvSpPr>
          <p:cNvPr id="34" name="TextBox 33"/>
          <p:cNvSpPr txBox="1"/>
          <p:nvPr/>
        </p:nvSpPr>
        <p:spPr>
          <a:xfrm>
            <a:off x="7204319" y="3017520"/>
            <a:ext cx="10592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Tlamatini</a:t>
            </a:r>
          </a:p>
        </p:txBody>
      </p:sp>
      <p:sp>
        <p:nvSpPr>
          <p:cNvPr id="35" name="TextBox 34"/>
          <p:cNvSpPr txBox="1"/>
          <p:nvPr/>
        </p:nvSpPr>
        <p:spPr>
          <a:xfrm>
            <a:off x="8409919" y="3017520"/>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A value she fills at run time.</a:t>
            </a:r>
          </a:p>
        </p:txBody>
      </p:sp>
      <p:sp>
        <p:nvSpPr>
          <p:cNvPr id="36" name="TextBox 35"/>
          <p:cNvSpPr txBox="1"/>
          <p:nvPr/>
        </p:nvSpPr>
        <p:spPr>
          <a:xfrm>
            <a:off x="6217920" y="3346703"/>
            <a:ext cx="8400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&lt; … &gt;</a:t>
            </a:r>
          </a:p>
        </p:txBody>
      </p:sp>
      <p:sp>
        <p:nvSpPr>
          <p:cNvPr id="37" name="TextBox 36"/>
          <p:cNvSpPr txBox="1"/>
          <p:nvPr/>
        </p:nvSpPr>
        <p:spPr>
          <a:xfrm>
            <a:off x="7204319" y="3346703"/>
            <a:ext cx="10592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Report slot</a:t>
            </a:r>
          </a:p>
        </p:txBody>
      </p:sp>
      <p:sp>
        <p:nvSpPr>
          <p:cNvPr id="38" name="TextBox 37"/>
          <p:cNvSpPr txBox="1"/>
          <p:nvPr/>
        </p:nvSpPr>
        <p:spPr>
          <a:xfrm>
            <a:off x="8409919" y="3346703"/>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Where an answer is printed; never an input.</a:t>
            </a:r>
          </a:p>
        </p:txBody>
      </p:sp>
      <p:cxnSp>
        <p:nvCxnSpPr>
          <p:cNvPr id="39" name="Connector 3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41" name="TextBox 4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PDF CANVAS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Read a PDF, then hand her the whole document</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Open a PDF beside the chat in a vendored Mozilla PDF.js viewer, then use it as context.</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Private reading</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Byte ranges from your disk; nothing uploaded, no model called.</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Viewer</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Mozilla PDF.js 6.3.289, vendored under Apache-2.0; no CDN.</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Use as context</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Text only by default; images only when you tick the box.</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Honest progress</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Four progress rows, a real Cancel, failures reported.</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Passwords</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Used in memory only; never stored or logged.</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MARKDOWN CANVAS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Markdown opens as a page, and stays your source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Open or drop a .md file and the canvas renders it; Source opens the editable document.</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Preview and Source</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Rendered page, or editable source with line numbers.</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Offline</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Vendored Marked and DOMPurify; no CDN at runtime.</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Safe HTML</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Allowlisted markup; relative links never reach the app.</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Your source</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Copy, context and Save use the current source buffer.</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Evidence</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30 of 30 visible checkpoints on October 11.</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FILE DROP · v1.83.0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Drop a file anywhere, and she knows what it is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One listener on every page reads each dropped file and sends it to the mechanism that fits it.</a:t>
            </a:r>
          </a:p>
        </p:txBody>
      </p:sp>
      <p:sp>
        <p:nvSpPr>
          <p:cNvPr id="8" name="Rounded Rectangle 7"/>
          <p:cNvSpPr/>
          <p:nvPr/>
        </p:nvSpPr>
        <p:spPr>
          <a:xfrm>
            <a:off x="566928" y="2084831"/>
            <a:ext cx="11057839" cy="2633472"/>
          </a:xfrm>
          <a:prstGeom prst="roundRect">
            <a:avLst>
              <a:gd name="adj" fmla="val 277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17104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YOU DROP</a:t>
            </a:r>
          </a:p>
        </p:txBody>
      </p:sp>
      <p:sp>
        <p:nvSpPr>
          <p:cNvPr id="11" name="TextBox 10"/>
          <p:cNvSpPr txBox="1"/>
          <p:nvPr/>
        </p:nvSpPr>
        <p:spPr>
          <a:xfrm>
            <a:off x="3957431" y="2121408"/>
            <a:ext cx="759418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WHAT HAPPENS</a:t>
            </a:r>
          </a:p>
        </p:txBody>
      </p:sp>
      <p:sp>
        <p:nvSpPr>
          <p:cNvPr id="12" name="TextBox 11"/>
          <p:cNvSpPr txBox="1"/>
          <p:nvPr/>
        </p:nvSpPr>
        <p:spPr>
          <a:xfrm>
            <a:off x="640080" y="2505456"/>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An MCP .json</a:t>
            </a:r>
          </a:p>
        </p:txBody>
      </p:sp>
      <p:sp>
        <p:nvSpPr>
          <p:cNvPr id="13" name="TextBox 12"/>
          <p:cNvSpPr txBox="1"/>
          <p:nvPr/>
        </p:nvSpPr>
        <p:spPr>
          <a:xfrm>
            <a:off x="3957431" y="2505456"/>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Confirm, then it joins the External MCP catalog; works on every page.</a:t>
            </a:r>
          </a:p>
        </p:txBody>
      </p:sp>
      <p:sp>
        <p:nvSpPr>
          <p:cNvPr id="14" name="Rectangle 13"/>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2880360"/>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 .flw flow</a:t>
            </a:r>
          </a:p>
        </p:txBody>
      </p:sp>
      <p:sp>
        <p:nvSpPr>
          <p:cNvPr id="16" name="TextBox 15"/>
          <p:cNvSpPr txBox="1"/>
          <p:nvPr/>
        </p:nvSpPr>
        <p:spPr>
          <a:xfrm>
            <a:off x="3957431" y="2880360"/>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Loads on the Agentic Control Panel canvas, or opens that panel in a new tab.</a:t>
            </a:r>
          </a:p>
        </p:txBody>
      </p:sp>
      <p:sp>
        <p:nvSpPr>
          <p:cNvPr id="17" name="TextBox 16"/>
          <p:cNvSpPr txBox="1"/>
          <p:nvPr/>
        </p:nvSpPr>
        <p:spPr>
          <a:xfrm>
            <a:off x="640080" y="3255264"/>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 .fpmt flow</a:t>
            </a:r>
          </a:p>
        </p:txBody>
      </p:sp>
      <p:sp>
        <p:nvSpPr>
          <p:cNvPr id="18" name="TextBox 17"/>
          <p:cNvSpPr txBox="1"/>
          <p:nvPr/>
        </p:nvSpPr>
        <p:spPr>
          <a:xfrm>
            <a:off x="3957431" y="3255264"/>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Loads in the Prompt Flow Panel, asking first about unsaved work, or a new tab.</a:t>
            </a:r>
          </a:p>
        </p:txBody>
      </p:sp>
      <p:sp>
        <p:nvSpPr>
          <p:cNvPr id="19" name="Rectangle 18"/>
          <p:cNvSpPr/>
          <p:nvPr/>
        </p:nvSpPr>
        <p:spPr>
          <a:xfrm>
            <a:off x="585216" y="35935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630168"/>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An image</a:t>
            </a:r>
          </a:p>
        </p:txBody>
      </p:sp>
      <p:sp>
        <p:nvSpPr>
          <p:cNvPr id="21" name="TextBox 20"/>
          <p:cNvSpPr txBox="1"/>
          <p:nvPr/>
        </p:nvSpPr>
        <p:spPr>
          <a:xfrm>
            <a:off x="3957431" y="3630168"/>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Attached to your message: saved in Temp, its path written into the message.</a:t>
            </a:r>
          </a:p>
        </p:txBody>
      </p:sp>
      <p:sp>
        <p:nvSpPr>
          <p:cNvPr id="22" name="TextBox 21"/>
          <p:cNvSpPr txBox="1"/>
          <p:nvPr/>
        </p:nvSpPr>
        <p:spPr>
          <a:xfrm>
            <a:off x="640080" y="4005072"/>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PDF, Markdown, code, plain JSON</a:t>
            </a:r>
          </a:p>
        </p:txBody>
      </p:sp>
      <p:sp>
        <p:nvSpPr>
          <p:cNvPr id="23" name="TextBox 22"/>
          <p:cNvSpPr txBox="1"/>
          <p:nvPr/>
        </p:nvSpPr>
        <p:spPr>
          <a:xfrm>
            <a:off x="3957431" y="4005072"/>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Opens in the chat canvas.</a:t>
            </a:r>
          </a:p>
        </p:txBody>
      </p:sp>
      <p:sp>
        <p:nvSpPr>
          <p:cNvPr id="24" name="Rectangle 23"/>
          <p:cNvSpPr/>
          <p:nvPr/>
        </p:nvSpPr>
        <p:spPr>
          <a:xfrm>
            <a:off x="585216" y="43434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379976"/>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 folder, zip or program</a:t>
            </a:r>
          </a:p>
        </p:txBody>
      </p:sp>
      <p:sp>
        <p:nvSpPr>
          <p:cNvPr id="26" name="TextBox 25"/>
          <p:cNvSpPr txBox="1"/>
          <p:nvPr/>
        </p:nvSpPr>
        <p:spPr>
          <a:xfrm>
            <a:off x="3957431" y="4379976"/>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Explained in plain words; nothing opens.</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 </a:t>
            </a:r>
            <a:r>
              <a:rPr sz="1100" b="0" i="0" spc="240">
                <a:solidFill>
                  <a:srgbClr val="C98457"/>
                </a:solidFill>
                <a:latin typeface="Segoe UI Symbol"/>
              </a:rPr>
              <a:t>▸</a:t>
            </a:r>
            <a:r>
              <a:rPr sz="1100" b="0" i="0" spc="240">
                <a:solidFill>
                  <a:srgbClr val="C98457"/>
                </a:solidFill>
                <a:latin typeface="Segoe UI Semibold"/>
              </a:rPr>
              <a:t> MODELS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Every model choice in one place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Models dialog exposes 38 model, engine and voice settings for the core services and 21 model-backed agents, in six searchable categories.</a:t>
            </a:r>
          </a:p>
        </p:txBody>
      </p:sp>
      <p:sp>
        <p:nvSpPr>
          <p:cNvPr id="8" name="Rounded Rectangle 7"/>
          <p:cNvSpPr/>
          <p:nvPr/>
        </p:nvSpPr>
        <p:spPr>
          <a:xfrm>
            <a:off x="566928" y="2084831"/>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Settings</a:t>
            </a:r>
          </a:p>
        </p:txBody>
      </p:sp>
      <p:sp>
        <p:nvSpPr>
          <p:cNvPr id="11" name="TextBox 10"/>
          <p:cNvSpPr txBox="1"/>
          <p:nvPr/>
        </p:nvSpPr>
        <p:spPr>
          <a:xfrm>
            <a:off x="2670048" y="2139696"/>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38 model, engine and voice choices.</a:t>
            </a:r>
          </a:p>
        </p:txBody>
      </p:sp>
      <p:sp>
        <p:nvSpPr>
          <p:cNvPr id="12" name="Rounded Rectangle 11"/>
          <p:cNvSpPr/>
          <p:nvPr/>
        </p:nvSpPr>
        <p:spPr>
          <a:xfrm>
            <a:off x="566928" y="2933395"/>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Agents</a:t>
            </a:r>
          </a:p>
        </p:txBody>
      </p:sp>
      <p:sp>
        <p:nvSpPr>
          <p:cNvPr id="15" name="TextBox 14"/>
          <p:cNvSpPr txBox="1"/>
          <p:nvPr/>
        </p:nvSpPr>
        <p:spPr>
          <a:xfrm>
            <a:off x="2670048" y="2988259"/>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21 model-backed agents configured centrally.</a:t>
            </a:r>
          </a:p>
        </p:txBody>
      </p:sp>
      <p:sp>
        <p:nvSpPr>
          <p:cNvPr id="16" name="Rounded Rectangle 15"/>
          <p:cNvSpPr/>
          <p:nvPr/>
        </p:nvSpPr>
        <p:spPr>
          <a:xfrm>
            <a:off x="566928" y="3781958"/>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Inheritance</a:t>
            </a:r>
          </a:p>
        </p:txBody>
      </p:sp>
      <p:sp>
        <p:nvSpPr>
          <p:cNvPr id="19" name="TextBox 18"/>
          <p:cNvSpPr txBox="1"/>
          <p:nvPr/>
        </p:nvSpPr>
        <p:spPr>
          <a:xfrm>
            <a:off x="2670048" y="3836822"/>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"@config" follows the global choice; literals override.</a:t>
            </a:r>
          </a:p>
        </p:txBody>
      </p:sp>
      <p:sp>
        <p:nvSpPr>
          <p:cNvPr id="20" name="Rounded Rectangle 19"/>
          <p:cNvSpPr/>
          <p:nvPr/>
        </p:nvSpPr>
        <p:spPr>
          <a:xfrm>
            <a:off x="566928" y="4630521"/>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Save</a:t>
            </a:r>
          </a:p>
        </p:txBody>
      </p:sp>
      <p:sp>
        <p:nvSpPr>
          <p:cNvPr id="23" name="TextBox 22"/>
          <p:cNvSpPr txBox="1"/>
          <p:nvPr/>
        </p:nvSpPr>
        <p:spPr>
          <a:xfrm>
            <a:off x="2670048" y="4685385"/>
            <a:ext cx="2971800" cy="610819"/>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Keeps unrelated settings, downloads nothing, then auto-tunes each model.</a:t>
            </a:r>
          </a:p>
        </p:txBody>
      </p:sp>
      <p:sp>
        <p:nvSpPr>
          <p:cNvPr id="24" name="Rounded Rectangle 23"/>
          <p:cNvSpPr/>
          <p:nvPr/>
        </p:nvSpPr>
        <p:spPr>
          <a:xfrm>
            <a:off x="566928" y="5479084"/>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Catalog</a:t>
            </a:r>
          </a:p>
        </p:txBody>
      </p:sp>
      <p:sp>
        <p:nvSpPr>
          <p:cNvPr id="27" name="TextBox 26"/>
          <p:cNvSpPr txBox="1"/>
          <p:nvPr/>
        </p:nvSpPr>
        <p:spPr>
          <a:xfrm>
            <a:off x="2670048" y="5533948"/>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Listed by the configured Ollama servers, asked with their token.</a:t>
            </a:r>
          </a:p>
        </p:txBody>
      </p:sp>
      <p:graphicFrame>
        <p:nvGraphicFramePr>
          <p:cNvPr id="28" name="Chart 27"/>
          <p:cNvGraphicFramePr>
            <a:graphicFrameLocks noGrp="1"/>
          </p:cNvGraphicFramePr>
          <p:nvPr/>
        </p:nvGraphicFramePr>
        <p:xfrm>
          <a:off x="6144768" y="2084831"/>
          <a:ext cx="5479999" cy="4114800"/>
        </p:xfrm>
        <a:graphic>
          <a:graphicData uri="http://schemas.openxmlformats.org/drawingml/2006/chart">
            <c:chart xmlns:c="http://schemas.openxmlformats.org/drawingml/2006/chart" r:id="rId4"/>
          </a:graphicData>
        </a:graphic>
      </p:graphicFrame>
      <p:cxnSp>
        <p:nvCxnSpPr>
          <p:cNvPr id="29" name="Connector 2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1" name="TextBox 3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ONE LOOK · v1.80.0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Every page shares one theme and one way to resize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Chat, both panels, login, welcome, Usage, the PDF viewer and the admin pages share one identity.</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Shared tokens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One palette, font set and scrollbar style for every page.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Five dividers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One grip, one keyboard model, one clean cancel.</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Dialogs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Eight resize directions, keyboard resizing, buttons that match.</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High zoom</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modal stays above the menu at 400 percent.</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175 source tests and visible checks passed on October 11.</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OPERATOR DIALOGS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Everything else, without editing files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Configuration, credentials, databases and updates are handled from the browser.</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Access Keys Wizard</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One guided place for provider keys; blank fields keep what is set.</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Contacts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Names resolve to addresses, phones and @usernames for messaging agents.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DB menu</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WAL-safe backup, and a verified database staged for the next start.</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External </a:t>
            </a:r>
            <a:r>
              <a:rPr sz="1600" b="0" i="0">
                <a:solidFill>
                  <a:srgbClr val="F7F2E8"/>
                </a:solidFill>
                <a:latin typeface="Segoe UI Symbol"/>
              </a:rPr>
              <a:t>▸</a:t>
            </a:r>
            <a:r>
              <a:rPr sz="1600" b="0" i="0">
                <a:solidFill>
                  <a:srgbClr val="F7F2E8"/>
                </a:solidFill>
                <a:latin typeface="Segoe UI Semibold"/>
              </a:rPr>
              <a:t> MCPs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Search the catalog, activate up to five servers, install runtimes.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ACPX-Skills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Browse, enable, diagnose and reload skills.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Check for updates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Stage the latest published release and swap it in safely.</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OPERATOR DIALOGS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dismissal rule everywhere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Escape means exactly what a dialog's </a:t>
            </a:r>
            <a:r>
              <a:rPr sz="2600" b="0" i="0">
                <a:solidFill>
                  <a:srgbClr val="F7F2E8"/>
                </a:solidFill>
                <a:latin typeface="Segoe UI Symbol"/>
              </a:rPr>
              <a:t>✕</a:t>
            </a:r>
            <a:r>
              <a:rPr sz="2600" b="0" i="0">
                <a:solidFill>
                  <a:srgbClr val="F7F2E8"/>
                </a:solidFill>
                <a:latin typeface="Segoe UI Light"/>
              </a:rPr>
              <a:t> means, and an outside click never dismisses anything. A downloading updater is the single dialog that refuses to close.</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“Everything else, without editing files”</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III · WHERE YOU WORK WITH HER</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D25CD6"/>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IV</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The Bestiary</a:t>
            </a:r>
          </a:p>
        </p:txBody>
      </p:sp>
      <p:sp>
        <p:nvSpPr>
          <p:cNvPr id="6" name="Rectangle 5"/>
          <p:cNvSpPr/>
          <p:nvPr/>
        </p:nvSpPr>
        <p:spPr>
          <a:xfrm>
            <a:off x="841248" y="4315968"/>
            <a:ext cx="100584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86 agent types in twelve families. Each is a plain-Python program you can read, audit and change.</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IV</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THE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86 agents, twelve families</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Every agent follows one skeleton: a template directory, a </a:t>
            </a:r>
            <a:r>
              <a:rPr sz="1350" b="0" i="0">
                <a:solidFill>
                  <a:srgbClr val="E2B462"/>
                </a:solidFill>
                <a:latin typeface="Consolas"/>
              </a:rPr>
              <a:t>config.yaml</a:t>
            </a:r>
            <a:r>
              <a:rPr sz="1450" b="0" i="0">
                <a:solidFill>
                  <a:srgbClr val="A7B2B0"/>
                </a:solidFill>
                <a:latin typeface="Segoe UI Semilight"/>
              </a:rPr>
              <a:t>, a session-scoped pool copy, PID and log files, and explicit source and target wiring.</a:t>
            </a:r>
          </a:p>
        </p:txBody>
      </p:sp>
      <p:sp>
        <p:nvSpPr>
          <p:cNvPr id="8" name="Rounded Rectangle 7"/>
          <p:cNvSpPr/>
          <p:nvPr/>
        </p:nvSpPr>
        <p:spPr>
          <a:xfrm>
            <a:off x="566928" y="2084831"/>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566928" y="2194560"/>
            <a:ext cx="54864" cy="672084"/>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13232" y="2130551"/>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6</a:t>
            </a:r>
          </a:p>
        </p:txBody>
      </p:sp>
      <p:sp>
        <p:nvSpPr>
          <p:cNvPr id="11" name="TextBox 10"/>
          <p:cNvSpPr txBox="1"/>
          <p:nvPr/>
        </p:nvSpPr>
        <p:spPr>
          <a:xfrm>
            <a:off x="1527048" y="215798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3BBE93"/>
                </a:solidFill>
                <a:latin typeface="Segoe UI Semibold"/>
              </a:rPr>
              <a:t>Flow control</a:t>
            </a:r>
          </a:p>
        </p:txBody>
      </p:sp>
      <p:sp>
        <p:nvSpPr>
          <p:cNvPr id="12" name="TextBox 11"/>
          <p:cNvSpPr txBox="1"/>
          <p:nvPr/>
        </p:nvSpPr>
        <p:spPr>
          <a:xfrm>
            <a:off x="1527048" y="2530601"/>
            <a:ext cx="2512466" cy="372618"/>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Begin, pause, schedule and end a flow.</a:t>
            </a:r>
          </a:p>
        </p:txBody>
      </p:sp>
      <p:sp>
        <p:nvSpPr>
          <p:cNvPr id="13" name="Rounded Rectangle 12"/>
          <p:cNvSpPr/>
          <p:nvPr/>
        </p:nvSpPr>
        <p:spPr>
          <a:xfrm>
            <a:off x="4313834" y="2084831"/>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4313834" y="2194560"/>
            <a:ext cx="54864" cy="672084"/>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460138" y="2130551"/>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7</a:t>
            </a:r>
          </a:p>
        </p:txBody>
      </p:sp>
      <p:sp>
        <p:nvSpPr>
          <p:cNvPr id="16" name="TextBox 15"/>
          <p:cNvSpPr txBox="1"/>
          <p:nvPr/>
        </p:nvSpPr>
        <p:spPr>
          <a:xfrm>
            <a:off x="5273954" y="215798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C98457"/>
                </a:solidFill>
                <a:latin typeface="Segoe UI Semibold"/>
              </a:rPr>
              <a:t>Routing and logic</a:t>
            </a:r>
          </a:p>
        </p:txBody>
      </p:sp>
      <p:sp>
        <p:nvSpPr>
          <p:cNvPr id="17" name="TextBox 16"/>
          <p:cNvSpPr txBox="1"/>
          <p:nvPr/>
        </p:nvSpPr>
        <p:spPr>
          <a:xfrm>
            <a:off x="5273954" y="2530601"/>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Decide where the flow goes next.</a:t>
            </a:r>
          </a:p>
        </p:txBody>
      </p:sp>
      <p:sp>
        <p:nvSpPr>
          <p:cNvPr id="18" name="Rounded Rectangle 17"/>
          <p:cNvSpPr/>
          <p:nvPr/>
        </p:nvSpPr>
        <p:spPr>
          <a:xfrm>
            <a:off x="8060740" y="2084831"/>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8060740" y="2194560"/>
            <a:ext cx="54864" cy="672084"/>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07044" y="2130551"/>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8</a:t>
            </a:r>
          </a:p>
        </p:txBody>
      </p:sp>
      <p:sp>
        <p:nvSpPr>
          <p:cNvPr id="21" name="TextBox 20"/>
          <p:cNvSpPr txBox="1"/>
          <p:nvPr/>
        </p:nvSpPr>
        <p:spPr>
          <a:xfrm>
            <a:off x="9020860" y="2157984"/>
            <a:ext cx="2512466" cy="372618"/>
          </a:xfrm>
          <a:prstGeom prst="rect">
            <a:avLst/>
          </a:prstGeom>
          <a:noFill/>
        </p:spPr>
        <p:txBody>
          <a:bodyPr wrap="square" lIns="45720" rIns="45720" tIns="27432" bIns="27432" anchor="b">
            <a:noAutofit/>
          </a:bodyPr>
          <a:lstStyle/>
          <a:p>
            <a:pPr algn="l">
              <a:lnSpc>
                <a:spcPct val="100000"/>
              </a:lnSpc>
            </a:pPr>
            <a:r>
              <a:rPr sz="1300" b="0" i="0">
                <a:solidFill>
                  <a:srgbClr val="E2B462"/>
                </a:solidFill>
                <a:latin typeface="Segoe UI Semibold"/>
              </a:rPr>
              <a:t>Orchestration and intelligence</a:t>
            </a:r>
          </a:p>
        </p:txBody>
      </p:sp>
      <p:sp>
        <p:nvSpPr>
          <p:cNvPr id="22" name="TextBox 21"/>
          <p:cNvSpPr txBox="1"/>
          <p:nvPr/>
        </p:nvSpPr>
        <p:spPr>
          <a:xfrm>
            <a:off x="9020860" y="2530601"/>
            <a:ext cx="2512466" cy="372618"/>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Design, connect, supervise and reason.</a:t>
            </a:r>
          </a:p>
        </p:txBody>
      </p:sp>
      <p:sp>
        <p:nvSpPr>
          <p:cNvPr id="23" name="Rounded Rectangle 22"/>
          <p:cNvSpPr/>
          <p:nvPr/>
        </p:nvSpPr>
        <p:spPr>
          <a:xfrm>
            <a:off x="566928" y="315925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ectangle 23"/>
          <p:cNvSpPr/>
          <p:nvPr/>
        </p:nvSpPr>
        <p:spPr>
          <a:xfrm>
            <a:off x="566928" y="3268980"/>
            <a:ext cx="54864" cy="672084"/>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13232" y="320497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14</a:t>
            </a:r>
          </a:p>
        </p:txBody>
      </p:sp>
      <p:sp>
        <p:nvSpPr>
          <p:cNvPr id="26" name="TextBox 25"/>
          <p:cNvSpPr txBox="1"/>
          <p:nvPr/>
        </p:nvSpPr>
        <p:spPr>
          <a:xfrm>
            <a:off x="1527048" y="323240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46D2E2"/>
                </a:solidFill>
                <a:latin typeface="Segoe UI Semibold"/>
              </a:rPr>
              <a:t>Code, files and shell</a:t>
            </a:r>
          </a:p>
        </p:txBody>
      </p:sp>
      <p:sp>
        <p:nvSpPr>
          <p:cNvPr id="27" name="TextBox 26"/>
          <p:cNvSpPr txBox="1"/>
          <p:nvPr/>
        </p:nvSpPr>
        <p:spPr>
          <a:xfrm>
            <a:off x="1527048" y="360502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Find, read, change and run.</a:t>
            </a:r>
          </a:p>
        </p:txBody>
      </p:sp>
      <p:sp>
        <p:nvSpPr>
          <p:cNvPr id="28" name="Rounded Rectangle 27"/>
          <p:cNvSpPr/>
          <p:nvPr/>
        </p:nvSpPr>
        <p:spPr>
          <a:xfrm>
            <a:off x="4313834" y="315925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4313834" y="3268980"/>
            <a:ext cx="54864" cy="672084"/>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460138" y="320497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3</a:t>
            </a:r>
          </a:p>
        </p:txBody>
      </p:sp>
      <p:sp>
        <p:nvSpPr>
          <p:cNvPr id="31" name="TextBox 30"/>
          <p:cNvSpPr txBox="1"/>
          <p:nvPr/>
        </p:nvSpPr>
        <p:spPr>
          <a:xfrm>
            <a:off x="5273954" y="323240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D25CD6"/>
                </a:solidFill>
                <a:latin typeface="Segoe UI Semibold"/>
              </a:rPr>
              <a:t>Documents</a:t>
            </a:r>
          </a:p>
        </p:txBody>
      </p:sp>
      <p:sp>
        <p:nvSpPr>
          <p:cNvPr id="32" name="TextBox 31"/>
          <p:cNvSpPr txBox="1"/>
          <p:nvPr/>
        </p:nvSpPr>
        <p:spPr>
          <a:xfrm>
            <a:off x="5273954" y="360502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Compose, typeset and present.</a:t>
            </a:r>
          </a:p>
        </p:txBody>
      </p:sp>
      <p:sp>
        <p:nvSpPr>
          <p:cNvPr id="33" name="Rounded Rectangle 32"/>
          <p:cNvSpPr/>
          <p:nvPr/>
        </p:nvSpPr>
        <p:spPr>
          <a:xfrm>
            <a:off x="8060740" y="315925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Rectangle 33"/>
          <p:cNvSpPr/>
          <p:nvPr/>
        </p:nvSpPr>
        <p:spPr>
          <a:xfrm>
            <a:off x="8060740" y="3268980"/>
            <a:ext cx="54864" cy="672084"/>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8207044" y="320497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7</a:t>
            </a:r>
          </a:p>
        </p:txBody>
      </p:sp>
      <p:sp>
        <p:nvSpPr>
          <p:cNvPr id="36" name="TextBox 35"/>
          <p:cNvSpPr txBox="1"/>
          <p:nvPr/>
        </p:nvSpPr>
        <p:spPr>
          <a:xfrm>
            <a:off x="9020860" y="323240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3BBE93"/>
                </a:solidFill>
                <a:latin typeface="Segoe UI Semibold"/>
              </a:rPr>
              <a:t>Web, data and APIs</a:t>
            </a:r>
          </a:p>
        </p:txBody>
      </p:sp>
      <p:sp>
        <p:nvSpPr>
          <p:cNvPr id="37" name="TextBox 36"/>
          <p:cNvSpPr txBox="1"/>
          <p:nvPr/>
        </p:nvSpPr>
        <p:spPr>
          <a:xfrm>
            <a:off x="9020860" y="360502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Search, browse, call and measure.</a:t>
            </a:r>
          </a:p>
        </p:txBody>
      </p:sp>
      <p:sp>
        <p:nvSpPr>
          <p:cNvPr id="38" name="Rounded Rectangle 37"/>
          <p:cNvSpPr/>
          <p:nvPr/>
        </p:nvSpPr>
        <p:spPr>
          <a:xfrm>
            <a:off x="566928" y="423367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566928" y="4343400"/>
            <a:ext cx="54864" cy="672084"/>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713232" y="427939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6</a:t>
            </a:r>
          </a:p>
        </p:txBody>
      </p:sp>
      <p:sp>
        <p:nvSpPr>
          <p:cNvPr id="41" name="TextBox 40"/>
          <p:cNvSpPr txBox="1"/>
          <p:nvPr/>
        </p:nvSpPr>
        <p:spPr>
          <a:xfrm>
            <a:off x="1527048" y="430682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C98457"/>
                </a:solidFill>
                <a:latin typeface="Segoe UI Semibold"/>
              </a:rPr>
              <a:t>DevOps and infrastructure</a:t>
            </a:r>
          </a:p>
        </p:txBody>
      </p:sp>
      <p:sp>
        <p:nvSpPr>
          <p:cNvPr id="42" name="TextBox 41"/>
          <p:cNvSpPr txBox="1"/>
          <p:nvPr/>
        </p:nvSpPr>
        <p:spPr>
          <a:xfrm>
            <a:off x="1527048" y="4679442"/>
            <a:ext cx="2512466" cy="372618"/>
          </a:xfrm>
          <a:prstGeom prst="rect">
            <a:avLst/>
          </a:prstGeom>
          <a:noFill/>
        </p:spPr>
        <p:txBody>
          <a:bodyPr wrap="square" lIns="45720" rIns="45720" tIns="27432" bIns="27432" anchor="t">
            <a:noAutofit/>
          </a:bodyPr>
          <a:lstStyle/>
          <a:p>
            <a:pPr algn="l">
              <a:lnSpc>
                <a:spcPct val="100000"/>
              </a:lnSpc>
            </a:pPr>
            <a:r>
              <a:rPr sz="1000" b="0" i="0">
                <a:solidFill>
                  <a:srgbClr val="A7B2B0"/>
                </a:solidFill>
                <a:latin typeface="Segoe UI"/>
              </a:rPr>
              <a:t>Containers, clusters, pipelines and hosts.</a:t>
            </a:r>
          </a:p>
        </p:txBody>
      </p:sp>
      <p:sp>
        <p:nvSpPr>
          <p:cNvPr id="43" name="Rounded Rectangle 42"/>
          <p:cNvSpPr/>
          <p:nvPr/>
        </p:nvSpPr>
        <p:spPr>
          <a:xfrm>
            <a:off x="4313834" y="423367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Rectangle 43"/>
          <p:cNvSpPr/>
          <p:nvPr/>
        </p:nvSpPr>
        <p:spPr>
          <a:xfrm>
            <a:off x="4313834" y="4343400"/>
            <a:ext cx="54864" cy="672084"/>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4460138" y="427939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8</a:t>
            </a:r>
          </a:p>
        </p:txBody>
      </p:sp>
      <p:sp>
        <p:nvSpPr>
          <p:cNvPr id="46" name="TextBox 45"/>
          <p:cNvSpPr txBox="1"/>
          <p:nvPr/>
        </p:nvSpPr>
        <p:spPr>
          <a:xfrm>
            <a:off x="5273954" y="430682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D9576B"/>
                </a:solidFill>
                <a:latin typeface="Segoe UI Semibold"/>
              </a:rPr>
              <a:t>Quality and security</a:t>
            </a:r>
          </a:p>
        </p:txBody>
      </p:sp>
      <p:sp>
        <p:nvSpPr>
          <p:cNvPr id="47" name="TextBox 46"/>
          <p:cNvSpPr txBox="1"/>
          <p:nvPr/>
        </p:nvSpPr>
        <p:spPr>
          <a:xfrm>
            <a:off x="5273954" y="467944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Review, analyze, assess and protect.</a:t>
            </a:r>
          </a:p>
        </p:txBody>
      </p:sp>
      <p:sp>
        <p:nvSpPr>
          <p:cNvPr id="48" name="Rounded Rectangle 47"/>
          <p:cNvSpPr/>
          <p:nvPr/>
        </p:nvSpPr>
        <p:spPr>
          <a:xfrm>
            <a:off x="8060740" y="423367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8060740" y="4343400"/>
            <a:ext cx="54864" cy="672084"/>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8207044" y="427939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6</a:t>
            </a:r>
          </a:p>
        </p:txBody>
      </p:sp>
      <p:sp>
        <p:nvSpPr>
          <p:cNvPr id="51" name="TextBox 50"/>
          <p:cNvSpPr txBox="1"/>
          <p:nvPr/>
        </p:nvSpPr>
        <p:spPr>
          <a:xfrm>
            <a:off x="9020860" y="430682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E2B462"/>
                </a:solidFill>
                <a:latin typeface="Segoe UI Semibold"/>
              </a:rPr>
              <a:t>Firmware and engines</a:t>
            </a:r>
          </a:p>
        </p:txBody>
      </p:sp>
      <p:sp>
        <p:nvSpPr>
          <p:cNvPr id="52" name="TextBox 51"/>
          <p:cNvSpPr txBox="1"/>
          <p:nvPr/>
        </p:nvSpPr>
        <p:spPr>
          <a:xfrm>
            <a:off x="9020860" y="467944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Real boards and live editors.</a:t>
            </a:r>
          </a:p>
        </p:txBody>
      </p:sp>
      <p:sp>
        <p:nvSpPr>
          <p:cNvPr id="53" name="Rounded Rectangle 52"/>
          <p:cNvSpPr/>
          <p:nvPr/>
        </p:nvSpPr>
        <p:spPr>
          <a:xfrm>
            <a:off x="566928" y="530809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Rectangle 53"/>
          <p:cNvSpPr/>
          <p:nvPr/>
        </p:nvSpPr>
        <p:spPr>
          <a:xfrm>
            <a:off x="566928" y="5417820"/>
            <a:ext cx="54864" cy="672084"/>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TextBox 54"/>
          <p:cNvSpPr txBox="1"/>
          <p:nvPr/>
        </p:nvSpPr>
        <p:spPr>
          <a:xfrm>
            <a:off x="713232" y="535381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5</a:t>
            </a:r>
          </a:p>
        </p:txBody>
      </p:sp>
      <p:sp>
        <p:nvSpPr>
          <p:cNvPr id="56" name="TextBox 55"/>
          <p:cNvSpPr txBox="1"/>
          <p:nvPr/>
        </p:nvSpPr>
        <p:spPr>
          <a:xfrm>
            <a:off x="1527048" y="538124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46D2E2"/>
                </a:solidFill>
                <a:latin typeface="Segoe UI Semibold"/>
              </a:rPr>
              <a:t>Desktop and capture</a:t>
            </a:r>
          </a:p>
        </p:txBody>
      </p:sp>
      <p:sp>
        <p:nvSpPr>
          <p:cNvPr id="57" name="TextBox 56"/>
          <p:cNvSpPr txBox="1"/>
          <p:nvPr/>
        </p:nvSpPr>
        <p:spPr>
          <a:xfrm>
            <a:off x="1527048" y="5753862"/>
            <a:ext cx="2512466" cy="372618"/>
          </a:xfrm>
          <a:prstGeom prst="rect">
            <a:avLst/>
          </a:prstGeom>
          <a:noFill/>
        </p:spPr>
        <p:txBody>
          <a:bodyPr wrap="square" lIns="45720" rIns="45720" tIns="27432" bIns="27432" anchor="t">
            <a:noAutofit/>
          </a:bodyPr>
          <a:lstStyle/>
          <a:p>
            <a:pPr algn="l">
              <a:lnSpc>
                <a:spcPct val="100000"/>
              </a:lnSpc>
            </a:pPr>
            <a:r>
              <a:rPr sz="1050" b="0" i="0">
                <a:solidFill>
                  <a:srgbClr val="A7B2B0"/>
                </a:solidFill>
                <a:latin typeface="Segoe UI"/>
              </a:rPr>
              <a:t>See the screen, move the pointer, type.</a:t>
            </a:r>
          </a:p>
        </p:txBody>
      </p:sp>
      <p:sp>
        <p:nvSpPr>
          <p:cNvPr id="58" name="Rounded Rectangle 57"/>
          <p:cNvSpPr/>
          <p:nvPr/>
        </p:nvSpPr>
        <p:spPr>
          <a:xfrm>
            <a:off x="4313834" y="530809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Rectangle 58"/>
          <p:cNvSpPr/>
          <p:nvPr/>
        </p:nvSpPr>
        <p:spPr>
          <a:xfrm>
            <a:off x="4313834" y="5417820"/>
            <a:ext cx="54864" cy="672084"/>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0" name="TextBox 59"/>
          <p:cNvSpPr txBox="1"/>
          <p:nvPr/>
        </p:nvSpPr>
        <p:spPr>
          <a:xfrm>
            <a:off x="4460138" y="535381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7</a:t>
            </a:r>
          </a:p>
        </p:txBody>
      </p:sp>
      <p:sp>
        <p:nvSpPr>
          <p:cNvPr id="61" name="TextBox 60"/>
          <p:cNvSpPr txBox="1"/>
          <p:nvPr/>
        </p:nvSpPr>
        <p:spPr>
          <a:xfrm>
            <a:off x="5273954" y="538124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D25CD6"/>
                </a:solidFill>
                <a:latin typeface="Segoe UI Semibold"/>
              </a:rPr>
              <a:t>Voice, audio and vision</a:t>
            </a:r>
          </a:p>
        </p:txBody>
      </p:sp>
      <p:sp>
        <p:nvSpPr>
          <p:cNvPr id="62" name="TextBox 61"/>
          <p:cNvSpPr txBox="1"/>
          <p:nvPr/>
        </p:nvSpPr>
        <p:spPr>
          <a:xfrm>
            <a:off x="5273954" y="575386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Hear, speak, play and look.</a:t>
            </a:r>
          </a:p>
        </p:txBody>
      </p:sp>
      <p:sp>
        <p:nvSpPr>
          <p:cNvPr id="63" name="Rounded Rectangle 62"/>
          <p:cNvSpPr/>
          <p:nvPr/>
        </p:nvSpPr>
        <p:spPr>
          <a:xfrm>
            <a:off x="8060740" y="5308092"/>
            <a:ext cx="3564026" cy="891540"/>
          </a:xfrm>
          <a:prstGeom prst="roundRect">
            <a:avLst>
              <a:gd name="adj" fmla="val 1025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4" name="Rectangle 63"/>
          <p:cNvSpPr/>
          <p:nvPr/>
        </p:nvSpPr>
        <p:spPr>
          <a:xfrm>
            <a:off x="8060740" y="5417820"/>
            <a:ext cx="54864" cy="672084"/>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8207044" y="5353812"/>
            <a:ext cx="786384" cy="800100"/>
          </a:xfrm>
          <a:prstGeom prst="rect">
            <a:avLst/>
          </a:prstGeom>
          <a:noFill/>
        </p:spPr>
        <p:txBody>
          <a:bodyPr wrap="square" lIns="45720" rIns="45720" tIns="27432" bIns="27432" anchor="ctr">
            <a:noAutofit/>
          </a:bodyPr>
          <a:lstStyle/>
          <a:p>
            <a:pPr algn="ctr">
              <a:lnSpc>
                <a:spcPct val="100000"/>
              </a:lnSpc>
            </a:pPr>
            <a:r>
              <a:rPr sz="3000" b="1" i="0">
                <a:solidFill>
                  <a:srgbClr val="F7F2E8"/>
                </a:solidFill>
                <a:latin typeface="Palatino Linotype"/>
              </a:rPr>
              <a:t>9</a:t>
            </a:r>
          </a:p>
        </p:txBody>
      </p:sp>
      <p:sp>
        <p:nvSpPr>
          <p:cNvPr id="66" name="TextBox 65"/>
          <p:cNvSpPr txBox="1"/>
          <p:nvPr/>
        </p:nvSpPr>
        <p:spPr>
          <a:xfrm>
            <a:off x="9020860" y="5381244"/>
            <a:ext cx="2512466" cy="372618"/>
          </a:xfrm>
          <a:prstGeom prst="rect">
            <a:avLst/>
          </a:prstGeom>
          <a:noFill/>
        </p:spPr>
        <p:txBody>
          <a:bodyPr wrap="square" lIns="45720" rIns="45720" tIns="27432" bIns="27432" anchor="b">
            <a:noAutofit/>
          </a:bodyPr>
          <a:lstStyle/>
          <a:p>
            <a:pPr algn="l">
              <a:lnSpc>
                <a:spcPct val="100000"/>
              </a:lnSpc>
            </a:pPr>
            <a:r>
              <a:rPr sz="1450" b="0" i="0">
                <a:solidFill>
                  <a:srgbClr val="D9576B"/>
                </a:solidFill>
                <a:latin typeface="Segoe UI Semibold"/>
              </a:rPr>
              <a:t>Messaging and monitoring</a:t>
            </a:r>
          </a:p>
        </p:txBody>
      </p:sp>
      <p:sp>
        <p:nvSpPr>
          <p:cNvPr id="67" name="TextBox 66"/>
          <p:cNvSpPr txBox="1"/>
          <p:nvPr/>
        </p:nvSpPr>
        <p:spPr>
          <a:xfrm>
            <a:off x="9020860" y="5753862"/>
            <a:ext cx="2512466" cy="372618"/>
          </a:xfrm>
          <a:prstGeom prst="rect">
            <a:avLst/>
          </a:prstGeom>
          <a:noFill/>
        </p:spPr>
        <p:txBody>
          <a:bodyPr wrap="square" lIns="45720" rIns="45720" tIns="27432" bIns="27432" anchor="t">
            <a:noAutofit/>
          </a:bodyPr>
          <a:lstStyle/>
          <a:p>
            <a:pPr algn="l">
              <a:lnSpc>
                <a:spcPct val="100000"/>
              </a:lnSpc>
            </a:pPr>
            <a:r>
              <a:rPr sz="1150" b="0" i="0">
                <a:solidFill>
                  <a:srgbClr val="A7B2B0"/>
                </a:solidFill>
                <a:latin typeface="Segoe UI"/>
              </a:rPr>
              <a:t>Reach people and watch systems.</a:t>
            </a:r>
          </a:p>
        </p:txBody>
      </p:sp>
      <p:cxnSp>
        <p:nvCxnSpPr>
          <p:cNvPr id="68" name="Connector 6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70" name="TextBox 6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6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Flow control</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Begin, pause, schedule and end a flow.</a:t>
            </a:r>
          </a:p>
        </p:txBody>
      </p:sp>
      <p:sp>
        <p:nvSpPr>
          <p:cNvPr id="8" name="Rounded Rectangle 7"/>
          <p:cNvSpPr/>
          <p:nvPr/>
        </p:nvSpPr>
        <p:spPr>
          <a:xfrm>
            <a:off x="566928"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5374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Starter</a:t>
            </a:r>
          </a:p>
        </p:txBody>
      </p:sp>
      <p:sp>
        <p:nvSpPr>
          <p:cNvPr id="11" name="TextBox 10"/>
          <p:cNvSpPr txBox="1"/>
          <p:nvPr/>
        </p:nvSpPr>
        <p:spPr>
          <a:xfrm>
            <a:off x="694944"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The entry point of every flow; launches its targets when you press Start.</a:t>
            </a:r>
          </a:p>
        </p:txBody>
      </p:sp>
      <p:sp>
        <p:nvSpPr>
          <p:cNvPr id="12" name="Rounded Rectangle 11"/>
          <p:cNvSpPr/>
          <p:nvPr/>
        </p:nvSpPr>
        <p:spPr>
          <a:xfrm>
            <a:off x="4326026"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5374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Ender</a:t>
            </a:r>
          </a:p>
        </p:txBody>
      </p:sp>
      <p:sp>
        <p:nvSpPr>
          <p:cNvPr id="15" name="TextBox 14"/>
          <p:cNvSpPr txBox="1"/>
          <p:nvPr/>
        </p:nvSpPr>
        <p:spPr>
          <a:xfrm>
            <a:off x="4454042"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Ends a flow gracefully: kills its targets, then starts backups and cleaners.</a:t>
            </a:r>
          </a:p>
        </p:txBody>
      </p:sp>
      <p:sp>
        <p:nvSpPr>
          <p:cNvPr id="16" name="Rounded Rectangle 15"/>
          <p:cNvSpPr/>
          <p:nvPr/>
        </p:nvSpPr>
        <p:spPr>
          <a:xfrm>
            <a:off x="8085124"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537460"/>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Stopper</a:t>
            </a:r>
          </a:p>
        </p:txBody>
      </p:sp>
      <p:sp>
        <p:nvSpPr>
          <p:cNvPr id="19" name="TextBox 18"/>
          <p:cNvSpPr txBox="1"/>
          <p:nvPr/>
        </p:nvSpPr>
        <p:spPr>
          <a:xfrm>
            <a:off x="8213140"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Watches logs for a pattern and stops exactly those source agents.</a:t>
            </a:r>
          </a:p>
        </p:txBody>
      </p:sp>
      <p:sp>
        <p:nvSpPr>
          <p:cNvPr id="20" name="Rounded Rectangle 19"/>
          <p:cNvSpPr/>
          <p:nvPr/>
        </p:nvSpPr>
        <p:spPr>
          <a:xfrm>
            <a:off x="566928"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Cleaner</a:t>
            </a:r>
          </a:p>
        </p:txBody>
      </p:sp>
      <p:sp>
        <p:nvSpPr>
          <p:cNvPr id="23" name="TextBox 22"/>
          <p:cNvSpPr txBox="1"/>
          <p:nvPr/>
        </p:nvSpPr>
        <p:spPr>
          <a:xfrm>
            <a:off x="694944"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Post-run janitor that removes the logs and PID files of finished agents.</a:t>
            </a:r>
          </a:p>
        </p:txBody>
      </p:sp>
      <p:sp>
        <p:nvSpPr>
          <p:cNvPr id="24" name="Rounded Rectangle 23"/>
          <p:cNvSpPr/>
          <p:nvPr/>
        </p:nvSpPr>
        <p:spPr>
          <a:xfrm>
            <a:off x="4326026"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Sleeper</a:t>
            </a:r>
          </a:p>
        </p:txBody>
      </p:sp>
      <p:sp>
        <p:nvSpPr>
          <p:cNvPr id="27" name="TextBox 26"/>
          <p:cNvSpPr txBox="1"/>
          <p:nvPr/>
        </p:nvSpPr>
        <p:spPr>
          <a:xfrm>
            <a:off x="4454042"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Waits a configured number of milliseconds, then starts its targets.</a:t>
            </a:r>
          </a:p>
        </p:txBody>
      </p:sp>
      <p:sp>
        <p:nvSpPr>
          <p:cNvPr id="28" name="Rounded Rectangle 27"/>
          <p:cNvSpPr/>
          <p:nvPr/>
        </p:nvSpPr>
        <p:spPr>
          <a:xfrm>
            <a:off x="8085124"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49716"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13140"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Croner</a:t>
            </a:r>
          </a:p>
        </p:txBody>
      </p:sp>
      <p:sp>
        <p:nvSpPr>
          <p:cNvPr id="31" name="TextBox 30"/>
          <p:cNvSpPr txBox="1"/>
          <p:nvPr/>
        </p:nvSpPr>
        <p:spPr>
          <a:xfrm>
            <a:off x="8213140"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A daily clock trigger that starts its targets at a configured HH:MM.</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7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Routing and logic</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Decide where the flow goes next.</a:t>
            </a:r>
          </a:p>
        </p:txBody>
      </p:sp>
      <p:sp>
        <p:nvSpPr>
          <p:cNvPr id="8" name="Rounded Rectangle 7"/>
          <p:cNvSpPr/>
          <p:nvPr/>
        </p:nvSpPr>
        <p:spPr>
          <a:xfrm>
            <a:off x="566928"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407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Raiser</a:t>
            </a:r>
          </a:p>
        </p:txBody>
      </p:sp>
      <p:sp>
        <p:nvSpPr>
          <p:cNvPr id="11" name="TextBox 10"/>
          <p:cNvSpPr txBox="1"/>
          <p:nvPr/>
        </p:nvSpPr>
        <p:spPr>
          <a:xfrm>
            <a:off x="694944"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Fires its targets the moment a pattern appears in a watched log.</a:t>
            </a:r>
          </a:p>
        </p:txBody>
      </p:sp>
      <p:sp>
        <p:nvSpPr>
          <p:cNvPr id="12" name="Rounded Rectangle 11"/>
          <p:cNvSpPr/>
          <p:nvPr/>
        </p:nvSpPr>
        <p:spPr>
          <a:xfrm>
            <a:off x="3386251"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407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Forker</a:t>
            </a:r>
          </a:p>
        </p:txBody>
      </p:sp>
      <p:sp>
        <p:nvSpPr>
          <p:cNvPr id="15" name="TextBox 14"/>
          <p:cNvSpPr txBox="1"/>
          <p:nvPr/>
        </p:nvSpPr>
        <p:spPr>
          <a:xfrm>
            <a:off x="3514267"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Automatic A/B router: whichever of two patterns appears first picks the path.</a:t>
            </a:r>
          </a:p>
        </p:txBody>
      </p:sp>
      <p:sp>
        <p:nvSpPr>
          <p:cNvPr id="16" name="Rounded Rectangle 15"/>
          <p:cNvSpPr/>
          <p:nvPr/>
        </p:nvSpPr>
        <p:spPr>
          <a:xfrm>
            <a:off x="6205575"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407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Asker</a:t>
            </a:r>
          </a:p>
        </p:txBody>
      </p:sp>
      <p:sp>
        <p:nvSpPr>
          <p:cNvPr id="19" name="TextBox 18"/>
          <p:cNvSpPr txBox="1"/>
          <p:nvPr/>
        </p:nvSpPr>
        <p:spPr>
          <a:xfrm>
            <a:off x="6333591"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Asks you in the chat to choose Path A or Path B: a human in the loop.</a:t>
            </a:r>
          </a:p>
        </p:txBody>
      </p:sp>
      <p:sp>
        <p:nvSpPr>
          <p:cNvPr id="20" name="Rounded Rectangle 19"/>
          <p:cNvSpPr/>
          <p:nvPr/>
        </p:nvSpPr>
        <p:spPr>
          <a:xfrm>
            <a:off x="9024899"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407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Counter</a:t>
            </a:r>
          </a:p>
        </p:txBody>
      </p:sp>
      <p:sp>
        <p:nvSpPr>
          <p:cNvPr id="23" name="TextBox 22"/>
          <p:cNvSpPr txBox="1"/>
          <p:nvPr/>
        </p:nvSpPr>
        <p:spPr>
          <a:xfrm>
            <a:off x="9152915"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A persistent tally that routes below, or at and above, a threshold.</a:t>
            </a:r>
          </a:p>
        </p:txBody>
      </p:sp>
      <p:sp>
        <p:nvSpPr>
          <p:cNvPr id="24" name="Rounded Rectangle 23"/>
          <p:cNvSpPr/>
          <p:nvPr/>
        </p:nvSpPr>
        <p:spPr>
          <a:xfrm>
            <a:off x="566928"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AND</a:t>
            </a:r>
          </a:p>
        </p:txBody>
      </p:sp>
      <p:sp>
        <p:nvSpPr>
          <p:cNvPr id="27" name="TextBox 26"/>
          <p:cNvSpPr txBox="1"/>
          <p:nvPr/>
        </p:nvSpPr>
        <p:spPr>
          <a:xfrm>
            <a:off x="694944"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Two-input gate that fires once both sources have matched.</a:t>
            </a:r>
          </a:p>
        </p:txBody>
      </p:sp>
      <p:sp>
        <p:nvSpPr>
          <p:cNvPr id="28" name="Rounded Rectangle 27"/>
          <p:cNvSpPr/>
          <p:nvPr/>
        </p:nvSpPr>
        <p:spPr>
          <a:xfrm>
            <a:off x="3386251"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OR</a:t>
            </a:r>
          </a:p>
        </p:txBody>
      </p:sp>
      <p:sp>
        <p:nvSpPr>
          <p:cNvPr id="31" name="TextBox 30"/>
          <p:cNvSpPr txBox="1"/>
          <p:nvPr/>
        </p:nvSpPr>
        <p:spPr>
          <a:xfrm>
            <a:off x="3514267"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Two-input gate that fires as soon as either source matches.</a:t>
            </a:r>
          </a:p>
        </p:txBody>
      </p:sp>
      <p:sp>
        <p:nvSpPr>
          <p:cNvPr id="32" name="Rounded Rectangle 31"/>
          <p:cNvSpPr/>
          <p:nvPr/>
        </p:nvSpPr>
        <p:spPr>
          <a:xfrm>
            <a:off x="6205575"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Barrier</a:t>
            </a:r>
          </a:p>
        </p:txBody>
      </p:sp>
      <p:sp>
        <p:nvSpPr>
          <p:cNvPr id="35" name="TextBox 34"/>
          <p:cNvSpPr txBox="1"/>
          <p:nvPr/>
        </p:nvSpPr>
        <p:spPr>
          <a:xfrm>
            <a:off x="6333591"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N-input fan-in that releases once every configured source has arrived.</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8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Orchestration and intelligence</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Design, connect, supervise and reason.</a:t>
            </a:r>
          </a:p>
        </p:txBody>
      </p:sp>
      <p:sp>
        <p:nvSpPr>
          <p:cNvPr id="8" name="Rounded Rectangle 7"/>
          <p:cNvSpPr/>
          <p:nvPr/>
        </p:nvSpPr>
        <p:spPr>
          <a:xfrm>
            <a:off x="566928"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40792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Parametrizer</a:t>
            </a:r>
          </a:p>
        </p:txBody>
      </p:sp>
      <p:sp>
        <p:nvSpPr>
          <p:cNvPr id="11" name="TextBox 10"/>
          <p:cNvSpPr txBox="1"/>
          <p:nvPr/>
        </p:nvSpPr>
        <p:spPr>
          <a:xfrm>
            <a:off x="694944"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Maps one agent's structured output into the next agent's configuration.</a:t>
            </a:r>
          </a:p>
        </p:txBody>
      </p:sp>
      <p:sp>
        <p:nvSpPr>
          <p:cNvPr id="12" name="Rounded Rectangle 11"/>
          <p:cNvSpPr/>
          <p:nvPr/>
        </p:nvSpPr>
        <p:spPr>
          <a:xfrm>
            <a:off x="3386251"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40792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FlowCreator</a:t>
            </a:r>
          </a:p>
        </p:txBody>
      </p:sp>
      <p:sp>
        <p:nvSpPr>
          <p:cNvPr id="15" name="TextBox 14"/>
          <p:cNvSpPr txBox="1"/>
          <p:nvPr/>
        </p:nvSpPr>
        <p:spPr>
          <a:xfrm>
            <a:off x="3514267"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Designs a complete, validated .flw workflow from a plain objective.</a:t>
            </a:r>
          </a:p>
        </p:txBody>
      </p:sp>
      <p:sp>
        <p:nvSpPr>
          <p:cNvPr id="16" name="Rounded Rectangle 15"/>
          <p:cNvSpPr/>
          <p:nvPr/>
        </p:nvSpPr>
        <p:spPr>
          <a:xfrm>
            <a:off x="6205575"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40792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FlowHypervisor</a:t>
            </a:r>
          </a:p>
        </p:txBody>
      </p:sp>
      <p:sp>
        <p:nvSpPr>
          <p:cNvPr id="19" name="TextBox 18"/>
          <p:cNvSpPr txBox="1"/>
          <p:nvPr/>
        </p:nvSpPr>
        <p:spPr>
          <a:xfrm>
            <a:off x="6333591"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A model watchdog that reads a running flow: OK or ATTENTION NEEDED.</a:t>
            </a:r>
          </a:p>
        </p:txBody>
      </p:sp>
      <p:sp>
        <p:nvSpPr>
          <p:cNvPr id="20" name="Rounded Rectangle 19"/>
          <p:cNvSpPr/>
          <p:nvPr/>
        </p:nvSpPr>
        <p:spPr>
          <a:xfrm>
            <a:off x="9024899"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40792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FlowBacker</a:t>
            </a:r>
          </a:p>
        </p:txBody>
      </p:sp>
      <p:sp>
        <p:nvSpPr>
          <p:cNvPr id="23" name="TextBox 22"/>
          <p:cNvSpPr txBox="1"/>
          <p:nvPr/>
        </p:nvSpPr>
        <p:spPr>
          <a:xfrm>
            <a:off x="9152915"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Backs up a session's logs and configurations before clean-up.</a:t>
            </a:r>
          </a:p>
        </p:txBody>
      </p:sp>
      <p:sp>
        <p:nvSpPr>
          <p:cNvPr id="24" name="Rounded Rectangle 23"/>
          <p:cNvSpPr/>
          <p:nvPr/>
        </p:nvSpPr>
        <p:spPr>
          <a:xfrm>
            <a:off x="566928"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Prompter</a:t>
            </a:r>
          </a:p>
        </p:txBody>
      </p:sp>
      <p:sp>
        <p:nvSpPr>
          <p:cNvPr id="27" name="TextBox 26"/>
          <p:cNvSpPr txBox="1"/>
          <p:nvPr/>
        </p:nvSpPr>
        <p:spPr>
          <a:xfrm>
            <a:off x="694944"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Sends one prompt to a model and logs a structured answer.</a:t>
            </a:r>
          </a:p>
        </p:txBody>
      </p:sp>
      <p:sp>
        <p:nvSpPr>
          <p:cNvPr id="28" name="Rounded Rectangle 27"/>
          <p:cNvSpPr/>
          <p:nvPr/>
        </p:nvSpPr>
        <p:spPr>
          <a:xfrm>
            <a:off x="3386251"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Summarizer</a:t>
            </a:r>
          </a:p>
        </p:txBody>
      </p:sp>
      <p:sp>
        <p:nvSpPr>
          <p:cNvPr id="31" name="TextBox 30"/>
          <p:cNvSpPr txBox="1"/>
          <p:nvPr/>
        </p:nvSpPr>
        <p:spPr>
          <a:xfrm>
            <a:off x="3514267"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Summarizes text once, or watches logs and fires on a detected event.</a:t>
            </a:r>
          </a:p>
        </p:txBody>
      </p:sp>
      <p:sp>
        <p:nvSpPr>
          <p:cNvPr id="32" name="Rounded Rectangle 31"/>
          <p:cNvSpPr/>
          <p:nvPr/>
        </p:nvSpPr>
        <p:spPr>
          <a:xfrm>
            <a:off x="6205575"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ACPXer</a:t>
            </a:r>
          </a:p>
        </p:txBody>
      </p:sp>
      <p:sp>
        <p:nvSpPr>
          <p:cNvPr id="35" name="TextBox 34"/>
          <p:cNvSpPr txBox="1"/>
          <p:nvPr/>
        </p:nvSpPr>
        <p:spPr>
          <a:xfrm>
            <a:off x="6333591"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Runs one external coding-agent CLI turn on the canvas and captures its answer.</a:t>
            </a:r>
          </a:p>
        </p:txBody>
      </p:sp>
      <p:sp>
        <p:nvSpPr>
          <p:cNvPr id="36" name="Rounded Rectangle 35"/>
          <p:cNvSpPr/>
          <p:nvPr/>
        </p:nvSpPr>
        <p:spPr>
          <a:xfrm>
            <a:off x="9024899"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189491"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52915"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MCP Doctor</a:t>
            </a:r>
          </a:p>
        </p:txBody>
      </p:sp>
      <p:sp>
        <p:nvSpPr>
          <p:cNvPr id="39" name="TextBox 38"/>
          <p:cNvSpPr txBox="1"/>
          <p:nvPr/>
        </p:nvSpPr>
        <p:spPr>
          <a:xfrm>
            <a:off x="9152915"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Diagnoses an external MCP server on paper, before any live connection.</a:t>
            </a:r>
          </a:p>
        </p:txBody>
      </p:sp>
      <p:cxnSp>
        <p:nvCxnSpPr>
          <p:cNvPr id="40" name="Connector 3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42" name="TextBox 4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14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Code, files and shell  (1/2)</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Find, read, change and run.</a:t>
            </a:r>
          </a:p>
        </p:txBody>
      </p:sp>
      <p:sp>
        <p:nvSpPr>
          <p:cNvPr id="8" name="Rounded Rectangle 7"/>
          <p:cNvSpPr/>
          <p:nvPr/>
        </p:nvSpPr>
        <p:spPr>
          <a:xfrm>
            <a:off x="566928"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Executer</a:t>
            </a:r>
          </a:p>
        </p:txBody>
      </p:sp>
      <p:sp>
        <p:nvSpPr>
          <p:cNvPr id="11" name="TextBox 10"/>
          <p:cNvSpPr txBox="1"/>
          <p:nvPr/>
        </p:nvSpPr>
        <p:spPr>
          <a:xfrm>
            <a:off x="694944"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Runs a shell command, optionally in its own visible console.</a:t>
            </a:r>
          </a:p>
        </p:txBody>
      </p:sp>
      <p:sp>
        <p:nvSpPr>
          <p:cNvPr id="12" name="Rounded Rectangle 11"/>
          <p:cNvSpPr/>
          <p:nvPr/>
        </p:nvSpPr>
        <p:spPr>
          <a:xfrm>
            <a:off x="3386251"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Pythonxer</a:t>
            </a:r>
          </a:p>
        </p:txBody>
      </p:sp>
      <p:sp>
        <p:nvSpPr>
          <p:cNvPr id="15" name="TextBox 14"/>
          <p:cNvSpPr txBox="1"/>
          <p:nvPr/>
        </p:nvSpPr>
        <p:spPr>
          <a:xfrm>
            <a:off x="3514267"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Runs inline Python behind a compile() and Ruff correctness gate.</a:t>
            </a:r>
          </a:p>
        </p:txBody>
      </p:sp>
      <p:sp>
        <p:nvSpPr>
          <p:cNvPr id="16" name="Rounded Rectangle 15"/>
          <p:cNvSpPr/>
          <p:nvPr/>
        </p:nvSpPr>
        <p:spPr>
          <a:xfrm>
            <a:off x="6205575"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Terminater</a:t>
            </a:r>
          </a:p>
        </p:txBody>
      </p:sp>
      <p:sp>
        <p:nvSpPr>
          <p:cNvPr id="19" name="TextBox 18"/>
          <p:cNvSpPr txBox="1"/>
          <p:nvPr/>
        </p:nvSpPr>
        <p:spPr>
          <a:xfrm>
            <a:off x="6333591"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Types commands into a real CMD or PowerShell terminal the user watches, and can hand the keyboard over.</a:t>
            </a:r>
          </a:p>
        </p:txBody>
      </p:sp>
      <p:sp>
        <p:nvSpPr>
          <p:cNvPr id="20" name="Rounded Rectangle 19"/>
          <p:cNvSpPr/>
          <p:nvPr/>
        </p:nvSpPr>
        <p:spPr>
          <a:xfrm>
            <a:off x="9024899"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212848"/>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Editor</a:t>
            </a:r>
          </a:p>
        </p:txBody>
      </p:sp>
      <p:sp>
        <p:nvSpPr>
          <p:cNvPr id="23" name="TextBox 22"/>
          <p:cNvSpPr txBox="1"/>
          <p:nvPr/>
        </p:nvSpPr>
        <p:spPr>
          <a:xfrm>
            <a:off x="9152915"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Byte-exact find-and-replace in one file; refuses an ambiguous match.</a:t>
            </a:r>
          </a:p>
        </p:txBody>
      </p:sp>
      <p:sp>
        <p:nvSpPr>
          <p:cNvPr id="24" name="Rounded Rectangle 23"/>
          <p:cNvSpPr/>
          <p:nvPr/>
        </p:nvSpPr>
        <p:spPr>
          <a:xfrm>
            <a:off x="566928"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Grepper</a:t>
            </a:r>
          </a:p>
        </p:txBody>
      </p:sp>
      <p:sp>
        <p:nvSpPr>
          <p:cNvPr id="27" name="TextBox 26"/>
          <p:cNvSpPr txBox="1"/>
          <p:nvPr/>
        </p:nvSpPr>
        <p:spPr>
          <a:xfrm>
            <a:off x="694944"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Encoding-aware regex search, plus verbatim reads of a line range.</a:t>
            </a:r>
          </a:p>
        </p:txBody>
      </p:sp>
      <p:sp>
        <p:nvSpPr>
          <p:cNvPr id="28" name="Rounded Rectangle 27"/>
          <p:cNvSpPr/>
          <p:nvPr/>
        </p:nvSpPr>
        <p:spPr>
          <a:xfrm>
            <a:off x="3386251"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Globber</a:t>
            </a:r>
          </a:p>
        </p:txBody>
      </p:sp>
      <p:sp>
        <p:nvSpPr>
          <p:cNvPr id="31" name="TextBox 30"/>
          <p:cNvSpPr txBox="1"/>
          <p:nvPr/>
        </p:nvSpPr>
        <p:spPr>
          <a:xfrm>
            <a:off x="3514267"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Finds files by glob pattern, newest first.</a:t>
            </a:r>
          </a:p>
        </p:txBody>
      </p:sp>
      <p:sp>
        <p:nvSpPr>
          <p:cNvPr id="32" name="Rounded Rectangle 31"/>
          <p:cNvSpPr/>
          <p:nvPr/>
        </p:nvSpPr>
        <p:spPr>
          <a:xfrm>
            <a:off x="6205575"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File-Creator</a:t>
            </a:r>
          </a:p>
        </p:txBody>
      </p:sp>
      <p:sp>
        <p:nvSpPr>
          <p:cNvPr id="35" name="TextBox 34"/>
          <p:cNvSpPr txBox="1"/>
          <p:nvPr/>
        </p:nvSpPr>
        <p:spPr>
          <a:xfrm>
            <a:off x="6333591"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Creates a file with exact content, including a base64 channel.</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14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Code, files and shell  (2/2)</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Find, read, change and run.</a:t>
            </a:r>
          </a:p>
        </p:txBody>
      </p:sp>
      <p:sp>
        <p:nvSpPr>
          <p:cNvPr id="8" name="Rounded Rectangle 7"/>
          <p:cNvSpPr/>
          <p:nvPr/>
        </p:nvSpPr>
        <p:spPr>
          <a:xfrm>
            <a:off x="566928" y="2508504"/>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6365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7279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Mover</a:t>
            </a:r>
          </a:p>
        </p:txBody>
      </p:sp>
      <p:sp>
        <p:nvSpPr>
          <p:cNvPr id="11" name="TextBox 10"/>
          <p:cNvSpPr txBox="1"/>
          <p:nvPr/>
        </p:nvSpPr>
        <p:spPr>
          <a:xfrm>
            <a:off x="694944" y="3127248"/>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Moves or copies files by glob pattern.</a:t>
            </a:r>
          </a:p>
        </p:txBody>
      </p:sp>
      <p:sp>
        <p:nvSpPr>
          <p:cNvPr id="12" name="Rounded Rectangle 11"/>
          <p:cNvSpPr/>
          <p:nvPr/>
        </p:nvSpPr>
        <p:spPr>
          <a:xfrm>
            <a:off x="3386251" y="2508504"/>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6365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7279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Deleter</a:t>
            </a:r>
          </a:p>
        </p:txBody>
      </p:sp>
      <p:sp>
        <p:nvSpPr>
          <p:cNvPr id="15" name="TextBox 14"/>
          <p:cNvSpPr txBox="1"/>
          <p:nvPr/>
        </p:nvSpPr>
        <p:spPr>
          <a:xfrm>
            <a:off x="3514267" y="3127248"/>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Deletes by glob inside a guarded working directory.</a:t>
            </a:r>
          </a:p>
        </p:txBody>
      </p:sp>
      <p:sp>
        <p:nvSpPr>
          <p:cNvPr id="16" name="Rounded Rectangle 15"/>
          <p:cNvSpPr/>
          <p:nvPr/>
        </p:nvSpPr>
        <p:spPr>
          <a:xfrm>
            <a:off x="6205575" y="2508504"/>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6365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7279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File-Interpreter</a:t>
            </a:r>
          </a:p>
        </p:txBody>
      </p:sp>
      <p:sp>
        <p:nvSpPr>
          <p:cNvPr id="19" name="TextBox 18"/>
          <p:cNvSpPr txBox="1"/>
          <p:nvPr/>
        </p:nvSpPr>
        <p:spPr>
          <a:xfrm>
            <a:off x="6333591" y="3127248"/>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Reads DOCX, PPTX, XLSX, PDF and more, optionally summarizing them.</a:t>
            </a:r>
          </a:p>
        </p:txBody>
      </p:sp>
      <p:sp>
        <p:nvSpPr>
          <p:cNvPr id="20" name="Rounded Rectangle 19"/>
          <p:cNvSpPr/>
          <p:nvPr/>
        </p:nvSpPr>
        <p:spPr>
          <a:xfrm>
            <a:off x="9024899" y="2508504"/>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6365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7279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File-Extractor</a:t>
            </a:r>
          </a:p>
        </p:txBody>
      </p:sp>
      <p:sp>
        <p:nvSpPr>
          <p:cNvPr id="23" name="TextBox 22"/>
          <p:cNvSpPr txBox="1"/>
          <p:nvPr/>
        </p:nvSpPr>
        <p:spPr>
          <a:xfrm>
            <a:off x="9152915" y="3127248"/>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Extracts raw text from PDF, DOCX and similar documents.</a:t>
            </a:r>
          </a:p>
        </p:txBody>
      </p:sp>
      <p:sp>
        <p:nvSpPr>
          <p:cNvPr id="24" name="Rounded Rectangle 23"/>
          <p:cNvSpPr/>
          <p:nvPr/>
        </p:nvSpPr>
        <p:spPr>
          <a:xfrm>
            <a:off x="566928" y="4251960"/>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De-Compresser</a:t>
            </a:r>
          </a:p>
        </p:txBody>
      </p:sp>
      <p:sp>
        <p:nvSpPr>
          <p:cNvPr id="27" name="TextBox 26"/>
          <p:cNvSpPr txBox="1"/>
          <p:nvPr/>
        </p:nvSpPr>
        <p:spPr>
          <a:xfrm>
            <a:off x="694944" y="4870704"/>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Compresses or decompresses .zip, .7z, .gz and tar archives.</a:t>
            </a:r>
          </a:p>
        </p:txBody>
      </p:sp>
      <p:sp>
        <p:nvSpPr>
          <p:cNvPr id="28" name="Rounded Rectangle 27"/>
          <p:cNvSpPr/>
          <p:nvPr/>
        </p:nvSpPr>
        <p:spPr>
          <a:xfrm>
            <a:off x="3386251" y="4251960"/>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J-Decompiler</a:t>
            </a:r>
          </a:p>
        </p:txBody>
      </p:sp>
      <p:sp>
        <p:nvSpPr>
          <p:cNvPr id="31" name="TextBox 30"/>
          <p:cNvSpPr txBox="1"/>
          <p:nvPr/>
        </p:nvSpPr>
        <p:spPr>
          <a:xfrm>
            <a:off x="3514267" y="4870704"/>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Decompiles JAR and WAR archives with the bundled jd-cli.</a:t>
            </a:r>
          </a:p>
        </p:txBody>
      </p:sp>
      <p:sp>
        <p:nvSpPr>
          <p:cNvPr id="32" name="Rounded Rectangle 31"/>
          <p:cNvSpPr/>
          <p:nvPr/>
        </p:nvSpPr>
        <p:spPr>
          <a:xfrm>
            <a:off x="6205575" y="4251960"/>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Gitter</a:t>
            </a:r>
          </a:p>
        </p:txBody>
      </p:sp>
      <p:sp>
        <p:nvSpPr>
          <p:cNvPr id="35" name="TextBox 34"/>
          <p:cNvSpPr txBox="1"/>
          <p:nvPr/>
        </p:nvSpPr>
        <p:spPr>
          <a:xfrm>
            <a:off x="6333591" y="4870704"/>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Runs git operations and custom git commands.</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3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Documents</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Compose, typeset and present.</a:t>
            </a:r>
          </a:p>
        </p:txBody>
      </p:sp>
      <p:sp>
        <p:nvSpPr>
          <p:cNvPr id="8" name="Rounded Rectangle 7"/>
          <p:cNvSpPr/>
          <p:nvPr/>
        </p:nvSpPr>
        <p:spPr>
          <a:xfrm>
            <a:off x="566928" y="3330701"/>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345871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3550157"/>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PDFer</a:t>
            </a:r>
          </a:p>
        </p:txBody>
      </p:sp>
      <p:sp>
        <p:nvSpPr>
          <p:cNvPr id="11" name="TextBox 10"/>
          <p:cNvSpPr txBox="1"/>
          <p:nvPr/>
        </p:nvSpPr>
        <p:spPr>
          <a:xfrm>
            <a:off x="694944" y="3979925"/>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Composes PDFs from text, Markdown, HTML and images: 24 styles, 20 themes.</a:t>
            </a:r>
          </a:p>
        </p:txBody>
      </p:sp>
      <p:sp>
        <p:nvSpPr>
          <p:cNvPr id="12" name="Rounded Rectangle 11"/>
          <p:cNvSpPr/>
          <p:nvPr/>
        </p:nvSpPr>
        <p:spPr>
          <a:xfrm>
            <a:off x="4326026" y="3330701"/>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345871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3550157"/>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PPTXer</a:t>
            </a:r>
          </a:p>
        </p:txBody>
      </p:sp>
      <p:sp>
        <p:nvSpPr>
          <p:cNvPr id="15" name="TextBox 14"/>
          <p:cNvSpPr txBox="1"/>
          <p:nvPr/>
        </p:nvSpPr>
        <p:spPr>
          <a:xfrm>
            <a:off x="4454042" y="3979925"/>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Builds editable PowerPoint decks whose text is measured, never truncated.</a:t>
            </a:r>
          </a:p>
        </p:txBody>
      </p:sp>
      <p:sp>
        <p:nvSpPr>
          <p:cNvPr id="16" name="Rounded Rectangle 15"/>
          <p:cNvSpPr/>
          <p:nvPr/>
        </p:nvSpPr>
        <p:spPr>
          <a:xfrm>
            <a:off x="8085124" y="3330701"/>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3458718"/>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3550157"/>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LaTeXer</a:t>
            </a:r>
          </a:p>
        </p:txBody>
      </p:sp>
      <p:sp>
        <p:nvSpPr>
          <p:cNvPr id="19" name="TextBox 18"/>
          <p:cNvSpPr txBox="1"/>
          <p:nvPr/>
        </p:nvSpPr>
        <p:spPr>
          <a:xfrm>
            <a:off x="8213140" y="3979925"/>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Typesets LaTeX projects, with a self-healing eight-rung repair ladder.</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7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Web, data and APIs</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Search, browse, call and measure.</a:t>
            </a:r>
          </a:p>
        </p:txBody>
      </p:sp>
      <p:sp>
        <p:nvSpPr>
          <p:cNvPr id="8" name="Rounded Rectangle 7"/>
          <p:cNvSpPr/>
          <p:nvPr/>
        </p:nvSpPr>
        <p:spPr>
          <a:xfrm>
            <a:off x="566928"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Googler</a:t>
            </a:r>
          </a:p>
        </p:txBody>
      </p:sp>
      <p:sp>
        <p:nvSpPr>
          <p:cNvPr id="11" name="TextBox 10"/>
          <p:cNvSpPr txBox="1"/>
          <p:nvPr/>
        </p:nvSpPr>
        <p:spPr>
          <a:xfrm>
            <a:off x="694944"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Resilient two-tier web search with a structured Google-dork builder.</a:t>
            </a:r>
          </a:p>
        </p:txBody>
      </p:sp>
      <p:sp>
        <p:nvSpPr>
          <p:cNvPr id="12" name="Rounded Rectangle 11"/>
          <p:cNvSpPr/>
          <p:nvPr/>
        </p:nvSpPr>
        <p:spPr>
          <a:xfrm>
            <a:off x="3386251"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Crawler</a:t>
            </a:r>
          </a:p>
        </p:txBody>
      </p:sp>
      <p:sp>
        <p:nvSpPr>
          <p:cNvPr id="15" name="TextBox 14"/>
          <p:cNvSpPr txBox="1"/>
          <p:nvPr/>
        </p:nvSpPr>
        <p:spPr>
          <a:xfrm>
            <a:off x="3514267"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Fetches a page raw or as text and analyzes it with a model.</a:t>
            </a:r>
          </a:p>
        </p:txBody>
      </p:sp>
      <p:sp>
        <p:nvSpPr>
          <p:cNvPr id="16" name="Rounded Rectangle 15"/>
          <p:cNvSpPr/>
          <p:nvPr/>
        </p:nvSpPr>
        <p:spPr>
          <a:xfrm>
            <a:off x="6205575"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Playwrighter</a:t>
            </a:r>
          </a:p>
        </p:txBody>
      </p:sp>
      <p:sp>
        <p:nvSpPr>
          <p:cNvPr id="19" name="TextBox 18"/>
          <p:cNvSpPr txBox="1"/>
          <p:nvPr/>
        </p:nvSpPr>
        <p:spPr>
          <a:xfrm>
            <a:off x="6333591"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Drives a real browser through scripted steps: log in, fill, click, extract.</a:t>
            </a:r>
          </a:p>
        </p:txBody>
      </p:sp>
      <p:sp>
        <p:nvSpPr>
          <p:cNvPr id="20" name="Rounded Rectangle 19"/>
          <p:cNvSpPr/>
          <p:nvPr/>
        </p:nvSpPr>
        <p:spPr>
          <a:xfrm>
            <a:off x="9024899" y="2084831"/>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304287"/>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Apirer</a:t>
            </a:r>
          </a:p>
        </p:txBody>
      </p:sp>
      <p:sp>
        <p:nvSpPr>
          <p:cNvPr id="23" name="TextBox 22"/>
          <p:cNvSpPr txBox="1"/>
          <p:nvPr/>
        </p:nvSpPr>
        <p:spPr>
          <a:xfrm>
            <a:off x="9152915" y="2703575"/>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Calls REST APIs with any method, headers, body and timeout.</a:t>
            </a:r>
          </a:p>
        </p:txBody>
      </p:sp>
      <p:sp>
        <p:nvSpPr>
          <p:cNvPr id="24" name="Rounded Rectangle 23"/>
          <p:cNvSpPr/>
          <p:nvPr/>
        </p:nvSpPr>
        <p:spPr>
          <a:xfrm>
            <a:off x="566928"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SQLer</a:t>
            </a:r>
          </a:p>
        </p:txBody>
      </p:sp>
      <p:sp>
        <p:nvSpPr>
          <p:cNvPr id="27" name="TextBox 26"/>
          <p:cNvSpPr txBox="1"/>
          <p:nvPr/>
        </p:nvSpPr>
        <p:spPr>
          <a:xfrm>
            <a:off x="694944"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Runs Python against Microsoft SQL Server with a ready cursor.</a:t>
            </a:r>
          </a:p>
        </p:txBody>
      </p:sp>
      <p:sp>
        <p:nvSpPr>
          <p:cNvPr id="28" name="Rounded Rectangle 27"/>
          <p:cNvSpPr/>
          <p:nvPr/>
        </p:nvSpPr>
        <p:spPr>
          <a:xfrm>
            <a:off x="3386251"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Mongoxer</a:t>
            </a:r>
          </a:p>
        </p:txBody>
      </p:sp>
      <p:sp>
        <p:nvSpPr>
          <p:cNvPr id="31" name="TextBox 30"/>
          <p:cNvSpPr txBox="1"/>
          <p:nvPr/>
        </p:nvSpPr>
        <p:spPr>
          <a:xfrm>
            <a:off x="3514267" y="4870704"/>
            <a:ext cx="2343835" cy="1237488"/>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Runs Python against MongoDB with a ready database handle.</a:t>
            </a:r>
          </a:p>
        </p:txBody>
      </p:sp>
      <p:sp>
        <p:nvSpPr>
          <p:cNvPr id="32" name="Rounded Rectangle 31"/>
          <p:cNvSpPr/>
          <p:nvPr/>
        </p:nvSpPr>
        <p:spPr>
          <a:xfrm>
            <a:off x="6205575" y="4251960"/>
            <a:ext cx="2599867" cy="1947672"/>
          </a:xfrm>
          <a:prstGeom prst="roundRect">
            <a:avLst>
              <a:gd name="adj" fmla="val 563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68884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NetSpeed-
Calculator</a:t>
            </a:r>
          </a:p>
        </p:txBody>
      </p:sp>
      <p:sp>
        <p:nvSpPr>
          <p:cNvPr id="35" name="TextBox 34"/>
          <p:cNvSpPr txBox="1"/>
          <p:nvPr/>
        </p:nvSpPr>
        <p:spPr>
          <a:xfrm>
            <a:off x="6333591" y="5160264"/>
            <a:ext cx="2343835" cy="947927"/>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a:rPr>
              <a:t>Measures your connection with confidence intervals and bufferbloat.</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6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DevOps and infrastructure</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Containers, clusters, pipelines and hosts.</a:t>
            </a:r>
          </a:p>
        </p:txBody>
      </p:sp>
      <p:sp>
        <p:nvSpPr>
          <p:cNvPr id="8" name="Rounded Rectangle 7"/>
          <p:cNvSpPr/>
          <p:nvPr/>
        </p:nvSpPr>
        <p:spPr>
          <a:xfrm>
            <a:off x="566928" y="2660903"/>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788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880359"/>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Dockerer</a:t>
            </a:r>
          </a:p>
        </p:txBody>
      </p:sp>
      <p:sp>
        <p:nvSpPr>
          <p:cNvPr id="11" name="TextBox 10"/>
          <p:cNvSpPr txBox="1"/>
          <p:nvPr/>
        </p:nvSpPr>
        <p:spPr>
          <a:xfrm>
            <a:off x="694944" y="3310127"/>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A Docker and docker-compose front-end.</a:t>
            </a:r>
          </a:p>
        </p:txBody>
      </p:sp>
      <p:sp>
        <p:nvSpPr>
          <p:cNvPr id="12" name="Rounded Rectangle 11"/>
          <p:cNvSpPr/>
          <p:nvPr/>
        </p:nvSpPr>
        <p:spPr>
          <a:xfrm>
            <a:off x="4326026" y="2660903"/>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788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880359"/>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Kuberneter</a:t>
            </a:r>
          </a:p>
        </p:txBody>
      </p:sp>
      <p:sp>
        <p:nvSpPr>
          <p:cNvPr id="15" name="TextBox 14"/>
          <p:cNvSpPr txBox="1"/>
          <p:nvPr/>
        </p:nvSpPr>
        <p:spPr>
          <a:xfrm>
            <a:off x="4454042" y="3310127"/>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A kubectl front-end with a structured, truthful result.</a:t>
            </a:r>
          </a:p>
        </p:txBody>
      </p:sp>
      <p:sp>
        <p:nvSpPr>
          <p:cNvPr id="16" name="Rounded Rectangle 15"/>
          <p:cNvSpPr/>
          <p:nvPr/>
        </p:nvSpPr>
        <p:spPr>
          <a:xfrm>
            <a:off x="8085124" y="2660903"/>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788920"/>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880359"/>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Jenkinser</a:t>
            </a:r>
          </a:p>
        </p:txBody>
      </p:sp>
      <p:sp>
        <p:nvSpPr>
          <p:cNvPr id="19" name="TextBox 18"/>
          <p:cNvSpPr txBox="1"/>
          <p:nvPr/>
        </p:nvSpPr>
        <p:spPr>
          <a:xfrm>
            <a:off x="8213140" y="3310127"/>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Triggers Jenkins jobs, handling the CSRF crumb.</a:t>
            </a:r>
          </a:p>
        </p:txBody>
      </p:sp>
      <p:sp>
        <p:nvSpPr>
          <p:cNvPr id="20" name="Rounded Rectangle 19"/>
          <p:cNvSpPr/>
          <p:nvPr/>
        </p:nvSpPr>
        <p:spPr>
          <a:xfrm>
            <a:off x="566928" y="4251960"/>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SSHer</a:t>
            </a:r>
          </a:p>
        </p:txBody>
      </p:sp>
      <p:sp>
        <p:nvSpPr>
          <p:cNvPr id="23" name="TextBox 22"/>
          <p:cNvSpPr txBox="1"/>
          <p:nvPr/>
        </p:nvSpPr>
        <p:spPr>
          <a:xfrm>
            <a:off x="694944" y="4901184"/>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Runs a command on a remote host over SSH.</a:t>
            </a:r>
          </a:p>
        </p:txBody>
      </p:sp>
      <p:sp>
        <p:nvSpPr>
          <p:cNvPr id="24" name="Rounded Rectangle 23"/>
          <p:cNvSpPr/>
          <p:nvPr/>
        </p:nvSpPr>
        <p:spPr>
          <a:xfrm>
            <a:off x="4326026" y="4251960"/>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SCPer</a:t>
            </a:r>
          </a:p>
        </p:txBody>
      </p:sp>
      <p:sp>
        <p:nvSpPr>
          <p:cNvPr id="27" name="TextBox 26"/>
          <p:cNvSpPr txBox="1"/>
          <p:nvPr/>
        </p:nvSpPr>
        <p:spPr>
          <a:xfrm>
            <a:off x="4454042" y="4901184"/>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Sends or receives files over SCP.</a:t>
            </a:r>
          </a:p>
        </p:txBody>
      </p:sp>
      <p:sp>
        <p:nvSpPr>
          <p:cNvPr id="28" name="Rounded Rectangle 27"/>
          <p:cNvSpPr/>
          <p:nvPr/>
        </p:nvSpPr>
        <p:spPr>
          <a:xfrm>
            <a:off x="8085124" y="4251960"/>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49716" y="4379976"/>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13140"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PSer</a:t>
            </a:r>
          </a:p>
        </p:txBody>
      </p:sp>
      <p:sp>
        <p:nvSpPr>
          <p:cNvPr id="31" name="TextBox 30"/>
          <p:cNvSpPr txBox="1"/>
          <p:nvPr/>
        </p:nvSpPr>
        <p:spPr>
          <a:xfrm>
            <a:off x="8213140" y="4901184"/>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Finds a running process from a fuzzy name with a model's help.</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8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Quality and security</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Review, analyze, assess and protect.</a:t>
            </a:r>
          </a:p>
        </p:txBody>
      </p:sp>
      <p:sp>
        <p:nvSpPr>
          <p:cNvPr id="8" name="Rounded Rectangle 7"/>
          <p:cNvSpPr/>
          <p:nvPr/>
        </p:nvSpPr>
        <p:spPr>
          <a:xfrm>
            <a:off x="566928"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407920"/>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Reviewer</a:t>
            </a:r>
          </a:p>
        </p:txBody>
      </p:sp>
      <p:sp>
        <p:nvSpPr>
          <p:cNvPr id="11" name="TextBox 10"/>
          <p:cNvSpPr txBox="1"/>
          <p:nvPr/>
        </p:nvSpPr>
        <p:spPr>
          <a:xfrm>
            <a:off x="694944"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Model-driven review of a git diff with an APPROVE or REQUEST_CHANGES verdict.</a:t>
            </a:r>
          </a:p>
        </p:txBody>
      </p:sp>
      <p:sp>
        <p:nvSpPr>
          <p:cNvPr id="12" name="Rounded Rectangle 11"/>
          <p:cNvSpPr/>
          <p:nvPr/>
        </p:nvSpPr>
        <p:spPr>
          <a:xfrm>
            <a:off x="3386251"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407920"/>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Analyzer</a:t>
            </a:r>
          </a:p>
        </p:txBody>
      </p:sp>
      <p:sp>
        <p:nvSpPr>
          <p:cNvPr id="15" name="TextBox 14"/>
          <p:cNvSpPr txBox="1"/>
          <p:nvPr/>
        </p:nvSpPr>
        <p:spPr>
          <a:xfrm>
            <a:off x="3514267"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Deterministic static analysis: bandit, semgrep, ruff, eslint, gitleaks, pip-audit.</a:t>
            </a:r>
          </a:p>
        </p:txBody>
      </p:sp>
      <p:sp>
        <p:nvSpPr>
          <p:cNvPr id="16" name="Rounded Rectangle 15"/>
          <p:cNvSpPr/>
          <p:nvPr/>
        </p:nvSpPr>
        <p:spPr>
          <a:xfrm>
            <a:off x="6205575"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407920"/>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Kalier</a:t>
            </a:r>
          </a:p>
        </p:txBody>
      </p:sp>
      <p:sp>
        <p:nvSpPr>
          <p:cNvPr id="19" name="TextBox 18"/>
          <p:cNvSpPr txBox="1"/>
          <p:nvPr/>
        </p:nvSpPr>
        <p:spPr>
          <a:xfrm>
            <a:off x="6333591"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Authorized Kali Linux tooling through MCP-Kali-Server.</a:t>
            </a:r>
          </a:p>
        </p:txBody>
      </p:sp>
      <p:sp>
        <p:nvSpPr>
          <p:cNvPr id="20" name="Rounded Rectangle 19"/>
          <p:cNvSpPr/>
          <p:nvPr/>
        </p:nvSpPr>
        <p:spPr>
          <a:xfrm>
            <a:off x="9024899" y="2279904"/>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407920"/>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4993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Discoverer</a:t>
            </a:r>
          </a:p>
        </p:txBody>
      </p:sp>
      <p:sp>
        <p:nvSpPr>
          <p:cNvPr id="23" name="TextBox 22"/>
          <p:cNvSpPr txBox="1"/>
          <p:nvPr/>
        </p:nvSpPr>
        <p:spPr>
          <a:xfrm>
            <a:off x="9152915" y="2898648"/>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The ProjectDiscovery recon suite on a private, self-installing Go toolchain.</a:t>
            </a:r>
          </a:p>
        </p:txBody>
      </p:sp>
      <p:sp>
        <p:nvSpPr>
          <p:cNvPr id="24" name="Rounded Rectangle 23"/>
          <p:cNvSpPr/>
          <p:nvPr/>
        </p:nvSpPr>
        <p:spPr>
          <a:xfrm>
            <a:off x="566928"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Nmapper</a:t>
            </a:r>
          </a:p>
        </p:txBody>
      </p:sp>
      <p:sp>
        <p:nvSpPr>
          <p:cNvPr id="27" name="TextBox 26"/>
          <p:cNvSpPr txBox="1"/>
          <p:nvPr/>
        </p:nvSpPr>
        <p:spPr>
          <a:xfrm>
            <a:off x="694944"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A local, use-only nmap bridge; unprivileged connect scan by default.</a:t>
            </a:r>
          </a:p>
        </p:txBody>
      </p:sp>
      <p:sp>
        <p:nvSpPr>
          <p:cNvPr id="28" name="Rounded Rectangle 27"/>
          <p:cNvSpPr/>
          <p:nvPr/>
        </p:nvSpPr>
        <p:spPr>
          <a:xfrm>
            <a:off x="3386251"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Kyber-KeyGen</a:t>
            </a:r>
          </a:p>
        </p:txBody>
      </p:sp>
      <p:sp>
        <p:nvSpPr>
          <p:cNvPr id="31" name="TextBox 30"/>
          <p:cNvSpPr txBox="1"/>
          <p:nvPr/>
        </p:nvSpPr>
        <p:spPr>
          <a:xfrm>
            <a:off x="3514267"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Generates CRYSTALS-Kyber post-quantum key pairs.</a:t>
            </a:r>
          </a:p>
        </p:txBody>
      </p:sp>
      <p:sp>
        <p:nvSpPr>
          <p:cNvPr id="32" name="Rounded Rectangle 31"/>
          <p:cNvSpPr/>
          <p:nvPr/>
        </p:nvSpPr>
        <p:spPr>
          <a:xfrm>
            <a:off x="6205575"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Kyber-Cipher</a:t>
            </a:r>
          </a:p>
        </p:txBody>
      </p:sp>
      <p:sp>
        <p:nvSpPr>
          <p:cNvPr id="35" name="TextBox 34"/>
          <p:cNvSpPr txBox="1"/>
          <p:nvPr/>
        </p:nvSpPr>
        <p:spPr>
          <a:xfrm>
            <a:off x="6333591"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Encrypts with Kyber post-quantum cryptography.</a:t>
            </a:r>
          </a:p>
        </p:txBody>
      </p:sp>
      <p:sp>
        <p:nvSpPr>
          <p:cNvPr id="36" name="Rounded Rectangle 35"/>
          <p:cNvSpPr/>
          <p:nvPr/>
        </p:nvSpPr>
        <p:spPr>
          <a:xfrm>
            <a:off x="9024899" y="4251960"/>
            <a:ext cx="2599867" cy="1752600"/>
          </a:xfrm>
          <a:prstGeom prst="roundRect">
            <a:avLst>
              <a:gd name="adj" fmla="val 62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9189491" y="4379976"/>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152915"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Kyber-DeCipher</a:t>
            </a:r>
          </a:p>
        </p:txBody>
      </p:sp>
      <p:sp>
        <p:nvSpPr>
          <p:cNvPr id="39" name="TextBox 38"/>
          <p:cNvSpPr txBox="1"/>
          <p:nvPr/>
        </p:nvSpPr>
        <p:spPr>
          <a:xfrm>
            <a:off x="9152915" y="4870704"/>
            <a:ext cx="2343835" cy="10424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Decrypts Kyber-protected data.</a:t>
            </a:r>
          </a:p>
        </p:txBody>
      </p:sp>
      <p:cxnSp>
        <p:nvCxnSpPr>
          <p:cNvPr id="40" name="Connector 3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42" name="TextBox 4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6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Firmware and engines</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Real boards and live editors.</a:t>
            </a:r>
          </a:p>
        </p:txBody>
      </p:sp>
      <p:sp>
        <p:nvSpPr>
          <p:cNvPr id="8" name="Rounded Rectangle 7"/>
          <p:cNvSpPr/>
          <p:nvPr/>
        </p:nvSpPr>
        <p:spPr>
          <a:xfrm>
            <a:off x="566928"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53746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STM32er</a:t>
            </a:r>
          </a:p>
        </p:txBody>
      </p:sp>
      <p:sp>
        <p:nvSpPr>
          <p:cNvPr id="11" name="TextBox 10"/>
          <p:cNvSpPr txBox="1"/>
          <p:nvPr/>
        </p:nvSpPr>
        <p:spPr>
          <a:xfrm>
            <a:off x="694944"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STM32 firmware from Blue Pill to H7: build, flash, observe, fail-safe.</a:t>
            </a:r>
          </a:p>
        </p:txBody>
      </p:sp>
      <p:sp>
        <p:nvSpPr>
          <p:cNvPr id="12" name="Rounded Rectangle 11"/>
          <p:cNvSpPr/>
          <p:nvPr/>
        </p:nvSpPr>
        <p:spPr>
          <a:xfrm>
            <a:off x="4326026"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53746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ESP32er</a:t>
            </a:r>
          </a:p>
        </p:txBody>
      </p:sp>
      <p:sp>
        <p:nvSpPr>
          <p:cNvPr id="15" name="TextBox 14"/>
          <p:cNvSpPr txBox="1"/>
          <p:nvPr/>
        </p:nvSpPr>
        <p:spPr>
          <a:xfrm>
            <a:off x="4454042"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ESP32 firmware through PlatformIO, from a template that compiles at once.</a:t>
            </a:r>
          </a:p>
        </p:txBody>
      </p:sp>
      <p:sp>
        <p:nvSpPr>
          <p:cNvPr id="16" name="Rounded Rectangle 15"/>
          <p:cNvSpPr/>
          <p:nvPr/>
        </p:nvSpPr>
        <p:spPr>
          <a:xfrm>
            <a:off x="8085124" y="2409444"/>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537460"/>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628900"/>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Arduiner</a:t>
            </a:r>
          </a:p>
        </p:txBody>
      </p:sp>
      <p:sp>
        <p:nvSpPr>
          <p:cNvPr id="19" name="TextBox 18"/>
          <p:cNvSpPr txBox="1"/>
          <p:nvPr/>
        </p:nvSpPr>
        <p:spPr>
          <a:xfrm>
            <a:off x="8213140" y="3058668"/>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Arduino firmware through arduino-cli, with cores installed automatically.</a:t>
            </a:r>
          </a:p>
        </p:txBody>
      </p:sp>
      <p:sp>
        <p:nvSpPr>
          <p:cNvPr id="20" name="Rounded Rectangle 19"/>
          <p:cNvSpPr/>
          <p:nvPr/>
        </p:nvSpPr>
        <p:spPr>
          <a:xfrm>
            <a:off x="566928"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ESPHomer</a:t>
            </a:r>
          </a:p>
        </p:txBody>
      </p:sp>
      <p:sp>
        <p:nvSpPr>
          <p:cNvPr id="23" name="TextBox 22"/>
          <p:cNvSpPr txBox="1"/>
          <p:nvPr/>
        </p:nvSpPr>
        <p:spPr>
          <a:xfrm>
            <a:off x="694944"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ESPHome smart-home devices from YAML, no C++ required.</a:t>
            </a:r>
          </a:p>
        </p:txBody>
      </p:sp>
      <p:sp>
        <p:nvSpPr>
          <p:cNvPr id="24" name="Rounded Rectangle 23"/>
          <p:cNvSpPr/>
          <p:nvPr/>
        </p:nvSpPr>
        <p:spPr>
          <a:xfrm>
            <a:off x="4326026"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Unrealer</a:t>
            </a:r>
          </a:p>
        </p:txBody>
      </p:sp>
      <p:sp>
        <p:nvSpPr>
          <p:cNvPr id="27" name="TextBox 26"/>
          <p:cNvSpPr txBox="1"/>
          <p:nvPr/>
        </p:nvSpPr>
        <p:spPr>
          <a:xfrm>
            <a:off x="4454042"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Drives a live Unreal Engine 5 editor: 53 commands in nine categories.</a:t>
            </a:r>
          </a:p>
        </p:txBody>
      </p:sp>
      <p:sp>
        <p:nvSpPr>
          <p:cNvPr id="28" name="Rounded Rectangle 27"/>
          <p:cNvSpPr/>
          <p:nvPr/>
        </p:nvSpPr>
        <p:spPr>
          <a:xfrm>
            <a:off x="8085124" y="4251960"/>
            <a:ext cx="3539642" cy="1623060"/>
          </a:xfrm>
          <a:prstGeom prst="roundRect">
            <a:avLst>
              <a:gd name="adj" fmla="val 676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49716" y="4379976"/>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13140"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Blenderer</a:t>
            </a:r>
          </a:p>
        </p:txBody>
      </p:sp>
      <p:sp>
        <p:nvSpPr>
          <p:cNvPr id="31" name="TextBox 30"/>
          <p:cNvSpPr txBox="1"/>
          <p:nvPr/>
        </p:nvSpPr>
        <p:spPr>
          <a:xfrm>
            <a:off x="8213140" y="4901184"/>
            <a:ext cx="3283610" cy="88239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Drives Blender over the official Blender MCP add-on socket.</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5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Desktop and capture</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See the screen, move the pointer, type.</a:t>
            </a:r>
          </a:p>
        </p:txBody>
      </p:sp>
      <p:sp>
        <p:nvSpPr>
          <p:cNvPr id="8" name="Rounded Rectangle 7"/>
          <p:cNvSpPr/>
          <p:nvPr/>
        </p:nvSpPr>
        <p:spPr>
          <a:xfrm>
            <a:off x="566928" y="2660903"/>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7889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880359"/>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Mouser</a:t>
            </a:r>
          </a:p>
        </p:txBody>
      </p:sp>
      <p:sp>
        <p:nvSpPr>
          <p:cNvPr id="11" name="TextBox 10"/>
          <p:cNvSpPr txBox="1"/>
          <p:nvPr/>
        </p:nvSpPr>
        <p:spPr>
          <a:xfrm>
            <a:off x="694944" y="3310127"/>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Moves and clicks in explicitly declared coordinate spaces.</a:t>
            </a:r>
          </a:p>
        </p:txBody>
      </p:sp>
      <p:sp>
        <p:nvSpPr>
          <p:cNvPr id="12" name="Rounded Rectangle 11"/>
          <p:cNvSpPr/>
          <p:nvPr/>
        </p:nvSpPr>
        <p:spPr>
          <a:xfrm>
            <a:off x="4326026" y="2660903"/>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7889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880359"/>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Keyboarder</a:t>
            </a:r>
          </a:p>
        </p:txBody>
      </p:sp>
      <p:sp>
        <p:nvSpPr>
          <p:cNvPr id="15" name="TextBox 14"/>
          <p:cNvSpPr txBox="1"/>
          <p:nvPr/>
        </p:nvSpPr>
        <p:spPr>
          <a:xfrm>
            <a:off x="4454042" y="3310127"/>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Types Unicode into a verified foreground window.</a:t>
            </a:r>
          </a:p>
        </p:txBody>
      </p:sp>
      <p:sp>
        <p:nvSpPr>
          <p:cNvPr id="16" name="Rounded Rectangle 15"/>
          <p:cNvSpPr/>
          <p:nvPr/>
        </p:nvSpPr>
        <p:spPr>
          <a:xfrm>
            <a:off x="8085124" y="2660903"/>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788920"/>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880359"/>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Windower</a:t>
            </a:r>
          </a:p>
        </p:txBody>
      </p:sp>
      <p:sp>
        <p:nvSpPr>
          <p:cNvPr id="19" name="TextBox 18"/>
          <p:cNvSpPr txBox="1"/>
          <p:nvPr/>
        </p:nvSpPr>
        <p:spPr>
          <a:xfrm>
            <a:off x="8213140" y="3310127"/>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Focuses, tiles, resizes, lists and closes windows by title.</a:t>
            </a:r>
          </a:p>
        </p:txBody>
      </p:sp>
      <p:sp>
        <p:nvSpPr>
          <p:cNvPr id="20" name="Rounded Rectangle 19"/>
          <p:cNvSpPr/>
          <p:nvPr/>
        </p:nvSpPr>
        <p:spPr>
          <a:xfrm>
            <a:off x="566928" y="4251960"/>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Shoter</a:t>
            </a:r>
          </a:p>
        </p:txBody>
      </p:sp>
      <p:sp>
        <p:nvSpPr>
          <p:cNvPr id="23" name="TextBox 22"/>
          <p:cNvSpPr txBox="1"/>
          <p:nvPr/>
        </p:nvSpPr>
        <p:spPr>
          <a:xfrm>
            <a:off x="694944" y="4901184"/>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Whole-desktop screenshots with published capture geometry.</a:t>
            </a:r>
          </a:p>
        </p:txBody>
      </p:sp>
      <p:sp>
        <p:nvSpPr>
          <p:cNvPr id="24" name="Rounded Rectangle 23"/>
          <p:cNvSpPr/>
          <p:nvPr/>
        </p:nvSpPr>
        <p:spPr>
          <a:xfrm>
            <a:off x="4326026" y="4251960"/>
            <a:ext cx="3539642" cy="1371600"/>
          </a:xfrm>
          <a:prstGeom prst="roundRect">
            <a:avLst>
              <a:gd name="adj" fmla="val 79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4379976"/>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4471416"/>
            <a:ext cx="3283610" cy="429768"/>
          </a:xfrm>
          <a:prstGeom prst="rect">
            <a:avLst/>
          </a:prstGeom>
          <a:noFill/>
        </p:spPr>
        <p:txBody>
          <a:bodyPr wrap="square" lIns="45720" rIns="45720" tIns="27432" bIns="27432" anchor="t">
            <a:noAutofit/>
          </a:bodyPr>
          <a:lstStyle/>
          <a:p>
            <a:pPr algn="l">
              <a:lnSpc>
                <a:spcPct val="100000"/>
              </a:lnSpc>
            </a:pPr>
            <a:r>
              <a:rPr sz="2100" b="1" i="0">
                <a:solidFill>
                  <a:srgbClr val="F7F2E8"/>
                </a:solidFill>
                <a:latin typeface="Palatino Linotype"/>
              </a:rPr>
              <a:t>Camcorder</a:t>
            </a:r>
          </a:p>
        </p:txBody>
      </p:sp>
      <p:sp>
        <p:nvSpPr>
          <p:cNvPr id="27" name="TextBox 26"/>
          <p:cNvSpPr txBox="1"/>
          <p:nvPr/>
        </p:nvSpPr>
        <p:spPr>
          <a:xfrm>
            <a:off x="4454042" y="4901184"/>
            <a:ext cx="3283610" cy="630936"/>
          </a:xfrm>
          <a:prstGeom prst="rect">
            <a:avLst/>
          </a:prstGeom>
          <a:noFill/>
        </p:spPr>
        <p:txBody>
          <a:bodyPr wrap="square" lIns="45720" rIns="45720" tIns="27432" bIns="27432" anchor="t">
            <a:noAutofit/>
          </a:bodyPr>
          <a:lstStyle/>
          <a:p>
            <a:pPr algn="l">
              <a:lnSpc>
                <a:spcPct val="100000"/>
              </a:lnSpc>
            </a:pPr>
            <a:r>
              <a:rPr sz="1650" b="0" i="0">
                <a:solidFill>
                  <a:srgbClr val="A7B2B0"/>
                </a:solidFill>
                <a:latin typeface="Segoe UI"/>
              </a:rPr>
              <a:t>Webcam photo or video at the camera's native resolution.</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7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Voice, audio and vision</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Hear, speak, play and look.</a:t>
            </a:r>
          </a:p>
        </p:txBody>
      </p:sp>
      <p:sp>
        <p:nvSpPr>
          <p:cNvPr id="8" name="Rounded Rectangle 7"/>
          <p:cNvSpPr/>
          <p:nvPr/>
        </p:nvSpPr>
        <p:spPr>
          <a:xfrm>
            <a:off x="566928" y="2508504"/>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636520"/>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7279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Recorder</a:t>
            </a:r>
          </a:p>
        </p:txBody>
      </p:sp>
      <p:sp>
        <p:nvSpPr>
          <p:cNvPr id="11" name="TextBox 10"/>
          <p:cNvSpPr txBox="1"/>
          <p:nvPr/>
        </p:nvSpPr>
        <p:spPr>
          <a:xfrm>
            <a:off x="694944" y="3127248"/>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Microphone capture to WAV at the device's native sample rate.</a:t>
            </a:r>
          </a:p>
        </p:txBody>
      </p:sp>
      <p:sp>
        <p:nvSpPr>
          <p:cNvPr id="12" name="Rounded Rectangle 11"/>
          <p:cNvSpPr/>
          <p:nvPr/>
        </p:nvSpPr>
        <p:spPr>
          <a:xfrm>
            <a:off x="3386251" y="2508504"/>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3550843" y="2636520"/>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14267" y="27279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Whisperer</a:t>
            </a:r>
          </a:p>
        </p:txBody>
      </p:sp>
      <p:sp>
        <p:nvSpPr>
          <p:cNvPr id="15" name="TextBox 14"/>
          <p:cNvSpPr txBox="1"/>
          <p:nvPr/>
        </p:nvSpPr>
        <p:spPr>
          <a:xfrm>
            <a:off x="3514267" y="3127248"/>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Speech to text that keeps listening until you stop talking.</a:t>
            </a:r>
          </a:p>
        </p:txBody>
      </p:sp>
      <p:sp>
        <p:nvSpPr>
          <p:cNvPr id="16" name="Rounded Rectangle 15"/>
          <p:cNvSpPr/>
          <p:nvPr/>
        </p:nvSpPr>
        <p:spPr>
          <a:xfrm>
            <a:off x="6205575" y="2508504"/>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6370167" y="2636520"/>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33591" y="27279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Talker</a:t>
            </a:r>
          </a:p>
        </p:txBody>
      </p:sp>
      <p:sp>
        <p:nvSpPr>
          <p:cNvPr id="19" name="TextBox 18"/>
          <p:cNvSpPr txBox="1"/>
          <p:nvPr/>
        </p:nvSpPr>
        <p:spPr>
          <a:xfrm>
            <a:off x="6333591" y="3127248"/>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Text to speech, always in Tlamatini's female voice.</a:t>
            </a:r>
          </a:p>
        </p:txBody>
      </p:sp>
      <p:sp>
        <p:nvSpPr>
          <p:cNvPr id="20" name="Rounded Rectangle 19"/>
          <p:cNvSpPr/>
          <p:nvPr/>
        </p:nvSpPr>
        <p:spPr>
          <a:xfrm>
            <a:off x="9024899" y="2508504"/>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9189491" y="2636520"/>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152915" y="2727960"/>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AudioPlayer</a:t>
            </a:r>
          </a:p>
        </p:txBody>
      </p:sp>
      <p:sp>
        <p:nvSpPr>
          <p:cNvPr id="23" name="TextBox 22"/>
          <p:cNvSpPr txBox="1"/>
          <p:nvPr/>
        </p:nvSpPr>
        <p:spPr>
          <a:xfrm>
            <a:off x="9152915" y="3127248"/>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Plays audio files with volume, truncate and loop control.</a:t>
            </a:r>
          </a:p>
        </p:txBody>
      </p:sp>
      <p:sp>
        <p:nvSpPr>
          <p:cNvPr id="24" name="Rounded Rectangle 23"/>
          <p:cNvSpPr/>
          <p:nvPr/>
        </p:nvSpPr>
        <p:spPr>
          <a:xfrm>
            <a:off x="566928" y="4251960"/>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731520" y="4379976"/>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94944"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VideoPlayer</a:t>
            </a:r>
          </a:p>
        </p:txBody>
      </p:sp>
      <p:sp>
        <p:nvSpPr>
          <p:cNvPr id="27" name="TextBox 26"/>
          <p:cNvSpPr txBox="1"/>
          <p:nvPr/>
        </p:nvSpPr>
        <p:spPr>
          <a:xfrm>
            <a:off x="694944" y="4870704"/>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Plays video with its audio on a chosen display.</a:t>
            </a:r>
          </a:p>
        </p:txBody>
      </p:sp>
      <p:sp>
        <p:nvSpPr>
          <p:cNvPr id="28" name="Rounded Rectangle 27"/>
          <p:cNvSpPr/>
          <p:nvPr/>
        </p:nvSpPr>
        <p:spPr>
          <a:xfrm>
            <a:off x="3386251" y="4251960"/>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3550843" y="4379976"/>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3514267"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Image-Interpreter</a:t>
            </a:r>
          </a:p>
        </p:txBody>
      </p:sp>
      <p:sp>
        <p:nvSpPr>
          <p:cNvPr id="31" name="TextBox 30"/>
          <p:cNvSpPr txBox="1"/>
          <p:nvPr/>
        </p:nvSpPr>
        <p:spPr>
          <a:xfrm>
            <a:off x="3514267" y="4870704"/>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Two vision models in parallel, merged by a third into one report.</a:t>
            </a:r>
          </a:p>
        </p:txBody>
      </p:sp>
      <p:sp>
        <p:nvSpPr>
          <p:cNvPr id="32" name="Rounded Rectangle 31"/>
          <p:cNvSpPr/>
          <p:nvPr/>
        </p:nvSpPr>
        <p:spPr>
          <a:xfrm>
            <a:off x="6205575" y="4251960"/>
            <a:ext cx="2599867" cy="1524000"/>
          </a:xfrm>
          <a:prstGeom prst="roundRect">
            <a:avLst>
              <a:gd name="adj" fmla="val 719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6370167" y="4379976"/>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333591" y="4471416"/>
            <a:ext cx="2343835" cy="399288"/>
          </a:xfrm>
          <a:prstGeom prst="rect">
            <a:avLst/>
          </a:prstGeom>
          <a:noFill/>
        </p:spPr>
        <p:txBody>
          <a:bodyPr wrap="square" lIns="45720" rIns="45720" tIns="27432" bIns="27432" anchor="t">
            <a:noAutofit/>
          </a:bodyPr>
          <a:lstStyle/>
          <a:p>
            <a:pPr algn="l">
              <a:lnSpc>
                <a:spcPct val="100000"/>
              </a:lnSpc>
            </a:pPr>
            <a:r>
              <a:rPr sz="1900" b="1" i="0">
                <a:solidFill>
                  <a:srgbClr val="F7F2E8"/>
                </a:solidFill>
                <a:latin typeface="Palatino Linotype"/>
              </a:rPr>
              <a:t>Video-Analyzer</a:t>
            </a:r>
          </a:p>
        </p:txBody>
      </p:sp>
      <p:sp>
        <p:nvSpPr>
          <p:cNvPr id="35" name="TextBox 34"/>
          <p:cNvSpPr txBox="1"/>
          <p:nvPr/>
        </p:nvSpPr>
        <p:spPr>
          <a:xfrm>
            <a:off x="6333591" y="4870704"/>
            <a:ext cx="2343835" cy="813815"/>
          </a:xfrm>
          <a:prstGeom prst="rect">
            <a:avLst/>
          </a:prstGeom>
          <a:noFill/>
        </p:spPr>
        <p:txBody>
          <a:bodyPr wrap="square" lIns="45720" rIns="45720" tIns="27432" bIns="27432" anchor="t">
            <a:noAutofit/>
          </a:bodyPr>
          <a:lstStyle/>
          <a:p>
            <a:pPr algn="l">
              <a:lnSpc>
                <a:spcPct val="100000"/>
              </a:lnSpc>
            </a:pPr>
            <a:r>
              <a:rPr sz="1500" b="0" i="0">
                <a:solidFill>
                  <a:srgbClr val="A7B2B0"/>
                </a:solidFill>
                <a:latin typeface="Segoe UI"/>
              </a:rPr>
              <a:t>Rules on robot motion, transcribes audio tracks, or summarizes a video.</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AGENT FAMILY  ·  9 AGENTS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Messaging and monitoring</a:t>
            </a:r>
          </a:p>
        </p:txBody>
      </p:sp>
      <p:sp>
        <p:nvSpPr>
          <p:cNvPr id="6" name="Rectangle 5"/>
          <p:cNvSpPr/>
          <p:nvPr/>
        </p:nvSpPr>
        <p:spPr>
          <a:xfrm>
            <a:off x="566928" y="1344168"/>
            <a:ext cx="822960" cy="36576"/>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Reach people and watch systems.</a:t>
            </a:r>
          </a:p>
        </p:txBody>
      </p:sp>
      <p:sp>
        <p:nvSpPr>
          <p:cNvPr id="8" name="Rounded Rectangle 7"/>
          <p:cNvSpPr/>
          <p:nvPr/>
        </p:nvSpPr>
        <p:spPr>
          <a:xfrm>
            <a:off x="566928"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Notifier</a:t>
            </a:r>
          </a:p>
        </p:txBody>
      </p:sp>
      <p:sp>
        <p:nvSpPr>
          <p:cNvPr id="11" name="TextBox 10"/>
          <p:cNvSpPr txBox="1"/>
          <p:nvPr/>
        </p:nvSpPr>
        <p:spPr>
          <a:xfrm>
            <a:off x="694944" y="2680715"/>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Shows an in-browser notification, optionally with a sound.</a:t>
            </a:r>
          </a:p>
        </p:txBody>
      </p:sp>
      <p:sp>
        <p:nvSpPr>
          <p:cNvPr id="12" name="Rounded Rectangle 11"/>
          <p:cNvSpPr/>
          <p:nvPr/>
        </p:nvSpPr>
        <p:spPr>
          <a:xfrm>
            <a:off x="4326026"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90618"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54042" y="2304287"/>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Emailer</a:t>
            </a:r>
          </a:p>
        </p:txBody>
      </p:sp>
      <p:sp>
        <p:nvSpPr>
          <p:cNvPr id="15" name="TextBox 14"/>
          <p:cNvSpPr txBox="1"/>
          <p:nvPr/>
        </p:nvSpPr>
        <p:spPr>
          <a:xfrm>
            <a:off x="4454042" y="2680715"/>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Sends email over SMTP.</a:t>
            </a:r>
          </a:p>
        </p:txBody>
      </p:sp>
      <p:sp>
        <p:nvSpPr>
          <p:cNvPr id="16" name="Rounded Rectangle 15"/>
          <p:cNvSpPr/>
          <p:nvPr/>
        </p:nvSpPr>
        <p:spPr>
          <a:xfrm>
            <a:off x="8085124" y="2084831"/>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49716" y="2212848"/>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13140" y="2304287"/>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RecMailer</a:t>
            </a:r>
          </a:p>
        </p:txBody>
      </p:sp>
      <p:sp>
        <p:nvSpPr>
          <p:cNvPr id="19" name="TextBox 18"/>
          <p:cNvSpPr txBox="1"/>
          <p:nvPr/>
        </p:nvSpPr>
        <p:spPr>
          <a:xfrm>
            <a:off x="8213140" y="2680715"/>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Watches an IMAP mailbox for new messages.</a:t>
            </a:r>
          </a:p>
        </p:txBody>
      </p:sp>
      <p:sp>
        <p:nvSpPr>
          <p:cNvPr id="20" name="Rounded Rectangle 19"/>
          <p:cNvSpPr/>
          <p:nvPr/>
        </p:nvSpPr>
        <p:spPr>
          <a:xfrm>
            <a:off x="566928"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3657599"/>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3749039"/>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Telegrammer</a:t>
            </a:r>
          </a:p>
        </p:txBody>
      </p:sp>
      <p:sp>
        <p:nvSpPr>
          <p:cNvPr id="23" name="TextBox 22"/>
          <p:cNvSpPr txBox="1"/>
          <p:nvPr/>
        </p:nvSpPr>
        <p:spPr>
          <a:xfrm>
            <a:off x="694944" y="4125468"/>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Telegram as the bot or as your own account.</a:t>
            </a:r>
          </a:p>
        </p:txBody>
      </p:sp>
      <p:sp>
        <p:nvSpPr>
          <p:cNvPr id="24" name="Rounded Rectangle 23"/>
          <p:cNvSpPr/>
          <p:nvPr/>
        </p:nvSpPr>
        <p:spPr>
          <a:xfrm>
            <a:off x="4326026"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90618" y="3657599"/>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54042" y="3749039"/>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Whatsapper</a:t>
            </a:r>
          </a:p>
        </p:txBody>
      </p:sp>
      <p:sp>
        <p:nvSpPr>
          <p:cNvPr id="27" name="TextBox 26"/>
          <p:cNvSpPr txBox="1"/>
          <p:nvPr/>
        </p:nvSpPr>
        <p:spPr>
          <a:xfrm>
            <a:off x="4454042" y="4125468"/>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WhatsApp through Meta's Cloud API, or explicitly from your own number.</a:t>
            </a:r>
          </a:p>
        </p:txBody>
      </p:sp>
      <p:sp>
        <p:nvSpPr>
          <p:cNvPr id="28" name="Rounded Rectangle 27"/>
          <p:cNvSpPr/>
          <p:nvPr/>
        </p:nvSpPr>
        <p:spPr>
          <a:xfrm>
            <a:off x="8085124" y="3529583"/>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49716" y="3657599"/>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13140" y="3749039"/>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TeleTlamatini</a:t>
            </a:r>
          </a:p>
        </p:txBody>
      </p:sp>
      <p:sp>
        <p:nvSpPr>
          <p:cNvPr id="31" name="TextBox 30"/>
          <p:cNvSpPr txBox="1"/>
          <p:nvPr/>
        </p:nvSpPr>
        <p:spPr>
          <a:xfrm>
            <a:off x="8213140" y="4125468"/>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Brings the full Tlamatini chat, Multi-Turn included, into Telegram.</a:t>
            </a:r>
          </a:p>
        </p:txBody>
      </p:sp>
      <p:sp>
        <p:nvSpPr>
          <p:cNvPr id="32" name="Rounded Rectangle 31"/>
          <p:cNvSpPr/>
          <p:nvPr/>
        </p:nvSpPr>
        <p:spPr>
          <a:xfrm>
            <a:off x="566928"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Rectangle 32"/>
          <p:cNvSpPr/>
          <p:nvPr/>
        </p:nvSpPr>
        <p:spPr>
          <a:xfrm>
            <a:off x="731520" y="5102351"/>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94944" y="5193792"/>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Instant Messaging Doctor</a:t>
            </a:r>
          </a:p>
        </p:txBody>
      </p:sp>
      <p:sp>
        <p:nvSpPr>
          <p:cNvPr id="35" name="TextBox 34"/>
          <p:cNvSpPr txBox="1"/>
          <p:nvPr/>
        </p:nvSpPr>
        <p:spPr>
          <a:xfrm>
            <a:off x="694944" y="5570220"/>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Diagnoses and safely repairs Telegram and WhatsApp readiness.</a:t>
            </a:r>
          </a:p>
        </p:txBody>
      </p:sp>
      <p:sp>
        <p:nvSpPr>
          <p:cNvPr id="36" name="Rounded Rectangle 35"/>
          <p:cNvSpPr/>
          <p:nvPr/>
        </p:nvSpPr>
        <p:spPr>
          <a:xfrm>
            <a:off x="4326026"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Rectangle 36"/>
          <p:cNvSpPr/>
          <p:nvPr/>
        </p:nvSpPr>
        <p:spPr>
          <a:xfrm>
            <a:off x="4490618" y="5102351"/>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4454042" y="5193792"/>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Monitor-Log</a:t>
            </a:r>
          </a:p>
        </p:txBody>
      </p:sp>
      <p:sp>
        <p:nvSpPr>
          <p:cNvPr id="39" name="TextBox 38"/>
          <p:cNvSpPr txBox="1"/>
          <p:nvPr/>
        </p:nvSpPr>
        <p:spPr>
          <a:xfrm>
            <a:off x="4454042" y="5570220"/>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Model-powered log monitor.</a:t>
            </a:r>
          </a:p>
        </p:txBody>
      </p:sp>
      <p:sp>
        <p:nvSpPr>
          <p:cNvPr id="40" name="Rounded Rectangle 39"/>
          <p:cNvSpPr/>
          <p:nvPr/>
        </p:nvSpPr>
        <p:spPr>
          <a:xfrm>
            <a:off x="8085124" y="4974336"/>
            <a:ext cx="3539642" cy="1225295"/>
          </a:xfrm>
          <a:prstGeom prst="roundRect">
            <a:avLst>
              <a:gd name="adj" fmla="val 895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Rectangle 40"/>
          <p:cNvSpPr/>
          <p:nvPr/>
        </p:nvSpPr>
        <p:spPr>
          <a:xfrm>
            <a:off x="8249716" y="5102351"/>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213140" y="5193792"/>
            <a:ext cx="3283610" cy="376428"/>
          </a:xfrm>
          <a:prstGeom prst="rect">
            <a:avLst/>
          </a:prstGeom>
          <a:noFill/>
        </p:spPr>
        <p:txBody>
          <a:bodyPr wrap="square" lIns="45720" rIns="45720" tIns="27432" bIns="27432" anchor="t">
            <a:noAutofit/>
          </a:bodyPr>
          <a:lstStyle/>
          <a:p>
            <a:pPr algn="l">
              <a:lnSpc>
                <a:spcPct val="100000"/>
              </a:lnSpc>
            </a:pPr>
            <a:r>
              <a:rPr sz="1750" b="1" i="0">
                <a:solidFill>
                  <a:srgbClr val="F7F2E8"/>
                </a:solidFill>
                <a:latin typeface="Palatino Linotype"/>
              </a:rPr>
              <a:t>Monitor Netstat</a:t>
            </a:r>
          </a:p>
        </p:txBody>
      </p:sp>
      <p:sp>
        <p:nvSpPr>
          <p:cNvPr id="43" name="TextBox 42"/>
          <p:cNvSpPr txBox="1"/>
          <p:nvPr/>
        </p:nvSpPr>
        <p:spPr>
          <a:xfrm>
            <a:off x="8213140" y="5570220"/>
            <a:ext cx="3283610" cy="537971"/>
          </a:xfrm>
          <a:prstGeom prst="rect">
            <a:avLst/>
          </a:prstGeom>
          <a:noFill/>
        </p:spPr>
        <p:txBody>
          <a:bodyPr wrap="square" lIns="45720" rIns="45720" tIns="27432" bIns="27432" anchor="t">
            <a:noAutofit/>
          </a:bodyPr>
          <a:lstStyle/>
          <a:p>
            <a:pPr algn="l">
              <a:lnSpc>
                <a:spcPct val="100000"/>
              </a:lnSpc>
            </a:pPr>
            <a:r>
              <a:rPr sz="1400" b="0" i="0">
                <a:solidFill>
                  <a:srgbClr val="A7B2B0"/>
                </a:solidFill>
                <a:latin typeface="Segoe UI"/>
              </a:rPr>
              <a:t>Model-powered network-port monitor.</a:t>
            </a:r>
          </a:p>
        </p:txBody>
      </p:sp>
      <p:cxnSp>
        <p:nvCxnSpPr>
          <p:cNvPr id="44" name="Connector 4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IV · THE BESTIARY</a:t>
            </a:r>
          </a:p>
        </p:txBody>
      </p:sp>
      <p:sp>
        <p:nvSpPr>
          <p:cNvPr id="46" name="TextBox 4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46D2E2"/>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V</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Deep Capabilities</a:t>
            </a:r>
          </a:p>
        </p:txBody>
      </p:sp>
      <p:sp>
        <p:nvSpPr>
          <p:cNvPr id="6" name="Rectangle 5"/>
          <p:cNvSpPr/>
          <p:nvPr/>
        </p:nvSpPr>
        <p:spPr>
          <a:xfrm>
            <a:off x="841248" y="4315968"/>
            <a:ext cx="100584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The subsystems that give her reach: other agents, other servers, documents, boards, engines and senses.</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V</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ACPX</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Other coding agents as her children</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ACPX spawns external coding-agent CLIs as out-of-process children, talks to them over stdin and stdout, keeps an NDJSON transcript of every turn, and brokers it all to the model as twelve tools.</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Peers</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14 CLIs, including Claude Code, Codex, Gemini, Cursor and Qwen.</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Twelve tools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Spawn, send, wait, relay, transcript, status, kill, doctor, skills.</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Truthful</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 refusal returns ok: false with a named code.</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No shell</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Shims are rewritten so long prompts are never cut.</a:t>
            </a:r>
          </a:p>
        </p:txBody>
      </p:sp>
      <p:sp>
        <p:nvSpPr>
          <p:cNvPr id="24" name="Rounded Rectangle 23"/>
          <p:cNvSpPr/>
          <p:nvPr/>
        </p:nvSpPr>
        <p:spPr>
          <a:xfrm>
            <a:off x="6144768" y="2084831"/>
            <a:ext cx="5479999" cy="3456431"/>
          </a:xfrm>
          <a:prstGeom prst="roundRect">
            <a:avLst>
              <a:gd name="adj" fmla="val 211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2121408"/>
            <a:ext cx="21552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NON-DELIVERY CODE</a:t>
            </a:r>
          </a:p>
        </p:txBody>
      </p:sp>
      <p:sp>
        <p:nvSpPr>
          <p:cNvPr id="27" name="TextBox 26"/>
          <p:cNvSpPr txBox="1"/>
          <p:nvPr/>
        </p:nvSpPr>
        <p:spPr>
          <a:xfrm>
            <a:off x="8519519" y="2121408"/>
            <a:ext cx="30320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MEANING</a:t>
            </a:r>
          </a:p>
        </p:txBody>
      </p:sp>
      <p:sp>
        <p:nvSpPr>
          <p:cNvPr id="28" name="TextBox 27"/>
          <p:cNvSpPr txBox="1"/>
          <p:nvPr/>
        </p:nvSpPr>
        <p:spPr>
          <a:xfrm>
            <a:off x="6217920" y="2505456"/>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PERMISSION_BLOCKED</a:t>
            </a:r>
          </a:p>
        </p:txBody>
      </p:sp>
      <p:sp>
        <p:nvSpPr>
          <p:cNvPr id="29" name="TextBox 28"/>
          <p:cNvSpPr txBox="1"/>
          <p:nvPr/>
        </p:nvSpPr>
        <p:spPr>
          <a:xfrm>
            <a:off x="8519519" y="2505456"/>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The child stopped at its own permission prompt.</a:t>
            </a:r>
          </a:p>
        </p:txBody>
      </p:sp>
      <p:sp>
        <p:nvSpPr>
          <p:cNvPr id="30" name="Rectangle 29"/>
          <p:cNvSpPr/>
          <p:nvPr/>
        </p:nvSpPr>
        <p:spPr>
          <a:xfrm>
            <a:off x="6163056" y="2980944"/>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217920" y="3017520"/>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AUTH_FAILED · CONFIG_INVALID</a:t>
            </a:r>
          </a:p>
        </p:txBody>
      </p:sp>
      <p:sp>
        <p:nvSpPr>
          <p:cNvPr id="32" name="TextBox 31"/>
          <p:cNvSpPr txBox="1"/>
          <p:nvPr/>
        </p:nvSpPr>
        <p:spPr>
          <a:xfrm>
            <a:off x="8519519" y="3017520"/>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It could not authenticate, or refused its own config.</a:t>
            </a:r>
          </a:p>
        </p:txBody>
      </p:sp>
      <p:sp>
        <p:nvSpPr>
          <p:cNvPr id="33" name="TextBox 32"/>
          <p:cNvSpPr txBox="1"/>
          <p:nvPr/>
        </p:nvSpPr>
        <p:spPr>
          <a:xfrm>
            <a:off x="6217920" y="3529584"/>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NO_CREDIT · USAGE_LIMIT</a:t>
            </a:r>
          </a:p>
        </p:txBody>
      </p:sp>
      <p:sp>
        <p:nvSpPr>
          <p:cNvPr id="34" name="TextBox 33"/>
          <p:cNvSpPr txBox="1"/>
          <p:nvPr/>
        </p:nvSpPr>
        <p:spPr>
          <a:xfrm>
            <a:off x="8519519" y="3529584"/>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No credit, or a plan or rate limit was reached.</a:t>
            </a:r>
          </a:p>
        </p:txBody>
      </p:sp>
      <p:sp>
        <p:nvSpPr>
          <p:cNvPr id="35" name="Rectangle 34"/>
          <p:cNvSpPr/>
          <p:nvPr/>
        </p:nvSpPr>
        <p:spPr>
          <a:xfrm>
            <a:off x="6163056" y="4005072"/>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17920" y="4041648"/>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UPSTREAM_ERROR</a:t>
            </a:r>
          </a:p>
        </p:txBody>
      </p:sp>
      <p:sp>
        <p:nvSpPr>
          <p:cNvPr id="37" name="TextBox 36"/>
          <p:cNvSpPr txBox="1"/>
          <p:nvPr/>
        </p:nvSpPr>
        <p:spPr>
          <a:xfrm>
            <a:off x="8519519" y="4041648"/>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The model provider returned a server-side error.</a:t>
            </a:r>
          </a:p>
        </p:txBody>
      </p:sp>
      <p:sp>
        <p:nvSpPr>
          <p:cNvPr id="38" name="TextBox 37"/>
          <p:cNvSpPr txBox="1"/>
          <p:nvPr/>
        </p:nvSpPr>
        <p:spPr>
          <a:xfrm>
            <a:off x="6217920" y="4553712"/>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NO_OUTPUT · CHILD_ERROR</a:t>
            </a:r>
          </a:p>
        </p:txBody>
      </p:sp>
      <p:sp>
        <p:nvSpPr>
          <p:cNvPr id="39" name="TextBox 38"/>
          <p:cNvSpPr txBox="1"/>
          <p:nvPr/>
        </p:nvSpPr>
        <p:spPr>
          <a:xfrm>
            <a:off x="8519519" y="4553712"/>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Nothing legible came back, or it failed without an answer.</a:t>
            </a:r>
          </a:p>
        </p:txBody>
      </p:sp>
      <p:sp>
        <p:nvSpPr>
          <p:cNvPr id="40" name="Rectangle 39"/>
          <p:cNvSpPr/>
          <p:nvPr/>
        </p:nvSpPr>
        <p:spPr>
          <a:xfrm>
            <a:off x="6163056" y="5029199"/>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6217920" y="5065775"/>
            <a:ext cx="21552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WORKSPACE_NOT_TRUSTED</a:t>
            </a:r>
          </a:p>
        </p:txBody>
      </p:sp>
      <p:sp>
        <p:nvSpPr>
          <p:cNvPr id="42" name="TextBox 41"/>
          <p:cNvSpPr txBox="1"/>
          <p:nvPr/>
        </p:nvSpPr>
        <p:spPr>
          <a:xfrm>
            <a:off x="8519519" y="5065775"/>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Its working folder is untrusted, so permissions were ignored.</a:t>
            </a:r>
          </a:p>
        </p:txBody>
      </p:sp>
      <p:cxnSp>
        <p:nvCxnSpPr>
          <p:cNvPr id="43" name="Connector 42"/>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45" name="TextBox 44"/>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EXTERNAL MCPS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universal MCP client</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Connect Tlamatini to any MCP server declared in a JSON catalog and use its tools at once, with no code written for the server.</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Transports</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stdio, streamable HTTP, SSE and WebSocket.</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Ten supervisors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Status, reconnect, doctor, runtimes, import, list, call, activate, wait.</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Private runtimes</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Node and uv provisioned per user, no admin, no PATH change.</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Defaults</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Memory and Sequential Thinking, inactive until you choose.</a:t>
            </a:r>
          </a:p>
        </p:txBody>
      </p:sp>
      <p:sp>
        <p:nvSpPr>
          <p:cNvPr id="24" name="Rounded Rectangle 23"/>
          <p:cNvSpPr/>
          <p:nvPr/>
        </p:nvSpPr>
        <p:spPr>
          <a:xfrm>
            <a:off x="6144768" y="2084831"/>
            <a:ext cx="5479999" cy="428461"/>
          </a:xfrm>
          <a:prstGeom prst="roundRect">
            <a:avLst>
              <a:gd name="adj" fmla="val 42682"/>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327648" y="2103120"/>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090E10"/>
                </a:solidFill>
                <a:latin typeface="Palatino Linotype"/>
              </a:rPr>
              <a:t>1   </a:t>
            </a:r>
            <a:r>
              <a:rPr sz="1500" b="0" i="0">
                <a:solidFill>
                  <a:srgbClr val="090E10"/>
                </a:solidFill>
                <a:latin typeface="Segoe UI Semibold"/>
              </a:rPr>
              <a:t>Classify</a:t>
            </a:r>
          </a:p>
        </p:txBody>
      </p:sp>
      <p:sp>
        <p:nvSpPr>
          <p:cNvPr id="26" name="Rounded Rectangle 25"/>
          <p:cNvSpPr/>
          <p:nvPr/>
        </p:nvSpPr>
        <p:spPr>
          <a:xfrm>
            <a:off x="6144768" y="2623021"/>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27648" y="2641309"/>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2   </a:t>
            </a:r>
            <a:r>
              <a:rPr sz="1500" b="0" i="0">
                <a:solidFill>
                  <a:srgbClr val="F7F2E8"/>
                </a:solidFill>
                <a:latin typeface="Segoe UI Semibold"/>
              </a:rPr>
              <a:t>Import</a:t>
            </a:r>
          </a:p>
        </p:txBody>
      </p:sp>
      <p:sp>
        <p:nvSpPr>
          <p:cNvPr id="28" name="Rounded Rectangle 27"/>
          <p:cNvSpPr/>
          <p:nvPr/>
        </p:nvSpPr>
        <p:spPr>
          <a:xfrm>
            <a:off x="6144768" y="3161211"/>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27648" y="3179499"/>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3   </a:t>
            </a:r>
            <a:r>
              <a:rPr sz="1500" b="0" i="0">
                <a:solidFill>
                  <a:srgbClr val="F7F2E8"/>
                </a:solidFill>
                <a:latin typeface="Segoe UI Semibold"/>
              </a:rPr>
              <a:t>Doctor</a:t>
            </a:r>
          </a:p>
        </p:txBody>
      </p:sp>
      <p:sp>
        <p:nvSpPr>
          <p:cNvPr id="30" name="Rounded Rectangle 29"/>
          <p:cNvSpPr/>
          <p:nvPr/>
        </p:nvSpPr>
        <p:spPr>
          <a:xfrm>
            <a:off x="6144768" y="3699401"/>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27648" y="3717689"/>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4   </a:t>
            </a:r>
            <a:r>
              <a:rPr sz="1500" b="0" i="0">
                <a:solidFill>
                  <a:srgbClr val="F7F2E8"/>
                </a:solidFill>
                <a:latin typeface="Segoe UI Semibold"/>
              </a:rPr>
              <a:t>Activate</a:t>
            </a:r>
          </a:p>
        </p:txBody>
      </p:sp>
      <p:sp>
        <p:nvSpPr>
          <p:cNvPr id="32" name="Rounded Rectangle 31"/>
          <p:cNvSpPr/>
          <p:nvPr/>
        </p:nvSpPr>
        <p:spPr>
          <a:xfrm>
            <a:off x="6144768" y="4237590"/>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27648" y="4255878"/>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5   </a:t>
            </a:r>
            <a:r>
              <a:rPr sz="1500" b="0" i="0">
                <a:solidFill>
                  <a:srgbClr val="F7F2E8"/>
                </a:solidFill>
                <a:latin typeface="Segoe UI Semibold"/>
              </a:rPr>
              <a:t>Wait</a:t>
            </a:r>
          </a:p>
        </p:txBody>
      </p:sp>
      <p:sp>
        <p:nvSpPr>
          <p:cNvPr id="34" name="Rounded Rectangle 33"/>
          <p:cNvSpPr/>
          <p:nvPr/>
        </p:nvSpPr>
        <p:spPr>
          <a:xfrm>
            <a:off x="6144768" y="4775780"/>
            <a:ext cx="5479999" cy="428461"/>
          </a:xfrm>
          <a:prstGeom prst="roundRect">
            <a:avLst>
              <a:gd name="adj" fmla="val 42682"/>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27648" y="4794068"/>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6   </a:t>
            </a:r>
            <a:r>
              <a:rPr sz="1500" b="0" i="0">
                <a:solidFill>
                  <a:srgbClr val="F7F2E8"/>
                </a:solidFill>
                <a:latin typeface="Segoe UI Semibold"/>
              </a:rPr>
              <a:t>List</a:t>
            </a:r>
          </a:p>
        </p:txBody>
      </p:sp>
      <p:sp>
        <p:nvSpPr>
          <p:cNvPr id="36" name="Rounded Rectangle 35"/>
          <p:cNvSpPr/>
          <p:nvPr/>
        </p:nvSpPr>
        <p:spPr>
          <a:xfrm>
            <a:off x="6144768" y="5313970"/>
            <a:ext cx="5479999" cy="428461"/>
          </a:xfrm>
          <a:prstGeom prst="roundRect">
            <a:avLst>
              <a:gd name="adj" fmla="val 42682"/>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27648" y="5332258"/>
            <a:ext cx="5114239" cy="391885"/>
          </a:xfrm>
          <a:prstGeom prst="rect">
            <a:avLst/>
          </a:prstGeom>
          <a:noFill/>
        </p:spPr>
        <p:txBody>
          <a:bodyPr wrap="square" lIns="45720" rIns="45720" tIns="27432" bIns="27432" anchor="ctr">
            <a:noAutofit/>
          </a:bodyPr>
          <a:lstStyle/>
          <a:p>
            <a:pPr algn="l">
              <a:lnSpc>
                <a:spcPct val="100000"/>
              </a:lnSpc>
            </a:pPr>
            <a:r>
              <a:rPr sz="1500" b="1" i="0">
                <a:solidFill>
                  <a:srgbClr val="090E10"/>
                </a:solidFill>
                <a:latin typeface="Palatino Linotype"/>
              </a:rPr>
              <a:t>7   </a:t>
            </a:r>
            <a:r>
              <a:rPr sz="1500" b="0" i="0">
                <a:solidFill>
                  <a:srgbClr val="090E10"/>
                </a:solidFill>
                <a:latin typeface="Segoe UI Semibold"/>
              </a:rPr>
              <a:t>Call</a:t>
            </a:r>
          </a:p>
        </p:txBody>
      </p:sp>
      <p:sp>
        <p:nvSpPr>
          <p:cNvPr id="38" name="TextBox 37"/>
          <p:cNvSpPr txBox="1"/>
          <p:nvPr/>
        </p:nvSpPr>
        <p:spPr>
          <a:xfrm>
            <a:off x="6144768" y="5815583"/>
            <a:ext cx="5479999" cy="384048"/>
          </a:xfrm>
          <a:prstGeom prst="rect">
            <a:avLst/>
          </a:prstGeom>
          <a:noFill/>
        </p:spPr>
        <p:txBody>
          <a:bodyPr wrap="square" lIns="45720" rIns="45720" tIns="27432" bIns="27432" anchor="t">
            <a:noAutofit/>
          </a:bodyPr>
          <a:lstStyle/>
          <a:p>
            <a:pPr algn="l">
              <a:lnSpc>
                <a:spcPct val="100000"/>
              </a:lnSpc>
            </a:pPr>
            <a:r>
              <a:rPr sz="1200" b="0" i="1">
                <a:solidFill>
                  <a:srgbClr val="A7B2B0"/>
                </a:solidFill>
                <a:latin typeface="Segoe UI"/>
              </a:rPr>
              <a:t>The adding-external-mcp skill: one guarded onboarding sequence.</a:t>
            </a:r>
          </a:p>
        </p:txBody>
      </p:sp>
      <p:cxnSp>
        <p:nvCxnSpPr>
          <p:cNvPr id="39" name="Connector 3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41" name="TextBox 4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SKILLS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Procedures, handed over complete</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29 </a:t>
            </a:r>
            <a:r>
              <a:rPr sz="1350" b="0" i="0">
                <a:solidFill>
                  <a:srgbClr val="E2B462"/>
                </a:solidFill>
                <a:latin typeface="Consolas"/>
              </a:rPr>
              <a:t>SKILL.md</a:t>
            </a:r>
            <a:r>
              <a:rPr sz="1450" b="0" i="0">
                <a:solidFill>
                  <a:srgbClr val="A7B2B0"/>
                </a:solidFill>
                <a:latin typeface="Segoe UI Semilight"/>
              </a:rPr>
              <a:t> packages are loaded at start-up and offered to the model through </a:t>
            </a:r>
            <a:r>
              <a:rPr sz="1350" b="0" i="0">
                <a:solidFill>
                  <a:srgbClr val="E2B462"/>
                </a:solidFill>
                <a:latin typeface="Consolas"/>
              </a:rPr>
              <a:t>list_skills</a:t>
            </a:r>
            <a:r>
              <a:rPr sz="1450" b="0" i="0">
                <a:solidFill>
                  <a:srgbClr val="A7B2B0"/>
                </a:solidFill>
                <a:latin typeface="Segoe UI Semilight"/>
              </a:rPr>
              <a:t> and </a:t>
            </a:r>
            <a:r>
              <a:rPr sz="1350" b="0" i="0">
                <a:solidFill>
                  <a:srgbClr val="E2B462"/>
                </a:solidFill>
                <a:latin typeface="Consolas"/>
              </a:rPr>
              <a:t>invoke_skill</a:t>
            </a:r>
            <a:r>
              <a:rPr sz="1450" b="0" i="0">
                <a:solidFill>
                  <a:srgbClr val="A7B2B0"/>
                </a:solidFill>
                <a:latin typeface="Segoe UI Semilight"/>
              </a:rPr>
              <a:t>.</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Catalog</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29 packages, validated by one shared routine.</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Handoff</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invoke_skill returns the full procedure and the outputs still owed.</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Honest enforcement</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It states what is enforced and what is declared policy.</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Administered</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Browse, Configure, Diagnostics and Reload from the menu.</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SKILLS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Credentials stay inside</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An input marked sensitive, or named like a credential, is redacted from every audit event and from the returned result: no prefix, no length, no hash.</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“Procedures, handed over complete”</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THE DOCUMENT FAMILY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Compose, present, typeset</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Three agents produce documents, each with its own craft, and none of them calls a file clean just because it was created.</a:t>
            </a:r>
          </a:p>
        </p:txBody>
      </p:sp>
      <p:sp>
        <p:nvSpPr>
          <p:cNvPr id="8" name="Rounded Rectangle 7"/>
          <p:cNvSpPr/>
          <p:nvPr/>
        </p:nvSpPr>
        <p:spPr>
          <a:xfrm>
            <a:off x="566928" y="2084831"/>
            <a:ext cx="11057839" cy="3108960"/>
          </a:xfrm>
          <a:prstGeom prst="roundRect">
            <a:avLst>
              <a:gd name="adj" fmla="val 235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140179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AGENT</a:t>
            </a:r>
          </a:p>
        </p:txBody>
      </p:sp>
      <p:sp>
        <p:nvSpPr>
          <p:cNvPr id="11" name="TextBox 10"/>
          <p:cNvSpPr txBox="1"/>
          <p:nvPr/>
        </p:nvSpPr>
        <p:spPr>
          <a:xfrm>
            <a:off x="2188177" y="2121408"/>
            <a:ext cx="250757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CRAFT</a:t>
            </a:r>
          </a:p>
        </p:txBody>
      </p:sp>
      <p:sp>
        <p:nvSpPr>
          <p:cNvPr id="12" name="TextBox 11"/>
          <p:cNvSpPr txBox="1"/>
          <p:nvPr/>
        </p:nvSpPr>
        <p:spPr>
          <a:xfrm>
            <a:off x="4842058" y="2121408"/>
            <a:ext cx="670955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SIGNATURE FEATURES</a:t>
            </a:r>
          </a:p>
        </p:txBody>
      </p:sp>
      <p:sp>
        <p:nvSpPr>
          <p:cNvPr id="13" name="TextBox 12"/>
          <p:cNvSpPr txBox="1"/>
          <p:nvPr/>
        </p:nvSpPr>
        <p:spPr>
          <a:xfrm>
            <a:off x="640080" y="2505456"/>
            <a:ext cx="1401793" cy="7589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PDFer</a:t>
            </a:r>
          </a:p>
        </p:txBody>
      </p:sp>
      <p:sp>
        <p:nvSpPr>
          <p:cNvPr id="14" name="TextBox 13"/>
          <p:cNvSpPr txBox="1"/>
          <p:nvPr/>
        </p:nvSpPr>
        <p:spPr>
          <a:xfrm>
            <a:off x="2188177" y="2505456"/>
            <a:ext cx="2507577"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Composes PDFs from text, Markdown, HTML and images</a:t>
            </a:r>
          </a:p>
        </p:txBody>
      </p:sp>
      <p:sp>
        <p:nvSpPr>
          <p:cNvPr id="15" name="TextBox 14"/>
          <p:cNvSpPr txBox="1"/>
          <p:nvPr/>
        </p:nvSpPr>
        <p:spPr>
          <a:xfrm>
            <a:off x="4842058" y="2505456"/>
            <a:ext cx="6709556"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24 visual styles in five families over 20 content themes; measured tables and covers; a layout audit that reopens the file and checks overlap, off-page text, blank pages and contrast.</a:t>
            </a:r>
          </a:p>
        </p:txBody>
      </p:sp>
      <p:sp>
        <p:nvSpPr>
          <p:cNvPr id="16" name="Rectangle 15"/>
          <p:cNvSpPr/>
          <p:nvPr/>
        </p:nvSpPr>
        <p:spPr>
          <a:xfrm>
            <a:off x="585216" y="3300984"/>
            <a:ext cx="11021263" cy="8321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337560"/>
            <a:ext cx="1401793" cy="7589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PPTXer</a:t>
            </a:r>
          </a:p>
        </p:txBody>
      </p:sp>
      <p:sp>
        <p:nvSpPr>
          <p:cNvPr id="18" name="TextBox 17"/>
          <p:cNvSpPr txBox="1"/>
          <p:nvPr/>
        </p:nvSpPr>
        <p:spPr>
          <a:xfrm>
            <a:off x="2188177" y="3337560"/>
            <a:ext cx="2507577"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Builds editable PowerPoint decks</a:t>
            </a:r>
          </a:p>
        </p:txBody>
      </p:sp>
      <p:sp>
        <p:nvSpPr>
          <p:cNvPr id="19" name="TextBox 18"/>
          <p:cNvSpPr txBox="1"/>
          <p:nvPr/>
        </p:nvSpPr>
        <p:spPr>
          <a:xfrm>
            <a:off x="4842058" y="3337560"/>
            <a:ext cx="6709556"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36 named treatments and 17 font pairings; text measured before it is placed, so long content continues onto a new slide; native PowerPoint verification when installed.</a:t>
            </a:r>
          </a:p>
        </p:txBody>
      </p:sp>
      <p:sp>
        <p:nvSpPr>
          <p:cNvPr id="20" name="TextBox 19"/>
          <p:cNvSpPr txBox="1"/>
          <p:nvPr/>
        </p:nvSpPr>
        <p:spPr>
          <a:xfrm>
            <a:off x="640080" y="4169663"/>
            <a:ext cx="1401793" cy="987551"/>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LaTeXer</a:t>
            </a:r>
          </a:p>
        </p:txBody>
      </p:sp>
      <p:sp>
        <p:nvSpPr>
          <p:cNvPr id="21" name="TextBox 20"/>
          <p:cNvSpPr txBox="1"/>
          <p:nvPr/>
        </p:nvSpPr>
        <p:spPr>
          <a:xfrm>
            <a:off x="2188177" y="4169663"/>
            <a:ext cx="2507577" cy="987551"/>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Typesets real LaTeX</a:t>
            </a:r>
          </a:p>
        </p:txBody>
      </p:sp>
      <p:sp>
        <p:nvSpPr>
          <p:cNvPr id="22" name="TextBox 21"/>
          <p:cNvSpPr txBox="1"/>
          <p:nvPr/>
        </p:nvSpPr>
        <p:spPr>
          <a:xfrm>
            <a:off x="4842058" y="4169663"/>
            <a:ext cx="6709556" cy="987551"/>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Eight templates and 30 signature styles; whole-project builds with bibliography and index convergence; readable diagnostics; an eight-rung repair ladder; a mostly-cut build delivered as </a:t>
            </a:r>
            <a:r>
              <a:rPr sz="1400" b="0" i="0">
                <a:solidFill>
                  <a:srgbClr val="E2B462"/>
                </a:solidFill>
                <a:latin typeface="Consolas"/>
              </a:rPr>
              <a:t>&lt;name&gt;.DEGRADED.pdf</a:t>
            </a:r>
            <a:r>
              <a:rPr sz="1500" b="0" i="0">
                <a:solidFill>
                  <a:srgbClr val="A7B2B0"/>
                </a:solidFill>
                <a:latin typeface="Segoe UI"/>
              </a:rPr>
              <a:t>; MiKTeX recommended.</a:t>
            </a:r>
          </a:p>
        </p:txBody>
      </p:sp>
      <p:cxnSp>
        <p:nvCxnSpPr>
          <p:cNvPr id="23" name="Connector 22"/>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25" name="TextBox 24"/>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THE DOCUMENT FAMILY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Created is not verified</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A saved file only proves it exists. Read PDFer's </a:t>
            </a:r>
            <a:r>
              <a:rPr sz="2400" b="0" i="0">
                <a:solidFill>
                  <a:srgbClr val="E2B462"/>
                </a:solidFill>
                <a:latin typeface="Consolas"/>
              </a:rPr>
              <a:t>layout_clean</a:t>
            </a:r>
            <a:r>
              <a:rPr sz="2600" b="0" i="0">
                <a:solidFill>
                  <a:srgbClr val="F7F2E8"/>
                </a:solidFill>
                <a:latin typeface="Segoe UI Light"/>
              </a:rPr>
              <a:t>, PPTXer's </a:t>
            </a:r>
            <a:r>
              <a:rPr sz="2400" b="0" i="0">
                <a:solidFill>
                  <a:srgbClr val="E2B462"/>
                </a:solidFill>
                <a:latin typeface="Consolas"/>
              </a:rPr>
              <a:t>ground_truth</a:t>
            </a:r>
            <a:r>
              <a:rPr sz="2600" b="0" i="0">
                <a:solidFill>
                  <a:srgbClr val="F7F2E8"/>
                </a:solidFill>
                <a:latin typeface="Segoe UI Light"/>
              </a:rPr>
              <a:t>, or LaTeXer's </a:t>
            </a:r>
            <a:r>
              <a:rPr sz="2400" b="0" i="0">
                <a:solidFill>
                  <a:srgbClr val="E2B462"/>
                </a:solidFill>
                <a:latin typeface="Consolas"/>
              </a:rPr>
              <a:t>status</a:t>
            </a:r>
            <a:r>
              <a:rPr sz="2600" b="0" i="0">
                <a:solidFill>
                  <a:srgbClr val="F7F2E8"/>
                </a:solidFill>
                <a:latin typeface="Segoe UI Light"/>
              </a:rPr>
              <a:t> before calling a document clean.</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“Compose, present, typeset”</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LATEXER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repair ladder that protects your words</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When a build fails, LaTeXer climbs eight rungs in a fixed order, each tried only if the one before produced no PDF.</a:t>
            </a:r>
          </a:p>
        </p:txBody>
      </p:sp>
      <p:sp>
        <p:nvSpPr>
          <p:cNvPr id="8" name="Rounded Rectangle 7"/>
          <p:cNvSpPr/>
          <p:nvPr/>
        </p:nvSpPr>
        <p:spPr>
          <a:xfrm>
            <a:off x="877824" y="2084831"/>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566928" y="2313432"/>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2313432"/>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1</a:t>
            </a:r>
          </a:p>
        </p:txBody>
      </p:sp>
      <p:sp>
        <p:nvSpPr>
          <p:cNvPr id="11" name="TextBox 10"/>
          <p:cNvSpPr txBox="1"/>
          <p:nvPr/>
        </p:nvSpPr>
        <p:spPr>
          <a:xfrm>
            <a:off x="1133856" y="2121408"/>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lint</a:t>
            </a:r>
          </a:p>
        </p:txBody>
      </p:sp>
      <p:sp>
        <p:nvSpPr>
          <p:cNvPr id="12" name="TextBox 11"/>
          <p:cNvSpPr txBox="1"/>
          <p:nvPr/>
        </p:nvSpPr>
        <p:spPr>
          <a:xfrm>
            <a:off x="2944368" y="2121408"/>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Static structural repair before any compiler runs.</a:t>
            </a:r>
          </a:p>
        </p:txBody>
      </p:sp>
      <p:sp>
        <p:nvSpPr>
          <p:cNvPr id="13" name="Rounded Rectangle 12"/>
          <p:cNvSpPr/>
          <p:nvPr/>
        </p:nvSpPr>
        <p:spPr>
          <a:xfrm>
            <a:off x="877824" y="3145536"/>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566928" y="3374136"/>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3374136"/>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2</a:t>
            </a:r>
          </a:p>
        </p:txBody>
      </p:sp>
      <p:sp>
        <p:nvSpPr>
          <p:cNvPr id="16" name="TextBox 15"/>
          <p:cNvSpPr txBox="1"/>
          <p:nvPr/>
        </p:nvSpPr>
        <p:spPr>
          <a:xfrm>
            <a:off x="1133856" y="3182112"/>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preamble</a:t>
            </a:r>
          </a:p>
        </p:txBody>
      </p:sp>
      <p:sp>
        <p:nvSpPr>
          <p:cNvPr id="17" name="TextBox 16"/>
          <p:cNvSpPr txBox="1"/>
          <p:nvPr/>
        </p:nvSpPr>
        <p:spPr>
          <a:xfrm>
            <a:off x="2944368" y="3182112"/>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Infer packages from the commands actually used.</a:t>
            </a:r>
          </a:p>
        </p:txBody>
      </p:sp>
      <p:sp>
        <p:nvSpPr>
          <p:cNvPr id="18" name="Rounded Rectangle 17"/>
          <p:cNvSpPr/>
          <p:nvPr/>
        </p:nvSpPr>
        <p:spPr>
          <a:xfrm>
            <a:off x="877824" y="4206240"/>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566928" y="4434840"/>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4434840"/>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3</a:t>
            </a:r>
          </a:p>
        </p:txBody>
      </p:sp>
      <p:sp>
        <p:nvSpPr>
          <p:cNvPr id="21" name="TextBox 20"/>
          <p:cNvSpPr txBox="1"/>
          <p:nvPr/>
        </p:nvSpPr>
        <p:spPr>
          <a:xfrm>
            <a:off x="1133856" y="4242816"/>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rules</a:t>
            </a:r>
          </a:p>
        </p:txBody>
      </p:sp>
      <p:sp>
        <p:nvSpPr>
          <p:cNvPr id="22" name="TextBox 21"/>
          <p:cNvSpPr txBox="1"/>
          <p:nvPr/>
        </p:nvSpPr>
        <p:spPr>
          <a:xfrm>
            <a:off x="2944368" y="4242816"/>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Deterministic rewrites of known-bad constructs.</a:t>
            </a:r>
          </a:p>
        </p:txBody>
      </p:sp>
      <p:sp>
        <p:nvSpPr>
          <p:cNvPr id="23" name="Rounded Rectangle 22"/>
          <p:cNvSpPr/>
          <p:nvPr/>
        </p:nvSpPr>
        <p:spPr>
          <a:xfrm>
            <a:off x="877824" y="5266944"/>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Oval 23"/>
          <p:cNvSpPr/>
          <p:nvPr/>
        </p:nvSpPr>
        <p:spPr>
          <a:xfrm>
            <a:off x="566928" y="5495544"/>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5495544"/>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4</a:t>
            </a:r>
          </a:p>
        </p:txBody>
      </p:sp>
      <p:sp>
        <p:nvSpPr>
          <p:cNvPr id="26" name="TextBox 25"/>
          <p:cNvSpPr txBox="1"/>
          <p:nvPr/>
        </p:nvSpPr>
        <p:spPr>
          <a:xfrm>
            <a:off x="1133856" y="5303520"/>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log-directed</a:t>
            </a:r>
          </a:p>
        </p:txBody>
      </p:sp>
      <p:sp>
        <p:nvSpPr>
          <p:cNvPr id="27" name="TextBox 26"/>
          <p:cNvSpPr txBox="1"/>
          <p:nvPr/>
        </p:nvSpPr>
        <p:spPr>
          <a:xfrm>
            <a:off x="2944368" y="5303520"/>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Compile, read the real error, fix that line.</a:t>
            </a:r>
          </a:p>
        </p:txBody>
      </p:sp>
      <p:sp>
        <p:nvSpPr>
          <p:cNvPr id="28" name="Rounded Rectangle 27"/>
          <p:cNvSpPr/>
          <p:nvPr/>
        </p:nvSpPr>
        <p:spPr>
          <a:xfrm>
            <a:off x="6589623" y="2084831"/>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Oval 28"/>
          <p:cNvSpPr/>
          <p:nvPr/>
        </p:nvSpPr>
        <p:spPr>
          <a:xfrm>
            <a:off x="6278727" y="2313432"/>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278727" y="2313432"/>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5</a:t>
            </a:r>
          </a:p>
        </p:txBody>
      </p:sp>
      <p:sp>
        <p:nvSpPr>
          <p:cNvPr id="31" name="TextBox 30"/>
          <p:cNvSpPr txBox="1"/>
          <p:nvPr/>
        </p:nvSpPr>
        <p:spPr>
          <a:xfrm>
            <a:off x="6845655" y="2121408"/>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acquire</a:t>
            </a:r>
          </a:p>
        </p:txBody>
      </p:sp>
      <p:sp>
        <p:nvSpPr>
          <p:cNvPr id="32" name="TextBox 31"/>
          <p:cNvSpPr txBox="1"/>
          <p:nvPr/>
        </p:nvSpPr>
        <p:spPr>
          <a:xfrm>
            <a:off x="8656167" y="2121408"/>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Install a package that is genuinely missing.</a:t>
            </a:r>
          </a:p>
        </p:txBody>
      </p:sp>
      <p:sp>
        <p:nvSpPr>
          <p:cNvPr id="33" name="Rounded Rectangle 32"/>
          <p:cNvSpPr/>
          <p:nvPr/>
        </p:nvSpPr>
        <p:spPr>
          <a:xfrm>
            <a:off x="6589623" y="3145536"/>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6278727" y="3374136"/>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278727" y="3374136"/>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6</a:t>
            </a:r>
          </a:p>
        </p:txBody>
      </p:sp>
      <p:sp>
        <p:nvSpPr>
          <p:cNvPr id="36" name="TextBox 35"/>
          <p:cNvSpPr txBox="1"/>
          <p:nvPr/>
        </p:nvSpPr>
        <p:spPr>
          <a:xfrm>
            <a:off x="6845655" y="3182112"/>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engine swap</a:t>
            </a:r>
          </a:p>
        </p:txBody>
      </p:sp>
      <p:sp>
        <p:nvSpPr>
          <p:cNvPr id="37" name="TextBox 36"/>
          <p:cNvSpPr txBox="1"/>
          <p:nvPr/>
        </p:nvSpPr>
        <p:spPr>
          <a:xfrm>
            <a:off x="8656167" y="3182112"/>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Retry with XeLaTeX or LuaLaTeX.</a:t>
            </a:r>
          </a:p>
        </p:txBody>
      </p:sp>
      <p:sp>
        <p:nvSpPr>
          <p:cNvPr id="38" name="Rounded Rectangle 37"/>
          <p:cNvSpPr/>
          <p:nvPr/>
        </p:nvSpPr>
        <p:spPr>
          <a:xfrm>
            <a:off x="6589623" y="4206240"/>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6278727" y="4434840"/>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278727" y="4434840"/>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7</a:t>
            </a:r>
          </a:p>
        </p:txBody>
      </p:sp>
      <p:sp>
        <p:nvSpPr>
          <p:cNvPr id="41" name="TextBox 40"/>
          <p:cNvSpPr txBox="1"/>
          <p:nvPr/>
        </p:nvSpPr>
        <p:spPr>
          <a:xfrm>
            <a:off x="6845655" y="4242816"/>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model</a:t>
            </a:r>
          </a:p>
        </p:txBody>
      </p:sp>
      <p:sp>
        <p:nvSpPr>
          <p:cNvPr id="42" name="TextBox 41"/>
          <p:cNvSpPr txBox="1"/>
          <p:nvPr/>
        </p:nvSpPr>
        <p:spPr>
          <a:xfrm>
            <a:off x="8656167" y="4242816"/>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Ask a model; its answer re-enters at rung 1.</a:t>
            </a:r>
          </a:p>
        </p:txBody>
      </p:sp>
      <p:sp>
        <p:nvSpPr>
          <p:cNvPr id="43" name="Rounded Rectangle 42"/>
          <p:cNvSpPr/>
          <p:nvPr/>
        </p:nvSpPr>
        <p:spPr>
          <a:xfrm>
            <a:off x="6589623" y="5266944"/>
            <a:ext cx="5035143"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6278727" y="5495544"/>
            <a:ext cx="475488" cy="475488"/>
          </a:xfrm>
          <a:prstGeom prst="ellipse">
            <a:avLst/>
          </a:prstGeom>
          <a:solidFill>
            <a:srgbClr val="151F23"/>
          </a:solidFill>
          <a:ln w="1524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278727" y="5495544"/>
            <a:ext cx="475488" cy="475488"/>
          </a:xfrm>
          <a:prstGeom prst="rect">
            <a:avLst/>
          </a:prstGeom>
          <a:noFill/>
        </p:spPr>
        <p:txBody>
          <a:bodyPr wrap="square" lIns="45720" rIns="45720" tIns="27432" bIns="27432" anchor="ctr">
            <a:noAutofit/>
          </a:bodyPr>
          <a:lstStyle/>
          <a:p>
            <a:pPr algn="ctr">
              <a:lnSpc>
                <a:spcPct val="100000"/>
              </a:lnSpc>
            </a:pPr>
            <a:r>
              <a:rPr sz="1500" b="1" i="0">
                <a:solidFill>
                  <a:srgbClr val="E2B462"/>
                </a:solidFill>
                <a:latin typeface="Palatino Linotype"/>
              </a:rPr>
              <a:t>8</a:t>
            </a:r>
          </a:p>
        </p:txBody>
      </p:sp>
      <p:sp>
        <p:nvSpPr>
          <p:cNvPr id="46" name="TextBox 45"/>
          <p:cNvSpPr txBox="1"/>
          <p:nvPr/>
        </p:nvSpPr>
        <p:spPr>
          <a:xfrm>
            <a:off x="6845655" y="5303520"/>
            <a:ext cx="1783080" cy="859536"/>
          </a:xfrm>
          <a:prstGeom prst="rect">
            <a:avLst/>
          </a:prstGeom>
          <a:noFill/>
        </p:spPr>
        <p:txBody>
          <a:bodyPr wrap="square" lIns="45720" rIns="45720" tIns="27432" bIns="27432" anchor="ctr">
            <a:noAutofit/>
          </a:bodyPr>
          <a:lstStyle/>
          <a:p>
            <a:pPr algn="l">
              <a:lnSpc>
                <a:spcPct val="100000"/>
              </a:lnSpc>
            </a:pPr>
            <a:r>
              <a:rPr sz="1450" b="1" i="0">
                <a:solidFill>
                  <a:srgbClr val="3BBE93"/>
                </a:solidFill>
                <a:latin typeface="Consolas"/>
              </a:rPr>
              <a:t>bisect</a:t>
            </a:r>
          </a:p>
        </p:txBody>
      </p:sp>
      <p:sp>
        <p:nvSpPr>
          <p:cNvPr id="47" name="TextBox 46"/>
          <p:cNvSpPr txBox="1"/>
          <p:nvPr/>
        </p:nvSpPr>
        <p:spPr>
          <a:xfrm>
            <a:off x="8656167" y="5303520"/>
            <a:ext cx="2858871" cy="859536"/>
          </a:xfrm>
          <a:prstGeom prst="rect">
            <a:avLst/>
          </a:prstGeom>
          <a:noFill/>
        </p:spPr>
        <p:txBody>
          <a:bodyPr wrap="square" lIns="45720" rIns="45720" tIns="27432" bIns="27432" anchor="ctr">
            <a:noAutofit/>
          </a:bodyPr>
          <a:lstStyle/>
          <a:p>
            <a:pPr algn="l">
              <a:lnSpc>
                <a:spcPct val="100000"/>
              </a:lnSpc>
            </a:pPr>
            <a:r>
              <a:rPr sz="1300" b="0" i="0">
                <a:solidFill>
                  <a:srgbClr val="A7B2B0"/>
                </a:solidFill>
                <a:latin typeface="Segoe UI"/>
              </a:rPr>
              <a:t>Last: set the failing block aside, and say so.</a:t>
            </a:r>
          </a:p>
        </p:txBody>
      </p:sp>
      <p:cxnSp>
        <p:nvCxnSpPr>
          <p:cNvPr id="48" name="Connector 4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50" name="TextBox 4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FIRMWARE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Real boards, fail-safe by design</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Four agents take firmware from scaffold to a running board, and each refuses rather than flash something that cannot be right.</a:t>
            </a:r>
          </a:p>
        </p:txBody>
      </p:sp>
      <p:sp>
        <p:nvSpPr>
          <p:cNvPr id="8" name="Rounded Rectangle 7"/>
          <p:cNvSpPr/>
          <p:nvPr/>
        </p:nvSpPr>
        <p:spPr>
          <a:xfrm>
            <a:off x="566928" y="2084831"/>
            <a:ext cx="11057839" cy="3026664"/>
          </a:xfrm>
          <a:prstGeom prst="roundRect">
            <a:avLst>
              <a:gd name="adj" fmla="val 2416"/>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140179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AGENT</a:t>
            </a:r>
          </a:p>
        </p:txBody>
      </p:sp>
      <p:sp>
        <p:nvSpPr>
          <p:cNvPr id="11" name="TextBox 10"/>
          <p:cNvSpPr txBox="1"/>
          <p:nvPr/>
        </p:nvSpPr>
        <p:spPr>
          <a:xfrm>
            <a:off x="2188177" y="2121408"/>
            <a:ext cx="2728734"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TOOLCHAIN</a:t>
            </a:r>
          </a:p>
        </p:txBody>
      </p:sp>
      <p:sp>
        <p:nvSpPr>
          <p:cNvPr id="12" name="TextBox 11"/>
          <p:cNvSpPr txBox="1"/>
          <p:nvPr/>
        </p:nvSpPr>
        <p:spPr>
          <a:xfrm>
            <a:off x="5063215" y="2121408"/>
            <a:ext cx="648839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HIGHLIGHTS</a:t>
            </a:r>
          </a:p>
        </p:txBody>
      </p:sp>
      <p:sp>
        <p:nvSpPr>
          <p:cNvPr id="13" name="TextBox 12"/>
          <p:cNvSpPr txBox="1"/>
          <p:nvPr/>
        </p:nvSpPr>
        <p:spPr>
          <a:xfrm>
            <a:off x="640080" y="2505456"/>
            <a:ext cx="1401793" cy="7589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STM32er</a:t>
            </a:r>
          </a:p>
        </p:txBody>
      </p:sp>
      <p:sp>
        <p:nvSpPr>
          <p:cNvPr id="14" name="TextBox 13"/>
          <p:cNvSpPr txBox="1"/>
          <p:nvPr/>
        </p:nvSpPr>
        <p:spPr>
          <a:xfrm>
            <a:off x="2188177" y="2505456"/>
            <a:ext cx="2728734"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PlatformIO ststm32 and the STM32 Template Project MCP</a:t>
            </a:r>
          </a:p>
        </p:txBody>
      </p:sp>
      <p:sp>
        <p:nvSpPr>
          <p:cNvPr id="15" name="TextBox 14"/>
          <p:cNvSpPr txBox="1"/>
          <p:nvPr/>
        </p:nvSpPr>
        <p:spPr>
          <a:xfrm>
            <a:off x="5063215" y="2505456"/>
            <a:ext cx="6488399" cy="7589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Blue Pill through F7, G, L, H7, U5 and WB; zero-config bootstrap; ST-LINK probe checks; newest silicon refused cleanly until its native backend exists.</a:t>
            </a:r>
          </a:p>
        </p:txBody>
      </p:sp>
      <p:sp>
        <p:nvSpPr>
          <p:cNvPr id="16" name="Rectangle 15"/>
          <p:cNvSpPr/>
          <p:nvPr/>
        </p:nvSpPr>
        <p:spPr>
          <a:xfrm>
            <a:off x="585216" y="3300984"/>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3337560"/>
            <a:ext cx="1401793"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ESP32er</a:t>
            </a:r>
          </a:p>
        </p:txBody>
      </p:sp>
      <p:sp>
        <p:nvSpPr>
          <p:cNvPr id="18" name="TextBox 17"/>
          <p:cNvSpPr txBox="1"/>
          <p:nvPr/>
        </p:nvSpPr>
        <p:spPr>
          <a:xfrm>
            <a:off x="2188177" y="3337560"/>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PlatformIO Core, called directly</a:t>
            </a:r>
          </a:p>
        </p:txBody>
      </p:sp>
      <p:sp>
        <p:nvSpPr>
          <p:cNvPr id="19" name="TextBox 18"/>
          <p:cNvSpPr txBox="1"/>
          <p:nvPr/>
        </p:nvSpPr>
        <p:spPr>
          <a:xfrm>
            <a:off x="5063215" y="3337560"/>
            <a:ext cx="6488399"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Copies a blink-and-print template so a new project compiles at once; serial-aware preflight.</a:t>
            </a:r>
          </a:p>
        </p:txBody>
      </p:sp>
      <p:sp>
        <p:nvSpPr>
          <p:cNvPr id="20" name="TextBox 19"/>
          <p:cNvSpPr txBox="1"/>
          <p:nvPr/>
        </p:nvSpPr>
        <p:spPr>
          <a:xfrm>
            <a:off x="640080" y="3941063"/>
            <a:ext cx="1401793"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Arduiner</a:t>
            </a:r>
          </a:p>
        </p:txBody>
      </p:sp>
      <p:sp>
        <p:nvSpPr>
          <p:cNvPr id="21" name="TextBox 20"/>
          <p:cNvSpPr txBox="1"/>
          <p:nvPr/>
        </p:nvSpPr>
        <p:spPr>
          <a:xfrm>
            <a:off x="2188177" y="3941063"/>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arduino-cli, downloaded on demand</a:t>
            </a:r>
          </a:p>
        </p:txBody>
      </p:sp>
      <p:sp>
        <p:nvSpPr>
          <p:cNvPr id="22" name="TextBox 21"/>
          <p:cNvSpPr txBox="1"/>
          <p:nvPr/>
        </p:nvSpPr>
        <p:spPr>
          <a:xfrm>
            <a:off x="5063215" y="3941063"/>
            <a:ext cx="6488399"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The board is chosen by its FQBN; the board's core is installed automatically.</a:t>
            </a:r>
          </a:p>
        </p:txBody>
      </p:sp>
      <p:sp>
        <p:nvSpPr>
          <p:cNvPr id="23" name="Rectangle 22"/>
          <p:cNvSpPr/>
          <p:nvPr/>
        </p:nvSpPr>
        <p:spPr>
          <a:xfrm>
            <a:off x="585216" y="4507992"/>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4544568"/>
            <a:ext cx="1401793"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ESPHomer</a:t>
            </a:r>
          </a:p>
        </p:txBody>
      </p:sp>
      <p:sp>
        <p:nvSpPr>
          <p:cNvPr id="25" name="TextBox 24"/>
          <p:cNvSpPr txBox="1"/>
          <p:nvPr/>
        </p:nvSpPr>
        <p:spPr>
          <a:xfrm>
            <a:off x="2188177" y="4544568"/>
            <a:ext cx="2728734"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The esphome CLI</a:t>
            </a:r>
          </a:p>
        </p:txBody>
      </p:sp>
      <p:sp>
        <p:nvSpPr>
          <p:cNvPr id="26" name="TextBox 25"/>
          <p:cNvSpPr txBox="1"/>
          <p:nvPr/>
        </p:nvSpPr>
        <p:spPr>
          <a:xfrm>
            <a:off x="5063215" y="4544568"/>
            <a:ext cx="6488399"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Smart-home devices from YAML; headless config generator; USB first flash, OTA after.</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FIRMWARE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Authorized hardware only</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46D2E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Flash, erase, reset and upload change a real attached device. STM32er drives mission-critical robot firmware, which is why its preflight fails safe.</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“Real boards, fail-safe by design”</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CREATIVE ENGINES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Unreal Engine and Blender, live</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Two agents drive running editors over their own sockets, from chat or from the canvas.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Unrealer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Talks to the Unreal MCP plugin over TCP: 53 commands in nine categories — editor, Blueprint, nodes, project, UMG, system, level, asset and material.</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Tlamatini's Unreal fork</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XaihtUnrealEngineMCP ships the full surface plus a scaffolder for a ready-to-build UE 5.8 C++ project with a Visual Studio 2026 solution.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Blenderer</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Speaks the official Blender MCP add-on's code-execution protocol on its local socket, with a rich action catalog so most tasks need no hand-written Python.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Chainable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Both return structured blocks, so Parametrizer can carry a result into the next step and a Forker can branch on it.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SECURITY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Assessment for authorized targets</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Offensive and defensive tooling is part of the catalog, always limited to systems you own or are explicitly authorized to test.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Kalier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Kali Linux tools through MCP-Kali-Server: nmap, gobuster, nikto, sqlmap and more.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Discoverer</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subfinder, httpx, naabu, katana, nuclei and vulnx on a private Go toolchain.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Nmapper</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Uses the nmap you installed; never bundles it; connect scan needs no admin.</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Analyzer</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bandit, semgrep, ruff, eslint, gitleaks and pip-audit, deterministically.</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Reviewer</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senior-engineer review of a diff, with a verdict a flow can branch on.</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Kyber</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Post-quantum key generation, encryption and decryption.</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BLUE-HAT TOOLKIT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Windows defence, operated by a human</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a:t>
            </a:r>
            <a:r>
              <a:rPr sz="1350" b="0" i="0">
                <a:solidFill>
                  <a:srgbClr val="E2B462"/>
                </a:solidFill>
                <a:latin typeface="Consolas"/>
              </a:rPr>
              <a:t>security/</a:t>
            </a:r>
            <a:r>
              <a:rPr sz="1450" b="0" i="0">
                <a:solidFill>
                  <a:srgbClr val="A7B2B0"/>
                </a:solidFill>
                <a:latin typeface="Segoe UI Semilight"/>
              </a:rPr>
              <a:t> toolkit is an administrator-run monitoring and response kit, not a chat tool: a person launches it, reads its evidence and decides.</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Operator-run</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 human launches it and owns every policy change.</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Ten families</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Defender, logons, network, processes, persistence, ransomware, accounts.</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Detect first</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Baseline with -DetectOnly before arming.</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Trade-offs</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Exclusions and Audit-mode rules are recorded and explained.</a:t>
            </a:r>
          </a:p>
        </p:txBody>
      </p:sp>
      <p:sp>
        <p:nvSpPr>
          <p:cNvPr id="24" name="Rounded Rectangle 23"/>
          <p:cNvSpPr/>
          <p:nvPr/>
        </p:nvSpPr>
        <p:spPr>
          <a:xfrm>
            <a:off x="6144768" y="2084831"/>
            <a:ext cx="5479999" cy="2432303"/>
          </a:xfrm>
          <a:prstGeom prst="roundRect">
            <a:avLst>
              <a:gd name="adj" fmla="val 30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2121408"/>
            <a:ext cx="13880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MODE</a:t>
            </a:r>
          </a:p>
        </p:txBody>
      </p:sp>
      <p:sp>
        <p:nvSpPr>
          <p:cNvPr id="27" name="TextBox 26"/>
          <p:cNvSpPr txBox="1"/>
          <p:nvPr/>
        </p:nvSpPr>
        <p:spPr>
          <a:xfrm>
            <a:off x="7752319" y="2121408"/>
            <a:ext cx="37992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BEHAVIOUR</a:t>
            </a:r>
          </a:p>
        </p:txBody>
      </p:sp>
      <p:sp>
        <p:nvSpPr>
          <p:cNvPr id="28" name="TextBox 27"/>
          <p:cNvSpPr txBox="1"/>
          <p:nvPr/>
        </p:nvSpPr>
        <p:spPr>
          <a:xfrm>
            <a:off x="6217920" y="2505456"/>
            <a:ext cx="1388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-DetectOnly</a:t>
            </a:r>
          </a:p>
        </p:txBody>
      </p:sp>
      <p:sp>
        <p:nvSpPr>
          <p:cNvPr id="29" name="TextBox 28"/>
          <p:cNvSpPr txBox="1"/>
          <p:nvPr/>
        </p:nvSpPr>
        <p:spPr>
          <a:xfrm>
            <a:off x="7752319" y="2505456"/>
            <a:ext cx="379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Reports what it would block or stop; the safe first run.</a:t>
            </a:r>
          </a:p>
        </p:txBody>
      </p:sp>
      <p:sp>
        <p:nvSpPr>
          <p:cNvPr id="30" name="Rectangle 29"/>
          <p:cNvSpPr/>
          <p:nvPr/>
        </p:nvSpPr>
        <p:spPr>
          <a:xfrm>
            <a:off x="6163056" y="2980944"/>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217920" y="3017520"/>
            <a:ext cx="1388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default</a:t>
            </a:r>
          </a:p>
        </p:txBody>
      </p:sp>
      <p:sp>
        <p:nvSpPr>
          <p:cNvPr id="32" name="TextBox 31"/>
          <p:cNvSpPr txBox="1"/>
          <p:nvPr/>
        </p:nvSpPr>
        <p:spPr>
          <a:xfrm>
            <a:off x="7752319" y="3017520"/>
            <a:ext cx="379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One armed sweep; may block an attacking IP and stop known attacker tools.</a:t>
            </a:r>
          </a:p>
        </p:txBody>
      </p:sp>
      <p:sp>
        <p:nvSpPr>
          <p:cNvPr id="33" name="TextBox 32"/>
          <p:cNvSpPr txBox="1"/>
          <p:nvPr/>
        </p:nvSpPr>
        <p:spPr>
          <a:xfrm>
            <a:off x="6217920" y="3529584"/>
            <a:ext cx="1388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-Watch</a:t>
            </a:r>
          </a:p>
        </p:txBody>
      </p:sp>
      <p:sp>
        <p:nvSpPr>
          <p:cNvPr id="34" name="TextBox 33"/>
          <p:cNvSpPr txBox="1"/>
          <p:nvPr/>
        </p:nvSpPr>
        <p:spPr>
          <a:xfrm>
            <a:off x="7752319" y="3529584"/>
            <a:ext cx="379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Continuous sweeps until Ctrl+C, every 60 seconds by default.</a:t>
            </a:r>
          </a:p>
        </p:txBody>
      </p:sp>
      <p:sp>
        <p:nvSpPr>
          <p:cNvPr id="35" name="Rectangle 34"/>
          <p:cNvSpPr/>
          <p:nvPr/>
        </p:nvSpPr>
        <p:spPr>
          <a:xfrm>
            <a:off x="6163056" y="4005072"/>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217920" y="4041648"/>
            <a:ext cx="13880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-Aggressive</a:t>
            </a:r>
          </a:p>
        </p:txBody>
      </p:sp>
      <p:sp>
        <p:nvSpPr>
          <p:cNvPr id="37" name="TextBox 36"/>
          <p:cNvSpPr txBox="1"/>
          <p:nvPr/>
        </p:nvSpPr>
        <p:spPr>
          <a:xfrm>
            <a:off x="7752319" y="4041648"/>
            <a:ext cx="379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Also stops dual-use tools outside Tlamatini's paths; incidents only.</a:t>
            </a:r>
          </a:p>
        </p:txBody>
      </p:sp>
      <p:cxnSp>
        <p:nvCxnSpPr>
          <p:cNvPr id="38" name="Connector 3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40" name="TextBox 3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VOICE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She listens until you stop, and answers in her voice</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Direct chat dictation, workflow Whisperer, Talker and catalog commands have distinct voice contracts.</a:t>
            </a:r>
          </a:p>
        </p:txBody>
      </p:sp>
      <p:sp>
        <p:nvSpPr>
          <p:cNvPr id="8" name="Rounded Rectangle 7"/>
          <p:cNvSpPr/>
          <p:nvPr/>
        </p:nvSpPr>
        <p:spPr>
          <a:xfrm>
            <a:off x="566928" y="2084831"/>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10384"/>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Sound gate</a:t>
            </a:r>
          </a:p>
        </p:txBody>
      </p:sp>
      <p:sp>
        <p:nvSpPr>
          <p:cNvPr id="11" name="TextBox 10"/>
          <p:cNvSpPr txBox="1"/>
          <p:nvPr/>
        </p:nvSpPr>
        <p:spPr>
          <a:xfrm>
            <a:off x="3767328" y="2139696"/>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Records while you talk; stops after 3.5 s of silence.</a:t>
            </a:r>
          </a:p>
        </p:txBody>
      </p:sp>
      <p:sp>
        <p:nvSpPr>
          <p:cNvPr id="12" name="Rounded Rectangle 11"/>
          <p:cNvSpPr/>
          <p:nvPr/>
        </p:nvSpPr>
        <p:spPr>
          <a:xfrm>
            <a:off x="566928" y="2791968"/>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01752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846832"/>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Workflow duration</a:t>
            </a:r>
          </a:p>
        </p:txBody>
      </p:sp>
      <p:sp>
        <p:nvSpPr>
          <p:cNvPr id="15" name="TextBox 14"/>
          <p:cNvSpPr txBox="1"/>
          <p:nvPr/>
        </p:nvSpPr>
        <p:spPr>
          <a:xfrm>
            <a:off x="3767328" y="2846832"/>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Standalone/workflow recording can use an explicit fixed duration.</a:t>
            </a:r>
          </a:p>
        </p:txBody>
      </p:sp>
      <p:sp>
        <p:nvSpPr>
          <p:cNvPr id="16" name="Rounded Rectangle 15"/>
          <p:cNvSpPr/>
          <p:nvPr/>
        </p:nvSpPr>
        <p:spPr>
          <a:xfrm>
            <a:off x="566928" y="3499103"/>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372465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553967"/>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Local first</a:t>
            </a:r>
          </a:p>
        </p:txBody>
      </p:sp>
      <p:sp>
        <p:nvSpPr>
          <p:cNvPr id="19" name="TextBox 18"/>
          <p:cNvSpPr txBox="1"/>
          <p:nvPr/>
        </p:nvSpPr>
        <p:spPr>
          <a:xfrm>
            <a:off x="3767328" y="3553967"/>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faster-whisper on GPU or CPU, or a cloud provider.</a:t>
            </a:r>
          </a:p>
        </p:txBody>
      </p:sp>
      <p:sp>
        <p:nvSpPr>
          <p:cNvPr id="20" name="Rounded Rectangle 19"/>
          <p:cNvSpPr/>
          <p:nvPr/>
        </p:nvSpPr>
        <p:spPr>
          <a:xfrm>
            <a:off x="566928" y="4206240"/>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431791"/>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261103"/>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Her voice</a:t>
            </a:r>
          </a:p>
        </p:txBody>
      </p:sp>
      <p:sp>
        <p:nvSpPr>
          <p:cNvPr id="23" name="TextBox 22"/>
          <p:cNvSpPr txBox="1"/>
          <p:nvPr/>
        </p:nvSpPr>
        <p:spPr>
          <a:xfrm>
            <a:off x="3767328" y="4261103"/>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Female only: tara, leah, jess, mia or zoe.</a:t>
            </a:r>
          </a:p>
        </p:txBody>
      </p:sp>
      <p:sp>
        <p:nvSpPr>
          <p:cNvPr id="24" name="Rounded Rectangle 23"/>
          <p:cNvSpPr/>
          <p:nvPr/>
        </p:nvSpPr>
        <p:spPr>
          <a:xfrm>
            <a:off x="566928" y="4913376"/>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138927"/>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4968239"/>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Direct microphone</a:t>
            </a:r>
          </a:p>
        </p:txBody>
      </p:sp>
      <p:sp>
        <p:nvSpPr>
          <p:cNvPr id="27" name="TextBox 26"/>
          <p:cNvSpPr txBox="1"/>
          <p:nvPr/>
        </p:nvSpPr>
        <p:spPr>
          <a:xfrm>
            <a:off x="3767328" y="4968239"/>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Gate, recognize, then send or keep an editable draft; no extra console.</a:t>
            </a:r>
          </a:p>
        </p:txBody>
      </p:sp>
      <p:sp>
        <p:nvSpPr>
          <p:cNvPr id="28" name="Rounded Rectangle 27"/>
          <p:cNvSpPr/>
          <p:nvPr/>
        </p:nvSpPr>
        <p:spPr>
          <a:xfrm>
            <a:off x="566928" y="5620512"/>
            <a:ext cx="11057839" cy="579120"/>
          </a:xfrm>
          <a:prstGeom prst="roundRect">
            <a:avLst>
              <a:gd name="adj" fmla="val 157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Diamond 28"/>
          <p:cNvSpPr/>
          <p:nvPr/>
        </p:nvSpPr>
        <p:spPr>
          <a:xfrm>
            <a:off x="768096" y="5846063"/>
            <a:ext cx="128016" cy="128016"/>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1024128" y="5675375"/>
            <a:ext cx="2651760" cy="469392"/>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Catalog commands</a:t>
            </a:r>
          </a:p>
        </p:txBody>
      </p:sp>
      <p:sp>
        <p:nvSpPr>
          <p:cNvPr id="31" name="TextBox 30"/>
          <p:cNvSpPr txBox="1"/>
          <p:nvPr/>
        </p:nvSpPr>
        <p:spPr>
          <a:xfrm>
            <a:off x="3767328" y="5675375"/>
            <a:ext cx="7720279" cy="469392"/>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Model-mediated cards can request readback before acting.</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VISION AND VIDEO</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Eyes that report their limits</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Image and video analysis combine independent observers, so one model's guess is never presented as fact.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Image-Interpreter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Two vision models read each image in parallel on their own connections; a third merges both. A comma-separated list reads several images.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Video-Analyzer · robotics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deterministic motion gate plus two vision models; PASS only when both agree.</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Video-Analyzer · transcription</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Timestamped speech from chosen audio tracks or a web link, locally.</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Video-Analyzer · summary</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Speech plus sampled visual evidence: scenes, text, facts, decisions and limits; a web link is downloaded first.</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Capture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Shoter, Camcorder and Recorder save to your known folders with exact names.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Paste to chat</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screenshot pasted into the chat becomes a path she can analyze.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DESKTOP AND BROWSER</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Precise hands on a real desktop</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Desktop agents state their coordinate spaces and their evidence, because a click that lands in the wrong place is worse than no click.</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Mouser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Coordinates are declared: physical screen, desktop, normalized, window or screenshot.</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Shoter</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Publishes the exact captured rectangle, image size and monitor geometry.</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Keyboarder</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Binds each keystroke to a verified window and stops on focus loss.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Delivery is not acceptance</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input_sent</a:t>
            </a:r>
            <a:r>
              <a:rPr sz="1300" b="0" i="0">
                <a:solidFill>
                  <a:srgbClr val="A7B2B0"/>
                </a:solidFill>
                <a:latin typeface="Segoe UI"/>
              </a:rPr>
              <a:t> proves delivery only; interrupted input is inspected before any replay.</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Playwrighter</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real browser through declared steps, with a hold-open knob to watch.</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Windower</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Focus, move, resize, tile, pin and close windows by title.</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WEB SEARCH</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Three search tiers, one time budget</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chat search tool and pool agent use the same Googler implementation, with a default 120-second budget and explicit outcomes.</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Tier 0</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Six hedged HTTP routes; relevance checked before acceptance.</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Tier 1</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Eight browser routes in health-ledger order; persistent Chrome profile.</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Tier 2</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Clearly attributed open knowledge sources when search routes fail.</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Bounded work</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120-second default, cancellation and named failure outcomes.</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Dork contract</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Explicit engines skip fallback tiers; links_only delivers URLs.</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WEB READING</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Read the requested page, report what happened</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Crawler starts with the supplied page, bounds its work and keeps refusal pages away from the model.</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Page first</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Read the seed URL by default; range crawling is explicit.</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Budgets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Defaults: 25 pages, 900 seconds overall, 45 seconds per download.</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Truthful outcome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Refusals never become source content; no analysis is reported plainly.</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Text safety net</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Below 25% of a 200+ character fallback: recover and disclose.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NETWORK MEASUREMENT</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Speed measured with its error bar</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NetSpeed-Calculator publishes a speed with a confidence interval and measures latency under load.</a:t>
            </a:r>
          </a:p>
        </p:txBody>
      </p:sp>
      <p:sp>
        <p:nvSpPr>
          <p:cNvPr id="8" name="Rounded Rectangle 7"/>
          <p:cNvSpPr/>
          <p:nvPr/>
        </p:nvSpPr>
        <p:spPr>
          <a:xfrm>
            <a:off x="566928" y="2084831"/>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663952"/>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Throughput</a:t>
            </a:r>
          </a:p>
        </p:txBody>
      </p:sp>
      <p:sp>
        <p:nvSpPr>
          <p:cNvPr id="11" name="TextBox 10"/>
          <p:cNvSpPr txBox="1"/>
          <p:nvPr/>
        </p:nvSpPr>
        <p:spPr>
          <a:xfrm>
            <a:off x="3767328" y="2139696"/>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Parallel streams, Student-t intervals, random-effects fusion.</a:t>
            </a:r>
          </a:p>
        </p:txBody>
      </p:sp>
      <p:sp>
        <p:nvSpPr>
          <p:cNvPr id="12" name="Rounded Rectangle 11"/>
          <p:cNvSpPr/>
          <p:nvPr/>
        </p:nvSpPr>
        <p:spPr>
          <a:xfrm>
            <a:off x="566928" y="3499103"/>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4078223"/>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553967"/>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Bufferbloat</a:t>
            </a:r>
          </a:p>
        </p:txBody>
      </p:sp>
      <p:sp>
        <p:nvSpPr>
          <p:cNvPr id="15" name="TextBox 14"/>
          <p:cNvSpPr txBox="1"/>
          <p:nvPr/>
        </p:nvSpPr>
        <p:spPr>
          <a:xfrm>
            <a:off x="3767328" y="3553967"/>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Latency under load, graded A+ to F.</a:t>
            </a:r>
          </a:p>
        </p:txBody>
      </p:sp>
      <p:sp>
        <p:nvSpPr>
          <p:cNvPr id="16" name="Rounded Rectangle 15"/>
          <p:cNvSpPr/>
          <p:nvPr/>
        </p:nvSpPr>
        <p:spPr>
          <a:xfrm>
            <a:off x="566928" y="4913376"/>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549249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968239"/>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Metered</a:t>
            </a:r>
          </a:p>
        </p:txBody>
      </p:sp>
      <p:sp>
        <p:nvSpPr>
          <p:cNvPr id="19" name="TextBox 18"/>
          <p:cNvSpPr txBox="1"/>
          <p:nvPr/>
        </p:nvSpPr>
        <p:spPr>
          <a:xfrm>
            <a:off x="3767328" y="4968239"/>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About 100 to 200 MB per full run; it asks first.</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MESSAGING</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Reaching people deliberately</a:t>
            </a:r>
          </a:p>
        </p:txBody>
      </p:sp>
      <p:sp>
        <p:nvSpPr>
          <p:cNvPr id="6" name="Rectangle 5"/>
          <p:cNvSpPr/>
          <p:nvPr/>
        </p:nvSpPr>
        <p:spPr>
          <a:xfrm>
            <a:off x="566928" y="1344168"/>
            <a:ext cx="822960" cy="36576"/>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Messaging agents use official surfaces by default and make every unofficial route an explicit choice.</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Telegrammer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Sends as the bot or as your own account; “send it as me” picks yours.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Whatsapper</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Meta's official Cloud API by default; your own number only when you say so.</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TeleTlamatini</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full chat in Telegram, on a dedicated account.</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Instant Messaging Doctor</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Checks tokens, contacts, templates and policy windows.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Contacts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contact name resolves to the real address when a message is sent.</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 · DEEP CAPABILITIES</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D9576B"/>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VI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Promises She Keeps</a:t>
            </a:r>
          </a:p>
        </p:txBody>
      </p:sp>
      <p:sp>
        <p:nvSpPr>
          <p:cNvPr id="6" name="Rectangle 5"/>
          <p:cNvSpPr/>
          <p:nvPr/>
        </p:nvSpPr>
        <p:spPr>
          <a:xfrm>
            <a:off x="841248" y="4315968"/>
            <a:ext cx="100584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Honesty, consent, safety and control, written into the code rather than into a brochure.</a:t>
            </a:r>
          </a:p>
        </p:txBody>
      </p:sp>
      <p:sp>
        <p:nvSpPr>
          <p:cNvPr id="8" name="Diamond 7"/>
          <p:cNvSpPr/>
          <p:nvPr/>
        </p:nvSpPr>
        <p:spPr>
          <a:xfrm>
            <a:off x="822960" y="534009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05840" y="5248656"/>
            <a:ext cx="3108960" cy="274320"/>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A password prompt must not divert the wizard</a:t>
            </a:r>
          </a:p>
        </p:txBody>
      </p:sp>
      <p:sp>
        <p:nvSpPr>
          <p:cNvPr id="10" name="Diamond 9"/>
          <p:cNvSpPr/>
          <p:nvPr/>
        </p:nvSpPr>
        <p:spPr>
          <a:xfrm>
            <a:off x="822960" y="561441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1005840" y="552297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Truth over comfort</a:t>
            </a:r>
          </a:p>
        </p:txBody>
      </p:sp>
      <p:sp>
        <p:nvSpPr>
          <p:cNvPr id="12" name="Diamond 11"/>
          <p:cNvSpPr/>
          <p:nvPr/>
        </p:nvSpPr>
        <p:spPr>
          <a:xfrm>
            <a:off x="822960" y="588873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005840" y="579729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Fail open or fail safe, on purpose</a:t>
            </a:r>
          </a:p>
        </p:txBody>
      </p:sp>
      <p:sp>
        <p:nvSpPr>
          <p:cNvPr id="14" name="Diamond 13"/>
          <p:cNvSpPr/>
          <p:nvPr/>
        </p:nvSpPr>
        <p:spPr>
          <a:xfrm>
            <a:off x="4206240" y="534009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4389120" y="524865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Your agents, your jurisdiction</a:t>
            </a:r>
          </a:p>
        </p:txBody>
      </p:sp>
      <p:sp>
        <p:nvSpPr>
          <p:cNvPr id="16" name="Diamond 15"/>
          <p:cNvSpPr/>
          <p:nvPr/>
        </p:nvSpPr>
        <p:spPr>
          <a:xfrm>
            <a:off x="4206240" y="561441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4389120" y="552297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Your data, handled carefully</a:t>
            </a:r>
          </a:p>
        </p:txBody>
      </p:sp>
      <p:sp>
        <p:nvSpPr>
          <p:cNvPr id="18" name="Diamond 17"/>
          <p:cNvSpPr/>
          <p:nvPr/>
        </p:nvSpPr>
        <p:spPr>
          <a:xfrm>
            <a:off x="4206240" y="5888736"/>
            <a:ext cx="91440" cy="91440"/>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4389120" y="5797296"/>
            <a:ext cx="3108960" cy="274320"/>
          </a:xfrm>
          <a:prstGeom prst="rect">
            <a:avLst/>
          </a:prstGeom>
          <a:noFill/>
        </p:spPr>
        <p:txBody>
          <a:bodyPr wrap="square" lIns="45720" rIns="45720" tIns="27432" bIns="27432" anchor="t">
            <a:noAutofit/>
          </a:bodyPr>
          <a:lstStyle/>
          <a:p>
            <a:pPr algn="l">
              <a:lnSpc>
                <a:spcPct val="100000"/>
              </a:lnSpc>
            </a:pPr>
            <a:r>
              <a:rPr sz="1200" b="0" i="0">
                <a:solidFill>
                  <a:srgbClr val="A7B2B0"/>
                </a:solidFill>
                <a:latin typeface="Segoe UI"/>
              </a:rPr>
              <a:t>Nothing runs where nobody can see it</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VI</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INTENT GUARDS · v1.90.0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password prompt must not divert the wizard</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account wizard launches createsuperuser through Executer and waits for input in its console.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Launch</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Executer opens the interactive source or frozen command in a visible console.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Input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Username, optional email and password belong to the user's console interaction.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Wait</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DONE / ERROR / NOWINDOW drive the next step; no automatic success claim.</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Notify</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Only an explicit outbound request creates completion-notification debt.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PROMISES SHE KEEPS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HONESTY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Truth over comfort</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Where a system can be confidently wrong, Tlamatini is built to say what she knows and what she does not.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Self-report first</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An agent's typed result outranks a one-bit exit code.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Degraded is red</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compromised deliverable is never painted green.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Silence is named</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Skipped files, dead transfers and refusals carry a reason.</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Recovery is narrated</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Retries are shown live and summarized in the answer.</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Created is not clean</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Documents report their audits before being called finished.</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Delivered is not accepted</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Desktop input evidence is kept distinct from success.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PROMISES SHE KEEPS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FAILURE MODES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Fail open or fail safe, on purpose</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Every guard chooses its failure direction deliberately, by asking which mistake would hurt you more.</a:t>
            </a:r>
          </a:p>
        </p:txBody>
      </p:sp>
      <p:sp>
        <p:nvSpPr>
          <p:cNvPr id="8" name="Rounded Rectangle 7"/>
          <p:cNvSpPr/>
          <p:nvPr/>
        </p:nvSpPr>
        <p:spPr>
          <a:xfrm>
            <a:off x="566928" y="2084831"/>
            <a:ext cx="11057839" cy="4056887"/>
          </a:xfrm>
          <a:prstGeom prst="roundRect">
            <a:avLst>
              <a:gd name="adj" fmla="val 1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17104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MECHANISM</a:t>
            </a:r>
          </a:p>
        </p:txBody>
      </p:sp>
      <p:sp>
        <p:nvSpPr>
          <p:cNvPr id="11" name="TextBox 10"/>
          <p:cNvSpPr txBox="1"/>
          <p:nvPr/>
        </p:nvSpPr>
        <p:spPr>
          <a:xfrm>
            <a:off x="3957431" y="2121408"/>
            <a:ext cx="162295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DIRECTION</a:t>
            </a:r>
          </a:p>
        </p:txBody>
      </p:sp>
      <p:sp>
        <p:nvSpPr>
          <p:cNvPr id="12" name="TextBox 11"/>
          <p:cNvSpPr txBox="1"/>
          <p:nvPr/>
        </p:nvSpPr>
        <p:spPr>
          <a:xfrm>
            <a:off x="5726686" y="2121408"/>
            <a:ext cx="582492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WHY</a:t>
            </a:r>
          </a:p>
        </p:txBody>
      </p:sp>
      <p:sp>
        <p:nvSpPr>
          <p:cNvPr id="13" name="TextBox 12"/>
          <p:cNvSpPr txBox="1"/>
          <p:nvPr/>
        </p:nvSpPr>
        <p:spPr>
          <a:xfrm>
            <a:off x="640080" y="2505456"/>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Binary-content guard</a:t>
            </a:r>
          </a:p>
        </p:txBody>
      </p:sp>
      <p:sp>
        <p:nvSpPr>
          <p:cNvPr id="14" name="TextBox 13"/>
          <p:cNvSpPr txBox="1"/>
          <p:nvPr/>
        </p:nvSpPr>
        <p:spPr>
          <a:xfrm>
            <a:off x="3957431" y="2505456"/>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Open</a:t>
            </a:r>
          </a:p>
        </p:txBody>
      </p:sp>
      <p:sp>
        <p:nvSpPr>
          <p:cNvPr id="15" name="TextBox 14"/>
          <p:cNvSpPr txBox="1"/>
          <p:nvPr/>
        </p:nvSpPr>
        <p:spPr>
          <a:xfrm>
            <a:off x="5726686" y="2505456"/>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Dropping real context is worse than embedding one odd file.</a:t>
            </a:r>
          </a:p>
        </p:txBody>
      </p:sp>
      <p:sp>
        <p:nvSpPr>
          <p:cNvPr id="16" name="Rectangle 15"/>
          <p:cNvSpPr/>
          <p:nvPr/>
        </p:nvSpPr>
        <p:spPr>
          <a:xfrm>
            <a:off x="585216" y="2836164"/>
            <a:ext cx="11021263" cy="36728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72740"/>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Verdict parsing</a:t>
            </a:r>
          </a:p>
        </p:txBody>
      </p:sp>
      <p:sp>
        <p:nvSpPr>
          <p:cNvPr id="18" name="TextBox 17"/>
          <p:cNvSpPr txBox="1"/>
          <p:nvPr/>
        </p:nvSpPr>
        <p:spPr>
          <a:xfrm>
            <a:off x="3957431" y="2872740"/>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Open</a:t>
            </a:r>
          </a:p>
        </p:txBody>
      </p:sp>
      <p:sp>
        <p:nvSpPr>
          <p:cNvPr id="19" name="TextBox 18"/>
          <p:cNvSpPr txBox="1"/>
          <p:nvPr/>
        </p:nvSpPr>
        <p:spPr>
          <a:xfrm>
            <a:off x="5726686" y="2872740"/>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A parse error falls through to the next rule; it never raises.</a:t>
            </a:r>
          </a:p>
        </p:txBody>
      </p:sp>
      <p:sp>
        <p:nvSpPr>
          <p:cNvPr id="20" name="TextBox 19"/>
          <p:cNvSpPr txBox="1"/>
          <p:nvPr/>
        </p:nvSpPr>
        <p:spPr>
          <a:xfrm>
            <a:off x="640080" y="3240023"/>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Port and console settings</a:t>
            </a:r>
          </a:p>
        </p:txBody>
      </p:sp>
      <p:sp>
        <p:nvSpPr>
          <p:cNvPr id="21" name="TextBox 20"/>
          <p:cNvSpPr txBox="1"/>
          <p:nvPr/>
        </p:nvSpPr>
        <p:spPr>
          <a:xfrm>
            <a:off x="3957431" y="3240023"/>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Open</a:t>
            </a:r>
          </a:p>
        </p:txBody>
      </p:sp>
      <p:sp>
        <p:nvSpPr>
          <p:cNvPr id="22" name="TextBox 21"/>
          <p:cNvSpPr txBox="1"/>
          <p:nvPr/>
        </p:nvSpPr>
        <p:spPr>
          <a:xfrm>
            <a:off x="5726686" y="3240023"/>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A typo must never stop the server from starting.</a:t>
            </a:r>
          </a:p>
        </p:txBody>
      </p:sp>
      <p:sp>
        <p:nvSpPr>
          <p:cNvPr id="23" name="Rectangle 22"/>
          <p:cNvSpPr/>
          <p:nvPr/>
        </p:nvSpPr>
        <p:spPr>
          <a:xfrm>
            <a:off x="585216" y="3570731"/>
            <a:ext cx="11021263" cy="36728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607307"/>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Runtime provisioner</a:t>
            </a:r>
          </a:p>
        </p:txBody>
      </p:sp>
      <p:sp>
        <p:nvSpPr>
          <p:cNvPr id="25" name="TextBox 24"/>
          <p:cNvSpPr txBox="1"/>
          <p:nvPr/>
        </p:nvSpPr>
        <p:spPr>
          <a:xfrm>
            <a:off x="3957431" y="3607307"/>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Open</a:t>
            </a:r>
          </a:p>
        </p:txBody>
      </p:sp>
      <p:sp>
        <p:nvSpPr>
          <p:cNvPr id="26" name="TextBox 25"/>
          <p:cNvSpPr txBox="1"/>
          <p:nvPr/>
        </p:nvSpPr>
        <p:spPr>
          <a:xfrm>
            <a:off x="5726686" y="3607307"/>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A failed download never blocks start-up.</a:t>
            </a:r>
          </a:p>
        </p:txBody>
      </p:sp>
      <p:sp>
        <p:nvSpPr>
          <p:cNvPr id="27" name="TextBox 26"/>
          <p:cNvSpPr txBox="1"/>
          <p:nvPr/>
        </p:nvSpPr>
        <p:spPr>
          <a:xfrm>
            <a:off x="640080" y="3974591"/>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Compact-mode fitter</a:t>
            </a:r>
          </a:p>
        </p:txBody>
      </p:sp>
      <p:sp>
        <p:nvSpPr>
          <p:cNvPr id="28" name="TextBox 27"/>
          <p:cNvSpPr txBox="1"/>
          <p:nvPr/>
        </p:nvSpPr>
        <p:spPr>
          <a:xfrm>
            <a:off x="3957431" y="3974591"/>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Open</a:t>
            </a:r>
          </a:p>
        </p:txBody>
      </p:sp>
      <p:sp>
        <p:nvSpPr>
          <p:cNvPr id="29" name="TextBox 28"/>
          <p:cNvSpPr txBox="1"/>
          <p:nvPr/>
        </p:nvSpPr>
        <p:spPr>
          <a:xfrm>
            <a:off x="5726686" y="3974591"/>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Any doubt sends the complete request, exactly as before.</a:t>
            </a:r>
          </a:p>
        </p:txBody>
      </p:sp>
      <p:sp>
        <p:nvSpPr>
          <p:cNvPr id="30" name="Rectangle 29"/>
          <p:cNvSpPr/>
          <p:nvPr/>
        </p:nvSpPr>
        <p:spPr>
          <a:xfrm>
            <a:off x="585216" y="4305299"/>
            <a:ext cx="11021263" cy="36728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341875"/>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Ask Execs</a:t>
            </a:r>
          </a:p>
        </p:txBody>
      </p:sp>
      <p:sp>
        <p:nvSpPr>
          <p:cNvPr id="32" name="TextBox 31"/>
          <p:cNvSpPr txBox="1"/>
          <p:nvPr/>
        </p:nvSpPr>
        <p:spPr>
          <a:xfrm>
            <a:off x="3957431" y="4341875"/>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Safe</a:t>
            </a:r>
          </a:p>
        </p:txBody>
      </p:sp>
      <p:sp>
        <p:nvSpPr>
          <p:cNvPr id="33" name="TextBox 32"/>
          <p:cNvSpPr txBox="1"/>
          <p:nvPr/>
        </p:nvSpPr>
        <p:spPr>
          <a:xfrm>
            <a:off x="5726686" y="4341875"/>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Any doubt resolves to Deny.</a:t>
            </a:r>
          </a:p>
        </p:txBody>
      </p:sp>
      <p:sp>
        <p:nvSpPr>
          <p:cNvPr id="34" name="TextBox 33"/>
          <p:cNvSpPr txBox="1"/>
          <p:nvPr/>
        </p:nvSpPr>
        <p:spPr>
          <a:xfrm>
            <a:off x="640080" y="4709159"/>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Database copies</a:t>
            </a:r>
          </a:p>
        </p:txBody>
      </p:sp>
      <p:sp>
        <p:nvSpPr>
          <p:cNvPr id="35" name="TextBox 34"/>
          <p:cNvSpPr txBox="1"/>
          <p:nvPr/>
        </p:nvSpPr>
        <p:spPr>
          <a:xfrm>
            <a:off x="3957431" y="4709159"/>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Safe</a:t>
            </a:r>
          </a:p>
        </p:txBody>
      </p:sp>
      <p:sp>
        <p:nvSpPr>
          <p:cNvPr id="36" name="TextBox 35"/>
          <p:cNvSpPr txBox="1"/>
          <p:nvPr/>
        </p:nvSpPr>
        <p:spPr>
          <a:xfrm>
            <a:off x="5726686" y="4709159"/>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An unclear or unchecked copy is reported as a failure.</a:t>
            </a:r>
          </a:p>
        </p:txBody>
      </p:sp>
      <p:sp>
        <p:nvSpPr>
          <p:cNvPr id="37" name="Rectangle 36"/>
          <p:cNvSpPr/>
          <p:nvPr/>
        </p:nvSpPr>
        <p:spPr>
          <a:xfrm>
            <a:off x="585216" y="5039867"/>
            <a:ext cx="11021263" cy="36728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5076443"/>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LaTeXer bisect guard</a:t>
            </a:r>
          </a:p>
        </p:txBody>
      </p:sp>
      <p:sp>
        <p:nvSpPr>
          <p:cNvPr id="39" name="TextBox 38"/>
          <p:cNvSpPr txBox="1"/>
          <p:nvPr/>
        </p:nvSpPr>
        <p:spPr>
          <a:xfrm>
            <a:off x="3957431" y="5076443"/>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Safe</a:t>
            </a:r>
          </a:p>
        </p:txBody>
      </p:sp>
      <p:sp>
        <p:nvSpPr>
          <p:cNvPr id="40" name="TextBox 39"/>
          <p:cNvSpPr txBox="1"/>
          <p:nvPr/>
        </p:nvSpPr>
        <p:spPr>
          <a:xfrm>
            <a:off x="5726686" y="5076443"/>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When in doubt, protect the author's content.</a:t>
            </a:r>
          </a:p>
        </p:txBody>
      </p:sp>
      <p:sp>
        <p:nvSpPr>
          <p:cNvPr id="41" name="TextBox 40"/>
          <p:cNvSpPr txBox="1"/>
          <p:nvPr/>
        </p:nvSpPr>
        <p:spPr>
          <a:xfrm>
            <a:off x="640080" y="5443727"/>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Firmware preflights</a:t>
            </a:r>
          </a:p>
        </p:txBody>
      </p:sp>
      <p:sp>
        <p:nvSpPr>
          <p:cNvPr id="42" name="TextBox 41"/>
          <p:cNvSpPr txBox="1"/>
          <p:nvPr/>
        </p:nvSpPr>
        <p:spPr>
          <a:xfrm>
            <a:off x="3957431" y="5443727"/>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Safe</a:t>
            </a:r>
          </a:p>
        </p:txBody>
      </p:sp>
      <p:sp>
        <p:nvSpPr>
          <p:cNvPr id="43" name="TextBox 42"/>
          <p:cNvSpPr txBox="1"/>
          <p:nvPr/>
        </p:nvSpPr>
        <p:spPr>
          <a:xfrm>
            <a:off x="5726686" y="5443727"/>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Refuse rather than build or flash the wrong target.</a:t>
            </a:r>
          </a:p>
        </p:txBody>
      </p:sp>
      <p:sp>
        <p:nvSpPr>
          <p:cNvPr id="44" name="Rectangle 43"/>
          <p:cNvSpPr/>
          <p:nvPr/>
        </p:nvSpPr>
        <p:spPr>
          <a:xfrm>
            <a:off x="585216" y="5774435"/>
            <a:ext cx="11021263" cy="36728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811011"/>
            <a:ext cx="3171047" cy="294131"/>
          </a:xfrm>
          <a:prstGeom prst="rect">
            <a:avLst/>
          </a:prstGeom>
          <a:noFill/>
        </p:spPr>
        <p:txBody>
          <a:bodyPr wrap="square" lIns="45720" rIns="45720" tIns="27432" bIns="27432" anchor="ctr">
            <a:noAutofit/>
          </a:bodyPr>
          <a:lstStyle/>
          <a:p>
            <a:pPr algn="l">
              <a:lnSpc>
                <a:spcPct val="100000"/>
              </a:lnSpc>
            </a:pPr>
            <a:r>
              <a:rPr sz="1450" b="0" i="0">
                <a:solidFill>
                  <a:srgbClr val="F7F2E8"/>
                </a:solidFill>
                <a:latin typeface="Segoe UI Semibold"/>
              </a:rPr>
              <a:t>Deleter</a:t>
            </a:r>
          </a:p>
        </p:txBody>
      </p:sp>
      <p:sp>
        <p:nvSpPr>
          <p:cNvPr id="46" name="TextBox 45"/>
          <p:cNvSpPr txBox="1"/>
          <p:nvPr/>
        </p:nvSpPr>
        <p:spPr>
          <a:xfrm>
            <a:off x="3957431" y="5811011"/>
            <a:ext cx="1622950"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Safe</a:t>
            </a:r>
          </a:p>
        </p:txBody>
      </p:sp>
      <p:sp>
        <p:nvSpPr>
          <p:cNvPr id="47" name="TextBox 46"/>
          <p:cNvSpPr txBox="1"/>
          <p:nvPr/>
        </p:nvSpPr>
        <p:spPr>
          <a:xfrm>
            <a:off x="5726686" y="5811011"/>
            <a:ext cx="5824929" cy="294131"/>
          </a:xfrm>
          <a:prstGeom prst="rect">
            <a:avLst/>
          </a:prstGeom>
          <a:noFill/>
        </p:spPr>
        <p:txBody>
          <a:bodyPr wrap="square" lIns="45720" rIns="45720" tIns="27432" bIns="27432" anchor="ctr">
            <a:noAutofit/>
          </a:bodyPr>
          <a:lstStyle/>
          <a:p>
            <a:pPr algn="l">
              <a:lnSpc>
                <a:spcPct val="100000"/>
              </a:lnSpc>
            </a:pPr>
            <a:r>
              <a:rPr sz="1450" b="0" i="0">
                <a:solidFill>
                  <a:srgbClr val="A7B2B0"/>
                </a:solidFill>
                <a:latin typeface="Segoe UI"/>
              </a:rPr>
              <a:t>Refuses protected folders, repository roots and drive roots.</a:t>
            </a:r>
          </a:p>
        </p:txBody>
      </p:sp>
      <p:cxnSp>
        <p:nvCxnSpPr>
          <p:cNvPr id="48" name="Connector 4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PROMISES SHE KEEPS</a:t>
            </a:r>
          </a:p>
        </p:txBody>
      </p:sp>
      <p:sp>
        <p:nvSpPr>
          <p:cNvPr id="50" name="TextBox 4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RESPONSIBILITY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Your agents, your jurisdiction</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Every agent is a plain-Python program so you can read, audit, edit, restrict or disable it. That transparency is a means of control, not a warranty of safety.</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Readable</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Every agent is plain Python you can audit and change.</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Your decision</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You choose whether, where and how an agent runs.</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Your scope</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You authorize every file, target, machine and device.</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Your responsibility</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Running an agent accepts its consequences.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PROMISES SHE KEEPS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DATA SAFETY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Your data, handled carefully</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Databases, secrets and scratch files each have one well-defined path.</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WAL-safe database</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Backups read through the write-ahead log with SQLite's online backup API and are verified with quick_check.</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Staged replacement</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new database waits in DB/ToLoad; the old one is archived with its sidecars before Django starts.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Secrets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Known secret fields are redacted from exported .flw files and public builds.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Private contacts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Public builds and source snapshots carry no contact data.</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Scratch files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Temporary files stay inside the application's own Temp folder.</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Passwords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PDF passwords live in memory only.</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PROMISES SHE KEEPS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TESTED IN THE OPEN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Nothing runs where nobody can see it</a:t>
            </a:r>
          </a:p>
        </p:txBody>
      </p:sp>
      <p:sp>
        <p:nvSpPr>
          <p:cNvPr id="6" name="Rectangle 5"/>
          <p:cNvSpPr/>
          <p:nvPr/>
        </p:nvSpPr>
        <p:spPr>
          <a:xfrm>
            <a:off x="566928" y="1344168"/>
            <a:ext cx="822960" cy="36576"/>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Tlamatini's development rule is that every test, build and diagnostic runs visibly, on a real desktop, where its creator can watch each step.</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Visible</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Headed browsers and foreground consoles only.</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Photographed</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Whole-desktop evidence taken by the Shoter agent.</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Truthful</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Stale or timed-out results are never counted as passes.</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Drift guards</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Tests read the real source to stop silent drift.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 · PROMISES SHE KEEPS</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3BBE93"/>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VII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Install, Configure, Run</a:t>
            </a:r>
          </a:p>
        </p:txBody>
      </p:sp>
      <p:sp>
        <p:nvSpPr>
          <p:cNvPr id="6" name="Rectangle 5"/>
          <p:cNvSpPr/>
          <p:nvPr/>
        </p:nvSpPr>
        <p:spPr>
          <a:xfrm>
            <a:off x="841248" y="4315968"/>
            <a:ext cx="100584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From a fresh Windows machine to a working assistant, and from source to a signed-off release.</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VII</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GET STARTED</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Five steps to a working Tlamatini</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 itself is free. The only purchase is an Ollama plan, bought directly from Ollama.</a:t>
            </a:r>
          </a:p>
        </p:txBody>
      </p:sp>
      <p:sp>
        <p:nvSpPr>
          <p:cNvPr id="8" name="Rounded Rectangle 7"/>
          <p:cNvSpPr/>
          <p:nvPr/>
        </p:nvSpPr>
        <p:spPr>
          <a:xfrm>
            <a:off x="566928"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694944"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1</a:t>
            </a:r>
          </a:p>
        </p:txBody>
      </p:sp>
      <p:sp>
        <p:nvSpPr>
          <p:cNvPr id="11" name="TextBox 10"/>
          <p:cNvSpPr txBox="1"/>
          <p:nvPr/>
        </p:nvSpPr>
        <p:spPr>
          <a:xfrm>
            <a:off x="1152144"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Install</a:t>
            </a:r>
          </a:p>
        </p:txBody>
      </p:sp>
      <p:sp>
        <p:nvSpPr>
          <p:cNvPr id="12" name="TextBox 11"/>
          <p:cNvSpPr txBox="1"/>
          <p:nvPr/>
        </p:nvSpPr>
        <p:spPr>
          <a:xfrm>
            <a:off x="694944"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Run the recoverable release installer (Python 3.12.10 bundled), or clone the source.</a:t>
            </a:r>
          </a:p>
        </p:txBody>
      </p:sp>
      <p:cxnSp>
        <p:nvCxnSpPr>
          <p:cNvPr id="13" name="Connector 12"/>
          <p:cNvCxnSpPr/>
          <p:nvPr/>
        </p:nvCxnSpPr>
        <p:spPr>
          <a:xfrm>
            <a:off x="2566355"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840675"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2968691"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2968691"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2</a:t>
            </a:r>
          </a:p>
        </p:txBody>
      </p:sp>
      <p:sp>
        <p:nvSpPr>
          <p:cNvPr id="17" name="TextBox 16"/>
          <p:cNvSpPr txBox="1"/>
          <p:nvPr/>
        </p:nvSpPr>
        <p:spPr>
          <a:xfrm>
            <a:off x="3425891"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Ollama</a:t>
            </a:r>
          </a:p>
        </p:txBody>
      </p:sp>
      <p:sp>
        <p:nvSpPr>
          <p:cNvPr id="18" name="TextBox 17"/>
          <p:cNvSpPr txBox="1"/>
          <p:nvPr/>
        </p:nvSpPr>
        <p:spPr>
          <a:xfrm>
            <a:off x="2968691"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Install Ollama for Windows.</a:t>
            </a:r>
          </a:p>
        </p:txBody>
      </p:sp>
      <p:cxnSp>
        <p:nvCxnSpPr>
          <p:cNvPr id="19" name="Connector 18"/>
          <p:cNvCxnSpPr/>
          <p:nvPr/>
        </p:nvCxnSpPr>
        <p:spPr>
          <a:xfrm>
            <a:off x="4840102"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114422"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5242438"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242438"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3</a:t>
            </a:r>
          </a:p>
        </p:txBody>
      </p:sp>
      <p:sp>
        <p:nvSpPr>
          <p:cNvPr id="23" name="TextBox 22"/>
          <p:cNvSpPr txBox="1"/>
          <p:nvPr/>
        </p:nvSpPr>
        <p:spPr>
          <a:xfrm>
            <a:off x="5699638"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Pro plan</a:t>
            </a:r>
          </a:p>
        </p:txBody>
      </p:sp>
      <p:sp>
        <p:nvSpPr>
          <p:cNvPr id="24" name="TextBox 23"/>
          <p:cNvSpPr txBox="1"/>
          <p:nvPr/>
        </p:nvSpPr>
        <p:spPr>
          <a:xfrm>
            <a:off x="5242438"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Activate Ollama Pro or higher, then run </a:t>
            </a:r>
            <a:r>
              <a:rPr sz="1200" b="0" i="0">
                <a:solidFill>
                  <a:srgbClr val="E2B462"/>
                </a:solidFill>
                <a:latin typeface="Consolas"/>
              </a:rPr>
              <a:t>ollama signin</a:t>
            </a:r>
            <a:r>
              <a:rPr sz="1300" b="0" i="0">
                <a:solidFill>
                  <a:srgbClr val="A7B2B0"/>
                </a:solidFill>
                <a:latin typeface="Segoe UI"/>
              </a:rPr>
              <a:t>.</a:t>
            </a:r>
          </a:p>
        </p:txBody>
      </p:sp>
      <p:cxnSp>
        <p:nvCxnSpPr>
          <p:cNvPr id="25" name="Connector 24"/>
          <p:cNvCxnSpPr/>
          <p:nvPr/>
        </p:nvCxnSpPr>
        <p:spPr>
          <a:xfrm>
            <a:off x="7113849"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7388169"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516185"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516185"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4</a:t>
            </a:r>
          </a:p>
        </p:txBody>
      </p:sp>
      <p:sp>
        <p:nvSpPr>
          <p:cNvPr id="29" name="TextBox 28"/>
          <p:cNvSpPr txBox="1"/>
          <p:nvPr/>
        </p:nvSpPr>
        <p:spPr>
          <a:xfrm>
            <a:off x="7973385"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Models</a:t>
            </a:r>
          </a:p>
        </p:txBody>
      </p:sp>
      <p:sp>
        <p:nvSpPr>
          <p:cNvPr id="30" name="TextBox 29"/>
          <p:cNvSpPr txBox="1"/>
          <p:nvPr/>
        </p:nvSpPr>
        <p:spPr>
          <a:xfrm>
            <a:off x="7516185"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Pull nomic-embed-text and the cloud models Tlamatini uses.</a:t>
            </a:r>
          </a:p>
        </p:txBody>
      </p:sp>
      <p:cxnSp>
        <p:nvCxnSpPr>
          <p:cNvPr id="31" name="Connector 30"/>
          <p:cNvCxnSpPr/>
          <p:nvPr/>
        </p:nvCxnSpPr>
        <p:spPr>
          <a:xfrm>
            <a:off x="9387596" y="2441448"/>
            <a:ext cx="237744" cy="0"/>
          </a:xfrm>
          <a:prstGeom prst="line">
            <a:avLst/>
          </a:prstGeom>
          <a:ln w="17780">
            <a:solidFill>
              <a:srgbClr val="C98457"/>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661916" y="2084831"/>
            <a:ext cx="1962851" cy="1874519"/>
          </a:xfrm>
          <a:prstGeom prst="roundRect">
            <a:avLst>
              <a:gd name="adj" fmla="val 585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Oval 32"/>
          <p:cNvSpPr/>
          <p:nvPr/>
        </p:nvSpPr>
        <p:spPr>
          <a:xfrm>
            <a:off x="9789932" y="2194560"/>
            <a:ext cx="384048" cy="384048"/>
          </a:xfrm>
          <a:prstGeom prst="ellipse">
            <a:avLst/>
          </a:prstGeom>
          <a:solidFill>
            <a:srgbClr val="151F23"/>
          </a:solidFill>
          <a:ln w="12700">
            <a:solidFill>
              <a:srgbClr val="E2B46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789932" y="2194560"/>
            <a:ext cx="384048" cy="384048"/>
          </a:xfrm>
          <a:prstGeom prst="rect">
            <a:avLst/>
          </a:prstGeom>
          <a:noFill/>
        </p:spPr>
        <p:txBody>
          <a:bodyPr wrap="square" lIns="45720" rIns="45720" tIns="27432" bIns="27432" anchor="ctr">
            <a:noAutofit/>
          </a:bodyPr>
          <a:lstStyle/>
          <a:p>
            <a:pPr algn="ctr">
              <a:lnSpc>
                <a:spcPct val="100000"/>
              </a:lnSpc>
            </a:pPr>
            <a:r>
              <a:rPr sz="1400" b="1" i="0">
                <a:solidFill>
                  <a:srgbClr val="E2B462"/>
                </a:solidFill>
                <a:latin typeface="Palatino Linotype"/>
              </a:rPr>
              <a:t>5</a:t>
            </a:r>
          </a:p>
        </p:txBody>
      </p:sp>
      <p:sp>
        <p:nvSpPr>
          <p:cNvPr id="35" name="TextBox 34"/>
          <p:cNvSpPr txBox="1"/>
          <p:nvPr/>
        </p:nvSpPr>
        <p:spPr>
          <a:xfrm>
            <a:off x="10247132" y="2157984"/>
            <a:ext cx="1267907" cy="45720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Configure</a:t>
            </a:r>
          </a:p>
        </p:txBody>
      </p:sp>
      <p:sp>
        <p:nvSpPr>
          <p:cNvPr id="36" name="TextBox 35"/>
          <p:cNvSpPr txBox="1"/>
          <p:nvPr/>
        </p:nvSpPr>
        <p:spPr>
          <a:xfrm>
            <a:off x="9789932" y="2651760"/>
            <a:ext cx="1725107" cy="1234439"/>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Open Config </a:t>
            </a:r>
            <a:r>
              <a:rPr sz="1300" b="0" i="0">
                <a:solidFill>
                  <a:srgbClr val="A7B2B0"/>
                </a:solidFill>
                <a:latin typeface="Segoe UI Symbol"/>
              </a:rPr>
              <a:t>▸</a:t>
            </a:r>
            <a:r>
              <a:rPr sz="1300" b="0" i="0">
                <a:solidFill>
                  <a:srgbClr val="A7B2B0"/>
                </a:solidFill>
                <a:latin typeface="Segoe UI"/>
              </a:rPr>
              <a:t> Models and the Access Keys Wizard, then tick Multi-Turn.</a:t>
            </a:r>
          </a:p>
        </p:txBody>
      </p:sp>
      <p:sp>
        <p:nvSpPr>
          <p:cNvPr id="37" name="Rounded Rectangle 36"/>
          <p:cNvSpPr/>
          <p:nvPr/>
        </p:nvSpPr>
        <p:spPr>
          <a:xfrm>
            <a:off x="566928" y="4187952"/>
            <a:ext cx="11057839" cy="2011680"/>
          </a:xfrm>
          <a:prstGeom prst="roundRect">
            <a:avLst>
              <a:gd name="adj" fmla="val 5454"/>
            </a:avLst>
          </a:prstGeom>
          <a:solidFill>
            <a:srgbClr val="090E10"/>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768096" y="4352544"/>
            <a:ext cx="118872" cy="118872"/>
          </a:xfrm>
          <a:prstGeom prst="ellipse">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87552" y="4352544"/>
            <a:ext cx="118872" cy="118872"/>
          </a:xfrm>
          <a:prstGeom prst="ellipse">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Oval 39"/>
          <p:cNvSpPr/>
          <p:nvPr/>
        </p:nvSpPr>
        <p:spPr>
          <a:xfrm>
            <a:off x="1207007" y="4352544"/>
            <a:ext cx="118872" cy="118872"/>
          </a:xfrm>
          <a:prstGeom prst="ellipse">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795528" y="4572000"/>
            <a:ext cx="10600639" cy="1499616"/>
          </a:xfrm>
          <a:prstGeom prst="rect">
            <a:avLst/>
          </a:prstGeom>
          <a:noFill/>
        </p:spPr>
        <p:txBody>
          <a:bodyPr wrap="none" lIns="45720" rIns="45720" tIns="27432" bIns="27432" anchor="t">
            <a:noAutofit/>
          </a:bodyPr>
          <a:lstStyle/>
          <a:p>
            <a:pPr algn="l">
              <a:lnSpc>
                <a:spcPct val="100000"/>
              </a:lnSpc>
            </a:pPr>
            <a:r>
              <a:rPr sz="1300" b="0" i="0">
                <a:solidFill>
                  <a:srgbClr val="ECE7DC"/>
                </a:solidFill>
                <a:latin typeface="Consolas"/>
              </a:rPr>
              <a:t>git clone https://github.com/XAIHT/Tlamatini.git</a:t>
            </a:r>
          </a:p>
          <a:p>
            <a:pPr algn="l">
              <a:lnSpc>
                <a:spcPct val="100000"/>
              </a:lnSpc>
            </a:pPr>
            <a:r>
              <a:rPr sz="1300" b="0" i="0">
                <a:solidFill>
                  <a:srgbClr val="ECE7DC"/>
                </a:solidFill>
                <a:latin typeface="Consolas"/>
              </a:rPr>
              <a:t>cd Tlamatini</a:t>
            </a:r>
          </a:p>
          <a:p>
            <a:pPr algn="l">
              <a:lnSpc>
                <a:spcPct val="100000"/>
              </a:lnSpc>
            </a:pPr>
            <a:r>
              <a:rPr sz="1300" b="0" i="0">
                <a:solidFill>
                  <a:srgbClr val="ECE7DC"/>
                </a:solidFill>
                <a:latin typeface="Consolas"/>
              </a:rPr>
              <a:t>python -m venv venv &amp;&amp; venv\Scripts\activate</a:t>
            </a:r>
          </a:p>
          <a:p>
            <a:pPr algn="l">
              <a:lnSpc>
                <a:spcPct val="100000"/>
              </a:lnSpc>
            </a:pPr>
            <a:r>
              <a:rPr sz="1300" b="0" i="0">
                <a:solidFill>
                  <a:srgbClr val="ECE7DC"/>
                </a:solidFill>
                <a:latin typeface="Consolas"/>
              </a:rPr>
              <a:t>pip install -r requirements.txt</a:t>
            </a:r>
          </a:p>
          <a:p>
            <a:pPr algn="l">
              <a:lnSpc>
                <a:spcPct val="100000"/>
              </a:lnSpc>
            </a:pPr>
            <a:r>
              <a:rPr sz="1300" b="0" i="0">
                <a:solidFill>
                  <a:srgbClr val="ECE7DC"/>
                </a:solidFill>
                <a:latin typeface="Consolas"/>
              </a:rPr>
              <a:t>python Tlamatini/manage.py migrate</a:t>
            </a:r>
          </a:p>
          <a:p>
            <a:pPr algn="l">
              <a:lnSpc>
                <a:spcPct val="100000"/>
              </a:lnSpc>
            </a:pPr>
            <a:r>
              <a:rPr sz="1300" b="0" i="0">
                <a:solidFill>
                  <a:srgbClr val="ECE7DC"/>
                </a:solidFill>
                <a:latin typeface="Consolas"/>
              </a:rPr>
              <a:t>python Tlamatini/manage.py runserver --noreload</a:t>
            </a:r>
          </a:p>
          <a:p>
            <a:pPr algn="l">
              <a:lnSpc>
                <a:spcPct val="100000"/>
              </a:lnSpc>
            </a:pPr>
            <a:r>
              <a:rPr sz="1300" b="0" i="0">
                <a:solidFill>
                  <a:srgbClr val="A7B2B0"/>
                </a:solidFill>
                <a:latin typeface="Consolas"/>
              </a:rPr>
              <a:t># open http://127.0.0.1:8000/   (default login: user / changeme)</a:t>
            </a:r>
          </a:p>
        </p:txBody>
      </p:sp>
      <p:cxnSp>
        <p:nvCxnSpPr>
          <p:cNvPr id="42" name="Connector 4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44" name="TextBox 4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DEPENDENCY COVERAGE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Every referenced Python library is accounted for</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October 18 dependency audit covers all 85 agents, build helpers, optional imports and tests.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Coverage guard</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scripts/check_requirements_coverage.py checks source and build inventories.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Verification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October 18: no missing declarations, syntax errors or unreviewed dynamic imports.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Earlier evidence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September 27: main/ESPHome dry runs and temporary-environment dependency smoke checks passed.</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Limits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clean Python dependency installation does not certify the compiled installer or every external integration.</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RUNTIME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Two modes and their service ports</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 runs either from source or as a frozen executable built by PyInstaller. Only path resolution differs, and </a:t>
            </a:r>
            <a:r>
              <a:rPr sz="1350" b="0" i="0">
                <a:solidFill>
                  <a:srgbClr val="E2B462"/>
                </a:solidFill>
                <a:latin typeface="Consolas"/>
              </a:rPr>
              <a:t>CONFIG_PATH</a:t>
            </a:r>
            <a:r>
              <a:rPr sz="1450" b="0" i="0">
                <a:solidFill>
                  <a:srgbClr val="A7B2B0"/>
                </a:solidFill>
                <a:latin typeface="Segoe UI Semilight"/>
              </a:rPr>
              <a:t> overrides the configuration location in both.</a:t>
            </a:r>
          </a:p>
        </p:txBody>
      </p:sp>
      <p:sp>
        <p:nvSpPr>
          <p:cNvPr id="8" name="Rounded Rectangle 7"/>
          <p:cNvSpPr/>
          <p:nvPr/>
        </p:nvSpPr>
        <p:spPr>
          <a:xfrm>
            <a:off x="566928" y="2084831"/>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Source</a:t>
            </a:r>
          </a:p>
        </p:txBody>
      </p:sp>
      <p:sp>
        <p:nvSpPr>
          <p:cNvPr id="11" name="TextBox 10"/>
          <p:cNvSpPr txBox="1"/>
          <p:nvPr/>
        </p:nvSpPr>
        <p:spPr>
          <a:xfrm>
            <a:off x="2670048" y="2139696"/>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Run from the repository with manage.py.</a:t>
            </a:r>
          </a:p>
        </p:txBody>
      </p:sp>
      <p:sp>
        <p:nvSpPr>
          <p:cNvPr id="12" name="Rounded Rectangle 11"/>
          <p:cNvSpPr/>
          <p:nvPr/>
        </p:nvSpPr>
        <p:spPr>
          <a:xfrm>
            <a:off x="566928" y="3145536"/>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Frozen</a:t>
            </a:r>
          </a:p>
        </p:txBody>
      </p:sp>
      <p:sp>
        <p:nvSpPr>
          <p:cNvPr id="15" name="TextBox 14"/>
          <p:cNvSpPr txBox="1"/>
          <p:nvPr/>
        </p:nvSpPr>
        <p:spPr>
          <a:xfrm>
            <a:off x="2670048" y="3200400"/>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 PyInstaller executable with its own Python.</a:t>
            </a:r>
          </a:p>
        </p:txBody>
      </p:sp>
      <p:sp>
        <p:nvSpPr>
          <p:cNvPr id="16" name="Rounded Rectangle 15"/>
          <p:cNvSpPr/>
          <p:nvPr/>
        </p:nvSpPr>
        <p:spPr>
          <a:xfrm>
            <a:off x="566928" y="4206240"/>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Self-modify</a:t>
            </a:r>
          </a:p>
        </p:txBody>
      </p:sp>
      <p:sp>
        <p:nvSpPr>
          <p:cNvPr id="19" name="TextBox 18"/>
          <p:cNvSpPr txBox="1"/>
          <p:nvPr/>
        </p:nvSpPr>
        <p:spPr>
          <a:xfrm>
            <a:off x="2670048" y="4261103"/>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Always from source; optional in a build; a switch sends it.</a:t>
            </a:r>
          </a:p>
        </p:txBody>
      </p:sp>
      <p:sp>
        <p:nvSpPr>
          <p:cNvPr id="20" name="Rounded Rectangle 19"/>
          <p:cNvSpPr/>
          <p:nvPr/>
        </p:nvSpPr>
        <p:spPr>
          <a:xfrm>
            <a:off x="566928" y="5266944"/>
            <a:ext cx="5212080"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155448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Ports</a:t>
            </a:r>
          </a:p>
        </p:txBody>
      </p:sp>
      <p:sp>
        <p:nvSpPr>
          <p:cNvPr id="23" name="TextBox 22"/>
          <p:cNvSpPr txBox="1"/>
          <p:nvPr/>
        </p:nvSpPr>
        <p:spPr>
          <a:xfrm>
            <a:off x="2670048" y="5321807"/>
            <a:ext cx="2971800"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Defaults: 8000, 8765 and 50051; configure clients and servers together.</a:t>
            </a:r>
          </a:p>
        </p:txBody>
      </p:sp>
      <p:sp>
        <p:nvSpPr>
          <p:cNvPr id="24" name="Rounded Rectangle 23"/>
          <p:cNvSpPr/>
          <p:nvPr/>
        </p:nvSpPr>
        <p:spPr>
          <a:xfrm>
            <a:off x="6144768" y="2084831"/>
            <a:ext cx="5479999" cy="1920239"/>
          </a:xfrm>
          <a:prstGeom prst="roundRect">
            <a:avLst>
              <a:gd name="adj" fmla="val 38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217920" y="2121408"/>
            <a:ext cx="9496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PORT</a:t>
            </a:r>
          </a:p>
        </p:txBody>
      </p:sp>
      <p:sp>
        <p:nvSpPr>
          <p:cNvPr id="27" name="TextBox 26"/>
          <p:cNvSpPr txBox="1"/>
          <p:nvPr/>
        </p:nvSpPr>
        <p:spPr>
          <a:xfrm>
            <a:off x="7313919" y="2121408"/>
            <a:ext cx="10592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PROTOCOL</a:t>
            </a:r>
          </a:p>
        </p:txBody>
      </p:sp>
      <p:sp>
        <p:nvSpPr>
          <p:cNvPr id="28" name="TextBox 27"/>
          <p:cNvSpPr txBox="1"/>
          <p:nvPr/>
        </p:nvSpPr>
        <p:spPr>
          <a:xfrm>
            <a:off x="8519519" y="2121408"/>
            <a:ext cx="30320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SERVICE</a:t>
            </a:r>
          </a:p>
        </p:txBody>
      </p:sp>
      <p:sp>
        <p:nvSpPr>
          <p:cNvPr id="29" name="TextBox 28"/>
          <p:cNvSpPr txBox="1"/>
          <p:nvPr/>
        </p:nvSpPr>
        <p:spPr>
          <a:xfrm>
            <a:off x="6217920" y="2505456"/>
            <a:ext cx="9496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8000 (default)</a:t>
            </a:r>
          </a:p>
        </p:txBody>
      </p:sp>
      <p:sp>
        <p:nvSpPr>
          <p:cNvPr id="30" name="TextBox 29"/>
          <p:cNvSpPr txBox="1"/>
          <p:nvPr/>
        </p:nvSpPr>
        <p:spPr>
          <a:xfrm>
            <a:off x="7313919" y="2505456"/>
            <a:ext cx="105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HTTP + WebSocket</a:t>
            </a:r>
          </a:p>
        </p:txBody>
      </p:sp>
      <p:sp>
        <p:nvSpPr>
          <p:cNvPr id="31" name="TextBox 30"/>
          <p:cNvSpPr txBox="1"/>
          <p:nvPr/>
        </p:nvSpPr>
        <p:spPr>
          <a:xfrm>
            <a:off x="8519519" y="2505456"/>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Web interface and chat; change it with django_port.</a:t>
            </a:r>
          </a:p>
        </p:txBody>
      </p:sp>
      <p:sp>
        <p:nvSpPr>
          <p:cNvPr id="32" name="Rectangle 31"/>
          <p:cNvSpPr/>
          <p:nvPr/>
        </p:nvSpPr>
        <p:spPr>
          <a:xfrm>
            <a:off x="6163056" y="2980944"/>
            <a:ext cx="5443423" cy="51206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217920" y="3017520"/>
            <a:ext cx="9496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8765 (default)</a:t>
            </a:r>
          </a:p>
        </p:txBody>
      </p:sp>
      <p:sp>
        <p:nvSpPr>
          <p:cNvPr id="34" name="TextBox 33"/>
          <p:cNvSpPr txBox="1"/>
          <p:nvPr/>
        </p:nvSpPr>
        <p:spPr>
          <a:xfrm>
            <a:off x="7313919" y="3017520"/>
            <a:ext cx="105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WebSocket</a:t>
            </a:r>
          </a:p>
        </p:txBody>
      </p:sp>
      <p:sp>
        <p:nvSpPr>
          <p:cNvPr id="35" name="TextBox 34"/>
          <p:cNvSpPr txBox="1"/>
          <p:nvPr/>
        </p:nvSpPr>
        <p:spPr>
          <a:xfrm>
            <a:off x="8519519" y="3017520"/>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System-Metrics MCP; match server port and client URI.</a:t>
            </a:r>
          </a:p>
        </p:txBody>
      </p:sp>
      <p:sp>
        <p:nvSpPr>
          <p:cNvPr id="36" name="TextBox 35"/>
          <p:cNvSpPr txBox="1"/>
          <p:nvPr/>
        </p:nvSpPr>
        <p:spPr>
          <a:xfrm>
            <a:off x="6217920" y="3529584"/>
            <a:ext cx="949695" cy="43891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50051 (default)</a:t>
            </a:r>
          </a:p>
        </p:txBody>
      </p:sp>
      <p:sp>
        <p:nvSpPr>
          <p:cNvPr id="37" name="TextBox 36"/>
          <p:cNvSpPr txBox="1"/>
          <p:nvPr/>
        </p:nvSpPr>
        <p:spPr>
          <a:xfrm>
            <a:off x="7313919" y="3529584"/>
            <a:ext cx="10592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gRPC</a:t>
            </a:r>
          </a:p>
        </p:txBody>
      </p:sp>
      <p:sp>
        <p:nvSpPr>
          <p:cNvPr id="38" name="TextBox 37"/>
          <p:cNvSpPr txBox="1"/>
          <p:nvPr/>
        </p:nvSpPr>
        <p:spPr>
          <a:xfrm>
            <a:off x="8519519" y="3529584"/>
            <a:ext cx="3032095" cy="43891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Files-Search MCP; match server port and client URI.</a:t>
            </a:r>
          </a:p>
        </p:txBody>
      </p:sp>
      <p:cxnSp>
        <p:nvCxnSpPr>
          <p:cNvPr id="39" name="Connector 3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41" name="TextBox 4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settings that matter most  (1/2)</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 handful of </a:t>
            </a:r>
            <a:r>
              <a:rPr sz="1350" b="0" i="0">
                <a:solidFill>
                  <a:srgbClr val="E2B462"/>
                </a:solidFill>
                <a:latin typeface="Consolas"/>
              </a:rPr>
              <a:t>config.json</a:t>
            </a:r>
            <a:r>
              <a:rPr sz="1450" b="0" i="0">
                <a:solidFill>
                  <a:srgbClr val="A7B2B0"/>
                </a:solidFill>
                <a:latin typeface="Segoe UI Semilight"/>
              </a:rPr>
              <a:t> keys shape her behaviour; everything else has sensible defaults.</a:t>
            </a:r>
          </a:p>
        </p:txBody>
      </p:sp>
      <p:sp>
        <p:nvSpPr>
          <p:cNvPr id="8" name="Rounded Rectangle 7"/>
          <p:cNvSpPr/>
          <p:nvPr/>
        </p:nvSpPr>
        <p:spPr>
          <a:xfrm>
            <a:off x="566928" y="2084831"/>
            <a:ext cx="11057839" cy="4059935"/>
          </a:xfrm>
          <a:prstGeom prst="roundRect">
            <a:avLst>
              <a:gd name="adj" fmla="val 180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94509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KEY</a:t>
            </a:r>
          </a:p>
        </p:txBody>
      </p:sp>
      <p:sp>
        <p:nvSpPr>
          <p:cNvPr id="11" name="TextBox 10"/>
          <p:cNvSpPr txBox="1"/>
          <p:nvPr/>
        </p:nvSpPr>
        <p:spPr>
          <a:xfrm>
            <a:off x="4731480" y="2121408"/>
            <a:ext cx="162295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DEFAULT</a:t>
            </a:r>
          </a:p>
        </p:txBody>
      </p:sp>
      <p:sp>
        <p:nvSpPr>
          <p:cNvPr id="12" name="TextBox 11"/>
          <p:cNvSpPr txBox="1"/>
          <p:nvPr/>
        </p:nvSpPr>
        <p:spPr>
          <a:xfrm>
            <a:off x="6500734" y="2121408"/>
            <a:ext cx="505088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PURPOSE</a:t>
            </a:r>
          </a:p>
        </p:txBody>
      </p:sp>
      <p:sp>
        <p:nvSpPr>
          <p:cNvPr id="13" name="TextBox 12"/>
          <p:cNvSpPr txBox="1"/>
          <p:nvPr/>
        </p:nvSpPr>
        <p:spPr>
          <a:xfrm>
            <a:off x="640080" y="2505456"/>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django_port</a:t>
            </a:r>
          </a:p>
        </p:txBody>
      </p:sp>
      <p:sp>
        <p:nvSpPr>
          <p:cNvPr id="14" name="TextBox 13"/>
          <p:cNvSpPr txBox="1"/>
          <p:nvPr/>
        </p:nvSpPr>
        <p:spPr>
          <a:xfrm>
            <a:off x="4731480" y="2505456"/>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8000</a:t>
            </a:r>
          </a:p>
        </p:txBody>
      </p:sp>
      <p:sp>
        <p:nvSpPr>
          <p:cNvPr id="15" name="TextBox 14"/>
          <p:cNvSpPr txBox="1"/>
          <p:nvPr/>
        </p:nvSpPr>
        <p:spPr>
          <a:xfrm>
            <a:off x="6500734" y="2505456"/>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Web port for every launch path; fails open to 8000.</a:t>
            </a:r>
          </a:p>
        </p:txBody>
      </p:sp>
      <p:sp>
        <p:nvSpPr>
          <p:cNvPr id="16" name="Rectangle 15"/>
          <p:cNvSpPr/>
          <p:nvPr/>
        </p:nvSpPr>
        <p:spPr>
          <a:xfrm>
            <a:off x="585216" y="277520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11779"/>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unified_agent_max_iterations</a:t>
            </a:r>
          </a:p>
        </p:txBody>
      </p:sp>
      <p:sp>
        <p:nvSpPr>
          <p:cNvPr id="18" name="TextBox 17"/>
          <p:cNvSpPr txBox="1"/>
          <p:nvPr/>
        </p:nvSpPr>
        <p:spPr>
          <a:xfrm>
            <a:off x="4731480" y="2811779"/>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4096</a:t>
            </a:r>
          </a:p>
        </p:txBody>
      </p:sp>
      <p:sp>
        <p:nvSpPr>
          <p:cNvPr id="19" name="TextBox 18"/>
          <p:cNvSpPr txBox="1"/>
          <p:nvPr/>
        </p:nvSpPr>
        <p:spPr>
          <a:xfrm>
            <a:off x="6500734" y="2811779"/>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Upper bound on Multi-Turn tool-loop turns.</a:t>
            </a:r>
          </a:p>
        </p:txBody>
      </p:sp>
      <p:sp>
        <p:nvSpPr>
          <p:cNvPr id="20" name="TextBox 19"/>
          <p:cNvSpPr txBox="1"/>
          <p:nvPr/>
        </p:nvSpPr>
        <p:spPr>
          <a:xfrm>
            <a:off x="640080" y="3118103"/>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unified_agent_llm_step_timeout_seconds</a:t>
            </a:r>
          </a:p>
        </p:txBody>
      </p:sp>
      <p:sp>
        <p:nvSpPr>
          <p:cNvPr id="21" name="TextBox 20"/>
          <p:cNvSpPr txBox="1"/>
          <p:nvPr/>
        </p:nvSpPr>
        <p:spPr>
          <a:xfrm>
            <a:off x="4731480" y="3118103"/>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900</a:t>
            </a:r>
          </a:p>
        </p:txBody>
      </p:sp>
      <p:sp>
        <p:nvSpPr>
          <p:cNvPr id="22" name="TextBox 21"/>
          <p:cNvSpPr txBox="1"/>
          <p:nvPr/>
        </p:nvSpPr>
        <p:spPr>
          <a:xfrm>
            <a:off x="6500734" y="3118103"/>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Watchdog for one model attempt.</a:t>
            </a:r>
          </a:p>
        </p:txBody>
      </p:sp>
      <p:sp>
        <p:nvSpPr>
          <p:cNvPr id="23" name="Rectangle 22"/>
          <p:cNvSpPr/>
          <p:nvPr/>
        </p:nvSpPr>
        <p:spPr>
          <a:xfrm>
            <a:off x="585216" y="3387851"/>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424427"/>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llm_client_timeout_seconds</a:t>
            </a:r>
          </a:p>
        </p:txBody>
      </p:sp>
      <p:sp>
        <p:nvSpPr>
          <p:cNvPr id="25" name="TextBox 24"/>
          <p:cNvSpPr txBox="1"/>
          <p:nvPr/>
        </p:nvSpPr>
        <p:spPr>
          <a:xfrm>
            <a:off x="4731480" y="3424427"/>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600</a:t>
            </a:r>
          </a:p>
        </p:txBody>
      </p:sp>
      <p:sp>
        <p:nvSpPr>
          <p:cNvPr id="26" name="TextBox 25"/>
          <p:cNvSpPr txBox="1"/>
          <p:nvPr/>
        </p:nvSpPr>
        <p:spPr>
          <a:xfrm>
            <a:off x="6500734" y="3424427"/>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How long one model call may take.</a:t>
            </a:r>
          </a:p>
        </p:txBody>
      </p:sp>
      <p:sp>
        <p:nvSpPr>
          <p:cNvPr id="27" name="TextBox 26"/>
          <p:cNvSpPr txBox="1"/>
          <p:nvPr/>
        </p:nvSpPr>
        <p:spPr>
          <a:xfrm>
            <a:off x="640080" y="3730751"/>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model_brain</a:t>
            </a:r>
          </a:p>
        </p:txBody>
      </p:sp>
      <p:sp>
        <p:nvSpPr>
          <p:cNvPr id="28" name="TextBox 27"/>
          <p:cNvSpPr txBox="1"/>
          <p:nvPr/>
        </p:nvSpPr>
        <p:spPr>
          <a:xfrm>
            <a:off x="4731480" y="3730751"/>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auto</a:t>
            </a:r>
          </a:p>
        </p:txBody>
      </p:sp>
      <p:sp>
        <p:nvSpPr>
          <p:cNvPr id="29" name="TextBox 28"/>
          <p:cNvSpPr txBox="1"/>
          <p:nvPr/>
        </p:nvSpPr>
        <p:spPr>
          <a:xfrm>
            <a:off x="6500734" y="3730751"/>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Tunes each model from formal sources; off restores the legacy sampler.</a:t>
            </a:r>
          </a:p>
        </p:txBody>
      </p:sp>
      <p:sp>
        <p:nvSpPr>
          <p:cNvPr id="30" name="Rectangle 29"/>
          <p:cNvSpPr/>
          <p:nvPr/>
        </p:nvSpPr>
        <p:spPr>
          <a:xfrm>
            <a:off x="585216" y="4000499"/>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037075"/>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ollama_repeat_penalty</a:t>
            </a:r>
          </a:p>
        </p:txBody>
      </p:sp>
      <p:sp>
        <p:nvSpPr>
          <p:cNvPr id="32" name="TextBox 31"/>
          <p:cNvSpPr txBox="1"/>
          <p:nvPr/>
        </p:nvSpPr>
        <p:spPr>
          <a:xfrm>
            <a:off x="4731480" y="4037075"/>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1.2</a:t>
            </a:r>
          </a:p>
        </p:txBody>
      </p:sp>
      <p:sp>
        <p:nvSpPr>
          <p:cNvPr id="33" name="TextBox 32"/>
          <p:cNvSpPr txBox="1"/>
          <p:nvPr/>
        </p:nvSpPr>
        <p:spPr>
          <a:xfrm>
            <a:off x="6500734" y="4037075"/>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Legacy sampler, sent only when model_brain is off.</a:t>
            </a:r>
          </a:p>
        </p:txBody>
      </p:sp>
      <p:sp>
        <p:nvSpPr>
          <p:cNvPr id="34" name="TextBox 33"/>
          <p:cNvSpPr txBox="1"/>
          <p:nvPr/>
        </p:nvSpPr>
        <p:spPr>
          <a:xfrm>
            <a:off x="640080" y="4343399"/>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ollama_num_ctx</a:t>
            </a:r>
          </a:p>
        </p:txBody>
      </p:sp>
      <p:sp>
        <p:nvSpPr>
          <p:cNvPr id="35" name="TextBox 34"/>
          <p:cNvSpPr txBox="1"/>
          <p:nvPr/>
        </p:nvSpPr>
        <p:spPr>
          <a:xfrm>
            <a:off x="4731480" y="4343399"/>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1048576</a:t>
            </a:r>
          </a:p>
        </p:txBody>
      </p:sp>
      <p:sp>
        <p:nvSpPr>
          <p:cNvPr id="36" name="TextBox 35"/>
          <p:cNvSpPr txBox="1"/>
          <p:nvPr/>
        </p:nvSpPr>
        <p:spPr>
          <a:xfrm>
            <a:off x="6500734" y="4343399"/>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Legacy requested window; the brain clamps it to the real one.</a:t>
            </a:r>
          </a:p>
        </p:txBody>
      </p:sp>
      <p:sp>
        <p:nvSpPr>
          <p:cNvPr id="37" name="Rectangle 36"/>
          <p:cNvSpPr/>
          <p:nvPr/>
        </p:nvSpPr>
        <p:spPr>
          <a:xfrm>
            <a:off x="585216" y="4613147"/>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649723"/>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context_sidecar_llm_timeout_seconds</a:t>
            </a:r>
          </a:p>
        </p:txBody>
      </p:sp>
      <p:sp>
        <p:nvSpPr>
          <p:cNvPr id="39" name="TextBox 38"/>
          <p:cNvSpPr txBox="1"/>
          <p:nvPr/>
        </p:nvSpPr>
        <p:spPr>
          <a:xfrm>
            <a:off x="4731480" y="4649723"/>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60</a:t>
            </a:r>
          </a:p>
        </p:txBody>
      </p:sp>
      <p:sp>
        <p:nvSpPr>
          <p:cNvPr id="40" name="TextBox 39"/>
          <p:cNvSpPr txBox="1"/>
          <p:nvPr/>
        </p:nvSpPr>
        <p:spPr>
          <a:xfrm>
            <a:off x="6500734" y="4649723"/>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Time limit on the context helpers' own model calls.</a:t>
            </a:r>
          </a:p>
        </p:txBody>
      </p:sp>
      <p:sp>
        <p:nvSpPr>
          <p:cNvPr id="41" name="TextBox 40"/>
          <p:cNvSpPr txBox="1"/>
          <p:nvPr/>
        </p:nvSpPr>
        <p:spPr>
          <a:xfrm>
            <a:off x="640080" y="4956047"/>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context_compact_mode</a:t>
            </a:r>
          </a:p>
        </p:txBody>
      </p:sp>
      <p:sp>
        <p:nvSpPr>
          <p:cNvPr id="42" name="TextBox 41"/>
          <p:cNvSpPr txBox="1"/>
          <p:nvPr/>
        </p:nvSpPr>
        <p:spPr>
          <a:xfrm>
            <a:off x="4731480" y="4956047"/>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auto</a:t>
            </a:r>
          </a:p>
        </p:txBody>
      </p:sp>
      <p:sp>
        <p:nvSpPr>
          <p:cNvPr id="43" name="TextBox 42"/>
          <p:cNvSpPr txBox="1"/>
          <p:nvPr/>
        </p:nvSpPr>
        <p:spPr>
          <a:xfrm>
            <a:off x="6500734" y="4956047"/>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Compact mode locks on for models that cannot hold everything.</a:t>
            </a:r>
          </a:p>
        </p:txBody>
      </p:sp>
      <p:sp>
        <p:nvSpPr>
          <p:cNvPr id="44" name="Rectangle 43"/>
          <p:cNvSpPr/>
          <p:nvPr/>
        </p:nvSpPr>
        <p:spPr>
          <a:xfrm>
            <a:off x="585216" y="5225795"/>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262371"/>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binary_context_detection</a:t>
            </a:r>
          </a:p>
        </p:txBody>
      </p:sp>
      <p:sp>
        <p:nvSpPr>
          <p:cNvPr id="46" name="TextBox 45"/>
          <p:cNvSpPr txBox="1"/>
          <p:nvPr/>
        </p:nvSpPr>
        <p:spPr>
          <a:xfrm>
            <a:off x="4731480" y="5262371"/>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true</a:t>
            </a:r>
          </a:p>
        </p:txBody>
      </p:sp>
      <p:sp>
        <p:nvSpPr>
          <p:cNvPr id="47" name="TextBox 46"/>
          <p:cNvSpPr txBox="1"/>
          <p:nvPr/>
        </p:nvSpPr>
        <p:spPr>
          <a:xfrm>
            <a:off x="6500734" y="5262371"/>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Screens files by content before embedding.</a:t>
            </a:r>
          </a:p>
        </p:txBody>
      </p:sp>
      <p:sp>
        <p:nvSpPr>
          <p:cNvPr id="48" name="TextBox 47"/>
          <p:cNvSpPr txBox="1"/>
          <p:nvPr/>
        </p:nvSpPr>
        <p:spPr>
          <a:xfrm>
            <a:off x="640080" y="5568695"/>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console_quick_edit</a:t>
            </a:r>
          </a:p>
        </p:txBody>
      </p:sp>
      <p:sp>
        <p:nvSpPr>
          <p:cNvPr id="49" name="TextBox 48"/>
          <p:cNvSpPr txBox="1"/>
          <p:nvPr/>
        </p:nvSpPr>
        <p:spPr>
          <a:xfrm>
            <a:off x="4731480" y="5568695"/>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false</a:t>
            </a:r>
          </a:p>
        </p:txBody>
      </p:sp>
      <p:sp>
        <p:nvSpPr>
          <p:cNvPr id="50" name="TextBox 49"/>
          <p:cNvSpPr txBox="1"/>
          <p:nvPr/>
        </p:nvSpPr>
        <p:spPr>
          <a:xfrm>
            <a:off x="6500734" y="5568695"/>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Keeps a click from pausing a frozen console.</a:t>
            </a:r>
          </a:p>
        </p:txBody>
      </p:sp>
      <p:sp>
        <p:nvSpPr>
          <p:cNvPr id="51" name="Rectangle 50"/>
          <p:cNvSpPr/>
          <p:nvPr/>
        </p:nvSpPr>
        <p:spPr>
          <a:xfrm>
            <a:off x="585216" y="583844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40080" y="5875019"/>
            <a:ext cx="394509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console_colors</a:t>
            </a:r>
          </a:p>
        </p:txBody>
      </p:sp>
      <p:sp>
        <p:nvSpPr>
          <p:cNvPr id="53" name="TextBox 52"/>
          <p:cNvSpPr txBox="1"/>
          <p:nvPr/>
        </p:nvSpPr>
        <p:spPr>
          <a:xfrm>
            <a:off x="4731480" y="5875019"/>
            <a:ext cx="162295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true</a:t>
            </a:r>
          </a:p>
        </p:txBody>
      </p:sp>
      <p:sp>
        <p:nvSpPr>
          <p:cNvPr id="54" name="TextBox 53"/>
          <p:cNvSpPr txBox="1"/>
          <p:nvPr/>
        </p:nvSpPr>
        <p:spPr>
          <a:xfrm>
            <a:off x="6500734" y="5875019"/>
            <a:ext cx="5050880"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Colours console lines by level; the log stays plain text.</a:t>
            </a:r>
          </a:p>
        </p:txBody>
      </p:sp>
      <p:cxnSp>
        <p:nvCxnSpPr>
          <p:cNvPr id="55" name="Connector 54"/>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57" name="TextBox 56"/>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settings that matter most  (2/2)</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 handful of </a:t>
            </a:r>
            <a:r>
              <a:rPr sz="1350" b="0" i="0">
                <a:solidFill>
                  <a:srgbClr val="E2B462"/>
                </a:solidFill>
                <a:latin typeface="Consolas"/>
              </a:rPr>
              <a:t>config.json</a:t>
            </a:r>
            <a:r>
              <a:rPr sz="1450" b="0" i="0">
                <a:solidFill>
                  <a:srgbClr val="A7B2B0"/>
                </a:solidFill>
                <a:latin typeface="Segoe UI Semilight"/>
              </a:rPr>
              <a:t> keys shape her behaviour; everything else has sensible defaults.</a:t>
            </a:r>
          </a:p>
        </p:txBody>
      </p:sp>
      <p:sp>
        <p:nvSpPr>
          <p:cNvPr id="8" name="Rounded Rectangle 7"/>
          <p:cNvSpPr/>
          <p:nvPr/>
        </p:nvSpPr>
        <p:spPr>
          <a:xfrm>
            <a:off x="566928" y="2084831"/>
            <a:ext cx="11057839" cy="758952"/>
          </a:xfrm>
          <a:prstGeom prst="roundRect">
            <a:avLst>
              <a:gd name="adj" fmla="val 9638"/>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94509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KEY</a:t>
            </a:r>
          </a:p>
        </p:txBody>
      </p:sp>
      <p:sp>
        <p:nvSpPr>
          <p:cNvPr id="11" name="TextBox 10"/>
          <p:cNvSpPr txBox="1"/>
          <p:nvPr/>
        </p:nvSpPr>
        <p:spPr>
          <a:xfrm>
            <a:off x="4731480" y="2121408"/>
            <a:ext cx="162295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DEFAULT</a:t>
            </a:r>
          </a:p>
        </p:txBody>
      </p:sp>
      <p:sp>
        <p:nvSpPr>
          <p:cNvPr id="12" name="TextBox 11"/>
          <p:cNvSpPr txBox="1"/>
          <p:nvPr/>
        </p:nvSpPr>
        <p:spPr>
          <a:xfrm>
            <a:off x="6500734" y="2121408"/>
            <a:ext cx="5050880"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PURPOSE</a:t>
            </a:r>
          </a:p>
        </p:txBody>
      </p:sp>
      <p:sp>
        <p:nvSpPr>
          <p:cNvPr id="13" name="TextBox 12"/>
          <p:cNvSpPr txBox="1"/>
          <p:nvPr/>
        </p:nvSpPr>
        <p:spPr>
          <a:xfrm>
            <a:off x="640080" y="2505456"/>
            <a:ext cx="3945096"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runtime_autoprovision</a:t>
            </a:r>
          </a:p>
        </p:txBody>
      </p:sp>
      <p:sp>
        <p:nvSpPr>
          <p:cNvPr id="14" name="TextBox 13"/>
          <p:cNvSpPr txBox="1"/>
          <p:nvPr/>
        </p:nvSpPr>
        <p:spPr>
          <a:xfrm>
            <a:off x="4731480" y="2505456"/>
            <a:ext cx="1622950"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true</a:t>
            </a:r>
          </a:p>
        </p:txBody>
      </p:sp>
      <p:sp>
        <p:nvSpPr>
          <p:cNvPr id="15" name="TextBox 14"/>
          <p:cNvSpPr txBox="1"/>
          <p:nvPr/>
        </p:nvSpPr>
        <p:spPr>
          <a:xfrm>
            <a:off x="6500734" y="2505456"/>
            <a:ext cx="5050880"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Lets MCP servers provision Node or uv privately.</a:t>
            </a:r>
          </a:p>
        </p:txBody>
      </p:sp>
      <p:cxnSp>
        <p:nvCxnSpPr>
          <p:cNvPr id="16" name="Connector 1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18" name="TextBox 1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CONFIGURATION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Measured, not chosen by taste</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Rounded Rectangle 6"/>
          <p:cNvSpPr/>
          <p:nvPr/>
        </p:nvSpPr>
        <p:spPr>
          <a:xfrm>
            <a:off x="566928" y="1810511"/>
            <a:ext cx="11057839" cy="3291840"/>
          </a:xfrm>
          <a:prstGeom prst="roundRect">
            <a:avLst>
              <a:gd name="adj" fmla="val 4444"/>
            </a:avLst>
          </a:prstGeom>
          <a:solidFill>
            <a:srgbClr val="121A1D"/>
          </a:solidFill>
          <a:ln w="19050">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810511"/>
            <a:ext cx="109728" cy="329184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115568" y="2039112"/>
            <a:ext cx="9960559" cy="2834640"/>
          </a:xfrm>
          <a:prstGeom prst="rect">
            <a:avLst/>
          </a:prstGeom>
          <a:noFill/>
        </p:spPr>
        <p:txBody>
          <a:bodyPr wrap="square" lIns="45720" rIns="45720" tIns="27432" bIns="27432" anchor="ctr">
            <a:noAutofit/>
          </a:bodyPr>
          <a:lstStyle/>
          <a:p>
            <a:pPr algn="l">
              <a:lnSpc>
                <a:spcPct val="100000"/>
              </a:lnSpc>
            </a:pPr>
            <a:r>
              <a:rPr sz="2600" b="0" i="0">
                <a:solidFill>
                  <a:srgbClr val="F7F2E8"/>
                </a:solidFill>
                <a:latin typeface="Segoe UI Light"/>
              </a:rPr>
              <a:t>The legacy sampler comes from repeated trials on real workloads, and one fast run never justifies a change. The Model Brain now tunes each model from formal sources.</a:t>
            </a:r>
          </a:p>
        </p:txBody>
      </p:sp>
      <p:sp>
        <p:nvSpPr>
          <p:cNvPr id="10" name="TextBox 9"/>
          <p:cNvSpPr txBox="1"/>
          <p:nvPr/>
        </p:nvSpPr>
        <p:spPr>
          <a:xfrm>
            <a:off x="566928" y="5230368"/>
            <a:ext cx="11057839" cy="457200"/>
          </a:xfrm>
          <a:prstGeom prst="rect">
            <a:avLst/>
          </a:prstGeom>
          <a:noFill/>
        </p:spPr>
        <p:txBody>
          <a:bodyPr wrap="square" lIns="45720" rIns="45720" tIns="27432" bIns="27432" anchor="t">
            <a:noAutofit/>
          </a:bodyPr>
          <a:lstStyle/>
          <a:p>
            <a:pPr algn="l">
              <a:lnSpc>
                <a:spcPct val="100000"/>
              </a:lnSpc>
            </a:pPr>
            <a:r>
              <a:rPr sz="1300" b="0" i="1">
                <a:solidFill>
                  <a:srgbClr val="A7B2B0"/>
                </a:solidFill>
                <a:latin typeface="Segoe UI"/>
              </a:rPr>
              <a:t>From “The settings that matter most”</a:t>
            </a:r>
          </a:p>
        </p:txBody>
      </p:sp>
      <p:cxnSp>
        <p:nvCxnSpPr>
          <p:cNvPr id="11" name="Connector 1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13" name="TextBox 1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BUILD AND RELEASE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From source tree to installer</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Three build scripts produce a standalone Windows release, and the build proves what it ships before it packages anything.</a:t>
            </a:r>
          </a:p>
        </p:txBody>
      </p:sp>
      <p:sp>
        <p:nvSpPr>
          <p:cNvPr id="8" name="Rounded Rectangle 7"/>
          <p:cNvSpPr/>
          <p:nvPr/>
        </p:nvSpPr>
        <p:spPr>
          <a:xfrm>
            <a:off x="566928" y="2084831"/>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Bundle</a:t>
            </a:r>
          </a:p>
        </p:txBody>
      </p:sp>
      <p:sp>
        <p:nvSpPr>
          <p:cNvPr id="11" name="TextBox 10"/>
          <p:cNvSpPr txBox="1"/>
          <p:nvPr/>
        </p:nvSpPr>
        <p:spPr>
          <a:xfrm>
            <a:off x="2670048" y="2139696"/>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Static files, templates, agents, skills and both Pythons.</a:t>
            </a:r>
          </a:p>
        </p:txBody>
      </p:sp>
      <p:sp>
        <p:nvSpPr>
          <p:cNvPr id="12" name="Rounded Rectangle 11"/>
          <p:cNvSpPr/>
          <p:nvPr/>
        </p:nvSpPr>
        <p:spPr>
          <a:xfrm>
            <a:off x="566928" y="2933395"/>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Carriage proof</a:t>
            </a:r>
          </a:p>
        </p:txBody>
      </p:sp>
      <p:sp>
        <p:nvSpPr>
          <p:cNvPr id="15" name="TextBox 14"/>
          <p:cNvSpPr txBox="1"/>
          <p:nvPr/>
        </p:nvSpPr>
        <p:spPr>
          <a:xfrm>
            <a:off x="2670048" y="2988259"/>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Aborts if a required fail-open module is missing.</a:t>
            </a:r>
          </a:p>
        </p:txBody>
      </p:sp>
      <p:sp>
        <p:nvSpPr>
          <p:cNvPr id="16" name="Rounded Rectangle 15"/>
          <p:cNvSpPr/>
          <p:nvPr/>
        </p:nvSpPr>
        <p:spPr>
          <a:xfrm>
            <a:off x="566928" y="3781958"/>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Runtime gates</a:t>
            </a:r>
          </a:p>
        </p:txBody>
      </p:sp>
      <p:sp>
        <p:nvSpPr>
          <p:cNvPr id="19" name="TextBox 18"/>
          <p:cNvSpPr txBox="1"/>
          <p:nvPr/>
        </p:nvSpPr>
        <p:spPr>
          <a:xfrm>
            <a:off x="2670048" y="3836822"/>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Every agent runtime and model loader runs frozen.</a:t>
            </a:r>
          </a:p>
        </p:txBody>
      </p:sp>
      <p:sp>
        <p:nvSpPr>
          <p:cNvPr id="20" name="Rounded Rectangle 19"/>
          <p:cNvSpPr/>
          <p:nvPr/>
        </p:nvSpPr>
        <p:spPr>
          <a:xfrm>
            <a:off x="566928" y="4630521"/>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Receipt</a:t>
            </a:r>
          </a:p>
        </p:txBody>
      </p:sp>
      <p:sp>
        <p:nvSpPr>
          <p:cNvPr id="23" name="TextBox 22"/>
          <p:cNvSpPr txBox="1"/>
          <p:nvPr/>
        </p:nvSpPr>
        <p:spPr>
          <a:xfrm>
            <a:off x="2670048" y="4685385"/>
            <a:ext cx="2971800" cy="610819"/>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SHA-256 for every payload file and all required root helpers, checked before use.</a:t>
            </a:r>
          </a:p>
        </p:txBody>
      </p:sp>
      <p:sp>
        <p:nvSpPr>
          <p:cNvPr id="24" name="Rounded Rectangle 23"/>
          <p:cNvSpPr/>
          <p:nvPr/>
        </p:nvSpPr>
        <p:spPr>
          <a:xfrm>
            <a:off x="566928" y="5479084"/>
            <a:ext cx="5212080"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155448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Ceiling</a:t>
            </a:r>
          </a:p>
        </p:txBody>
      </p:sp>
      <p:sp>
        <p:nvSpPr>
          <p:cNvPr id="27" name="TextBox 26"/>
          <p:cNvSpPr txBox="1"/>
          <p:nvPr/>
        </p:nvSpPr>
        <p:spPr>
          <a:xfrm>
            <a:off x="2670048" y="5533948"/>
            <a:ext cx="2971800"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Under 1,990,000,000 bytes, nothing dropped to fit.</a:t>
            </a:r>
          </a:p>
        </p:txBody>
      </p:sp>
      <p:sp>
        <p:nvSpPr>
          <p:cNvPr id="28" name="Rounded Rectangle 27"/>
          <p:cNvSpPr/>
          <p:nvPr/>
        </p:nvSpPr>
        <p:spPr>
          <a:xfrm>
            <a:off x="6144768" y="2084831"/>
            <a:ext cx="5479999" cy="518160"/>
          </a:xfrm>
          <a:prstGeom prst="roundRect">
            <a:avLst>
              <a:gd name="adj" fmla="val 35294"/>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327648" y="2103120"/>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090E10"/>
                </a:solidFill>
                <a:latin typeface="Palatino Linotype"/>
              </a:rPr>
              <a:t>1   </a:t>
            </a:r>
            <a:r>
              <a:rPr sz="1500" b="0" i="0">
                <a:solidFill>
                  <a:srgbClr val="090E10"/>
                </a:solidFill>
                <a:latin typeface="Segoe UI Semibold"/>
              </a:rPr>
              <a:t>build.py</a:t>
            </a:r>
          </a:p>
        </p:txBody>
      </p:sp>
      <p:sp>
        <p:nvSpPr>
          <p:cNvPr id="30" name="Rounded Rectangle 29"/>
          <p:cNvSpPr/>
          <p:nvPr/>
        </p:nvSpPr>
        <p:spPr>
          <a:xfrm>
            <a:off x="6144768" y="2712719"/>
            <a:ext cx="5479999" cy="518160"/>
          </a:xfrm>
          <a:prstGeom prst="roundRect">
            <a:avLst>
              <a:gd name="adj" fmla="val 35294"/>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327648" y="2731007"/>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2   </a:t>
            </a:r>
            <a:r>
              <a:rPr sz="1500" b="0" i="0">
                <a:solidFill>
                  <a:srgbClr val="F7F2E8"/>
                </a:solidFill>
                <a:latin typeface="Segoe UI Semibold"/>
              </a:rPr>
              <a:t>Frozen checks</a:t>
            </a:r>
          </a:p>
        </p:txBody>
      </p:sp>
      <p:sp>
        <p:nvSpPr>
          <p:cNvPr id="32" name="Rounded Rectangle 31"/>
          <p:cNvSpPr/>
          <p:nvPr/>
        </p:nvSpPr>
        <p:spPr>
          <a:xfrm>
            <a:off x="6144768" y="3340608"/>
            <a:ext cx="5479999" cy="518160"/>
          </a:xfrm>
          <a:prstGeom prst="roundRect">
            <a:avLst>
              <a:gd name="adj" fmla="val 35294"/>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327648" y="3358896"/>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3   </a:t>
            </a:r>
            <a:r>
              <a:rPr sz="1500" b="0" i="0">
                <a:solidFill>
                  <a:srgbClr val="F7F2E8"/>
                </a:solidFill>
                <a:latin typeface="Segoe UI Semibold"/>
              </a:rPr>
              <a:t>Uninstaller</a:t>
            </a:r>
          </a:p>
        </p:txBody>
      </p:sp>
      <p:sp>
        <p:nvSpPr>
          <p:cNvPr id="34" name="Rounded Rectangle 33"/>
          <p:cNvSpPr/>
          <p:nvPr/>
        </p:nvSpPr>
        <p:spPr>
          <a:xfrm>
            <a:off x="6144768" y="3968496"/>
            <a:ext cx="5479999" cy="518160"/>
          </a:xfrm>
          <a:prstGeom prst="roundRect">
            <a:avLst>
              <a:gd name="adj" fmla="val 35294"/>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27648" y="3986783"/>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4   </a:t>
            </a:r>
            <a:r>
              <a:rPr sz="1500" b="0" i="0">
                <a:solidFill>
                  <a:srgbClr val="F7F2E8"/>
                </a:solidFill>
                <a:latin typeface="Segoe UI Semibold"/>
              </a:rPr>
              <a:t>Installer</a:t>
            </a:r>
          </a:p>
        </p:txBody>
      </p:sp>
      <p:sp>
        <p:nvSpPr>
          <p:cNvPr id="36" name="Rounded Rectangle 35"/>
          <p:cNvSpPr/>
          <p:nvPr/>
        </p:nvSpPr>
        <p:spPr>
          <a:xfrm>
            <a:off x="6144768" y="4596384"/>
            <a:ext cx="5479999" cy="518160"/>
          </a:xfrm>
          <a:prstGeom prst="roundRect">
            <a:avLst>
              <a:gd name="adj" fmla="val 35294"/>
            </a:avLst>
          </a:prstGeom>
          <a:solidFill>
            <a:srgbClr val="151F23"/>
          </a:solidFill>
          <a:ln w="9525">
            <a:solidFill>
              <a:srgbClr val="3BBE93"/>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6327648" y="4614671"/>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C98457"/>
                </a:solidFill>
                <a:latin typeface="Palatino Linotype"/>
              </a:rPr>
              <a:t>5   </a:t>
            </a:r>
            <a:r>
              <a:rPr sz="1500" b="0" i="0">
                <a:solidFill>
                  <a:srgbClr val="F7F2E8"/>
                </a:solidFill>
                <a:latin typeface="Segoe UI Semibold"/>
              </a:rPr>
              <a:t>pkg.zip</a:t>
            </a:r>
          </a:p>
        </p:txBody>
      </p:sp>
      <p:sp>
        <p:nvSpPr>
          <p:cNvPr id="38" name="Rounded Rectangle 37"/>
          <p:cNvSpPr/>
          <p:nvPr/>
        </p:nvSpPr>
        <p:spPr>
          <a:xfrm>
            <a:off x="6144768" y="5224272"/>
            <a:ext cx="5479999" cy="518160"/>
          </a:xfrm>
          <a:prstGeom prst="roundRect">
            <a:avLst>
              <a:gd name="adj" fmla="val 35294"/>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27648" y="5242559"/>
            <a:ext cx="5114239" cy="481583"/>
          </a:xfrm>
          <a:prstGeom prst="rect">
            <a:avLst/>
          </a:prstGeom>
          <a:noFill/>
        </p:spPr>
        <p:txBody>
          <a:bodyPr wrap="square" lIns="45720" rIns="45720" tIns="27432" bIns="27432" anchor="ctr">
            <a:noAutofit/>
          </a:bodyPr>
          <a:lstStyle/>
          <a:p>
            <a:pPr algn="l">
              <a:lnSpc>
                <a:spcPct val="100000"/>
              </a:lnSpc>
            </a:pPr>
            <a:r>
              <a:rPr sz="1500" b="1" i="0">
                <a:solidFill>
                  <a:srgbClr val="090E10"/>
                </a:solidFill>
                <a:latin typeface="Palatino Linotype"/>
              </a:rPr>
              <a:t>6   </a:t>
            </a:r>
            <a:r>
              <a:rPr sz="1500" b="0" i="0">
                <a:solidFill>
                  <a:srgbClr val="090E10"/>
                </a:solidFill>
                <a:latin typeface="Segoe UI Semibold"/>
              </a:rPr>
              <a:t>Release</a:t>
            </a:r>
          </a:p>
        </p:txBody>
      </p:sp>
      <p:sp>
        <p:nvSpPr>
          <p:cNvPr id="40" name="TextBox 39"/>
          <p:cNvSpPr txBox="1"/>
          <p:nvPr/>
        </p:nvSpPr>
        <p:spPr>
          <a:xfrm>
            <a:off x="6144768" y="5815583"/>
            <a:ext cx="5479999" cy="384048"/>
          </a:xfrm>
          <a:prstGeom prst="rect">
            <a:avLst/>
          </a:prstGeom>
          <a:noFill/>
        </p:spPr>
        <p:txBody>
          <a:bodyPr wrap="square" lIns="45720" rIns="45720" tIns="27432" bIns="27432" anchor="t">
            <a:noAutofit/>
          </a:bodyPr>
          <a:lstStyle/>
          <a:p>
            <a:pPr algn="l">
              <a:lnSpc>
                <a:spcPct val="100000"/>
              </a:lnSpc>
            </a:pPr>
            <a:r>
              <a:rPr sz="1200" b="0" i="1">
                <a:solidFill>
                  <a:srgbClr val="A7B2B0"/>
                </a:solidFill>
                <a:latin typeface="Segoe UI"/>
              </a:rPr>
              <a:t>Every stage verifies the one before it.</a:t>
            </a:r>
          </a:p>
        </p:txBody>
      </p:sp>
      <p:cxnSp>
        <p:nvCxnSpPr>
          <p:cNvPr id="41" name="Connector 4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43" name="TextBox 4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BUILD REPAIR · SEPTEMBER 27</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inventory ships every required helper</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 September 27 repair, carried since v1.72.1, ships the Whisperer settings helper without weakening package verification.</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One carrier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Copy and verification share ROOT_SOURCES; a new required helper needs no second list.</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Worker import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Carry chat_voice_settings.py at the installation root as well as compiling the Django module.</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Integrity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Reject missing, edited or unmanifested files, including otherwise consistent incomplete receipts.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Rebuild inputs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Mirrored self-update/self-modify sweeps include the shared inventory and report omitted Git checks.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RECORDED VERIFICATION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Packaging evidence and its limits</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September 27 file-level checks establish carriage and integrity; a full installer is a separate verification.</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Focused suite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146 tests recorded: 145 passed, one skipped; file-only harness exited successfully.</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Real files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mapped source destination matched; the staged worker resolved its settings helper.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Snapshot</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Recorded audit: 1,579 files, 11 redacted, 778 runtime inputs covered, zero copy errors.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docs/build-root-assets-verification.md records scope, skipped checks and local transcripts.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SELF-UPDATE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Updating herself without losing you</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About </a:t>
            </a:r>
            <a:r>
              <a:rPr sz="1450" b="0" i="0">
                <a:solidFill>
                  <a:srgbClr val="A7B2B0"/>
                </a:solidFill>
                <a:latin typeface="Segoe UI Symbol"/>
              </a:rPr>
              <a:t>▸</a:t>
            </a:r>
            <a:r>
              <a:rPr sz="1450" b="0" i="0">
                <a:solidFill>
                  <a:srgbClr val="A7B2B0"/>
                </a:solidFill>
                <a:latin typeface="Segoe UI Semilight"/>
              </a:rPr>
              <a:t> Check for updates fetches the latest published release, stages it, and hands the locked-file swap to an external script.</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Published releases</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Only releases published on GitHub are offered.</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Preserved</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Configuration, database, contacts, catalogs, content.</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Migrated</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Your database receives new migrations on the next launch.</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Verified</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Receipts are checked before anything is replaced.</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VERSIONING</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number, from one source</a:t>
            </a:r>
          </a:p>
        </p:txBody>
      </p:sp>
      <p:sp>
        <p:nvSpPr>
          <p:cNvPr id="6" name="Rectangle 5"/>
          <p:cNvSpPr/>
          <p:nvPr/>
        </p:nvSpPr>
        <p:spPr>
          <a:xfrm>
            <a:off x="566928" y="1344168"/>
            <a:ext cx="822960" cy="36576"/>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 follows Semantic Versioning, with annotated Git tags as the single source of truth.</a:t>
            </a:r>
          </a:p>
        </p:txBody>
      </p:sp>
      <p:sp>
        <p:nvSpPr>
          <p:cNvPr id="8" name="Rounded Rectangle 7"/>
          <p:cNvSpPr/>
          <p:nvPr/>
        </p:nvSpPr>
        <p:spPr>
          <a:xfrm>
            <a:off x="566928" y="2084831"/>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487168"/>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SemVer</a:t>
            </a:r>
          </a:p>
        </p:txBody>
      </p:sp>
      <p:sp>
        <p:nvSpPr>
          <p:cNvPr id="11" name="TextBox 10"/>
          <p:cNvSpPr txBox="1"/>
          <p:nvPr/>
        </p:nvSpPr>
        <p:spPr>
          <a:xfrm>
            <a:off x="3767328" y="2139696"/>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MAJOR.MINOR.PATCH from annotated Git tags.</a:t>
            </a:r>
          </a:p>
        </p:txBody>
      </p:sp>
      <p:sp>
        <p:nvSpPr>
          <p:cNvPr id="12" name="Rounded Rectangle 11"/>
          <p:cNvSpPr/>
          <p:nvPr/>
        </p:nvSpPr>
        <p:spPr>
          <a:xfrm>
            <a:off x="566928" y="3145536"/>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547872"/>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200400"/>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One resolver</a:t>
            </a:r>
          </a:p>
        </p:txBody>
      </p:sp>
      <p:sp>
        <p:nvSpPr>
          <p:cNvPr id="15" name="TextBox 14"/>
          <p:cNvSpPr txBox="1"/>
          <p:nvPr/>
        </p:nvSpPr>
        <p:spPr>
          <a:xfrm>
            <a:off x="3767328" y="3200400"/>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version.py, the About window and /agent/version/.</a:t>
            </a:r>
          </a:p>
        </p:txBody>
      </p:sp>
      <p:sp>
        <p:nvSpPr>
          <p:cNvPr id="16" name="Rounded Rectangle 15"/>
          <p:cNvSpPr/>
          <p:nvPr/>
        </p:nvSpPr>
        <p:spPr>
          <a:xfrm>
            <a:off x="566928" y="4206240"/>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60857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261103"/>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Base tag only</a:t>
            </a:r>
          </a:p>
        </p:txBody>
      </p:sp>
      <p:sp>
        <p:nvSpPr>
          <p:cNvPr id="19" name="TextBox 18"/>
          <p:cNvSpPr txBox="1"/>
          <p:nvPr/>
        </p:nvSpPr>
        <p:spPr>
          <a:xfrm>
            <a:off x="3767328" y="4261103"/>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No .devN, +gSHA or .dirty suffix.</a:t>
            </a:r>
          </a:p>
        </p:txBody>
      </p:sp>
      <p:sp>
        <p:nvSpPr>
          <p:cNvPr id="20" name="Rounded Rectangle 19"/>
          <p:cNvSpPr/>
          <p:nvPr/>
        </p:nvSpPr>
        <p:spPr>
          <a:xfrm>
            <a:off x="566928" y="5266944"/>
            <a:ext cx="11057839" cy="932688"/>
          </a:xfrm>
          <a:prstGeom prst="roundRect">
            <a:avLst>
              <a:gd name="adj" fmla="val 98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5669279"/>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5321807"/>
            <a:ext cx="2651760" cy="822960"/>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Override</a:t>
            </a:r>
          </a:p>
        </p:txBody>
      </p:sp>
      <p:sp>
        <p:nvSpPr>
          <p:cNvPr id="23" name="TextBox 22"/>
          <p:cNvSpPr txBox="1"/>
          <p:nvPr/>
        </p:nvSpPr>
        <p:spPr>
          <a:xfrm>
            <a:off x="3767328" y="5321807"/>
            <a:ext cx="7720279" cy="822960"/>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TLAMATINI_VERSION documents a release ahead of its tag.</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 · INSTALL, CONFIGURE, RUN</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E2B462"/>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VIII</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Current Release</a:t>
            </a:r>
          </a:p>
        </p:txBody>
      </p:sp>
      <p:sp>
        <p:nvSpPr>
          <p:cNvPr id="6" name="Rectangle 5"/>
          <p:cNvSpPr/>
          <p:nvPr/>
        </p:nvSpPr>
        <p:spPr>
          <a:xfrm>
            <a:off x="841248" y="4315968"/>
            <a:ext cx="100584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Source release v1.91.1; package delivery and runtime acceptance need separate evidence.</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VIII</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119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CURRENT VERSION · v1.91.1</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Prompt Flow fixes and short tool names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 9915938a, dated October 27, 2026; published as the Latest release.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History</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Each run and each user reads only its own conversation.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Decisions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 YES - ...' equals YES; 'Yesterday' does not.</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Routing</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'Using the bot' sends as the bot; short tool names still run.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Inventory</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agents; 110 tools; 220 migrations; 64 JS modules; 29 stylesheets.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v1.91.0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Real settings for editor and terminal behavior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 a771d27c, dated October 23, 2026, and published on GitHub that day.</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Dialog</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Pacing, teaching, terminal behavior, narration, appearance and draft previews.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Runtime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Real settings snapshots, revision checks and cancellable narration receipts.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Compatibility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Legacy explicit flows keep their values; new flows can inherit defaults.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Inventory</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agents; 110 tools; 220 migrations; 64 JS modules; 29 stylesheets.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v1.90.0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Edit, teach and preserve the learner's control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v1.89.0 introduced editing and native saving; v1.90.0 carries Interactor and the intent corrections.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Editing</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Native Save As, exact source, undo history and conflict-aware persistence.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Tutoring</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Fresh unsaved reads, small typing segments, learner fields and local suggestions.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Recovery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Bounded tab-visibility pauses and usable narrow-canvas layout.</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Inventory</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agents; 67 wrapped; 110 built-in tools; 220 migrations. Counts describe the inspected source.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DATED VERIFICATION</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Keep source, model and frozen evidence separate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These are recorded runs from October 21–22, not tests silently rerun by documentation generation.</a:t>
            </a:r>
          </a:p>
        </p:txBody>
      </p:sp>
      <p:sp>
        <p:nvSpPr>
          <p:cNvPr id="8" name="Rounded Rectangle 7"/>
          <p:cNvSpPr/>
          <p:nvPr/>
        </p:nvSpPr>
        <p:spPr>
          <a:xfrm>
            <a:off x="566928" y="2084831"/>
            <a:ext cx="11057839" cy="3547872"/>
          </a:xfrm>
          <a:prstGeom prst="roundRect">
            <a:avLst>
              <a:gd name="adj" fmla="val 206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17104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SCOPE</a:t>
            </a:r>
          </a:p>
        </p:txBody>
      </p:sp>
      <p:sp>
        <p:nvSpPr>
          <p:cNvPr id="11" name="TextBox 10"/>
          <p:cNvSpPr txBox="1"/>
          <p:nvPr/>
        </p:nvSpPr>
        <p:spPr>
          <a:xfrm>
            <a:off x="3957431" y="2121408"/>
            <a:ext cx="759418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RECORDED RESULT AND LIMIT</a:t>
            </a:r>
          </a:p>
        </p:txBody>
      </p:sp>
      <p:sp>
        <p:nvSpPr>
          <p:cNvPr id="12" name="TextBox 11"/>
          <p:cNvSpPr txBox="1"/>
          <p:nvPr/>
        </p:nvSpPr>
        <p:spPr>
          <a:xfrm>
            <a:off x="640080" y="2505456"/>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Canvas editing / Oct 21</a:t>
            </a:r>
          </a:p>
        </p:txBody>
      </p:sp>
      <p:sp>
        <p:nvSpPr>
          <p:cNvPr id="13" name="TextBox 12"/>
          <p:cNvSpPr txBox="1"/>
          <p:nvPr/>
        </p:nvSpPr>
        <p:spPr>
          <a:xfrm>
            <a:off x="3957431" y="2505456"/>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29 distinct visible checkpoints; native saving, file types, encoding, conflicts and PDF copies.</a:t>
            </a:r>
          </a:p>
        </p:txBody>
      </p:sp>
      <p:sp>
        <p:nvSpPr>
          <p:cNvPr id="14" name="Rectangle 13"/>
          <p:cNvSpPr/>
          <p:nvPr/>
        </p:nvSpPr>
        <p:spPr>
          <a:xfrm>
            <a:off x="585216" y="3072384"/>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3108960"/>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Interactor / Oct 21</a:t>
            </a:r>
          </a:p>
        </p:txBody>
      </p:sp>
      <p:sp>
        <p:nvSpPr>
          <p:cNvPr id="16" name="TextBox 15"/>
          <p:cNvSpPr txBox="1"/>
          <p:nvPr/>
        </p:nvSpPr>
        <p:spPr>
          <a:xfrm>
            <a:off x="3957431" y="3108960"/>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35/35 checks including three configured real-model cases; later UI runs add interruption and recovery coverage.</a:t>
            </a:r>
          </a:p>
        </p:txBody>
      </p:sp>
      <p:sp>
        <p:nvSpPr>
          <p:cNvPr id="17" name="TextBox 16"/>
          <p:cNvSpPr txBox="1"/>
          <p:nvPr/>
        </p:nvSpPr>
        <p:spPr>
          <a:xfrm>
            <a:off x="640080" y="3712463"/>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Final DEV modes / Oct 21</a:t>
            </a:r>
          </a:p>
        </p:txBody>
      </p:sp>
      <p:sp>
        <p:nvSpPr>
          <p:cNvPr id="18" name="TextBox 17"/>
          <p:cNvSpPr txBox="1"/>
          <p:nvPr/>
        </p:nvSpPr>
        <p:spPr>
          <a:xfrm>
            <a:off x="3957431" y="3712463"/>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19/19 visible checks; 136 passed + 2 skipped among 138 focused Django tests.</a:t>
            </a:r>
          </a:p>
        </p:txBody>
      </p:sp>
      <p:sp>
        <p:nvSpPr>
          <p:cNvPr id="19" name="Rectangle 18"/>
          <p:cNvSpPr/>
          <p:nvPr/>
        </p:nvSpPr>
        <p:spPr>
          <a:xfrm>
            <a:off x="585216" y="4050791"/>
            <a:ext cx="11021263" cy="6035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4087368"/>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Older frozen v1.89.0</a:t>
            </a:r>
          </a:p>
        </p:txBody>
      </p:sp>
      <p:sp>
        <p:nvSpPr>
          <p:cNvPr id="21" name="TextBox 20"/>
          <p:cNvSpPr txBox="1"/>
          <p:nvPr/>
        </p:nvSpPr>
        <p:spPr>
          <a:xfrm>
            <a:off x="3957431" y="4087368"/>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Real frozen-loader run: 16 passed, 2 failed after visual review (tab absence and narrow layout).</a:t>
            </a:r>
          </a:p>
        </p:txBody>
      </p:sp>
      <p:sp>
        <p:nvSpPr>
          <p:cNvPr id="22" name="TextBox 21"/>
          <p:cNvSpPr txBox="1"/>
          <p:nvPr/>
        </p:nvSpPr>
        <p:spPr>
          <a:xfrm>
            <a:off x="640080" y="4690872"/>
            <a:ext cx="3171047" cy="5303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Wizard guards / Oct 22</a:t>
            </a:r>
          </a:p>
        </p:txBody>
      </p:sp>
      <p:sp>
        <p:nvSpPr>
          <p:cNvPr id="23" name="TextBox 22"/>
          <p:cNvSpPr txBox="1"/>
          <p:nvPr/>
        </p:nvSpPr>
        <p:spPr>
          <a:xfrm>
            <a:off x="3957431" y="4690872"/>
            <a:ext cx="7594183" cy="5303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179 tests passed; exact installed-request replay passed. Controlled tool effects; no real account or notification.</a:t>
            </a:r>
          </a:p>
        </p:txBody>
      </p:sp>
      <p:sp>
        <p:nvSpPr>
          <p:cNvPr id="24" name="Rectangle 23"/>
          <p:cNvSpPr/>
          <p:nvPr/>
        </p:nvSpPr>
        <p:spPr>
          <a:xfrm>
            <a:off x="585216" y="52578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5294376"/>
            <a:ext cx="3171047"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New v1.90.0 package</a:t>
            </a:r>
          </a:p>
        </p:txBody>
      </p:sp>
      <p:sp>
        <p:nvSpPr>
          <p:cNvPr id="26" name="TextBox 25"/>
          <p:cNvSpPr txBox="1"/>
          <p:nvPr/>
        </p:nvSpPr>
        <p:spPr>
          <a:xfrm>
            <a:off x="3957431" y="5294376"/>
            <a:ext cx="759418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No new installed-package acceptance is claimed by this documentation pass.</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2650" b="0" i="0">
                <a:solidFill>
                  <a:srgbClr val="F7F2E8"/>
                </a:solidFill>
                <a:latin typeface="Palatino Linotype"/>
              </a:rPr>
              <a:t>Terminals you can watch, and a private release that carries your data</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Tlamatini v1.88.0 introduced Terminater; its tag was created on October 20.</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Terminals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Real CMD and PowerShell you can watch, typed like a person, with a hand-over.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Current counts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86 agents · 67 wrapped · 110 tools · 220 migrations.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Gate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check_terminater runs inside the frozen app; packaging stops on failure.</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Private release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External MCP servers and data.keys travel in the keyed build only.</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leaner catalog, a safer removal, a smaller release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18: the catalog shrank to 85 agents, and removal became fast and recoverable.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85 agents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Four retired agents removed in a forward migration.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Removal</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Move aside, verify, Retry cleanup for locked leftovers.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Release size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Media and browser libraries ship once, in the carried Python.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Quality</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npm run lint:python checks every tracked Python file.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NEW IN v1.87.0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Uninstalling is fast and recoverable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Uninstaller moves entries into a recovery folder instead of copying and hashing them.</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Journal</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move recorded before and after.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Retry</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Locked leftovers can be finished later.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Kept</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agents/ and the content folders that hold files.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Benchmark</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64,264 files in 22.3 s, October 18.</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NEW IN v1.87.0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owner for every library</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frozen web process stops carrying libraries that only the pool agents use.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Ownership</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Pool-only libraries live in the carried Python.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Package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Bytecode, uninstaller copies and compression tuned.</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Usage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Checking usage… until real data arrives.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Account</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bodyless POST /api/me.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AFTER THE v1.87.0 TAG</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consistency sweep</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A source-wide sweep re-derived every count and fixed what it found.</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Patterns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Brace sets, lists and folder globs in Grepper and Globber.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Gates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Six wrapped tools follow their agent's checkbox; Configure opens with the saved ticks.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Harness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daily chat test reads this repository.</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Quality gate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Runs in Windows Terminal, the Windows 11 default.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v1.86.0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Mover folders and the Architecture atlas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17: a missing destination becomes a folder, and the atlas rebuilds itself.</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Mover</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new destination name becomes a folder.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Rename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Only when the destination names a file.</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Atlas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Rebuilt by LaTeXer from the repository.</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Proof</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tracked file appears in the atlas.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129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Refresh, Views and a centered avatar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and published on October 16, with a more flexible chat workspace.</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Refresh</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original document, read again without a chooser.</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Views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Show or hide the canvas and keep its state.</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Reset layout</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Restore both panes and dock the avatar.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Portrait</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Center the whole frame above the complete action row.</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Refresh the original document</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Open selects a file. Refresh reads that same source again, without writing to it.</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Open</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Choose a document and retain read access.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Refresh</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Reread the retained source without another picker.</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Failure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Keep the previous content and allow retry.</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Context</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Prepare changed content before replacing active context.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Keep the reading position</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Refreshing Markdown or PDF preserves the view while the underlying document changes.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Markdown</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Preview/Source, position and selected resources stay.</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PDF</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Page, zoom, rotation and scroll mode stay.</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Recovery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failed replacement retains the previous viewer.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20 visible Chrome checks on October 15.</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Choose a full-width chat</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Views → Canvas shows or hides the canvas without unloading it.</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Full width</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Hide the canvas to give the chat more room.</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Continuity</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Keep the open document and active context.</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Preference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Saved per account and browser origin.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Navigation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Opening a document reveals its canvas.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centered portrait at every height</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portrait and its frame share the center of the entire Mic-to-Send action row.</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Alignment</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Mic's left edge through Send's right edge.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Sizing</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square portrait, never below 120 pixels.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Reset</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Restore layout while keeping content.</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19 visible checks; center error below 0.02 CSS px, October 16.</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complete feature travels together</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Required runtime and self-modify inventories cover the Views template and scripts.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Runtime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Required template and four cooperating scripts.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Snapshot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Sources, identity and both Views harnesses.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Database</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v1.85.0 introduced no migration.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Version</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v1.85.0 across the application at the time.</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v1.84.0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Catalog and fixture maintenance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October 14 maintenance commit updated catalog/configuration data and scrubbed test fixtures.</a:t>
            </a:r>
          </a:p>
        </p:txBody>
      </p:sp>
      <p:sp>
        <p:nvSpPr>
          <p:cNvPr id="8" name="Rounded Rectangle 7"/>
          <p:cNvSpPr/>
          <p:nvPr/>
        </p:nvSpPr>
        <p:spPr>
          <a:xfrm>
            <a:off x="566928" y="2084831"/>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663952"/>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Maintenance</a:t>
            </a:r>
          </a:p>
        </p:txBody>
      </p:sp>
      <p:sp>
        <p:nvSpPr>
          <p:cNvPr id="11" name="TextBox 10"/>
          <p:cNvSpPr txBox="1"/>
          <p:nvPr/>
        </p:nvSpPr>
        <p:spPr>
          <a:xfrm>
            <a:off x="3767328" y="2139696"/>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Catalog data and test fixtures changed in commit 1a8c5093.</a:t>
            </a:r>
          </a:p>
        </p:txBody>
      </p:sp>
      <p:sp>
        <p:nvSpPr>
          <p:cNvPr id="12" name="Rounded Rectangle 11"/>
          <p:cNvSpPr/>
          <p:nvPr/>
        </p:nvSpPr>
        <p:spPr>
          <a:xfrm>
            <a:off x="566928" y="3499103"/>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4078223"/>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553967"/>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Product surface</a:t>
            </a:r>
          </a:p>
        </p:txBody>
      </p:sp>
      <p:sp>
        <p:nvSpPr>
          <p:cNvPr id="15" name="TextBox 14"/>
          <p:cNvSpPr txBox="1"/>
          <p:nvPr/>
        </p:nvSpPr>
        <p:spPr>
          <a:xfrm>
            <a:off x="3767328" y="3553967"/>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No new subsystem, agent type, migration or dependency.</a:t>
            </a:r>
          </a:p>
        </p:txBody>
      </p:sp>
      <p:sp>
        <p:nvSpPr>
          <p:cNvPr id="16" name="Rounded Rectangle 15"/>
          <p:cNvSpPr/>
          <p:nvPr/>
        </p:nvSpPr>
        <p:spPr>
          <a:xfrm>
            <a:off x="566928" y="4913376"/>
            <a:ext cx="11057839"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549249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968239"/>
            <a:ext cx="265176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Privacy</a:t>
            </a:r>
          </a:p>
        </p:txBody>
      </p:sp>
      <p:sp>
        <p:nvSpPr>
          <p:cNvPr id="19" name="TextBox 18"/>
          <p:cNvSpPr txBox="1"/>
          <p:nvPr/>
        </p:nvSpPr>
        <p:spPr>
          <a:xfrm>
            <a:off x="3767328" y="4968239"/>
            <a:ext cx="7720279"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Public documents exclude private catalog values.</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smart listener for every file you drop</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and published on October 14: a dropped file never errors, never opens as text by mistake and never navigates away.</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One listener</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Capture phase, file drags only; text drags are untouched.</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By the bytes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Extension, MIME, magic numbers, BOM-aware text test, real JSON parse.</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MCP import</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Never silent: a confirmation lists the servers first.</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Everywhere</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Chat, both panels, welcome, login, admin and the PDF frame.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138 router checks, 22 tests, 58 visible checks, 24 photographs.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Tag</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v1.83.0 at a2914019, pushed and published October 14.</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portrait shrinks with the message box</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Commit 63a62cc1 on October 13, credited to Tlamatini's-AutoBot; shipped in v1.83.0.</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Down</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Dragging the divider down shrinks the portrait to a 120-pixel square.</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Up</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Dragging it up gives the portrait back, up to its original column.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Keyboard</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Arrows, Shift+arrows, Home, End, double-click and Escape still work.</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19 docked-avatar and 18 composer checkpoints passed.</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wrongly worded request is not fatal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Commit 91ff8453 on October 12, credited to Tlamatini's-AutoBot; shipped in v1.83.0.</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Request errors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Refused before any model ran; the model retries.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Real failures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Still raise the accumulated fatal dialog.</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 engine setting</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engine= belongs to Whisperer, not Video-Analyzer.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Tests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Five tests in RequestRefusalIsNotFatalTests.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139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v1.82.0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way back for installing and removing</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and published on October 12: new setup windows, and Markdown that opens as a page.</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Setup windows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One recoverable window for installing and removing.</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Markdown</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Rendered Preview, original Source, offline sanitizer.</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Published</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October 12; the latest release until v1.83.0.</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 v1.81.0</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number was skipped; v1.80.0 and v1.79.0 come before it.</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Campaign</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Five installations and four removals passed; one removal stopped safely.</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Followed by</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v1.83.0 on October 14 carries the three later changes.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v1.80.0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look, and one way to drag</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11 without a release of its own; it reaches users through v1.82.0 and v1.83.0.</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Tag</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v1.80.0 at 82099963, pushed; no published release.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Tokens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Slate surfaces, teal accent, one font set, one scrollbar.</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Dividers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Five seams, one grip, arrows and Shift, Home and End.</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Dialogs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Eight-direction and keyboard resizing; matching buttons.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175 tests and visible zoom, composer and dialog checks.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Delivered by</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published v1.82.0 and v1.83.0 releases.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v1.79.0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Video-Analyzer takes a web link</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11 without a release of its own; it reaches users through v1.82.0 and v1.83.0.</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One item</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Sound for transcription, picture for summary or robotics.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Self-updating</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private downloader, refreshed once on failure.</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Named failures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Unavailable, login required, network, timeout and more.</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Prose works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Plain-language requests fill in the link and the mode.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141 unit tests and a visible 12-of-12 chat run.</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Delivered by</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published v1.82.0 and v1.83.0 releases.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Usage: credits and activity, while she works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10; the Usage commit lands one commit after the tag. The published v1.78.0 zip carries it.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220 tests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 Usage plus 202 existing regressions passed on October 10.</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24 browser checks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Visible live Pro comparisons plus clearly synthetic edge cases.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Recovery</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27 Usage tests and 12 visible checks; outages retried after 15 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During a request</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Usage opened/refreshed while a real model answer completed.</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 the release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published zip's files match the latest October 10 commit.</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Privacy</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Account observations and authenticated screenshots stay out of this dossier.</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Undock her, and the message box shrinks to fit</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Two commits after the v1.78.0 tag, and carried by the published zip: the input area resizes once she floats.</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Shrinks to fit</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Undocked, the input area can shrink to its buttons; no 30% floor.</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Dock again</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Docking restores room for her portrait above the buttons.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Keyboard</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Arrows, Shift+arrows, Home, End and double-click on the divider.</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Short windows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composer scrolls inside itself; chat history stays visible.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Narrow screens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640-pixel workspace pans; the page and dialogs stay anchored.</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18 composer and 38 viewport checks passed, visibly, on October 10.</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v1.78.0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She repaired one of her own agents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Image-Interpreter now reads a comma-separated list of images, a change credited to Tlamatini herself.</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Several images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Comma-separated paths are resolved one by one and merged.</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 duplicates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Repeated paths are removed; the original order is kept.</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Commas in names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single existing file is never split at its comma.</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Honest warning</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An entry that resolves to nothing is logged, not hidden.</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Self-repair</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commit credits Tlamatini's-AutoBot, her own self-modify work.</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In v1.78.0</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tag points to this commit; no dedicated test yet.</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v1.77.0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She speaks to you, by name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and published on October 9; v1.78.0 replaced it as the Latest release on October 10.</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First person</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Fixed chat lines say “I” and use your name.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One source</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fixed line lives in agent/constants.py.</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Old wording kept</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Matchers accept both, so old histories still read.</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Templates kept</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Uninstalling keeps the projects in Templates/.</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Temp erased</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Scratch goes; folders holding your files stay.</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Rebuilt uninstaller</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reinstall carries the fix; an in-app update does not.</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v1.76.0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Model Brain tunes every model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8; the Model Brain commit lands on main one commit after the tag. The published v1.76.0 release was built from main and carries it.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Model Brain</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Per-model settings from cited sources; Auto-tuning shows each one.</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Reasoning kept</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Thinking models keep their train of thought between tool calls.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Coloured console</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Lines coloured by level; the log file stays plain text.</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Truthful refusal</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PDF refused for a second account says why and how to fix it.</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Quiet tabs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Two pages on two models no longer re-measure each other.</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Evidence</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25 of 25 and 20 of 20 visible checks on October 8.</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v1.76.0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Documents and files that tell the truth</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October 7 and 8: LaTeXer, Mover and the document agents report what really happened.</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Real PDFs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Success only when the delivered file exists and is not empty.</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Layout findings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Text past the margin is reported, never called clean.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DEGRADED name</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mostly-cut build never wears the name you asked for.</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Region repair</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Large documents: the lines around the error are repaired first.</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Mover</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Destinations are merged, never erased; failures are reported.</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Protected folders</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Finished files survive Controlled Folder Access.</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 v1.76.0 · OCTOBER 5 AND 8</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Smaller fixes that keep the chat moving</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Committed after the v1.75.0 tag and carried by the v1.76.0 tag.</a:t>
            </a:r>
          </a:p>
        </p:txBody>
      </p:sp>
      <p:sp>
        <p:nvSpPr>
          <p:cNvPr id="8" name="Rounded Rectangle 7"/>
          <p:cNvSpPr/>
          <p:nvPr/>
        </p:nvSpPr>
        <p:spPr>
          <a:xfrm>
            <a:off x="566928" y="2084831"/>
            <a:ext cx="3551834" cy="4114800"/>
          </a:xfrm>
          <a:prstGeom prst="roundRect">
            <a:avLst>
              <a:gd name="adj" fmla="val 30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Context helpers</a:t>
            </a:r>
          </a:p>
        </p:txBody>
      </p:sp>
      <p:sp>
        <p:nvSpPr>
          <p:cNvPr id="11" name="TextBox 10"/>
          <p:cNvSpPr txBox="1"/>
          <p:nvPr/>
        </p:nvSpPr>
        <p:spPr>
          <a:xfrm>
            <a:off x="694944" y="2657855"/>
            <a:ext cx="3295802" cy="3450336"/>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Their own model calls stop at a time limit or on Cancel.</a:t>
            </a:r>
          </a:p>
        </p:txBody>
      </p:sp>
      <p:sp>
        <p:nvSpPr>
          <p:cNvPr id="12" name="Rounded Rectangle 11"/>
          <p:cNvSpPr/>
          <p:nvPr/>
        </p:nvSpPr>
        <p:spPr>
          <a:xfrm>
            <a:off x="4319930" y="2084831"/>
            <a:ext cx="3551834" cy="4114800"/>
          </a:xfrm>
          <a:prstGeom prst="roundRect">
            <a:avLst>
              <a:gd name="adj" fmla="val 30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Uninstaller</a:t>
            </a:r>
          </a:p>
        </p:txBody>
      </p:sp>
      <p:sp>
        <p:nvSpPr>
          <p:cNvPr id="15" name="TextBox 14"/>
          <p:cNvSpPr txBox="1"/>
          <p:nvPr/>
        </p:nvSpPr>
        <p:spPr>
          <a:xfrm>
            <a:off x="4447946" y="2657855"/>
            <a:ext cx="3295802" cy="3450336"/>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held Uninstaller.exe is moved aside and removed after exit.</a:t>
            </a:r>
          </a:p>
        </p:txBody>
      </p:sp>
      <p:sp>
        <p:nvSpPr>
          <p:cNvPr id="16" name="Rounded Rectangle 15"/>
          <p:cNvSpPr/>
          <p:nvPr/>
        </p:nvSpPr>
        <p:spPr>
          <a:xfrm>
            <a:off x="8072932" y="2084831"/>
            <a:ext cx="3551834" cy="4114800"/>
          </a:xfrm>
          <a:prstGeom prst="roundRect">
            <a:avLst>
              <a:gd name="adj" fmla="val 308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File-Creator</a:t>
            </a:r>
          </a:p>
        </p:txBody>
      </p:sp>
      <p:sp>
        <p:nvSpPr>
          <p:cNvPr id="19" name="TextBox 18"/>
          <p:cNvSpPr txBox="1"/>
          <p:nvPr/>
        </p:nvSpPr>
        <p:spPr>
          <a:xfrm>
            <a:off x="8200948" y="2657855"/>
            <a:ext cx="3295802" cy="3450336"/>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append: true</a:t>
            </a:r>
            <a:r>
              <a:rPr sz="1300" b="0" i="0">
                <a:solidFill>
                  <a:srgbClr val="A7B2B0"/>
                </a:solidFill>
                <a:latin typeface="Segoe UI"/>
              </a:rPr>
              <a:t> adds to a file instead of overwriting it.</a:t>
            </a:r>
          </a:p>
        </p:txBody>
      </p:sp>
      <p:cxnSp>
        <p:nvCxnSpPr>
          <p:cNvPr id="20" name="Connector 19"/>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2" name="TextBox 21"/>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149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 v1.76.0 · OCTOBER 4</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Graphical notes and resizable Run output</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Committed to main on October 4 and carried by the v1.76.0 tag; local executables were rebuilt to validate them.</a:t>
            </a:r>
          </a:p>
        </p:txBody>
      </p:sp>
      <p:sp>
        <p:nvSpPr>
          <p:cNvPr id="8" name="Rounded Rectangle 7"/>
          <p:cNvSpPr/>
          <p:nvPr/>
        </p:nvSpPr>
        <p:spPr>
          <a:xfrm>
            <a:off x="566928" y="208483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381097"/>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Rich notes</a:t>
            </a:r>
          </a:p>
        </p:txBody>
      </p:sp>
      <p:sp>
        <p:nvSpPr>
          <p:cNvPr id="11" name="TextBox 10"/>
          <p:cNvSpPr txBox="1"/>
          <p:nvPr/>
        </p:nvSpPr>
        <p:spPr>
          <a:xfrm>
            <a:off x="3767328" y="2139696"/>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Selected text keeps its own fonts, sizes, colors and emphasis.</a:t>
            </a:r>
          </a:p>
        </p:txBody>
      </p:sp>
      <p:sp>
        <p:nvSpPr>
          <p:cNvPr id="12" name="Rounded Rectangle 11"/>
          <p:cNvSpPr/>
          <p:nvPr/>
        </p:nvSpPr>
        <p:spPr>
          <a:xfrm>
            <a:off x="566928" y="2933395"/>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3229660"/>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2988259"/>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Direct editing</a:t>
            </a:r>
          </a:p>
        </p:txBody>
      </p:sp>
      <p:sp>
        <p:nvSpPr>
          <p:cNvPr id="15" name="TextBox 14"/>
          <p:cNvSpPr txBox="1"/>
          <p:nvPr/>
        </p:nvSpPr>
        <p:spPr>
          <a:xfrm>
            <a:off x="3767328" y="2988259"/>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Floating tools and all-border resizing. No commentary dialog.</a:t>
            </a:r>
          </a:p>
        </p:txBody>
      </p:sp>
      <p:sp>
        <p:nvSpPr>
          <p:cNvPr id="16" name="Rounded Rectangle 15"/>
          <p:cNvSpPr/>
          <p:nvPr/>
        </p:nvSpPr>
        <p:spPr>
          <a:xfrm>
            <a:off x="566928" y="3781958"/>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4078224"/>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3836822"/>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Run output</a:t>
            </a:r>
          </a:p>
        </p:txBody>
      </p:sp>
      <p:sp>
        <p:nvSpPr>
          <p:cNvPr id="19" name="TextBox 18"/>
          <p:cNvSpPr txBox="1"/>
          <p:nvPr/>
        </p:nvSpPr>
        <p:spPr>
          <a:xfrm>
            <a:off x="3767328" y="3836822"/>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5% to 95% height. Independent scrolling with content sizes preserved.</a:t>
            </a:r>
          </a:p>
        </p:txBody>
      </p:sp>
      <p:sp>
        <p:nvSpPr>
          <p:cNvPr id="20" name="Rounded Rectangle 19"/>
          <p:cNvSpPr/>
          <p:nvPr/>
        </p:nvSpPr>
        <p:spPr>
          <a:xfrm>
            <a:off x="566928" y="4630521"/>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Diamond 20"/>
          <p:cNvSpPr/>
          <p:nvPr/>
        </p:nvSpPr>
        <p:spPr>
          <a:xfrm>
            <a:off x="768096" y="4926787"/>
            <a:ext cx="128016" cy="128016"/>
          </a:xfrm>
          <a:prstGeom prst="diamond">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1024128" y="4685385"/>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File fidelity</a:t>
            </a:r>
          </a:p>
        </p:txBody>
      </p:sp>
      <p:sp>
        <p:nvSpPr>
          <p:cNvPr id="23" name="TextBox 22"/>
          <p:cNvSpPr txBox="1"/>
          <p:nvPr/>
        </p:nvSpPr>
        <p:spPr>
          <a:xfrm>
            <a:off x="3767328" y="4685385"/>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Three mixed-style notes rendered identically across three save/open cycles.</a:t>
            </a:r>
          </a:p>
        </p:txBody>
      </p:sp>
      <p:sp>
        <p:nvSpPr>
          <p:cNvPr id="24" name="Rounded Rectangle 23"/>
          <p:cNvSpPr/>
          <p:nvPr/>
        </p:nvSpPr>
        <p:spPr>
          <a:xfrm>
            <a:off x="566928" y="5479084"/>
            <a:ext cx="11057839" cy="720547"/>
          </a:xfrm>
          <a:prstGeom prst="roundRect">
            <a:avLst>
              <a:gd name="adj" fmla="val 12690"/>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Diamond 24"/>
          <p:cNvSpPr/>
          <p:nvPr/>
        </p:nvSpPr>
        <p:spPr>
          <a:xfrm>
            <a:off x="768096" y="5775350"/>
            <a:ext cx="128016" cy="128016"/>
          </a:xfrm>
          <a:prstGeom prst="diamond">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1024128" y="5533948"/>
            <a:ext cx="2651760" cy="610819"/>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Delivery</a:t>
            </a:r>
          </a:p>
        </p:txBody>
      </p:sp>
      <p:sp>
        <p:nvSpPr>
          <p:cNvPr id="27" name="TextBox 26"/>
          <p:cNvSpPr txBox="1"/>
          <p:nvPr/>
        </p:nvSpPr>
        <p:spPr>
          <a:xfrm>
            <a:off x="3767328" y="5533948"/>
            <a:ext cx="7720279" cy="610819"/>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Committed October 4 and carried by v1.76.0; builds were validated separately.</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 v1.76.0 · OCTOBER 3</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Four stop sequences and a clearer Prompt Flow Panel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Committed on main after the v1.75.0 tag and carried by the v1.76.0 tag.</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Four stop sequences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Ollama request; a failed summary never fails the answer.</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User Input</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step that asks you: same mechanism, new figure.</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User Commentary</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static review note; it never runs and never reaches the model.</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Version 2 files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Version 1 flows migrate on open; identifiers and links are kept.</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October 3 evidence</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430 unit tests; 9 of 9 visible Chrome checkpoints.</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v1.75.0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Compact mode and Self-modify become switches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3: Compact mode is a toolbar switch; the Self-modify switch followed and ships in v1.76.0.</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Compact switch</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Only the rows you tick; locked on when the model cannot hold everything.</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Prices</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Configure row shows the tokens it adds to each request.</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Self-modify</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Her self-knowledge on or off; locked off when it does not fit.</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Proof</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57/57 and 28/28 visible checks; 473 unit tests.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v1.74.0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Compact mode and readable tables</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1: every request is fitted to the model it is sent to.</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Fitted</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Full when the model can hold the request; Compact when it cannot.</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Compact proof</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37/37 visible checks on a local qwen2.5, about 8.1K tokens, no cuts.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Full proof</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large cloud model read every request complete: about 103K tokens.</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Readable tables</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Cells below 3:1 contrast are recoloured, for every model.</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v1.73.1</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Model lists from the server you configured</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on October 1: Config </a:t>
            </a:r>
            <a:r>
              <a:rPr sz="1450" b="0" i="0">
                <a:solidFill>
                  <a:srgbClr val="A7B2B0"/>
                </a:solidFill>
                <a:latin typeface="Segoe UI Symbol"/>
              </a:rPr>
              <a:t>▸</a:t>
            </a:r>
            <a:r>
              <a:rPr sz="1450" b="0" i="0">
                <a:solidFill>
                  <a:srgbClr val="A7B2B0"/>
                </a:solidFill>
                <a:latin typeface="Segoe UI Semilight"/>
              </a:rPr>
              <a:t> Models asks the configured Ollama servers, with their token.</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Fresh address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Read from config.json on every call, never fixed at page load.</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Token</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configured server is asked with the chat's own bearer token.</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Clear errors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Each server reports its status; a 401 points at the token.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Start-up</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GPU warm-up sends the token too: no 401 at every start.</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v1.73.0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card removed from future context</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and published on September 30: Drop throughout chat, with confirmation and history updates.</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Owned rows</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Server deletion is scoped to the signed-in user's conversation.</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Tabs and gauge</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Confirmed ids remove saved cards across tabs and refresh the context estimate.</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Rephrases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Prompt cleanup removes following rephrase copies and keeps the answer.</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Run guard</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An active answer blocks Drop on that connection. Other tabs have separate runs.</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v1.72.4</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Web pages that cannot vanish in silence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and published on September 29: no web page loses its text without saying so.</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 silent loss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stack of open tags replaces a counter in both agents.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Safety net</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plain reading takes over when a parse keeps too little.</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Bounded defaults</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v1.72.2: search and crawl budgets, cancellation and explicit outcomes.</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Refusals named</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CAPTCHA or bot wall comes back as blocked, never as content.</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Visible lips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v1.72.3: her lips open and close clearly, without gaping.</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v1.72.1</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 context gauge that tells the truth</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Tagged and published on September 28: the ring beside the message box shows Ollama's own count.</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Real tokens</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Ollama's prompt_eval_count, paired to its own request.</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Exact in both modes</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Live = at-rest prediction + the question + the Multi-Turn plan.</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Main chain only</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Out-of-band calls never reach the ring; each user sees their own.</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Less waste</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question is sent once; the one-shot placeholder line is gone.</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Proof</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A visible lab passed 60 of 60 checks against tlamatini.log.</a:t>
            </a:r>
          </a:p>
        </p:txBody>
      </p:sp>
      <p:cxnSp>
        <p:nvCxnSpPr>
          <p:cNvPr id="28" name="Connector 2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0" name="TextBox 2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FROM v1.72.0</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Direct dictation and dependency coverage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These September 27 changes were tagged v1.72.0 and published on September 28.</a:t>
            </a:r>
          </a:p>
        </p:txBody>
      </p:sp>
      <p:sp>
        <p:nvSpPr>
          <p:cNvPr id="8" name="Rounded Rectangle 7"/>
          <p:cNvSpPr/>
          <p:nvPr/>
        </p:nvSpPr>
        <p:spPr>
          <a:xfrm>
            <a:off x="566928"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User guide</a:t>
            </a:r>
          </a:p>
        </p:txBody>
      </p:sp>
      <p:sp>
        <p:nvSpPr>
          <p:cNvPr id="11" name="TextBox 10"/>
          <p:cNvSpPr txBox="1"/>
          <p:nvPr/>
        </p:nvSpPr>
        <p:spPr>
          <a:xfrm>
            <a:off x="694944"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README.md and BookOfTlamatini.md explain Mic settings, recording, cancellation and both modes.</a:t>
            </a:r>
          </a:p>
        </p:txBody>
      </p:sp>
      <p:sp>
        <p:nvSpPr>
          <p:cNvPr id="12" name="Rounded Rectangle 11"/>
          <p:cNvSpPr/>
          <p:nvPr/>
        </p:nvSpPr>
        <p:spPr>
          <a:xfrm>
            <a:off x="6196431" y="2084831"/>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6361023"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324447" y="2304287"/>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Runtime contract</a:t>
            </a:r>
          </a:p>
        </p:txBody>
      </p:sp>
      <p:sp>
        <p:nvSpPr>
          <p:cNvPr id="15" name="TextBox 14"/>
          <p:cNvSpPr txBox="1"/>
          <p:nvPr/>
        </p:nvSpPr>
        <p:spPr>
          <a:xfrm>
            <a:off x="6324447" y="2657855"/>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docs/chat-microphone-design.md records ownership, protocol, configuration and limits.</a:t>
            </a:r>
          </a:p>
        </p:txBody>
      </p:sp>
      <p:sp>
        <p:nvSpPr>
          <p:cNvPr id="16" name="Rounded Rectangle 15"/>
          <p:cNvSpPr/>
          <p:nvPr/>
        </p:nvSpPr>
        <p:spPr>
          <a:xfrm>
            <a:off x="566928"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731520" y="4370832"/>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4944"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Dependencies</a:t>
            </a:r>
          </a:p>
        </p:txBody>
      </p:sp>
      <p:sp>
        <p:nvSpPr>
          <p:cNvPr id="19" name="TextBox 18"/>
          <p:cNvSpPr txBox="1"/>
          <p:nvPr/>
        </p:nvSpPr>
        <p:spPr>
          <a:xfrm>
            <a:off x="694944"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docs/dependency-coverage-audit.md records declarations, isolation and verification.</a:t>
            </a:r>
          </a:p>
        </p:txBody>
      </p:sp>
      <p:sp>
        <p:nvSpPr>
          <p:cNvPr id="20" name="Rounded Rectangle 19"/>
          <p:cNvSpPr/>
          <p:nvPr/>
        </p:nvSpPr>
        <p:spPr>
          <a:xfrm>
            <a:off x="6196431" y="4242816"/>
            <a:ext cx="5428335"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6361023"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324447" y="4462272"/>
            <a:ext cx="5172303"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Delivery</a:t>
            </a:r>
          </a:p>
        </p:txBody>
      </p:sp>
      <p:sp>
        <p:nvSpPr>
          <p:cNvPr id="23" name="TextBox 22"/>
          <p:cNvSpPr txBox="1"/>
          <p:nvPr/>
        </p:nvSpPr>
        <p:spPr>
          <a:xfrm>
            <a:off x="6324447" y="4815840"/>
            <a:ext cx="5172303"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Published as v1.72.0 and carried by v1.72.1, with the root-asset carrier repair.</a:t>
            </a:r>
          </a:p>
        </p:txBody>
      </p:sp>
      <p:cxnSp>
        <p:nvCxnSpPr>
          <p:cNvPr id="24" name="Connector 2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26" name="TextBox 2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CARRIED RELEASE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v1.70.0: the Prompt Flow Panel</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Version 1.70.0 is about designing conversations and editing flows with the same ease.</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Prompt Flow Panel</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Seven operations, </a:t>
            </a:r>
            <a:r>
              <a:rPr sz="1200" b="0" i="0">
                <a:solidFill>
                  <a:srgbClr val="E2B462"/>
                </a:solidFill>
                <a:latin typeface="Consolas"/>
              </a:rPr>
              <a:t>.fpmt</a:t>
            </a:r>
            <a:r>
              <a:rPr sz="1300" b="0" i="0">
                <a:solidFill>
                  <a:srgbClr val="A7B2B0"/>
                </a:solidFill>
                <a:latin typeface="Segoe UI"/>
              </a:rPr>
              <a:t> files, validated playback, isolated runs.</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Panels and Config</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canvases live under Panels; every Configure dialog under Config.</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A real editor</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Undo and Redo, Duplicate with settings, zoom, Fit, agent search, Help.</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Shared mechanics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Both canvases connect, drag, select and zoom the same way.</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Busy-safe menus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Panels stays usable while she answers; one path re-arms the menus.</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Context line carried</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The context meter, Context Governor and context gauge of v1.65.</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159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LINEAGE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How the line arrived here</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Recent tags, oldest first, read from Git.</a:t>
            </a:r>
          </a:p>
        </p:txBody>
      </p:sp>
      <p:cxnSp>
        <p:nvCxnSpPr>
          <p:cNvPr id="8" name="Connector 7"/>
          <p:cNvCxnSpPr/>
          <p:nvPr/>
        </p:nvCxnSpPr>
        <p:spPr>
          <a:xfrm>
            <a:off x="1956816" y="2519172"/>
            <a:ext cx="0" cy="502919"/>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9" name="Diamond 8"/>
          <p:cNvSpPr/>
          <p:nvPr/>
        </p:nvSpPr>
        <p:spPr>
          <a:xfrm>
            <a:off x="1883664" y="23545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66928" y="21031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2026-10-12</a:t>
            </a:r>
          </a:p>
        </p:txBody>
      </p:sp>
      <p:sp>
        <p:nvSpPr>
          <p:cNvPr id="11" name="TextBox 10"/>
          <p:cNvSpPr txBox="1"/>
          <p:nvPr/>
        </p:nvSpPr>
        <p:spPr>
          <a:xfrm>
            <a:off x="2139696" y="21031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v1.82.0</a:t>
            </a:r>
          </a:p>
        </p:txBody>
      </p:sp>
      <p:sp>
        <p:nvSpPr>
          <p:cNvPr id="12" name="TextBox 11"/>
          <p:cNvSpPr txBox="1"/>
          <p:nvPr/>
        </p:nvSpPr>
        <p:spPr>
          <a:xfrm>
            <a:off x="3310128" y="21031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v1.82.0 Installation/Uninstallation mechanisms: way too improved!.</a:t>
            </a:r>
          </a:p>
        </p:txBody>
      </p:sp>
      <p:cxnSp>
        <p:nvCxnSpPr>
          <p:cNvPr id="13" name="Connector 12"/>
          <p:cNvCxnSpPr/>
          <p:nvPr/>
        </p:nvCxnSpPr>
        <p:spPr>
          <a:xfrm>
            <a:off x="1956816" y="3204972"/>
            <a:ext cx="0" cy="502919"/>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14" name="Diamond 13"/>
          <p:cNvSpPr/>
          <p:nvPr/>
        </p:nvSpPr>
        <p:spPr>
          <a:xfrm>
            <a:off x="1883664" y="30403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66928" y="27889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2026-10-14</a:t>
            </a:r>
          </a:p>
        </p:txBody>
      </p:sp>
      <p:sp>
        <p:nvSpPr>
          <p:cNvPr id="16" name="TextBox 15"/>
          <p:cNvSpPr txBox="1"/>
          <p:nvPr/>
        </p:nvSpPr>
        <p:spPr>
          <a:xfrm>
            <a:off x="2139696" y="27889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v1.83.0</a:t>
            </a:r>
          </a:p>
        </p:txBody>
      </p:sp>
      <p:sp>
        <p:nvSpPr>
          <p:cNvPr id="17" name="TextBox 16"/>
          <p:cNvSpPr txBox="1"/>
          <p:nvPr/>
        </p:nvSpPr>
        <p:spPr>
          <a:xfrm>
            <a:off x="3310128" y="2788920"/>
            <a:ext cx="2557119" cy="649224"/>
          </a:xfrm>
          <a:prstGeom prst="rect">
            <a:avLst/>
          </a:prstGeom>
          <a:noFill/>
        </p:spPr>
        <p:txBody>
          <a:bodyPr wrap="square" lIns="45720" rIns="45720" tIns="27432" bIns="27432" anchor="ctr">
            <a:noAutofit/>
          </a:bodyPr>
          <a:lstStyle/>
          <a:p>
            <a:pPr algn="l">
              <a:lnSpc>
                <a:spcPct val="100000"/>
              </a:lnSpc>
            </a:pPr>
            <a:r>
              <a:rPr sz="750" b="0" i="0">
                <a:solidFill>
                  <a:srgbClr val="A7B2B0"/>
                </a:solidFill>
                <a:latin typeface="Segoe UI"/>
              </a:rPr>
              <a:t>Release v1.83.0 A smart file-drop router for every page: each dropped file is recognised by its bytes and sent to its own mechanism, so an MCP .json imports everywhere and never errors, opens as text or navigates away.</a:t>
            </a:r>
          </a:p>
        </p:txBody>
      </p:sp>
      <p:cxnSp>
        <p:nvCxnSpPr>
          <p:cNvPr id="18" name="Connector 17"/>
          <p:cNvCxnSpPr/>
          <p:nvPr/>
        </p:nvCxnSpPr>
        <p:spPr>
          <a:xfrm>
            <a:off x="1956816" y="38907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19" name="Diamond 18"/>
          <p:cNvSpPr/>
          <p:nvPr/>
        </p:nvSpPr>
        <p:spPr>
          <a:xfrm>
            <a:off x="1883664" y="37261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566928" y="34747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2026-10-15</a:t>
            </a:r>
          </a:p>
        </p:txBody>
      </p:sp>
      <p:sp>
        <p:nvSpPr>
          <p:cNvPr id="21" name="TextBox 20"/>
          <p:cNvSpPr txBox="1"/>
          <p:nvPr/>
        </p:nvSpPr>
        <p:spPr>
          <a:xfrm>
            <a:off x="2139696" y="34747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v1.84.0</a:t>
            </a:r>
          </a:p>
        </p:txBody>
      </p:sp>
      <p:sp>
        <p:nvSpPr>
          <p:cNvPr id="22" name="TextBox 21"/>
          <p:cNvSpPr txBox="1"/>
          <p:nvPr/>
        </p:nvSpPr>
        <p:spPr>
          <a:xfrm>
            <a:off x="3310128" y="34747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v1.84.0 Button Reopen refactored to Refresh and omtomized as-is.</a:t>
            </a:r>
          </a:p>
        </p:txBody>
      </p:sp>
      <p:cxnSp>
        <p:nvCxnSpPr>
          <p:cNvPr id="23" name="Connector 22"/>
          <p:cNvCxnSpPr/>
          <p:nvPr/>
        </p:nvCxnSpPr>
        <p:spPr>
          <a:xfrm>
            <a:off x="1956816" y="45765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24" name="Diamond 23"/>
          <p:cNvSpPr/>
          <p:nvPr/>
        </p:nvSpPr>
        <p:spPr>
          <a:xfrm>
            <a:off x="1883664" y="44119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66928" y="41605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2026-10-16</a:t>
            </a:r>
          </a:p>
        </p:txBody>
      </p:sp>
      <p:sp>
        <p:nvSpPr>
          <p:cNvPr id="26" name="TextBox 25"/>
          <p:cNvSpPr txBox="1"/>
          <p:nvPr/>
        </p:nvSpPr>
        <p:spPr>
          <a:xfrm>
            <a:off x="2139696" y="41605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v1.85.0</a:t>
            </a:r>
          </a:p>
        </p:txBody>
      </p:sp>
      <p:sp>
        <p:nvSpPr>
          <p:cNvPr id="27" name="TextBox 26"/>
          <p:cNvSpPr txBox="1"/>
          <p:nvPr/>
        </p:nvSpPr>
        <p:spPr>
          <a:xfrm>
            <a:off x="3310128" y="4160519"/>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v1.85.0 Improved canvas visibility introducing views modify behavior.</a:t>
            </a:r>
          </a:p>
        </p:txBody>
      </p:sp>
      <p:cxnSp>
        <p:nvCxnSpPr>
          <p:cNvPr id="28" name="Connector 27"/>
          <p:cNvCxnSpPr/>
          <p:nvPr/>
        </p:nvCxnSpPr>
        <p:spPr>
          <a:xfrm>
            <a:off x="1956816" y="52623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29" name="Diamond 28"/>
          <p:cNvSpPr/>
          <p:nvPr/>
        </p:nvSpPr>
        <p:spPr>
          <a:xfrm>
            <a:off x="1883664" y="50977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566928" y="48463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2026-10-17</a:t>
            </a:r>
          </a:p>
        </p:txBody>
      </p:sp>
      <p:sp>
        <p:nvSpPr>
          <p:cNvPr id="31" name="TextBox 30"/>
          <p:cNvSpPr txBox="1"/>
          <p:nvPr/>
        </p:nvSpPr>
        <p:spPr>
          <a:xfrm>
            <a:off x="2139696" y="48463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v1.86.0</a:t>
            </a:r>
          </a:p>
        </p:txBody>
      </p:sp>
      <p:sp>
        <p:nvSpPr>
          <p:cNvPr id="32" name="TextBox 31"/>
          <p:cNvSpPr txBox="1"/>
          <p:nvPr/>
        </p:nvSpPr>
        <p:spPr>
          <a:xfrm>
            <a:off x="3310128" y="4846319"/>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v1.86.0 Fixing Mover: a new folder name is created as a folder, not a file.</a:t>
            </a:r>
          </a:p>
        </p:txBody>
      </p:sp>
      <p:sp>
        <p:nvSpPr>
          <p:cNvPr id="33" name="Diamond 32"/>
          <p:cNvSpPr/>
          <p:nvPr/>
        </p:nvSpPr>
        <p:spPr>
          <a:xfrm>
            <a:off x="1883664" y="57835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66928" y="55321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2026-10-18</a:t>
            </a:r>
          </a:p>
        </p:txBody>
      </p:sp>
      <p:sp>
        <p:nvSpPr>
          <p:cNvPr id="35" name="TextBox 34"/>
          <p:cNvSpPr txBox="1"/>
          <p:nvPr/>
        </p:nvSpPr>
        <p:spPr>
          <a:xfrm>
            <a:off x="2139696" y="55321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v1.87.0</a:t>
            </a:r>
          </a:p>
        </p:txBody>
      </p:sp>
      <p:sp>
        <p:nvSpPr>
          <p:cNvPr id="36" name="TextBox 35"/>
          <p:cNvSpPr txBox="1"/>
          <p:nvPr/>
        </p:nvSpPr>
        <p:spPr>
          <a:xfrm>
            <a:off x="3310128" y="5532119"/>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v1.87.0 Improving the uninstaller, the space taken, and the ollama usage..</a:t>
            </a:r>
          </a:p>
        </p:txBody>
      </p:sp>
      <p:cxnSp>
        <p:nvCxnSpPr>
          <p:cNvPr id="37" name="Connector 36"/>
          <p:cNvCxnSpPr/>
          <p:nvPr/>
        </p:nvCxnSpPr>
        <p:spPr>
          <a:xfrm>
            <a:off x="7714335" y="2519172"/>
            <a:ext cx="0" cy="502919"/>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38" name="Diamond 37"/>
          <p:cNvSpPr/>
          <p:nvPr/>
        </p:nvSpPr>
        <p:spPr>
          <a:xfrm>
            <a:off x="7641183" y="23545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6324447" y="21031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2026-10-20</a:t>
            </a:r>
          </a:p>
        </p:txBody>
      </p:sp>
      <p:sp>
        <p:nvSpPr>
          <p:cNvPr id="40" name="TextBox 39"/>
          <p:cNvSpPr txBox="1"/>
          <p:nvPr/>
        </p:nvSpPr>
        <p:spPr>
          <a:xfrm>
            <a:off x="7897215" y="21031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v1.88.0</a:t>
            </a:r>
          </a:p>
        </p:txBody>
      </p:sp>
      <p:sp>
        <p:nvSpPr>
          <p:cNvPr id="41" name="TextBox 40"/>
          <p:cNvSpPr txBox="1"/>
          <p:nvPr/>
        </p:nvSpPr>
        <p:spPr>
          <a:xfrm>
            <a:off x="9067647" y="21031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v1.88.0 Terminater tightly coupled to Tlamatini, redically empowering Tlammatini.</a:t>
            </a:r>
          </a:p>
        </p:txBody>
      </p:sp>
      <p:cxnSp>
        <p:nvCxnSpPr>
          <p:cNvPr id="42" name="Connector 41"/>
          <p:cNvCxnSpPr/>
          <p:nvPr/>
        </p:nvCxnSpPr>
        <p:spPr>
          <a:xfrm>
            <a:off x="7714335" y="3204972"/>
            <a:ext cx="0" cy="502919"/>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43" name="Diamond 42"/>
          <p:cNvSpPr/>
          <p:nvPr/>
        </p:nvSpPr>
        <p:spPr>
          <a:xfrm>
            <a:off x="7641183" y="30403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6324447" y="27889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2026-10-21</a:t>
            </a:r>
          </a:p>
        </p:txBody>
      </p:sp>
      <p:sp>
        <p:nvSpPr>
          <p:cNvPr id="45" name="TextBox 44"/>
          <p:cNvSpPr txBox="1"/>
          <p:nvPr/>
        </p:nvSpPr>
        <p:spPr>
          <a:xfrm>
            <a:off x="7897215" y="27889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v1.89.0</a:t>
            </a:r>
          </a:p>
        </p:txBody>
      </p:sp>
      <p:sp>
        <p:nvSpPr>
          <p:cNvPr id="46" name="TextBox 45"/>
          <p:cNvSpPr txBox="1"/>
          <p:nvPr/>
        </p:nvSpPr>
        <p:spPr>
          <a:xfrm>
            <a:off x="9067647" y="27889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v1.89.0 Enabling Tlamatini's GUI the edition of files in canvas.</a:t>
            </a:r>
          </a:p>
        </p:txBody>
      </p:sp>
      <p:cxnSp>
        <p:nvCxnSpPr>
          <p:cNvPr id="47" name="Connector 46"/>
          <p:cNvCxnSpPr/>
          <p:nvPr/>
        </p:nvCxnSpPr>
        <p:spPr>
          <a:xfrm>
            <a:off x="7714335" y="38907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48" name="Diamond 47"/>
          <p:cNvSpPr/>
          <p:nvPr/>
        </p:nvSpPr>
        <p:spPr>
          <a:xfrm>
            <a:off x="7641183" y="37261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324447" y="3474720"/>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2026-10-22</a:t>
            </a:r>
          </a:p>
        </p:txBody>
      </p:sp>
      <p:sp>
        <p:nvSpPr>
          <p:cNvPr id="50" name="TextBox 49"/>
          <p:cNvSpPr txBox="1"/>
          <p:nvPr/>
        </p:nvSpPr>
        <p:spPr>
          <a:xfrm>
            <a:off x="7897215" y="3474720"/>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v1.90.0</a:t>
            </a:r>
          </a:p>
        </p:txBody>
      </p:sp>
      <p:sp>
        <p:nvSpPr>
          <p:cNvPr id="51" name="TextBox 50"/>
          <p:cNvSpPr txBox="1"/>
          <p:nvPr/>
        </p:nvSpPr>
        <p:spPr>
          <a:xfrm>
            <a:off x="9067647" y="3474720"/>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v1.90.0 Fine-tunning Tlamatini on Interactor and Terminater.</a:t>
            </a:r>
          </a:p>
        </p:txBody>
      </p:sp>
      <p:cxnSp>
        <p:nvCxnSpPr>
          <p:cNvPr id="52" name="Connector 51"/>
          <p:cNvCxnSpPr/>
          <p:nvPr/>
        </p:nvCxnSpPr>
        <p:spPr>
          <a:xfrm>
            <a:off x="7714335" y="45765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53" name="Diamond 52"/>
          <p:cNvSpPr/>
          <p:nvPr/>
        </p:nvSpPr>
        <p:spPr>
          <a:xfrm>
            <a:off x="7641183" y="44119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324447" y="41605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2026-10-23</a:t>
            </a:r>
          </a:p>
        </p:txBody>
      </p:sp>
      <p:sp>
        <p:nvSpPr>
          <p:cNvPr id="55" name="TextBox 54"/>
          <p:cNvSpPr txBox="1"/>
          <p:nvPr/>
        </p:nvSpPr>
        <p:spPr>
          <a:xfrm>
            <a:off x="7897215" y="41605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v1.91.0</a:t>
            </a:r>
          </a:p>
        </p:txBody>
      </p:sp>
      <p:sp>
        <p:nvSpPr>
          <p:cNvPr id="56" name="TextBox 55"/>
          <p:cNvSpPr txBox="1"/>
          <p:nvPr/>
        </p:nvSpPr>
        <p:spPr>
          <a:xfrm>
            <a:off x="9067647" y="4160519"/>
            <a:ext cx="2557119" cy="649224"/>
          </a:xfrm>
          <a:prstGeom prst="rect">
            <a:avLst/>
          </a:prstGeom>
          <a:noFill/>
        </p:spPr>
        <p:txBody>
          <a:bodyPr wrap="square" lIns="45720" rIns="45720" tIns="27432" bIns="27432" anchor="ctr">
            <a:noAutofit/>
          </a:bodyPr>
          <a:lstStyle/>
          <a:p>
            <a:pPr algn="l">
              <a:lnSpc>
                <a:spcPct val="100000"/>
              </a:lnSpc>
            </a:pPr>
            <a:r>
              <a:rPr sz="950" b="0" i="0">
                <a:solidFill>
                  <a:srgbClr val="A7B2B0"/>
                </a:solidFill>
                <a:latin typeface="Segoe UI"/>
              </a:rPr>
              <a:t>Release v1.91.0 Implemented the configuration menu entry and all the mechnism to configure the Live Editor &amp; Terminater parameters for Tlamatini's GUI.</a:t>
            </a:r>
          </a:p>
        </p:txBody>
      </p:sp>
      <p:cxnSp>
        <p:nvCxnSpPr>
          <p:cNvPr id="57" name="Connector 56"/>
          <p:cNvCxnSpPr/>
          <p:nvPr/>
        </p:nvCxnSpPr>
        <p:spPr>
          <a:xfrm>
            <a:off x="7714335" y="5262371"/>
            <a:ext cx="0" cy="502921"/>
          </a:xfrm>
          <a:prstGeom prst="line">
            <a:avLst/>
          </a:prstGeom>
          <a:ln w="15240">
            <a:solidFill>
              <a:srgbClr val="C98457"/>
            </a:solidFill>
          </a:ln>
        </p:spPr>
        <p:style>
          <a:lnRef idx="2">
            <a:schemeClr val="accent1"/>
          </a:lnRef>
          <a:fillRef idx="0">
            <a:schemeClr val="accent1"/>
          </a:fillRef>
          <a:effectRef idx="1">
            <a:schemeClr val="accent1"/>
          </a:effectRef>
          <a:fontRef idx="minor">
            <a:schemeClr val="tx1"/>
          </a:fontRef>
        </p:style>
      </p:cxnSp>
      <p:sp>
        <p:nvSpPr>
          <p:cNvPr id="58" name="Diamond 57"/>
          <p:cNvSpPr/>
          <p:nvPr/>
        </p:nvSpPr>
        <p:spPr>
          <a:xfrm>
            <a:off x="7641183" y="5097779"/>
            <a:ext cx="146304" cy="14630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9" name="TextBox 58"/>
          <p:cNvSpPr txBox="1"/>
          <p:nvPr/>
        </p:nvSpPr>
        <p:spPr>
          <a:xfrm>
            <a:off x="6324447" y="48463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2026-10-27</a:t>
            </a:r>
          </a:p>
        </p:txBody>
      </p:sp>
      <p:sp>
        <p:nvSpPr>
          <p:cNvPr id="60" name="TextBox 59"/>
          <p:cNvSpPr txBox="1"/>
          <p:nvPr/>
        </p:nvSpPr>
        <p:spPr>
          <a:xfrm>
            <a:off x="7897215" y="48463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F7F2E8"/>
                </a:solidFill>
                <a:latin typeface="Palatino Linotype"/>
              </a:rPr>
              <a:t>v1.8.2</a:t>
            </a:r>
          </a:p>
        </p:txBody>
      </p:sp>
      <p:sp>
        <p:nvSpPr>
          <p:cNvPr id="61" name="TextBox 60"/>
          <p:cNvSpPr txBox="1"/>
          <p:nvPr/>
        </p:nvSpPr>
        <p:spPr>
          <a:xfrm>
            <a:off x="9067647" y="4846319"/>
            <a:ext cx="2557119"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Release v1.8.2 Im.</a:t>
            </a:r>
          </a:p>
        </p:txBody>
      </p:sp>
      <p:sp>
        <p:nvSpPr>
          <p:cNvPr id="62" name="Diamond 61"/>
          <p:cNvSpPr/>
          <p:nvPr/>
        </p:nvSpPr>
        <p:spPr>
          <a:xfrm>
            <a:off x="7641183" y="5783579"/>
            <a:ext cx="146304" cy="146304"/>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3" name="TextBox 62"/>
          <p:cNvSpPr txBox="1"/>
          <p:nvPr/>
        </p:nvSpPr>
        <p:spPr>
          <a:xfrm>
            <a:off x="6324447" y="5532119"/>
            <a:ext cx="1243584" cy="649224"/>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Consolas"/>
              </a:rPr>
              <a:t>2026-10-27</a:t>
            </a:r>
          </a:p>
        </p:txBody>
      </p:sp>
      <p:sp>
        <p:nvSpPr>
          <p:cNvPr id="64" name="TextBox 63"/>
          <p:cNvSpPr txBox="1"/>
          <p:nvPr/>
        </p:nvSpPr>
        <p:spPr>
          <a:xfrm>
            <a:off x="7897215" y="5532119"/>
            <a:ext cx="1143000" cy="649224"/>
          </a:xfrm>
          <a:prstGeom prst="rect">
            <a:avLst/>
          </a:prstGeom>
          <a:noFill/>
        </p:spPr>
        <p:txBody>
          <a:bodyPr wrap="square" lIns="45720" rIns="45720" tIns="27432" bIns="27432" anchor="ctr">
            <a:noAutofit/>
          </a:bodyPr>
          <a:lstStyle/>
          <a:p>
            <a:pPr algn="l">
              <a:lnSpc>
                <a:spcPct val="100000"/>
              </a:lnSpc>
            </a:pPr>
            <a:r>
              <a:rPr sz="1600" b="1" i="0">
                <a:solidFill>
                  <a:srgbClr val="E2B462"/>
                </a:solidFill>
                <a:latin typeface="Palatino Linotype"/>
              </a:rPr>
              <a:t>v1.91.1</a:t>
            </a:r>
          </a:p>
        </p:txBody>
      </p:sp>
      <p:sp>
        <p:nvSpPr>
          <p:cNvPr id="65" name="TextBox 64"/>
          <p:cNvSpPr txBox="1"/>
          <p:nvPr/>
        </p:nvSpPr>
        <p:spPr>
          <a:xfrm>
            <a:off x="9067647" y="5532119"/>
            <a:ext cx="2557119" cy="649224"/>
          </a:xfrm>
          <a:prstGeom prst="rect">
            <a:avLst/>
          </a:prstGeom>
          <a:noFill/>
        </p:spPr>
        <p:txBody>
          <a:bodyPr wrap="square" lIns="45720" rIns="45720" tIns="27432" bIns="27432" anchor="ctr">
            <a:noAutofit/>
          </a:bodyPr>
          <a:lstStyle/>
          <a:p>
            <a:pPr algn="l">
              <a:lnSpc>
                <a:spcPct val="100000"/>
              </a:lnSpc>
            </a:pPr>
            <a:r>
              <a:rPr sz="950" b="0" i="0">
                <a:solidFill>
                  <a:srgbClr val="A7B2B0"/>
                </a:solidFill>
                <a:latin typeface="Segoe UI"/>
              </a:rPr>
              <a:t>Release v1.91.1 Fix on prompting flow correction with conversation_user_id, and answering handling, and some additional GUI fixes.</a:t>
            </a:r>
          </a:p>
        </p:txBody>
      </p:sp>
      <p:cxnSp>
        <p:nvCxnSpPr>
          <p:cNvPr id="66" name="Connector 6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68" name="TextBox 6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RELEASE IDENTITY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One released version: v1.91.1</a:t>
            </a:r>
          </a:p>
        </p:txBody>
      </p:sp>
      <p:sp>
        <p:nvSpPr>
          <p:cNvPr id="6" name="Rectangle 5"/>
          <p:cNvSpPr/>
          <p:nvPr/>
        </p:nvSpPr>
        <p:spPr>
          <a:xfrm>
            <a:off x="566928" y="1344168"/>
            <a:ext cx="822960" cy="36576"/>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application, user guides, PDF and PowerPoint all identify the same current release. The repository metadata records the implementation inspected for this dossier.</a:t>
            </a:r>
          </a:p>
        </p:txBody>
      </p:sp>
      <p:sp>
        <p:nvSpPr>
          <p:cNvPr id="8" name="Rounded Rectangle 7"/>
          <p:cNvSpPr/>
          <p:nvPr/>
        </p:nvSpPr>
        <p:spPr>
          <a:xfrm>
            <a:off x="566928" y="2084831"/>
            <a:ext cx="5212080"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Diamond 8"/>
          <p:cNvSpPr/>
          <p:nvPr/>
        </p:nvSpPr>
        <p:spPr>
          <a:xfrm>
            <a:off x="768096" y="2663952"/>
            <a:ext cx="128016" cy="128016"/>
          </a:xfrm>
          <a:prstGeom prst="diamond">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1024128" y="2139696"/>
            <a:ext cx="155448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Current release</a:t>
            </a:r>
          </a:p>
        </p:txBody>
      </p:sp>
      <p:sp>
        <p:nvSpPr>
          <p:cNvPr id="11" name="TextBox 10"/>
          <p:cNvSpPr txBox="1"/>
          <p:nvPr/>
        </p:nvSpPr>
        <p:spPr>
          <a:xfrm>
            <a:off x="2670048" y="2139696"/>
            <a:ext cx="2971800"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v1.91.1</a:t>
            </a:r>
          </a:p>
        </p:txBody>
      </p:sp>
      <p:sp>
        <p:nvSpPr>
          <p:cNvPr id="12" name="Rounded Rectangle 11"/>
          <p:cNvSpPr/>
          <p:nvPr/>
        </p:nvSpPr>
        <p:spPr>
          <a:xfrm>
            <a:off x="566928" y="3499103"/>
            <a:ext cx="5212080"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Diamond 12"/>
          <p:cNvSpPr/>
          <p:nvPr/>
        </p:nvSpPr>
        <p:spPr>
          <a:xfrm>
            <a:off x="768096" y="4078223"/>
            <a:ext cx="128016" cy="128016"/>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1024128" y="3553967"/>
            <a:ext cx="155448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Audit commit</a:t>
            </a:r>
          </a:p>
        </p:txBody>
      </p:sp>
      <p:sp>
        <p:nvSpPr>
          <p:cNvPr id="15" name="TextBox 14"/>
          <p:cNvSpPr txBox="1"/>
          <p:nvPr/>
        </p:nvSpPr>
        <p:spPr>
          <a:xfrm>
            <a:off x="2670048" y="3553967"/>
            <a:ext cx="2971800"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9915938a</a:t>
            </a:r>
          </a:p>
        </p:txBody>
      </p:sp>
      <p:sp>
        <p:nvSpPr>
          <p:cNvPr id="16" name="Rounded Rectangle 15"/>
          <p:cNvSpPr/>
          <p:nvPr/>
        </p:nvSpPr>
        <p:spPr>
          <a:xfrm>
            <a:off x="566928" y="4913376"/>
            <a:ext cx="5212080" cy="1286255"/>
          </a:xfrm>
          <a:prstGeom prst="roundRect">
            <a:avLst>
              <a:gd name="adj" fmla="val 7109"/>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Diamond 16"/>
          <p:cNvSpPr/>
          <p:nvPr/>
        </p:nvSpPr>
        <p:spPr>
          <a:xfrm>
            <a:off x="768096" y="5492495"/>
            <a:ext cx="128016" cy="128016"/>
          </a:xfrm>
          <a:prstGeom prst="diamond">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024128" y="4968239"/>
            <a:ext cx="1554480" cy="1176528"/>
          </a:xfrm>
          <a:prstGeom prst="rect">
            <a:avLst/>
          </a:prstGeom>
          <a:noFill/>
        </p:spPr>
        <p:txBody>
          <a:bodyPr wrap="square" lIns="45720" rIns="45720" tIns="27432" bIns="27432" anchor="ctr">
            <a:noAutofit/>
          </a:bodyPr>
          <a:lstStyle/>
          <a:p>
            <a:pPr algn="l">
              <a:lnSpc>
                <a:spcPct val="100000"/>
              </a:lnSpc>
            </a:pPr>
            <a:r>
              <a:rPr sz="1600" b="0" i="0">
                <a:solidFill>
                  <a:srgbClr val="F7F2E8"/>
                </a:solidFill>
                <a:latin typeface="Segoe UI Semibold"/>
              </a:rPr>
              <a:t>Runtime version</a:t>
            </a:r>
          </a:p>
        </p:txBody>
      </p:sp>
      <p:sp>
        <p:nvSpPr>
          <p:cNvPr id="19" name="TextBox 18"/>
          <p:cNvSpPr txBox="1"/>
          <p:nvPr/>
        </p:nvSpPr>
        <p:spPr>
          <a:xfrm>
            <a:off x="2670048" y="4968239"/>
            <a:ext cx="2971800" cy="1176528"/>
          </a:xfrm>
          <a:prstGeom prst="rect">
            <a:avLst/>
          </a:prstGeom>
          <a:noFill/>
        </p:spPr>
        <p:txBody>
          <a:bodyPr wrap="square" lIns="45720" rIns="45720" tIns="27432" bIns="27432" anchor="ctr">
            <a:noAutofit/>
          </a:bodyPr>
          <a:lstStyle/>
          <a:p>
            <a:pPr algn="l">
              <a:lnSpc>
                <a:spcPct val="100000"/>
              </a:lnSpc>
            </a:pPr>
            <a:r>
              <a:rPr sz="1400" b="0" i="0">
                <a:solidFill>
                  <a:srgbClr val="A7B2B0"/>
                </a:solidFill>
                <a:latin typeface="Segoe UI"/>
              </a:rPr>
              <a:t>1.91.1</a:t>
            </a:r>
          </a:p>
        </p:txBody>
      </p:sp>
      <p:sp>
        <p:nvSpPr>
          <p:cNvPr id="20" name="Rounded Rectangle 19"/>
          <p:cNvSpPr/>
          <p:nvPr/>
        </p:nvSpPr>
        <p:spPr>
          <a:xfrm>
            <a:off x="6144768" y="2084831"/>
            <a:ext cx="5479999" cy="2029967"/>
          </a:xfrm>
          <a:prstGeom prst="roundRect">
            <a:avLst>
              <a:gd name="adj" fmla="val 3603"/>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144768" y="2084831"/>
            <a:ext cx="547999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217920" y="2121408"/>
            <a:ext cx="20456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FACT</a:t>
            </a:r>
          </a:p>
        </p:txBody>
      </p:sp>
      <p:sp>
        <p:nvSpPr>
          <p:cNvPr id="23" name="TextBox 22"/>
          <p:cNvSpPr txBox="1"/>
          <p:nvPr/>
        </p:nvSpPr>
        <p:spPr>
          <a:xfrm>
            <a:off x="8409919" y="2121408"/>
            <a:ext cx="314169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VALUE</a:t>
            </a:r>
          </a:p>
        </p:txBody>
      </p:sp>
      <p:sp>
        <p:nvSpPr>
          <p:cNvPr id="24" name="TextBox 23"/>
          <p:cNvSpPr txBox="1"/>
          <p:nvPr/>
        </p:nvSpPr>
        <p:spPr>
          <a:xfrm>
            <a:off x="6217920" y="2505456"/>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Current release</a:t>
            </a:r>
          </a:p>
        </p:txBody>
      </p:sp>
      <p:sp>
        <p:nvSpPr>
          <p:cNvPr id="25" name="TextBox 24"/>
          <p:cNvSpPr txBox="1"/>
          <p:nvPr/>
        </p:nvSpPr>
        <p:spPr>
          <a:xfrm>
            <a:off x="8409919" y="2505456"/>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v1.91.1</a:t>
            </a:r>
          </a:p>
        </p:txBody>
      </p:sp>
      <p:sp>
        <p:nvSpPr>
          <p:cNvPr id="26" name="Rectangle 25"/>
          <p:cNvSpPr/>
          <p:nvPr/>
        </p:nvSpPr>
        <p:spPr>
          <a:xfrm>
            <a:off x="6163056" y="2798063"/>
            <a:ext cx="5443423" cy="32918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217920" y="2834639"/>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Runtime version</a:t>
            </a:r>
          </a:p>
        </p:txBody>
      </p:sp>
      <p:sp>
        <p:nvSpPr>
          <p:cNvPr id="28" name="TextBox 27"/>
          <p:cNvSpPr txBox="1"/>
          <p:nvPr/>
        </p:nvSpPr>
        <p:spPr>
          <a:xfrm>
            <a:off x="8409919" y="2834639"/>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1.91.1</a:t>
            </a:r>
          </a:p>
        </p:txBody>
      </p:sp>
      <p:sp>
        <p:nvSpPr>
          <p:cNvPr id="29" name="TextBox 28"/>
          <p:cNvSpPr txBox="1"/>
          <p:nvPr/>
        </p:nvSpPr>
        <p:spPr>
          <a:xfrm>
            <a:off x="6217920" y="3163823"/>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Existing annotated tag</a:t>
            </a:r>
          </a:p>
        </p:txBody>
      </p:sp>
      <p:sp>
        <p:nvSpPr>
          <p:cNvPr id="30" name="TextBox 29"/>
          <p:cNvSpPr txBox="1"/>
          <p:nvPr/>
        </p:nvSpPr>
        <p:spPr>
          <a:xfrm>
            <a:off x="8409919" y="3163823"/>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v1.91.1 → 9915938a (2026-10-27)</a:t>
            </a:r>
          </a:p>
        </p:txBody>
      </p:sp>
      <p:sp>
        <p:nvSpPr>
          <p:cNvPr id="31" name="Rectangle 30"/>
          <p:cNvSpPr/>
          <p:nvPr/>
        </p:nvSpPr>
        <p:spPr>
          <a:xfrm>
            <a:off x="6163056" y="3456431"/>
            <a:ext cx="5443423" cy="32918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217920" y="3493007"/>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Inspected commit</a:t>
            </a:r>
          </a:p>
        </p:txBody>
      </p:sp>
      <p:sp>
        <p:nvSpPr>
          <p:cNvPr id="33" name="TextBox 32"/>
          <p:cNvSpPr txBox="1"/>
          <p:nvPr/>
        </p:nvSpPr>
        <p:spPr>
          <a:xfrm>
            <a:off x="8409919" y="3493007"/>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9915938a</a:t>
            </a:r>
          </a:p>
        </p:txBody>
      </p:sp>
      <p:sp>
        <p:nvSpPr>
          <p:cNvPr id="34" name="TextBox 33"/>
          <p:cNvSpPr txBox="1"/>
          <p:nvPr/>
        </p:nvSpPr>
        <p:spPr>
          <a:xfrm>
            <a:off x="6217920" y="3822191"/>
            <a:ext cx="2045695" cy="256031"/>
          </a:xfrm>
          <a:prstGeom prst="rect">
            <a:avLst/>
          </a:prstGeom>
          <a:noFill/>
        </p:spPr>
        <p:txBody>
          <a:bodyPr wrap="square" lIns="45720" rIns="45720" tIns="27432" bIns="27432" anchor="ctr">
            <a:noAutofit/>
          </a:bodyPr>
          <a:lstStyle/>
          <a:p>
            <a:pPr algn="l">
              <a:lnSpc>
                <a:spcPct val="100000"/>
              </a:lnSpc>
            </a:pPr>
            <a:r>
              <a:rPr sz="1200" b="0" i="0">
                <a:solidFill>
                  <a:srgbClr val="F7F2E8"/>
                </a:solidFill>
                <a:latin typeface="Segoe UI Semibold"/>
              </a:rPr>
              <a:t>Tag on remote</a:t>
            </a:r>
          </a:p>
        </p:txBody>
      </p:sp>
      <p:sp>
        <p:nvSpPr>
          <p:cNvPr id="35" name="TextBox 34"/>
          <p:cNvSpPr txBox="1"/>
          <p:nvPr/>
        </p:nvSpPr>
        <p:spPr>
          <a:xfrm>
            <a:off x="8409919" y="3822191"/>
            <a:ext cx="3141695" cy="256031"/>
          </a:xfrm>
          <a:prstGeom prst="rect">
            <a:avLst/>
          </a:prstGeom>
          <a:noFill/>
        </p:spPr>
        <p:txBody>
          <a:bodyPr wrap="square" lIns="45720" rIns="45720" tIns="27432" bIns="27432" anchor="ctr">
            <a:noAutofit/>
          </a:bodyPr>
          <a:lstStyle/>
          <a:p>
            <a:pPr algn="l">
              <a:lnSpc>
                <a:spcPct val="100000"/>
              </a:lnSpc>
            </a:pPr>
            <a:r>
              <a:rPr sz="1200" b="0" i="0">
                <a:solidFill>
                  <a:srgbClr val="A7B2B0"/>
                </a:solidFill>
                <a:latin typeface="Segoe UI"/>
              </a:rPr>
              <a:t>Yes</a:t>
            </a:r>
          </a:p>
        </p:txBody>
      </p:sp>
      <p:cxnSp>
        <p:nvCxnSpPr>
          <p:cNvPr id="36" name="Connector 3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VIII · CURRENT RELEASE</a:t>
            </a:r>
          </a:p>
        </p:txBody>
      </p:sp>
      <p:sp>
        <p:nvSpPr>
          <p:cNvPr id="38" name="TextBox 3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C98457"/>
                </a:solidFill>
                <a:latin typeface="Segoe UI Semibold"/>
              </a:rPr>
              <a:t>CHAPTER</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IX</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Repository Facts</a:t>
            </a:r>
          </a:p>
        </p:txBody>
      </p:sp>
      <p:sp>
        <p:nvSpPr>
          <p:cNvPr id="6" name="Rectangle 5"/>
          <p:cNvSpPr/>
          <p:nvPr/>
        </p:nvSpPr>
        <p:spPr>
          <a:xfrm>
            <a:off x="841248" y="4315968"/>
            <a:ext cx="100584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The source tree measured: files, languages, effective lines, the largest files and recent history.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CHAPTER IX</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INVENTORY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repository in numbers  (1/2)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Counts come from Git and from the source files at the moment of generation.</a:t>
            </a:r>
          </a:p>
        </p:txBody>
      </p:sp>
      <p:sp>
        <p:nvSpPr>
          <p:cNvPr id="8" name="Rounded Rectangle 7"/>
          <p:cNvSpPr/>
          <p:nvPr/>
        </p:nvSpPr>
        <p:spPr>
          <a:xfrm>
            <a:off x="566928" y="2084831"/>
            <a:ext cx="11057839" cy="4059935"/>
          </a:xfrm>
          <a:prstGeom prst="roundRect">
            <a:avLst>
              <a:gd name="adj" fmla="val 180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4940302"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MEASURE</a:t>
            </a:r>
          </a:p>
        </p:txBody>
      </p:sp>
      <p:sp>
        <p:nvSpPr>
          <p:cNvPr id="11" name="TextBox 10"/>
          <p:cNvSpPr txBox="1"/>
          <p:nvPr/>
        </p:nvSpPr>
        <p:spPr>
          <a:xfrm>
            <a:off x="5726686" y="2121408"/>
            <a:ext cx="582492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VALUE</a:t>
            </a:r>
          </a:p>
        </p:txBody>
      </p:sp>
      <p:sp>
        <p:nvSpPr>
          <p:cNvPr id="12" name="TextBox 11"/>
          <p:cNvSpPr txBox="1"/>
          <p:nvPr/>
        </p:nvSpPr>
        <p:spPr>
          <a:xfrm>
            <a:off x="640080" y="2505456"/>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Inspected commit</a:t>
            </a:r>
          </a:p>
        </p:txBody>
      </p:sp>
      <p:sp>
        <p:nvSpPr>
          <p:cNvPr id="13" name="TextBox 12"/>
          <p:cNvSpPr txBox="1"/>
          <p:nvPr/>
        </p:nvSpPr>
        <p:spPr>
          <a:xfrm>
            <a:off x="5726686" y="2505456"/>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9915938a · 2026-10-27 · branch main</a:t>
            </a:r>
          </a:p>
        </p:txBody>
      </p:sp>
      <p:sp>
        <p:nvSpPr>
          <p:cNvPr id="14" name="Rectangle 13"/>
          <p:cNvSpPr/>
          <p:nvPr/>
        </p:nvSpPr>
        <p:spPr>
          <a:xfrm>
            <a:off x="585216" y="277520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2811779"/>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Version</a:t>
            </a:r>
          </a:p>
        </p:txBody>
      </p:sp>
      <p:sp>
        <p:nvSpPr>
          <p:cNvPr id="16" name="TextBox 15"/>
          <p:cNvSpPr txBox="1"/>
          <p:nvPr/>
        </p:nvSpPr>
        <p:spPr>
          <a:xfrm>
            <a:off x="5726686" y="2811779"/>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1.91.1</a:t>
            </a:r>
          </a:p>
        </p:txBody>
      </p:sp>
      <p:sp>
        <p:nvSpPr>
          <p:cNvPr id="17" name="TextBox 16"/>
          <p:cNvSpPr txBox="1"/>
          <p:nvPr/>
        </p:nvSpPr>
        <p:spPr>
          <a:xfrm>
            <a:off x="640080" y="3118103"/>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Tracked files</a:t>
            </a:r>
          </a:p>
        </p:txBody>
      </p:sp>
      <p:sp>
        <p:nvSpPr>
          <p:cNvPr id="18" name="TextBox 17"/>
          <p:cNvSpPr txBox="1"/>
          <p:nvPr/>
        </p:nvSpPr>
        <p:spPr>
          <a:xfrm>
            <a:off x="5726686" y="3118103"/>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1,829</a:t>
            </a:r>
          </a:p>
        </p:txBody>
      </p:sp>
      <p:sp>
        <p:nvSpPr>
          <p:cNvPr id="19" name="Rectangle 18"/>
          <p:cNvSpPr/>
          <p:nvPr/>
        </p:nvSpPr>
        <p:spPr>
          <a:xfrm>
            <a:off x="585216" y="3387851"/>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424427"/>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Unignored working-tree additions</a:t>
            </a:r>
          </a:p>
        </p:txBody>
      </p:sp>
      <p:sp>
        <p:nvSpPr>
          <p:cNvPr id="21" name="TextBox 20"/>
          <p:cNvSpPr txBox="1"/>
          <p:nvPr/>
        </p:nvSpPr>
        <p:spPr>
          <a:xfrm>
            <a:off x="5726686" y="3424427"/>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0</a:t>
            </a:r>
          </a:p>
        </p:txBody>
      </p:sp>
      <p:sp>
        <p:nvSpPr>
          <p:cNvPr id="22" name="TextBox 21"/>
          <p:cNvSpPr txBox="1"/>
          <p:nvPr/>
        </p:nvSpPr>
        <p:spPr>
          <a:xfrm>
            <a:off x="640080" y="3730751"/>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Text files counted</a:t>
            </a:r>
          </a:p>
        </p:txBody>
      </p:sp>
      <p:sp>
        <p:nvSpPr>
          <p:cNvPr id="23" name="TextBox 22"/>
          <p:cNvSpPr txBox="1"/>
          <p:nvPr/>
        </p:nvSpPr>
        <p:spPr>
          <a:xfrm>
            <a:off x="5726686" y="3730751"/>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1,587</a:t>
            </a:r>
          </a:p>
        </p:txBody>
      </p:sp>
      <p:sp>
        <p:nvSpPr>
          <p:cNvPr id="24" name="Rectangle 23"/>
          <p:cNvSpPr/>
          <p:nvPr/>
        </p:nvSpPr>
        <p:spPr>
          <a:xfrm>
            <a:off x="585216" y="4000499"/>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037075"/>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Binary assets (counted, not measured)</a:t>
            </a:r>
          </a:p>
        </p:txBody>
      </p:sp>
      <p:sp>
        <p:nvSpPr>
          <p:cNvPr id="26" name="TextBox 25"/>
          <p:cNvSpPr txBox="1"/>
          <p:nvPr/>
        </p:nvSpPr>
        <p:spPr>
          <a:xfrm>
            <a:off x="5726686" y="4037075"/>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242</a:t>
            </a:r>
          </a:p>
        </p:txBody>
      </p:sp>
      <p:sp>
        <p:nvSpPr>
          <p:cNvPr id="27" name="TextBox 26"/>
          <p:cNvSpPr txBox="1"/>
          <p:nvPr/>
        </p:nvSpPr>
        <p:spPr>
          <a:xfrm>
            <a:off x="640080" y="4343399"/>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Physical text lines</a:t>
            </a:r>
          </a:p>
        </p:txBody>
      </p:sp>
      <p:sp>
        <p:nvSpPr>
          <p:cNvPr id="28" name="TextBox 27"/>
          <p:cNvSpPr txBox="1"/>
          <p:nvPr/>
        </p:nvSpPr>
        <p:spPr>
          <a:xfrm>
            <a:off x="5726686" y="4343399"/>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612,111</a:t>
            </a:r>
          </a:p>
        </p:txBody>
      </p:sp>
      <p:sp>
        <p:nvSpPr>
          <p:cNvPr id="29" name="Rectangle 28"/>
          <p:cNvSpPr/>
          <p:nvPr/>
        </p:nvSpPr>
        <p:spPr>
          <a:xfrm>
            <a:off x="585216" y="4613147"/>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0080" y="4649723"/>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Effective lines</a:t>
            </a:r>
          </a:p>
        </p:txBody>
      </p:sp>
      <p:sp>
        <p:nvSpPr>
          <p:cNvPr id="31" name="TextBox 30"/>
          <p:cNvSpPr txBox="1"/>
          <p:nvPr/>
        </p:nvSpPr>
        <p:spPr>
          <a:xfrm>
            <a:off x="5726686" y="4649723"/>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478,186</a:t>
            </a:r>
          </a:p>
        </p:txBody>
      </p:sp>
      <p:sp>
        <p:nvSpPr>
          <p:cNvPr id="32" name="TextBox 31"/>
          <p:cNvSpPr txBox="1"/>
          <p:nvPr/>
        </p:nvSpPr>
        <p:spPr>
          <a:xfrm>
            <a:off x="640080" y="4956047"/>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Workflow agent types</a:t>
            </a:r>
          </a:p>
        </p:txBody>
      </p:sp>
      <p:sp>
        <p:nvSpPr>
          <p:cNvPr id="33" name="TextBox 32"/>
          <p:cNvSpPr txBox="1"/>
          <p:nvPr/>
        </p:nvSpPr>
        <p:spPr>
          <a:xfrm>
            <a:off x="5726686" y="4956047"/>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86</a:t>
            </a:r>
          </a:p>
        </p:txBody>
      </p:sp>
      <p:sp>
        <p:nvSpPr>
          <p:cNvPr id="34" name="Rectangle 33"/>
          <p:cNvSpPr/>
          <p:nvPr/>
        </p:nvSpPr>
        <p:spPr>
          <a:xfrm>
            <a:off x="585216" y="5225795"/>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40080" y="5262371"/>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Wrapped chat-agent tools</a:t>
            </a:r>
          </a:p>
        </p:txBody>
      </p:sp>
      <p:sp>
        <p:nvSpPr>
          <p:cNvPr id="36" name="TextBox 35"/>
          <p:cNvSpPr txBox="1"/>
          <p:nvPr/>
        </p:nvSpPr>
        <p:spPr>
          <a:xfrm>
            <a:off x="5726686" y="5262371"/>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67</a:t>
            </a:r>
          </a:p>
        </p:txBody>
      </p:sp>
      <p:sp>
        <p:nvSpPr>
          <p:cNvPr id="37" name="TextBox 36"/>
          <p:cNvSpPr txBox="1"/>
          <p:nvPr/>
        </p:nvSpPr>
        <p:spPr>
          <a:xfrm>
            <a:off x="640080" y="5568695"/>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Built-in Multi-Turn tools</a:t>
            </a:r>
          </a:p>
        </p:txBody>
      </p:sp>
      <p:sp>
        <p:nvSpPr>
          <p:cNvPr id="38" name="TextBox 37"/>
          <p:cNvSpPr txBox="1"/>
          <p:nvPr/>
        </p:nvSpPr>
        <p:spPr>
          <a:xfrm>
            <a:off x="5726686" y="5568695"/>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110 = 21 core + 67 wrapped + 12 ACPX/Skill + 10 supervisors</a:t>
            </a:r>
          </a:p>
        </p:txBody>
      </p:sp>
      <p:sp>
        <p:nvSpPr>
          <p:cNvPr id="39" name="Rectangle 38"/>
          <p:cNvSpPr/>
          <p:nvPr/>
        </p:nvSpPr>
        <p:spPr>
          <a:xfrm>
            <a:off x="585216" y="583844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40080" y="5875019"/>
            <a:ext cx="4940302"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Skills</a:t>
            </a:r>
          </a:p>
        </p:txBody>
      </p:sp>
      <p:sp>
        <p:nvSpPr>
          <p:cNvPr id="41" name="TextBox 40"/>
          <p:cNvSpPr txBox="1"/>
          <p:nvPr/>
        </p:nvSpPr>
        <p:spPr>
          <a:xfrm>
            <a:off x="5726686" y="5875019"/>
            <a:ext cx="5824929"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29</a:t>
            </a:r>
          </a:p>
        </p:txBody>
      </p:sp>
      <p:cxnSp>
        <p:nvCxnSpPr>
          <p:cNvPr id="42" name="Connector 4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44" name="TextBox 4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INVENTORY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repository in numbers  (2/2)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Counts come from Git and from the source files at the moment of generation.</a:t>
            </a:r>
          </a:p>
        </p:txBody>
      </p:sp>
      <p:sp>
        <p:nvSpPr>
          <p:cNvPr id="8" name="Rounded Rectangle 7"/>
          <p:cNvSpPr/>
          <p:nvPr/>
        </p:nvSpPr>
        <p:spPr>
          <a:xfrm>
            <a:off x="566928" y="2084831"/>
            <a:ext cx="11057839" cy="2633472"/>
          </a:xfrm>
          <a:prstGeom prst="roundRect">
            <a:avLst>
              <a:gd name="adj" fmla="val 277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4940302"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MEASURE</a:t>
            </a:r>
          </a:p>
        </p:txBody>
      </p:sp>
      <p:sp>
        <p:nvSpPr>
          <p:cNvPr id="11" name="TextBox 10"/>
          <p:cNvSpPr txBox="1"/>
          <p:nvPr/>
        </p:nvSpPr>
        <p:spPr>
          <a:xfrm>
            <a:off x="5726686" y="2121408"/>
            <a:ext cx="5824929"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VALUE</a:t>
            </a:r>
          </a:p>
        </p:txBody>
      </p:sp>
      <p:sp>
        <p:nvSpPr>
          <p:cNvPr id="12" name="TextBox 11"/>
          <p:cNvSpPr txBox="1"/>
          <p:nvPr/>
        </p:nvSpPr>
        <p:spPr>
          <a:xfrm>
            <a:off x="640080" y="2505456"/>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ACPX peers</a:t>
            </a:r>
          </a:p>
        </p:txBody>
      </p:sp>
      <p:sp>
        <p:nvSpPr>
          <p:cNvPr id="13" name="TextBox 12"/>
          <p:cNvSpPr txBox="1"/>
          <p:nvPr/>
        </p:nvSpPr>
        <p:spPr>
          <a:xfrm>
            <a:off x="5726686" y="2505456"/>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14</a:t>
            </a:r>
          </a:p>
        </p:txBody>
      </p:sp>
      <p:sp>
        <p:nvSpPr>
          <p:cNvPr id="14" name="Rectangle 13"/>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40080" y="2880360"/>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Database migrations</a:t>
            </a:r>
          </a:p>
        </p:txBody>
      </p:sp>
      <p:sp>
        <p:nvSpPr>
          <p:cNvPr id="16" name="TextBox 15"/>
          <p:cNvSpPr txBox="1"/>
          <p:nvPr/>
        </p:nvSpPr>
        <p:spPr>
          <a:xfrm>
            <a:off x="5726686" y="2880360"/>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220</a:t>
            </a:r>
          </a:p>
        </p:txBody>
      </p:sp>
      <p:sp>
        <p:nvSpPr>
          <p:cNvPr id="17" name="TextBox 16"/>
          <p:cNvSpPr txBox="1"/>
          <p:nvPr/>
        </p:nvSpPr>
        <p:spPr>
          <a:xfrm>
            <a:off x="640080" y="3255264"/>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JavaScript modules · stylesheets · templates</a:t>
            </a:r>
          </a:p>
        </p:txBody>
      </p:sp>
      <p:sp>
        <p:nvSpPr>
          <p:cNvPr id="18" name="TextBox 17"/>
          <p:cNvSpPr txBox="1"/>
          <p:nvPr/>
        </p:nvSpPr>
        <p:spPr>
          <a:xfrm>
            <a:off x="5726686" y="3255264"/>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64 · 29 · 8</a:t>
            </a:r>
          </a:p>
        </p:txBody>
      </p:sp>
      <p:sp>
        <p:nvSpPr>
          <p:cNvPr id="19" name="Rectangle 18"/>
          <p:cNvSpPr/>
          <p:nvPr/>
        </p:nvSpPr>
        <p:spPr>
          <a:xfrm>
            <a:off x="585216" y="35935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40080" y="3630168"/>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Pinned Python requirements</a:t>
            </a:r>
          </a:p>
        </p:txBody>
      </p:sp>
      <p:sp>
        <p:nvSpPr>
          <p:cNvPr id="21" name="TextBox 20"/>
          <p:cNvSpPr txBox="1"/>
          <p:nvPr/>
        </p:nvSpPr>
        <p:spPr>
          <a:xfrm>
            <a:off x="5726686" y="3630168"/>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264</a:t>
            </a:r>
          </a:p>
        </p:txBody>
      </p:sp>
      <p:sp>
        <p:nvSpPr>
          <p:cNvPr id="22" name="TextBox 21"/>
          <p:cNvSpPr txBox="1"/>
          <p:nvPr/>
        </p:nvSpPr>
        <p:spPr>
          <a:xfrm>
            <a:off x="640080" y="4005072"/>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Catalog sections</a:t>
            </a:r>
          </a:p>
        </p:txBody>
      </p:sp>
      <p:sp>
        <p:nvSpPr>
          <p:cNvPr id="23" name="TextBox 22"/>
          <p:cNvSpPr txBox="1"/>
          <p:nvPr/>
        </p:nvSpPr>
        <p:spPr>
          <a:xfrm>
            <a:off x="5726686" y="4005072"/>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16</a:t>
            </a:r>
          </a:p>
        </p:txBody>
      </p:sp>
      <p:sp>
        <p:nvSpPr>
          <p:cNvPr id="24" name="Rectangle 23"/>
          <p:cNvSpPr/>
          <p:nvPr/>
        </p:nvSpPr>
        <p:spPr>
          <a:xfrm>
            <a:off x="585216" y="43434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640080" y="4379976"/>
            <a:ext cx="4940302"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Central model settings</a:t>
            </a:r>
          </a:p>
        </p:txBody>
      </p:sp>
      <p:sp>
        <p:nvSpPr>
          <p:cNvPr id="26" name="TextBox 25"/>
          <p:cNvSpPr txBox="1"/>
          <p:nvPr/>
        </p:nvSpPr>
        <p:spPr>
          <a:xfrm>
            <a:off x="5726686" y="4379976"/>
            <a:ext cx="5824929"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38 for 21 model-backed agents</a:t>
            </a:r>
          </a:p>
        </p:txBody>
      </p:sp>
      <p:cxnSp>
        <p:nvCxnSpPr>
          <p:cNvPr id="27" name="Connector 26"/>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29" name="TextBox 28"/>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LINE INVENTORY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Effective lines by language</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478,186 effective lines across 1,587 text files; 612,111 physical lines.</a:t>
            </a:r>
          </a:p>
        </p:txBody>
      </p:sp>
      <p:graphicFrame>
        <p:nvGraphicFramePr>
          <p:cNvPr id="8" name="Chart 7"/>
          <p:cNvGraphicFramePr>
            <a:graphicFrameLocks noGrp="1"/>
          </p:cNvGraphicFramePr>
          <p:nvPr/>
        </p:nvGraphicFramePr>
        <p:xfrm>
          <a:off x="566928" y="2084831"/>
          <a:ext cx="11057839" cy="4114800"/>
        </p:xfrm>
        <a:graphic>
          <a:graphicData uri="http://schemas.openxmlformats.org/drawingml/2006/chart">
            <c:chart xmlns:c="http://schemas.openxmlformats.org/drawingml/2006/chart" r:id="rId4"/>
          </a:graphicData>
        </a:graphic>
      </p:graphicFrame>
      <p:cxnSp>
        <p:nvCxnSpPr>
          <p:cNvPr id="9" name="Connector 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11" name="TextBox 1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LINE INVENTORY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Every language, counted  (1/2)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Effective lines exclude blank lines, comment-only lines and Python docstrings.</a:t>
            </a:r>
          </a:p>
        </p:txBody>
      </p:sp>
      <p:sp>
        <p:nvSpPr>
          <p:cNvPr id="8" name="Rounded Rectangle 7"/>
          <p:cNvSpPr/>
          <p:nvPr/>
        </p:nvSpPr>
        <p:spPr>
          <a:xfrm>
            <a:off x="566928" y="2084831"/>
            <a:ext cx="11057839" cy="4059935"/>
          </a:xfrm>
          <a:prstGeom prst="roundRect">
            <a:avLst>
              <a:gd name="adj" fmla="val 180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613361"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LANGUAGE</a:t>
            </a:r>
          </a:p>
        </p:txBody>
      </p:sp>
      <p:sp>
        <p:nvSpPr>
          <p:cNvPr id="11" name="TextBox 10"/>
          <p:cNvSpPr txBox="1"/>
          <p:nvPr/>
        </p:nvSpPr>
        <p:spPr>
          <a:xfrm>
            <a:off x="4399745" y="2121408"/>
            <a:ext cx="1180636"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FILES</a:t>
            </a:r>
          </a:p>
        </p:txBody>
      </p:sp>
      <p:sp>
        <p:nvSpPr>
          <p:cNvPr id="12" name="TextBox 11"/>
          <p:cNvSpPr txBox="1"/>
          <p:nvPr/>
        </p:nvSpPr>
        <p:spPr>
          <a:xfrm>
            <a:off x="5726686"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PHYSICAL</a:t>
            </a:r>
          </a:p>
        </p:txBody>
      </p:sp>
      <p:sp>
        <p:nvSpPr>
          <p:cNvPr id="13" name="TextBox 12"/>
          <p:cNvSpPr txBox="1"/>
          <p:nvPr/>
        </p:nvSpPr>
        <p:spPr>
          <a:xfrm>
            <a:off x="7717097"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EFFECTIVE</a:t>
            </a:r>
          </a:p>
        </p:txBody>
      </p:sp>
      <p:sp>
        <p:nvSpPr>
          <p:cNvPr id="14" name="TextBox 13"/>
          <p:cNvSpPr txBox="1"/>
          <p:nvPr/>
        </p:nvSpPr>
        <p:spPr>
          <a:xfrm>
            <a:off x="9707508"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SHARE</a:t>
            </a:r>
          </a:p>
        </p:txBody>
      </p:sp>
      <p:sp>
        <p:nvSpPr>
          <p:cNvPr id="15" name="TextBox 14"/>
          <p:cNvSpPr txBox="1"/>
          <p:nvPr/>
        </p:nvSpPr>
        <p:spPr>
          <a:xfrm>
            <a:off x="640080" y="2505456"/>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Python</a:t>
            </a:r>
          </a:p>
        </p:txBody>
      </p:sp>
      <p:sp>
        <p:nvSpPr>
          <p:cNvPr id="16" name="TextBox 15"/>
          <p:cNvSpPr txBox="1"/>
          <p:nvPr/>
        </p:nvSpPr>
        <p:spPr>
          <a:xfrm>
            <a:off x="4399745" y="2505456"/>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917</a:t>
            </a:r>
          </a:p>
        </p:txBody>
      </p:sp>
      <p:sp>
        <p:nvSpPr>
          <p:cNvPr id="17" name="TextBox 16"/>
          <p:cNvSpPr txBox="1"/>
          <p:nvPr/>
        </p:nvSpPr>
        <p:spPr>
          <a:xfrm>
            <a:off x="5726686" y="2505456"/>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364,513</a:t>
            </a:r>
          </a:p>
        </p:txBody>
      </p:sp>
      <p:sp>
        <p:nvSpPr>
          <p:cNvPr id="18" name="TextBox 17"/>
          <p:cNvSpPr txBox="1"/>
          <p:nvPr/>
        </p:nvSpPr>
        <p:spPr>
          <a:xfrm>
            <a:off x="7717097" y="2505456"/>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262,408</a:t>
            </a:r>
          </a:p>
        </p:txBody>
      </p:sp>
      <p:sp>
        <p:nvSpPr>
          <p:cNvPr id="19" name="TextBox 18"/>
          <p:cNvSpPr txBox="1"/>
          <p:nvPr/>
        </p:nvSpPr>
        <p:spPr>
          <a:xfrm>
            <a:off x="9707508" y="2505456"/>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54.9%</a:t>
            </a:r>
          </a:p>
        </p:txBody>
      </p:sp>
      <p:sp>
        <p:nvSpPr>
          <p:cNvPr id="20" name="Rectangle 19"/>
          <p:cNvSpPr/>
          <p:nvPr/>
        </p:nvSpPr>
        <p:spPr>
          <a:xfrm>
            <a:off x="585216" y="277520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 y="2811779"/>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JavaScript module</a:t>
            </a:r>
          </a:p>
        </p:txBody>
      </p:sp>
      <p:sp>
        <p:nvSpPr>
          <p:cNvPr id="22" name="TextBox 21"/>
          <p:cNvSpPr txBox="1"/>
          <p:nvPr/>
        </p:nvSpPr>
        <p:spPr>
          <a:xfrm>
            <a:off x="4399745" y="2811779"/>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a:t>
            </a:r>
          </a:p>
        </p:txBody>
      </p:sp>
      <p:sp>
        <p:nvSpPr>
          <p:cNvPr id="23" name="TextBox 22"/>
          <p:cNvSpPr txBox="1"/>
          <p:nvPr/>
        </p:nvSpPr>
        <p:spPr>
          <a:xfrm>
            <a:off x="5726686" y="281177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104,803</a:t>
            </a:r>
          </a:p>
        </p:txBody>
      </p:sp>
      <p:sp>
        <p:nvSpPr>
          <p:cNvPr id="24" name="TextBox 23"/>
          <p:cNvSpPr txBox="1"/>
          <p:nvPr/>
        </p:nvSpPr>
        <p:spPr>
          <a:xfrm>
            <a:off x="7717097" y="281177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103,320</a:t>
            </a:r>
          </a:p>
        </p:txBody>
      </p:sp>
      <p:sp>
        <p:nvSpPr>
          <p:cNvPr id="25" name="TextBox 24"/>
          <p:cNvSpPr txBox="1"/>
          <p:nvPr/>
        </p:nvSpPr>
        <p:spPr>
          <a:xfrm>
            <a:off x="9707508" y="281177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21.6%</a:t>
            </a:r>
          </a:p>
        </p:txBody>
      </p:sp>
      <p:sp>
        <p:nvSpPr>
          <p:cNvPr id="26" name="TextBox 25"/>
          <p:cNvSpPr txBox="1"/>
          <p:nvPr/>
        </p:nvSpPr>
        <p:spPr>
          <a:xfrm>
            <a:off x="640080" y="3118103"/>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Markdown</a:t>
            </a:r>
          </a:p>
        </p:txBody>
      </p:sp>
      <p:sp>
        <p:nvSpPr>
          <p:cNvPr id="27" name="TextBox 26"/>
          <p:cNvSpPr txBox="1"/>
          <p:nvPr/>
        </p:nvSpPr>
        <p:spPr>
          <a:xfrm>
            <a:off x="4399745" y="3118103"/>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241</a:t>
            </a:r>
          </a:p>
        </p:txBody>
      </p:sp>
      <p:sp>
        <p:nvSpPr>
          <p:cNvPr id="28" name="TextBox 27"/>
          <p:cNvSpPr txBox="1"/>
          <p:nvPr/>
        </p:nvSpPr>
        <p:spPr>
          <a:xfrm>
            <a:off x="5726686" y="311810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52,581</a:t>
            </a:r>
          </a:p>
        </p:txBody>
      </p:sp>
      <p:sp>
        <p:nvSpPr>
          <p:cNvPr id="29" name="TextBox 28"/>
          <p:cNvSpPr txBox="1"/>
          <p:nvPr/>
        </p:nvSpPr>
        <p:spPr>
          <a:xfrm>
            <a:off x="7717097" y="311810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40,052</a:t>
            </a:r>
          </a:p>
        </p:txBody>
      </p:sp>
      <p:sp>
        <p:nvSpPr>
          <p:cNvPr id="30" name="TextBox 29"/>
          <p:cNvSpPr txBox="1"/>
          <p:nvPr/>
        </p:nvSpPr>
        <p:spPr>
          <a:xfrm>
            <a:off x="9707508" y="311810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8.4%</a:t>
            </a:r>
          </a:p>
        </p:txBody>
      </p:sp>
      <p:sp>
        <p:nvSpPr>
          <p:cNvPr id="31" name="Rectangle 30"/>
          <p:cNvSpPr/>
          <p:nvPr/>
        </p:nvSpPr>
        <p:spPr>
          <a:xfrm>
            <a:off x="585216" y="3387851"/>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3424427"/>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JavaScript</a:t>
            </a:r>
          </a:p>
        </p:txBody>
      </p:sp>
      <p:sp>
        <p:nvSpPr>
          <p:cNvPr id="33" name="TextBox 32"/>
          <p:cNvSpPr txBox="1"/>
          <p:nvPr/>
        </p:nvSpPr>
        <p:spPr>
          <a:xfrm>
            <a:off x="4399745" y="3424427"/>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91</a:t>
            </a:r>
          </a:p>
        </p:txBody>
      </p:sp>
      <p:sp>
        <p:nvSpPr>
          <p:cNvPr id="34" name="TextBox 33"/>
          <p:cNvSpPr txBox="1"/>
          <p:nvPr/>
        </p:nvSpPr>
        <p:spPr>
          <a:xfrm>
            <a:off x="5726686" y="342442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36,414</a:t>
            </a:r>
          </a:p>
        </p:txBody>
      </p:sp>
      <p:sp>
        <p:nvSpPr>
          <p:cNvPr id="35" name="TextBox 34"/>
          <p:cNvSpPr txBox="1"/>
          <p:nvPr/>
        </p:nvSpPr>
        <p:spPr>
          <a:xfrm>
            <a:off x="7717097" y="342442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29,139</a:t>
            </a:r>
          </a:p>
        </p:txBody>
      </p:sp>
      <p:sp>
        <p:nvSpPr>
          <p:cNvPr id="36" name="TextBox 35"/>
          <p:cNvSpPr txBox="1"/>
          <p:nvPr/>
        </p:nvSpPr>
        <p:spPr>
          <a:xfrm>
            <a:off x="9707508" y="342442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6.1%</a:t>
            </a:r>
          </a:p>
        </p:txBody>
      </p:sp>
      <p:sp>
        <p:nvSpPr>
          <p:cNvPr id="37" name="TextBox 36"/>
          <p:cNvSpPr txBox="1"/>
          <p:nvPr/>
        </p:nvSpPr>
        <p:spPr>
          <a:xfrm>
            <a:off x="640080" y="3730751"/>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CSS</a:t>
            </a:r>
          </a:p>
        </p:txBody>
      </p:sp>
      <p:sp>
        <p:nvSpPr>
          <p:cNvPr id="38" name="TextBox 37"/>
          <p:cNvSpPr txBox="1"/>
          <p:nvPr/>
        </p:nvSpPr>
        <p:spPr>
          <a:xfrm>
            <a:off x="4399745" y="3730751"/>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36</a:t>
            </a:r>
          </a:p>
        </p:txBody>
      </p:sp>
      <p:sp>
        <p:nvSpPr>
          <p:cNvPr id="39" name="TextBox 38"/>
          <p:cNvSpPr txBox="1"/>
          <p:nvPr/>
        </p:nvSpPr>
        <p:spPr>
          <a:xfrm>
            <a:off x="5726686" y="373075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17,913</a:t>
            </a:r>
          </a:p>
        </p:txBody>
      </p:sp>
      <p:sp>
        <p:nvSpPr>
          <p:cNvPr id="40" name="TextBox 39"/>
          <p:cNvSpPr txBox="1"/>
          <p:nvPr/>
        </p:nvSpPr>
        <p:spPr>
          <a:xfrm>
            <a:off x="7717097" y="373075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14,435</a:t>
            </a:r>
          </a:p>
        </p:txBody>
      </p:sp>
      <p:sp>
        <p:nvSpPr>
          <p:cNvPr id="41" name="TextBox 40"/>
          <p:cNvSpPr txBox="1"/>
          <p:nvPr/>
        </p:nvSpPr>
        <p:spPr>
          <a:xfrm>
            <a:off x="9707508" y="373075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3.0%</a:t>
            </a:r>
          </a:p>
        </p:txBody>
      </p:sp>
      <p:sp>
        <p:nvSpPr>
          <p:cNvPr id="42" name="Rectangle 41"/>
          <p:cNvSpPr/>
          <p:nvPr/>
        </p:nvSpPr>
        <p:spPr>
          <a:xfrm>
            <a:off x="585216" y="4000499"/>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0080" y="4037075"/>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Other text</a:t>
            </a:r>
          </a:p>
        </p:txBody>
      </p:sp>
      <p:sp>
        <p:nvSpPr>
          <p:cNvPr id="44" name="TextBox 43"/>
          <p:cNvSpPr txBox="1"/>
          <p:nvPr/>
        </p:nvSpPr>
        <p:spPr>
          <a:xfrm>
            <a:off x="4399745" y="4037075"/>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48</a:t>
            </a:r>
          </a:p>
        </p:txBody>
      </p:sp>
      <p:sp>
        <p:nvSpPr>
          <p:cNvPr id="45" name="TextBox 44"/>
          <p:cNvSpPr txBox="1"/>
          <p:nvPr/>
        </p:nvSpPr>
        <p:spPr>
          <a:xfrm>
            <a:off x="5726686" y="403707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11,994</a:t>
            </a:r>
          </a:p>
        </p:txBody>
      </p:sp>
      <p:sp>
        <p:nvSpPr>
          <p:cNvPr id="46" name="TextBox 45"/>
          <p:cNvSpPr txBox="1"/>
          <p:nvPr/>
        </p:nvSpPr>
        <p:spPr>
          <a:xfrm>
            <a:off x="7717097" y="403707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10,595</a:t>
            </a:r>
          </a:p>
        </p:txBody>
      </p:sp>
      <p:sp>
        <p:nvSpPr>
          <p:cNvPr id="47" name="TextBox 46"/>
          <p:cNvSpPr txBox="1"/>
          <p:nvPr/>
        </p:nvSpPr>
        <p:spPr>
          <a:xfrm>
            <a:off x="9707508" y="403707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2.2%</a:t>
            </a:r>
          </a:p>
        </p:txBody>
      </p:sp>
      <p:sp>
        <p:nvSpPr>
          <p:cNvPr id="48" name="TextBox 47"/>
          <p:cNvSpPr txBox="1"/>
          <p:nvPr/>
        </p:nvSpPr>
        <p:spPr>
          <a:xfrm>
            <a:off x="640080" y="4343399"/>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JSON</a:t>
            </a:r>
          </a:p>
        </p:txBody>
      </p:sp>
      <p:sp>
        <p:nvSpPr>
          <p:cNvPr id="49" name="TextBox 48"/>
          <p:cNvSpPr txBox="1"/>
          <p:nvPr/>
        </p:nvSpPr>
        <p:spPr>
          <a:xfrm>
            <a:off x="4399745" y="4343399"/>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14</a:t>
            </a:r>
          </a:p>
        </p:txBody>
      </p:sp>
      <p:sp>
        <p:nvSpPr>
          <p:cNvPr id="50" name="TextBox 49"/>
          <p:cNvSpPr txBox="1"/>
          <p:nvPr/>
        </p:nvSpPr>
        <p:spPr>
          <a:xfrm>
            <a:off x="5726686" y="434339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6,111</a:t>
            </a:r>
          </a:p>
        </p:txBody>
      </p:sp>
      <p:sp>
        <p:nvSpPr>
          <p:cNvPr id="51" name="TextBox 50"/>
          <p:cNvSpPr txBox="1"/>
          <p:nvPr/>
        </p:nvSpPr>
        <p:spPr>
          <a:xfrm>
            <a:off x="7717097" y="434339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6,111</a:t>
            </a:r>
          </a:p>
        </p:txBody>
      </p:sp>
      <p:sp>
        <p:nvSpPr>
          <p:cNvPr id="52" name="TextBox 51"/>
          <p:cNvSpPr txBox="1"/>
          <p:nvPr/>
        </p:nvSpPr>
        <p:spPr>
          <a:xfrm>
            <a:off x="9707508" y="434339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1.3%</a:t>
            </a:r>
          </a:p>
        </p:txBody>
      </p:sp>
      <p:sp>
        <p:nvSpPr>
          <p:cNvPr id="53" name="Rectangle 52"/>
          <p:cNvSpPr/>
          <p:nvPr/>
        </p:nvSpPr>
        <p:spPr>
          <a:xfrm>
            <a:off x="585216" y="4613147"/>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40080" y="4649723"/>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YAML</a:t>
            </a:r>
          </a:p>
        </p:txBody>
      </p:sp>
      <p:sp>
        <p:nvSpPr>
          <p:cNvPr id="55" name="TextBox 54"/>
          <p:cNvSpPr txBox="1"/>
          <p:nvPr/>
        </p:nvSpPr>
        <p:spPr>
          <a:xfrm>
            <a:off x="4399745" y="4649723"/>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93</a:t>
            </a:r>
          </a:p>
        </p:txBody>
      </p:sp>
      <p:sp>
        <p:nvSpPr>
          <p:cNvPr id="56" name="TextBox 55"/>
          <p:cNvSpPr txBox="1"/>
          <p:nvPr/>
        </p:nvSpPr>
        <p:spPr>
          <a:xfrm>
            <a:off x="5726686" y="464972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6,634</a:t>
            </a:r>
          </a:p>
        </p:txBody>
      </p:sp>
      <p:sp>
        <p:nvSpPr>
          <p:cNvPr id="57" name="TextBox 56"/>
          <p:cNvSpPr txBox="1"/>
          <p:nvPr/>
        </p:nvSpPr>
        <p:spPr>
          <a:xfrm>
            <a:off x="7717097" y="464972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2,643</a:t>
            </a:r>
          </a:p>
        </p:txBody>
      </p:sp>
      <p:sp>
        <p:nvSpPr>
          <p:cNvPr id="58" name="TextBox 57"/>
          <p:cNvSpPr txBox="1"/>
          <p:nvPr/>
        </p:nvSpPr>
        <p:spPr>
          <a:xfrm>
            <a:off x="9707508" y="464972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0.6%</a:t>
            </a:r>
          </a:p>
        </p:txBody>
      </p:sp>
      <p:sp>
        <p:nvSpPr>
          <p:cNvPr id="59" name="TextBox 58"/>
          <p:cNvSpPr txBox="1"/>
          <p:nvPr/>
        </p:nvSpPr>
        <p:spPr>
          <a:xfrm>
            <a:off x="640080" y="4956047"/>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PowerShell</a:t>
            </a:r>
          </a:p>
        </p:txBody>
      </p:sp>
      <p:sp>
        <p:nvSpPr>
          <p:cNvPr id="60" name="TextBox 59"/>
          <p:cNvSpPr txBox="1"/>
          <p:nvPr/>
        </p:nvSpPr>
        <p:spPr>
          <a:xfrm>
            <a:off x="4399745" y="4956047"/>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20</a:t>
            </a:r>
          </a:p>
        </p:txBody>
      </p:sp>
      <p:sp>
        <p:nvSpPr>
          <p:cNvPr id="61" name="TextBox 60"/>
          <p:cNvSpPr txBox="1"/>
          <p:nvPr/>
        </p:nvSpPr>
        <p:spPr>
          <a:xfrm>
            <a:off x="5726686" y="495604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3,023</a:t>
            </a:r>
          </a:p>
        </p:txBody>
      </p:sp>
      <p:sp>
        <p:nvSpPr>
          <p:cNvPr id="62" name="TextBox 61"/>
          <p:cNvSpPr txBox="1"/>
          <p:nvPr/>
        </p:nvSpPr>
        <p:spPr>
          <a:xfrm>
            <a:off x="7717097" y="495604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2,355</a:t>
            </a:r>
          </a:p>
        </p:txBody>
      </p:sp>
      <p:sp>
        <p:nvSpPr>
          <p:cNvPr id="63" name="TextBox 62"/>
          <p:cNvSpPr txBox="1"/>
          <p:nvPr/>
        </p:nvSpPr>
        <p:spPr>
          <a:xfrm>
            <a:off x="9707508" y="495604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0.5%</a:t>
            </a:r>
          </a:p>
        </p:txBody>
      </p:sp>
      <p:sp>
        <p:nvSpPr>
          <p:cNvPr id="64" name="Rectangle 63"/>
          <p:cNvSpPr/>
          <p:nvPr/>
        </p:nvSpPr>
        <p:spPr>
          <a:xfrm>
            <a:off x="585216" y="5225795"/>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5" name="TextBox 64"/>
          <p:cNvSpPr txBox="1"/>
          <p:nvPr/>
        </p:nvSpPr>
        <p:spPr>
          <a:xfrm>
            <a:off x="640080" y="5262371"/>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Text</a:t>
            </a:r>
          </a:p>
        </p:txBody>
      </p:sp>
      <p:sp>
        <p:nvSpPr>
          <p:cNvPr id="66" name="TextBox 65"/>
          <p:cNvSpPr txBox="1"/>
          <p:nvPr/>
        </p:nvSpPr>
        <p:spPr>
          <a:xfrm>
            <a:off x="4399745" y="5262371"/>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12</a:t>
            </a:r>
          </a:p>
        </p:txBody>
      </p:sp>
      <p:sp>
        <p:nvSpPr>
          <p:cNvPr id="67" name="TextBox 66"/>
          <p:cNvSpPr txBox="1"/>
          <p:nvPr/>
        </p:nvSpPr>
        <p:spPr>
          <a:xfrm>
            <a:off x="5726686" y="526237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2,657</a:t>
            </a:r>
          </a:p>
        </p:txBody>
      </p:sp>
      <p:sp>
        <p:nvSpPr>
          <p:cNvPr id="68" name="TextBox 67"/>
          <p:cNvSpPr txBox="1"/>
          <p:nvPr/>
        </p:nvSpPr>
        <p:spPr>
          <a:xfrm>
            <a:off x="7717097" y="526237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2,122</a:t>
            </a:r>
          </a:p>
        </p:txBody>
      </p:sp>
      <p:sp>
        <p:nvSpPr>
          <p:cNvPr id="69" name="TextBox 68"/>
          <p:cNvSpPr txBox="1"/>
          <p:nvPr/>
        </p:nvSpPr>
        <p:spPr>
          <a:xfrm>
            <a:off x="9707508" y="526237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0.4%</a:t>
            </a:r>
          </a:p>
        </p:txBody>
      </p:sp>
      <p:sp>
        <p:nvSpPr>
          <p:cNvPr id="70" name="TextBox 69"/>
          <p:cNvSpPr txBox="1"/>
          <p:nvPr/>
        </p:nvSpPr>
        <p:spPr>
          <a:xfrm>
            <a:off x="640080" y="5568695"/>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HTML</a:t>
            </a:r>
          </a:p>
        </p:txBody>
      </p:sp>
      <p:sp>
        <p:nvSpPr>
          <p:cNvPr id="71" name="TextBox 70"/>
          <p:cNvSpPr txBox="1"/>
          <p:nvPr/>
        </p:nvSpPr>
        <p:spPr>
          <a:xfrm>
            <a:off x="4399745" y="5568695"/>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10</a:t>
            </a:r>
          </a:p>
        </p:txBody>
      </p:sp>
      <p:sp>
        <p:nvSpPr>
          <p:cNvPr id="72" name="TextBox 71"/>
          <p:cNvSpPr txBox="1"/>
          <p:nvPr/>
        </p:nvSpPr>
        <p:spPr>
          <a:xfrm>
            <a:off x="5726686" y="556869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1,735</a:t>
            </a:r>
          </a:p>
        </p:txBody>
      </p:sp>
      <p:sp>
        <p:nvSpPr>
          <p:cNvPr id="73" name="TextBox 72"/>
          <p:cNvSpPr txBox="1"/>
          <p:nvPr/>
        </p:nvSpPr>
        <p:spPr>
          <a:xfrm>
            <a:off x="7717097" y="556869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1,678</a:t>
            </a:r>
          </a:p>
        </p:txBody>
      </p:sp>
      <p:sp>
        <p:nvSpPr>
          <p:cNvPr id="74" name="TextBox 73"/>
          <p:cNvSpPr txBox="1"/>
          <p:nvPr/>
        </p:nvSpPr>
        <p:spPr>
          <a:xfrm>
            <a:off x="9707508" y="556869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0.4%</a:t>
            </a:r>
          </a:p>
        </p:txBody>
      </p:sp>
      <p:sp>
        <p:nvSpPr>
          <p:cNvPr id="75" name="Rectangle 74"/>
          <p:cNvSpPr/>
          <p:nvPr/>
        </p:nvSpPr>
        <p:spPr>
          <a:xfrm>
            <a:off x="585216" y="583844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6" name="TextBox 75"/>
          <p:cNvSpPr txBox="1"/>
          <p:nvPr/>
        </p:nvSpPr>
        <p:spPr>
          <a:xfrm>
            <a:off x="640080" y="5875019"/>
            <a:ext cx="3613361"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Prompt template</a:t>
            </a:r>
          </a:p>
        </p:txBody>
      </p:sp>
      <p:sp>
        <p:nvSpPr>
          <p:cNvPr id="77" name="TextBox 76"/>
          <p:cNvSpPr txBox="1"/>
          <p:nvPr/>
        </p:nvSpPr>
        <p:spPr>
          <a:xfrm>
            <a:off x="4399745" y="5875019"/>
            <a:ext cx="1180636"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a:t>
            </a:r>
          </a:p>
        </p:txBody>
      </p:sp>
      <p:sp>
        <p:nvSpPr>
          <p:cNvPr id="78" name="TextBox 77"/>
          <p:cNvSpPr txBox="1"/>
          <p:nvPr/>
        </p:nvSpPr>
        <p:spPr>
          <a:xfrm>
            <a:off x="5726686" y="587501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1,513</a:t>
            </a:r>
          </a:p>
        </p:txBody>
      </p:sp>
      <p:sp>
        <p:nvSpPr>
          <p:cNvPr id="79" name="TextBox 78"/>
          <p:cNvSpPr txBox="1"/>
          <p:nvPr/>
        </p:nvSpPr>
        <p:spPr>
          <a:xfrm>
            <a:off x="7717097" y="587501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1,368</a:t>
            </a:r>
          </a:p>
        </p:txBody>
      </p:sp>
      <p:sp>
        <p:nvSpPr>
          <p:cNvPr id="80" name="TextBox 79"/>
          <p:cNvSpPr txBox="1"/>
          <p:nvPr/>
        </p:nvSpPr>
        <p:spPr>
          <a:xfrm>
            <a:off x="9707508" y="587501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0.3%</a:t>
            </a:r>
          </a:p>
        </p:txBody>
      </p:sp>
      <p:cxnSp>
        <p:nvCxnSpPr>
          <p:cNvPr id="81" name="Connector 8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83" name="TextBox 8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LINE INVENTORY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Every language, counted  (2/2)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Effective lines exclude blank lines, comment-only lines and Python docstrings.</a:t>
            </a:r>
          </a:p>
        </p:txBody>
      </p:sp>
      <p:sp>
        <p:nvSpPr>
          <p:cNvPr id="8" name="Rounded Rectangle 7"/>
          <p:cNvSpPr/>
          <p:nvPr/>
        </p:nvSpPr>
        <p:spPr>
          <a:xfrm>
            <a:off x="566928" y="2084831"/>
            <a:ext cx="11057839" cy="3383280"/>
          </a:xfrm>
          <a:prstGeom prst="roundRect">
            <a:avLst>
              <a:gd name="adj" fmla="val 2162"/>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3613361"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LANGUAGE</a:t>
            </a:r>
          </a:p>
        </p:txBody>
      </p:sp>
      <p:sp>
        <p:nvSpPr>
          <p:cNvPr id="11" name="TextBox 10"/>
          <p:cNvSpPr txBox="1"/>
          <p:nvPr/>
        </p:nvSpPr>
        <p:spPr>
          <a:xfrm>
            <a:off x="4399745" y="2121408"/>
            <a:ext cx="1180636"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FILES</a:t>
            </a:r>
          </a:p>
        </p:txBody>
      </p:sp>
      <p:sp>
        <p:nvSpPr>
          <p:cNvPr id="12" name="TextBox 11"/>
          <p:cNvSpPr txBox="1"/>
          <p:nvPr/>
        </p:nvSpPr>
        <p:spPr>
          <a:xfrm>
            <a:off x="5726686"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PHYSICAL</a:t>
            </a:r>
          </a:p>
        </p:txBody>
      </p:sp>
      <p:sp>
        <p:nvSpPr>
          <p:cNvPr id="13" name="TextBox 12"/>
          <p:cNvSpPr txBox="1"/>
          <p:nvPr/>
        </p:nvSpPr>
        <p:spPr>
          <a:xfrm>
            <a:off x="7717097"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EFFECTIVE</a:t>
            </a:r>
          </a:p>
        </p:txBody>
      </p:sp>
      <p:sp>
        <p:nvSpPr>
          <p:cNvPr id="14" name="TextBox 13"/>
          <p:cNvSpPr txBox="1"/>
          <p:nvPr/>
        </p:nvSpPr>
        <p:spPr>
          <a:xfrm>
            <a:off x="9707508"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SHARE</a:t>
            </a:r>
          </a:p>
        </p:txBody>
      </p:sp>
      <p:sp>
        <p:nvSpPr>
          <p:cNvPr id="15" name="TextBox 14"/>
          <p:cNvSpPr txBox="1"/>
          <p:nvPr/>
        </p:nvSpPr>
        <p:spPr>
          <a:xfrm>
            <a:off x="640080" y="2505456"/>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Batch</a:t>
            </a:r>
          </a:p>
        </p:txBody>
      </p:sp>
      <p:sp>
        <p:nvSpPr>
          <p:cNvPr id="16" name="TextBox 15"/>
          <p:cNvSpPr txBox="1"/>
          <p:nvPr/>
        </p:nvSpPr>
        <p:spPr>
          <a:xfrm>
            <a:off x="4399745" y="2505456"/>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a:t>
            </a:r>
          </a:p>
        </p:txBody>
      </p:sp>
      <p:sp>
        <p:nvSpPr>
          <p:cNvPr id="17" name="TextBox 16"/>
          <p:cNvSpPr txBox="1"/>
          <p:nvPr/>
        </p:nvSpPr>
        <p:spPr>
          <a:xfrm>
            <a:off x="5726686" y="250545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1,026</a:t>
            </a:r>
          </a:p>
        </p:txBody>
      </p:sp>
      <p:sp>
        <p:nvSpPr>
          <p:cNvPr id="18" name="TextBox 17"/>
          <p:cNvSpPr txBox="1"/>
          <p:nvPr/>
        </p:nvSpPr>
        <p:spPr>
          <a:xfrm>
            <a:off x="7717097" y="250545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882</a:t>
            </a:r>
          </a:p>
        </p:txBody>
      </p:sp>
      <p:sp>
        <p:nvSpPr>
          <p:cNvPr id="19" name="TextBox 18"/>
          <p:cNvSpPr txBox="1"/>
          <p:nvPr/>
        </p:nvSpPr>
        <p:spPr>
          <a:xfrm>
            <a:off x="9707508" y="250545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0.2%</a:t>
            </a:r>
          </a:p>
        </p:txBody>
      </p:sp>
      <p:sp>
        <p:nvSpPr>
          <p:cNvPr id="20" name="Rectangle 19"/>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40080" y="2880360"/>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SVG</a:t>
            </a:r>
          </a:p>
        </p:txBody>
      </p:sp>
      <p:sp>
        <p:nvSpPr>
          <p:cNvPr id="22" name="TextBox 21"/>
          <p:cNvSpPr txBox="1"/>
          <p:nvPr/>
        </p:nvSpPr>
        <p:spPr>
          <a:xfrm>
            <a:off x="4399745" y="2880360"/>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83</a:t>
            </a:r>
          </a:p>
        </p:txBody>
      </p:sp>
      <p:sp>
        <p:nvSpPr>
          <p:cNvPr id="23" name="TextBox 22"/>
          <p:cNvSpPr txBox="1"/>
          <p:nvPr/>
        </p:nvSpPr>
        <p:spPr>
          <a:xfrm>
            <a:off x="5726686" y="288036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574</a:t>
            </a:r>
          </a:p>
        </p:txBody>
      </p:sp>
      <p:sp>
        <p:nvSpPr>
          <p:cNvPr id="24" name="TextBox 23"/>
          <p:cNvSpPr txBox="1"/>
          <p:nvPr/>
        </p:nvSpPr>
        <p:spPr>
          <a:xfrm>
            <a:off x="7717097" y="288036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540</a:t>
            </a:r>
          </a:p>
        </p:txBody>
      </p:sp>
      <p:sp>
        <p:nvSpPr>
          <p:cNvPr id="25" name="TextBox 24"/>
          <p:cNvSpPr txBox="1"/>
          <p:nvPr/>
        </p:nvSpPr>
        <p:spPr>
          <a:xfrm>
            <a:off x="9707508" y="288036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0.1%</a:t>
            </a:r>
          </a:p>
        </p:txBody>
      </p:sp>
      <p:sp>
        <p:nvSpPr>
          <p:cNvPr id="26" name="TextBox 25"/>
          <p:cNvSpPr txBox="1"/>
          <p:nvPr/>
        </p:nvSpPr>
        <p:spPr>
          <a:xfrm>
            <a:off x="640080" y="3255264"/>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 Flow</a:t>
            </a:r>
          </a:p>
        </p:txBody>
      </p:sp>
      <p:sp>
        <p:nvSpPr>
          <p:cNvPr id="27" name="TextBox 26"/>
          <p:cNvSpPr txBox="1"/>
          <p:nvPr/>
        </p:nvSpPr>
        <p:spPr>
          <a:xfrm>
            <a:off x="4399745" y="3255264"/>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a:t>
            </a:r>
          </a:p>
        </p:txBody>
      </p:sp>
      <p:sp>
        <p:nvSpPr>
          <p:cNvPr id="28" name="TextBox 27"/>
          <p:cNvSpPr txBox="1"/>
          <p:nvPr/>
        </p:nvSpPr>
        <p:spPr>
          <a:xfrm>
            <a:off x="5726686" y="325526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434</a:t>
            </a:r>
          </a:p>
        </p:txBody>
      </p:sp>
      <p:sp>
        <p:nvSpPr>
          <p:cNvPr id="29" name="TextBox 28"/>
          <p:cNvSpPr txBox="1"/>
          <p:nvPr/>
        </p:nvSpPr>
        <p:spPr>
          <a:xfrm>
            <a:off x="7717097" y="325526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434</a:t>
            </a:r>
          </a:p>
        </p:txBody>
      </p:sp>
      <p:sp>
        <p:nvSpPr>
          <p:cNvPr id="30" name="TextBox 29"/>
          <p:cNvSpPr txBox="1"/>
          <p:nvPr/>
        </p:nvSpPr>
        <p:spPr>
          <a:xfrm>
            <a:off x="9707508" y="325526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0.1%</a:t>
            </a:r>
          </a:p>
        </p:txBody>
      </p:sp>
      <p:sp>
        <p:nvSpPr>
          <p:cNvPr id="31" name="Rectangle 30"/>
          <p:cNvSpPr/>
          <p:nvPr/>
        </p:nvSpPr>
        <p:spPr>
          <a:xfrm>
            <a:off x="585216" y="35935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40080" y="3630168"/>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C++</a:t>
            </a:r>
          </a:p>
        </p:txBody>
      </p:sp>
      <p:sp>
        <p:nvSpPr>
          <p:cNvPr id="33" name="TextBox 32"/>
          <p:cNvSpPr txBox="1"/>
          <p:nvPr/>
        </p:nvSpPr>
        <p:spPr>
          <a:xfrm>
            <a:off x="4399745" y="3630168"/>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a:t>
            </a:r>
          </a:p>
        </p:txBody>
      </p:sp>
      <p:sp>
        <p:nvSpPr>
          <p:cNvPr id="34" name="TextBox 33"/>
          <p:cNvSpPr txBox="1"/>
          <p:nvPr/>
        </p:nvSpPr>
        <p:spPr>
          <a:xfrm>
            <a:off x="5726686" y="3630168"/>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87</a:t>
            </a:r>
          </a:p>
        </p:txBody>
      </p:sp>
      <p:sp>
        <p:nvSpPr>
          <p:cNvPr id="35" name="TextBox 34"/>
          <p:cNvSpPr txBox="1"/>
          <p:nvPr/>
        </p:nvSpPr>
        <p:spPr>
          <a:xfrm>
            <a:off x="7717097" y="3630168"/>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50</a:t>
            </a:r>
          </a:p>
        </p:txBody>
      </p:sp>
      <p:sp>
        <p:nvSpPr>
          <p:cNvPr id="36" name="TextBox 35"/>
          <p:cNvSpPr txBox="1"/>
          <p:nvPr/>
        </p:nvSpPr>
        <p:spPr>
          <a:xfrm>
            <a:off x="9707508" y="3630168"/>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0.0%</a:t>
            </a:r>
          </a:p>
        </p:txBody>
      </p:sp>
      <p:sp>
        <p:nvSpPr>
          <p:cNvPr id="37" name="TextBox 36"/>
          <p:cNvSpPr txBox="1"/>
          <p:nvPr/>
        </p:nvSpPr>
        <p:spPr>
          <a:xfrm>
            <a:off x="640080" y="4005072"/>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Prompt flow</a:t>
            </a:r>
          </a:p>
        </p:txBody>
      </p:sp>
      <p:sp>
        <p:nvSpPr>
          <p:cNvPr id="38" name="TextBox 37"/>
          <p:cNvSpPr txBox="1"/>
          <p:nvPr/>
        </p:nvSpPr>
        <p:spPr>
          <a:xfrm>
            <a:off x="4399745" y="4005072"/>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a:t>
            </a:r>
          </a:p>
        </p:txBody>
      </p:sp>
      <p:sp>
        <p:nvSpPr>
          <p:cNvPr id="39" name="TextBox 38"/>
          <p:cNvSpPr txBox="1"/>
          <p:nvPr/>
        </p:nvSpPr>
        <p:spPr>
          <a:xfrm>
            <a:off x="5726686" y="4005072"/>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26</a:t>
            </a:r>
          </a:p>
        </p:txBody>
      </p:sp>
      <p:sp>
        <p:nvSpPr>
          <p:cNvPr id="40" name="TextBox 39"/>
          <p:cNvSpPr txBox="1"/>
          <p:nvPr/>
        </p:nvSpPr>
        <p:spPr>
          <a:xfrm>
            <a:off x="7717097" y="4005072"/>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26</a:t>
            </a:r>
          </a:p>
        </p:txBody>
      </p:sp>
      <p:sp>
        <p:nvSpPr>
          <p:cNvPr id="41" name="TextBox 40"/>
          <p:cNvSpPr txBox="1"/>
          <p:nvPr/>
        </p:nvSpPr>
        <p:spPr>
          <a:xfrm>
            <a:off x="9707508" y="4005072"/>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0.0%</a:t>
            </a:r>
          </a:p>
        </p:txBody>
      </p:sp>
      <p:sp>
        <p:nvSpPr>
          <p:cNvPr id="42" name="Rectangle 41"/>
          <p:cNvSpPr/>
          <p:nvPr/>
        </p:nvSpPr>
        <p:spPr>
          <a:xfrm>
            <a:off x="585216" y="43434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640080" y="4379976"/>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Protocol Buffers</a:t>
            </a:r>
          </a:p>
        </p:txBody>
      </p:sp>
      <p:sp>
        <p:nvSpPr>
          <p:cNvPr id="44" name="TextBox 43"/>
          <p:cNvSpPr txBox="1"/>
          <p:nvPr/>
        </p:nvSpPr>
        <p:spPr>
          <a:xfrm>
            <a:off x="4399745" y="4379976"/>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a:t>
            </a:r>
          </a:p>
        </p:txBody>
      </p:sp>
      <p:sp>
        <p:nvSpPr>
          <p:cNvPr id="45" name="TextBox 44"/>
          <p:cNvSpPr txBox="1"/>
          <p:nvPr/>
        </p:nvSpPr>
        <p:spPr>
          <a:xfrm>
            <a:off x="5726686" y="437997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33</a:t>
            </a:r>
          </a:p>
        </p:txBody>
      </p:sp>
      <p:sp>
        <p:nvSpPr>
          <p:cNvPr id="46" name="TextBox 45"/>
          <p:cNvSpPr txBox="1"/>
          <p:nvPr/>
        </p:nvSpPr>
        <p:spPr>
          <a:xfrm>
            <a:off x="7717097" y="437997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20</a:t>
            </a:r>
          </a:p>
        </p:txBody>
      </p:sp>
      <p:sp>
        <p:nvSpPr>
          <p:cNvPr id="47" name="TextBox 46"/>
          <p:cNvSpPr txBox="1"/>
          <p:nvPr/>
        </p:nvSpPr>
        <p:spPr>
          <a:xfrm>
            <a:off x="9707508" y="437997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0.0%</a:t>
            </a:r>
          </a:p>
        </p:txBody>
      </p:sp>
      <p:sp>
        <p:nvSpPr>
          <p:cNvPr id="48" name="TextBox 47"/>
          <p:cNvSpPr txBox="1"/>
          <p:nvPr/>
        </p:nvSpPr>
        <p:spPr>
          <a:xfrm>
            <a:off x="640080" y="4754880"/>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INI</a:t>
            </a:r>
          </a:p>
        </p:txBody>
      </p:sp>
      <p:sp>
        <p:nvSpPr>
          <p:cNvPr id="49" name="TextBox 48"/>
          <p:cNvSpPr txBox="1"/>
          <p:nvPr/>
        </p:nvSpPr>
        <p:spPr>
          <a:xfrm>
            <a:off x="4399745" y="4754880"/>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a:t>
            </a:r>
          </a:p>
        </p:txBody>
      </p:sp>
      <p:sp>
        <p:nvSpPr>
          <p:cNvPr id="50" name="TextBox 49"/>
          <p:cNvSpPr txBox="1"/>
          <p:nvPr/>
        </p:nvSpPr>
        <p:spPr>
          <a:xfrm>
            <a:off x="5726686" y="475488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40</a:t>
            </a:r>
          </a:p>
        </p:txBody>
      </p:sp>
      <p:sp>
        <p:nvSpPr>
          <p:cNvPr id="51" name="TextBox 50"/>
          <p:cNvSpPr txBox="1"/>
          <p:nvPr/>
        </p:nvSpPr>
        <p:spPr>
          <a:xfrm>
            <a:off x="7717097" y="475488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8</a:t>
            </a:r>
          </a:p>
        </p:txBody>
      </p:sp>
      <p:sp>
        <p:nvSpPr>
          <p:cNvPr id="52" name="TextBox 51"/>
          <p:cNvSpPr txBox="1"/>
          <p:nvPr/>
        </p:nvSpPr>
        <p:spPr>
          <a:xfrm>
            <a:off x="9707508" y="475488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0.0%</a:t>
            </a:r>
          </a:p>
        </p:txBody>
      </p:sp>
      <p:sp>
        <p:nvSpPr>
          <p:cNvPr id="53" name="Rectangle 52"/>
          <p:cNvSpPr/>
          <p:nvPr/>
        </p:nvSpPr>
        <p:spPr>
          <a:xfrm>
            <a:off x="585216" y="5093208"/>
            <a:ext cx="11021263" cy="374904"/>
          </a:xfrm>
          <a:prstGeom prst="rect">
            <a:avLst/>
          </a:prstGeom>
          <a:solidFill>
            <a:srgbClr val="3BBE93">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640080" y="5129784"/>
            <a:ext cx="3613361"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Total</a:t>
            </a:r>
          </a:p>
        </p:txBody>
      </p:sp>
      <p:sp>
        <p:nvSpPr>
          <p:cNvPr id="55" name="TextBox 54"/>
          <p:cNvSpPr txBox="1"/>
          <p:nvPr/>
        </p:nvSpPr>
        <p:spPr>
          <a:xfrm>
            <a:off x="4399745" y="5129784"/>
            <a:ext cx="1180636" cy="301752"/>
          </a:xfrm>
          <a:prstGeom prst="rect">
            <a:avLst/>
          </a:prstGeom>
          <a:noFill/>
        </p:spPr>
        <p:txBody>
          <a:bodyPr wrap="square" lIns="45720" rIns="45720" tIns="27432" bIns="27432" anchor="ctr">
            <a:noAutofit/>
          </a:bodyPr>
          <a:lstStyle/>
          <a:p>
            <a:pPr algn="r">
              <a:lnSpc>
                <a:spcPct val="100000"/>
              </a:lnSpc>
            </a:pPr>
            <a:r>
              <a:rPr sz="1500" b="0" i="0">
                <a:solidFill>
                  <a:srgbClr val="F7F2E8"/>
                </a:solidFill>
                <a:latin typeface="Segoe UI Semibold"/>
              </a:rPr>
              <a:t>1,587</a:t>
            </a:r>
          </a:p>
        </p:txBody>
      </p:sp>
      <p:sp>
        <p:nvSpPr>
          <p:cNvPr id="56" name="TextBox 55"/>
          <p:cNvSpPr txBox="1"/>
          <p:nvPr/>
        </p:nvSpPr>
        <p:spPr>
          <a:xfrm>
            <a:off x="5726686" y="512978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F7F2E8"/>
                </a:solidFill>
                <a:latin typeface="Segoe UI Semibold"/>
              </a:rPr>
              <a:t>612,111</a:t>
            </a:r>
          </a:p>
        </p:txBody>
      </p:sp>
      <p:sp>
        <p:nvSpPr>
          <p:cNvPr id="57" name="TextBox 56"/>
          <p:cNvSpPr txBox="1"/>
          <p:nvPr/>
        </p:nvSpPr>
        <p:spPr>
          <a:xfrm>
            <a:off x="7717097" y="512978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F7F2E8"/>
                </a:solidFill>
                <a:latin typeface="Segoe UI Semibold"/>
              </a:rPr>
              <a:t>478,186</a:t>
            </a:r>
          </a:p>
        </p:txBody>
      </p:sp>
      <p:sp>
        <p:nvSpPr>
          <p:cNvPr id="58" name="TextBox 57"/>
          <p:cNvSpPr txBox="1"/>
          <p:nvPr/>
        </p:nvSpPr>
        <p:spPr>
          <a:xfrm>
            <a:off x="9707508" y="512978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F7F2E8"/>
                </a:solidFill>
                <a:latin typeface="Segoe UI Semibold"/>
              </a:rPr>
              <a:t>100.0%</a:t>
            </a:r>
          </a:p>
        </p:txBody>
      </p:sp>
      <p:cxnSp>
        <p:nvCxnSpPr>
          <p:cNvPr id="59" name="Connector 58"/>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61" name="TextBox 60"/>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PROVENANCE</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Authored and vendored</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Third-party frontend libraries are vendored so the application needs no CDN at runtime; their lines are counted separately here so they are never mistaken for Tlamatini's own logic.</a:t>
            </a:r>
          </a:p>
        </p:txBody>
      </p:sp>
      <p:sp>
        <p:nvSpPr>
          <p:cNvPr id="8" name="Rounded Rectangle 7"/>
          <p:cNvSpPr/>
          <p:nvPr/>
        </p:nvSpPr>
        <p:spPr>
          <a:xfrm>
            <a:off x="566928" y="2084831"/>
            <a:ext cx="11057839" cy="1508760"/>
          </a:xfrm>
          <a:prstGeom prst="roundRect">
            <a:avLst>
              <a:gd name="adj" fmla="val 4848"/>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5382615"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PORTION</a:t>
            </a:r>
          </a:p>
        </p:txBody>
      </p:sp>
      <p:sp>
        <p:nvSpPr>
          <p:cNvPr id="11" name="TextBox 10"/>
          <p:cNvSpPr txBox="1"/>
          <p:nvPr/>
        </p:nvSpPr>
        <p:spPr>
          <a:xfrm>
            <a:off x="6168999" y="2121408"/>
            <a:ext cx="2065263"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FILES</a:t>
            </a:r>
          </a:p>
        </p:txBody>
      </p:sp>
      <p:sp>
        <p:nvSpPr>
          <p:cNvPr id="12" name="TextBox 11"/>
          <p:cNvSpPr txBox="1"/>
          <p:nvPr/>
        </p:nvSpPr>
        <p:spPr>
          <a:xfrm>
            <a:off x="8380567" y="2121408"/>
            <a:ext cx="317104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EFFECTIVE LINES</a:t>
            </a:r>
          </a:p>
        </p:txBody>
      </p:sp>
      <p:sp>
        <p:nvSpPr>
          <p:cNvPr id="13" name="TextBox 12"/>
          <p:cNvSpPr txBox="1"/>
          <p:nvPr/>
        </p:nvSpPr>
        <p:spPr>
          <a:xfrm>
            <a:off x="640080" y="2505456"/>
            <a:ext cx="5382615"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Tlamatini-authored text (application, agents, docs, tests)</a:t>
            </a:r>
          </a:p>
        </p:txBody>
      </p:sp>
      <p:sp>
        <p:nvSpPr>
          <p:cNvPr id="14" name="TextBox 13"/>
          <p:cNvSpPr txBox="1"/>
          <p:nvPr/>
        </p:nvSpPr>
        <p:spPr>
          <a:xfrm>
            <a:off x="6168999" y="2505456"/>
            <a:ext cx="2065263"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1,445</a:t>
            </a:r>
          </a:p>
        </p:txBody>
      </p:sp>
      <p:sp>
        <p:nvSpPr>
          <p:cNvPr id="15" name="TextBox 14"/>
          <p:cNvSpPr txBox="1"/>
          <p:nvPr/>
        </p:nvSpPr>
        <p:spPr>
          <a:xfrm>
            <a:off x="8380567" y="2505456"/>
            <a:ext cx="317104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365,822</a:t>
            </a:r>
          </a:p>
        </p:txBody>
      </p:sp>
      <p:sp>
        <p:nvSpPr>
          <p:cNvPr id="16" name="Rectangle 15"/>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80360"/>
            <a:ext cx="5382615"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Vendored frontend libraries (PDF.js, Bootstrap, jQuery …)</a:t>
            </a:r>
          </a:p>
        </p:txBody>
      </p:sp>
      <p:sp>
        <p:nvSpPr>
          <p:cNvPr id="18" name="TextBox 17"/>
          <p:cNvSpPr txBox="1"/>
          <p:nvPr/>
        </p:nvSpPr>
        <p:spPr>
          <a:xfrm>
            <a:off x="6168999" y="2880360"/>
            <a:ext cx="2065263"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142</a:t>
            </a:r>
          </a:p>
        </p:txBody>
      </p:sp>
      <p:sp>
        <p:nvSpPr>
          <p:cNvPr id="19" name="TextBox 18"/>
          <p:cNvSpPr txBox="1"/>
          <p:nvPr/>
        </p:nvSpPr>
        <p:spPr>
          <a:xfrm>
            <a:off x="8380567" y="2880360"/>
            <a:ext cx="317104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112,364</a:t>
            </a:r>
          </a:p>
        </p:txBody>
      </p:sp>
      <p:sp>
        <p:nvSpPr>
          <p:cNvPr id="20" name="TextBox 19"/>
          <p:cNvSpPr txBox="1"/>
          <p:nvPr/>
        </p:nvSpPr>
        <p:spPr>
          <a:xfrm>
            <a:off x="640080" y="3255264"/>
            <a:ext cx="5382615"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All text files</a:t>
            </a:r>
          </a:p>
        </p:txBody>
      </p:sp>
      <p:sp>
        <p:nvSpPr>
          <p:cNvPr id="21" name="TextBox 20"/>
          <p:cNvSpPr txBox="1"/>
          <p:nvPr/>
        </p:nvSpPr>
        <p:spPr>
          <a:xfrm>
            <a:off x="6168999" y="3255264"/>
            <a:ext cx="2065263"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1,587</a:t>
            </a:r>
          </a:p>
        </p:txBody>
      </p:sp>
      <p:sp>
        <p:nvSpPr>
          <p:cNvPr id="22" name="TextBox 21"/>
          <p:cNvSpPr txBox="1"/>
          <p:nvPr/>
        </p:nvSpPr>
        <p:spPr>
          <a:xfrm>
            <a:off x="8380567" y="3255264"/>
            <a:ext cx="317104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478,186</a:t>
            </a:r>
          </a:p>
        </p:txBody>
      </p:sp>
      <p:cxnSp>
        <p:nvCxnSpPr>
          <p:cNvPr id="23" name="Connector 22"/>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25" name="TextBox 24"/>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LARGEST FILES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largest source files  (1/2)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Ranked by effective lines.</a:t>
            </a:r>
          </a:p>
        </p:txBody>
      </p:sp>
      <p:sp>
        <p:nvSpPr>
          <p:cNvPr id="8" name="Rounded Rectangle 7"/>
          <p:cNvSpPr/>
          <p:nvPr/>
        </p:nvSpPr>
        <p:spPr>
          <a:xfrm>
            <a:off x="566928" y="2084831"/>
            <a:ext cx="11057839" cy="4059935"/>
          </a:xfrm>
          <a:prstGeom prst="roundRect">
            <a:avLst>
              <a:gd name="adj" fmla="val 1801"/>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693071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FILE</a:t>
            </a:r>
          </a:p>
        </p:txBody>
      </p:sp>
      <p:sp>
        <p:nvSpPr>
          <p:cNvPr id="11" name="TextBox 10"/>
          <p:cNvSpPr txBox="1"/>
          <p:nvPr/>
        </p:nvSpPr>
        <p:spPr>
          <a:xfrm>
            <a:off x="7717097" y="2121408"/>
            <a:ext cx="184410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LANGUAGE</a:t>
            </a:r>
          </a:p>
        </p:txBody>
      </p:sp>
      <p:sp>
        <p:nvSpPr>
          <p:cNvPr id="12" name="TextBox 11"/>
          <p:cNvSpPr txBox="1"/>
          <p:nvPr/>
        </p:nvSpPr>
        <p:spPr>
          <a:xfrm>
            <a:off x="9707508"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EFFECTIVE</a:t>
            </a:r>
          </a:p>
        </p:txBody>
      </p:sp>
      <p:sp>
        <p:nvSpPr>
          <p:cNvPr id="13" name="TextBox 12"/>
          <p:cNvSpPr txBox="1"/>
          <p:nvPr/>
        </p:nvSpPr>
        <p:spPr>
          <a:xfrm>
            <a:off x="640080" y="2505456"/>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Tlamatini/agent/views.py</a:t>
            </a:r>
          </a:p>
        </p:txBody>
      </p:sp>
      <p:sp>
        <p:nvSpPr>
          <p:cNvPr id="14" name="TextBox 13"/>
          <p:cNvSpPr txBox="1"/>
          <p:nvPr/>
        </p:nvSpPr>
        <p:spPr>
          <a:xfrm>
            <a:off x="7717097" y="2505456"/>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15" name="TextBox 14"/>
          <p:cNvSpPr txBox="1"/>
          <p:nvPr/>
        </p:nvSpPr>
        <p:spPr>
          <a:xfrm>
            <a:off x="9707508" y="2505456"/>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8,645</a:t>
            </a:r>
          </a:p>
        </p:txBody>
      </p:sp>
      <p:sp>
        <p:nvSpPr>
          <p:cNvPr id="16" name="Rectangle 15"/>
          <p:cNvSpPr/>
          <p:nvPr/>
        </p:nvSpPr>
        <p:spPr>
          <a:xfrm>
            <a:off x="585216" y="277520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11779"/>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Tlamatini/agent/tests.py</a:t>
            </a:r>
          </a:p>
        </p:txBody>
      </p:sp>
      <p:sp>
        <p:nvSpPr>
          <p:cNvPr id="18" name="TextBox 17"/>
          <p:cNvSpPr txBox="1"/>
          <p:nvPr/>
        </p:nvSpPr>
        <p:spPr>
          <a:xfrm>
            <a:off x="7717097" y="2811779"/>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19" name="TextBox 18"/>
          <p:cNvSpPr txBox="1"/>
          <p:nvPr/>
        </p:nvSpPr>
        <p:spPr>
          <a:xfrm>
            <a:off x="9707508" y="281177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5,964</a:t>
            </a:r>
          </a:p>
        </p:txBody>
      </p:sp>
      <p:sp>
        <p:nvSpPr>
          <p:cNvPr id="20" name="TextBox 19"/>
          <p:cNvSpPr txBox="1"/>
          <p:nvPr/>
        </p:nvSpPr>
        <p:spPr>
          <a:xfrm>
            <a:off x="640080" y="3118103"/>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Tlamatini/agent/agents/flowcreator/flow_catalog.json</a:t>
            </a:r>
          </a:p>
        </p:txBody>
      </p:sp>
      <p:sp>
        <p:nvSpPr>
          <p:cNvPr id="21" name="TextBox 20"/>
          <p:cNvSpPr txBox="1"/>
          <p:nvPr/>
        </p:nvSpPr>
        <p:spPr>
          <a:xfrm>
            <a:off x="7717097" y="3118103"/>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JSON</a:t>
            </a:r>
          </a:p>
        </p:txBody>
      </p:sp>
      <p:sp>
        <p:nvSpPr>
          <p:cNvPr id="22" name="TextBox 21"/>
          <p:cNvSpPr txBox="1"/>
          <p:nvPr/>
        </p:nvSpPr>
        <p:spPr>
          <a:xfrm>
            <a:off x="9707508" y="311810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4,972</a:t>
            </a:r>
          </a:p>
        </p:txBody>
      </p:sp>
      <p:sp>
        <p:nvSpPr>
          <p:cNvPr id="23" name="Rectangle 22"/>
          <p:cNvSpPr/>
          <p:nvPr/>
        </p:nvSpPr>
        <p:spPr>
          <a:xfrm>
            <a:off x="585216" y="3387851"/>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424427"/>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docs/claude/recent-fixes.md</a:t>
            </a:r>
          </a:p>
        </p:txBody>
      </p:sp>
      <p:sp>
        <p:nvSpPr>
          <p:cNvPr id="25" name="TextBox 24"/>
          <p:cNvSpPr txBox="1"/>
          <p:nvPr/>
        </p:nvSpPr>
        <p:spPr>
          <a:xfrm>
            <a:off x="7717097" y="3424427"/>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Markdown</a:t>
            </a:r>
          </a:p>
        </p:txBody>
      </p:sp>
      <p:sp>
        <p:nvSpPr>
          <p:cNvPr id="26" name="TextBox 25"/>
          <p:cNvSpPr txBox="1"/>
          <p:nvPr/>
        </p:nvSpPr>
        <p:spPr>
          <a:xfrm>
            <a:off x="9707508" y="342442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4,449</a:t>
            </a:r>
          </a:p>
        </p:txBody>
      </p:sp>
      <p:sp>
        <p:nvSpPr>
          <p:cNvPr id="27" name="TextBox 26"/>
          <p:cNvSpPr txBox="1"/>
          <p:nvPr/>
        </p:nvSpPr>
        <p:spPr>
          <a:xfrm>
            <a:off x="640080" y="3730751"/>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Tlamatini/agent/agents/latexer/latexer.py</a:t>
            </a:r>
          </a:p>
        </p:txBody>
      </p:sp>
      <p:sp>
        <p:nvSpPr>
          <p:cNvPr id="28" name="TextBox 27"/>
          <p:cNvSpPr txBox="1"/>
          <p:nvPr/>
        </p:nvSpPr>
        <p:spPr>
          <a:xfrm>
            <a:off x="7717097" y="3730751"/>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29" name="TextBox 28"/>
          <p:cNvSpPr txBox="1"/>
          <p:nvPr/>
        </p:nvSpPr>
        <p:spPr>
          <a:xfrm>
            <a:off x="9707508" y="373075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3,763</a:t>
            </a:r>
          </a:p>
        </p:txBody>
      </p:sp>
      <p:sp>
        <p:nvSpPr>
          <p:cNvPr id="30" name="Rectangle 29"/>
          <p:cNvSpPr/>
          <p:nvPr/>
        </p:nvSpPr>
        <p:spPr>
          <a:xfrm>
            <a:off x="585216" y="4000499"/>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037075"/>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Tlamatini/agent/tools.py</a:t>
            </a:r>
          </a:p>
        </p:txBody>
      </p:sp>
      <p:sp>
        <p:nvSpPr>
          <p:cNvPr id="32" name="TextBox 31"/>
          <p:cNvSpPr txBox="1"/>
          <p:nvPr/>
        </p:nvSpPr>
        <p:spPr>
          <a:xfrm>
            <a:off x="7717097" y="4037075"/>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33" name="TextBox 32"/>
          <p:cNvSpPr txBox="1"/>
          <p:nvPr/>
        </p:nvSpPr>
        <p:spPr>
          <a:xfrm>
            <a:off x="9707508" y="403707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3,479</a:t>
            </a:r>
          </a:p>
        </p:txBody>
      </p:sp>
      <p:sp>
        <p:nvSpPr>
          <p:cNvPr id="34" name="TextBox 33"/>
          <p:cNvSpPr txBox="1"/>
          <p:nvPr/>
        </p:nvSpPr>
        <p:spPr>
          <a:xfrm>
            <a:off x="640080" y="4343399"/>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BookOfTlamatini.md</a:t>
            </a:r>
          </a:p>
        </p:txBody>
      </p:sp>
      <p:sp>
        <p:nvSpPr>
          <p:cNvPr id="35" name="TextBox 34"/>
          <p:cNvSpPr txBox="1"/>
          <p:nvPr/>
        </p:nvSpPr>
        <p:spPr>
          <a:xfrm>
            <a:off x="7717097" y="4343399"/>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Markdown</a:t>
            </a:r>
          </a:p>
        </p:txBody>
      </p:sp>
      <p:sp>
        <p:nvSpPr>
          <p:cNvPr id="36" name="TextBox 35"/>
          <p:cNvSpPr txBox="1"/>
          <p:nvPr/>
        </p:nvSpPr>
        <p:spPr>
          <a:xfrm>
            <a:off x="9707508" y="434339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3,259</a:t>
            </a:r>
          </a:p>
        </p:txBody>
      </p:sp>
      <p:sp>
        <p:nvSpPr>
          <p:cNvPr id="37" name="Rectangle 36"/>
          <p:cNvSpPr/>
          <p:nvPr/>
        </p:nvSpPr>
        <p:spPr>
          <a:xfrm>
            <a:off x="585216" y="4613147"/>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649723"/>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Tlamatini/agent/mcp_agent.py</a:t>
            </a:r>
          </a:p>
        </p:txBody>
      </p:sp>
      <p:sp>
        <p:nvSpPr>
          <p:cNvPr id="39" name="TextBox 38"/>
          <p:cNvSpPr txBox="1"/>
          <p:nvPr/>
        </p:nvSpPr>
        <p:spPr>
          <a:xfrm>
            <a:off x="7717097" y="4649723"/>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40" name="TextBox 39"/>
          <p:cNvSpPr txBox="1"/>
          <p:nvPr/>
        </p:nvSpPr>
        <p:spPr>
          <a:xfrm>
            <a:off x="9707508" y="4649723"/>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2,645</a:t>
            </a:r>
          </a:p>
        </p:txBody>
      </p:sp>
      <p:sp>
        <p:nvSpPr>
          <p:cNvPr id="41" name="TextBox 40"/>
          <p:cNvSpPr txBox="1"/>
          <p:nvPr/>
        </p:nvSpPr>
        <p:spPr>
          <a:xfrm>
            <a:off x="640080" y="4956047"/>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Tlamatini/agent/doc_generation/dossier_content.py</a:t>
            </a:r>
          </a:p>
        </p:txBody>
      </p:sp>
      <p:sp>
        <p:nvSpPr>
          <p:cNvPr id="42" name="TextBox 41"/>
          <p:cNvSpPr txBox="1"/>
          <p:nvPr/>
        </p:nvSpPr>
        <p:spPr>
          <a:xfrm>
            <a:off x="7717097" y="4956047"/>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43" name="TextBox 42"/>
          <p:cNvSpPr txBox="1"/>
          <p:nvPr/>
        </p:nvSpPr>
        <p:spPr>
          <a:xfrm>
            <a:off x="9707508" y="4956047"/>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2,559</a:t>
            </a:r>
          </a:p>
        </p:txBody>
      </p:sp>
      <p:sp>
        <p:nvSpPr>
          <p:cNvPr id="44" name="Rectangle 43"/>
          <p:cNvSpPr/>
          <p:nvPr/>
        </p:nvSpPr>
        <p:spPr>
          <a:xfrm>
            <a:off x="585216" y="5225795"/>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262371"/>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scripts/architecture_atlas/gen_architecture.py</a:t>
            </a:r>
          </a:p>
        </p:txBody>
      </p:sp>
      <p:sp>
        <p:nvSpPr>
          <p:cNvPr id="46" name="TextBox 45"/>
          <p:cNvSpPr txBox="1"/>
          <p:nvPr/>
        </p:nvSpPr>
        <p:spPr>
          <a:xfrm>
            <a:off x="7717097" y="5262371"/>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47" name="TextBox 46"/>
          <p:cNvSpPr txBox="1"/>
          <p:nvPr/>
        </p:nvSpPr>
        <p:spPr>
          <a:xfrm>
            <a:off x="9707508" y="5262371"/>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2,388</a:t>
            </a:r>
          </a:p>
        </p:txBody>
      </p:sp>
      <p:sp>
        <p:nvSpPr>
          <p:cNvPr id="48" name="TextBox 47"/>
          <p:cNvSpPr txBox="1"/>
          <p:nvPr/>
        </p:nvSpPr>
        <p:spPr>
          <a:xfrm>
            <a:off x="640080" y="5568695"/>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Tlamatini/agent/agents/flowcreator/agentic_skill.md</a:t>
            </a:r>
          </a:p>
        </p:txBody>
      </p:sp>
      <p:sp>
        <p:nvSpPr>
          <p:cNvPr id="49" name="TextBox 48"/>
          <p:cNvSpPr txBox="1"/>
          <p:nvPr/>
        </p:nvSpPr>
        <p:spPr>
          <a:xfrm>
            <a:off x="7717097" y="5568695"/>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Markdown</a:t>
            </a:r>
          </a:p>
        </p:txBody>
      </p:sp>
      <p:sp>
        <p:nvSpPr>
          <p:cNvPr id="50" name="TextBox 49"/>
          <p:cNvSpPr txBox="1"/>
          <p:nvPr/>
        </p:nvSpPr>
        <p:spPr>
          <a:xfrm>
            <a:off x="9707508" y="5568695"/>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2,363</a:t>
            </a:r>
          </a:p>
        </p:txBody>
      </p:sp>
      <p:sp>
        <p:nvSpPr>
          <p:cNvPr id="51" name="Rectangle 50"/>
          <p:cNvSpPr/>
          <p:nvPr/>
        </p:nvSpPr>
        <p:spPr>
          <a:xfrm>
            <a:off x="585216" y="5838443"/>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2" name="TextBox 51"/>
          <p:cNvSpPr txBox="1"/>
          <p:nvPr/>
        </p:nvSpPr>
        <p:spPr>
          <a:xfrm>
            <a:off x="640080" y="5875019"/>
            <a:ext cx="6930713"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Tlamatini/agent/chat_agent_registry.py</a:t>
            </a:r>
          </a:p>
        </p:txBody>
      </p:sp>
      <p:sp>
        <p:nvSpPr>
          <p:cNvPr id="53" name="TextBox 52"/>
          <p:cNvSpPr txBox="1"/>
          <p:nvPr/>
        </p:nvSpPr>
        <p:spPr>
          <a:xfrm>
            <a:off x="7717097" y="5875019"/>
            <a:ext cx="184410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Python</a:t>
            </a:r>
          </a:p>
        </p:txBody>
      </p:sp>
      <p:sp>
        <p:nvSpPr>
          <p:cNvPr id="54" name="TextBox 53"/>
          <p:cNvSpPr txBox="1"/>
          <p:nvPr/>
        </p:nvSpPr>
        <p:spPr>
          <a:xfrm>
            <a:off x="9707508" y="5875019"/>
            <a:ext cx="1844107" cy="233171"/>
          </a:xfrm>
          <a:prstGeom prst="rect">
            <a:avLst/>
          </a:prstGeom>
          <a:noFill/>
        </p:spPr>
        <p:txBody>
          <a:bodyPr wrap="square" lIns="45720" rIns="45720" tIns="27432" bIns="27432" anchor="ctr">
            <a:noAutofit/>
          </a:bodyPr>
          <a:lstStyle/>
          <a:p>
            <a:pPr algn="r">
              <a:lnSpc>
                <a:spcPct val="100000"/>
              </a:lnSpc>
            </a:pPr>
            <a:r>
              <a:rPr sz="1050" b="0" i="0">
                <a:solidFill>
                  <a:srgbClr val="A7B2B0"/>
                </a:solidFill>
                <a:latin typeface="Segoe UI"/>
              </a:rPr>
              <a:t>2,279</a:t>
            </a:r>
          </a:p>
        </p:txBody>
      </p:sp>
      <p:cxnSp>
        <p:nvCxnSpPr>
          <p:cNvPr id="55" name="Connector 54"/>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56" name="TextBox 55"/>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57" name="TextBox 56"/>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169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LARGEST FILES</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The largest source files  (2/2)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Ranked by effective lines.</a:t>
            </a:r>
          </a:p>
        </p:txBody>
      </p:sp>
      <p:sp>
        <p:nvSpPr>
          <p:cNvPr id="8" name="Rounded Rectangle 7"/>
          <p:cNvSpPr/>
          <p:nvPr/>
        </p:nvSpPr>
        <p:spPr>
          <a:xfrm>
            <a:off x="566928" y="2084831"/>
            <a:ext cx="11057839" cy="2633472"/>
          </a:xfrm>
          <a:prstGeom prst="roundRect">
            <a:avLst>
              <a:gd name="adj" fmla="val 277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693071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FILE</a:t>
            </a:r>
          </a:p>
        </p:txBody>
      </p:sp>
      <p:sp>
        <p:nvSpPr>
          <p:cNvPr id="11" name="TextBox 10"/>
          <p:cNvSpPr txBox="1"/>
          <p:nvPr/>
        </p:nvSpPr>
        <p:spPr>
          <a:xfrm>
            <a:off x="7717097" y="2121408"/>
            <a:ext cx="184410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LANGUAGE</a:t>
            </a:r>
          </a:p>
        </p:txBody>
      </p:sp>
      <p:sp>
        <p:nvSpPr>
          <p:cNvPr id="12" name="TextBox 11"/>
          <p:cNvSpPr txBox="1"/>
          <p:nvPr/>
        </p:nvSpPr>
        <p:spPr>
          <a:xfrm>
            <a:off x="9707508" y="2121408"/>
            <a:ext cx="1844107" cy="310896"/>
          </a:xfrm>
          <a:prstGeom prst="rect">
            <a:avLst/>
          </a:prstGeom>
          <a:noFill/>
        </p:spPr>
        <p:txBody>
          <a:bodyPr wrap="square" lIns="45720" rIns="45720" tIns="27432" bIns="27432" anchor="ctr">
            <a:noAutofit/>
          </a:bodyPr>
          <a:lstStyle/>
          <a:p>
            <a:pPr algn="r">
              <a:lnSpc>
                <a:spcPct val="100000"/>
              </a:lnSpc>
            </a:pPr>
            <a:r>
              <a:rPr sz="1000" b="0" i="0" spc="120">
                <a:solidFill>
                  <a:srgbClr val="E2B462"/>
                </a:solidFill>
                <a:latin typeface="Segoe UI Semibold"/>
              </a:rPr>
              <a:t>EFFECTIVE</a:t>
            </a:r>
          </a:p>
        </p:txBody>
      </p:sp>
      <p:sp>
        <p:nvSpPr>
          <p:cNvPr id="13" name="TextBox 12"/>
          <p:cNvSpPr txBox="1"/>
          <p:nvPr/>
        </p:nvSpPr>
        <p:spPr>
          <a:xfrm>
            <a:off x="640080" y="2505456"/>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Tlamatini/agent/external_mcp_manager.py</a:t>
            </a:r>
          </a:p>
        </p:txBody>
      </p:sp>
      <p:sp>
        <p:nvSpPr>
          <p:cNvPr id="14" name="TextBox 13"/>
          <p:cNvSpPr txBox="1"/>
          <p:nvPr/>
        </p:nvSpPr>
        <p:spPr>
          <a:xfrm>
            <a:off x="7717097" y="2505456"/>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Python</a:t>
            </a:r>
          </a:p>
        </p:txBody>
      </p:sp>
      <p:sp>
        <p:nvSpPr>
          <p:cNvPr id="15" name="TextBox 14"/>
          <p:cNvSpPr txBox="1"/>
          <p:nvPr/>
        </p:nvSpPr>
        <p:spPr>
          <a:xfrm>
            <a:off x="9707508" y="250545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2,144</a:t>
            </a:r>
          </a:p>
        </p:txBody>
      </p:sp>
      <p:sp>
        <p:nvSpPr>
          <p:cNvPr id="16" name="Rectangle 15"/>
          <p:cNvSpPr/>
          <p:nvPr/>
        </p:nvSpPr>
        <p:spPr>
          <a:xfrm>
            <a:off x="585216" y="2843784"/>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880360"/>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Tlamatini/agent/static/agent/css/agentic_control_panel.css</a:t>
            </a:r>
          </a:p>
        </p:txBody>
      </p:sp>
      <p:sp>
        <p:nvSpPr>
          <p:cNvPr id="18" name="TextBox 17"/>
          <p:cNvSpPr txBox="1"/>
          <p:nvPr/>
        </p:nvSpPr>
        <p:spPr>
          <a:xfrm>
            <a:off x="7717097" y="2880360"/>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CSS</a:t>
            </a:r>
          </a:p>
        </p:txBody>
      </p:sp>
      <p:sp>
        <p:nvSpPr>
          <p:cNvPr id="19" name="TextBox 18"/>
          <p:cNvSpPr txBox="1"/>
          <p:nvPr/>
        </p:nvSpPr>
        <p:spPr>
          <a:xfrm>
            <a:off x="9707508" y="2880360"/>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2,060</a:t>
            </a:r>
          </a:p>
        </p:txBody>
      </p:sp>
      <p:sp>
        <p:nvSpPr>
          <p:cNvPr id="20" name="TextBox 19"/>
          <p:cNvSpPr txBox="1"/>
          <p:nvPr/>
        </p:nvSpPr>
        <p:spPr>
          <a:xfrm>
            <a:off x="640080" y="3255264"/>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Tlamatini/agent/static/agent/js/agent_page_chat.js</a:t>
            </a:r>
          </a:p>
        </p:txBody>
      </p:sp>
      <p:sp>
        <p:nvSpPr>
          <p:cNvPr id="21" name="TextBox 20"/>
          <p:cNvSpPr txBox="1"/>
          <p:nvPr/>
        </p:nvSpPr>
        <p:spPr>
          <a:xfrm>
            <a:off x="7717097" y="3255264"/>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JavaScript</a:t>
            </a:r>
          </a:p>
        </p:txBody>
      </p:sp>
      <p:sp>
        <p:nvSpPr>
          <p:cNvPr id="22" name="TextBox 21"/>
          <p:cNvSpPr txBox="1"/>
          <p:nvPr/>
        </p:nvSpPr>
        <p:spPr>
          <a:xfrm>
            <a:off x="9707508" y="3255264"/>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2,024</a:t>
            </a:r>
          </a:p>
        </p:txBody>
      </p:sp>
      <p:sp>
        <p:nvSpPr>
          <p:cNvPr id="23" name="Rectangle 22"/>
          <p:cNvSpPr/>
          <p:nvPr/>
        </p:nvSpPr>
        <p:spPr>
          <a:xfrm>
            <a:off x="585216" y="3593592"/>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630168"/>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Tlamatini/agent/agents/stm32er/stm32er.py</a:t>
            </a:r>
          </a:p>
        </p:txBody>
      </p:sp>
      <p:sp>
        <p:nvSpPr>
          <p:cNvPr id="25" name="TextBox 24"/>
          <p:cNvSpPr txBox="1"/>
          <p:nvPr/>
        </p:nvSpPr>
        <p:spPr>
          <a:xfrm>
            <a:off x="7717097" y="3630168"/>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Python</a:t>
            </a:r>
          </a:p>
        </p:txBody>
      </p:sp>
      <p:sp>
        <p:nvSpPr>
          <p:cNvPr id="26" name="TextBox 25"/>
          <p:cNvSpPr txBox="1"/>
          <p:nvPr/>
        </p:nvSpPr>
        <p:spPr>
          <a:xfrm>
            <a:off x="9707508" y="3630168"/>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1,983</a:t>
            </a:r>
          </a:p>
        </p:txBody>
      </p:sp>
      <p:sp>
        <p:nvSpPr>
          <p:cNvPr id="27" name="TextBox 26"/>
          <p:cNvSpPr txBox="1"/>
          <p:nvPr/>
        </p:nvSpPr>
        <p:spPr>
          <a:xfrm>
            <a:off x="640080" y="4005072"/>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Tlamatini/agent/static/agent/css/agent_page.css</a:t>
            </a:r>
          </a:p>
        </p:txBody>
      </p:sp>
      <p:sp>
        <p:nvSpPr>
          <p:cNvPr id="28" name="TextBox 27"/>
          <p:cNvSpPr txBox="1"/>
          <p:nvPr/>
        </p:nvSpPr>
        <p:spPr>
          <a:xfrm>
            <a:off x="7717097" y="4005072"/>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CSS</a:t>
            </a:r>
          </a:p>
        </p:txBody>
      </p:sp>
      <p:sp>
        <p:nvSpPr>
          <p:cNvPr id="29" name="TextBox 28"/>
          <p:cNvSpPr txBox="1"/>
          <p:nvPr/>
        </p:nvSpPr>
        <p:spPr>
          <a:xfrm>
            <a:off x="9707508" y="4005072"/>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1,943</a:t>
            </a:r>
          </a:p>
        </p:txBody>
      </p:sp>
      <p:sp>
        <p:nvSpPr>
          <p:cNvPr id="30" name="Rectangle 29"/>
          <p:cNvSpPr/>
          <p:nvPr/>
        </p:nvSpPr>
        <p:spPr>
          <a:xfrm>
            <a:off x="585216" y="4343400"/>
            <a:ext cx="11021263" cy="37490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379976"/>
            <a:ext cx="6930713"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docs/changes/2026-10-04-commentary-graphical-redesign.patch</a:t>
            </a:r>
          </a:p>
        </p:txBody>
      </p:sp>
      <p:sp>
        <p:nvSpPr>
          <p:cNvPr id="32" name="TextBox 31"/>
          <p:cNvSpPr txBox="1"/>
          <p:nvPr/>
        </p:nvSpPr>
        <p:spPr>
          <a:xfrm>
            <a:off x="7717097" y="4379976"/>
            <a:ext cx="184410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Other text</a:t>
            </a:r>
          </a:p>
        </p:txBody>
      </p:sp>
      <p:sp>
        <p:nvSpPr>
          <p:cNvPr id="33" name="TextBox 32"/>
          <p:cNvSpPr txBox="1"/>
          <p:nvPr/>
        </p:nvSpPr>
        <p:spPr>
          <a:xfrm>
            <a:off x="9707508" y="4379976"/>
            <a:ext cx="1844107" cy="301752"/>
          </a:xfrm>
          <a:prstGeom prst="rect">
            <a:avLst/>
          </a:prstGeom>
          <a:noFill/>
        </p:spPr>
        <p:txBody>
          <a:bodyPr wrap="square" lIns="45720" rIns="45720" tIns="27432" bIns="27432" anchor="ctr">
            <a:noAutofit/>
          </a:bodyPr>
          <a:lstStyle/>
          <a:p>
            <a:pPr algn="r">
              <a:lnSpc>
                <a:spcPct val="100000"/>
              </a:lnSpc>
            </a:pPr>
            <a:r>
              <a:rPr sz="1500" b="0" i="0">
                <a:solidFill>
                  <a:srgbClr val="A7B2B0"/>
                </a:solidFill>
                <a:latin typeface="Segoe UI"/>
              </a:rPr>
              <a:t>1,908</a:t>
            </a:r>
          </a:p>
        </p:txBody>
      </p:sp>
      <p:cxnSp>
        <p:nvCxnSpPr>
          <p:cNvPr id="34" name="Connector 33"/>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36" name="TextBox 35"/>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HISTORY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Recent commits  (1/2)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most recent commits on the inspected branch, newest first.</a:t>
            </a:r>
          </a:p>
        </p:txBody>
      </p:sp>
      <p:sp>
        <p:nvSpPr>
          <p:cNvPr id="8" name="Rounded Rectangle 7"/>
          <p:cNvSpPr/>
          <p:nvPr/>
        </p:nvSpPr>
        <p:spPr>
          <a:xfrm>
            <a:off x="566928" y="2084831"/>
            <a:ext cx="11057839" cy="4073652"/>
          </a:xfrm>
          <a:prstGeom prst="roundRect">
            <a:avLst>
              <a:gd name="adj" fmla="val 1795"/>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118063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COMMIT</a:t>
            </a:r>
          </a:p>
        </p:txBody>
      </p:sp>
      <p:sp>
        <p:nvSpPr>
          <p:cNvPr id="11" name="TextBox 10"/>
          <p:cNvSpPr txBox="1"/>
          <p:nvPr/>
        </p:nvSpPr>
        <p:spPr>
          <a:xfrm>
            <a:off x="1967020" y="2121408"/>
            <a:ext cx="140179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DATE</a:t>
            </a:r>
          </a:p>
        </p:txBody>
      </p:sp>
      <p:sp>
        <p:nvSpPr>
          <p:cNvPr id="12" name="TextBox 11"/>
          <p:cNvSpPr txBox="1"/>
          <p:nvPr/>
        </p:nvSpPr>
        <p:spPr>
          <a:xfrm>
            <a:off x="3515118" y="2121408"/>
            <a:ext cx="803649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SUBJECT</a:t>
            </a:r>
          </a:p>
        </p:txBody>
      </p:sp>
      <p:sp>
        <p:nvSpPr>
          <p:cNvPr id="13" name="TextBox 12"/>
          <p:cNvSpPr txBox="1"/>
          <p:nvPr/>
        </p:nvSpPr>
        <p:spPr>
          <a:xfrm>
            <a:off x="640080" y="2505456"/>
            <a:ext cx="1180636" cy="393192"/>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9915938a</a:t>
            </a:r>
          </a:p>
        </p:txBody>
      </p:sp>
      <p:sp>
        <p:nvSpPr>
          <p:cNvPr id="14" name="TextBox 13"/>
          <p:cNvSpPr txBox="1"/>
          <p:nvPr/>
        </p:nvSpPr>
        <p:spPr>
          <a:xfrm>
            <a:off x="1967020" y="2505456"/>
            <a:ext cx="1401793" cy="393192"/>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2026-10-27</a:t>
            </a:r>
          </a:p>
        </p:txBody>
      </p:sp>
      <p:sp>
        <p:nvSpPr>
          <p:cNvPr id="15" name="TextBox 14"/>
          <p:cNvSpPr txBox="1"/>
          <p:nvPr/>
        </p:nvSpPr>
        <p:spPr>
          <a:xfrm>
            <a:off x="3515118" y="2505456"/>
            <a:ext cx="8036497" cy="393192"/>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Fix on prompting flow correction with conversation_user_id, and answering handling, ans some additional GUI fixes, by Tñamaitni's-AutoBot.</a:t>
            </a:r>
          </a:p>
        </p:txBody>
      </p:sp>
      <p:sp>
        <p:nvSpPr>
          <p:cNvPr id="16" name="Rectangle 15"/>
          <p:cNvSpPr/>
          <p:nvPr/>
        </p:nvSpPr>
        <p:spPr>
          <a:xfrm>
            <a:off x="585216" y="2935224"/>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0080" y="2971800"/>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31df8a8c</a:t>
            </a:r>
          </a:p>
        </p:txBody>
      </p:sp>
      <p:sp>
        <p:nvSpPr>
          <p:cNvPr id="18" name="TextBox 17"/>
          <p:cNvSpPr txBox="1"/>
          <p:nvPr/>
        </p:nvSpPr>
        <p:spPr>
          <a:xfrm>
            <a:off x="1967020" y="2971800"/>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2026-10-24</a:t>
            </a:r>
          </a:p>
        </p:txBody>
      </p:sp>
      <p:sp>
        <p:nvSpPr>
          <p:cNvPr id="19" name="TextBox 18"/>
          <p:cNvSpPr txBox="1"/>
          <p:nvPr/>
        </p:nvSpPr>
        <p:spPr>
          <a:xfrm>
            <a:off x="3515118" y="2971800"/>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Improving name localization of tools at mcp agent, by angelahack1</a:t>
            </a:r>
          </a:p>
        </p:txBody>
      </p:sp>
      <p:sp>
        <p:nvSpPr>
          <p:cNvPr id="20" name="TextBox 19"/>
          <p:cNvSpPr txBox="1"/>
          <p:nvPr/>
        </p:nvSpPr>
        <p:spPr>
          <a:xfrm>
            <a:off x="640080" y="3278124"/>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f005326a</a:t>
            </a:r>
          </a:p>
        </p:txBody>
      </p:sp>
      <p:sp>
        <p:nvSpPr>
          <p:cNvPr id="21" name="TextBox 20"/>
          <p:cNvSpPr txBox="1"/>
          <p:nvPr/>
        </p:nvSpPr>
        <p:spPr>
          <a:xfrm>
            <a:off x="1967020" y="3278124"/>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2026-10-23</a:t>
            </a:r>
          </a:p>
        </p:txBody>
      </p:sp>
      <p:sp>
        <p:nvSpPr>
          <p:cNvPr id="22" name="TextBox 21"/>
          <p:cNvSpPr txBox="1"/>
          <p:nvPr/>
        </p:nvSpPr>
        <p:spPr>
          <a:xfrm>
            <a:off x="3515118" y="3278124"/>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Bumping everything to 1.91.0, by Tlamatini's-AutoBot.</a:t>
            </a:r>
          </a:p>
        </p:txBody>
      </p:sp>
      <p:sp>
        <p:nvSpPr>
          <p:cNvPr id="23" name="Rectangle 22"/>
          <p:cNvSpPr/>
          <p:nvPr/>
        </p:nvSpPr>
        <p:spPr>
          <a:xfrm>
            <a:off x="585216" y="3547872"/>
            <a:ext cx="11021263" cy="466344"/>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640080" y="3584448"/>
            <a:ext cx="1180636" cy="393192"/>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a771d27c</a:t>
            </a:r>
          </a:p>
        </p:txBody>
      </p:sp>
      <p:sp>
        <p:nvSpPr>
          <p:cNvPr id="25" name="TextBox 24"/>
          <p:cNvSpPr txBox="1"/>
          <p:nvPr/>
        </p:nvSpPr>
        <p:spPr>
          <a:xfrm>
            <a:off x="1967020" y="3584448"/>
            <a:ext cx="1401793" cy="393192"/>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2026-10-23</a:t>
            </a:r>
          </a:p>
        </p:txBody>
      </p:sp>
      <p:sp>
        <p:nvSpPr>
          <p:cNvPr id="26" name="TextBox 25"/>
          <p:cNvSpPr txBox="1"/>
          <p:nvPr/>
        </p:nvSpPr>
        <p:spPr>
          <a:xfrm>
            <a:off x="3515118" y="3584448"/>
            <a:ext cx="8036497" cy="393192"/>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Implemented the configuration menu entry and all the mechnism to configure the Live Editor &amp; Terminater parameters for Tlamatini's GUI, by Tlamatini's-AutoBot.</a:t>
            </a:r>
          </a:p>
        </p:txBody>
      </p:sp>
      <p:sp>
        <p:nvSpPr>
          <p:cNvPr id="27" name="TextBox 26"/>
          <p:cNvSpPr txBox="1"/>
          <p:nvPr/>
        </p:nvSpPr>
        <p:spPr>
          <a:xfrm>
            <a:off x="640080" y="4050791"/>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23be0a25</a:t>
            </a:r>
          </a:p>
        </p:txBody>
      </p:sp>
      <p:sp>
        <p:nvSpPr>
          <p:cNvPr id="28" name="TextBox 27"/>
          <p:cNvSpPr txBox="1"/>
          <p:nvPr/>
        </p:nvSpPr>
        <p:spPr>
          <a:xfrm>
            <a:off x="1967020" y="4050791"/>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2026-10-22</a:t>
            </a:r>
          </a:p>
        </p:txBody>
      </p:sp>
      <p:sp>
        <p:nvSpPr>
          <p:cNvPr id="29" name="TextBox 28"/>
          <p:cNvSpPr txBox="1"/>
          <p:nvPr/>
        </p:nvSpPr>
        <p:spPr>
          <a:xfrm>
            <a:off x="3515118" y="4050791"/>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New README, more attractive, by Tlamatini's-AutoBot.</a:t>
            </a:r>
          </a:p>
        </p:txBody>
      </p:sp>
      <p:sp>
        <p:nvSpPr>
          <p:cNvPr id="30" name="Rectangle 29"/>
          <p:cNvSpPr/>
          <p:nvPr/>
        </p:nvSpPr>
        <p:spPr>
          <a:xfrm>
            <a:off x="585216" y="4320540"/>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640080" y="4357116"/>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48a139ee</a:t>
            </a:r>
          </a:p>
        </p:txBody>
      </p:sp>
      <p:sp>
        <p:nvSpPr>
          <p:cNvPr id="32" name="TextBox 31"/>
          <p:cNvSpPr txBox="1"/>
          <p:nvPr/>
        </p:nvSpPr>
        <p:spPr>
          <a:xfrm>
            <a:off x="1967020" y="4357116"/>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2026-10-22</a:t>
            </a:r>
          </a:p>
        </p:txBody>
      </p:sp>
      <p:sp>
        <p:nvSpPr>
          <p:cNvPr id="33" name="TextBox 32"/>
          <p:cNvSpPr txBox="1"/>
          <p:nvPr/>
        </p:nvSpPr>
        <p:spPr>
          <a:xfrm>
            <a:off x="3515118" y="4357116"/>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Bumping to version 1.90.0, by Tlamatini's-AutoBot.</a:t>
            </a:r>
          </a:p>
        </p:txBody>
      </p:sp>
      <p:sp>
        <p:nvSpPr>
          <p:cNvPr id="34" name="TextBox 33"/>
          <p:cNvSpPr txBox="1"/>
          <p:nvPr/>
        </p:nvSpPr>
        <p:spPr>
          <a:xfrm>
            <a:off x="640080" y="4663440"/>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5403fa49</a:t>
            </a:r>
          </a:p>
        </p:txBody>
      </p:sp>
      <p:sp>
        <p:nvSpPr>
          <p:cNvPr id="35" name="TextBox 34"/>
          <p:cNvSpPr txBox="1"/>
          <p:nvPr/>
        </p:nvSpPr>
        <p:spPr>
          <a:xfrm>
            <a:off x="1967020" y="4663440"/>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2026-10-22</a:t>
            </a:r>
          </a:p>
        </p:txBody>
      </p:sp>
      <p:sp>
        <p:nvSpPr>
          <p:cNvPr id="36" name="TextBox 35"/>
          <p:cNvSpPr txBox="1"/>
          <p:nvPr/>
        </p:nvSpPr>
        <p:spPr>
          <a:xfrm>
            <a:off x="3515118" y="4663440"/>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Just a cleaning of config file, by Tlamatini's-AutoBot.</a:t>
            </a:r>
          </a:p>
        </p:txBody>
      </p:sp>
      <p:sp>
        <p:nvSpPr>
          <p:cNvPr id="37" name="Rectangle 36"/>
          <p:cNvSpPr/>
          <p:nvPr/>
        </p:nvSpPr>
        <p:spPr>
          <a:xfrm>
            <a:off x="585216" y="4933188"/>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640080" y="4969764"/>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939acf6b</a:t>
            </a:r>
          </a:p>
        </p:txBody>
      </p:sp>
      <p:sp>
        <p:nvSpPr>
          <p:cNvPr id="39" name="TextBox 38"/>
          <p:cNvSpPr txBox="1"/>
          <p:nvPr/>
        </p:nvSpPr>
        <p:spPr>
          <a:xfrm>
            <a:off x="1967020" y="4969764"/>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2026-10-22</a:t>
            </a:r>
          </a:p>
        </p:txBody>
      </p:sp>
      <p:sp>
        <p:nvSpPr>
          <p:cNvPr id="40" name="TextBox 39"/>
          <p:cNvSpPr txBox="1"/>
          <p:nvPr/>
        </p:nvSpPr>
        <p:spPr>
          <a:xfrm>
            <a:off x="3515118" y="4969764"/>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Making some 'tryings' to GUI notifications, by Tlamatini's-AutoBot.</a:t>
            </a:r>
          </a:p>
        </p:txBody>
      </p:sp>
      <p:sp>
        <p:nvSpPr>
          <p:cNvPr id="41" name="TextBox 40"/>
          <p:cNvSpPr txBox="1"/>
          <p:nvPr/>
        </p:nvSpPr>
        <p:spPr>
          <a:xfrm>
            <a:off x="640080" y="5276088"/>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8c577d3a</a:t>
            </a:r>
          </a:p>
        </p:txBody>
      </p:sp>
      <p:sp>
        <p:nvSpPr>
          <p:cNvPr id="42" name="TextBox 41"/>
          <p:cNvSpPr txBox="1"/>
          <p:nvPr/>
        </p:nvSpPr>
        <p:spPr>
          <a:xfrm>
            <a:off x="1967020" y="5276088"/>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2026-10-22</a:t>
            </a:r>
          </a:p>
        </p:txBody>
      </p:sp>
      <p:sp>
        <p:nvSpPr>
          <p:cNvPr id="43" name="TextBox 42"/>
          <p:cNvSpPr txBox="1"/>
          <p:nvPr/>
        </p:nvSpPr>
        <p:spPr>
          <a:xfrm>
            <a:off x="3515118" y="5276088"/>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Bumping to version 1.90.0 by Tlamatini's-AutoBot.</a:t>
            </a:r>
          </a:p>
        </p:txBody>
      </p:sp>
      <p:sp>
        <p:nvSpPr>
          <p:cNvPr id="44" name="Rectangle 43"/>
          <p:cNvSpPr/>
          <p:nvPr/>
        </p:nvSpPr>
        <p:spPr>
          <a:xfrm>
            <a:off x="585216" y="5545836"/>
            <a:ext cx="11021263" cy="306323"/>
          </a:xfrm>
          <a:prstGeom prst="rect">
            <a:avLst/>
          </a:prstGeom>
          <a:solidFill>
            <a:srgbClr val="1824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640080" y="5582412"/>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d274f89c</a:t>
            </a:r>
          </a:p>
        </p:txBody>
      </p:sp>
      <p:sp>
        <p:nvSpPr>
          <p:cNvPr id="46" name="TextBox 45"/>
          <p:cNvSpPr txBox="1"/>
          <p:nvPr/>
        </p:nvSpPr>
        <p:spPr>
          <a:xfrm>
            <a:off x="1967020" y="5582412"/>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2026-10-22</a:t>
            </a:r>
          </a:p>
        </p:txBody>
      </p:sp>
      <p:sp>
        <p:nvSpPr>
          <p:cNvPr id="47" name="TextBox 46"/>
          <p:cNvSpPr txBox="1"/>
          <p:nvPr/>
        </p:nvSpPr>
        <p:spPr>
          <a:xfrm>
            <a:off x="3515118" y="5582412"/>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Fine-tunning Tlamatini on Interactor and Terminater, by Tlamatini's-AutoBot.</a:t>
            </a:r>
          </a:p>
        </p:txBody>
      </p:sp>
      <p:sp>
        <p:nvSpPr>
          <p:cNvPr id="48" name="TextBox 47"/>
          <p:cNvSpPr txBox="1"/>
          <p:nvPr/>
        </p:nvSpPr>
        <p:spPr>
          <a:xfrm>
            <a:off x="640080" y="5888736"/>
            <a:ext cx="1180636" cy="233171"/>
          </a:xfrm>
          <a:prstGeom prst="rect">
            <a:avLst/>
          </a:prstGeom>
          <a:noFill/>
        </p:spPr>
        <p:txBody>
          <a:bodyPr wrap="square" lIns="45720" rIns="45720" tIns="27432" bIns="27432" anchor="ctr">
            <a:noAutofit/>
          </a:bodyPr>
          <a:lstStyle/>
          <a:p>
            <a:pPr algn="l">
              <a:lnSpc>
                <a:spcPct val="100000"/>
              </a:lnSpc>
            </a:pPr>
            <a:r>
              <a:rPr sz="1050" b="0" i="0">
                <a:solidFill>
                  <a:srgbClr val="F7F2E8"/>
                </a:solidFill>
                <a:latin typeface="Segoe UI Semibold"/>
              </a:rPr>
              <a:t>ebc5c3b4</a:t>
            </a:r>
          </a:p>
        </p:txBody>
      </p:sp>
      <p:sp>
        <p:nvSpPr>
          <p:cNvPr id="49" name="TextBox 48"/>
          <p:cNvSpPr txBox="1"/>
          <p:nvPr/>
        </p:nvSpPr>
        <p:spPr>
          <a:xfrm>
            <a:off x="1967020" y="5888736"/>
            <a:ext cx="1401793"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2026-10-22</a:t>
            </a:r>
          </a:p>
        </p:txBody>
      </p:sp>
      <p:sp>
        <p:nvSpPr>
          <p:cNvPr id="50" name="TextBox 49"/>
          <p:cNvSpPr txBox="1"/>
          <p:nvPr/>
        </p:nvSpPr>
        <p:spPr>
          <a:xfrm>
            <a:off x="3515118" y="5888736"/>
            <a:ext cx="8036497" cy="233171"/>
          </a:xfrm>
          <a:prstGeom prst="rect">
            <a:avLst/>
          </a:prstGeom>
          <a:noFill/>
        </p:spPr>
        <p:txBody>
          <a:bodyPr wrap="square" lIns="45720" rIns="45720" tIns="27432" bIns="27432" anchor="ctr">
            <a:noAutofit/>
          </a:bodyPr>
          <a:lstStyle/>
          <a:p>
            <a:pPr algn="l">
              <a:lnSpc>
                <a:spcPct val="100000"/>
              </a:lnSpc>
            </a:pPr>
            <a:r>
              <a:rPr sz="1050" b="0" i="0">
                <a:solidFill>
                  <a:srgbClr val="A7B2B0"/>
                </a:solidFill>
                <a:latin typeface="Segoe UI"/>
              </a:rPr>
              <a:t>Fine-tunning Tlamatini on Interactor and Terminater, by Tlamatini's-AutoBot.</a:t>
            </a:r>
          </a:p>
        </p:txBody>
      </p:sp>
      <p:cxnSp>
        <p:nvCxnSpPr>
          <p:cNvPr id="51" name="Connector 50"/>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53" name="TextBox 52"/>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HISTORY</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Recent commits  (2/2)</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most recent commits on the inspected branch, newest first.</a:t>
            </a:r>
          </a:p>
        </p:txBody>
      </p:sp>
      <p:sp>
        <p:nvSpPr>
          <p:cNvPr id="8" name="Rounded Rectangle 7"/>
          <p:cNvSpPr/>
          <p:nvPr/>
        </p:nvSpPr>
        <p:spPr>
          <a:xfrm>
            <a:off x="566928" y="2084831"/>
            <a:ext cx="11057839" cy="758952"/>
          </a:xfrm>
          <a:prstGeom prst="roundRect">
            <a:avLst>
              <a:gd name="adj" fmla="val 9638"/>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566928" y="2084831"/>
            <a:ext cx="11057839" cy="384048"/>
          </a:xfrm>
          <a:prstGeom prst="roundRect">
            <a:avLst>
              <a:gd name="adj" fmla="val 19047"/>
            </a:avLst>
          </a:prstGeom>
          <a:solidFill>
            <a:srgbClr val="151F2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40080" y="2121408"/>
            <a:ext cx="1180636"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COMMIT</a:t>
            </a:r>
          </a:p>
        </p:txBody>
      </p:sp>
      <p:sp>
        <p:nvSpPr>
          <p:cNvPr id="11" name="TextBox 10"/>
          <p:cNvSpPr txBox="1"/>
          <p:nvPr/>
        </p:nvSpPr>
        <p:spPr>
          <a:xfrm>
            <a:off x="1967020" y="2121408"/>
            <a:ext cx="1401793"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DATE</a:t>
            </a:r>
          </a:p>
        </p:txBody>
      </p:sp>
      <p:sp>
        <p:nvSpPr>
          <p:cNvPr id="12" name="TextBox 11"/>
          <p:cNvSpPr txBox="1"/>
          <p:nvPr/>
        </p:nvSpPr>
        <p:spPr>
          <a:xfrm>
            <a:off x="3515118" y="2121408"/>
            <a:ext cx="8036497" cy="310896"/>
          </a:xfrm>
          <a:prstGeom prst="rect">
            <a:avLst/>
          </a:prstGeom>
          <a:noFill/>
        </p:spPr>
        <p:txBody>
          <a:bodyPr wrap="square" lIns="45720" rIns="45720" tIns="27432" bIns="27432" anchor="ctr">
            <a:noAutofit/>
          </a:bodyPr>
          <a:lstStyle/>
          <a:p>
            <a:pPr algn="l">
              <a:lnSpc>
                <a:spcPct val="100000"/>
              </a:lnSpc>
            </a:pPr>
            <a:r>
              <a:rPr sz="1000" b="0" i="0" spc="120">
                <a:solidFill>
                  <a:srgbClr val="E2B462"/>
                </a:solidFill>
                <a:latin typeface="Segoe UI Semibold"/>
              </a:rPr>
              <a:t>SUBJECT</a:t>
            </a:r>
          </a:p>
        </p:txBody>
      </p:sp>
      <p:sp>
        <p:nvSpPr>
          <p:cNvPr id="13" name="TextBox 12"/>
          <p:cNvSpPr txBox="1"/>
          <p:nvPr/>
        </p:nvSpPr>
        <p:spPr>
          <a:xfrm>
            <a:off x="640080" y="2505456"/>
            <a:ext cx="1180636" cy="301752"/>
          </a:xfrm>
          <a:prstGeom prst="rect">
            <a:avLst/>
          </a:prstGeom>
          <a:noFill/>
        </p:spPr>
        <p:txBody>
          <a:bodyPr wrap="square" lIns="45720" rIns="45720" tIns="27432" bIns="27432" anchor="ctr">
            <a:noAutofit/>
          </a:bodyPr>
          <a:lstStyle/>
          <a:p>
            <a:pPr algn="l">
              <a:lnSpc>
                <a:spcPct val="100000"/>
              </a:lnSpc>
            </a:pPr>
            <a:r>
              <a:rPr sz="1500" b="0" i="0">
                <a:solidFill>
                  <a:srgbClr val="F7F2E8"/>
                </a:solidFill>
                <a:latin typeface="Segoe UI Semibold"/>
              </a:rPr>
              <a:t>13508750</a:t>
            </a:r>
          </a:p>
        </p:txBody>
      </p:sp>
      <p:sp>
        <p:nvSpPr>
          <p:cNvPr id="14" name="TextBox 13"/>
          <p:cNvSpPr txBox="1"/>
          <p:nvPr/>
        </p:nvSpPr>
        <p:spPr>
          <a:xfrm>
            <a:off x="1967020" y="2505456"/>
            <a:ext cx="1401793"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2026-10-21</a:t>
            </a:r>
          </a:p>
        </p:txBody>
      </p:sp>
      <p:sp>
        <p:nvSpPr>
          <p:cNvPr id="15" name="TextBox 14"/>
          <p:cNvSpPr txBox="1"/>
          <p:nvPr/>
        </p:nvSpPr>
        <p:spPr>
          <a:xfrm>
            <a:off x="3515118" y="2505456"/>
            <a:ext cx="8036497" cy="301752"/>
          </a:xfrm>
          <a:prstGeom prst="rect">
            <a:avLst/>
          </a:prstGeom>
          <a:noFill/>
        </p:spPr>
        <p:txBody>
          <a:bodyPr wrap="square" lIns="45720" rIns="45720" tIns="27432" bIns="27432" anchor="ctr">
            <a:noAutofit/>
          </a:bodyPr>
          <a:lstStyle/>
          <a:p>
            <a:pPr algn="l">
              <a:lnSpc>
                <a:spcPct val="100000"/>
              </a:lnSpc>
            </a:pPr>
            <a:r>
              <a:rPr sz="1500" b="0" i="0">
                <a:solidFill>
                  <a:srgbClr val="A7B2B0"/>
                </a:solidFill>
                <a:latin typeface="Segoe UI"/>
              </a:rPr>
              <a:t>Enabling Tlamatini's GUI the edition of files!!!, by Tlamaitni's--AutoBot.</a:t>
            </a:r>
          </a:p>
        </p:txBody>
      </p:sp>
      <p:cxnSp>
        <p:nvCxnSpPr>
          <p:cNvPr id="16" name="Connector 1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18" name="TextBox 1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content.png"/>
          <p:cNvPicPr>
            <a:picLocks noChangeAspect="1"/>
          </p:cNvPicPr>
          <p:nvPr/>
        </p:nvPicPr>
        <p:blipFill>
          <a:blip r:embed="rId2"/>
          <a:stretch>
            <a:fillRect/>
          </a:stretch>
        </p:blipFill>
        <p:spPr>
          <a:xfrm>
            <a:off x="0" y="0"/>
            <a:ext cx="12191695" cy="6858000"/>
          </a:xfrm>
          <a:prstGeom prst="rect">
            <a:avLst/>
          </a:prstGeom>
        </p:spPr>
      </p:pic>
      <p:sp>
        <p:nvSpPr>
          <p:cNvPr id="3" name="Diamond 2"/>
          <p:cNvSpPr/>
          <p:nvPr/>
        </p:nvSpPr>
        <p:spPr>
          <a:xfrm>
            <a:off x="566928" y="457200"/>
            <a:ext cx="100584" cy="100584"/>
          </a:xfrm>
          <a:prstGeom prst="diamond">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749808" y="365760"/>
            <a:ext cx="8229600" cy="292608"/>
          </a:xfrm>
          <a:prstGeom prst="rect">
            <a:avLst/>
          </a:prstGeom>
          <a:noFill/>
        </p:spPr>
        <p:txBody>
          <a:bodyPr wrap="square" lIns="45720" rIns="45720" tIns="27432" bIns="27432" anchor="t">
            <a:noAutofit/>
          </a:bodyPr>
          <a:lstStyle/>
          <a:p>
            <a:pPr algn="l">
              <a:lnSpc>
                <a:spcPct val="100000"/>
              </a:lnSpc>
            </a:pPr>
            <a:r>
              <a:rPr sz="1100" b="0" i="0" spc="240">
                <a:solidFill>
                  <a:srgbClr val="C98457"/>
                </a:solidFill>
                <a:latin typeface="Segoe UI Semibold"/>
              </a:rPr>
              <a:t>METHOD</a:t>
            </a:r>
          </a:p>
        </p:txBody>
      </p:sp>
      <p:sp>
        <p:nvSpPr>
          <p:cNvPr id="5" name="TextBox 4"/>
          <p:cNvSpPr txBox="1"/>
          <p:nvPr/>
        </p:nvSpPr>
        <p:spPr>
          <a:xfrm>
            <a:off x="539496" y="676656"/>
            <a:ext cx="11057839" cy="658368"/>
          </a:xfrm>
          <a:prstGeom prst="rect">
            <a:avLst/>
          </a:prstGeom>
          <a:noFill/>
        </p:spPr>
        <p:txBody>
          <a:bodyPr wrap="square" lIns="45720" rIns="45720" tIns="27432" bIns="27432" anchor="t">
            <a:noAutofit/>
          </a:bodyPr>
          <a:lstStyle/>
          <a:p>
            <a:pPr algn="l">
              <a:lnSpc>
                <a:spcPct val="100000"/>
              </a:lnSpc>
            </a:pPr>
            <a:r>
              <a:rPr sz="3100" b="0" i="0">
                <a:solidFill>
                  <a:srgbClr val="F7F2E8"/>
                </a:solidFill>
                <a:latin typeface="Palatino Linotype"/>
              </a:rPr>
              <a:t>How these numbers were produced</a:t>
            </a:r>
          </a:p>
        </p:txBody>
      </p:sp>
      <p:sp>
        <p:nvSpPr>
          <p:cNvPr id="6" name="Rectangle 5"/>
          <p:cNvSpPr/>
          <p:nvPr/>
        </p:nvSpPr>
        <p:spPr>
          <a:xfrm>
            <a:off x="566928" y="1344168"/>
            <a:ext cx="822960" cy="36576"/>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66928" y="1444752"/>
            <a:ext cx="10692079" cy="585216"/>
          </a:xfrm>
          <a:prstGeom prst="rect">
            <a:avLst/>
          </a:prstGeom>
          <a:noFill/>
        </p:spPr>
        <p:txBody>
          <a:bodyPr wrap="square" lIns="45720" rIns="45720" tIns="27432" bIns="27432" anchor="t">
            <a:noAutofit/>
          </a:bodyPr>
          <a:lstStyle/>
          <a:p>
            <a:pPr algn="l">
              <a:lnSpc>
                <a:spcPct val="100000"/>
              </a:lnSpc>
            </a:pPr>
            <a:r>
              <a:rPr sz="1450" b="0" i="0">
                <a:solidFill>
                  <a:srgbClr val="A7B2B0"/>
                </a:solidFill>
                <a:latin typeface="Segoe UI Semilight"/>
              </a:rPr>
              <a:t>The inventory is reproducible: run the generator again and the same tree yields the same counts.</a:t>
            </a:r>
          </a:p>
        </p:txBody>
      </p:sp>
      <p:sp>
        <p:nvSpPr>
          <p:cNvPr id="8" name="Rounded Rectangle 7"/>
          <p:cNvSpPr/>
          <p:nvPr/>
        </p:nvSpPr>
        <p:spPr>
          <a:xfrm>
            <a:off x="566928"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ectangle 8"/>
          <p:cNvSpPr/>
          <p:nvPr/>
        </p:nvSpPr>
        <p:spPr>
          <a:xfrm>
            <a:off x="731520" y="2212848"/>
            <a:ext cx="502920" cy="45720"/>
          </a:xfrm>
          <a:prstGeom prst="rect">
            <a:avLst/>
          </a:prstGeom>
          <a:solidFill>
            <a:srgbClr val="3BBE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94944"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Scope</a:t>
            </a:r>
          </a:p>
        </p:txBody>
      </p:sp>
      <p:sp>
        <p:nvSpPr>
          <p:cNvPr id="11" name="TextBox 10"/>
          <p:cNvSpPr txBox="1"/>
          <p:nvPr/>
        </p:nvSpPr>
        <p:spPr>
          <a:xfrm>
            <a:off x="694944"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Every Git-tracked file plus unignored working-tree additions; ignored build output, caches and runtime state are excluded.</a:t>
            </a:r>
          </a:p>
        </p:txBody>
      </p:sp>
      <p:sp>
        <p:nvSpPr>
          <p:cNvPr id="12" name="Rounded Rectangle 11"/>
          <p:cNvSpPr/>
          <p:nvPr/>
        </p:nvSpPr>
        <p:spPr>
          <a:xfrm>
            <a:off x="4319930"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4484522" y="2212848"/>
            <a:ext cx="502920" cy="45720"/>
          </a:xfrm>
          <a:prstGeom prst="rect">
            <a:avLst/>
          </a:prstGeom>
          <a:solidFill>
            <a:srgbClr val="C984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447946"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Text only</a:t>
            </a:r>
          </a:p>
        </p:txBody>
      </p:sp>
      <p:sp>
        <p:nvSpPr>
          <p:cNvPr id="15" name="TextBox 14"/>
          <p:cNvSpPr txBox="1"/>
          <p:nvPr/>
        </p:nvSpPr>
        <p:spPr>
          <a:xfrm>
            <a:off x="4447946"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Binary assets such as images, fonts and archives are counted as files, never as lines.</a:t>
            </a:r>
          </a:p>
        </p:txBody>
      </p:sp>
      <p:sp>
        <p:nvSpPr>
          <p:cNvPr id="16" name="Rounded Rectangle 15"/>
          <p:cNvSpPr/>
          <p:nvPr/>
        </p:nvSpPr>
        <p:spPr>
          <a:xfrm>
            <a:off x="8072932" y="2084831"/>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8237524" y="2212848"/>
            <a:ext cx="50292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200948" y="2304287"/>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Python</a:t>
            </a:r>
          </a:p>
        </p:txBody>
      </p:sp>
      <p:sp>
        <p:nvSpPr>
          <p:cNvPr id="19" name="TextBox 18"/>
          <p:cNvSpPr txBox="1"/>
          <p:nvPr/>
        </p:nvSpPr>
        <p:spPr>
          <a:xfrm>
            <a:off x="8200948" y="2657855"/>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Tokenized: comments, blank lines and module, class and function docstrings are excluded.</a:t>
            </a:r>
          </a:p>
        </p:txBody>
      </p:sp>
      <p:sp>
        <p:nvSpPr>
          <p:cNvPr id="20" name="Rounded Rectangle 19"/>
          <p:cNvSpPr/>
          <p:nvPr/>
        </p:nvSpPr>
        <p:spPr>
          <a:xfrm>
            <a:off x="566928"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ectangle 20"/>
          <p:cNvSpPr/>
          <p:nvPr/>
        </p:nvSpPr>
        <p:spPr>
          <a:xfrm>
            <a:off x="731520" y="4370832"/>
            <a:ext cx="502920" cy="45720"/>
          </a:xfrm>
          <a:prstGeom prst="rect">
            <a:avLst/>
          </a:prstGeom>
          <a:solidFill>
            <a:srgbClr val="46D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94944"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Other languages</a:t>
            </a:r>
          </a:p>
        </p:txBody>
      </p:sp>
      <p:sp>
        <p:nvSpPr>
          <p:cNvPr id="23" name="TextBox 22"/>
          <p:cNvSpPr txBox="1"/>
          <p:nvPr/>
        </p:nvSpPr>
        <p:spPr>
          <a:xfrm>
            <a:off x="694944"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Block and line comments are stripped, then non-blank lines are counted.</a:t>
            </a:r>
          </a:p>
        </p:txBody>
      </p:sp>
      <p:sp>
        <p:nvSpPr>
          <p:cNvPr id="24" name="Rounded Rectangle 23"/>
          <p:cNvSpPr/>
          <p:nvPr/>
        </p:nvSpPr>
        <p:spPr>
          <a:xfrm>
            <a:off x="4319930"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ectangle 24"/>
          <p:cNvSpPr/>
          <p:nvPr/>
        </p:nvSpPr>
        <p:spPr>
          <a:xfrm>
            <a:off x="4484522" y="4370832"/>
            <a:ext cx="502920" cy="45720"/>
          </a:xfrm>
          <a:prstGeom prst="rect">
            <a:avLst/>
          </a:prstGeom>
          <a:solidFill>
            <a:srgbClr val="D25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447946"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No private values</a:t>
            </a:r>
          </a:p>
        </p:txBody>
      </p:sp>
      <p:sp>
        <p:nvSpPr>
          <p:cNvPr id="27" name="TextBox 26"/>
          <p:cNvSpPr txBox="1"/>
          <p:nvPr/>
        </p:nvSpPr>
        <p:spPr>
          <a:xfrm>
            <a:off x="4447946" y="4815840"/>
            <a:ext cx="3295802" cy="1292352"/>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Configuration values, credentials and addresses are never reproduced.</a:t>
            </a:r>
          </a:p>
        </p:txBody>
      </p:sp>
      <p:sp>
        <p:nvSpPr>
          <p:cNvPr id="28" name="Rounded Rectangle 27"/>
          <p:cNvSpPr/>
          <p:nvPr/>
        </p:nvSpPr>
        <p:spPr>
          <a:xfrm>
            <a:off x="8072932" y="4242816"/>
            <a:ext cx="3551834" cy="1956816"/>
          </a:xfrm>
          <a:prstGeom prst="roundRect">
            <a:avLst>
              <a:gd name="adj" fmla="val 5607"/>
            </a:avLst>
          </a:prstGeom>
          <a:solidFill>
            <a:srgbClr val="121A1D"/>
          </a:solidFill>
          <a:ln w="9525">
            <a:solidFill>
              <a:srgbClr val="2A3A4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ectangle 28"/>
          <p:cNvSpPr/>
          <p:nvPr/>
        </p:nvSpPr>
        <p:spPr>
          <a:xfrm>
            <a:off x="8237524" y="4370832"/>
            <a:ext cx="502920" cy="45720"/>
          </a:xfrm>
          <a:prstGeom prst="rect">
            <a:avLst/>
          </a:prstGeom>
          <a:solidFill>
            <a:srgbClr val="D957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200948" y="4462272"/>
            <a:ext cx="3295802" cy="353568"/>
          </a:xfrm>
          <a:prstGeom prst="rect">
            <a:avLst/>
          </a:prstGeom>
          <a:noFill/>
        </p:spPr>
        <p:txBody>
          <a:bodyPr wrap="square" lIns="45720" rIns="45720" tIns="27432" bIns="27432" anchor="t">
            <a:noAutofit/>
          </a:bodyPr>
          <a:lstStyle/>
          <a:p>
            <a:pPr algn="l">
              <a:lnSpc>
                <a:spcPct val="100000"/>
              </a:lnSpc>
            </a:pPr>
            <a:r>
              <a:rPr sz="1600" b="0" i="0">
                <a:solidFill>
                  <a:srgbClr val="F7F2E8"/>
                </a:solidFill>
                <a:latin typeface="Segoe UI Semibold"/>
              </a:rPr>
              <a:t>Regenerate</a:t>
            </a:r>
          </a:p>
        </p:txBody>
      </p:sp>
      <p:sp>
        <p:nvSpPr>
          <p:cNvPr id="31" name="TextBox 30"/>
          <p:cNvSpPr txBox="1"/>
          <p:nvPr/>
        </p:nvSpPr>
        <p:spPr>
          <a:xfrm>
            <a:off x="8200948" y="4815840"/>
            <a:ext cx="3295802" cy="1292352"/>
          </a:xfrm>
          <a:prstGeom prst="rect">
            <a:avLst/>
          </a:prstGeom>
          <a:noFill/>
        </p:spPr>
        <p:txBody>
          <a:bodyPr wrap="square" lIns="45720" rIns="45720" tIns="27432" bIns="27432" anchor="t">
            <a:noAutofit/>
          </a:bodyPr>
          <a:lstStyle/>
          <a:p>
            <a:pPr algn="l">
              <a:lnSpc>
                <a:spcPct val="100000"/>
              </a:lnSpc>
            </a:pPr>
            <a:r>
              <a:rPr sz="1200" b="0" i="0">
                <a:solidFill>
                  <a:srgbClr val="E2B462"/>
                </a:solidFill>
                <a:latin typeface="Consolas"/>
              </a:rPr>
              <a:t>python Tlamatini\agent\doc_generation\refresh_project_docs.py</a:t>
            </a:r>
          </a:p>
        </p:txBody>
      </p:sp>
      <p:cxnSp>
        <p:nvCxnSpPr>
          <p:cNvPr id="32" name="Connector 31"/>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IX · REPOSITORY FACTS</a:t>
            </a:r>
          </a:p>
        </p:txBody>
      </p:sp>
      <p:sp>
        <p:nvSpPr>
          <p:cNvPr id="34" name="TextBox 33"/>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822960" y="868680"/>
            <a:ext cx="4572000" cy="365760"/>
          </a:xfrm>
          <a:prstGeom prst="rect">
            <a:avLst/>
          </a:prstGeom>
          <a:noFill/>
        </p:spPr>
        <p:txBody>
          <a:bodyPr wrap="square" lIns="45720" rIns="45720" tIns="27432" bIns="27432" anchor="t">
            <a:noAutofit/>
          </a:bodyPr>
          <a:lstStyle/>
          <a:p>
            <a:pPr algn="l">
              <a:lnSpc>
                <a:spcPct val="100000"/>
              </a:lnSpc>
            </a:pPr>
            <a:r>
              <a:rPr sz="1300" b="0" i="0" spc="340">
                <a:solidFill>
                  <a:srgbClr val="E2B462"/>
                </a:solidFill>
                <a:latin typeface="Segoe UI Semibold"/>
              </a:rPr>
              <a:t>APPENDIX</a:t>
            </a:r>
          </a:p>
        </p:txBody>
      </p:sp>
      <p:sp>
        <p:nvSpPr>
          <p:cNvPr id="4" name="TextBox 3"/>
          <p:cNvSpPr txBox="1"/>
          <p:nvPr/>
        </p:nvSpPr>
        <p:spPr>
          <a:xfrm>
            <a:off x="749808" y="1261872"/>
            <a:ext cx="5029200" cy="1691640"/>
          </a:xfrm>
          <a:prstGeom prst="rect">
            <a:avLst/>
          </a:prstGeom>
          <a:noFill/>
        </p:spPr>
        <p:txBody>
          <a:bodyPr wrap="square" lIns="45720" rIns="45720" tIns="27432" bIns="27432" anchor="t">
            <a:noAutofit/>
          </a:bodyPr>
          <a:lstStyle/>
          <a:p>
            <a:pPr algn="l">
              <a:lnSpc>
                <a:spcPct val="100000"/>
              </a:lnSpc>
            </a:pPr>
            <a:r>
              <a:rPr sz="10550" b="0" i="0">
                <a:solidFill>
                  <a:srgbClr val="C98457"/>
                </a:solidFill>
                <a:latin typeface="Palatino Linotype"/>
              </a:rPr>
              <a:t>A</a:t>
            </a:r>
          </a:p>
        </p:txBody>
      </p:sp>
      <p:sp>
        <p:nvSpPr>
          <p:cNvPr id="5" name="TextBox 4"/>
          <p:cNvSpPr txBox="1"/>
          <p:nvPr/>
        </p:nvSpPr>
        <p:spPr>
          <a:xfrm>
            <a:off x="822960" y="2971800"/>
            <a:ext cx="6766560" cy="1280160"/>
          </a:xfrm>
          <a:prstGeom prst="rect">
            <a:avLst/>
          </a:prstGeom>
          <a:noFill/>
        </p:spPr>
        <p:txBody>
          <a:bodyPr wrap="square" lIns="45720" rIns="45720" tIns="27432" bIns="27432" anchor="t">
            <a:noAutofit/>
          </a:bodyPr>
          <a:lstStyle/>
          <a:p>
            <a:pPr algn="l">
              <a:lnSpc>
                <a:spcPct val="100000"/>
              </a:lnSpc>
            </a:pPr>
            <a:r>
              <a:rPr sz="4600" b="0" i="0">
                <a:solidFill>
                  <a:srgbClr val="F7F2E8"/>
                </a:solidFill>
                <a:latin typeface="Palatino Linotype"/>
              </a:rPr>
              <a:t>The application file tree</a:t>
            </a:r>
          </a:p>
        </p:txBody>
      </p:sp>
      <p:sp>
        <p:nvSpPr>
          <p:cNvPr id="6" name="Rectangle 5"/>
          <p:cNvSpPr/>
          <p:nvPr/>
        </p:nvSpPr>
        <p:spPr>
          <a:xfrm>
            <a:off x="841248" y="4315968"/>
            <a:ext cx="1005840" cy="45720"/>
          </a:xfrm>
          <a:prstGeom prst="rect">
            <a:avLst/>
          </a:prstGeom>
          <a:solidFill>
            <a:srgbClr val="E2B4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822960" y="4443984"/>
            <a:ext cx="6400800" cy="731520"/>
          </a:xfrm>
          <a:prstGeom prst="rect">
            <a:avLst/>
          </a:prstGeom>
          <a:noFill/>
        </p:spPr>
        <p:txBody>
          <a:bodyPr wrap="square" lIns="45720" rIns="45720" tIns="27432" bIns="27432" anchor="t">
            <a:noAutofit/>
          </a:bodyPr>
          <a:lstStyle/>
          <a:p>
            <a:pPr algn="l">
              <a:lnSpc>
                <a:spcPct val="100000"/>
              </a:lnSpc>
            </a:pPr>
            <a:r>
              <a:rPr sz="1800" b="0" i="0">
                <a:solidFill>
                  <a:srgbClr val="ECE7DC"/>
                </a:solidFill>
                <a:latin typeface="Segoe UI Light"/>
              </a:rPr>
              <a:t>1,608 application files, with 221 database-history files summarized.</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Tlamatini/</a:t>
            </a:r>
          </a:p>
          <a:p>
            <a:pPr algn="l">
              <a:lnSpc>
                <a:spcPct val="100000"/>
              </a:lnSpc>
            </a:pPr>
            <a:r>
              <a:rPr sz="800" b="0" i="0">
                <a:solidFill>
                  <a:srgbClr val="ECE7DC"/>
                </a:solidFill>
                <a:latin typeface="Consolas"/>
              </a:rPr>
              <a:t>├── .gitattributes</a:t>
            </a:r>
          </a:p>
          <a:p>
            <a:pPr algn="l">
              <a:lnSpc>
                <a:spcPct val="100000"/>
              </a:lnSpc>
            </a:pPr>
            <a:r>
              <a:rPr sz="800" b="0" i="0">
                <a:solidFill>
                  <a:srgbClr val="ECE7DC"/>
                </a:solidFill>
                <a:latin typeface="Consolas"/>
              </a:rPr>
              <a:t>├── .gitignore</a:t>
            </a:r>
          </a:p>
          <a:p>
            <a:pPr algn="l">
              <a:lnSpc>
                <a:spcPct val="100000"/>
              </a:lnSpc>
            </a:pPr>
            <a:r>
              <a:rPr sz="800" b="0" i="0">
                <a:solidFill>
                  <a:srgbClr val="ECE7DC"/>
                </a:solidFill>
                <a:latin typeface="Consolas"/>
              </a:rPr>
              <a:t>├── .mcp.json</a:t>
            </a:r>
          </a:p>
          <a:p>
            <a:pPr algn="l">
              <a:lnSpc>
                <a:spcPct val="100000"/>
              </a:lnSpc>
            </a:pPr>
            <a:r>
              <a:rPr sz="800" b="0" i="0">
                <a:solidFill>
                  <a:srgbClr val="ECE7DC"/>
                </a:solidFill>
                <a:latin typeface="Consolas"/>
              </a:rPr>
              <a:t>├── _acpx_pipeline_demo_report.md</a:t>
            </a:r>
          </a:p>
          <a:p>
            <a:pPr algn="l">
              <a:lnSpc>
                <a:spcPct val="100000"/>
              </a:lnSpc>
            </a:pPr>
            <a:r>
              <a:rPr sz="800" b="0" i="0">
                <a:solidFill>
                  <a:srgbClr val="ECE7DC"/>
                </a:solidFill>
                <a:latin typeface="Consolas"/>
              </a:rPr>
              <a:t>├── ACPX.md</a:t>
            </a:r>
          </a:p>
          <a:p>
            <a:pPr algn="l">
              <a:lnSpc>
                <a:spcPct val="100000"/>
              </a:lnSpc>
            </a:pPr>
            <a:r>
              <a:rPr sz="800" b="0" i="0">
                <a:solidFill>
                  <a:srgbClr val="ECE7DC"/>
                </a:solidFill>
                <a:latin typeface="Consolas"/>
              </a:rPr>
              <a:t>├── AGENTS.md</a:t>
            </a:r>
          </a:p>
          <a:p>
            <a:pPr algn="l">
              <a:lnSpc>
                <a:spcPct val="100000"/>
              </a:lnSpc>
            </a:pPr>
            <a:r>
              <a:rPr sz="800" b="0" i="0">
                <a:solidFill>
                  <a:srgbClr val="ECE7DC"/>
                </a:solidFill>
                <a:latin typeface="Consolas"/>
              </a:rPr>
              <a:t>├── agents_descriptions.md</a:t>
            </a:r>
          </a:p>
          <a:p>
            <a:pPr algn="l">
              <a:lnSpc>
                <a:spcPct val="100000"/>
              </a:lnSpc>
            </a:pPr>
            <a:r>
              <a:rPr sz="800" b="0" i="0">
                <a:solidFill>
                  <a:srgbClr val="ECE7DC"/>
                </a:solidFill>
                <a:latin typeface="Consolas"/>
              </a:rPr>
              <a:t>├── apply_update.ps1</a:t>
            </a:r>
          </a:p>
          <a:p>
            <a:pPr algn="l">
              <a:lnSpc>
                <a:spcPct val="100000"/>
              </a:lnSpc>
            </a:pPr>
            <a:r>
              <a:rPr sz="800" b="0" i="0">
                <a:solidFill>
                  <a:srgbClr val="ECE7DC"/>
                </a:solidFill>
                <a:latin typeface="Consolas"/>
              </a:rPr>
              <a:t>├── audit_dependencies.py</a:t>
            </a:r>
          </a:p>
          <a:p>
            <a:pPr algn="l">
              <a:lnSpc>
                <a:spcPct val="100000"/>
              </a:lnSpc>
            </a:pPr>
            <a:r>
              <a:rPr sz="800" b="0" i="0">
                <a:solidFill>
                  <a:srgbClr val="ECE7DC"/>
                </a:solidFill>
                <a:latin typeface="Consolas"/>
              </a:rPr>
              <a:t>├── AvatarImprovementByClaude.md</a:t>
            </a:r>
          </a:p>
          <a:p>
            <a:pPr algn="l">
              <a:lnSpc>
                <a:spcPct val="100000"/>
              </a:lnSpc>
            </a:pPr>
            <a:r>
              <a:rPr sz="800" b="0" i="0">
                <a:solidFill>
                  <a:srgbClr val="ECE7DC"/>
                </a:solidFill>
                <a:latin typeface="Consolas"/>
              </a:rPr>
              <a:t>├── backup_db.py</a:t>
            </a:r>
          </a:p>
          <a:p>
            <a:pPr algn="l">
              <a:lnSpc>
                <a:spcPct val="100000"/>
              </a:lnSpc>
            </a:pPr>
            <a:r>
              <a:rPr sz="800" b="0" i="0">
                <a:solidFill>
                  <a:srgbClr val="ECE7DC"/>
                </a:solidFill>
                <a:latin typeface="Consolas"/>
              </a:rPr>
              <a:t>├── BookOfTlamatini.md</a:t>
            </a:r>
          </a:p>
          <a:p>
            <a:pPr algn="l">
              <a:lnSpc>
                <a:spcPct val="100000"/>
              </a:lnSpc>
            </a:pPr>
            <a:r>
              <a:rPr sz="800" b="0" i="0">
                <a:solidFill>
                  <a:srgbClr val="ECE7DC"/>
                </a:solidFill>
                <a:latin typeface="Consolas"/>
              </a:rPr>
              <a:t>├── build.py</a:t>
            </a:r>
          </a:p>
          <a:p>
            <a:pPr algn="l">
              <a:lnSpc>
                <a:spcPct val="100000"/>
              </a:lnSpc>
            </a:pPr>
            <a:r>
              <a:rPr sz="800" b="0" i="0">
                <a:solidFill>
                  <a:srgbClr val="ECE7DC"/>
                </a:solidFill>
                <a:latin typeface="Consolas"/>
              </a:rPr>
              <a:t>├── build_all.cmd</a:t>
            </a:r>
          </a:p>
          <a:p>
            <a:pPr algn="l">
              <a:lnSpc>
                <a:spcPct val="100000"/>
              </a:lnSpc>
            </a:pPr>
            <a:r>
              <a:rPr sz="800" b="0" i="0">
                <a:solidFill>
                  <a:srgbClr val="ECE7DC"/>
                </a:solidFill>
                <a:latin typeface="Consolas"/>
              </a:rPr>
              <a:t>├── build_complete_private_release.py</a:t>
            </a:r>
          </a:p>
          <a:p>
            <a:pPr algn="l">
              <a:lnSpc>
                <a:spcPct val="100000"/>
              </a:lnSpc>
            </a:pPr>
            <a:r>
              <a:rPr sz="800" b="0" i="0">
                <a:solidFill>
                  <a:srgbClr val="ECE7DC"/>
                </a:solidFill>
                <a:latin typeface="Consolas"/>
              </a:rPr>
              <a:t>├── build_complete_public_release.py</a:t>
            </a:r>
          </a:p>
          <a:p>
            <a:pPr algn="l">
              <a:lnSpc>
                <a:spcPct val="100000"/>
              </a:lnSpc>
            </a:pPr>
            <a:r>
              <a:rPr sz="800" b="0" i="0">
                <a:solidFill>
                  <a:srgbClr val="ECE7DC"/>
                </a:solidFill>
                <a:latin typeface="Consolas"/>
              </a:rPr>
              <a:t>├── build_env.py</a:t>
            </a:r>
          </a:p>
          <a:p>
            <a:pPr algn="l">
              <a:lnSpc>
                <a:spcPct val="100000"/>
              </a:lnSpc>
            </a:pPr>
            <a:r>
              <a:rPr sz="800" b="0" i="0">
                <a:solidFill>
                  <a:srgbClr val="ECE7DC"/>
                </a:solidFill>
                <a:latin typeface="Consolas"/>
              </a:rPr>
              <a:t>├── build_installer.py</a:t>
            </a:r>
          </a:p>
          <a:p>
            <a:pPr algn="l">
              <a:lnSpc>
                <a:spcPct val="100000"/>
              </a:lnSpc>
            </a:pPr>
            <a:r>
              <a:rPr sz="800" b="0" i="0">
                <a:solidFill>
                  <a:srgbClr val="ECE7DC"/>
                </a:solidFill>
                <a:latin typeface="Consolas"/>
              </a:rPr>
              <a:t>├── build_runtime_assets.py</a:t>
            </a:r>
          </a:p>
          <a:p>
            <a:pPr algn="l">
              <a:lnSpc>
                <a:spcPct val="100000"/>
              </a:lnSpc>
            </a:pPr>
            <a:r>
              <a:rPr sz="800" b="0" i="0">
                <a:solidFill>
                  <a:srgbClr val="ECE7DC"/>
                </a:solidFill>
                <a:latin typeface="Consolas"/>
              </a:rPr>
              <a:t>├── build_uninstaller.py</a:t>
            </a:r>
          </a:p>
          <a:p>
            <a:pPr algn="l">
              <a:lnSpc>
                <a:spcPct val="100000"/>
              </a:lnSpc>
            </a:pPr>
            <a:r>
              <a:rPr sz="800" b="0" i="0">
                <a:solidFill>
                  <a:srgbClr val="ECE7DC"/>
                </a:solidFill>
                <a:latin typeface="Consolas"/>
              </a:rPr>
              <a:t>├── check_private_data.py</a:t>
            </a:r>
          </a:p>
          <a:p>
            <a:pPr algn="l">
              <a:lnSpc>
                <a:spcPct val="100000"/>
              </a:lnSpc>
            </a:pPr>
            <a:r>
              <a:rPr sz="800" b="0" i="0">
                <a:solidFill>
                  <a:srgbClr val="ECE7DC"/>
                </a:solidFill>
                <a:latin typeface="Consolas"/>
              </a:rPr>
              <a:t>├── Claude-Desktop-KALI-MCP-Session.md</a:t>
            </a:r>
          </a:p>
          <a:p>
            <a:pPr algn="l">
              <a:lnSpc>
                <a:spcPct val="100000"/>
              </a:lnSpc>
            </a:pPr>
            <a:r>
              <a:rPr sz="800" b="0" i="0">
                <a:solidFill>
                  <a:srgbClr val="ECE7DC"/>
                </a:solidFill>
                <a:latin typeface="Consolas"/>
              </a:rPr>
              <a:t>├── CLAUDE.md</a:t>
            </a:r>
          </a:p>
          <a:p>
            <a:pPr algn="l">
              <a:lnSpc>
                <a:spcPct val="100000"/>
              </a:lnSpc>
            </a:pPr>
            <a:r>
              <a:rPr sz="800" b="0" i="0">
                <a:solidFill>
                  <a:srgbClr val="ECE7DC"/>
                </a:solidFill>
                <a:latin typeface="Consolas"/>
              </a:rPr>
              <a:t>├── Codex2ClaudeRecommendations.md</a:t>
            </a:r>
          </a:p>
          <a:p>
            <a:pPr algn="l">
              <a:lnSpc>
                <a:spcPct val="100000"/>
              </a:lnSpc>
            </a:pPr>
            <a:r>
              <a:rPr sz="800" b="0" i="0">
                <a:solidFill>
                  <a:srgbClr val="ECE7DC"/>
                </a:solidFill>
                <a:latin typeface="Consolas"/>
              </a:rPr>
              <a:t>├── ConfigureModels.png</a:t>
            </a:r>
          </a:p>
          <a:p>
            <a:pPr algn="l">
              <a:lnSpc>
                <a:spcPct val="100000"/>
              </a:lnSpc>
            </a:pPr>
            <a:r>
              <a:rPr sz="800" b="0" i="0">
                <a:solidFill>
                  <a:srgbClr val="ECE7DC"/>
                </a:solidFill>
                <a:latin typeface="Consolas"/>
              </a:rPr>
              <a:t>├── copy_source_assets.py</a:t>
            </a:r>
          </a:p>
          <a:p>
            <a:pPr algn="l">
              <a:lnSpc>
                <a:spcPct val="100000"/>
              </a:lnSpc>
            </a:pPr>
            <a:r>
              <a:rPr sz="800" b="0" i="0">
                <a:solidFill>
                  <a:srgbClr val="ECE7DC"/>
                </a:solidFill>
                <a:latin typeface="Consolas"/>
              </a:rPr>
              <a:t>├── CreateShortcut.json</a:t>
            </a:r>
          </a:p>
          <a:p>
            <a:pPr algn="l">
              <a:lnSpc>
                <a:spcPct val="100000"/>
              </a:lnSpc>
            </a:pPr>
            <a:r>
              <a:rPr sz="800" b="0" i="0">
                <a:solidFill>
                  <a:srgbClr val="ECE7DC"/>
                </a:solidFill>
                <a:latin typeface="Consolas"/>
              </a:rPr>
              <a:t>├── CreateShortcut.ps1</a:t>
            </a:r>
          </a:p>
          <a:p>
            <a:pPr algn="l">
              <a:lnSpc>
                <a:spcPct val="100000"/>
              </a:lnSpc>
            </a:pPr>
            <a:r>
              <a:rPr sz="800" b="0" i="0">
                <a:solidFill>
                  <a:srgbClr val="ECE7DC"/>
                </a:solidFill>
                <a:latin typeface="Consolas"/>
              </a:rPr>
              <a:t>├── DesignOfIncludingMemoryMCPS.txt</a:t>
            </a:r>
          </a:p>
          <a:p>
            <a:pPr algn="l">
              <a:lnSpc>
                <a:spcPct val="100000"/>
              </a:lnSpc>
            </a:pPr>
            <a:r>
              <a:rPr sz="800" b="0" i="0">
                <a:solidFill>
                  <a:srgbClr val="ECE7DC"/>
                </a:solidFill>
                <a:latin typeface="Consolas"/>
              </a:rPr>
              <a:t>├── Discoverier-new-agent.md</a:t>
            </a:r>
          </a:p>
          <a:p>
            <a:pPr algn="l">
              <a:lnSpc>
                <a:spcPct val="100000"/>
              </a:lnSpc>
            </a:pPr>
            <a:r>
              <a:rPr sz="800" b="0" i="0">
                <a:solidFill>
                  <a:srgbClr val="ECE7DC"/>
                </a:solidFill>
                <a:latin typeface="Consolas"/>
              </a:rPr>
              <a:t>├── eslint.config.mjs</a:t>
            </a:r>
          </a:p>
          <a:p>
            <a:pPr algn="l">
              <a:lnSpc>
                <a:spcPct val="100000"/>
              </a:lnSpc>
            </a:pPr>
            <a:r>
              <a:rPr sz="800" b="0" i="0">
                <a:solidFill>
                  <a:srgbClr val="ECE7DC"/>
                </a:solidFill>
                <a:latin typeface="Consolas"/>
              </a:rPr>
              <a:t>├── example_of_prompt_to_make_de-compresser_agent.txt</a:t>
            </a:r>
          </a:p>
          <a:p>
            <a:pPr algn="l">
              <a:lnSpc>
                <a:spcPct val="100000"/>
              </a:lnSpc>
            </a:pPr>
            <a:r>
              <a:rPr sz="800" b="0" i="0">
                <a:solidFill>
                  <a:srgbClr val="ECE7DC"/>
                </a:solidFill>
                <a:latin typeface="Consolas"/>
              </a:rPr>
              <a:t>├── FirstFinalPlanToSpeedUp.md</a:t>
            </a:r>
          </a:p>
          <a:p>
            <a:pPr algn="l">
              <a:lnSpc>
                <a:spcPct val="100000"/>
              </a:lnSpc>
            </a:pPr>
            <a:r>
              <a:rPr sz="800" b="0" i="0">
                <a:solidFill>
                  <a:srgbClr val="ECE7DC"/>
                </a:solidFill>
                <a:latin typeface="Consolas"/>
              </a:rPr>
              <a:t>├── flow_file_associations.ps1</a:t>
            </a:r>
          </a:p>
          <a:p>
            <a:pPr algn="l">
              <a:lnSpc>
                <a:spcPct val="100000"/>
              </a:lnSpc>
            </a:pPr>
            <a:r>
              <a:rPr sz="800" b="0" i="0">
                <a:solidFill>
                  <a:srgbClr val="ECE7DC"/>
                </a:solidFill>
                <a:latin typeface="Consolas"/>
              </a:rPr>
              <a:t>├── freeingport8000.ps1</a:t>
            </a:r>
          </a:p>
          <a:p>
            <a:pPr algn="l">
              <a:lnSpc>
                <a:spcPct val="100000"/>
              </a:lnSpc>
            </a:pPr>
            <a:r>
              <a:rPr sz="800" b="0" i="0">
                <a:solidFill>
                  <a:srgbClr val="ECE7DC"/>
                </a:solidFill>
                <a:latin typeface="Consolas"/>
              </a:rPr>
              <a:t>├── GEMINI.md</a:t>
            </a:r>
          </a:p>
          <a:p>
            <a:pPr algn="l">
              <a:lnSpc>
                <a:spcPct val="100000"/>
              </a:lnSpc>
            </a:pPr>
            <a:r>
              <a:rPr sz="800" b="0" i="0">
                <a:solidFill>
                  <a:srgbClr val="ECE7DC"/>
                </a:solidFill>
                <a:latin typeface="Consolas"/>
              </a:rPr>
              <a:t>├── git_deny_go.py</a:t>
            </a:r>
          </a:p>
          <a:p>
            <a:pPr algn="l">
              <a:lnSpc>
                <a:spcPct val="100000"/>
              </a:lnSpc>
            </a:pPr>
            <a:r>
              <a:rPr sz="800" b="0" i="0">
                <a:solidFill>
                  <a:srgbClr val="ECE7DC"/>
                </a:solidFill>
                <a:latin typeface="Consolas"/>
              </a:rPr>
              <a:t>├── install.py</a:t>
            </a:r>
          </a:p>
          <a:p>
            <a:pPr algn="l">
              <a:lnSpc>
                <a:spcPct val="100000"/>
              </a:lnSpc>
            </a:pPr>
            <a:r>
              <a:rPr sz="800" b="0" i="0">
                <a:solidFill>
                  <a:srgbClr val="ECE7DC"/>
                </a:solidFill>
                <a:latin typeface="Consolas"/>
              </a:rPr>
              <a:t>├── KIMI.md</a:t>
            </a:r>
          </a:p>
          <a:p>
            <a:pPr algn="l">
              <a:lnSpc>
                <a:spcPct val="100000"/>
              </a:lnSpc>
            </a:pPr>
            <a:r>
              <a:rPr sz="800" b="0" i="0">
                <a:solidFill>
                  <a:srgbClr val="ECE7DC"/>
                </a:solidFill>
                <a:latin typeface="Consolas"/>
              </a:rPr>
              <a:t>├── latest-folding-context-session.md</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LICENSE</a:t>
            </a:r>
          </a:p>
          <a:p>
            <a:pPr algn="l">
              <a:lnSpc>
                <a:spcPct val="100000"/>
              </a:lnSpc>
            </a:pPr>
            <a:r>
              <a:rPr sz="800" b="0" i="0">
                <a:solidFill>
                  <a:srgbClr val="ECE7DC"/>
                </a:solidFill>
                <a:latin typeface="Consolas"/>
              </a:rPr>
              <a:t>├── MCPMemoriesFlowCreation.flw</a:t>
            </a:r>
          </a:p>
          <a:p>
            <a:pPr algn="l">
              <a:lnSpc>
                <a:spcPct val="100000"/>
              </a:lnSpc>
            </a:pPr>
            <a:r>
              <a:rPr sz="800" b="0" i="0">
                <a:solidFill>
                  <a:srgbClr val="ECE7DC"/>
                </a:solidFill>
                <a:latin typeface="Consolas"/>
              </a:rPr>
              <a:t>├── MessagingConnectorAssistant_Design.md</a:t>
            </a:r>
          </a:p>
          <a:p>
            <a:pPr algn="l">
              <a:lnSpc>
                <a:spcPct val="100000"/>
              </a:lnSpc>
            </a:pPr>
            <a:r>
              <a:rPr sz="800" b="0" i="0">
                <a:solidFill>
                  <a:srgbClr val="ECE7DC"/>
                </a:solidFill>
                <a:latin typeface="Consolas"/>
              </a:rPr>
              <a:t>├── ollama_credits.py</a:t>
            </a:r>
          </a:p>
          <a:p>
            <a:pPr algn="l">
              <a:lnSpc>
                <a:spcPct val="100000"/>
              </a:lnSpc>
            </a:pPr>
            <a:r>
              <a:rPr sz="800" b="0" i="0">
                <a:solidFill>
                  <a:srgbClr val="ECE7DC"/>
                </a:solidFill>
                <a:latin typeface="Consolas"/>
              </a:rPr>
              <a:t>├── OllamaPricing.png</a:t>
            </a:r>
          </a:p>
          <a:p>
            <a:pPr algn="l">
              <a:lnSpc>
                <a:spcPct val="100000"/>
              </a:lnSpc>
            </a:pPr>
            <a:r>
              <a:rPr sz="800" b="0" i="0">
                <a:solidFill>
                  <a:srgbClr val="ECE7DC"/>
                </a:solidFill>
                <a:latin typeface="Consolas"/>
              </a:rPr>
              <a:t>├── OOB_shift_reaper-and-NAMU-Design.pdf</a:t>
            </a:r>
          </a:p>
          <a:p>
            <a:pPr algn="l">
              <a:lnSpc>
                <a:spcPct val="100000"/>
              </a:lnSpc>
            </a:pPr>
            <a:r>
              <a:rPr sz="800" b="0" i="0">
                <a:solidFill>
                  <a:srgbClr val="ECE7DC"/>
                </a:solidFill>
                <a:latin typeface="Consolas"/>
              </a:rPr>
              <a:t>├── package.json</a:t>
            </a:r>
          </a:p>
          <a:p>
            <a:pPr algn="l">
              <a:lnSpc>
                <a:spcPct val="100000"/>
              </a:lnSpc>
            </a:pPr>
            <a:r>
              <a:rPr sz="800" b="0" i="0">
                <a:solidFill>
                  <a:srgbClr val="ECE7DC"/>
                </a:solidFill>
                <a:latin typeface="Consolas"/>
              </a:rPr>
              <a:t>├── PIVOT_CHANGES.md</a:t>
            </a:r>
          </a:p>
          <a:p>
            <a:pPr algn="l">
              <a:lnSpc>
                <a:spcPct val="100000"/>
              </a:lnSpc>
            </a:pPr>
            <a:r>
              <a:rPr sz="800" b="0" i="0">
                <a:solidFill>
                  <a:srgbClr val="ECE7DC"/>
                </a:solidFill>
                <a:latin typeface="Consolas"/>
              </a:rPr>
              <a:t>├── pnpm-lock.yaml</a:t>
            </a:r>
          </a:p>
          <a:p>
            <a:pPr algn="l">
              <a:lnSpc>
                <a:spcPct val="100000"/>
              </a:lnSpc>
            </a:pPr>
            <a:r>
              <a:rPr sz="800" b="0" i="0">
                <a:solidFill>
                  <a:srgbClr val="ECE7DC"/>
                </a:solidFill>
                <a:latin typeface="Consolas"/>
              </a:rPr>
              <a:t>├── preserved_user_state.json</a:t>
            </a:r>
          </a:p>
          <a:p>
            <a:pPr algn="l">
              <a:lnSpc>
                <a:spcPct val="100000"/>
              </a:lnSpc>
            </a:pPr>
            <a:r>
              <a:rPr sz="800" b="0" i="0">
                <a:solidFill>
                  <a:srgbClr val="ECE7DC"/>
                </a:solidFill>
                <a:latin typeface="Consolas"/>
              </a:rPr>
              <a:t>├── private_targets.example.json</a:t>
            </a:r>
          </a:p>
          <a:p>
            <a:pPr algn="l">
              <a:lnSpc>
                <a:spcPct val="100000"/>
              </a:lnSpc>
            </a:pPr>
            <a:r>
              <a:rPr sz="800" b="0" i="0">
                <a:solidFill>
                  <a:srgbClr val="ECE7DC"/>
                </a:solidFill>
                <a:latin typeface="Consolas"/>
              </a:rPr>
              <a:t>├── PromptDesigner.jpg</a:t>
            </a:r>
          </a:p>
          <a:p>
            <a:pPr algn="l">
              <a:lnSpc>
                <a:spcPct val="100000"/>
              </a:lnSpc>
            </a:pPr>
            <a:r>
              <a:rPr sz="800" b="0" i="0">
                <a:solidFill>
                  <a:srgbClr val="ECE7DC"/>
                </a:solidFill>
                <a:latin typeface="Consolas"/>
              </a:rPr>
              <a:t>├── pyinstaller_guard.py</a:t>
            </a:r>
          </a:p>
          <a:p>
            <a:pPr algn="l">
              <a:lnSpc>
                <a:spcPct val="100000"/>
              </a:lnSpc>
            </a:pPr>
            <a:r>
              <a:rPr sz="800" b="0" i="0">
                <a:solidFill>
                  <a:srgbClr val="ECE7DC"/>
                </a:solidFill>
                <a:latin typeface="Consolas"/>
              </a:rPr>
              <a:t>├── README.md</a:t>
            </a:r>
          </a:p>
          <a:p>
            <a:pPr algn="l">
              <a:lnSpc>
                <a:spcPct val="100000"/>
              </a:lnSpc>
            </a:pPr>
            <a:r>
              <a:rPr sz="800" b="0" i="0">
                <a:solidFill>
                  <a:srgbClr val="ECE7DC"/>
                </a:solidFill>
                <a:latin typeface="Consolas"/>
              </a:rPr>
              <a:t>├── regen_secrets.py</a:t>
            </a:r>
          </a:p>
          <a:p>
            <a:pPr algn="l">
              <a:lnSpc>
                <a:spcPct val="100000"/>
              </a:lnSpc>
            </a:pPr>
            <a:r>
              <a:rPr sz="800" b="0" i="0">
                <a:solidFill>
                  <a:srgbClr val="ECE7DC"/>
                </a:solidFill>
                <a:latin typeface="Consolas"/>
              </a:rPr>
              <a:t>├── register_flw.ps1</a:t>
            </a:r>
          </a:p>
          <a:p>
            <a:pPr algn="l">
              <a:lnSpc>
                <a:spcPct val="100000"/>
              </a:lnSpc>
            </a:pPr>
            <a:r>
              <a:rPr sz="800" b="0" i="0">
                <a:solidFill>
                  <a:srgbClr val="ECE7DC"/>
                </a:solidFill>
                <a:latin typeface="Consolas"/>
              </a:rPr>
              <a:t>├── register_fpmt.ps1</a:t>
            </a:r>
          </a:p>
          <a:p>
            <a:pPr algn="l">
              <a:lnSpc>
                <a:spcPct val="100000"/>
              </a:lnSpc>
            </a:pPr>
            <a:r>
              <a:rPr sz="800" b="0" i="0">
                <a:solidFill>
                  <a:srgbClr val="ECE7DC"/>
                </a:solidFill>
                <a:latin typeface="Consolas"/>
              </a:rPr>
              <a:t>├── RemoveShortcut.ps1</a:t>
            </a:r>
          </a:p>
          <a:p>
            <a:pPr algn="l">
              <a:lnSpc>
                <a:spcPct val="100000"/>
              </a:lnSpc>
            </a:pPr>
            <a:r>
              <a:rPr sz="800" b="0" i="0">
                <a:solidFill>
                  <a:srgbClr val="ECE7DC"/>
                </a:solidFill>
                <a:latin typeface="Consolas"/>
              </a:rPr>
              <a:t>├── requirements-esphome.txt</a:t>
            </a:r>
          </a:p>
          <a:p>
            <a:pPr algn="l">
              <a:lnSpc>
                <a:spcPct val="100000"/>
              </a:lnSpc>
            </a:pPr>
            <a:r>
              <a:rPr sz="800" b="0" i="0">
                <a:solidFill>
                  <a:srgbClr val="ECE7DC"/>
                </a:solidFill>
                <a:latin typeface="Consolas"/>
              </a:rPr>
              <a:t>├── requirements.txt</a:t>
            </a:r>
          </a:p>
          <a:p>
            <a:pPr algn="l">
              <a:lnSpc>
                <a:spcPct val="100000"/>
              </a:lnSpc>
            </a:pPr>
            <a:r>
              <a:rPr sz="800" b="0" i="0">
                <a:solidFill>
                  <a:srgbClr val="ECE7DC"/>
                </a:solidFill>
                <a:latin typeface="Consolas"/>
              </a:rPr>
              <a:t>├── setup_logging.py</a:t>
            </a:r>
          </a:p>
          <a:p>
            <a:pPr algn="l">
              <a:lnSpc>
                <a:spcPct val="100000"/>
              </a:lnSpc>
            </a:pPr>
            <a:r>
              <a:rPr sz="800" b="0" i="0">
                <a:solidFill>
                  <a:srgbClr val="ECE7DC"/>
                </a:solidFill>
                <a:latin typeface="Consolas"/>
              </a:rPr>
              <a:t>├── setup_recovery.py</a:t>
            </a:r>
          </a:p>
          <a:p>
            <a:pPr algn="l">
              <a:lnSpc>
                <a:spcPct val="100000"/>
              </a:lnSpc>
            </a:pPr>
            <a:r>
              <a:rPr sz="800" b="0" i="0">
                <a:solidFill>
                  <a:srgbClr val="ECE7DC"/>
                </a:solidFill>
                <a:latin typeface="Consolas"/>
              </a:rPr>
              <a:t>├── setup_windows.py</a:t>
            </a:r>
          </a:p>
          <a:p>
            <a:pPr algn="l">
              <a:lnSpc>
                <a:spcPct val="100000"/>
              </a:lnSpc>
            </a:pPr>
            <a:r>
              <a:rPr sz="800" b="0" i="0">
                <a:solidFill>
                  <a:srgbClr val="ECE7DC"/>
                </a:solidFill>
                <a:latin typeface="Consolas"/>
              </a:rPr>
              <a:t>├── setup_wizard.py</a:t>
            </a:r>
          </a:p>
          <a:p>
            <a:pPr algn="l">
              <a:lnSpc>
                <a:spcPct val="100000"/>
              </a:lnSpc>
            </a:pPr>
            <a:r>
              <a:rPr sz="800" b="0" i="0">
                <a:solidFill>
                  <a:srgbClr val="ECE7DC"/>
                </a:solidFill>
                <a:latin typeface="Consolas"/>
              </a:rPr>
              <a:t>├── test-reloaded-session.md</a:t>
            </a:r>
          </a:p>
          <a:p>
            <a:pPr algn="l">
              <a:lnSpc>
                <a:spcPct val="100000"/>
              </a:lnSpc>
            </a:pPr>
            <a:r>
              <a:rPr sz="800" b="0" i="0">
                <a:solidFill>
                  <a:srgbClr val="ECE7DC"/>
                </a:solidFill>
                <a:latin typeface="Consolas"/>
              </a:rPr>
              <a:t>├── test_author_banner.py</a:t>
            </a:r>
          </a:p>
          <a:p>
            <a:pPr algn="l">
              <a:lnSpc>
                <a:spcPct val="100000"/>
              </a:lnSpc>
            </a:pPr>
            <a:r>
              <a:rPr sz="800" b="0" i="0">
                <a:solidFill>
                  <a:srgbClr val="ECE7DC"/>
                </a:solidFill>
                <a:latin typeface="Consolas"/>
              </a:rPr>
              <a:t>├── test_check_private_data.py</a:t>
            </a:r>
          </a:p>
          <a:p>
            <a:pPr algn="l">
              <a:lnSpc>
                <a:spcPct val="100000"/>
              </a:lnSpc>
            </a:pPr>
            <a:r>
              <a:rPr sz="800" b="0" i="0">
                <a:solidFill>
                  <a:srgbClr val="ECE7DC"/>
                </a:solidFill>
                <a:latin typeface="Consolas"/>
              </a:rPr>
              <a:t>├── test_perf_3x_visual.py</a:t>
            </a:r>
          </a:p>
          <a:p>
            <a:pPr algn="l">
              <a:lnSpc>
                <a:spcPct val="100000"/>
              </a:lnSpc>
            </a:pPr>
            <a:r>
              <a:rPr sz="800" b="0" i="0">
                <a:solidFill>
                  <a:srgbClr val="ECE7DC"/>
                </a:solidFill>
                <a:latin typeface="Consolas"/>
              </a:rPr>
              <a:t>├── test_private_data_guard.py</a:t>
            </a:r>
          </a:p>
          <a:p>
            <a:pPr algn="l">
              <a:lnSpc>
                <a:spcPct val="100000"/>
              </a:lnSpc>
            </a:pPr>
            <a:r>
              <a:rPr sz="800" b="0" i="0">
                <a:solidFill>
                  <a:srgbClr val="ECE7DC"/>
                </a:solidFill>
                <a:latin typeface="Consolas"/>
              </a:rPr>
              <a:t>├── TestsVisiblesAndVisibleExecutionFromClaude2Codex.md</a:t>
            </a:r>
          </a:p>
          <a:p>
            <a:pPr algn="l">
              <a:lnSpc>
                <a:spcPct val="100000"/>
              </a:lnSpc>
            </a:pPr>
            <a:r>
              <a:rPr sz="800" b="0" i="0">
                <a:solidFill>
                  <a:srgbClr val="ECE7DC"/>
                </a:solidFill>
                <a:latin typeface="Consolas"/>
              </a:rPr>
              <a:t>├── Tlamatini-Architecture.pdf</a:t>
            </a:r>
          </a:p>
          <a:p>
            <a:pPr algn="l">
              <a:lnSpc>
                <a:spcPct val="100000"/>
              </a:lnSpc>
            </a:pPr>
            <a:r>
              <a:rPr sz="800" b="0" i="0">
                <a:solidFill>
                  <a:srgbClr val="ECE7DC"/>
                </a:solidFill>
                <a:latin typeface="Consolas"/>
              </a:rPr>
              <a:t>├── Tlamatini-Kali-Setup.md</a:t>
            </a:r>
          </a:p>
          <a:p>
            <a:pPr algn="l">
              <a:lnSpc>
                <a:spcPct val="100000"/>
              </a:lnSpc>
            </a:pPr>
            <a:r>
              <a:rPr sz="800" b="0" i="0">
                <a:solidFill>
                  <a:srgbClr val="ECE7DC"/>
                </a:solidFill>
                <a:latin typeface="Consolas"/>
              </a:rPr>
              <a:t>├── Tlamatini.ico</a:t>
            </a:r>
          </a:p>
          <a:p>
            <a:pPr algn="l">
              <a:lnSpc>
                <a:spcPct val="100000"/>
              </a:lnSpc>
            </a:pPr>
            <a:r>
              <a:rPr sz="800" b="0" i="0">
                <a:solidFill>
                  <a:srgbClr val="ECE7DC"/>
                </a:solidFill>
                <a:latin typeface="Consolas"/>
              </a:rPr>
              <a:t>├── Tlamatini.jpg</a:t>
            </a:r>
          </a:p>
          <a:p>
            <a:pPr algn="l">
              <a:lnSpc>
                <a:spcPct val="100000"/>
              </a:lnSpc>
            </a:pPr>
            <a:r>
              <a:rPr sz="800" b="0" i="0">
                <a:solidFill>
                  <a:srgbClr val="ECE7DC"/>
                </a:solidFill>
                <a:latin typeface="Consolas"/>
              </a:rPr>
              <a:t>├── Tlamatini.ps1</a:t>
            </a:r>
          </a:p>
          <a:p>
            <a:pPr algn="l">
              <a:lnSpc>
                <a:spcPct val="100000"/>
              </a:lnSpc>
            </a:pPr>
            <a:r>
              <a:rPr sz="800" b="0" i="0">
                <a:solidFill>
                  <a:srgbClr val="ECE7DC"/>
                </a:solidFill>
                <a:latin typeface="Consolas"/>
              </a:rPr>
              <a:t>├── tlamatini_acpx.py</a:t>
            </a:r>
          </a:p>
          <a:p>
            <a:pPr algn="l">
              <a:lnSpc>
                <a:spcPct val="100000"/>
              </a:lnSpc>
            </a:pPr>
            <a:r>
              <a:rPr sz="800" b="0" i="0">
                <a:solidFill>
                  <a:srgbClr val="ECE7DC"/>
                </a:solidFill>
                <a:latin typeface="Consolas"/>
              </a:rPr>
              <a:t>├── tlamatini_app_summary.pdf</a:t>
            </a:r>
          </a:p>
          <a:p>
            <a:pPr algn="l">
              <a:lnSpc>
                <a:spcPct val="100000"/>
              </a:lnSpc>
            </a:pPr>
            <a:r>
              <a:rPr sz="800" b="0" i="0">
                <a:solidFill>
                  <a:srgbClr val="ECE7DC"/>
                </a:solidFill>
                <a:latin typeface="Consolas"/>
              </a:rPr>
              <a:t>├── Tlamatini_eXtended_Artificial_Intelligence_Humanly_T</a:t>
            </a:r>
          </a:p>
          <a:p>
            <a:pPr algn="l">
              <a:lnSpc>
                <a:spcPct val="100000"/>
              </a:lnSpc>
            </a:pPr>
            <a:r>
              <a:rPr sz="800" b="0" i="0">
                <a:solidFill>
                  <a:srgbClr val="ECE7DC"/>
                </a:solidFill>
                <a:latin typeface="Consolas"/>
              </a:rPr>
              <a:t>│     » empered.pptx</a:t>
            </a:r>
          </a:p>
          <a:p>
            <a:pPr algn="l">
              <a:lnSpc>
                <a:spcPct val="100000"/>
              </a:lnSpc>
            </a:pPr>
            <a:r>
              <a:rPr sz="800" b="0" i="0">
                <a:solidFill>
                  <a:srgbClr val="ECE7DC"/>
                </a:solidFill>
                <a:latin typeface="Consolas"/>
              </a:rPr>
              <a:t>├── TLAMATINI_MCP.md</a:t>
            </a:r>
          </a:p>
          <a:p>
            <a:pPr algn="l">
              <a:lnSpc>
                <a:spcPct val="100000"/>
              </a:lnSpc>
            </a:pPr>
            <a:r>
              <a:rPr sz="800" b="0" i="0">
                <a:solidFill>
                  <a:srgbClr val="ECE7DC"/>
                </a:solidFill>
                <a:latin typeface="Consolas"/>
              </a:rPr>
              <a:t>├── tlamatini_mcp_server.py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uncommit-keys.bat</a:t>
            </a:r>
          </a:p>
          <a:p>
            <a:pPr algn="l">
              <a:lnSpc>
                <a:spcPct val="100000"/>
              </a:lnSpc>
            </a:pPr>
            <a:r>
              <a:rPr sz="800" b="0" i="0">
                <a:solidFill>
                  <a:srgbClr val="ECE7DC"/>
                </a:solidFill>
                <a:latin typeface="Consolas"/>
              </a:rPr>
              <a:t>├── uninstall.py</a:t>
            </a:r>
          </a:p>
          <a:p>
            <a:pPr algn="l">
              <a:lnSpc>
                <a:spcPct val="100000"/>
              </a:lnSpc>
            </a:pPr>
            <a:r>
              <a:rPr sz="800" b="0" i="0">
                <a:solidFill>
                  <a:srgbClr val="ECE7DC"/>
                </a:solidFill>
                <a:latin typeface="Consolas"/>
              </a:rPr>
              <a:t>├── uninstall_processes.py</a:t>
            </a:r>
          </a:p>
          <a:p>
            <a:pPr algn="l">
              <a:lnSpc>
                <a:spcPct val="100000"/>
              </a:lnSpc>
            </a:pPr>
            <a:r>
              <a:rPr sz="800" b="0" i="0">
                <a:solidFill>
                  <a:srgbClr val="ECE7DC"/>
                </a:solidFill>
                <a:latin typeface="Consolas"/>
              </a:rPr>
              <a:t>├── unregister_flw.ps1</a:t>
            </a:r>
          </a:p>
          <a:p>
            <a:pPr algn="l">
              <a:lnSpc>
                <a:spcPct val="100000"/>
              </a:lnSpc>
            </a:pPr>
            <a:r>
              <a:rPr sz="800" b="0" i="0">
                <a:solidFill>
                  <a:srgbClr val="ECE7DC"/>
                </a:solidFill>
                <a:latin typeface="Consolas"/>
              </a:rPr>
              <a:t>├── unregister_fpmt.ps1</a:t>
            </a:r>
          </a:p>
          <a:p>
            <a:pPr algn="l">
              <a:lnSpc>
                <a:spcPct val="100000"/>
              </a:lnSpc>
            </a:pPr>
            <a:r>
              <a:rPr sz="800" b="0" i="0">
                <a:solidFill>
                  <a:srgbClr val="ECE7DC"/>
                </a:solidFill>
                <a:latin typeface="Consolas"/>
              </a:rPr>
              <a:t>├── VERSIONING.md</a:t>
            </a:r>
          </a:p>
          <a:p>
            <a:pPr algn="l">
              <a:lnSpc>
                <a:spcPct val="100000"/>
              </a:lnSpc>
            </a:pPr>
            <a:r>
              <a:rPr sz="800" b="0" i="0">
                <a:solidFill>
                  <a:srgbClr val="ECE7DC"/>
                </a:solidFill>
                <a:latin typeface="Consolas"/>
              </a:rPr>
              <a:t>├── versioning.py</a:t>
            </a:r>
          </a:p>
          <a:p>
            <a:pPr algn="l">
              <a:lnSpc>
                <a:spcPct val="100000"/>
              </a:lnSpc>
            </a:pPr>
            <a:r>
              <a:rPr sz="800" b="0" i="0">
                <a:solidFill>
                  <a:srgbClr val="3BBE93"/>
                </a:solidFill>
                <a:latin typeface="Consolas"/>
              </a:rPr>
              <a:t>├── .claude/</a:t>
            </a:r>
          </a:p>
          <a:p>
            <a:pPr algn="l">
              <a:lnSpc>
                <a:spcPct val="100000"/>
              </a:lnSpc>
            </a:pPr>
            <a:r>
              <a:rPr sz="800" b="0" i="0">
                <a:solidFill>
                  <a:srgbClr val="ECE7DC"/>
                </a:solidFill>
                <a:latin typeface="Consolas"/>
              </a:rPr>
              <a:t>│   ├── settings.json</a:t>
            </a:r>
          </a:p>
          <a:p>
            <a:pPr algn="l">
              <a:lnSpc>
                <a:spcPct val="100000"/>
              </a:lnSpc>
            </a:pPr>
            <a:r>
              <a:rPr sz="800" b="0" i="0">
                <a:solidFill>
                  <a:srgbClr val="3BBE93"/>
                </a:solidFill>
                <a:latin typeface="Consolas"/>
              </a:rPr>
              <a:t>│   ├── hooks/</a:t>
            </a:r>
          </a:p>
          <a:p>
            <a:pPr algn="l">
              <a:lnSpc>
                <a:spcPct val="100000"/>
              </a:lnSpc>
            </a:pPr>
            <a:r>
              <a:rPr sz="800" b="0" i="0">
                <a:solidFill>
                  <a:srgbClr val="ECE7DC"/>
                </a:solidFill>
                <a:latin typeface="Consolas"/>
              </a:rPr>
              <a:t>│   │   ├── announce_skills.py</a:t>
            </a:r>
          </a:p>
          <a:p>
            <a:pPr algn="l">
              <a:lnSpc>
                <a:spcPct val="100000"/>
              </a:lnSpc>
            </a:pPr>
            <a:r>
              <a:rPr sz="800" b="0" i="0">
                <a:solidFill>
                  <a:srgbClr val="ECE7DC"/>
                </a:solidFill>
                <a:latin typeface="Consolas"/>
              </a:rPr>
              <a:t>│   │   └── test_announce_skills.py</a:t>
            </a:r>
          </a:p>
          <a:p>
            <a:pPr algn="l">
              <a:lnSpc>
                <a:spcPct val="100000"/>
              </a:lnSpc>
            </a:pPr>
            <a:r>
              <a:rPr sz="800" b="0" i="0">
                <a:solidFill>
                  <a:srgbClr val="3BBE93"/>
                </a:solidFill>
                <a:latin typeface="Consolas"/>
              </a:rPr>
              <a:t>│   ├── memory/</a:t>
            </a:r>
          </a:p>
          <a:p>
            <a:pPr algn="l">
              <a:lnSpc>
                <a:spcPct val="100000"/>
              </a:lnSpc>
            </a:pPr>
            <a:r>
              <a:rPr sz="800" b="0" i="0">
                <a:solidFill>
                  <a:srgbClr val="ECE7DC"/>
                </a:solidFill>
                <a:latin typeface="Consolas"/>
              </a:rPr>
              <a:t>│   │   ├── feedback_agent_naming_conventions.md</a:t>
            </a:r>
          </a:p>
          <a:p>
            <a:pPr algn="l">
              <a:lnSpc>
                <a:spcPct val="100000"/>
              </a:lnSpc>
            </a:pPr>
            <a:r>
              <a:rPr sz="800" b="0" i="0">
                <a:solidFill>
                  <a:srgbClr val="ECE7DC"/>
                </a:solidFill>
                <a:latin typeface="Consolas"/>
              </a:rPr>
              <a:t>│   │   ├── feedback_developer_product_boundary.md</a:t>
            </a:r>
          </a:p>
          <a:p>
            <a:pPr algn="l">
              <a:lnSpc>
                <a:spcPct val="100000"/>
              </a:lnSpc>
            </a:pPr>
            <a:r>
              <a:rPr sz="800" b="0" i="0">
                <a:solidFill>
                  <a:srgbClr val="ECE7DC"/>
                </a:solidFill>
                <a:latin typeface="Consolas"/>
              </a:rPr>
              <a:t>│   │   ├── feedback_dont_overbuild_exec_safety.md</a:t>
            </a:r>
          </a:p>
          <a:p>
            <a:pPr algn="l">
              <a:lnSpc>
                <a:spcPct val="100000"/>
              </a:lnSpc>
            </a:pPr>
            <a:r>
              <a:rPr sz="800" b="0" i="0">
                <a:solidFill>
                  <a:srgbClr val="ECE7DC"/>
                </a:solidFill>
                <a:latin typeface="Consolas"/>
              </a:rPr>
              <a:t>│   │   ├── feedback_forbidden_headless_visible_tests.md</a:t>
            </a:r>
          </a:p>
          <a:p>
            <a:pPr algn="l">
              <a:lnSpc>
                <a:spcPct val="100000"/>
              </a:lnSpc>
            </a:pPr>
            <a:r>
              <a:rPr sz="800" b="0" i="0">
                <a:solidFill>
                  <a:srgbClr val="ECE7DC"/>
                </a:solidFill>
                <a:latin typeface="Consolas"/>
              </a:rPr>
              <a:t>│   │   ├── feedback_foreground_visible_windows.md</a:t>
            </a:r>
          </a:p>
          <a:p>
            <a:pPr algn="l">
              <a:lnSpc>
                <a:spcPct val="100000"/>
              </a:lnSpc>
            </a:pPr>
            <a:r>
              <a:rPr sz="800" b="0" i="0">
                <a:solidFill>
                  <a:srgbClr val="ECE7DC"/>
                </a:solidFill>
                <a:latin typeface="Consolas"/>
              </a:rPr>
              <a:t>│   │   ├── feedback_hard_real_scenario_tests.md</a:t>
            </a:r>
          </a:p>
          <a:p>
            <a:pPr algn="l">
              <a:lnSpc>
                <a:spcPct val="100000"/>
              </a:lnSpc>
            </a:pPr>
            <a:r>
              <a:rPr sz="800" b="0" i="0">
                <a:solidFill>
                  <a:srgbClr val="ECE7DC"/>
                </a:solidFill>
                <a:latin typeface="Consolas"/>
              </a:rPr>
              <a:t>│   │   ├── feedback_main_branch_only.md</a:t>
            </a:r>
          </a:p>
          <a:p>
            <a:pPr algn="l">
              <a:lnSpc>
                <a:spcPct val="100000"/>
              </a:lnSpc>
            </a:pPr>
            <a:r>
              <a:rPr sz="800" b="0" i="0">
                <a:solidFill>
                  <a:srgbClr val="ECE7DC"/>
                </a:solidFill>
                <a:latin typeface="Consolas"/>
              </a:rPr>
              <a:t>│   │   ├── feedback_package_json_version_bump.md</a:t>
            </a:r>
          </a:p>
          <a:p>
            <a:pPr algn="l">
              <a:lnSpc>
                <a:spcPct val="100000"/>
              </a:lnSpc>
            </a:pPr>
            <a:r>
              <a:rPr sz="800" b="0" i="0">
                <a:solidFill>
                  <a:srgbClr val="ECE7DC"/>
                </a:solidFill>
                <a:latin typeface="Consolas"/>
              </a:rPr>
              <a:t>│   │   ├── feedback_run_tlamatini_agents_visible.md</a:t>
            </a:r>
          </a:p>
          <a:p>
            <a:pPr algn="l">
              <a:lnSpc>
                <a:spcPct val="100000"/>
              </a:lnSpc>
            </a:pPr>
            <a:r>
              <a:rPr sz="800" b="0" i="0">
                <a:solidFill>
                  <a:srgbClr val="ECE7DC"/>
                </a:solidFill>
                <a:latin typeface="Consolas"/>
              </a:rPr>
              <a:t>│   │   ├── feedback_state_constraints_upfront.md</a:t>
            </a:r>
          </a:p>
          <a:p>
            <a:pPr algn="l">
              <a:lnSpc>
                <a:spcPct val="100000"/>
              </a:lnSpc>
            </a:pPr>
            <a:r>
              <a:rPr sz="800" b="0" i="0">
                <a:solidFill>
                  <a:srgbClr val="ECE7DC"/>
                </a:solidFill>
                <a:latin typeface="Consolas"/>
              </a:rPr>
              <a:t>│   │   ├── feedback_track_changes_pivot_file.md</a:t>
            </a:r>
          </a:p>
          <a:p>
            <a:pPr algn="l">
              <a:lnSpc>
                <a:spcPct val="100000"/>
              </a:lnSpc>
            </a:pPr>
            <a:r>
              <a:rPr sz="800" b="0" i="0">
                <a:solidFill>
                  <a:srgbClr val="ECE7DC"/>
                </a:solidFill>
                <a:latin typeface="Consolas"/>
              </a:rPr>
              <a:t>│   │   ├── feedback_update_agent_docs.md</a:t>
            </a:r>
          </a:p>
          <a:p>
            <a:pPr algn="l">
              <a:lnSpc>
                <a:spcPct val="100000"/>
              </a:lnSpc>
            </a:pPr>
            <a:r>
              <a:rPr sz="800" b="0" i="0">
                <a:solidFill>
                  <a:srgbClr val="ECE7DC"/>
                </a:solidFill>
                <a:latin typeface="Consolas"/>
              </a:rPr>
              <a:t>│   │   ├── feedback_user_owns_git.md</a:t>
            </a:r>
          </a:p>
          <a:p>
            <a:pPr algn="l">
              <a:lnSpc>
                <a:spcPct val="100000"/>
              </a:lnSpc>
            </a:pPr>
            <a:r>
              <a:rPr sz="800" b="0" i="0">
                <a:solidFill>
                  <a:srgbClr val="ECE7DC"/>
                </a:solidFill>
                <a:latin typeface="Consolas"/>
              </a:rPr>
              <a:t>│   │   ├── MEMORY.md</a:t>
            </a:r>
          </a:p>
          <a:p>
            <a:pPr algn="l">
              <a:lnSpc>
                <a:spcPct val="100000"/>
              </a:lnSpc>
            </a:pPr>
            <a:r>
              <a:rPr sz="800" b="0" i="0">
                <a:solidFill>
                  <a:srgbClr val="ECE7DC"/>
                </a:solidFill>
                <a:latin typeface="Consolas"/>
              </a:rPr>
              <a:t>│   │   ├── project_acpx_oneshot_prompt.md</a:t>
            </a:r>
          </a:p>
          <a:p>
            <a:pPr algn="l">
              <a:lnSpc>
                <a:spcPct val="100000"/>
              </a:lnSpc>
            </a:pPr>
            <a:r>
              <a:rPr sz="800" b="0" i="0">
                <a:solidFill>
                  <a:srgbClr val="ECE7DC"/>
                </a:solidFill>
                <a:latin typeface="Consolas"/>
              </a:rPr>
              <a:t>│   │   ├── project_acpx_skills_menu.md</a:t>
            </a:r>
          </a:p>
          <a:p>
            <a:pPr algn="l">
              <a:lnSpc>
                <a:spcPct val="100000"/>
              </a:lnSpc>
            </a:pPr>
            <a:r>
              <a:rPr sz="800" b="0" i="0">
                <a:solidFill>
                  <a:srgbClr val="ECE7DC"/>
                </a:solidFill>
                <a:latin typeface="Consolas"/>
              </a:rPr>
              <a:t>│   │   ├── project_acpx_toggle_skills.md</a:t>
            </a:r>
          </a:p>
          <a:p>
            <a:pPr algn="l">
              <a:lnSpc>
                <a:spcPct val="100000"/>
              </a:lnSpc>
            </a:pPr>
            <a:r>
              <a:rPr sz="800" b="0" i="0">
                <a:solidFill>
                  <a:srgbClr val="ECE7DC"/>
                </a:solidFill>
                <a:latin typeface="Consolas"/>
              </a:rPr>
              <a:t>│   │   ├── project_acpxer_added.md</a:t>
            </a:r>
          </a:p>
          <a:p>
            <a:pPr algn="l">
              <a:lnSpc>
                <a:spcPct val="100000"/>
              </a:lnSpc>
            </a:pPr>
            <a:r>
              <a:rPr sz="800" b="0" i="0">
                <a:solidFill>
                  <a:srgbClr val="ECE7DC"/>
                </a:solidFill>
                <a:latin typeface="Consolas"/>
              </a:rPr>
              <a:t>│   │   ├── project_agent_table_wiped_on_boot.md</a:t>
            </a:r>
          </a:p>
          <a:p>
            <a:pPr algn="l">
              <a:lnSpc>
                <a:spcPct val="100000"/>
              </a:lnSpc>
            </a:pPr>
            <a:r>
              <a:rPr sz="800" b="0" i="0">
                <a:solidFill>
                  <a:srgbClr val="ECE7DC"/>
                </a:solidFill>
                <a:latin typeface="Consolas"/>
              </a:rPr>
              <a:t>│   │   ├── project_arduiner_agent.md</a:t>
            </a:r>
          </a:p>
          <a:p>
            <a:pPr algn="l">
              <a:lnSpc>
                <a:spcPct val="100000"/>
              </a:lnSpc>
            </a:pPr>
            <a:r>
              <a:rPr sz="800" b="0" i="0">
                <a:solidFill>
                  <a:srgbClr val="ECE7DC"/>
                </a:solidFill>
                <a:latin typeface="Consolas"/>
              </a:rPr>
              <a:t>│   │   ├── project_ask_execs_feature.md</a:t>
            </a:r>
          </a:p>
          <a:p>
            <a:pPr algn="l">
              <a:lnSpc>
                <a:spcPct val="100000"/>
              </a:lnSpc>
            </a:pPr>
            <a:r>
              <a:rPr sz="800" b="0" i="0">
                <a:solidFill>
                  <a:srgbClr val="ECE7DC"/>
                </a:solidFill>
                <a:latin typeface="Consolas"/>
              </a:rPr>
              <a:t>│   │   ├── project_audioplayer_agent.md</a:t>
            </a:r>
          </a:p>
          <a:p>
            <a:pPr algn="l">
              <a:lnSpc>
                <a:spcPct val="100000"/>
              </a:lnSpc>
            </a:pPr>
            <a:r>
              <a:rPr sz="800" b="0" i="0">
                <a:solidFill>
                  <a:srgbClr val="ECE7DC"/>
                </a:solidFill>
                <a:latin typeface="Consolas"/>
              </a:rPr>
              <a:t>│   │   ├── project_build_concurrency_guard.md</a:t>
            </a:r>
          </a:p>
          <a:p>
            <a:pPr algn="l">
              <a:lnSpc>
                <a:spcPct val="100000"/>
              </a:lnSpc>
            </a:pPr>
            <a:r>
              <a:rPr sz="800" b="0" i="0">
                <a:solidFill>
                  <a:srgbClr val="ECE7DC"/>
                </a:solidFill>
                <a:latin typeface="Consolas"/>
              </a:rPr>
              <a:t>│   │   ├── project_build_tests_and_installer_enterkey.m</a:t>
            </a:r>
          </a:p>
          <a:p>
            <a:pPr algn="l">
              <a:lnSpc>
                <a:spcPct val="100000"/>
              </a:lnSpc>
            </a:pPr>
            <a:r>
              <a:rPr sz="800" b="0" i="0">
                <a:solidFill>
                  <a:srgbClr val="ECE7DC"/>
                </a:solidFill>
                <a:latin typeface="Consolas"/>
              </a:rPr>
              <a:t>│   │   │     » d</a:t>
            </a:r>
          </a:p>
          <a:p>
            <a:pPr algn="l">
              <a:lnSpc>
                <a:spcPct val="100000"/>
              </a:lnSpc>
            </a:pPr>
            <a:r>
              <a:rPr sz="800" b="0" i="0">
                <a:solidFill>
                  <a:srgbClr val="ECE7DC"/>
                </a:solidFill>
                <a:latin typeface="Consolas"/>
              </a:rPr>
              <a:t>│   │   ├── project_camcorder_agent.md</a:t>
            </a:r>
          </a:p>
          <a:p>
            <a:pPr algn="l">
              <a:lnSpc>
                <a:spcPct val="100000"/>
              </a:lnSpc>
            </a:pPr>
            <a:r>
              <a:rPr sz="800" b="0" i="0">
                <a:solidFill>
                  <a:srgbClr val="ECE7DC"/>
                </a:solidFill>
                <a:latin typeface="Consolas"/>
              </a:rPr>
              <a:t>│   │   ├── project_carried_python_for_agents.md</a:t>
            </a:r>
          </a:p>
          <a:p>
            <a:pPr algn="l">
              <a:lnSpc>
                <a:spcPct val="100000"/>
              </a:lnSpc>
            </a:pPr>
            <a:r>
              <a:rPr sz="800" b="0" i="0">
                <a:solidFill>
                  <a:srgbClr val="ECE7DC"/>
                </a:solidFill>
                <a:latin typeface="Consolas"/>
              </a:rPr>
              <a:t>│   │   ├── project_conjunction_parser_fix.md</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2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project_daily_chat_test_skill.md</a:t>
            </a:r>
          </a:p>
          <a:p>
            <a:pPr algn="l">
              <a:lnSpc>
                <a:spcPct val="100000"/>
              </a:lnSpc>
            </a:pPr>
            <a:r>
              <a:rPr sz="800" b="0" i="0">
                <a:solidFill>
                  <a:srgbClr val="ECE7DC"/>
                </a:solidFill>
                <a:latin typeface="Consolas"/>
              </a:rPr>
              <a:t>│   │   ├── project_desktop_ui_lifecycle.md</a:t>
            </a:r>
          </a:p>
          <a:p>
            <a:pPr algn="l">
              <a:lnSpc>
                <a:spcPct val="100000"/>
              </a:lnSpc>
            </a:pPr>
            <a:r>
              <a:rPr sz="800" b="0" i="0">
                <a:solidFill>
                  <a:srgbClr val="ECE7DC"/>
                </a:solidFill>
                <a:latin typeface="Consolas"/>
              </a:rPr>
              <a:t>│   │   ├── project_director_virtuoso_demo_prompts.md</a:t>
            </a:r>
          </a:p>
          <a:p>
            <a:pPr algn="l">
              <a:lnSpc>
                <a:spcPct val="100000"/>
              </a:lnSpc>
            </a:pPr>
            <a:r>
              <a:rPr sz="800" b="0" i="0">
                <a:solidFill>
                  <a:srgbClr val="ECE7DC"/>
                </a:solidFill>
                <a:latin typeface="Consolas"/>
              </a:rPr>
              <a:t>│   │   ├── project_doc_refresh_2026_05_06.md</a:t>
            </a:r>
          </a:p>
          <a:p>
            <a:pPr algn="l">
              <a:lnSpc>
                <a:spcPct val="100000"/>
              </a:lnSpc>
            </a:pPr>
            <a:r>
              <a:rPr sz="800" b="0" i="0">
                <a:solidFill>
                  <a:srgbClr val="ECE7DC"/>
                </a:solidFill>
                <a:latin typeface="Consolas"/>
              </a:rPr>
              <a:t>│   │   ├── project_doc_refresh_2026_05_08.md</a:t>
            </a:r>
          </a:p>
          <a:p>
            <a:pPr algn="l">
              <a:lnSpc>
                <a:spcPct val="100000"/>
              </a:lnSpc>
            </a:pPr>
            <a:r>
              <a:rPr sz="800" b="0" i="0">
                <a:solidFill>
                  <a:srgbClr val="ECE7DC"/>
                </a:solidFill>
                <a:latin typeface="Consolas"/>
              </a:rPr>
              <a:t>│   │   ├── project_doc_refresh_2026_05_09.md</a:t>
            </a:r>
          </a:p>
          <a:p>
            <a:pPr algn="l">
              <a:lnSpc>
                <a:spcPct val="100000"/>
              </a:lnSpc>
            </a:pPr>
            <a:r>
              <a:rPr sz="800" b="0" i="0">
                <a:solidFill>
                  <a:srgbClr val="ECE7DC"/>
                </a:solidFill>
                <a:latin typeface="Consolas"/>
              </a:rPr>
              <a:t>│   │   ├── project_eight_fixes_2026_05_07.md</a:t>
            </a:r>
          </a:p>
          <a:p>
            <a:pPr algn="l">
              <a:lnSpc>
                <a:spcPct val="100000"/>
              </a:lnSpc>
            </a:pPr>
            <a:r>
              <a:rPr sz="800" b="0" i="0">
                <a:solidFill>
                  <a:srgbClr val="ECE7DC"/>
                </a:solidFill>
                <a:latin typeface="Consolas"/>
              </a:rPr>
              <a:t>│   │   ├── project_emailer_recmailer_oneshot.md</a:t>
            </a:r>
          </a:p>
          <a:p>
            <a:pPr algn="l">
              <a:lnSpc>
                <a:spcPct val="100000"/>
              </a:lnSpc>
            </a:pPr>
            <a:r>
              <a:rPr sz="800" b="0" i="0">
                <a:solidFill>
                  <a:srgbClr val="ECE7DC"/>
                </a:solidFill>
                <a:latin typeface="Consolas"/>
              </a:rPr>
              <a:t>│   │   ├── project_embedding_memory_guard.md</a:t>
            </a:r>
          </a:p>
          <a:p>
            <a:pPr algn="l">
              <a:lnSpc>
                <a:spcPct val="100000"/>
              </a:lnSpc>
            </a:pPr>
            <a:r>
              <a:rPr sz="800" b="0" i="0">
                <a:solidFill>
                  <a:srgbClr val="ECE7DC"/>
                </a:solidFill>
                <a:latin typeface="Consolas"/>
              </a:rPr>
              <a:t>│   │   ├── project_esp32er_agent.md</a:t>
            </a:r>
          </a:p>
          <a:p>
            <a:pPr algn="l">
              <a:lnSpc>
                <a:spcPct val="100000"/>
              </a:lnSpc>
            </a:pPr>
            <a:r>
              <a:rPr sz="800" b="0" i="0">
                <a:solidFill>
                  <a:srgbClr val="ECE7DC"/>
                </a:solidFill>
                <a:latin typeface="Consolas"/>
              </a:rPr>
              <a:t>│   │   ├── project_execute_command_bounded_fix.md</a:t>
            </a:r>
          </a:p>
          <a:p>
            <a:pPr algn="l">
              <a:lnSpc>
                <a:spcPct val="100000"/>
              </a:lnSpc>
            </a:pPr>
            <a:r>
              <a:rPr sz="800" b="0" i="0">
                <a:solidFill>
                  <a:srgbClr val="ECE7DC"/>
                </a:solidFill>
                <a:latin typeface="Consolas"/>
              </a:rPr>
              <a:t>│   │   ├── project_execute_file_foreground_fix.md</a:t>
            </a:r>
          </a:p>
          <a:p>
            <a:pPr algn="l">
              <a:lnSpc>
                <a:spcPct val="100000"/>
              </a:lnSpc>
            </a:pPr>
            <a:r>
              <a:rPr sz="800" b="0" i="0">
                <a:solidFill>
                  <a:srgbClr val="ECE7DC"/>
                </a:solidFill>
                <a:latin typeface="Consolas"/>
              </a:rPr>
              <a:t>│   │   ├── project_external_exec_safety_layer.md</a:t>
            </a:r>
          </a:p>
          <a:p>
            <a:pPr algn="l">
              <a:lnSpc>
                <a:spcPct val="100000"/>
              </a:lnSpc>
            </a:pPr>
            <a:r>
              <a:rPr sz="800" b="0" i="0">
                <a:solidFill>
                  <a:srgbClr val="ECE7DC"/>
                </a:solidFill>
                <a:latin typeface="Consolas"/>
              </a:rPr>
              <a:t>│   │   ├── project_flow_compiler_dialog_wins.md</a:t>
            </a:r>
          </a:p>
          <a:p>
            <a:pPr algn="l">
              <a:lnSpc>
                <a:spcPct val="100000"/>
              </a:lnSpc>
            </a:pPr>
            <a:r>
              <a:rPr sz="800" b="0" i="0">
                <a:solidFill>
                  <a:srgbClr val="ECE7DC"/>
                </a:solidFill>
                <a:latin typeface="Consolas"/>
              </a:rPr>
              <a:t>│   │   ├── project_ghost_distinfo_dependency_audit.md</a:t>
            </a:r>
          </a:p>
          <a:p>
            <a:pPr algn="l">
              <a:lnSpc>
                <a:spcPct val="100000"/>
              </a:lnSpc>
            </a:pPr>
            <a:r>
              <a:rPr sz="800" b="0" i="0">
                <a:solidFill>
                  <a:srgbClr val="ECE7DC"/>
                </a:solidFill>
                <a:latin typeface="Consolas"/>
              </a:rPr>
              <a:t>│   │   ├── project_kalier_agent.md</a:t>
            </a:r>
          </a:p>
          <a:p>
            <a:pPr algn="l">
              <a:lnSpc>
                <a:spcPct val="100000"/>
              </a:lnSpc>
            </a:pPr>
            <a:r>
              <a:rPr sz="800" b="0" i="0">
                <a:solidFill>
                  <a:srgbClr val="ECE7DC"/>
                </a:solidFill>
                <a:latin typeface="Consolas"/>
              </a:rPr>
              <a:t>│   │   ├── project_keyboarder_wrapped_2026_05_07.md</a:t>
            </a:r>
          </a:p>
          <a:p>
            <a:pPr algn="l">
              <a:lnSpc>
                <a:spcPct val="100000"/>
              </a:lnSpc>
            </a:pPr>
            <a:r>
              <a:rPr sz="800" b="0" i="0">
                <a:solidFill>
                  <a:srgbClr val="ECE7DC"/>
                </a:solidFill>
                <a:latin typeface="Consolas"/>
              </a:rPr>
              <a:t>│   │   ├── project_latexer_agent.md</a:t>
            </a:r>
          </a:p>
          <a:p>
            <a:pPr algn="l">
              <a:lnSpc>
                <a:spcPct val="100000"/>
              </a:lnSpc>
            </a:pPr>
            <a:r>
              <a:rPr sz="800" b="0" i="0">
                <a:solidFill>
                  <a:srgbClr val="ECE7DC"/>
                </a:solidFill>
                <a:latin typeface="Consolas"/>
              </a:rPr>
              <a:t>│   │   ├── project_living_canvas_dropped.md</a:t>
            </a:r>
          </a:p>
          <a:p>
            <a:pPr algn="l">
              <a:lnSpc>
                <a:spcPct val="100000"/>
              </a:lnSpc>
            </a:pPr>
            <a:r>
              <a:rPr sz="800" b="0" i="0">
                <a:solidFill>
                  <a:srgbClr val="ECE7DC"/>
                </a:solidFill>
                <a:latin typeface="Consolas"/>
              </a:rPr>
              <a:t>│   │   ├── project_mouser_wrapped_2026_05_07.md</a:t>
            </a:r>
          </a:p>
          <a:p>
            <a:pPr algn="l">
              <a:lnSpc>
                <a:spcPct val="100000"/>
              </a:lnSpc>
            </a:pPr>
            <a:r>
              <a:rPr sz="800" b="0" i="0">
                <a:solidFill>
                  <a:srgbClr val="ECE7DC"/>
                </a:solidFill>
                <a:latin typeface="Consolas"/>
              </a:rPr>
              <a:t>│   │   ├── project_native_picker_tcltk_fix.md</a:t>
            </a:r>
          </a:p>
          <a:p>
            <a:pPr algn="l">
              <a:lnSpc>
                <a:spcPct val="100000"/>
              </a:lnSpc>
            </a:pPr>
            <a:r>
              <a:rPr sz="800" b="0" i="0">
                <a:solidFill>
                  <a:srgbClr val="ECE7DC"/>
                </a:solidFill>
                <a:latin typeface="Consolas"/>
              </a:rPr>
              <a:t>│   │   ├── project_native_toast.md</a:t>
            </a:r>
          </a:p>
          <a:p>
            <a:pPr algn="l">
              <a:lnSpc>
                <a:spcPct val="100000"/>
              </a:lnSpc>
            </a:pPr>
            <a:r>
              <a:rPr sz="800" b="0" i="0">
                <a:solidFill>
                  <a:srgbClr val="ECE7DC"/>
                </a:solidFill>
                <a:latin typeface="Consolas"/>
              </a:rPr>
              <a:t>│   │   ├── project_netspeed_calculator_agent.md</a:t>
            </a:r>
          </a:p>
          <a:p>
            <a:pPr algn="l">
              <a:lnSpc>
                <a:spcPct val="100000"/>
              </a:lnSpc>
            </a:pPr>
            <a:r>
              <a:rPr sz="800" b="0" i="0">
                <a:solidFill>
                  <a:srgbClr val="ECE7DC"/>
                </a:solidFill>
                <a:latin typeface="Consolas"/>
              </a:rPr>
              <a:t>│   │   ├── project_numpy_pyinstaller.md</a:t>
            </a:r>
          </a:p>
          <a:p>
            <a:pPr algn="l">
              <a:lnSpc>
                <a:spcPct val="100000"/>
              </a:lnSpc>
            </a:pPr>
            <a:r>
              <a:rPr sz="800" b="0" i="0">
                <a:solidFill>
                  <a:srgbClr val="ECE7DC"/>
                </a:solidFill>
                <a:latin typeface="Consolas"/>
              </a:rPr>
              <a:t>│   │   ├── project_ollama_source_build_breaks_embedding</a:t>
            </a:r>
          </a:p>
          <a:p>
            <a:pPr algn="l">
              <a:lnSpc>
                <a:spcPct val="100000"/>
              </a:lnSpc>
            </a:pPr>
            <a:r>
              <a:rPr sz="800" b="0" i="0">
                <a:solidFill>
                  <a:srgbClr val="ECE7DC"/>
                </a:solidFill>
                <a:latin typeface="Consolas"/>
              </a:rPr>
              <a:t>│   │   │     » s.md</a:t>
            </a:r>
          </a:p>
          <a:p>
            <a:pPr algn="l">
              <a:lnSpc>
                <a:spcPct val="100000"/>
              </a:lnSpc>
            </a:pPr>
            <a:r>
              <a:rPr sz="800" b="0" i="0">
                <a:solidFill>
                  <a:srgbClr val="ECE7DC"/>
                </a:solidFill>
                <a:latin typeface="Consolas"/>
              </a:rPr>
              <a:t>│   │   ├── project_pdfer_agent.md</a:t>
            </a:r>
          </a:p>
          <a:p>
            <a:pPr algn="l">
              <a:lnSpc>
                <a:spcPct val="100000"/>
              </a:lnSpc>
            </a:pPr>
            <a:r>
              <a:rPr sz="800" b="0" i="0">
                <a:solidFill>
                  <a:srgbClr val="ECE7DC"/>
                </a:solidFill>
                <a:latin typeface="Consolas"/>
              </a:rPr>
              <a:t>│   │   ├── project_planner_followup.md</a:t>
            </a:r>
          </a:p>
          <a:p>
            <a:pPr algn="l">
              <a:lnSpc>
                <a:spcPct val="100000"/>
              </a:lnSpc>
            </a:pPr>
            <a:r>
              <a:rPr sz="800" b="0" i="0">
                <a:solidFill>
                  <a:srgbClr val="ECE7DC"/>
                </a:solidFill>
                <a:latin typeface="Consolas"/>
              </a:rPr>
              <a:t>│   │   ├── project_playwrighter_agent.md</a:t>
            </a:r>
          </a:p>
          <a:p>
            <a:pPr algn="l">
              <a:lnSpc>
                <a:spcPct val="100000"/>
              </a:lnSpc>
            </a:pPr>
            <a:r>
              <a:rPr sz="800" b="0" i="0">
                <a:solidFill>
                  <a:srgbClr val="ECE7DC"/>
                </a:solidFill>
                <a:latin typeface="Consolas"/>
              </a:rPr>
              <a:t>│   │   ├── project_playwrighter_hold_open.md</a:t>
            </a:r>
          </a:p>
          <a:p>
            <a:pPr algn="l">
              <a:lnSpc>
                <a:spcPct val="100000"/>
              </a:lnSpc>
            </a:pPr>
            <a:r>
              <a:rPr sz="800" b="0" i="0">
                <a:solidFill>
                  <a:srgbClr val="ECE7DC"/>
                </a:solidFill>
                <a:latin typeface="Consolas"/>
              </a:rPr>
              <a:t>│   │   ├── project_prompt_catalog_mode_badges.md</a:t>
            </a:r>
          </a:p>
          <a:p>
            <a:pPr algn="l">
              <a:lnSpc>
                <a:spcPct val="100000"/>
              </a:lnSpc>
            </a:pPr>
            <a:r>
              <a:rPr sz="800" b="0" i="0">
                <a:solidFill>
                  <a:srgbClr val="ECE7DC"/>
                </a:solidFill>
                <a:latin typeface="Consolas"/>
              </a:rPr>
              <a:t>│   │   ├── project_prompt_flow_commentary_input.md</a:t>
            </a:r>
          </a:p>
          <a:p>
            <a:pPr algn="l">
              <a:lnSpc>
                <a:spcPct val="100000"/>
              </a:lnSpc>
            </a:pPr>
            <a:r>
              <a:rPr sz="800" b="0" i="0">
                <a:solidFill>
                  <a:srgbClr val="ECE7DC"/>
                </a:solidFill>
                <a:latin typeface="Consolas"/>
              </a:rPr>
              <a:t>│   │   ├── project_pythonxer_forkbomb_fix.md</a:t>
            </a:r>
          </a:p>
          <a:p>
            <a:pPr algn="l">
              <a:lnSpc>
                <a:spcPct val="100000"/>
              </a:lnSpc>
            </a:pPr>
            <a:r>
              <a:rPr sz="800" b="0" i="0">
                <a:solidFill>
                  <a:srgbClr val="ECE7DC"/>
                </a:solidFill>
                <a:latin typeface="Consolas"/>
              </a:rPr>
              <a:t>│   │   ├── project_pythonxer_strict_ruff_gate.md</a:t>
            </a:r>
          </a:p>
          <a:p>
            <a:pPr algn="l">
              <a:lnSpc>
                <a:spcPct val="100000"/>
              </a:lnSpc>
            </a:pPr>
            <a:r>
              <a:rPr sz="800" b="0" i="0">
                <a:solidFill>
                  <a:srgbClr val="ECE7DC"/>
                </a:solidFill>
                <a:latin typeface="Consolas"/>
              </a:rPr>
              <a:t>│   │   ├── project_quote_apostrophe_fix_2026_05_07.md</a:t>
            </a:r>
          </a:p>
          <a:p>
            <a:pPr algn="l">
              <a:lnSpc>
                <a:spcPct val="100000"/>
              </a:lnSpc>
            </a:pPr>
            <a:r>
              <a:rPr sz="800" b="0" i="0">
                <a:solidFill>
                  <a:srgbClr val="ECE7DC"/>
                </a:solidFill>
                <a:latin typeface="Consolas"/>
              </a:rPr>
              <a:t>│   │   ├── project_reaper_console_window_fix.md</a:t>
            </a:r>
          </a:p>
          <a:p>
            <a:pPr algn="l">
              <a:lnSpc>
                <a:spcPct val="100000"/>
              </a:lnSpc>
            </a:pPr>
            <a:r>
              <a:rPr sz="800" b="0" i="0">
                <a:solidFill>
                  <a:srgbClr val="ECE7DC"/>
                </a:solidFill>
                <a:latin typeface="Consolas"/>
              </a:rPr>
              <a:t>│   │   ├── project_recorder_agent.md</a:t>
            </a:r>
          </a:p>
          <a:p>
            <a:pPr algn="l">
              <a:lnSpc>
                <a:spcPct val="100000"/>
              </a:lnSpc>
            </a:pPr>
            <a:r>
              <a:rPr sz="800" b="0" i="0">
                <a:solidFill>
                  <a:srgbClr val="ECE7DC"/>
                </a:solidFill>
                <a:latin typeface="Consolas"/>
              </a:rPr>
              <a:t>│   │   ├── project_reviewer_analyzer_agents.md</a:t>
            </a:r>
          </a:p>
          <a:p>
            <a:pPr algn="l">
              <a:lnSpc>
                <a:spcPct val="100000"/>
              </a:lnSpc>
            </a:pPr>
            <a:r>
              <a:rPr sz="800" b="0" i="0">
                <a:solidFill>
                  <a:srgbClr val="ECE7DC"/>
                </a:solidFill>
                <a:latin typeface="Consolas"/>
              </a:rPr>
              <a:t>│   │   ├── project_reviewer_analyzer_demo_prompts.md</a:t>
            </a:r>
          </a:p>
          <a:p>
            <a:pPr algn="l">
              <a:lnSpc>
                <a:spcPct val="100000"/>
              </a:lnSpc>
            </a:pPr>
            <a:r>
              <a:rPr sz="800" b="0" i="0">
                <a:solidFill>
                  <a:srgbClr val="ECE7DC"/>
                </a:solidFill>
                <a:latin typeface="Consolas"/>
              </a:rPr>
              <a:t>│   │   ├── project_reviewer_committed_secrets_falsepos.</a:t>
            </a:r>
          </a:p>
          <a:p>
            <a:pPr algn="l">
              <a:lnSpc>
                <a:spcPct val="100000"/>
              </a:lnSpc>
            </a:pPr>
            <a:r>
              <a:rPr sz="800" b="0" i="0">
                <a:solidFill>
                  <a:srgbClr val="ECE7DC"/>
                </a:solidFill>
                <a:latin typeface="Consolas"/>
              </a:rPr>
              <a:t>│   │   │     » md</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project_secret_leak_recovery.md</a:t>
            </a:r>
          </a:p>
          <a:p>
            <a:pPr algn="l">
              <a:lnSpc>
                <a:spcPct val="100000"/>
              </a:lnSpc>
            </a:pPr>
            <a:r>
              <a:rPr sz="800" b="0" i="0">
                <a:solidFill>
                  <a:srgbClr val="ECE7DC"/>
                </a:solidFill>
                <a:latin typeface="Consolas"/>
              </a:rPr>
              <a:t>│   │   ├── project_stm32er_agent.md</a:t>
            </a:r>
          </a:p>
          <a:p>
            <a:pPr algn="l">
              <a:lnSpc>
                <a:spcPct val="100000"/>
              </a:lnSpc>
            </a:pPr>
            <a:r>
              <a:rPr sz="800" b="0" i="0">
                <a:solidFill>
                  <a:srgbClr val="ECE7DC"/>
                </a:solidFill>
                <a:latin typeface="Consolas"/>
              </a:rPr>
              <a:t>│   │   ├── project_stm32er_bootstrap_preflight.md</a:t>
            </a:r>
          </a:p>
          <a:p>
            <a:pPr algn="l">
              <a:lnSpc>
                <a:spcPct val="100000"/>
              </a:lnSpc>
            </a:pPr>
            <a:r>
              <a:rPr sz="800" b="0" i="0">
                <a:solidFill>
                  <a:srgbClr val="ECE7DC"/>
                </a:solidFill>
                <a:latin typeface="Consolas"/>
              </a:rPr>
              <a:t>│   │   ├── project_stm32er_demo_prompts.md</a:t>
            </a:r>
          </a:p>
          <a:p>
            <a:pPr algn="l">
              <a:lnSpc>
                <a:spcPct val="100000"/>
              </a:lnSpc>
            </a:pPr>
            <a:r>
              <a:rPr sz="800" b="0" i="0">
                <a:solidFill>
                  <a:srgbClr val="ECE7DC"/>
                </a:solidFill>
                <a:latin typeface="Consolas"/>
              </a:rPr>
              <a:t>│   │   ├── project_stm32er_docs_libs_parametrizer.md</a:t>
            </a:r>
          </a:p>
          <a:p>
            <a:pPr algn="l">
              <a:lnSpc>
                <a:spcPct val="100000"/>
              </a:lnSpc>
            </a:pPr>
            <a:r>
              <a:rPr sz="800" b="0" i="0">
                <a:solidFill>
                  <a:srgbClr val="ECE7DC"/>
                </a:solidFill>
                <a:latin typeface="Consolas"/>
              </a:rPr>
              <a:t>│   │   ├── project_stm32er_hil_serial_proof_fix.md</a:t>
            </a:r>
          </a:p>
          <a:p>
            <a:pPr algn="l">
              <a:lnSpc>
                <a:spcPct val="100000"/>
              </a:lnSpc>
            </a:pPr>
            <a:r>
              <a:rPr sz="800" b="0" i="0">
                <a:solidFill>
                  <a:srgbClr val="ECE7DC"/>
                </a:solidFill>
                <a:latin typeface="Consolas"/>
              </a:rPr>
              <a:t>│   │   ├── project_stm32er_tests.md</a:t>
            </a:r>
          </a:p>
          <a:p>
            <a:pPr algn="l">
              <a:lnSpc>
                <a:spcPct val="100000"/>
              </a:lnSpc>
            </a:pPr>
            <a:r>
              <a:rPr sz="800" b="0" i="0">
                <a:solidFill>
                  <a:srgbClr val="ECE7DC"/>
                </a:solidFill>
                <a:latin typeface="Consolas"/>
              </a:rPr>
              <a:t>│   │   ├── project_summarizer_oneshot_mode.md</a:t>
            </a:r>
          </a:p>
          <a:p>
            <a:pPr algn="l">
              <a:lnSpc>
                <a:spcPct val="100000"/>
              </a:lnSpc>
            </a:pPr>
            <a:r>
              <a:rPr sz="800" b="0" i="0">
                <a:solidFill>
                  <a:srgbClr val="ECE7DC"/>
                </a:solidFill>
                <a:latin typeface="Consolas"/>
              </a:rPr>
              <a:t>│   │   ├── project_taskbar_flash_attention.md</a:t>
            </a:r>
          </a:p>
          <a:p>
            <a:pPr algn="l">
              <a:lnSpc>
                <a:spcPct val="100000"/>
              </a:lnSpc>
            </a:pPr>
            <a:r>
              <a:rPr sz="800" b="0" i="0">
                <a:solidFill>
                  <a:srgbClr val="ECE7DC"/>
                </a:solidFill>
                <a:latin typeface="Consolas"/>
              </a:rPr>
              <a:t>│   │   ├── project_teletlamatini_acpx.md</a:t>
            </a:r>
          </a:p>
          <a:p>
            <a:pPr algn="l">
              <a:lnSpc>
                <a:spcPct val="100000"/>
              </a:lnSpc>
            </a:pPr>
            <a:r>
              <a:rPr sz="800" b="0" i="0">
                <a:solidFill>
                  <a:srgbClr val="ECE7DC"/>
                </a:solidFill>
                <a:latin typeface="Consolas"/>
              </a:rPr>
              <a:t>│   │   ├── project_temp_templates_policy.md</a:t>
            </a:r>
          </a:p>
          <a:p>
            <a:pPr algn="l">
              <a:lnSpc>
                <a:spcPct val="100000"/>
              </a:lnSpc>
            </a:pPr>
            <a:r>
              <a:rPr sz="800" b="0" i="0">
                <a:solidFill>
                  <a:srgbClr val="ECE7DC"/>
                </a:solidFill>
                <a:latin typeface="Consolas"/>
              </a:rPr>
              <a:t>│   │   ├── project_unity_mcp_declined.md</a:t>
            </a:r>
          </a:p>
          <a:p>
            <a:pPr algn="l">
              <a:lnSpc>
                <a:spcPct val="100000"/>
              </a:lnSpc>
            </a:pPr>
            <a:r>
              <a:rPr sz="800" b="0" i="0">
                <a:solidFill>
                  <a:srgbClr val="ECE7DC"/>
                </a:solidFill>
                <a:latin typeface="Consolas"/>
              </a:rPr>
              <a:t>│   │   ├── project_unrealer_expanded_surface.md</a:t>
            </a:r>
          </a:p>
          <a:p>
            <a:pPr algn="l">
              <a:lnSpc>
                <a:spcPct val="100000"/>
              </a:lnSpc>
            </a:pPr>
            <a:r>
              <a:rPr sz="800" b="0" i="0">
                <a:solidFill>
                  <a:srgbClr val="ECE7DC"/>
                </a:solidFill>
                <a:latin typeface="Consolas"/>
              </a:rPr>
              <a:t>│   │   ├── project_versioning_2026_05_15.md</a:t>
            </a:r>
          </a:p>
          <a:p>
            <a:pPr algn="l">
              <a:lnSpc>
                <a:spcPct val="100000"/>
              </a:lnSpc>
            </a:pPr>
            <a:r>
              <a:rPr sz="800" b="0" i="0">
                <a:solidFill>
                  <a:srgbClr val="ECE7DC"/>
                </a:solidFill>
                <a:latin typeface="Consolas"/>
              </a:rPr>
              <a:t>│   │   ├── project_videoplayer_agent.md</a:t>
            </a:r>
          </a:p>
          <a:p>
            <a:pPr algn="l">
              <a:lnSpc>
                <a:spcPct val="100000"/>
              </a:lnSpc>
            </a:pPr>
            <a:r>
              <a:rPr sz="800" b="0" i="0">
                <a:solidFill>
                  <a:srgbClr val="ECE7DC"/>
                </a:solidFill>
                <a:latin typeface="Consolas"/>
              </a:rPr>
              <a:t>│   │   ├── project_windower_agent.md</a:t>
            </a:r>
          </a:p>
          <a:p>
            <a:pPr algn="l">
              <a:lnSpc>
                <a:spcPct val="100000"/>
              </a:lnSpc>
            </a:pPr>
            <a:r>
              <a:rPr sz="800" b="0" i="0">
                <a:solidFill>
                  <a:srgbClr val="ECE7DC"/>
                </a:solidFill>
                <a:latin typeface="Consolas"/>
              </a:rPr>
              <a:t>│   │   └── user_profile.md</a:t>
            </a:r>
          </a:p>
          <a:p>
            <a:pPr algn="l">
              <a:lnSpc>
                <a:spcPct val="100000"/>
              </a:lnSpc>
            </a:pPr>
            <a:r>
              <a:rPr sz="800" b="0" i="0">
                <a:solidFill>
                  <a:srgbClr val="3BBE93"/>
                </a:solidFill>
                <a:latin typeface="Consolas"/>
              </a:rPr>
              <a:t>│   └── skills/</a:t>
            </a:r>
          </a:p>
          <a:p>
            <a:pPr algn="l">
              <a:lnSpc>
                <a:spcPct val="100000"/>
              </a:lnSpc>
            </a:pPr>
            <a:r>
              <a:rPr sz="800" b="0" i="0">
                <a:solidFill>
                  <a:srgbClr val="3BBE93"/>
                </a:solidFill>
                <a:latin typeface="Consolas"/>
              </a:rPr>
              <a:t>│       ├── tlamatini-agent-creation/</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tlamatini-agent-naming/</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tlamatini-daily-chat-test/</a:t>
            </a:r>
          </a:p>
          <a:p>
            <a:pPr algn="l">
              <a:lnSpc>
                <a:spcPct val="100000"/>
              </a:lnSpc>
            </a:pPr>
            <a:r>
              <a:rPr sz="800" b="0" i="0">
                <a:solidFill>
                  <a:srgbClr val="ECE7DC"/>
                </a:solidFill>
                <a:latin typeface="Consolas"/>
              </a:rPr>
              <a:t>│       │   ├── .gitignore</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 harness/</a:t>
            </a:r>
          </a:p>
          <a:p>
            <a:pPr algn="l">
              <a:lnSpc>
                <a:spcPct val="100000"/>
              </a:lnSpc>
            </a:pPr>
            <a:r>
              <a:rPr sz="800" b="0" i="0">
                <a:solidFill>
                  <a:srgbClr val="ECE7DC"/>
                </a:solidFill>
                <a:latin typeface="Consolas"/>
              </a:rPr>
              <a:t>│       │       ├── _peek.py</a:t>
            </a:r>
          </a:p>
          <a:p>
            <a:pPr algn="l">
              <a:lnSpc>
                <a:spcPct val="100000"/>
              </a:lnSpc>
            </a:pPr>
            <a:r>
              <a:rPr sz="800" b="0" i="0">
                <a:solidFill>
                  <a:srgbClr val="ECE7DC"/>
                </a:solidFill>
                <a:latin typeface="Consolas"/>
              </a:rPr>
              <a:t>│       │       ├── _stage.ps1</a:t>
            </a:r>
          </a:p>
          <a:p>
            <a:pPr algn="l">
              <a:lnSpc>
                <a:spcPct val="100000"/>
              </a:lnSpc>
            </a:pPr>
            <a:r>
              <a:rPr sz="800" b="0" i="0">
                <a:solidFill>
                  <a:srgbClr val="ECE7DC"/>
                </a:solidFill>
                <a:latin typeface="Consolas"/>
              </a:rPr>
              <a:t>│       │       ├── acp_backend_banner_test.py</a:t>
            </a:r>
          </a:p>
          <a:p>
            <a:pPr algn="l">
              <a:lnSpc>
                <a:spcPct val="100000"/>
              </a:lnSpc>
            </a:pPr>
            <a:r>
              <a:rPr sz="800" b="0" i="0">
                <a:solidFill>
                  <a:srgbClr val="ECE7DC"/>
                </a:solidFill>
                <a:latin typeface="Consolas"/>
              </a:rPr>
              <a:t>│       │       ├── acp_backend_banner_test.py.antes_sho</a:t>
            </a:r>
          </a:p>
          <a:p>
            <a:pPr algn="l">
              <a:lnSpc>
                <a:spcPct val="100000"/>
              </a:lnSpc>
            </a:pPr>
            <a:r>
              <a:rPr sz="800" b="0" i="0">
                <a:solidFill>
                  <a:srgbClr val="ECE7DC"/>
                </a:solidFill>
                <a:latin typeface="Consolas"/>
              </a:rPr>
              <a:t>│       │       │     » ter</a:t>
            </a:r>
          </a:p>
          <a:p>
            <a:pPr algn="l">
              <a:lnSpc>
                <a:spcPct val="100000"/>
              </a:lnSpc>
            </a:pPr>
            <a:r>
              <a:rPr sz="800" b="0" i="0">
                <a:solidFill>
                  <a:srgbClr val="ECE7DC"/>
                </a:solidFill>
                <a:latin typeface="Consolas"/>
              </a:rPr>
              <a:t>│       │       ├── acp_dialog_full_sweep.py</a:t>
            </a:r>
          </a:p>
          <a:p>
            <a:pPr algn="l">
              <a:lnSpc>
                <a:spcPct val="100000"/>
              </a:lnSpc>
            </a:pPr>
            <a:r>
              <a:rPr sz="800" b="0" i="0">
                <a:solidFill>
                  <a:srgbClr val="ECE7DC"/>
                </a:solidFill>
                <a:latin typeface="Consolas"/>
              </a:rPr>
              <a:t>│       │       ├── acp_dialog_theme_visible.py</a:t>
            </a:r>
          </a:p>
          <a:p>
            <a:pPr algn="l">
              <a:lnSpc>
                <a:spcPct val="100000"/>
              </a:lnSpc>
            </a:pPr>
            <a:r>
              <a:rPr sz="800" b="0" i="0">
                <a:solidFill>
                  <a:srgbClr val="ECE7DC"/>
                </a:solidFill>
                <a:latin typeface="Consolas"/>
              </a:rPr>
              <a:t>│       │       ├── ask_execs_regression.py</a:t>
            </a:r>
          </a:p>
          <a:p>
            <a:pPr algn="l">
              <a:lnSpc>
                <a:spcPct val="100000"/>
              </a:lnSpc>
            </a:pPr>
            <a:r>
              <a:rPr sz="800" b="0" i="0">
                <a:solidFill>
                  <a:srgbClr val="ECE7DC"/>
                </a:solidFill>
                <a:latin typeface="Consolas"/>
              </a:rPr>
              <a:t>│       │       ├── ask_execs_regression.py.antes_shoter</a:t>
            </a:r>
          </a:p>
          <a:p>
            <a:pPr algn="l">
              <a:lnSpc>
                <a:spcPct val="100000"/>
              </a:lnSpc>
            </a:pPr>
            <a:r>
              <a:rPr sz="800" b="0" i="0">
                <a:solidFill>
                  <a:srgbClr val="ECE7DC"/>
                </a:solidFill>
                <a:latin typeface="Consolas"/>
              </a:rPr>
              <a:t>│       │       ├── bulk_toggle_behaviour.py</a:t>
            </a:r>
          </a:p>
          <a:p>
            <a:pPr algn="l">
              <a:lnSpc>
                <a:spcPct val="100000"/>
              </a:lnSpc>
            </a:pPr>
            <a:r>
              <a:rPr sz="800" b="0" i="0">
                <a:solidFill>
                  <a:srgbClr val="ECE7DC"/>
                </a:solidFill>
                <a:latin typeface="Consolas"/>
              </a:rPr>
              <a:t>│       │       ├── bulk_toggle_visible.py</a:t>
            </a:r>
          </a:p>
          <a:p>
            <a:pPr algn="l">
              <a:lnSpc>
                <a:spcPct val="100000"/>
              </a:lnSpc>
            </a:pPr>
            <a:r>
              <a:rPr sz="800" b="0" i="0">
                <a:solidFill>
                  <a:srgbClr val="ECE7DC"/>
                </a:solidFill>
                <a:latin typeface="Consolas"/>
              </a:rPr>
              <a:t>│       │       ├── cancel_regression.py</a:t>
            </a:r>
          </a:p>
          <a:p>
            <a:pPr algn="l">
              <a:lnSpc>
                <a:spcPct val="100000"/>
              </a:lnSpc>
            </a:pPr>
            <a:r>
              <a:rPr sz="800" b="0" i="0">
                <a:solidFill>
                  <a:srgbClr val="ECE7DC"/>
                </a:solidFill>
                <a:latin typeface="Consolas"/>
              </a:rPr>
              <a:t>│       │       ├── cancel_regression.py.antes_shoter</a:t>
            </a:r>
          </a:p>
          <a:p>
            <a:pPr algn="l">
              <a:lnSpc>
                <a:spcPct val="100000"/>
              </a:lnSpc>
            </a:pPr>
            <a:r>
              <a:rPr sz="800" b="0" i="0">
                <a:solidFill>
                  <a:srgbClr val="ECE7DC"/>
                </a:solidFill>
                <a:latin typeface="Consolas"/>
              </a:rPr>
              <a:t>│       │       ├── compact_mode_visible.py</a:t>
            </a:r>
          </a:p>
          <a:p>
            <a:pPr algn="l">
              <a:lnSpc>
                <a:spcPct val="100000"/>
              </a:lnSpc>
            </a:pPr>
            <a:r>
              <a:rPr sz="800" b="0" i="0">
                <a:solidFill>
                  <a:srgbClr val="ECE7DC"/>
                </a:solidFill>
                <a:latin typeface="Consolas"/>
              </a:rPr>
              <a:t>│       │       ├── compact_pingpong_visible.py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compact_switch_visible.py</a:t>
            </a:r>
          </a:p>
          <a:p>
            <a:pPr algn="l">
              <a:lnSpc>
                <a:spcPct val="100000"/>
              </a:lnSpc>
            </a:pPr>
            <a:r>
              <a:rPr sz="800" b="0" i="0">
                <a:solidFill>
                  <a:srgbClr val="ECE7DC"/>
                </a:solidFill>
                <a:latin typeface="Consolas"/>
              </a:rPr>
              <a:t>│       │       ├── config.py</a:t>
            </a:r>
          </a:p>
          <a:p>
            <a:pPr algn="l">
              <a:lnSpc>
                <a:spcPct val="100000"/>
              </a:lnSpc>
            </a:pPr>
            <a:r>
              <a:rPr sz="800" b="0" i="0">
                <a:solidFill>
                  <a:srgbClr val="ECE7DC"/>
                </a:solidFill>
                <a:latin typeface="Consolas"/>
              </a:rPr>
              <a:t>│       │       ├── context_gauge_100.py</a:t>
            </a:r>
          </a:p>
          <a:p>
            <a:pPr algn="l">
              <a:lnSpc>
                <a:spcPct val="100000"/>
              </a:lnSpc>
            </a:pPr>
            <a:r>
              <a:rPr sz="800" b="0" i="0">
                <a:solidFill>
                  <a:srgbClr val="ECE7DC"/>
                </a:solidFill>
                <a:latin typeface="Consolas"/>
              </a:rPr>
              <a:t>│       │       ├── context_gauge_real_lab.py</a:t>
            </a:r>
          </a:p>
          <a:p>
            <a:pPr algn="l">
              <a:lnSpc>
                <a:spcPct val="100000"/>
              </a:lnSpc>
            </a:pPr>
            <a:r>
              <a:rPr sz="800" b="0" i="0">
                <a:solidFill>
                  <a:srgbClr val="ECE7DC"/>
                </a:solidFill>
                <a:latin typeface="Consolas"/>
              </a:rPr>
              <a:t>│       │       ├── context_gauge_visible.py</a:t>
            </a:r>
          </a:p>
          <a:p>
            <a:pPr algn="l">
              <a:lnSpc>
                <a:spcPct val="100000"/>
              </a:lnSpc>
            </a:pPr>
            <a:r>
              <a:rPr sz="800" b="0" i="0">
                <a:solidFill>
                  <a:srgbClr val="ECE7DC"/>
                </a:solidFill>
                <a:latin typeface="Consolas"/>
              </a:rPr>
              <a:t>│       │       ├── context_restore_spinner_visible.py</a:t>
            </a:r>
          </a:p>
          <a:p>
            <a:pPr algn="l">
              <a:lnSpc>
                <a:spcPct val="100000"/>
              </a:lnSpc>
            </a:pPr>
            <a:r>
              <a:rPr sz="800" b="0" i="0">
                <a:solidFill>
                  <a:srgbClr val="ECE7DC"/>
                </a:solidFill>
                <a:latin typeface="Consolas"/>
              </a:rPr>
              <a:t>│       │       ├── cyber_watchdog_test.py</a:t>
            </a:r>
          </a:p>
          <a:p>
            <a:pPr algn="l">
              <a:lnSpc>
                <a:spcPct val="100000"/>
              </a:lnSpc>
            </a:pPr>
            <a:r>
              <a:rPr sz="800" b="0" i="0">
                <a:solidFill>
                  <a:srgbClr val="ECE7DC"/>
                </a:solidFill>
                <a:latin typeface="Consolas"/>
              </a:rPr>
              <a:t>│       │       ├── deepseek_remote_chat_visible.py</a:t>
            </a:r>
          </a:p>
          <a:p>
            <a:pPr algn="l">
              <a:lnSpc>
                <a:spcPct val="100000"/>
              </a:lnSpc>
            </a:pPr>
            <a:r>
              <a:rPr sz="800" b="0" i="0">
                <a:solidFill>
                  <a:srgbClr val="ECE7DC"/>
                </a:solidFill>
                <a:latin typeface="Consolas"/>
              </a:rPr>
              <a:t>│       │       ├── dialog_policy_visible.py</a:t>
            </a:r>
          </a:p>
          <a:p>
            <a:pPr algn="l">
              <a:lnSpc>
                <a:spcPct val="100000"/>
              </a:lnSpc>
            </a:pPr>
            <a:r>
              <a:rPr sz="800" b="0" i="0">
                <a:solidFill>
                  <a:srgbClr val="ECE7DC"/>
                </a:solidFill>
                <a:latin typeface="Consolas"/>
              </a:rPr>
              <a:t>│       │       ├── dialog_theme_visible.py</a:t>
            </a:r>
          </a:p>
          <a:p>
            <a:pPr algn="l">
              <a:lnSpc>
                <a:spcPct val="100000"/>
              </a:lnSpc>
            </a:pPr>
            <a:r>
              <a:rPr sz="800" b="0" i="0">
                <a:solidFill>
                  <a:srgbClr val="ECE7DC"/>
                </a:solidFill>
                <a:latin typeface="Consolas"/>
              </a:rPr>
              <a:t>│       │       ├── discoverer_1000.py</a:t>
            </a:r>
          </a:p>
          <a:p>
            <a:pPr algn="l">
              <a:lnSpc>
                <a:spcPct val="100000"/>
              </a:lnSpc>
            </a:pPr>
            <a:r>
              <a:rPr sz="800" b="0" i="0">
                <a:solidFill>
                  <a:srgbClr val="ECE7DC"/>
                </a:solidFill>
                <a:latin typeface="Consolas"/>
              </a:rPr>
              <a:t>│       │       ├── discoverer_1000.py.antes_shoter</a:t>
            </a:r>
          </a:p>
          <a:p>
            <a:pPr algn="l">
              <a:lnSpc>
                <a:spcPct val="100000"/>
              </a:lnSpc>
            </a:pPr>
            <a:r>
              <a:rPr sz="800" b="0" i="0">
                <a:solidFill>
                  <a:srgbClr val="ECE7DC"/>
                </a:solidFill>
                <a:latin typeface="Consolas"/>
              </a:rPr>
              <a:t>│       │       ├── drop_message_visible.py</a:t>
            </a:r>
          </a:p>
          <a:p>
            <a:pPr algn="l">
              <a:lnSpc>
                <a:spcPct val="100000"/>
              </a:lnSpc>
            </a:pPr>
            <a:r>
              <a:rPr sz="800" b="0" i="0">
                <a:solidFill>
                  <a:srgbClr val="ECE7DC"/>
                </a:solidFill>
                <a:latin typeface="Consolas"/>
              </a:rPr>
              <a:t>│       │       ├── file_drop_visible.py</a:t>
            </a:r>
          </a:p>
          <a:p>
            <a:pPr algn="l">
              <a:lnSpc>
                <a:spcPct val="100000"/>
              </a:lnSpc>
            </a:pPr>
            <a:r>
              <a:rPr sz="800" b="0" i="0">
                <a:solidFill>
                  <a:srgbClr val="ECE7DC"/>
                </a:solidFill>
                <a:latin typeface="Consolas"/>
              </a:rPr>
              <a:t>│       │       ├── flowcreator_wizard_e2e.py</a:t>
            </a:r>
          </a:p>
          <a:p>
            <a:pPr algn="l">
              <a:lnSpc>
                <a:spcPct val="100000"/>
              </a:lnSpc>
            </a:pPr>
            <a:r>
              <a:rPr sz="800" b="0" i="0">
                <a:solidFill>
                  <a:srgbClr val="ECE7DC"/>
                </a:solidFill>
                <a:latin typeface="Consolas"/>
              </a:rPr>
              <a:t>│       │       ├── full_mode_visible.py</a:t>
            </a:r>
          </a:p>
          <a:p>
            <a:pPr algn="l">
              <a:lnSpc>
                <a:spcPct val="100000"/>
              </a:lnSpc>
            </a:pPr>
            <a:r>
              <a:rPr sz="800" b="0" i="0">
                <a:solidFill>
                  <a:srgbClr val="ECE7DC"/>
                </a:solidFill>
                <a:latin typeface="Consolas"/>
              </a:rPr>
              <a:t>│       │       ├── googler_dork_hunt.py</a:t>
            </a:r>
          </a:p>
          <a:p>
            <a:pPr algn="l">
              <a:lnSpc>
                <a:spcPct val="100000"/>
              </a:lnSpc>
            </a:pPr>
            <a:r>
              <a:rPr sz="800" b="0" i="0">
                <a:solidFill>
                  <a:srgbClr val="ECE7DC"/>
                </a:solidFill>
                <a:latin typeface="Consolas"/>
              </a:rPr>
              <a:t>│       │       ├── grepper_lines_visible.py</a:t>
            </a:r>
          </a:p>
          <a:p>
            <a:pPr algn="l">
              <a:lnSpc>
                <a:spcPct val="100000"/>
              </a:lnSpc>
            </a:pPr>
            <a:r>
              <a:rPr sz="800" b="0" i="0">
                <a:solidFill>
                  <a:srgbClr val="ECE7DC"/>
                </a:solidFill>
                <a:latin typeface="Consolas"/>
              </a:rPr>
              <a:t>│       │       ├── grepper_login_probe.py</a:t>
            </a:r>
          </a:p>
          <a:p>
            <a:pPr algn="l">
              <a:lnSpc>
                <a:spcPct val="100000"/>
              </a:lnSpc>
            </a:pPr>
            <a:r>
              <a:rPr sz="800" b="0" i="0">
                <a:solidFill>
                  <a:srgbClr val="ECE7DC"/>
                </a:solidFill>
                <a:latin typeface="Consolas"/>
              </a:rPr>
              <a:t>│       │       ├── latexer_openmp_e2e.py</a:t>
            </a:r>
          </a:p>
          <a:p>
            <a:pPr algn="l">
              <a:lnSpc>
                <a:spcPct val="100000"/>
              </a:lnSpc>
            </a:pPr>
            <a:r>
              <a:rPr sz="800" b="0" i="0">
                <a:solidFill>
                  <a:srgbClr val="ECE7DC"/>
                </a:solidFill>
                <a:latin typeface="Consolas"/>
              </a:rPr>
              <a:t>│       │       ├── latexer_stepbystep_5.py</a:t>
            </a:r>
          </a:p>
          <a:p>
            <a:pPr algn="l">
              <a:lnSpc>
                <a:spcPct val="100000"/>
              </a:lnSpc>
            </a:pPr>
            <a:r>
              <a:rPr sz="800" b="0" i="0">
                <a:solidFill>
                  <a:srgbClr val="ECE7DC"/>
                </a:solidFill>
                <a:latin typeface="Consolas"/>
              </a:rPr>
              <a:t>│       │       ├── mcp_playwright_suite.py</a:t>
            </a:r>
          </a:p>
          <a:p>
            <a:pPr algn="l">
              <a:lnSpc>
                <a:spcPct val="100000"/>
              </a:lnSpc>
            </a:pPr>
            <a:r>
              <a:rPr sz="800" b="0" i="0">
                <a:solidFill>
                  <a:srgbClr val="ECE7DC"/>
                </a:solidFill>
                <a:latin typeface="Consolas"/>
              </a:rPr>
              <a:t>│       │       ├── model_brain_visible.py</a:t>
            </a:r>
          </a:p>
          <a:p>
            <a:pPr algn="l">
              <a:lnSpc>
                <a:spcPct val="100000"/>
              </a:lnSpc>
            </a:pPr>
            <a:r>
              <a:rPr sz="800" b="0" i="0">
                <a:solidFill>
                  <a:srgbClr val="ECE7DC"/>
                </a:solidFill>
                <a:latin typeface="Consolas"/>
              </a:rPr>
              <a:t>│       │       ├── monitor.py</a:t>
            </a:r>
          </a:p>
          <a:p>
            <a:pPr algn="l">
              <a:lnSpc>
                <a:spcPct val="100000"/>
              </a:lnSpc>
            </a:pPr>
            <a:r>
              <a:rPr sz="800" b="0" i="0">
                <a:solidFill>
                  <a:srgbClr val="ECE7DC"/>
                </a:solidFill>
                <a:latin typeface="Consolas"/>
              </a:rPr>
              <a:t>│       │       ├── ollama_remote_catalog_visible.py</a:t>
            </a:r>
          </a:p>
          <a:p>
            <a:pPr algn="l">
              <a:lnSpc>
                <a:spcPct val="100000"/>
              </a:lnSpc>
            </a:pPr>
            <a:r>
              <a:rPr sz="800" b="0" i="0">
                <a:solidFill>
                  <a:srgbClr val="ECE7DC"/>
                </a:solidFill>
                <a:latin typeface="Consolas"/>
              </a:rPr>
              <a:t>│       │       ├── pdf_context_visible.py</a:t>
            </a:r>
          </a:p>
          <a:p>
            <a:pPr algn="l">
              <a:lnSpc>
                <a:spcPct val="100000"/>
              </a:lnSpc>
            </a:pPr>
            <a:r>
              <a:rPr sz="800" b="0" i="0">
                <a:solidFill>
                  <a:srgbClr val="ECE7DC"/>
                </a:solidFill>
                <a:latin typeface="Consolas"/>
              </a:rPr>
              <a:t>│       │       ├── pdfer_nuance_visible.py</a:t>
            </a:r>
          </a:p>
          <a:p>
            <a:pPr algn="l">
              <a:lnSpc>
                <a:spcPct val="100000"/>
              </a:lnSpc>
            </a:pPr>
            <a:r>
              <a:rPr sz="800" b="0" i="0">
                <a:solidFill>
                  <a:srgbClr val="ECE7DC"/>
                </a:solidFill>
                <a:latin typeface="Consolas"/>
              </a:rPr>
              <a:t>│       │       ├── playwrighter_run.py</a:t>
            </a:r>
          </a:p>
          <a:p>
            <a:pPr algn="l">
              <a:lnSpc>
                <a:spcPct val="100000"/>
              </a:lnSpc>
            </a:pPr>
            <a:r>
              <a:rPr sz="800" b="0" i="0">
                <a:solidFill>
                  <a:srgbClr val="ECE7DC"/>
                </a:solidFill>
                <a:latin typeface="Consolas"/>
              </a:rPr>
              <a:t>│       │       ├── pptxer_visible.py</a:t>
            </a:r>
          </a:p>
          <a:p>
            <a:pPr algn="l">
              <a:lnSpc>
                <a:spcPct val="100000"/>
              </a:lnSpc>
            </a:pPr>
            <a:r>
              <a:rPr sz="800" b="0" i="0">
                <a:solidFill>
                  <a:srgbClr val="ECE7DC"/>
                </a:solidFill>
                <a:latin typeface="Consolas"/>
              </a:rPr>
              <a:t>│       │       ├── preflight.py</a:t>
            </a:r>
          </a:p>
          <a:p>
            <a:pPr algn="l">
              <a:lnSpc>
                <a:spcPct val="100000"/>
              </a:lnSpc>
            </a:pPr>
            <a:r>
              <a:rPr sz="800" b="0" i="0">
                <a:solidFill>
                  <a:srgbClr val="ECE7DC"/>
                </a:solidFill>
                <a:latin typeface="Consolas"/>
              </a:rPr>
              <a:t>│       │       ├── qualify.py</a:t>
            </a:r>
          </a:p>
          <a:p>
            <a:pPr algn="l">
              <a:lnSpc>
                <a:spcPct val="100000"/>
              </a:lnSpc>
            </a:pPr>
            <a:r>
              <a:rPr sz="800" b="0" i="0">
                <a:solidFill>
                  <a:srgbClr val="ECE7DC"/>
                </a:solidFill>
                <a:latin typeface="Consolas"/>
              </a:rPr>
              <a:t>│       │       ├── questions.py</a:t>
            </a:r>
          </a:p>
          <a:p>
            <a:pPr algn="l">
              <a:lnSpc>
                <a:spcPct val="100000"/>
              </a:lnSpc>
            </a:pPr>
            <a:r>
              <a:rPr sz="800" b="0" i="0">
                <a:solidFill>
                  <a:srgbClr val="ECE7DC"/>
                </a:solidFill>
                <a:latin typeface="Consolas"/>
              </a:rPr>
              <a:t>│       │       ├── README.md</a:t>
            </a:r>
          </a:p>
          <a:p>
            <a:pPr algn="l">
              <a:lnSpc>
                <a:spcPct val="100000"/>
              </a:lnSpc>
            </a:pPr>
            <a:r>
              <a:rPr sz="800" b="0" i="0">
                <a:solidFill>
                  <a:srgbClr val="ECE7DC"/>
                </a:solidFill>
                <a:latin typeface="Consolas"/>
              </a:rPr>
              <a:t>│       │       ├── requirements.txt</a:t>
            </a:r>
          </a:p>
          <a:p>
            <a:pPr algn="l">
              <a:lnSpc>
                <a:spcPct val="100000"/>
              </a:lnSpc>
            </a:pPr>
            <a:r>
              <a:rPr sz="800" b="0" i="0">
                <a:solidFill>
                  <a:srgbClr val="ECE7DC"/>
                </a:solidFill>
                <a:latin typeface="Consolas"/>
              </a:rPr>
              <a:t>│       │       ├── run_test.py</a:t>
            </a:r>
          </a:p>
          <a:p>
            <a:pPr algn="l">
              <a:lnSpc>
                <a:spcPct val="100000"/>
              </a:lnSpc>
            </a:pPr>
            <a:r>
              <a:rPr sz="800" b="0" i="0">
                <a:solidFill>
                  <a:srgbClr val="ECE7DC"/>
                </a:solidFill>
                <a:latin typeface="Consolas"/>
              </a:rPr>
              <a:t>│       │       ├── self_modify_visible.py</a:t>
            </a:r>
          </a:p>
          <a:p>
            <a:pPr algn="l">
              <a:lnSpc>
                <a:spcPct val="100000"/>
              </a:lnSpc>
            </a:pPr>
            <a:r>
              <a:rPr sz="800" b="0" i="0">
                <a:solidFill>
                  <a:srgbClr val="ECE7DC"/>
                </a:solidFill>
                <a:latin typeface="Consolas"/>
              </a:rPr>
              <a:t>│       │       ├── shoter_shot.py</a:t>
            </a:r>
          </a:p>
          <a:p>
            <a:pPr algn="l">
              <a:lnSpc>
                <a:spcPct val="100000"/>
              </a:lnSpc>
            </a:pPr>
            <a:r>
              <a:rPr sz="800" b="0" i="0">
                <a:solidFill>
                  <a:srgbClr val="ECE7DC"/>
                </a:solidFill>
                <a:latin typeface="Consolas"/>
              </a:rPr>
              <a:t>│       │       ├── step_by_step_catalog.py</a:t>
            </a:r>
          </a:p>
          <a:p>
            <a:pPr algn="l">
              <a:lnSpc>
                <a:spcPct val="100000"/>
              </a:lnSpc>
            </a:pPr>
            <a:r>
              <a:rPr sz="800" b="0" i="0">
                <a:solidFill>
                  <a:srgbClr val="ECE7DC"/>
                </a:solidFill>
                <a:latin typeface="Consolas"/>
              </a:rPr>
              <a:t>│       │       ├── step_by_step_catalog.py.antes_shoter</a:t>
            </a:r>
          </a:p>
          <a:p>
            <a:pPr algn="l">
              <a:lnSpc>
                <a:spcPct val="100000"/>
              </a:lnSpc>
            </a:pPr>
            <a:r>
              <a:rPr sz="800" b="0" i="0">
                <a:solidFill>
                  <a:srgbClr val="ECE7DC"/>
                </a:solidFill>
                <a:latin typeface="Consolas"/>
              </a:rPr>
              <a:t>│       │       ├── stop_sequence_visible.py</a:t>
            </a:r>
          </a:p>
          <a:p>
            <a:pPr algn="l">
              <a:lnSpc>
                <a:spcPct val="100000"/>
              </a:lnSpc>
            </a:pPr>
            <a:r>
              <a:rPr sz="800" b="0" i="0">
                <a:solidFill>
                  <a:srgbClr val="ECE7DC"/>
                </a:solidFill>
                <a:latin typeface="Consolas"/>
              </a:rPr>
              <a:t>│       │       ├── talk_test.py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3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uninstaller_visible.py</a:t>
            </a:r>
          </a:p>
          <a:p>
            <a:pPr algn="l">
              <a:lnSpc>
                <a:spcPct val="100000"/>
              </a:lnSpc>
            </a:pPr>
            <a:r>
              <a:rPr sz="800" b="0" i="0">
                <a:solidFill>
                  <a:srgbClr val="ECE7DC"/>
                </a:solidFill>
                <a:latin typeface="Consolas"/>
              </a:rPr>
              <a:t>│       │       ├── video_link_visible.py</a:t>
            </a:r>
          </a:p>
          <a:p>
            <a:pPr algn="l">
              <a:lnSpc>
                <a:spcPct val="100000"/>
              </a:lnSpc>
            </a:pPr>
            <a:r>
              <a:rPr sz="800" b="0" i="0">
                <a:solidFill>
                  <a:srgbClr val="ECE7DC"/>
                </a:solidFill>
                <a:latin typeface="Consolas"/>
              </a:rPr>
              <a:t>│       │       ├── voice_commands_visible.py</a:t>
            </a:r>
          </a:p>
          <a:p>
            <a:pPr algn="l">
              <a:lnSpc>
                <a:spcPct val="100000"/>
              </a:lnSpc>
            </a:pPr>
            <a:r>
              <a:rPr sz="800" b="0" i="0">
                <a:solidFill>
                  <a:srgbClr val="ECE7DC"/>
                </a:solidFill>
                <a:latin typeface="Consolas"/>
              </a:rPr>
              <a:t>│       │       ├── window-test-screen.py</a:t>
            </a:r>
          </a:p>
          <a:p>
            <a:pPr algn="l">
              <a:lnSpc>
                <a:spcPct val="100000"/>
              </a:lnSpc>
            </a:pPr>
            <a:r>
              <a:rPr sz="800" b="0" i="0">
                <a:solidFill>
                  <a:srgbClr val="ECE7DC"/>
                </a:solidFill>
                <a:latin typeface="Consolas"/>
              </a:rPr>
              <a:t>│       │       ├── windower_focus.py</a:t>
            </a:r>
          </a:p>
          <a:p>
            <a:pPr algn="l">
              <a:lnSpc>
                <a:spcPct val="100000"/>
              </a:lnSpc>
            </a:pPr>
            <a:r>
              <a:rPr sz="800" b="0" i="0">
                <a:solidFill>
                  <a:srgbClr val="ECE7DC"/>
                </a:solidFill>
                <a:latin typeface="Consolas"/>
              </a:rPr>
              <a:t>│       │       └── wrapped_questions.py</a:t>
            </a:r>
          </a:p>
          <a:p>
            <a:pPr algn="l">
              <a:lnSpc>
                <a:spcPct val="100000"/>
              </a:lnSpc>
            </a:pPr>
            <a:r>
              <a:rPr sz="800" b="0" i="0">
                <a:solidFill>
                  <a:srgbClr val="3BBE93"/>
                </a:solidFill>
                <a:latin typeface="Consolas"/>
              </a:rPr>
              <a:t>│       ├── tlamatini-self-modify-inclusion/</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 scripts/</a:t>
            </a:r>
          </a:p>
          <a:p>
            <a:pPr algn="l">
              <a:lnSpc>
                <a:spcPct val="100000"/>
              </a:lnSpc>
            </a:pPr>
            <a:r>
              <a:rPr sz="800" b="0" i="0">
                <a:solidFill>
                  <a:srgbClr val="ECE7DC"/>
                </a:solidFill>
                <a:latin typeface="Consolas"/>
              </a:rPr>
              <a:t>│       │       └── sweep_self_modify.py</a:t>
            </a:r>
          </a:p>
          <a:p>
            <a:pPr algn="l">
              <a:lnSpc>
                <a:spcPct val="100000"/>
              </a:lnSpc>
            </a:pPr>
            <a:r>
              <a:rPr sz="800" b="0" i="0">
                <a:solidFill>
                  <a:srgbClr val="3BBE93"/>
                </a:solidFill>
                <a:latin typeface="Consolas"/>
              </a:rPr>
              <a:t>│       └── tlamatini-self-update-inclusion/</a:t>
            </a:r>
          </a:p>
          <a:p>
            <a:pPr algn="l">
              <a:lnSpc>
                <a:spcPct val="100000"/>
              </a:lnSpc>
            </a:pPr>
            <a:r>
              <a:rPr sz="800" b="0" i="0">
                <a:solidFill>
                  <a:srgbClr val="ECE7DC"/>
                </a:solidFill>
                <a:latin typeface="Consolas"/>
              </a:rPr>
              <a:t>│           ├── SKILL.md</a:t>
            </a:r>
          </a:p>
          <a:p>
            <a:pPr algn="l">
              <a:lnSpc>
                <a:spcPct val="100000"/>
              </a:lnSpc>
            </a:pPr>
            <a:r>
              <a:rPr sz="800" b="0" i="0">
                <a:solidFill>
                  <a:srgbClr val="3BBE93"/>
                </a:solidFill>
                <a:latin typeface="Consolas"/>
              </a:rPr>
              <a:t>│           └── scripts/</a:t>
            </a:r>
          </a:p>
          <a:p>
            <a:pPr algn="l">
              <a:lnSpc>
                <a:spcPct val="100000"/>
              </a:lnSpc>
            </a:pPr>
            <a:r>
              <a:rPr sz="800" b="0" i="0">
                <a:solidFill>
                  <a:srgbClr val="ECE7DC"/>
                </a:solidFill>
                <a:latin typeface="Consolas"/>
              </a:rPr>
              <a:t>│               └── sweep_self_update.py</a:t>
            </a:r>
          </a:p>
          <a:p>
            <a:pPr algn="l">
              <a:lnSpc>
                <a:spcPct val="100000"/>
              </a:lnSpc>
            </a:pPr>
            <a:r>
              <a:rPr sz="800" b="0" i="0">
                <a:solidFill>
                  <a:srgbClr val="3BBE93"/>
                </a:solidFill>
                <a:latin typeface="Consolas"/>
              </a:rPr>
              <a:t>├── .codex/</a:t>
            </a:r>
          </a:p>
          <a:p>
            <a:pPr algn="l">
              <a:lnSpc>
                <a:spcPct val="100000"/>
              </a:lnSpc>
            </a:pPr>
            <a:r>
              <a:rPr sz="800" b="0" i="0">
                <a:solidFill>
                  <a:srgbClr val="3BBE93"/>
                </a:solidFill>
                <a:latin typeface="Consolas"/>
              </a:rPr>
              <a:t>│   └── skills/</a:t>
            </a:r>
          </a:p>
          <a:p>
            <a:pPr algn="l">
              <a:lnSpc>
                <a:spcPct val="100000"/>
              </a:lnSpc>
            </a:pPr>
            <a:r>
              <a:rPr sz="800" b="0" i="0">
                <a:solidFill>
                  <a:srgbClr val="3BBE93"/>
                </a:solidFill>
                <a:latin typeface="Consolas"/>
              </a:rPr>
              <a:t>│       ├── full-project-pdf-dossier/</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overlap-safe-pptx-dossier/</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tlamatini-release-validation/</a:t>
            </a:r>
          </a:p>
          <a:p>
            <a:pPr algn="l">
              <a:lnSpc>
                <a:spcPct val="100000"/>
              </a:lnSpc>
            </a:pPr>
            <a:r>
              <a:rPr sz="800" b="0" i="0">
                <a:solidFill>
                  <a:srgbClr val="ECE7DC"/>
                </a:solidFill>
                <a:latin typeface="Consolas"/>
              </a:rPr>
              <a:t>│           ├── SKILL.md</a:t>
            </a:r>
          </a:p>
          <a:p>
            <a:pPr algn="l">
              <a:lnSpc>
                <a:spcPct val="100000"/>
              </a:lnSpc>
            </a:pPr>
            <a:r>
              <a:rPr sz="800" b="0" i="0">
                <a:solidFill>
                  <a:srgbClr val="3BBE93"/>
                </a:solidFill>
                <a:latin typeface="Consolas"/>
              </a:rPr>
              <a:t>│           ├── agents/</a:t>
            </a:r>
          </a:p>
          <a:p>
            <a:pPr algn="l">
              <a:lnSpc>
                <a:spcPct val="100000"/>
              </a:lnSpc>
            </a:pPr>
            <a:r>
              <a:rPr sz="800" b="0" i="0">
                <a:solidFill>
                  <a:srgbClr val="ECE7DC"/>
                </a:solidFill>
                <a:latin typeface="Consolas"/>
              </a:rPr>
              <a:t>│           │   └── openai.yaml</a:t>
            </a:r>
          </a:p>
          <a:p>
            <a:pPr algn="l">
              <a:lnSpc>
                <a:spcPct val="100000"/>
              </a:lnSpc>
            </a:pPr>
            <a:r>
              <a:rPr sz="800" b="0" i="0">
                <a:solidFill>
                  <a:srgbClr val="3BBE93"/>
                </a:solidFill>
                <a:latin typeface="Consolas"/>
              </a:rPr>
              <a:t>│           └── references/</a:t>
            </a:r>
          </a:p>
          <a:p>
            <a:pPr algn="l">
              <a:lnSpc>
                <a:spcPct val="100000"/>
              </a:lnSpc>
            </a:pPr>
            <a:r>
              <a:rPr sz="800" b="0" i="0">
                <a:solidFill>
                  <a:srgbClr val="ECE7DC"/>
                </a:solidFill>
                <a:latin typeface="Consolas"/>
              </a:rPr>
              <a:t>│               └── acceptance-matrix.md</a:t>
            </a:r>
          </a:p>
          <a:p>
            <a:pPr algn="l">
              <a:lnSpc>
                <a:spcPct val="100000"/>
              </a:lnSpc>
            </a:pPr>
            <a:r>
              <a:rPr sz="800" b="0" i="0">
                <a:solidFill>
                  <a:srgbClr val="3BBE93"/>
                </a:solidFill>
                <a:latin typeface="Consolas"/>
              </a:rPr>
              <a:t>├── .gemini/</a:t>
            </a:r>
          </a:p>
          <a:p>
            <a:pPr algn="l">
              <a:lnSpc>
                <a:spcPct val="100000"/>
              </a:lnSpc>
            </a:pPr>
            <a:r>
              <a:rPr sz="800" b="0" i="0">
                <a:solidFill>
                  <a:srgbClr val="3BBE93"/>
                </a:solidFill>
                <a:latin typeface="Consolas"/>
              </a:rPr>
              <a:t>│   └── skills/</a:t>
            </a:r>
          </a:p>
          <a:p>
            <a:pPr algn="l">
              <a:lnSpc>
                <a:spcPct val="100000"/>
              </a:lnSpc>
            </a:pPr>
            <a:r>
              <a:rPr sz="800" b="0" i="0">
                <a:solidFill>
                  <a:srgbClr val="3BBE93"/>
                </a:solidFill>
                <a:latin typeface="Consolas"/>
              </a:rPr>
              <a:t>│       ├── tlamatini-agent-creation/</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tlamatini-agent-naming/</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tlamatini-daily-chat-test/</a:t>
            </a:r>
          </a:p>
          <a:p>
            <a:pPr algn="l">
              <a:lnSpc>
                <a:spcPct val="100000"/>
              </a:lnSpc>
            </a:pPr>
            <a:r>
              <a:rPr sz="800" b="0" i="0">
                <a:solidFill>
                  <a:srgbClr val="ECE7DC"/>
                </a:solidFill>
                <a:latin typeface="Consolas"/>
              </a:rPr>
              <a:t>│       │   ├── .gitignore</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 harness/</a:t>
            </a:r>
          </a:p>
          <a:p>
            <a:pPr algn="l">
              <a:lnSpc>
                <a:spcPct val="100000"/>
              </a:lnSpc>
            </a:pPr>
            <a:r>
              <a:rPr sz="800" b="0" i="0">
                <a:solidFill>
                  <a:srgbClr val="ECE7DC"/>
                </a:solidFill>
                <a:latin typeface="Consolas"/>
              </a:rPr>
              <a:t>│       │       ├── acp_backend_banner_test.py</a:t>
            </a:r>
          </a:p>
          <a:p>
            <a:pPr algn="l">
              <a:lnSpc>
                <a:spcPct val="100000"/>
              </a:lnSpc>
            </a:pPr>
            <a:r>
              <a:rPr sz="800" b="0" i="0">
                <a:solidFill>
                  <a:srgbClr val="ECE7DC"/>
                </a:solidFill>
                <a:latin typeface="Consolas"/>
              </a:rPr>
              <a:t>│       │       ├── acp_backend_banner_test.py.antes_sho</a:t>
            </a:r>
          </a:p>
          <a:p>
            <a:pPr algn="l">
              <a:lnSpc>
                <a:spcPct val="100000"/>
              </a:lnSpc>
            </a:pPr>
            <a:r>
              <a:rPr sz="800" b="0" i="0">
                <a:solidFill>
                  <a:srgbClr val="ECE7DC"/>
                </a:solidFill>
                <a:latin typeface="Consolas"/>
              </a:rPr>
              <a:t>│       │       │     » ter</a:t>
            </a:r>
          </a:p>
          <a:p>
            <a:pPr algn="l">
              <a:lnSpc>
                <a:spcPct val="100000"/>
              </a:lnSpc>
            </a:pPr>
            <a:r>
              <a:rPr sz="800" b="0" i="0">
                <a:solidFill>
                  <a:srgbClr val="ECE7DC"/>
                </a:solidFill>
                <a:latin typeface="Consolas"/>
              </a:rPr>
              <a:t>│       │       ├── acp_dialog_full_sweep.py</a:t>
            </a:r>
          </a:p>
          <a:p>
            <a:pPr algn="l">
              <a:lnSpc>
                <a:spcPct val="100000"/>
              </a:lnSpc>
            </a:pPr>
            <a:r>
              <a:rPr sz="800" b="0" i="0">
                <a:solidFill>
                  <a:srgbClr val="ECE7DC"/>
                </a:solidFill>
                <a:latin typeface="Consolas"/>
              </a:rPr>
              <a:t>│       │       ├── acp_dialog_theme_visible.py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ask_execs_regression.py</a:t>
            </a:r>
          </a:p>
          <a:p>
            <a:pPr algn="l">
              <a:lnSpc>
                <a:spcPct val="100000"/>
              </a:lnSpc>
            </a:pPr>
            <a:r>
              <a:rPr sz="800" b="0" i="0">
                <a:solidFill>
                  <a:srgbClr val="ECE7DC"/>
                </a:solidFill>
                <a:latin typeface="Consolas"/>
              </a:rPr>
              <a:t>│       │       ├── ask_execs_regression.py.antes_shoter</a:t>
            </a:r>
          </a:p>
          <a:p>
            <a:pPr algn="l">
              <a:lnSpc>
                <a:spcPct val="100000"/>
              </a:lnSpc>
            </a:pPr>
            <a:r>
              <a:rPr sz="800" b="0" i="0">
                <a:solidFill>
                  <a:srgbClr val="ECE7DC"/>
                </a:solidFill>
                <a:latin typeface="Consolas"/>
              </a:rPr>
              <a:t>│       │       ├── bulk_toggle_behaviour.py</a:t>
            </a:r>
          </a:p>
          <a:p>
            <a:pPr algn="l">
              <a:lnSpc>
                <a:spcPct val="100000"/>
              </a:lnSpc>
            </a:pPr>
            <a:r>
              <a:rPr sz="800" b="0" i="0">
                <a:solidFill>
                  <a:srgbClr val="ECE7DC"/>
                </a:solidFill>
                <a:latin typeface="Consolas"/>
              </a:rPr>
              <a:t>│       │       ├── bulk_toggle_visible.py</a:t>
            </a:r>
          </a:p>
          <a:p>
            <a:pPr algn="l">
              <a:lnSpc>
                <a:spcPct val="100000"/>
              </a:lnSpc>
            </a:pPr>
            <a:r>
              <a:rPr sz="800" b="0" i="0">
                <a:solidFill>
                  <a:srgbClr val="ECE7DC"/>
                </a:solidFill>
                <a:latin typeface="Consolas"/>
              </a:rPr>
              <a:t>│       │       ├── cancel_regression.py</a:t>
            </a:r>
          </a:p>
          <a:p>
            <a:pPr algn="l">
              <a:lnSpc>
                <a:spcPct val="100000"/>
              </a:lnSpc>
            </a:pPr>
            <a:r>
              <a:rPr sz="800" b="0" i="0">
                <a:solidFill>
                  <a:srgbClr val="ECE7DC"/>
                </a:solidFill>
                <a:latin typeface="Consolas"/>
              </a:rPr>
              <a:t>│       │       ├── cancel_regression.py.antes_shoter</a:t>
            </a:r>
          </a:p>
          <a:p>
            <a:pPr algn="l">
              <a:lnSpc>
                <a:spcPct val="100000"/>
              </a:lnSpc>
            </a:pPr>
            <a:r>
              <a:rPr sz="800" b="0" i="0">
                <a:solidFill>
                  <a:srgbClr val="ECE7DC"/>
                </a:solidFill>
                <a:latin typeface="Consolas"/>
              </a:rPr>
              <a:t>│       │       ├── config.py</a:t>
            </a:r>
          </a:p>
          <a:p>
            <a:pPr algn="l">
              <a:lnSpc>
                <a:spcPct val="100000"/>
              </a:lnSpc>
            </a:pPr>
            <a:r>
              <a:rPr sz="800" b="0" i="0">
                <a:solidFill>
                  <a:srgbClr val="ECE7DC"/>
                </a:solidFill>
                <a:latin typeface="Consolas"/>
              </a:rPr>
              <a:t>│       │       ├── cyber_watchdog_test.py</a:t>
            </a:r>
          </a:p>
          <a:p>
            <a:pPr algn="l">
              <a:lnSpc>
                <a:spcPct val="100000"/>
              </a:lnSpc>
            </a:pPr>
            <a:r>
              <a:rPr sz="800" b="0" i="0">
                <a:solidFill>
                  <a:srgbClr val="ECE7DC"/>
                </a:solidFill>
                <a:latin typeface="Consolas"/>
              </a:rPr>
              <a:t>│       │       ├── dialog_policy_visible.py</a:t>
            </a:r>
          </a:p>
          <a:p>
            <a:pPr algn="l">
              <a:lnSpc>
                <a:spcPct val="100000"/>
              </a:lnSpc>
            </a:pPr>
            <a:r>
              <a:rPr sz="800" b="0" i="0">
                <a:solidFill>
                  <a:srgbClr val="ECE7DC"/>
                </a:solidFill>
                <a:latin typeface="Consolas"/>
              </a:rPr>
              <a:t>│       │       ├── dialog_theme_visible.py</a:t>
            </a:r>
          </a:p>
          <a:p>
            <a:pPr algn="l">
              <a:lnSpc>
                <a:spcPct val="100000"/>
              </a:lnSpc>
            </a:pPr>
            <a:r>
              <a:rPr sz="800" b="0" i="0">
                <a:solidFill>
                  <a:srgbClr val="ECE7DC"/>
                </a:solidFill>
                <a:latin typeface="Consolas"/>
              </a:rPr>
              <a:t>│       │       ├── discoverer_1000.py</a:t>
            </a:r>
          </a:p>
          <a:p>
            <a:pPr algn="l">
              <a:lnSpc>
                <a:spcPct val="100000"/>
              </a:lnSpc>
            </a:pPr>
            <a:r>
              <a:rPr sz="800" b="0" i="0">
                <a:solidFill>
                  <a:srgbClr val="ECE7DC"/>
                </a:solidFill>
                <a:latin typeface="Consolas"/>
              </a:rPr>
              <a:t>│       │       ├── discoverer_1000.py.antes_shoter</a:t>
            </a:r>
          </a:p>
          <a:p>
            <a:pPr algn="l">
              <a:lnSpc>
                <a:spcPct val="100000"/>
              </a:lnSpc>
            </a:pPr>
            <a:r>
              <a:rPr sz="800" b="0" i="0">
                <a:solidFill>
                  <a:srgbClr val="ECE7DC"/>
                </a:solidFill>
                <a:latin typeface="Consolas"/>
              </a:rPr>
              <a:t>│       │       ├── flowcreator_wizard_e2e.py</a:t>
            </a:r>
          </a:p>
          <a:p>
            <a:pPr algn="l">
              <a:lnSpc>
                <a:spcPct val="100000"/>
              </a:lnSpc>
            </a:pPr>
            <a:r>
              <a:rPr sz="800" b="0" i="0">
                <a:solidFill>
                  <a:srgbClr val="ECE7DC"/>
                </a:solidFill>
                <a:latin typeface="Consolas"/>
              </a:rPr>
              <a:t>│       │       ├── googler_dork_hunt.py</a:t>
            </a:r>
          </a:p>
          <a:p>
            <a:pPr algn="l">
              <a:lnSpc>
                <a:spcPct val="100000"/>
              </a:lnSpc>
            </a:pPr>
            <a:r>
              <a:rPr sz="800" b="0" i="0">
                <a:solidFill>
                  <a:srgbClr val="ECE7DC"/>
                </a:solidFill>
                <a:latin typeface="Consolas"/>
              </a:rPr>
              <a:t>│       │       ├── latexer_openmp_e2e.py</a:t>
            </a:r>
          </a:p>
          <a:p>
            <a:pPr algn="l">
              <a:lnSpc>
                <a:spcPct val="100000"/>
              </a:lnSpc>
            </a:pPr>
            <a:r>
              <a:rPr sz="800" b="0" i="0">
                <a:solidFill>
                  <a:srgbClr val="ECE7DC"/>
                </a:solidFill>
                <a:latin typeface="Consolas"/>
              </a:rPr>
              <a:t>│       │       ├── latexer_stepbystep_5.py</a:t>
            </a:r>
          </a:p>
          <a:p>
            <a:pPr algn="l">
              <a:lnSpc>
                <a:spcPct val="100000"/>
              </a:lnSpc>
            </a:pPr>
            <a:r>
              <a:rPr sz="800" b="0" i="0">
                <a:solidFill>
                  <a:srgbClr val="ECE7DC"/>
                </a:solidFill>
                <a:latin typeface="Consolas"/>
              </a:rPr>
              <a:t>│       │       ├── mcp_playwright_suite.py</a:t>
            </a:r>
          </a:p>
          <a:p>
            <a:pPr algn="l">
              <a:lnSpc>
                <a:spcPct val="100000"/>
              </a:lnSpc>
            </a:pPr>
            <a:r>
              <a:rPr sz="800" b="0" i="0">
                <a:solidFill>
                  <a:srgbClr val="ECE7DC"/>
                </a:solidFill>
                <a:latin typeface="Consolas"/>
              </a:rPr>
              <a:t>│       │       ├── playwrighter_run.py</a:t>
            </a:r>
          </a:p>
          <a:p>
            <a:pPr algn="l">
              <a:lnSpc>
                <a:spcPct val="100000"/>
              </a:lnSpc>
            </a:pPr>
            <a:r>
              <a:rPr sz="800" b="0" i="0">
                <a:solidFill>
                  <a:srgbClr val="ECE7DC"/>
                </a:solidFill>
                <a:latin typeface="Consolas"/>
              </a:rPr>
              <a:t>│       │       ├── qualify.py</a:t>
            </a:r>
          </a:p>
          <a:p>
            <a:pPr algn="l">
              <a:lnSpc>
                <a:spcPct val="100000"/>
              </a:lnSpc>
            </a:pPr>
            <a:r>
              <a:rPr sz="800" b="0" i="0">
                <a:solidFill>
                  <a:srgbClr val="ECE7DC"/>
                </a:solidFill>
                <a:latin typeface="Consolas"/>
              </a:rPr>
              <a:t>│       │       ├── questions.py</a:t>
            </a:r>
          </a:p>
          <a:p>
            <a:pPr algn="l">
              <a:lnSpc>
                <a:spcPct val="100000"/>
              </a:lnSpc>
            </a:pPr>
            <a:r>
              <a:rPr sz="800" b="0" i="0">
                <a:solidFill>
                  <a:srgbClr val="ECE7DC"/>
                </a:solidFill>
                <a:latin typeface="Consolas"/>
              </a:rPr>
              <a:t>│       │       ├── README.md</a:t>
            </a:r>
          </a:p>
          <a:p>
            <a:pPr algn="l">
              <a:lnSpc>
                <a:spcPct val="100000"/>
              </a:lnSpc>
            </a:pPr>
            <a:r>
              <a:rPr sz="800" b="0" i="0">
                <a:solidFill>
                  <a:srgbClr val="ECE7DC"/>
                </a:solidFill>
                <a:latin typeface="Consolas"/>
              </a:rPr>
              <a:t>│       │       ├── requirements.txt</a:t>
            </a:r>
          </a:p>
          <a:p>
            <a:pPr algn="l">
              <a:lnSpc>
                <a:spcPct val="100000"/>
              </a:lnSpc>
            </a:pPr>
            <a:r>
              <a:rPr sz="800" b="0" i="0">
                <a:solidFill>
                  <a:srgbClr val="ECE7DC"/>
                </a:solidFill>
                <a:latin typeface="Consolas"/>
              </a:rPr>
              <a:t>│       │       ├── run_test.py</a:t>
            </a:r>
          </a:p>
          <a:p>
            <a:pPr algn="l">
              <a:lnSpc>
                <a:spcPct val="100000"/>
              </a:lnSpc>
            </a:pPr>
            <a:r>
              <a:rPr sz="800" b="0" i="0">
                <a:solidFill>
                  <a:srgbClr val="ECE7DC"/>
                </a:solidFill>
                <a:latin typeface="Consolas"/>
              </a:rPr>
              <a:t>│       │       ├── shoter_shot.py</a:t>
            </a:r>
          </a:p>
          <a:p>
            <a:pPr algn="l">
              <a:lnSpc>
                <a:spcPct val="100000"/>
              </a:lnSpc>
            </a:pPr>
            <a:r>
              <a:rPr sz="800" b="0" i="0">
                <a:solidFill>
                  <a:srgbClr val="ECE7DC"/>
                </a:solidFill>
                <a:latin typeface="Consolas"/>
              </a:rPr>
              <a:t>│       │       ├── step_by_step_catalog.py</a:t>
            </a:r>
          </a:p>
          <a:p>
            <a:pPr algn="l">
              <a:lnSpc>
                <a:spcPct val="100000"/>
              </a:lnSpc>
            </a:pPr>
            <a:r>
              <a:rPr sz="800" b="0" i="0">
                <a:solidFill>
                  <a:srgbClr val="ECE7DC"/>
                </a:solidFill>
                <a:latin typeface="Consolas"/>
              </a:rPr>
              <a:t>│       │       ├── step_by_step_catalog.py.antes_shoter</a:t>
            </a:r>
          </a:p>
          <a:p>
            <a:pPr algn="l">
              <a:lnSpc>
                <a:spcPct val="100000"/>
              </a:lnSpc>
            </a:pPr>
            <a:r>
              <a:rPr sz="800" b="0" i="0">
                <a:solidFill>
                  <a:srgbClr val="ECE7DC"/>
                </a:solidFill>
                <a:latin typeface="Consolas"/>
              </a:rPr>
              <a:t>│       │       ├── talk_test.py</a:t>
            </a:r>
          </a:p>
          <a:p>
            <a:pPr algn="l">
              <a:lnSpc>
                <a:spcPct val="100000"/>
              </a:lnSpc>
            </a:pPr>
            <a:r>
              <a:rPr sz="800" b="0" i="0">
                <a:solidFill>
                  <a:srgbClr val="ECE7DC"/>
                </a:solidFill>
                <a:latin typeface="Consolas"/>
              </a:rPr>
              <a:t>│       │       └── wrapped_questions.py</a:t>
            </a:r>
          </a:p>
          <a:p>
            <a:pPr algn="l">
              <a:lnSpc>
                <a:spcPct val="100000"/>
              </a:lnSpc>
            </a:pPr>
            <a:r>
              <a:rPr sz="800" b="0" i="0">
                <a:solidFill>
                  <a:srgbClr val="3BBE93"/>
                </a:solidFill>
                <a:latin typeface="Consolas"/>
              </a:rPr>
              <a:t>│       ├── tlamatini-self-modify-inclusion/</a:t>
            </a:r>
          </a:p>
          <a:p>
            <a:pPr algn="l">
              <a:lnSpc>
                <a:spcPct val="100000"/>
              </a:lnSpc>
            </a:pPr>
            <a:r>
              <a:rPr sz="800" b="0" i="0">
                <a:solidFill>
                  <a:srgbClr val="ECE7DC"/>
                </a:solidFill>
                <a:latin typeface="Consolas"/>
              </a:rPr>
              <a:t>│       │   ├── SKILL.md</a:t>
            </a:r>
          </a:p>
          <a:p>
            <a:pPr algn="l">
              <a:lnSpc>
                <a:spcPct val="100000"/>
              </a:lnSpc>
            </a:pPr>
            <a:r>
              <a:rPr sz="800" b="0" i="0">
                <a:solidFill>
                  <a:srgbClr val="3BBE93"/>
                </a:solidFill>
                <a:latin typeface="Consolas"/>
              </a:rPr>
              <a:t>│       │   └── scripts/</a:t>
            </a:r>
          </a:p>
          <a:p>
            <a:pPr algn="l">
              <a:lnSpc>
                <a:spcPct val="100000"/>
              </a:lnSpc>
            </a:pPr>
            <a:r>
              <a:rPr sz="800" b="0" i="0">
                <a:solidFill>
                  <a:srgbClr val="ECE7DC"/>
                </a:solidFill>
                <a:latin typeface="Consolas"/>
              </a:rPr>
              <a:t>│       │       └── sweep_self_modify.py</a:t>
            </a:r>
          </a:p>
          <a:p>
            <a:pPr algn="l">
              <a:lnSpc>
                <a:spcPct val="100000"/>
              </a:lnSpc>
            </a:pPr>
            <a:r>
              <a:rPr sz="800" b="0" i="0">
                <a:solidFill>
                  <a:srgbClr val="3BBE93"/>
                </a:solidFill>
                <a:latin typeface="Consolas"/>
              </a:rPr>
              <a:t>│       └── tlamatini-self-update-inclusion/</a:t>
            </a:r>
          </a:p>
          <a:p>
            <a:pPr algn="l">
              <a:lnSpc>
                <a:spcPct val="100000"/>
              </a:lnSpc>
            </a:pPr>
            <a:r>
              <a:rPr sz="800" b="0" i="0">
                <a:solidFill>
                  <a:srgbClr val="ECE7DC"/>
                </a:solidFill>
                <a:latin typeface="Consolas"/>
              </a:rPr>
              <a:t>│           ├── SKILL.md</a:t>
            </a:r>
          </a:p>
          <a:p>
            <a:pPr algn="l">
              <a:lnSpc>
                <a:spcPct val="100000"/>
              </a:lnSpc>
            </a:pPr>
            <a:r>
              <a:rPr sz="800" b="0" i="0">
                <a:solidFill>
                  <a:srgbClr val="3BBE93"/>
                </a:solidFill>
                <a:latin typeface="Consolas"/>
              </a:rPr>
              <a:t>│           └── scripts/</a:t>
            </a:r>
          </a:p>
          <a:p>
            <a:pPr algn="l">
              <a:lnSpc>
                <a:spcPct val="100000"/>
              </a:lnSpc>
            </a:pPr>
            <a:r>
              <a:rPr sz="800" b="0" i="0">
                <a:solidFill>
                  <a:srgbClr val="ECE7DC"/>
                </a:solidFill>
                <a:latin typeface="Consolas"/>
              </a:rPr>
              <a:t>│               └── sweep_self_update.py</a:t>
            </a:r>
          </a:p>
          <a:p>
            <a:pPr algn="l">
              <a:lnSpc>
                <a:spcPct val="100000"/>
              </a:lnSpc>
            </a:pPr>
            <a:r>
              <a:rPr sz="800" b="0" i="0">
                <a:solidFill>
                  <a:srgbClr val="3BBE93"/>
                </a:solidFill>
                <a:latin typeface="Consolas"/>
              </a:rPr>
              <a:t>├── .github/</a:t>
            </a:r>
          </a:p>
          <a:p>
            <a:pPr algn="l">
              <a:lnSpc>
                <a:spcPct val="100000"/>
              </a:lnSpc>
            </a:pPr>
            <a:r>
              <a:rPr sz="800" b="0" i="0">
                <a:solidFill>
                  <a:srgbClr val="3BBE93"/>
                </a:solidFill>
                <a:latin typeface="Consolas"/>
              </a:rPr>
              <a:t>│   └── workflows/</a:t>
            </a:r>
          </a:p>
          <a:p>
            <a:pPr algn="l">
              <a:lnSpc>
                <a:spcPct val="100000"/>
              </a:lnSpc>
            </a:pPr>
            <a:r>
              <a:rPr sz="800" b="0" i="0">
                <a:solidFill>
                  <a:srgbClr val="ECE7DC"/>
                </a:solidFill>
                <a:latin typeface="Consolas"/>
              </a:rPr>
              <a:t>│       └── name-guard.yml</a:t>
            </a:r>
          </a:p>
          <a:p>
            <a:pPr algn="l">
              <a:lnSpc>
                <a:spcPct val="100000"/>
              </a:lnSpc>
            </a:pPr>
            <a:r>
              <a:rPr sz="800" b="0" i="0">
                <a:solidFill>
                  <a:srgbClr val="3BBE93"/>
                </a:solidFill>
                <a:latin typeface="Consolas"/>
              </a:rPr>
              <a:t>├── .scanning/</a:t>
            </a:r>
          </a:p>
          <a:p>
            <a:pPr algn="l">
              <a:lnSpc>
                <a:spcPct val="100000"/>
              </a:lnSpc>
            </a:pPr>
            <a:r>
              <a:rPr sz="800" b="0" i="0">
                <a:solidFill>
                  <a:srgbClr val="ECE7DC"/>
                </a:solidFill>
                <a:latin typeface="Consolas"/>
              </a:rPr>
              <a:t>│   └── finding-policy.json</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AuxTests/</a:t>
            </a:r>
          </a:p>
          <a:p>
            <a:pPr algn="l">
              <a:lnSpc>
                <a:spcPct val="100000"/>
              </a:lnSpc>
            </a:pPr>
            <a:r>
              <a:rPr sz="800" b="0" i="0">
                <a:solidFill>
                  <a:srgbClr val="ECE7DC"/>
                </a:solidFill>
                <a:latin typeface="Consolas"/>
              </a:rPr>
              <a:t>│   └── mypdf2.py</a:t>
            </a:r>
          </a:p>
          <a:p>
            <a:pPr algn="l">
              <a:lnSpc>
                <a:spcPct val="100000"/>
              </a:lnSpc>
            </a:pPr>
            <a:r>
              <a:rPr sz="800" b="0" i="0">
                <a:solidFill>
                  <a:srgbClr val="3BBE93"/>
                </a:solidFill>
                <a:latin typeface="Consolas"/>
              </a:rPr>
              <a:t>├── docs/</a:t>
            </a:r>
          </a:p>
          <a:p>
            <a:pPr algn="l">
              <a:lnSpc>
                <a:spcPct val="100000"/>
              </a:lnSpc>
            </a:pPr>
            <a:r>
              <a:rPr sz="800" b="0" i="0">
                <a:solidFill>
                  <a:srgbClr val="ECE7DC"/>
                </a:solidFill>
                <a:latin typeface="Consolas"/>
              </a:rPr>
              <a:t>│   ├── agent-coverage.md</a:t>
            </a:r>
          </a:p>
          <a:p>
            <a:pPr algn="l">
              <a:lnSpc>
                <a:spcPct val="100000"/>
              </a:lnSpc>
            </a:pPr>
            <a:r>
              <a:rPr sz="800" b="0" i="0">
                <a:solidFill>
                  <a:srgbClr val="ECE7DC"/>
                </a:solidFill>
                <a:latin typeface="Consolas"/>
              </a:rPr>
              <a:t>│   ├── build-root-assets-verification.md</a:t>
            </a:r>
          </a:p>
          <a:p>
            <a:pPr algn="l">
              <a:lnSpc>
                <a:spcPct val="100000"/>
              </a:lnSpc>
            </a:pPr>
            <a:r>
              <a:rPr sz="800" b="0" i="0">
                <a:solidFill>
                  <a:srgbClr val="ECE7DC"/>
                </a:solidFill>
                <a:latin typeface="Consolas"/>
              </a:rPr>
              <a:t>│   ├── canvas-and-interactor-quick-reference.txt</a:t>
            </a:r>
          </a:p>
          <a:p>
            <a:pPr algn="l">
              <a:lnSpc>
                <a:spcPct val="100000"/>
              </a:lnSpc>
            </a:pPr>
            <a:r>
              <a:rPr sz="800" b="0" i="0">
                <a:solidFill>
                  <a:srgbClr val="ECE7DC"/>
                </a:solidFill>
                <a:latin typeface="Consolas"/>
              </a:rPr>
              <a:t>│   ├── canvas-editing.md</a:t>
            </a:r>
          </a:p>
          <a:p>
            <a:pPr algn="l">
              <a:lnSpc>
                <a:spcPct val="100000"/>
              </a:lnSpc>
            </a:pPr>
            <a:r>
              <a:rPr sz="800" b="0" i="0">
                <a:solidFill>
                  <a:srgbClr val="ECE7DC"/>
                </a:solidFill>
                <a:latin typeface="Consolas"/>
              </a:rPr>
              <a:t>│   ├── canvas-refresh.md</a:t>
            </a:r>
          </a:p>
          <a:p>
            <a:pPr algn="l">
              <a:lnSpc>
                <a:spcPct val="100000"/>
              </a:lnSpc>
            </a:pPr>
            <a:r>
              <a:rPr sz="800" b="0" i="0">
                <a:solidFill>
                  <a:srgbClr val="ECE7DC"/>
                </a:solidFill>
                <a:latin typeface="Consolas"/>
              </a:rPr>
              <a:t>│   ├── chat-microphone-design.md</a:t>
            </a:r>
          </a:p>
          <a:p>
            <a:pPr algn="l">
              <a:lnSpc>
                <a:spcPct val="100000"/>
              </a:lnSpc>
            </a:pPr>
            <a:r>
              <a:rPr sz="800" b="0" i="0">
                <a:solidFill>
                  <a:srgbClr val="ECE7DC"/>
                </a:solidFill>
                <a:latin typeface="Consolas"/>
              </a:rPr>
              <a:t>│   ├── companion-app-discovery.md</a:t>
            </a:r>
          </a:p>
          <a:p>
            <a:pPr algn="l">
              <a:lnSpc>
                <a:spcPct val="100000"/>
              </a:lnSpc>
            </a:pPr>
            <a:r>
              <a:rPr sz="800" b="0" i="0">
                <a:solidFill>
                  <a:srgbClr val="ECE7DC"/>
                </a:solidFill>
                <a:latin typeface="Consolas"/>
              </a:rPr>
              <a:t>│   ├── dependency-coverage-audit.md</a:t>
            </a:r>
          </a:p>
          <a:p>
            <a:pPr algn="l">
              <a:lnSpc>
                <a:spcPct val="100000"/>
              </a:lnSpc>
            </a:pPr>
            <a:r>
              <a:rPr sz="800" b="0" i="0">
                <a:solidFill>
                  <a:srgbClr val="ECE7DC"/>
                </a:solidFill>
                <a:latin typeface="Consolas"/>
              </a:rPr>
              <a:t>│   ├── desktop-input-and-flow-contracts.md</a:t>
            </a:r>
          </a:p>
          <a:p>
            <a:pPr algn="l">
              <a:lnSpc>
                <a:spcPct val="100000"/>
              </a:lnSpc>
            </a:pPr>
            <a:r>
              <a:rPr sz="800" b="0" i="0">
                <a:solidFill>
                  <a:srgbClr val="ECE7DC"/>
                </a:solidFill>
                <a:latin typeface="Consolas"/>
              </a:rPr>
              <a:t>│   ├── external_mcp_bulletproof_architecture.md</a:t>
            </a:r>
          </a:p>
          <a:p>
            <a:pPr algn="l">
              <a:lnSpc>
                <a:spcPct val="100000"/>
              </a:lnSpc>
            </a:pPr>
            <a:r>
              <a:rPr sz="800" b="0" i="0">
                <a:solidFill>
                  <a:srgbClr val="ECE7DC"/>
                </a:solidFill>
                <a:latin typeface="Consolas"/>
              </a:rPr>
              <a:t>│   ├── GUI-Manager-design.md</a:t>
            </a:r>
          </a:p>
          <a:p>
            <a:pPr algn="l">
              <a:lnSpc>
                <a:spcPct val="100000"/>
              </a:lnSpc>
            </a:pPr>
            <a:r>
              <a:rPr sz="800" b="0" i="0">
                <a:solidFill>
                  <a:srgbClr val="ECE7DC"/>
                </a:solidFill>
                <a:latin typeface="Consolas"/>
              </a:rPr>
              <a:t>│   ├── interaction-settings.md</a:t>
            </a:r>
          </a:p>
          <a:p>
            <a:pPr algn="l">
              <a:lnSpc>
                <a:spcPct val="100000"/>
              </a:lnSpc>
            </a:pPr>
            <a:r>
              <a:rPr sz="800" b="0" i="0">
                <a:solidFill>
                  <a:srgbClr val="ECE7DC"/>
                </a:solidFill>
                <a:latin typeface="Consolas"/>
              </a:rPr>
              <a:t>│   ├── interactor.md</a:t>
            </a:r>
          </a:p>
          <a:p>
            <a:pPr algn="l">
              <a:lnSpc>
                <a:spcPct val="100000"/>
              </a:lnSpc>
            </a:pPr>
            <a:r>
              <a:rPr sz="800" b="0" i="0">
                <a:solidFill>
                  <a:srgbClr val="ECE7DC"/>
                </a:solidFill>
                <a:latin typeface="Consolas"/>
              </a:rPr>
              <a:t>│   ├── markdown-canvas.md</a:t>
            </a:r>
          </a:p>
          <a:p>
            <a:pPr algn="l">
              <a:lnSpc>
                <a:spcPct val="100000"/>
              </a:lnSpc>
            </a:pPr>
            <a:r>
              <a:rPr sz="800" b="0" i="0">
                <a:solidFill>
                  <a:srgbClr val="ECE7DC"/>
                </a:solidFill>
                <a:latin typeface="Consolas"/>
              </a:rPr>
              <a:t>│   ├── model-configuration-verification.md</a:t>
            </a:r>
          </a:p>
          <a:p>
            <a:pPr algn="l">
              <a:lnSpc>
                <a:spcPct val="100000"/>
              </a:lnSpc>
            </a:pPr>
            <a:r>
              <a:rPr sz="800" b="0" i="0">
                <a:solidFill>
                  <a:srgbClr val="ECE7DC"/>
                </a:solidFill>
                <a:latin typeface="Consolas"/>
              </a:rPr>
              <a:t>│   ├── model_configuration.md</a:t>
            </a:r>
          </a:p>
          <a:p>
            <a:pPr algn="l">
              <a:lnSpc>
                <a:spcPct val="100000"/>
              </a:lnSpc>
            </a:pPr>
            <a:r>
              <a:rPr sz="800" b="0" i="0">
                <a:solidFill>
                  <a:srgbClr val="ECE7DC"/>
                </a:solidFill>
                <a:latin typeface="Consolas"/>
              </a:rPr>
              <a:t>│   ├── oob-namu-lifecycle.md</a:t>
            </a:r>
          </a:p>
          <a:p>
            <a:pPr algn="l">
              <a:lnSpc>
                <a:spcPct val="100000"/>
              </a:lnSpc>
            </a:pPr>
            <a:r>
              <a:rPr sz="800" b="0" i="0">
                <a:solidFill>
                  <a:srgbClr val="ECE7DC"/>
                </a:solidFill>
                <a:latin typeface="Consolas"/>
              </a:rPr>
              <a:t>│   ├── pdf-canvas.md</a:t>
            </a:r>
          </a:p>
          <a:p>
            <a:pPr algn="l">
              <a:lnSpc>
                <a:spcPct val="100000"/>
              </a:lnSpc>
            </a:pPr>
            <a:r>
              <a:rPr sz="800" b="0" i="0">
                <a:solidFill>
                  <a:srgbClr val="ECE7DC"/>
                </a:solidFill>
                <a:latin typeface="Consolas"/>
              </a:rPr>
              <a:t>│   ├── prompting-flow-designer.md</a:t>
            </a:r>
          </a:p>
          <a:p>
            <a:pPr algn="l">
              <a:lnSpc>
                <a:spcPct val="100000"/>
              </a:lnSpc>
            </a:pPr>
            <a:r>
              <a:rPr sz="800" b="0" i="0">
                <a:solidFill>
                  <a:srgbClr val="ECE7DC"/>
                </a:solidFill>
                <a:latin typeface="Consolas"/>
              </a:rPr>
              <a:t>│   ├── self-management-carriage.md</a:t>
            </a:r>
          </a:p>
          <a:p>
            <a:pPr algn="l">
              <a:lnSpc>
                <a:spcPct val="100000"/>
              </a:lnSpc>
            </a:pPr>
            <a:r>
              <a:rPr sz="800" b="0" i="0">
                <a:solidFill>
                  <a:srgbClr val="ECE7DC"/>
                </a:solidFill>
                <a:latin typeface="Consolas"/>
              </a:rPr>
              <a:t>│   ├── setup-lifecycle-research.md</a:t>
            </a:r>
          </a:p>
          <a:p>
            <a:pPr algn="l">
              <a:lnSpc>
                <a:spcPct val="100000"/>
              </a:lnSpc>
            </a:pPr>
            <a:r>
              <a:rPr sz="800" b="0" i="0">
                <a:solidFill>
                  <a:srgbClr val="ECE7DC"/>
                </a:solidFill>
                <a:latin typeface="Consolas"/>
              </a:rPr>
              <a:t>│   ├── setup-wizards.md</a:t>
            </a:r>
          </a:p>
          <a:p>
            <a:pPr algn="l">
              <a:lnSpc>
                <a:spcPct val="100000"/>
              </a:lnSpc>
            </a:pPr>
            <a:r>
              <a:rPr sz="800" b="0" i="0">
                <a:solidFill>
                  <a:srgbClr val="ECE7DC"/>
                </a:solidFill>
                <a:latin typeface="Consolas"/>
              </a:rPr>
              <a:t>│   ├── stm32er_all_families_proposal.md</a:t>
            </a:r>
          </a:p>
          <a:p>
            <a:pPr algn="l">
              <a:lnSpc>
                <a:spcPct val="100000"/>
              </a:lnSpc>
            </a:pPr>
            <a:r>
              <a:rPr sz="800" b="0" i="0">
                <a:solidFill>
                  <a:srgbClr val="ECE7DC"/>
                </a:solidFill>
                <a:latin typeface="Consolas"/>
              </a:rPr>
              <a:t>│   ├── terminater.md</a:t>
            </a:r>
          </a:p>
          <a:p>
            <a:pPr algn="l">
              <a:lnSpc>
                <a:spcPct val="100000"/>
              </a:lnSpc>
            </a:pPr>
            <a:r>
              <a:rPr sz="800" b="0" i="0">
                <a:solidFill>
                  <a:srgbClr val="ECE7DC"/>
                </a:solidFill>
                <a:latin typeface="Consolas"/>
              </a:rPr>
              <a:t>│   ├── usage-dashboard.md</a:t>
            </a:r>
          </a:p>
          <a:p>
            <a:pPr algn="l">
              <a:lnSpc>
                <a:spcPct val="100000"/>
              </a:lnSpc>
            </a:pPr>
            <a:r>
              <a:rPr sz="800" b="0" i="0">
                <a:solidFill>
                  <a:srgbClr val="ECE7DC"/>
                </a:solidFill>
                <a:latin typeface="Consolas"/>
              </a:rPr>
              <a:t>│   ├── user-creation-wizard.md</a:t>
            </a:r>
          </a:p>
          <a:p>
            <a:pPr algn="l">
              <a:lnSpc>
                <a:spcPct val="100000"/>
              </a:lnSpc>
            </a:pPr>
            <a:r>
              <a:rPr sz="800" b="0" i="0">
                <a:solidFill>
                  <a:srgbClr val="ECE7DC"/>
                </a:solidFill>
                <a:latin typeface="Consolas"/>
              </a:rPr>
              <a:t>│   ├── visual-analysis-errors.md</a:t>
            </a:r>
          </a:p>
          <a:p>
            <a:pPr algn="l">
              <a:lnSpc>
                <a:spcPct val="100000"/>
              </a:lnSpc>
            </a:pPr>
            <a:r>
              <a:rPr sz="800" b="0" i="0">
                <a:solidFill>
                  <a:srgbClr val="ECE7DC"/>
                </a:solidFill>
                <a:latin typeface="Consolas"/>
              </a:rPr>
              <a:t>│   ├── windows-flow-files.md</a:t>
            </a:r>
          </a:p>
          <a:p>
            <a:pPr algn="l">
              <a:lnSpc>
                <a:spcPct val="100000"/>
              </a:lnSpc>
            </a:pPr>
            <a:r>
              <a:rPr sz="800" b="0" i="0">
                <a:solidFill>
                  <a:srgbClr val="3BBE93"/>
                </a:solidFill>
                <a:latin typeface="Consolas"/>
              </a:rPr>
              <a:t>│   ├── assets/</a:t>
            </a:r>
          </a:p>
          <a:p>
            <a:pPr algn="l">
              <a:lnSpc>
                <a:spcPct val="100000"/>
              </a:lnSpc>
            </a:pPr>
            <a:r>
              <a:rPr sz="800" b="0" i="0">
                <a:solidFill>
                  <a:srgbClr val="ECE7DC"/>
                </a:solidFill>
                <a:latin typeface="Consolas"/>
              </a:rPr>
              <a:t>│   │   └── readme-hero.svg</a:t>
            </a:r>
          </a:p>
          <a:p>
            <a:pPr algn="l">
              <a:lnSpc>
                <a:spcPct val="100000"/>
              </a:lnSpc>
            </a:pPr>
            <a:r>
              <a:rPr sz="800" b="0" i="0">
                <a:solidFill>
                  <a:srgbClr val="3BBE93"/>
                </a:solidFill>
                <a:latin typeface="Consolas"/>
              </a:rPr>
              <a:t>│   ├── changes/</a:t>
            </a:r>
          </a:p>
          <a:p>
            <a:pPr algn="l">
              <a:lnSpc>
                <a:spcPct val="100000"/>
              </a:lnSpc>
            </a:pPr>
            <a:r>
              <a:rPr sz="800" b="0" i="0">
                <a:solidFill>
                  <a:srgbClr val="ECE7DC"/>
                </a:solidFill>
                <a:latin typeface="Consolas"/>
              </a:rPr>
              <a:t>│   │   ├── 2026-10-03-prompt-commentary-input.md</a:t>
            </a:r>
          </a:p>
          <a:p>
            <a:pPr algn="l">
              <a:lnSpc>
                <a:spcPct val="100000"/>
              </a:lnSpc>
            </a:pPr>
            <a:r>
              <a:rPr sz="800" b="0" i="0">
                <a:solidFill>
                  <a:srgbClr val="ECE7DC"/>
                </a:solidFill>
                <a:latin typeface="Consolas"/>
              </a:rPr>
              <a:t>│   │   ├── 2026-10-03-prompt-commentary-input.patch</a:t>
            </a:r>
          </a:p>
          <a:p>
            <a:pPr algn="l">
              <a:lnSpc>
                <a:spcPct val="100000"/>
              </a:lnSpc>
            </a:pPr>
            <a:r>
              <a:rPr sz="800" b="0" i="0">
                <a:solidFill>
                  <a:srgbClr val="ECE7DC"/>
                </a:solidFill>
                <a:latin typeface="Consolas"/>
              </a:rPr>
              <a:t>│   │   ├── 2026-10-03-prompt-flow-documentation.md</a:t>
            </a:r>
          </a:p>
          <a:p>
            <a:pPr algn="l">
              <a:lnSpc>
                <a:spcPct val="100000"/>
              </a:lnSpc>
            </a:pPr>
            <a:r>
              <a:rPr sz="800" b="0" i="0">
                <a:solidFill>
                  <a:srgbClr val="ECE7DC"/>
                </a:solidFill>
                <a:latin typeface="Consolas"/>
              </a:rPr>
              <a:t>│   │   ├── 2026-10-03-prompt-flow-documentation.patch</a:t>
            </a:r>
          </a:p>
          <a:p>
            <a:pPr algn="l">
              <a:lnSpc>
                <a:spcPct val="100000"/>
              </a:lnSpc>
            </a:pPr>
            <a:r>
              <a:rPr sz="800" b="0" i="0">
                <a:solidFill>
                  <a:srgbClr val="ECE7DC"/>
                </a:solidFill>
                <a:latin typeface="Consolas"/>
              </a:rPr>
              <a:t>│   │   ├── 2026-10-04-commentary-graphical-redesign.md</a:t>
            </a:r>
          </a:p>
          <a:p>
            <a:pPr algn="l">
              <a:lnSpc>
                <a:spcPct val="100000"/>
              </a:lnSpc>
            </a:pPr>
            <a:r>
              <a:rPr sz="800" b="0" i="0">
                <a:solidFill>
                  <a:srgbClr val="ECE7DC"/>
                </a:solidFill>
                <a:latin typeface="Consolas"/>
              </a:rPr>
              <a:t>│   │   ├── 2026-10-04-commentary-graphical-redesign.pat</a:t>
            </a:r>
          </a:p>
          <a:p>
            <a:pPr algn="l">
              <a:lnSpc>
                <a:spcPct val="100000"/>
              </a:lnSpc>
            </a:pPr>
            <a:r>
              <a:rPr sz="800" b="0" i="0">
                <a:solidFill>
                  <a:srgbClr val="ECE7DC"/>
                </a:solidFill>
                <a:latin typeface="Consolas"/>
              </a:rPr>
              <a:t>│   │   │     » ch</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4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2026-10-04-prompt-flow-documentation.md</a:t>
            </a:r>
          </a:p>
          <a:p>
            <a:pPr algn="l">
              <a:lnSpc>
                <a:spcPct val="100000"/>
              </a:lnSpc>
            </a:pPr>
            <a:r>
              <a:rPr sz="800" b="0" i="0">
                <a:solidFill>
                  <a:srgbClr val="ECE7DC"/>
                </a:solidFill>
                <a:latin typeface="Consolas"/>
              </a:rPr>
              <a:t>│   │   ├── 2026-10-04-release-validation.md</a:t>
            </a:r>
          </a:p>
          <a:p>
            <a:pPr algn="l">
              <a:lnSpc>
                <a:spcPct val="100000"/>
              </a:lnSpc>
            </a:pPr>
            <a:r>
              <a:rPr sz="800" b="0" i="0">
                <a:solidFill>
                  <a:srgbClr val="ECE7DC"/>
                </a:solidFill>
                <a:latin typeface="Consolas"/>
              </a:rPr>
              <a:t>│   │   ├── 2026-10-04-run-output-resize.md</a:t>
            </a:r>
          </a:p>
          <a:p>
            <a:pPr algn="l">
              <a:lnSpc>
                <a:spcPct val="100000"/>
              </a:lnSpc>
            </a:pPr>
            <a:r>
              <a:rPr sz="800" b="0" i="0">
                <a:solidFill>
                  <a:srgbClr val="ECE7DC"/>
                </a:solidFill>
                <a:latin typeface="Consolas"/>
              </a:rPr>
              <a:t>│   │   ├── 2026-10-04-run-output-resize.patch</a:t>
            </a:r>
          </a:p>
          <a:p>
            <a:pPr algn="l">
              <a:lnSpc>
                <a:spcPct val="100000"/>
              </a:lnSpc>
            </a:pPr>
            <a:r>
              <a:rPr sz="800" b="0" i="0">
                <a:solidFill>
                  <a:srgbClr val="ECE7DC"/>
                </a:solidFill>
                <a:latin typeface="Consolas"/>
              </a:rPr>
              <a:t>│   │   ├── 2026-10-04-windows-flow-files.md</a:t>
            </a:r>
          </a:p>
          <a:p>
            <a:pPr algn="l">
              <a:lnSpc>
                <a:spcPct val="100000"/>
              </a:lnSpc>
            </a:pPr>
            <a:r>
              <a:rPr sz="800" b="0" i="0">
                <a:solidFill>
                  <a:srgbClr val="ECE7DC"/>
                </a:solidFill>
                <a:latin typeface="Consolas"/>
              </a:rPr>
              <a:t>│   │   ├── 2026-10-07-latexer-verification.md</a:t>
            </a:r>
          </a:p>
          <a:p>
            <a:pPr algn="l">
              <a:lnSpc>
                <a:spcPct val="100000"/>
              </a:lnSpc>
            </a:pPr>
            <a:r>
              <a:rPr sz="800" b="0" i="0">
                <a:solidFill>
                  <a:srgbClr val="ECE7DC"/>
                </a:solidFill>
                <a:latin typeface="Consolas"/>
              </a:rPr>
              <a:t>│   │   ├── 2026-10-07-pdf-mover-incident.md</a:t>
            </a:r>
          </a:p>
          <a:p>
            <a:pPr algn="l">
              <a:lnSpc>
                <a:spcPct val="100000"/>
              </a:lnSpc>
            </a:pPr>
            <a:r>
              <a:rPr sz="800" b="0" i="0">
                <a:solidFill>
                  <a:srgbClr val="ECE7DC"/>
                </a:solidFill>
                <a:latin typeface="Consolas"/>
              </a:rPr>
              <a:t>│   │   ├── 2026-10-07-windows-access-verification.md</a:t>
            </a:r>
          </a:p>
          <a:p>
            <a:pPr algn="l">
              <a:lnSpc>
                <a:spcPct val="100000"/>
              </a:lnSpc>
            </a:pPr>
            <a:r>
              <a:rPr sz="800" b="0" i="0">
                <a:solidFill>
                  <a:srgbClr val="ECE7DC"/>
                </a:solidFill>
                <a:latin typeface="Consolas"/>
              </a:rPr>
              <a:t>│   │   ├── 2026-10-10-composer-resize.md</a:t>
            </a:r>
          </a:p>
          <a:p>
            <a:pPr algn="l">
              <a:lnSpc>
                <a:spcPct val="100000"/>
              </a:lnSpc>
            </a:pPr>
            <a:r>
              <a:rPr sz="800" b="0" i="0">
                <a:solidFill>
                  <a:srgbClr val="ECE7DC"/>
                </a:solidFill>
                <a:latin typeface="Consolas"/>
              </a:rPr>
              <a:t>│   │   ├── 2026-10-11-ui-sweep.md</a:t>
            </a:r>
          </a:p>
          <a:p>
            <a:pPr algn="l">
              <a:lnSpc>
                <a:spcPct val="100000"/>
              </a:lnSpc>
            </a:pPr>
            <a:r>
              <a:rPr sz="800" b="0" i="0">
                <a:solidFill>
                  <a:srgbClr val="ECE7DC"/>
                </a:solidFill>
                <a:latin typeface="Consolas"/>
              </a:rPr>
              <a:t>│   │   ├── 2026-10-13-docked-avatar-divider.md</a:t>
            </a:r>
          </a:p>
          <a:p>
            <a:pPr algn="l">
              <a:lnSpc>
                <a:spcPct val="100000"/>
              </a:lnSpc>
            </a:pPr>
            <a:r>
              <a:rPr sz="800" b="0" i="0">
                <a:solidFill>
                  <a:srgbClr val="ECE7DC"/>
                </a:solidFill>
                <a:latin typeface="Consolas"/>
              </a:rPr>
              <a:t>│   │   ├── 2026-10-16-v1.85.0.md</a:t>
            </a:r>
          </a:p>
          <a:p>
            <a:pPr algn="l">
              <a:lnSpc>
                <a:spcPct val="100000"/>
              </a:lnSpc>
            </a:pPr>
            <a:r>
              <a:rPr sz="800" b="0" i="0">
                <a:solidFill>
                  <a:srgbClr val="ECE7DC"/>
                </a:solidFill>
                <a:latin typeface="Consolas"/>
              </a:rPr>
              <a:t>│   │   ├── 2026-10-18-v1.87.0.md</a:t>
            </a:r>
          </a:p>
          <a:p>
            <a:pPr algn="l">
              <a:lnSpc>
                <a:spcPct val="100000"/>
              </a:lnSpc>
            </a:pPr>
            <a:r>
              <a:rPr sz="800" b="0" i="0">
                <a:solidFill>
                  <a:srgbClr val="ECE7DC"/>
                </a:solidFill>
                <a:latin typeface="Consolas"/>
              </a:rPr>
              <a:t>│   │   ├── 2026-10-19-private-release-data.md</a:t>
            </a:r>
          </a:p>
          <a:p>
            <a:pPr algn="l">
              <a:lnSpc>
                <a:spcPct val="100000"/>
              </a:lnSpc>
            </a:pPr>
            <a:r>
              <a:rPr sz="800" b="0" i="0">
                <a:solidFill>
                  <a:srgbClr val="ECE7DC"/>
                </a:solidFill>
                <a:latin typeface="Consolas"/>
              </a:rPr>
              <a:t>│   │   ├── 2026-10-19-terminater.md</a:t>
            </a:r>
          </a:p>
          <a:p>
            <a:pPr algn="l">
              <a:lnSpc>
                <a:spcPct val="100000"/>
              </a:lnSpc>
            </a:pPr>
            <a:r>
              <a:rPr sz="800" b="0" i="0">
                <a:solidFill>
                  <a:srgbClr val="ECE7DC"/>
                </a:solidFill>
                <a:latin typeface="Consolas"/>
              </a:rPr>
              <a:t>│   │   ├── 2026-10-20-terminater-audit.md</a:t>
            </a:r>
          </a:p>
          <a:p>
            <a:pPr algn="l">
              <a:lnSpc>
                <a:spcPct val="100000"/>
              </a:lnSpc>
            </a:pPr>
            <a:r>
              <a:rPr sz="800" b="0" i="0">
                <a:solidFill>
                  <a:srgbClr val="ECE7DC"/>
                </a:solidFill>
                <a:latin typeface="Consolas"/>
              </a:rPr>
              <a:t>│   │   ├── 2026-10-20-v1.88.0.md</a:t>
            </a:r>
          </a:p>
          <a:p>
            <a:pPr algn="l">
              <a:lnSpc>
                <a:spcPct val="100000"/>
              </a:lnSpc>
            </a:pPr>
            <a:r>
              <a:rPr sz="800" b="0" i="0">
                <a:solidFill>
                  <a:srgbClr val="ECE7DC"/>
                </a:solidFill>
                <a:latin typeface="Consolas"/>
              </a:rPr>
              <a:t>│   │   ├── 2026-10-22-documentation-refresh.md</a:t>
            </a:r>
          </a:p>
          <a:p>
            <a:pPr algn="l">
              <a:lnSpc>
                <a:spcPct val="100000"/>
              </a:lnSpc>
            </a:pPr>
            <a:r>
              <a:rPr sz="800" b="0" i="0">
                <a:solidFill>
                  <a:srgbClr val="ECE7DC"/>
                </a:solidFill>
                <a:latin typeface="Consolas"/>
              </a:rPr>
              <a:t>│   │   ├── 2026-10-22-release-version-pinning.md</a:t>
            </a:r>
          </a:p>
          <a:p>
            <a:pPr algn="l">
              <a:lnSpc>
                <a:spcPct val="100000"/>
              </a:lnSpc>
            </a:pPr>
            <a:r>
              <a:rPr sz="800" b="0" i="0">
                <a:solidFill>
                  <a:srgbClr val="ECE7DC"/>
                </a:solidFill>
                <a:latin typeface="Consolas"/>
              </a:rPr>
              <a:t>│   │   ├── 2026-10-22-v1.90.0.md</a:t>
            </a:r>
          </a:p>
          <a:p>
            <a:pPr algn="l">
              <a:lnSpc>
                <a:spcPct val="100000"/>
              </a:lnSpc>
            </a:pPr>
            <a:r>
              <a:rPr sz="800" b="0" i="0">
                <a:solidFill>
                  <a:srgbClr val="ECE7DC"/>
                </a:solidFill>
                <a:latin typeface="Consolas"/>
              </a:rPr>
              <a:t>│   │   ├── 2026-10-23-v1.91.0.md</a:t>
            </a:r>
          </a:p>
          <a:p>
            <a:pPr algn="l">
              <a:lnSpc>
                <a:spcPct val="100000"/>
              </a:lnSpc>
            </a:pPr>
            <a:r>
              <a:rPr sz="800" b="0" i="0">
                <a:solidFill>
                  <a:srgbClr val="ECE7DC"/>
                </a:solidFill>
                <a:latin typeface="Consolas"/>
              </a:rPr>
              <a:t>│   │   └── 2026-10-27-v1.91.1.md</a:t>
            </a:r>
          </a:p>
          <a:p>
            <a:pPr algn="l">
              <a:lnSpc>
                <a:spcPct val="100000"/>
              </a:lnSpc>
            </a:pPr>
            <a:r>
              <a:rPr sz="800" b="0" i="0">
                <a:solidFill>
                  <a:srgbClr val="3BBE93"/>
                </a:solidFill>
                <a:latin typeface="Consolas"/>
              </a:rPr>
              <a:t>│   ├── claude/</a:t>
            </a:r>
          </a:p>
          <a:p>
            <a:pPr algn="l">
              <a:lnSpc>
                <a:spcPct val="100000"/>
              </a:lnSpc>
            </a:pPr>
            <a:r>
              <a:rPr sz="800" b="0" i="0">
                <a:solidFill>
                  <a:srgbClr val="ECE7DC"/>
                </a:solidFill>
                <a:latin typeface="Consolas"/>
              </a:rPr>
              <a:t>│   │   ├── acpx.md</a:t>
            </a:r>
          </a:p>
          <a:p>
            <a:pPr algn="l">
              <a:lnSpc>
                <a:spcPct val="100000"/>
              </a:lnSpc>
            </a:pPr>
            <a:r>
              <a:rPr sz="800" b="0" i="0">
                <a:solidFill>
                  <a:srgbClr val="ECE7DC"/>
                </a:solidFill>
                <a:latin typeface="Consolas"/>
              </a:rPr>
              <a:t>│   │   ├── agents.md</a:t>
            </a:r>
          </a:p>
          <a:p>
            <a:pPr algn="l">
              <a:lnSpc>
                <a:spcPct val="100000"/>
              </a:lnSpc>
            </a:pPr>
            <a:r>
              <a:rPr sz="800" b="0" i="0">
                <a:solidFill>
                  <a:srgbClr val="ECE7DC"/>
                </a:solidFill>
                <a:latin typeface="Consolas"/>
              </a:rPr>
              <a:t>│   │   ├── architecture.md</a:t>
            </a:r>
          </a:p>
          <a:p>
            <a:pPr algn="l">
              <a:lnSpc>
                <a:spcPct val="100000"/>
              </a:lnSpc>
            </a:pPr>
            <a:r>
              <a:rPr sz="800" b="0" i="0">
                <a:solidFill>
                  <a:srgbClr val="ECE7DC"/>
                </a:solidFill>
                <a:latin typeface="Consolas"/>
              </a:rPr>
              <a:t>│   │   ├── exec-report.md</a:t>
            </a:r>
          </a:p>
          <a:p>
            <a:pPr algn="l">
              <a:lnSpc>
                <a:spcPct val="100000"/>
              </a:lnSpc>
            </a:pPr>
            <a:r>
              <a:rPr sz="800" b="0" i="0">
                <a:solidFill>
                  <a:srgbClr val="ECE7DC"/>
                </a:solidFill>
                <a:latin typeface="Consolas"/>
              </a:rPr>
              <a:t>│   │   ├── frontend.md</a:t>
            </a:r>
          </a:p>
          <a:p>
            <a:pPr algn="l">
              <a:lnSpc>
                <a:spcPct val="100000"/>
              </a:lnSpc>
            </a:pPr>
            <a:r>
              <a:rPr sz="800" b="0" i="0">
                <a:solidFill>
                  <a:srgbClr val="ECE7DC"/>
                </a:solidFill>
                <a:latin typeface="Consolas"/>
              </a:rPr>
              <a:t>│   │   ├── gotchas.md</a:t>
            </a:r>
          </a:p>
          <a:p>
            <a:pPr algn="l">
              <a:lnSpc>
                <a:spcPct val="100000"/>
              </a:lnSpc>
            </a:pPr>
            <a:r>
              <a:rPr sz="800" b="0" i="0">
                <a:solidFill>
                  <a:srgbClr val="ECE7DC"/>
                </a:solidFill>
                <a:latin typeface="Consolas"/>
              </a:rPr>
              <a:t>│   │   ├── INDEX.md</a:t>
            </a:r>
          </a:p>
          <a:p>
            <a:pPr algn="l">
              <a:lnSpc>
                <a:spcPct val="100000"/>
              </a:lnSpc>
            </a:pPr>
            <a:r>
              <a:rPr sz="800" b="0" i="0">
                <a:solidFill>
                  <a:srgbClr val="ECE7DC"/>
                </a:solidFill>
                <a:latin typeface="Consolas"/>
              </a:rPr>
              <a:t>│   │   ├── mcp-tools.md</a:t>
            </a:r>
          </a:p>
          <a:p>
            <a:pPr algn="l">
              <a:lnSpc>
                <a:spcPct val="100000"/>
              </a:lnSpc>
            </a:pPr>
            <a:r>
              <a:rPr sz="800" b="0" i="0">
                <a:solidFill>
                  <a:srgbClr val="ECE7DC"/>
                </a:solidFill>
                <a:latin typeface="Consolas"/>
              </a:rPr>
              <a:t>│   │   ├── multi-turn.md</a:t>
            </a:r>
          </a:p>
          <a:p>
            <a:pPr algn="l">
              <a:lnSpc>
                <a:spcPct val="100000"/>
              </a:lnSpc>
            </a:pPr>
            <a:r>
              <a:rPr sz="800" b="0" i="0">
                <a:solidFill>
                  <a:srgbClr val="ECE7DC"/>
                </a:solidFill>
                <a:latin typeface="Consolas"/>
              </a:rPr>
              <a:t>│   │   └── recent-fixes.md</a:t>
            </a:r>
          </a:p>
          <a:p>
            <a:pPr algn="l">
              <a:lnSpc>
                <a:spcPct val="100000"/>
              </a:lnSpc>
            </a:pPr>
            <a:r>
              <a:rPr sz="800" b="0" i="0">
                <a:solidFill>
                  <a:srgbClr val="3BBE93"/>
                </a:solidFill>
                <a:latin typeface="Consolas"/>
              </a:rPr>
              <a:t>│   └── examples/</a:t>
            </a:r>
          </a:p>
          <a:p>
            <a:pPr algn="l">
              <a:lnSpc>
                <a:spcPct val="100000"/>
              </a:lnSpc>
            </a:pPr>
            <a:r>
              <a:rPr sz="800" b="0" i="0">
                <a:solidFill>
                  <a:srgbClr val="ECE7DC"/>
                </a:solidFill>
                <a:latin typeface="Consolas"/>
              </a:rPr>
              <a:t>│       └── prompting-kickoff.fpmt</a:t>
            </a:r>
          </a:p>
          <a:p>
            <a:pPr algn="l">
              <a:lnSpc>
                <a:spcPct val="100000"/>
              </a:lnSpc>
            </a:pPr>
            <a:r>
              <a:rPr sz="800" b="0" i="0">
                <a:solidFill>
                  <a:srgbClr val="3BBE93"/>
                </a:solidFill>
                <a:latin typeface="Consolas"/>
              </a:rPr>
              <a:t>├── pyinstaller_hooks/</a:t>
            </a:r>
          </a:p>
          <a:p>
            <a:pPr algn="l">
              <a:lnSpc>
                <a:spcPct val="100000"/>
              </a:lnSpc>
            </a:pPr>
            <a:r>
              <a:rPr sz="800" b="0" i="0">
                <a:solidFill>
                  <a:srgbClr val="ECE7DC"/>
                </a:solidFill>
                <a:latin typeface="Consolas"/>
              </a:rPr>
              <a:t>│   ├── hook-numpy.py</a:t>
            </a:r>
          </a:p>
          <a:p>
            <a:pPr algn="l">
              <a:lnSpc>
                <a:spcPct val="100000"/>
              </a:lnSpc>
            </a:pPr>
            <a:r>
              <a:rPr sz="800" b="0" i="0">
                <a:solidFill>
                  <a:srgbClr val="ECE7DC"/>
                </a:solidFill>
                <a:latin typeface="Consolas"/>
              </a:rPr>
              <a:t>│   ├── hook-pymupdf.py</a:t>
            </a:r>
          </a:p>
          <a:p>
            <a:pPr algn="l">
              <a:lnSpc>
                <a:spcPct val="100000"/>
              </a:lnSpc>
            </a:pPr>
            <a:r>
              <a:rPr sz="800" b="0" i="0">
                <a:solidFill>
                  <a:srgbClr val="ECE7DC"/>
                </a:solidFill>
                <a:latin typeface="Consolas"/>
              </a:rPr>
              <a:t>│   └── hook-torch.py</a:t>
            </a:r>
          </a:p>
          <a:p>
            <a:pPr algn="l">
              <a:lnSpc>
                <a:spcPct val="100000"/>
              </a:lnSpc>
            </a:pPr>
            <a:r>
              <a:rPr sz="800" b="0" i="0">
                <a:solidFill>
                  <a:srgbClr val="3BBE93"/>
                </a:solidFill>
                <a:latin typeface="Consolas"/>
              </a:rPr>
              <a:t>├── scripts/</a:t>
            </a:r>
          </a:p>
          <a:p>
            <a:pPr algn="l">
              <a:lnSpc>
                <a:spcPct val="100000"/>
              </a:lnSpc>
            </a:pPr>
            <a:r>
              <a:rPr sz="800" b="0" i="0">
                <a:solidFill>
                  <a:srgbClr val="ECE7DC"/>
                </a:solidFill>
                <a:latin typeface="Consolas"/>
              </a:rPr>
              <a:t>│   ├── acp_editor_visible.py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agent_catalog_visible.py</a:t>
            </a:r>
          </a:p>
          <a:p>
            <a:pPr algn="l">
              <a:lnSpc>
                <a:spcPct val="100000"/>
              </a:lnSpc>
            </a:pPr>
            <a:r>
              <a:rPr sz="800" b="0" i="0">
                <a:solidFill>
                  <a:srgbClr val="ECE7DC"/>
                </a:solidFill>
                <a:latin typeface="Consolas"/>
              </a:rPr>
              <a:t>│   ├── build_canvas_editor.mjs</a:t>
            </a:r>
          </a:p>
          <a:p>
            <a:pPr algn="l">
              <a:lnSpc>
                <a:spcPct val="100000"/>
              </a:lnSpc>
            </a:pPr>
            <a:r>
              <a:rPr sz="800" b="0" i="0">
                <a:solidFill>
                  <a:srgbClr val="ECE7DC"/>
                </a:solidFill>
                <a:latin typeface="Consolas"/>
              </a:rPr>
              <a:t>│   ├── build_setup_full_payload.py</a:t>
            </a:r>
          </a:p>
          <a:p>
            <a:pPr algn="l">
              <a:lnSpc>
                <a:spcPct val="100000"/>
              </a:lnSpc>
            </a:pPr>
            <a:r>
              <a:rPr sz="800" b="0" i="0">
                <a:solidFill>
                  <a:srgbClr val="ECE7DC"/>
                </a:solidFill>
                <a:latin typeface="Consolas"/>
              </a:rPr>
              <a:t>│   ├── build_setup_validation.py</a:t>
            </a:r>
          </a:p>
          <a:p>
            <a:pPr algn="l">
              <a:lnSpc>
                <a:spcPct val="100000"/>
              </a:lnSpc>
            </a:pPr>
            <a:r>
              <a:rPr sz="800" b="0" i="0">
                <a:solidFill>
                  <a:srgbClr val="ECE7DC"/>
                </a:solidFill>
                <a:latin typeface="Consolas"/>
              </a:rPr>
              <a:t>│   ├── canvas_editing_visible.py</a:t>
            </a:r>
          </a:p>
          <a:p>
            <a:pPr algn="l">
              <a:lnSpc>
                <a:spcPct val="100000"/>
              </a:lnSpc>
            </a:pPr>
            <a:r>
              <a:rPr sz="800" b="0" i="0">
                <a:solidFill>
                  <a:srgbClr val="ECE7DC"/>
                </a:solidFill>
                <a:latin typeface="Consolas"/>
              </a:rPr>
              <a:t>│   ├── canvas_editor_entry.mjs</a:t>
            </a:r>
          </a:p>
          <a:p>
            <a:pPr algn="l">
              <a:lnSpc>
                <a:spcPct val="100000"/>
              </a:lnSpc>
            </a:pPr>
            <a:r>
              <a:rPr sz="800" b="0" i="0">
                <a:solidFill>
                  <a:srgbClr val="ECE7DC"/>
                </a:solidFill>
                <a:latin typeface="Consolas"/>
              </a:rPr>
              <a:t>│   ├── canvas_refresh_visible.py</a:t>
            </a:r>
          </a:p>
          <a:p>
            <a:pPr algn="l">
              <a:lnSpc>
                <a:spcPct val="100000"/>
              </a:lnSpc>
            </a:pPr>
            <a:r>
              <a:rPr sz="800" b="0" i="0">
                <a:solidFill>
                  <a:srgbClr val="ECE7DC"/>
                </a:solidFill>
                <a:latin typeface="Consolas"/>
              </a:rPr>
              <a:t>│   ├── chat_composer_resize_checks.py</a:t>
            </a:r>
          </a:p>
          <a:p>
            <a:pPr algn="l">
              <a:lnSpc>
                <a:spcPct val="100000"/>
              </a:lnSpc>
            </a:pPr>
            <a:r>
              <a:rPr sz="800" b="0" i="0">
                <a:solidFill>
                  <a:srgbClr val="ECE7DC"/>
                </a:solidFill>
                <a:latin typeface="Consolas"/>
              </a:rPr>
              <a:t>│   ├── chat_composer_resize_visible.py</a:t>
            </a:r>
          </a:p>
          <a:p>
            <a:pPr algn="l">
              <a:lnSpc>
                <a:spcPct val="100000"/>
              </a:lnSpc>
            </a:pPr>
            <a:r>
              <a:rPr sz="800" b="0" i="0">
                <a:solidFill>
                  <a:srgbClr val="ECE7DC"/>
                </a:solidFill>
                <a:latin typeface="Consolas"/>
              </a:rPr>
              <a:t>│   ├── chat_composer_visible_window.py</a:t>
            </a:r>
          </a:p>
          <a:p>
            <a:pPr algn="l">
              <a:lnSpc>
                <a:spcPct val="100000"/>
              </a:lnSpc>
            </a:pPr>
            <a:r>
              <a:rPr sz="800" b="0" i="0">
                <a:solidFill>
                  <a:srgbClr val="ECE7DC"/>
                </a:solidFill>
                <a:latin typeface="Consolas"/>
              </a:rPr>
              <a:t>│   ├── chat_microphone_visible.py</a:t>
            </a:r>
          </a:p>
          <a:p>
            <a:pPr algn="l">
              <a:lnSpc>
                <a:spcPct val="100000"/>
              </a:lnSpc>
            </a:pPr>
            <a:r>
              <a:rPr sz="800" b="0" i="0">
                <a:solidFill>
                  <a:srgbClr val="ECE7DC"/>
                </a:solidFill>
                <a:latin typeface="Consolas"/>
              </a:rPr>
              <a:t>│   ├── chat_viewport_visible_checks.py</a:t>
            </a:r>
          </a:p>
          <a:p>
            <a:pPr algn="l">
              <a:lnSpc>
                <a:spcPct val="100000"/>
              </a:lnSpc>
            </a:pPr>
            <a:r>
              <a:rPr sz="800" b="0" i="0">
                <a:solidFill>
                  <a:srgbClr val="ECE7DC"/>
                </a:solidFill>
                <a:latin typeface="Consolas"/>
              </a:rPr>
              <a:t>│   ├── chat_views_frozen_visible.py</a:t>
            </a:r>
          </a:p>
          <a:p>
            <a:pPr algn="l">
              <a:lnSpc>
                <a:spcPct val="100000"/>
              </a:lnSpc>
            </a:pPr>
            <a:r>
              <a:rPr sz="800" b="0" i="0">
                <a:solidFill>
                  <a:srgbClr val="ECE7DC"/>
                </a:solidFill>
                <a:latin typeface="Consolas"/>
              </a:rPr>
              <a:t>│   ├── chat_views_visible.py</a:t>
            </a:r>
          </a:p>
          <a:p>
            <a:pPr algn="l">
              <a:lnSpc>
                <a:spcPct val="100000"/>
              </a:lnSpc>
            </a:pPr>
            <a:r>
              <a:rPr sz="800" b="0" i="0">
                <a:solidFill>
                  <a:srgbClr val="ECE7DC"/>
                </a:solidFill>
                <a:latin typeface="Consolas"/>
              </a:rPr>
              <a:t>│   ├── check_js_parse.mjs</a:t>
            </a:r>
          </a:p>
          <a:p>
            <a:pPr algn="l">
              <a:lnSpc>
                <a:spcPct val="100000"/>
              </a:lnSpc>
            </a:pPr>
            <a:r>
              <a:rPr sz="800" b="0" i="0">
                <a:solidFill>
                  <a:srgbClr val="ECE7DC"/>
                </a:solidFill>
                <a:latin typeface="Consolas"/>
              </a:rPr>
              <a:t>│   ├── check_python_quality.py</a:t>
            </a:r>
          </a:p>
          <a:p>
            <a:pPr algn="l">
              <a:lnSpc>
                <a:spcPct val="100000"/>
              </a:lnSpc>
            </a:pPr>
            <a:r>
              <a:rPr sz="800" b="0" i="0">
                <a:solidFill>
                  <a:srgbClr val="ECE7DC"/>
                </a:solidFill>
                <a:latin typeface="Consolas"/>
              </a:rPr>
              <a:t>│   ├── check_requirements_coverage.py</a:t>
            </a:r>
          </a:p>
          <a:p>
            <a:pPr algn="l">
              <a:lnSpc>
                <a:spcPct val="100000"/>
              </a:lnSpc>
            </a:pPr>
            <a:r>
              <a:rPr sz="800" b="0" i="0">
                <a:solidFill>
                  <a:srgbClr val="ECE7DC"/>
                </a:solidFill>
                <a:latin typeface="Consolas"/>
              </a:rPr>
              <a:t>│   ├── docked_avatar_resize_checks.py</a:t>
            </a:r>
          </a:p>
          <a:p>
            <a:pPr algn="l">
              <a:lnSpc>
                <a:spcPct val="100000"/>
              </a:lnSpc>
            </a:pPr>
            <a:r>
              <a:rPr sz="800" b="0" i="0">
                <a:solidFill>
                  <a:srgbClr val="ECE7DC"/>
                </a:solidFill>
                <a:latin typeface="Consolas"/>
              </a:rPr>
              <a:t>│   ├── dossier_visual_walkthrough_visible.py</a:t>
            </a:r>
          </a:p>
          <a:p>
            <a:pPr algn="l">
              <a:lnSpc>
                <a:spcPct val="100000"/>
              </a:lnSpc>
            </a:pPr>
            <a:r>
              <a:rPr sz="800" b="0" i="0">
                <a:solidFill>
                  <a:srgbClr val="ECE7DC"/>
                </a:solidFill>
                <a:latin typeface="Consolas"/>
              </a:rPr>
              <a:t>│   ├── drag_divider_look_visible.py</a:t>
            </a:r>
          </a:p>
          <a:p>
            <a:pPr algn="l">
              <a:lnSpc>
                <a:spcPct val="100000"/>
              </a:lnSpc>
            </a:pPr>
            <a:r>
              <a:rPr sz="800" b="0" i="0">
                <a:solidFill>
                  <a:srgbClr val="ECE7DC"/>
                </a:solidFill>
                <a:latin typeface="Consolas"/>
              </a:rPr>
              <a:t>│   ├── file_drop_router_cases.mjs</a:t>
            </a:r>
          </a:p>
          <a:p>
            <a:pPr algn="l">
              <a:lnSpc>
                <a:spcPct val="100000"/>
              </a:lnSpc>
            </a:pPr>
            <a:r>
              <a:rPr sz="800" b="0" i="0">
                <a:solidFill>
                  <a:srgbClr val="ECE7DC"/>
                </a:solidFill>
                <a:latin typeface="Consolas"/>
              </a:rPr>
              <a:t>│   ├── flow_canvas_mechanics_visible.py</a:t>
            </a:r>
          </a:p>
          <a:p>
            <a:pPr algn="l">
              <a:lnSpc>
                <a:spcPct val="100000"/>
              </a:lnSpc>
            </a:pPr>
            <a:r>
              <a:rPr sz="800" b="0" i="0">
                <a:solidFill>
                  <a:srgbClr val="ECE7DC"/>
                </a:solidFill>
                <a:latin typeface="Consolas"/>
              </a:rPr>
              <a:t>│   ├── flow_file_associations_test.ps1</a:t>
            </a:r>
          </a:p>
          <a:p>
            <a:pPr algn="l">
              <a:lnSpc>
                <a:spcPct val="100000"/>
              </a:lnSpc>
            </a:pPr>
            <a:r>
              <a:rPr sz="800" b="0" i="0">
                <a:solidFill>
                  <a:srgbClr val="ECE7DC"/>
                </a:solidFill>
                <a:latin typeface="Consolas"/>
              </a:rPr>
              <a:t>│   ├── flow_files_visible.py</a:t>
            </a:r>
          </a:p>
          <a:p>
            <a:pPr algn="l">
              <a:lnSpc>
                <a:spcPct val="100000"/>
              </a:lnSpc>
            </a:pPr>
            <a:r>
              <a:rPr sz="800" b="0" i="0">
                <a:solidFill>
                  <a:srgbClr val="ECE7DC"/>
                </a:solidFill>
                <a:latin typeface="Consolas"/>
              </a:rPr>
              <a:t>│   ├── installed_panels_visible.py</a:t>
            </a:r>
          </a:p>
          <a:p>
            <a:pPr algn="l">
              <a:lnSpc>
                <a:spcPct val="100000"/>
              </a:lnSpc>
            </a:pPr>
            <a:r>
              <a:rPr sz="800" b="0" i="0">
                <a:solidFill>
                  <a:srgbClr val="ECE7DC"/>
                </a:solidFill>
                <a:latin typeface="Consolas"/>
              </a:rPr>
              <a:t>│   ├── interaction_settings_visible.py</a:t>
            </a:r>
          </a:p>
          <a:p>
            <a:pPr algn="l">
              <a:lnSpc>
                <a:spcPct val="100000"/>
              </a:lnSpc>
            </a:pPr>
            <a:r>
              <a:rPr sz="800" b="0" i="0">
                <a:solidFill>
                  <a:srgbClr val="ECE7DC"/>
                </a:solidFill>
                <a:latin typeface="Consolas"/>
              </a:rPr>
              <a:t>│   ├── interactor_runtime_server.py</a:t>
            </a:r>
          </a:p>
          <a:p>
            <a:pPr algn="l">
              <a:lnSpc>
                <a:spcPct val="100000"/>
              </a:lnSpc>
            </a:pPr>
            <a:r>
              <a:rPr sz="800" b="0" i="0">
                <a:solidFill>
                  <a:srgbClr val="ECE7DC"/>
                </a:solidFill>
                <a:latin typeface="Consolas"/>
              </a:rPr>
              <a:t>│   ├── interactor_runtime_visible.py</a:t>
            </a:r>
          </a:p>
          <a:p>
            <a:pPr algn="l">
              <a:lnSpc>
                <a:spcPct val="100000"/>
              </a:lnSpc>
            </a:pPr>
            <a:r>
              <a:rPr sz="800" b="0" i="0">
                <a:solidFill>
                  <a:srgbClr val="ECE7DC"/>
                </a:solidFill>
                <a:latin typeface="Consolas"/>
              </a:rPr>
              <a:t>│   ├── interactor_visible.py</a:t>
            </a:r>
          </a:p>
          <a:p>
            <a:pPr algn="l">
              <a:lnSpc>
                <a:spcPct val="100000"/>
              </a:lnSpc>
            </a:pPr>
            <a:r>
              <a:rPr sz="800" b="0" i="0">
                <a:solidFill>
                  <a:srgbClr val="ECE7DC"/>
                </a:solidFill>
                <a:latin typeface="Consolas"/>
              </a:rPr>
              <a:t>│   ├── markdown_canvas_visible.py</a:t>
            </a:r>
          </a:p>
          <a:p>
            <a:pPr algn="l">
              <a:lnSpc>
                <a:spcPct val="100000"/>
              </a:lnSpc>
            </a:pPr>
            <a:r>
              <a:rPr sz="800" b="0" i="0">
                <a:solidFill>
                  <a:srgbClr val="ECE7DC"/>
                </a:solidFill>
                <a:latin typeface="Consolas"/>
              </a:rPr>
              <a:t>│   ├── menu_browser_checks.py</a:t>
            </a:r>
          </a:p>
          <a:p>
            <a:pPr algn="l">
              <a:lnSpc>
                <a:spcPct val="100000"/>
              </a:lnSpc>
            </a:pPr>
            <a:r>
              <a:rPr sz="800" b="0" i="0">
                <a:solidFill>
                  <a:srgbClr val="ECE7DC"/>
                </a:solidFill>
                <a:latin typeface="Consolas"/>
              </a:rPr>
              <a:t>│   ├── menu_live_checks.py</a:t>
            </a:r>
          </a:p>
          <a:p>
            <a:pPr algn="l">
              <a:lnSpc>
                <a:spcPct val="100000"/>
              </a:lnSpc>
            </a:pPr>
            <a:r>
              <a:rPr sz="800" b="0" i="0">
                <a:solidFill>
                  <a:srgbClr val="ECE7DC"/>
                </a:solidFill>
                <a:latin typeface="Consolas"/>
              </a:rPr>
              <a:t>│   ├── menu_reference_graph.mjs</a:t>
            </a:r>
          </a:p>
          <a:p>
            <a:pPr algn="l">
              <a:lnSpc>
                <a:spcPct val="100000"/>
              </a:lnSpc>
            </a:pPr>
            <a:r>
              <a:rPr sz="800" b="0" i="0">
                <a:solidFill>
                  <a:srgbClr val="ECE7DC"/>
                </a:solidFill>
                <a:latin typeface="Consolas"/>
              </a:rPr>
              <a:t>│   ├── panel_search_title_visible.py</a:t>
            </a:r>
          </a:p>
          <a:p>
            <a:pPr algn="l">
              <a:lnSpc>
                <a:spcPct val="100000"/>
              </a:lnSpc>
            </a:pPr>
            <a:r>
              <a:rPr sz="800" b="0" i="0">
                <a:solidFill>
                  <a:srgbClr val="ECE7DC"/>
                </a:solidFill>
                <a:latin typeface="Consolas"/>
              </a:rPr>
              <a:t>│   ├── playwright_real_visibility.cjs</a:t>
            </a:r>
          </a:p>
          <a:p>
            <a:pPr algn="l">
              <a:lnSpc>
                <a:spcPct val="100000"/>
              </a:lnSpc>
            </a:pPr>
            <a:r>
              <a:rPr sz="800" b="0" i="0">
                <a:solidFill>
                  <a:srgbClr val="ECE7DC"/>
                </a:solidFill>
                <a:latin typeface="Consolas"/>
              </a:rPr>
              <a:t>│   ├── pptxer_visibility_gallery.py</a:t>
            </a:r>
          </a:p>
          <a:p>
            <a:pPr algn="l">
              <a:lnSpc>
                <a:spcPct val="100000"/>
              </a:lnSpc>
            </a:pPr>
            <a:r>
              <a:rPr sz="800" b="0" i="0">
                <a:solidFill>
                  <a:srgbClr val="ECE7DC"/>
                </a:solidFill>
                <a:latin typeface="Consolas"/>
              </a:rPr>
              <a:t>│   ├── prompt_flow_commentary_visible.py</a:t>
            </a:r>
          </a:p>
          <a:p>
            <a:pPr algn="l">
              <a:lnSpc>
                <a:spcPct val="100000"/>
              </a:lnSpc>
            </a:pPr>
            <a:r>
              <a:rPr sz="800" b="0" i="0">
                <a:solidFill>
                  <a:srgbClr val="ECE7DC"/>
                </a:solidFill>
                <a:latin typeface="Consolas"/>
              </a:rPr>
              <a:t>│   ├── prompt_flow_connections_visible.py</a:t>
            </a:r>
          </a:p>
          <a:p>
            <a:pPr algn="l">
              <a:lnSpc>
                <a:spcPct val="100000"/>
              </a:lnSpc>
            </a:pPr>
            <a:r>
              <a:rPr sz="800" b="0" i="0">
                <a:solidFill>
                  <a:srgbClr val="ECE7DC"/>
                </a:solidFill>
                <a:latin typeface="Consolas"/>
              </a:rPr>
              <a:t>│   ├── prompt_flow_extension_visible.py</a:t>
            </a:r>
          </a:p>
          <a:p>
            <a:pPr algn="l">
              <a:lnSpc>
                <a:spcPct val="100000"/>
              </a:lnSpc>
            </a:pPr>
            <a:r>
              <a:rPr sz="800" b="0" i="0">
                <a:solidFill>
                  <a:srgbClr val="ECE7DC"/>
                </a:solidFill>
                <a:latin typeface="Consolas"/>
              </a:rPr>
              <a:t>│   ├── prompt_flow_output_resize_visible.py</a:t>
            </a:r>
          </a:p>
          <a:p>
            <a:pPr algn="l">
              <a:lnSpc>
                <a:spcPct val="100000"/>
              </a:lnSpc>
            </a:pPr>
            <a:r>
              <a:rPr sz="800" b="0" i="0">
                <a:solidFill>
                  <a:srgbClr val="ECE7DC"/>
                </a:solidFill>
                <a:latin typeface="Consolas"/>
              </a:rPr>
              <a:t>│   ├── prompt_flow_selection_visible.py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refresh_supporting_pdfs.py</a:t>
            </a:r>
          </a:p>
          <a:p>
            <a:pPr algn="l">
              <a:lnSpc>
                <a:spcPct val="100000"/>
              </a:lnSpc>
            </a:pPr>
            <a:r>
              <a:rPr sz="800" b="0" i="0">
                <a:solidFill>
                  <a:srgbClr val="ECE7DC"/>
                </a:solidFill>
                <a:latin typeface="Consolas"/>
              </a:rPr>
              <a:t>│   ├── release_acp_editor_checks.py</a:t>
            </a:r>
          </a:p>
          <a:p>
            <a:pPr algn="l">
              <a:lnSpc>
                <a:spcPct val="100000"/>
              </a:lnSpc>
            </a:pPr>
            <a:r>
              <a:rPr sz="800" b="0" i="0">
                <a:solidFill>
                  <a:srgbClr val="ECE7DC"/>
                </a:solidFill>
                <a:latin typeface="Consolas"/>
              </a:rPr>
              <a:t>│   ├── release_acp_runtime_checks.py</a:t>
            </a:r>
          </a:p>
          <a:p>
            <a:pPr algn="l">
              <a:lnSpc>
                <a:spcPct val="100000"/>
              </a:lnSpc>
            </a:pPr>
            <a:r>
              <a:rPr sz="800" b="0" i="0">
                <a:solidFill>
                  <a:srgbClr val="ECE7DC"/>
                </a:solidFill>
                <a:latin typeface="Consolas"/>
              </a:rPr>
              <a:t>│   ├── release_agent_catalog_checks.py</a:t>
            </a:r>
          </a:p>
          <a:p>
            <a:pPr algn="l">
              <a:lnSpc>
                <a:spcPct val="100000"/>
              </a:lnSpc>
            </a:pPr>
            <a:r>
              <a:rPr sz="800" b="0" i="0">
                <a:solidFill>
                  <a:srgbClr val="ECE7DC"/>
                </a:solidFill>
                <a:latin typeface="Consolas"/>
              </a:rPr>
              <a:t>│   ├── release_auth_checks.py</a:t>
            </a:r>
          </a:p>
          <a:p>
            <a:pPr algn="l">
              <a:lnSpc>
                <a:spcPct val="100000"/>
              </a:lnSpc>
            </a:pPr>
            <a:r>
              <a:rPr sz="800" b="0" i="0">
                <a:solidFill>
                  <a:srgbClr val="ECE7DC"/>
                </a:solidFill>
                <a:latin typeface="Consolas"/>
              </a:rPr>
              <a:t>│   ├── release_commentary_checks.py</a:t>
            </a:r>
          </a:p>
          <a:p>
            <a:pPr algn="l">
              <a:lnSpc>
                <a:spcPct val="100000"/>
              </a:lnSpc>
            </a:pPr>
            <a:r>
              <a:rPr sz="800" b="0" i="0">
                <a:solidFill>
                  <a:srgbClr val="ECE7DC"/>
                </a:solidFill>
                <a:latin typeface="Consolas"/>
              </a:rPr>
              <a:t>│   ├── release_extended_checks.py</a:t>
            </a:r>
          </a:p>
          <a:p>
            <a:pPr algn="l">
              <a:lnSpc>
                <a:spcPct val="100000"/>
              </a:lnSpc>
            </a:pPr>
            <a:r>
              <a:rPr sz="800" b="0" i="0">
                <a:solidFill>
                  <a:srgbClr val="ECE7DC"/>
                </a:solidFill>
                <a:latin typeface="Consolas"/>
              </a:rPr>
              <a:t>│   ├── release_local_agent_checks.py</a:t>
            </a:r>
          </a:p>
          <a:p>
            <a:pPr algn="l">
              <a:lnSpc>
                <a:spcPct val="100000"/>
              </a:lnSpc>
            </a:pPr>
            <a:r>
              <a:rPr sz="800" b="0" i="0">
                <a:solidFill>
                  <a:srgbClr val="ECE7DC"/>
                </a:solidFill>
                <a:latin typeface="Consolas"/>
              </a:rPr>
              <a:t>│   ├── release_mcp_checks.py</a:t>
            </a:r>
          </a:p>
          <a:p>
            <a:pPr algn="l">
              <a:lnSpc>
                <a:spcPct val="100000"/>
              </a:lnSpc>
            </a:pPr>
            <a:r>
              <a:rPr sz="800" b="0" i="0">
                <a:solidFill>
                  <a:srgbClr val="ECE7DC"/>
                </a:solidFill>
                <a:latin typeface="Consolas"/>
              </a:rPr>
              <a:t>│   ├── release_output_resize_checks.py</a:t>
            </a:r>
          </a:p>
          <a:p>
            <a:pPr algn="l">
              <a:lnSpc>
                <a:spcPct val="100000"/>
              </a:lnSpc>
            </a:pPr>
            <a:r>
              <a:rPr sz="800" b="0" i="0">
                <a:solidFill>
                  <a:srgbClr val="ECE7DC"/>
                </a:solidFill>
                <a:latin typeface="Consolas"/>
              </a:rPr>
              <a:t>│   ├── release_prompt_runtime_checks.py</a:t>
            </a:r>
          </a:p>
          <a:p>
            <a:pPr algn="l">
              <a:lnSpc>
                <a:spcPct val="100000"/>
              </a:lnSpc>
            </a:pPr>
            <a:r>
              <a:rPr sz="800" b="0" i="0">
                <a:solidFill>
                  <a:srgbClr val="ECE7DC"/>
                </a:solidFill>
                <a:latin typeface="Consolas"/>
              </a:rPr>
              <a:t>│   ├── release_shell_file_checks.py</a:t>
            </a:r>
          </a:p>
          <a:p>
            <a:pPr algn="l">
              <a:lnSpc>
                <a:spcPct val="100000"/>
              </a:lnSpc>
            </a:pPr>
            <a:r>
              <a:rPr sz="800" b="0" i="0">
                <a:solidFill>
                  <a:srgbClr val="ECE7DC"/>
                </a:solidFill>
                <a:latin typeface="Consolas"/>
              </a:rPr>
              <a:t>│   ├── review_documentation_visuals.py</a:t>
            </a:r>
          </a:p>
          <a:p>
            <a:pPr algn="l">
              <a:lnSpc>
                <a:spcPct val="100000"/>
              </a:lnSpc>
            </a:pPr>
            <a:r>
              <a:rPr sz="800" b="0" i="0">
                <a:solidFill>
                  <a:srgbClr val="ECE7DC"/>
                </a:solidFill>
                <a:latin typeface="Consolas"/>
              </a:rPr>
              <a:t>│   ├── run_menu_state_checks.py</a:t>
            </a:r>
          </a:p>
          <a:p>
            <a:pPr algn="l">
              <a:lnSpc>
                <a:spcPct val="100000"/>
              </a:lnSpc>
            </a:pPr>
            <a:r>
              <a:rPr sz="800" b="0" i="0">
                <a:solidFill>
                  <a:srgbClr val="ECE7DC"/>
                </a:solidFill>
                <a:latin typeface="Consolas"/>
              </a:rPr>
              <a:t>│   ├── setup_crash_agents_visible.py</a:t>
            </a:r>
          </a:p>
          <a:p>
            <a:pPr algn="l">
              <a:lnSpc>
                <a:spcPct val="100000"/>
              </a:lnSpc>
            </a:pPr>
            <a:r>
              <a:rPr sz="800" b="0" i="0">
                <a:solidFill>
                  <a:srgbClr val="ECE7DC"/>
                </a:solidFill>
                <a:latin typeface="Consolas"/>
              </a:rPr>
              <a:t>│   ├── setup_desktop_cycles.py</a:t>
            </a:r>
          </a:p>
          <a:p>
            <a:pPr algn="l">
              <a:lnSpc>
                <a:spcPct val="100000"/>
              </a:lnSpc>
            </a:pPr>
            <a:r>
              <a:rPr sz="800" b="0" i="0">
                <a:solidFill>
                  <a:srgbClr val="ECE7DC"/>
                </a:solidFill>
                <a:latin typeface="Consolas"/>
              </a:rPr>
              <a:t>│   ├── setup_lifecycle_checks.py</a:t>
            </a:r>
          </a:p>
          <a:p>
            <a:pPr algn="l">
              <a:lnSpc>
                <a:spcPct val="100000"/>
              </a:lnSpc>
            </a:pPr>
            <a:r>
              <a:rPr sz="800" b="0" i="0">
                <a:solidFill>
                  <a:srgbClr val="ECE7DC"/>
                </a:solidFill>
                <a:latin typeface="Consolas"/>
              </a:rPr>
              <a:t>│   ├── setup_release_cycles.py</a:t>
            </a:r>
          </a:p>
          <a:p>
            <a:pPr algn="l">
              <a:lnSpc>
                <a:spcPct val="100000"/>
              </a:lnSpc>
            </a:pPr>
            <a:r>
              <a:rPr sz="800" b="0" i="0">
                <a:solidFill>
                  <a:srgbClr val="ECE7DC"/>
                </a:solidFill>
                <a:latin typeface="Consolas"/>
              </a:rPr>
              <a:t>│   ├── setup_wizard_visible.py</a:t>
            </a:r>
          </a:p>
          <a:p>
            <a:pPr algn="l">
              <a:lnSpc>
                <a:spcPct val="100000"/>
              </a:lnSpc>
            </a:pPr>
            <a:r>
              <a:rPr sz="800" b="0" i="0">
                <a:solidFill>
                  <a:srgbClr val="ECE7DC"/>
                </a:solidFill>
                <a:latin typeface="Consolas"/>
              </a:rPr>
              <a:t>│   ├── skill_inventory.py</a:t>
            </a:r>
          </a:p>
          <a:p>
            <a:pPr algn="l">
              <a:lnSpc>
                <a:spcPct val="100000"/>
              </a:lnSpc>
            </a:pPr>
            <a:r>
              <a:rPr sz="800" b="0" i="0">
                <a:solidFill>
                  <a:srgbClr val="ECE7DC"/>
                </a:solidFill>
                <a:latin typeface="Consolas"/>
              </a:rPr>
              <a:t>│   ├── sync_assistant_skills.py</a:t>
            </a:r>
          </a:p>
          <a:p>
            <a:pPr algn="l">
              <a:lnSpc>
                <a:spcPct val="100000"/>
              </a:lnSpc>
            </a:pPr>
            <a:r>
              <a:rPr sz="800" b="0" i="0">
                <a:solidFill>
                  <a:srgbClr val="ECE7DC"/>
                </a:solidFill>
                <a:latin typeface="Consolas"/>
              </a:rPr>
              <a:t>│   ├── terminater_visible_acp.py</a:t>
            </a:r>
          </a:p>
          <a:p>
            <a:pPr algn="l">
              <a:lnSpc>
                <a:spcPct val="100000"/>
              </a:lnSpc>
            </a:pPr>
            <a:r>
              <a:rPr sz="800" b="0" i="0">
                <a:solidFill>
                  <a:srgbClr val="ECE7DC"/>
                </a:solidFill>
                <a:latin typeface="Consolas"/>
              </a:rPr>
              <a:t>│   ├── terminater_visible_all.py</a:t>
            </a:r>
          </a:p>
          <a:p>
            <a:pPr algn="l">
              <a:lnSpc>
                <a:spcPct val="100000"/>
              </a:lnSpc>
            </a:pPr>
            <a:r>
              <a:rPr sz="800" b="0" i="0">
                <a:solidFill>
                  <a:srgbClr val="ECE7DC"/>
                </a:solidFill>
                <a:latin typeface="Consolas"/>
              </a:rPr>
              <a:t>│   ├── terminater_visible_battery.py</a:t>
            </a:r>
          </a:p>
          <a:p>
            <a:pPr algn="l">
              <a:lnSpc>
                <a:spcPct val="100000"/>
              </a:lnSpc>
            </a:pPr>
            <a:r>
              <a:rPr sz="800" b="0" i="0">
                <a:solidFill>
                  <a:srgbClr val="ECE7DC"/>
                </a:solidFill>
                <a:latin typeface="Consolas"/>
              </a:rPr>
              <a:t>│   ├── terminater_visible_chat.py</a:t>
            </a:r>
          </a:p>
          <a:p>
            <a:pPr algn="l">
              <a:lnSpc>
                <a:spcPct val="100000"/>
              </a:lnSpc>
            </a:pPr>
            <a:r>
              <a:rPr sz="800" b="0" i="0">
                <a:solidFill>
                  <a:srgbClr val="ECE7DC"/>
                </a:solidFill>
                <a:latin typeface="Consolas"/>
              </a:rPr>
              <a:t>│   ├── terminater_visible_common.py</a:t>
            </a:r>
          </a:p>
          <a:p>
            <a:pPr algn="l">
              <a:lnSpc>
                <a:spcPct val="100000"/>
              </a:lnSpc>
            </a:pPr>
            <a:r>
              <a:rPr sz="800" b="0" i="0">
                <a:solidFill>
                  <a:srgbClr val="ECE7DC"/>
                </a:solidFill>
                <a:latin typeface="Consolas"/>
              </a:rPr>
              <a:t>│   ├── terminater_visible_pfp.py</a:t>
            </a:r>
          </a:p>
          <a:p>
            <a:pPr algn="l">
              <a:lnSpc>
                <a:spcPct val="100000"/>
              </a:lnSpc>
            </a:pPr>
            <a:r>
              <a:rPr sz="800" b="0" i="0">
                <a:solidFill>
                  <a:srgbClr val="ECE7DC"/>
                </a:solidFill>
                <a:latin typeface="Consolas"/>
              </a:rPr>
              <a:t>│   ├── tlamatini_clean_install.ps1</a:t>
            </a:r>
          </a:p>
          <a:p>
            <a:pPr algn="l">
              <a:lnSpc>
                <a:spcPct val="100000"/>
              </a:lnSpc>
            </a:pPr>
            <a:r>
              <a:rPr sz="800" b="0" i="0">
                <a:solidFill>
                  <a:srgbClr val="ECE7DC"/>
                </a:solidFill>
                <a:latin typeface="Consolas"/>
              </a:rPr>
              <a:t>│   ├── ui_sweep_resize_checks.py</a:t>
            </a:r>
          </a:p>
          <a:p>
            <a:pPr algn="l">
              <a:lnSpc>
                <a:spcPct val="100000"/>
              </a:lnSpc>
            </a:pPr>
            <a:r>
              <a:rPr sz="800" b="0" i="0">
                <a:solidFill>
                  <a:srgbClr val="ECE7DC"/>
                </a:solidFill>
                <a:latin typeface="Consolas"/>
              </a:rPr>
              <a:t>│   ├── ui_sweep_visible.py</a:t>
            </a:r>
          </a:p>
          <a:p>
            <a:pPr algn="l">
              <a:lnSpc>
                <a:spcPct val="100000"/>
              </a:lnSpc>
            </a:pPr>
            <a:r>
              <a:rPr sz="800" b="0" i="0">
                <a:solidFill>
                  <a:srgbClr val="ECE7DC"/>
                </a:solidFill>
                <a:latin typeface="Consolas"/>
              </a:rPr>
              <a:t>│   ├── update_flow_catalog.py</a:t>
            </a:r>
          </a:p>
          <a:p>
            <a:pPr algn="l">
              <a:lnSpc>
                <a:spcPct val="100000"/>
              </a:lnSpc>
            </a:pPr>
            <a:r>
              <a:rPr sz="800" b="0" i="0">
                <a:solidFill>
                  <a:srgbClr val="ECE7DC"/>
                </a:solidFill>
                <a:latin typeface="Consolas"/>
              </a:rPr>
              <a:t>│   ├── usage_dashboard_browser_checks.py</a:t>
            </a:r>
          </a:p>
          <a:p>
            <a:pPr algn="l">
              <a:lnSpc>
                <a:spcPct val="100000"/>
              </a:lnSpc>
            </a:pPr>
            <a:r>
              <a:rPr sz="800" b="0" i="0">
                <a:solidFill>
                  <a:srgbClr val="ECE7DC"/>
                </a:solidFill>
                <a:latin typeface="Consolas"/>
              </a:rPr>
              <a:t>│   ├── usage_dashboard_fixture_checks.py</a:t>
            </a:r>
          </a:p>
          <a:p>
            <a:pPr algn="l">
              <a:lnSpc>
                <a:spcPct val="100000"/>
              </a:lnSpc>
            </a:pPr>
            <a:r>
              <a:rPr sz="800" b="0" i="0">
                <a:solidFill>
                  <a:srgbClr val="ECE7DC"/>
                </a:solidFill>
                <a:latin typeface="Consolas"/>
              </a:rPr>
              <a:t>│   ├── usage_dashboard_visible.py</a:t>
            </a:r>
          </a:p>
          <a:p>
            <a:pPr algn="l">
              <a:lnSpc>
                <a:spcPct val="100000"/>
              </a:lnSpc>
            </a:pPr>
            <a:r>
              <a:rPr sz="800" b="0" i="0">
                <a:solidFill>
                  <a:srgbClr val="ECE7DC"/>
                </a:solidFill>
                <a:latin typeface="Consolas"/>
              </a:rPr>
              <a:t>│   ├── vendor_frontend.py</a:t>
            </a:r>
          </a:p>
          <a:p>
            <a:pPr algn="l">
              <a:lnSpc>
                <a:spcPct val="100000"/>
              </a:lnSpc>
            </a:pPr>
            <a:r>
              <a:rPr sz="800" b="0" i="0">
                <a:solidFill>
                  <a:srgbClr val="ECE7DC"/>
                </a:solidFill>
                <a:latin typeface="Consolas"/>
              </a:rPr>
              <a:t>│   ├── vendor_pdfjs.py</a:t>
            </a:r>
          </a:p>
          <a:p>
            <a:pPr algn="l">
              <a:lnSpc>
                <a:spcPct val="100000"/>
              </a:lnSpc>
            </a:pPr>
            <a:r>
              <a:rPr sz="800" b="0" i="0">
                <a:solidFill>
                  <a:srgbClr val="ECE7DC"/>
                </a:solidFill>
                <a:latin typeface="Consolas"/>
              </a:rPr>
              <a:t>│   ├── verify_latexer_styles.py</a:t>
            </a:r>
          </a:p>
          <a:p>
            <a:pPr algn="l">
              <a:lnSpc>
                <a:spcPct val="100000"/>
              </a:lnSpc>
            </a:pPr>
            <a:r>
              <a:rPr sz="800" b="0" i="0">
                <a:solidFill>
                  <a:srgbClr val="ECE7DC"/>
                </a:solidFill>
                <a:latin typeface="Consolas"/>
              </a:rPr>
              <a:t>│   ├── verify_pdfer_styles.py</a:t>
            </a:r>
          </a:p>
          <a:p>
            <a:pPr algn="l">
              <a:lnSpc>
                <a:spcPct val="100000"/>
              </a:lnSpc>
            </a:pPr>
            <a:r>
              <a:rPr sz="800" b="0" i="0">
                <a:solidFill>
                  <a:srgbClr val="ECE7DC"/>
                </a:solidFill>
                <a:latin typeface="Consolas"/>
              </a:rPr>
              <a:t>│   ├── verify_pptxer_layout.py</a:t>
            </a:r>
          </a:p>
          <a:p>
            <a:pPr algn="l">
              <a:lnSpc>
                <a:spcPct val="100000"/>
              </a:lnSpc>
            </a:pPr>
            <a:r>
              <a:rPr sz="800" b="0" i="0">
                <a:solidFill>
                  <a:srgbClr val="ECE7DC"/>
                </a:solidFill>
                <a:latin typeface="Consolas"/>
              </a:rPr>
              <a:t>│   ├── verify_pptxer_styles.py</a:t>
            </a:r>
          </a:p>
          <a:p>
            <a:pPr algn="l">
              <a:lnSpc>
                <a:spcPct val="100000"/>
              </a:lnSpc>
            </a:pPr>
            <a:r>
              <a:rPr sz="800" b="0" i="0">
                <a:solidFill>
                  <a:srgbClr val="ECE7DC"/>
                </a:solidFill>
                <a:latin typeface="Consolas"/>
              </a:rPr>
              <a:t>│   ├── visual_fatal_dialog_visible.py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5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architecture_atlas/</a:t>
            </a:r>
          </a:p>
          <a:p>
            <a:pPr algn="l">
              <a:lnSpc>
                <a:spcPct val="100000"/>
              </a:lnSpc>
            </a:pPr>
            <a:r>
              <a:rPr sz="800" b="0" i="0">
                <a:solidFill>
                  <a:srgbClr val="ECE7DC"/>
                </a:solidFill>
                <a:latin typeface="Consolas"/>
              </a:rPr>
              <a:t>│       ├── build_architecture_pdf.py</a:t>
            </a:r>
          </a:p>
          <a:p>
            <a:pPr algn="l">
              <a:lnSpc>
                <a:spcPct val="100000"/>
              </a:lnSpc>
            </a:pPr>
            <a:r>
              <a:rPr sz="800" b="0" i="0">
                <a:solidFill>
                  <a:srgbClr val="ECE7DC"/>
                </a:solidFill>
                <a:latin typeface="Consolas"/>
              </a:rPr>
              <a:t>│       ├── gen_architecture.py</a:t>
            </a:r>
          </a:p>
          <a:p>
            <a:pPr algn="l">
              <a:lnSpc>
                <a:spcPct val="100000"/>
              </a:lnSpc>
            </a:pPr>
            <a:r>
              <a:rPr sz="800" b="0" i="0">
                <a:solidFill>
                  <a:srgbClr val="ECE7DC"/>
                </a:solidFill>
                <a:latin typeface="Consolas"/>
              </a:rPr>
              <a:t>│       └── README.md</a:t>
            </a:r>
          </a:p>
          <a:p>
            <a:pPr algn="l">
              <a:lnSpc>
                <a:spcPct val="100000"/>
              </a:lnSpc>
            </a:pPr>
            <a:r>
              <a:rPr sz="800" b="0" i="0">
                <a:solidFill>
                  <a:srgbClr val="3BBE93"/>
                </a:solidFill>
                <a:latin typeface="Consolas"/>
              </a:rPr>
              <a:t>├── security/</a:t>
            </a:r>
          </a:p>
          <a:p>
            <a:pPr algn="l">
              <a:lnSpc>
                <a:spcPct val="100000"/>
              </a:lnSpc>
            </a:pPr>
            <a:r>
              <a:rPr sz="800" b="0" i="0">
                <a:solidFill>
                  <a:srgbClr val="ECE7DC"/>
                </a:solidFill>
                <a:latin typeface="Consolas"/>
              </a:rPr>
              <a:t>│   ├── automated_tests_of_security_assets.py</a:t>
            </a:r>
          </a:p>
          <a:p>
            <a:pPr algn="l">
              <a:lnSpc>
                <a:spcPct val="100000"/>
              </a:lnSpc>
            </a:pPr>
            <a:r>
              <a:rPr sz="800" b="0" i="0">
                <a:solidFill>
                  <a:srgbClr val="ECE7DC"/>
                </a:solidFill>
                <a:latin typeface="Consolas"/>
              </a:rPr>
              <a:t>│   ├── enable_tlamatini_v2.bat</a:t>
            </a:r>
          </a:p>
          <a:p>
            <a:pPr algn="l">
              <a:lnSpc>
                <a:spcPct val="100000"/>
              </a:lnSpc>
            </a:pPr>
            <a:r>
              <a:rPr sz="800" b="0" i="0">
                <a:solidFill>
                  <a:srgbClr val="ECE7DC"/>
                </a:solidFill>
                <a:latin typeface="Consolas"/>
              </a:rPr>
              <a:t>│   ├── README.md</a:t>
            </a:r>
          </a:p>
          <a:p>
            <a:pPr algn="l">
              <a:lnSpc>
                <a:spcPct val="100000"/>
              </a:lnSpc>
            </a:pPr>
            <a:r>
              <a:rPr sz="800" b="0" i="0">
                <a:solidFill>
                  <a:srgbClr val="ECE7DC"/>
                </a:solidFill>
                <a:latin typeface="Consolas"/>
              </a:rPr>
              <a:t>│   ├── run_defender.bat</a:t>
            </a:r>
          </a:p>
          <a:p>
            <a:pPr algn="l">
              <a:lnSpc>
                <a:spcPct val="100000"/>
              </a:lnSpc>
            </a:pPr>
            <a:r>
              <a:rPr sz="800" b="0" i="0">
                <a:solidFill>
                  <a:srgbClr val="ECE7DC"/>
                </a:solidFill>
                <a:latin typeface="Consolas"/>
              </a:rPr>
              <a:t>│   ├── sync_enable_launcher.py</a:t>
            </a:r>
          </a:p>
          <a:p>
            <a:pPr algn="l">
              <a:lnSpc>
                <a:spcPct val="100000"/>
              </a:lnSpc>
            </a:pPr>
            <a:r>
              <a:rPr sz="800" b="0" i="0">
                <a:solidFill>
                  <a:srgbClr val="ECE7DC"/>
                </a:solidFill>
                <a:latin typeface="Consolas"/>
              </a:rPr>
              <a:t>│   ├── test_security_syntax.ps1</a:t>
            </a:r>
          </a:p>
          <a:p>
            <a:pPr algn="l">
              <a:lnSpc>
                <a:spcPct val="100000"/>
              </a:lnSpc>
            </a:pPr>
            <a:r>
              <a:rPr sz="800" b="0" i="0">
                <a:solidFill>
                  <a:srgbClr val="ECE7DC"/>
                </a:solidFill>
                <a:latin typeface="Consolas"/>
              </a:rPr>
              <a:t>│   ├── test_windows_access.ps1</a:t>
            </a:r>
          </a:p>
          <a:p>
            <a:pPr algn="l">
              <a:lnSpc>
                <a:spcPct val="100000"/>
              </a:lnSpc>
            </a:pPr>
            <a:r>
              <a:rPr sz="800" b="0" i="0">
                <a:solidFill>
                  <a:srgbClr val="ECE7DC"/>
                </a:solidFill>
                <a:latin typeface="Consolas"/>
              </a:rPr>
              <a:t>│   ├── tlamatini_defender.ps1</a:t>
            </a:r>
          </a:p>
          <a:p>
            <a:pPr algn="l">
              <a:lnSpc>
                <a:spcPct val="100000"/>
              </a:lnSpc>
            </a:pPr>
            <a:r>
              <a:rPr sz="800" b="0" i="0">
                <a:solidFill>
                  <a:srgbClr val="ECE7DC"/>
                </a:solidFill>
                <a:latin typeface="Consolas"/>
              </a:rPr>
              <a:t>│   ├── tlamatini_whitelist_v2.ps1</a:t>
            </a:r>
          </a:p>
          <a:p>
            <a:pPr algn="l">
              <a:lnSpc>
                <a:spcPct val="100000"/>
              </a:lnSpc>
            </a:pPr>
            <a:r>
              <a:rPr sz="800" b="0" i="0">
                <a:solidFill>
                  <a:srgbClr val="ECE7DC"/>
                </a:solidFill>
                <a:latin typeface="Consolas"/>
              </a:rPr>
              <a:t>│   ├── verify_agent_execution.py</a:t>
            </a:r>
          </a:p>
          <a:p>
            <a:pPr algn="l">
              <a:lnSpc>
                <a:spcPct val="100000"/>
              </a:lnSpc>
            </a:pPr>
            <a:r>
              <a:rPr sz="800" b="0" i="0">
                <a:solidFill>
                  <a:srgbClr val="ECE7DC"/>
                </a:solidFill>
                <a:latin typeface="Consolas"/>
              </a:rPr>
              <a:t>│   └── windows_access_helpers.ps1</a:t>
            </a:r>
          </a:p>
          <a:p>
            <a:pPr algn="l">
              <a:lnSpc>
                <a:spcPct val="100000"/>
              </a:lnSpc>
            </a:pPr>
            <a:r>
              <a:rPr sz="800" b="0" i="0">
                <a:solidFill>
                  <a:srgbClr val="3BBE93"/>
                </a:solidFill>
                <a:latin typeface="Consolas"/>
              </a:rPr>
              <a:t>├── Tests/</a:t>
            </a:r>
          </a:p>
          <a:p>
            <a:pPr algn="l">
              <a:lnSpc>
                <a:spcPct val="100000"/>
              </a:lnSpc>
            </a:pPr>
            <a:r>
              <a:rPr sz="800" b="0" i="0">
                <a:solidFill>
                  <a:srgbClr val="ECE7DC"/>
                </a:solidFill>
                <a:latin typeface="Consolas"/>
              </a:rPr>
              <a:t>│   ├── run_avatar_tests.py</a:t>
            </a:r>
          </a:p>
          <a:p>
            <a:pPr algn="l">
              <a:lnSpc>
                <a:spcPct val="100000"/>
              </a:lnSpc>
            </a:pPr>
            <a:r>
              <a:rPr sz="800" b="0" i="0">
                <a:solidFill>
                  <a:srgbClr val="ECE7DC"/>
                </a:solidFill>
                <a:latin typeface="Consolas"/>
              </a:rPr>
              <a:t>│   ├── run_presence_tests.ps1</a:t>
            </a:r>
          </a:p>
          <a:p>
            <a:pPr algn="l">
              <a:lnSpc>
                <a:spcPct val="100000"/>
              </a:lnSpc>
            </a:pPr>
            <a:r>
              <a:rPr sz="800" b="0" i="0">
                <a:solidFill>
                  <a:srgbClr val="ECE7DC"/>
                </a:solidFill>
                <a:latin typeface="Consolas"/>
              </a:rPr>
              <a:t>│   ├── test_about_window_name_visible.py</a:t>
            </a:r>
          </a:p>
          <a:p>
            <a:pPr algn="l">
              <a:lnSpc>
                <a:spcPct val="100000"/>
              </a:lnSpc>
            </a:pPr>
            <a:r>
              <a:rPr sz="800" b="0" i="0">
                <a:solidFill>
                  <a:srgbClr val="ECE7DC"/>
                </a:solidFill>
                <a:latin typeface="Consolas"/>
              </a:rPr>
              <a:t>│   ├── test_avatar_animation.cjs</a:t>
            </a:r>
          </a:p>
          <a:p>
            <a:pPr algn="l">
              <a:lnSpc>
                <a:spcPct val="100000"/>
              </a:lnSpc>
            </a:pPr>
            <a:r>
              <a:rPr sz="800" b="0" i="0">
                <a:solidFill>
                  <a:srgbClr val="ECE7DC"/>
                </a:solidFill>
                <a:latin typeface="Consolas"/>
              </a:rPr>
              <a:t>│   ├── test_avatar_collectstatic.py</a:t>
            </a:r>
          </a:p>
          <a:p>
            <a:pPr algn="l">
              <a:lnSpc>
                <a:spcPct val="100000"/>
              </a:lnSpc>
            </a:pPr>
            <a:r>
              <a:rPr sz="800" b="0" i="0">
                <a:solidFill>
                  <a:srgbClr val="ECE7DC"/>
                </a:solidFill>
                <a:latin typeface="Consolas"/>
              </a:rPr>
              <a:t>│   ├── test_avatar_presence_visible.py</a:t>
            </a:r>
          </a:p>
          <a:p>
            <a:pPr algn="l">
              <a:lnSpc>
                <a:spcPct val="100000"/>
              </a:lnSpc>
            </a:pPr>
            <a:r>
              <a:rPr sz="800" b="0" i="0">
                <a:solidFill>
                  <a:srgbClr val="ECE7DC"/>
                </a:solidFill>
                <a:latin typeface="Consolas"/>
              </a:rPr>
              <a:t>│   ├── test_avatar_visible.cjs</a:t>
            </a:r>
          </a:p>
          <a:p>
            <a:pPr algn="l">
              <a:lnSpc>
                <a:spcPct val="100000"/>
              </a:lnSpc>
            </a:pPr>
            <a:r>
              <a:rPr sz="800" b="0" i="0">
                <a:solidFill>
                  <a:srgbClr val="ECE7DC"/>
                </a:solidFill>
                <a:latin typeface="Consolas"/>
              </a:rPr>
              <a:t>│   ├── test_pdf_canvas_assets.py</a:t>
            </a:r>
          </a:p>
          <a:p>
            <a:pPr algn="l">
              <a:lnSpc>
                <a:spcPct val="100000"/>
              </a:lnSpc>
            </a:pPr>
            <a:r>
              <a:rPr sz="800" b="0" i="0">
                <a:solidFill>
                  <a:srgbClr val="ECE7DC"/>
                </a:solidFill>
                <a:latin typeface="Consolas"/>
              </a:rPr>
              <a:t>│   ├── test_pdf_canvas_browser.py</a:t>
            </a:r>
          </a:p>
          <a:p>
            <a:pPr algn="l">
              <a:lnSpc>
                <a:spcPct val="100000"/>
              </a:lnSpc>
            </a:pPr>
            <a:r>
              <a:rPr sz="800" b="0" i="0">
                <a:solidFill>
                  <a:srgbClr val="ECE7DC"/>
                </a:solidFill>
                <a:latin typeface="Consolas"/>
              </a:rPr>
              <a:t>│   ├── test_perf_3x_visual.py</a:t>
            </a:r>
          </a:p>
          <a:p>
            <a:pPr algn="l">
              <a:lnSpc>
                <a:spcPct val="100000"/>
              </a:lnSpc>
            </a:pPr>
            <a:r>
              <a:rPr sz="800" b="0" i="0">
                <a:solidFill>
                  <a:srgbClr val="ECE7DC"/>
                </a:solidFill>
                <a:latin typeface="Consolas"/>
              </a:rPr>
              <a:t>│   ├── test_release_regeneration.py</a:t>
            </a:r>
          </a:p>
          <a:p>
            <a:pPr algn="l">
              <a:lnSpc>
                <a:spcPct val="100000"/>
              </a:lnSpc>
            </a:pPr>
            <a:r>
              <a:rPr sz="800" b="0" i="0">
                <a:solidFill>
                  <a:srgbClr val="ECE7DC"/>
                </a:solidFill>
                <a:latin typeface="Consolas"/>
              </a:rPr>
              <a:t>│   ├── test_release_version_pinning.py</a:t>
            </a:r>
          </a:p>
          <a:p>
            <a:pPr algn="l">
              <a:lnSpc>
                <a:spcPct val="100000"/>
              </a:lnSpc>
            </a:pPr>
            <a:r>
              <a:rPr sz="800" b="0" i="0">
                <a:solidFill>
                  <a:srgbClr val="ECE7DC"/>
                </a:solidFill>
                <a:latin typeface="Consolas"/>
              </a:rPr>
              <a:t>│   ├── test_requirements_coverage.py</a:t>
            </a:r>
          </a:p>
          <a:p>
            <a:pPr algn="l">
              <a:lnSpc>
                <a:spcPct val="100000"/>
              </a:lnSpc>
            </a:pPr>
            <a:r>
              <a:rPr sz="800" b="0" i="0">
                <a:solidFill>
                  <a:srgbClr val="ECE7DC"/>
                </a:solidFill>
                <a:latin typeface="Consolas"/>
              </a:rPr>
              <a:t>│   ├── test_setup_release_paths.py</a:t>
            </a:r>
          </a:p>
          <a:p>
            <a:pPr algn="l">
              <a:lnSpc>
                <a:spcPct val="100000"/>
              </a:lnSpc>
            </a:pPr>
            <a:r>
              <a:rPr sz="800" b="0" i="0">
                <a:solidFill>
                  <a:srgbClr val="3BBE93"/>
                </a:solidFill>
                <a:latin typeface="Consolas"/>
              </a:rPr>
              <a:t>│   └── avatar_dev_server/</a:t>
            </a:r>
          </a:p>
          <a:p>
            <a:pPr algn="l">
              <a:lnSpc>
                <a:spcPct val="100000"/>
              </a:lnSpc>
            </a:pPr>
            <a:r>
              <a:rPr sz="800" b="0" i="0">
                <a:solidFill>
                  <a:srgbClr val="ECE7DC"/>
                </a:solidFill>
                <a:latin typeface="Consolas"/>
              </a:rPr>
              <a:t>│       ├── dev_settings.py</a:t>
            </a:r>
          </a:p>
          <a:p>
            <a:pPr algn="l">
              <a:lnSpc>
                <a:spcPct val="100000"/>
              </a:lnSpc>
            </a:pPr>
            <a:r>
              <a:rPr sz="800" b="0" i="0">
                <a:solidFill>
                  <a:srgbClr val="ECE7DC"/>
                </a:solidFill>
                <a:latin typeface="Consolas"/>
              </a:rPr>
              <a:t>│       └── development_test.py</a:t>
            </a:r>
          </a:p>
          <a:p>
            <a:pPr algn="l">
              <a:lnSpc>
                <a:spcPct val="100000"/>
              </a:lnSpc>
            </a:pPr>
            <a:r>
              <a:rPr sz="800" b="0" i="0">
                <a:solidFill>
                  <a:srgbClr val="3BBE93"/>
                </a:solidFill>
                <a:latin typeface="Consolas"/>
              </a:rPr>
              <a:t>└── Tlamatini/</a:t>
            </a:r>
          </a:p>
          <a:p>
            <a:pPr algn="l">
              <a:lnSpc>
                <a:spcPct val="100000"/>
              </a:lnSpc>
            </a:pPr>
            <a:r>
              <a:rPr sz="800" b="0" i="0">
                <a:solidFill>
                  <a:srgbClr val="ECE7DC"/>
                </a:solidFill>
                <a:latin typeface="Consolas"/>
              </a:rPr>
              <a:t>    ├── cat_art.py</a:t>
            </a:r>
          </a:p>
          <a:p>
            <a:pPr algn="l">
              <a:lnSpc>
                <a:spcPct val="100000"/>
              </a:lnSpc>
            </a:pPr>
            <a:r>
              <a:rPr sz="800" b="0" i="0">
                <a:solidFill>
                  <a:srgbClr val="ECE7DC"/>
                </a:solidFill>
                <a:latin typeface="Consolas"/>
              </a:rPr>
              <a:t>    ├── manage.py</a:t>
            </a:r>
          </a:p>
          <a:p>
            <a:pPr algn="l">
              <a:lnSpc>
                <a:spcPct val="100000"/>
              </a:lnSpc>
            </a:pPr>
            <a:r>
              <a:rPr sz="800" b="0" i="0">
                <a:solidFill>
                  <a:srgbClr val="3BBE93"/>
                </a:solidFill>
                <a:latin typeface="Consolas"/>
              </a:rPr>
              <a:t>    ├── .agents/</a:t>
            </a:r>
          </a:p>
          <a:p>
            <a:pPr algn="l">
              <a:lnSpc>
                <a:spcPct val="100000"/>
              </a:lnSpc>
            </a:pPr>
            <a:r>
              <a:rPr sz="800" b="0" i="0">
                <a:solidFill>
                  <a:srgbClr val="3BBE93"/>
                </a:solidFill>
                <a:latin typeface="Consolas"/>
              </a:rPr>
              <a:t>    │   └── workflows/</a:t>
            </a:r>
          </a:p>
          <a:p>
            <a:pPr algn="l">
              <a:lnSpc>
                <a:spcPct val="100000"/>
              </a:lnSpc>
            </a:pPr>
            <a:r>
              <a:rPr sz="800" b="0" i="0">
                <a:solidFill>
                  <a:srgbClr val="ECE7DC"/>
                </a:solidFill>
                <a:latin typeface="Consolas"/>
              </a:rPr>
              <a:t>    │       └── create_new_agent.md</a:t>
            </a:r>
          </a:p>
          <a:p>
            <a:pPr algn="l">
              <a:lnSpc>
                <a:spcPct val="100000"/>
              </a:lnSpc>
            </a:pPr>
            <a:r>
              <a:rPr sz="800" b="0" i="0">
                <a:solidFill>
                  <a:srgbClr val="3BBE93"/>
                </a:solidFill>
                <a:latin typeface="Consolas"/>
              </a:rPr>
              <a:t>    ├── .mcps/</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create_new_mcp.md</a:t>
            </a:r>
          </a:p>
          <a:p>
            <a:pPr algn="l">
              <a:lnSpc>
                <a:spcPct val="100000"/>
              </a:lnSpc>
            </a:pPr>
            <a:r>
              <a:rPr sz="800" b="0" i="0">
                <a:solidFill>
                  <a:srgbClr val="3BBE93"/>
                </a:solidFill>
                <a:latin typeface="Consolas"/>
              </a:rPr>
              <a:t>    ├── .skills/</a:t>
            </a:r>
          </a:p>
          <a:p>
            <a:pPr algn="l">
              <a:lnSpc>
                <a:spcPct val="100000"/>
              </a:lnSpc>
            </a:pPr>
            <a:r>
              <a:rPr sz="800" b="0" i="0">
                <a:solidFill>
                  <a:srgbClr val="ECE7DC"/>
                </a:solidFill>
                <a:latin typeface="Consolas"/>
              </a:rPr>
              <a:t>    │   └── create_new_skill.md</a:t>
            </a:r>
          </a:p>
          <a:p>
            <a:pPr algn="l">
              <a:lnSpc>
                <a:spcPct val="100000"/>
              </a:lnSpc>
            </a:pPr>
            <a:r>
              <a:rPr sz="800" b="0" i="0">
                <a:solidFill>
                  <a:srgbClr val="3BBE93"/>
                </a:solidFill>
                <a:latin typeface="Consolas"/>
              </a:rPr>
              <a:t>    ├── agent/</a:t>
            </a:r>
          </a:p>
          <a:p>
            <a:pPr algn="l">
              <a:lnSpc>
                <a:spcPct val="100000"/>
              </a:lnSpc>
            </a:pPr>
            <a:r>
              <a:rPr sz="800" b="0" i="0">
                <a:solidFill>
                  <a:srgbClr val="ECE7DC"/>
                </a:solidFill>
                <a:latin typeface="Consolas"/>
              </a:rPr>
              <a:t>    │   ├── __init__.py</a:t>
            </a:r>
          </a:p>
          <a:p>
            <a:pPr algn="l">
              <a:lnSpc>
                <a:spcPct val="100000"/>
              </a:lnSpc>
            </a:pPr>
            <a:r>
              <a:rPr sz="800" b="0" i="0">
                <a:solidFill>
                  <a:srgbClr val="ECE7DC"/>
                </a:solidFill>
                <a:latin typeface="Consolas"/>
              </a:rPr>
              <a:t>    │   ├── access_key_wizard.py</a:t>
            </a:r>
          </a:p>
          <a:p>
            <a:pPr algn="l">
              <a:lnSpc>
                <a:spcPct val="100000"/>
              </a:lnSpc>
            </a:pPr>
            <a:r>
              <a:rPr sz="800" b="0" i="0">
                <a:solidFill>
                  <a:srgbClr val="ECE7DC"/>
                </a:solidFill>
                <a:latin typeface="Consolas"/>
              </a:rPr>
              <a:t>    │   ├── admin.py</a:t>
            </a:r>
          </a:p>
          <a:p>
            <a:pPr algn="l">
              <a:lnSpc>
                <a:spcPct val="100000"/>
              </a:lnSpc>
            </a:pPr>
            <a:r>
              <a:rPr sz="800" b="0" i="0">
                <a:solidFill>
                  <a:srgbClr val="ECE7DC"/>
                </a:solidFill>
                <a:latin typeface="Consolas"/>
              </a:rPr>
              <a:t>    │   ├── agent_manifest.py</a:t>
            </a:r>
          </a:p>
          <a:p>
            <a:pPr algn="l">
              <a:lnSpc>
                <a:spcPct val="100000"/>
              </a:lnSpc>
            </a:pPr>
            <a:r>
              <a:rPr sz="800" b="0" i="0">
                <a:solidFill>
                  <a:srgbClr val="ECE7DC"/>
                </a:solidFill>
                <a:latin typeface="Consolas"/>
              </a:rPr>
              <a:t>    │   ├── agent_verdict.py</a:t>
            </a:r>
          </a:p>
          <a:p>
            <a:pPr algn="l">
              <a:lnSpc>
                <a:spcPct val="100000"/>
              </a:lnSpc>
            </a:pPr>
            <a:r>
              <a:rPr sz="800" b="0" i="0">
                <a:solidFill>
                  <a:srgbClr val="ECE7DC"/>
                </a:solidFill>
                <a:latin typeface="Consolas"/>
              </a:rPr>
              <a:t>    │   ├── apps.py</a:t>
            </a:r>
          </a:p>
          <a:p>
            <a:pPr algn="l">
              <a:lnSpc>
                <a:spcPct val="100000"/>
              </a:lnSpc>
            </a:pPr>
            <a:r>
              <a:rPr sz="800" b="0" i="0">
                <a:solidFill>
                  <a:srgbClr val="ECE7DC"/>
                </a:solidFill>
                <a:latin typeface="Consolas"/>
              </a:rPr>
              <a:t>    │   ├── cancellation.py</a:t>
            </a:r>
          </a:p>
          <a:p>
            <a:pPr algn="l">
              <a:lnSpc>
                <a:spcPct val="100000"/>
              </a:lnSpc>
            </a:pPr>
            <a:r>
              <a:rPr sz="800" b="0" i="0">
                <a:solidFill>
                  <a:srgbClr val="ECE7DC"/>
                </a:solidFill>
                <a:latin typeface="Consolas"/>
              </a:rPr>
              <a:t>    │   ├── canvas_file_views.py</a:t>
            </a:r>
          </a:p>
          <a:p>
            <a:pPr algn="l">
              <a:lnSpc>
                <a:spcPct val="100000"/>
              </a:lnSpc>
            </a:pPr>
            <a:r>
              <a:rPr sz="800" b="0" i="0">
                <a:solidFill>
                  <a:srgbClr val="ECE7DC"/>
                </a:solidFill>
                <a:latin typeface="Consolas"/>
              </a:rPr>
              <a:t>    │   ├── capability_registry.py</a:t>
            </a:r>
          </a:p>
          <a:p>
            <a:pPr algn="l">
              <a:lnSpc>
                <a:spcPct val="100000"/>
              </a:lnSpc>
            </a:pPr>
            <a:r>
              <a:rPr sz="800" b="0" i="0">
                <a:solidFill>
                  <a:srgbClr val="ECE7DC"/>
                </a:solidFill>
                <a:latin typeface="Consolas"/>
              </a:rPr>
              <a:t>    │   ├── chain_files_search_lcel.py</a:t>
            </a:r>
          </a:p>
          <a:p>
            <a:pPr algn="l">
              <a:lnSpc>
                <a:spcPct val="100000"/>
              </a:lnSpc>
            </a:pPr>
            <a:r>
              <a:rPr sz="800" b="0" i="0">
                <a:solidFill>
                  <a:srgbClr val="ECE7DC"/>
                </a:solidFill>
                <a:latin typeface="Consolas"/>
              </a:rPr>
              <a:t>    │   ├── chain_system_lcel.py</a:t>
            </a:r>
          </a:p>
          <a:p>
            <a:pPr algn="l">
              <a:lnSpc>
                <a:spcPct val="100000"/>
              </a:lnSpc>
            </a:pPr>
            <a:r>
              <a:rPr sz="800" b="0" i="0">
                <a:solidFill>
                  <a:srgbClr val="ECE7DC"/>
                </a:solidFill>
                <a:latin typeface="Consolas"/>
              </a:rPr>
              <a:t>    │   ├── chat_agent_registry.py</a:t>
            </a:r>
          </a:p>
          <a:p>
            <a:pPr algn="l">
              <a:lnSpc>
                <a:spcPct val="100000"/>
              </a:lnSpc>
            </a:pPr>
            <a:r>
              <a:rPr sz="800" b="0" i="0">
                <a:solidFill>
                  <a:srgbClr val="ECE7DC"/>
                </a:solidFill>
                <a:latin typeface="Consolas"/>
              </a:rPr>
              <a:t>    │   ├── chat_agent_runtime.py</a:t>
            </a:r>
          </a:p>
          <a:p>
            <a:pPr algn="l">
              <a:lnSpc>
                <a:spcPct val="100000"/>
              </a:lnSpc>
            </a:pPr>
            <a:r>
              <a:rPr sz="800" b="0" i="0">
                <a:solidFill>
                  <a:srgbClr val="ECE7DC"/>
                </a:solidFill>
                <a:latin typeface="Consolas"/>
              </a:rPr>
              <a:t>    │   ├── chat_history_loader.py</a:t>
            </a:r>
          </a:p>
          <a:p>
            <a:pPr algn="l">
              <a:lnSpc>
                <a:spcPct val="100000"/>
              </a:lnSpc>
            </a:pPr>
            <a:r>
              <a:rPr sz="800" b="0" i="0">
                <a:solidFill>
                  <a:srgbClr val="ECE7DC"/>
                </a:solidFill>
                <a:latin typeface="Consolas"/>
              </a:rPr>
              <a:t>    │   ├── chat_voice_consumer.py</a:t>
            </a:r>
          </a:p>
          <a:p>
            <a:pPr algn="l">
              <a:lnSpc>
                <a:spcPct val="100000"/>
              </a:lnSpc>
            </a:pPr>
            <a:r>
              <a:rPr sz="800" b="0" i="0">
                <a:solidFill>
                  <a:srgbClr val="ECE7DC"/>
                </a:solidFill>
                <a:latin typeface="Consolas"/>
              </a:rPr>
              <a:t>    │   ├── chat_voice_runtime.py</a:t>
            </a:r>
          </a:p>
          <a:p>
            <a:pPr algn="l">
              <a:lnSpc>
                <a:spcPct val="100000"/>
              </a:lnSpc>
            </a:pPr>
            <a:r>
              <a:rPr sz="800" b="0" i="0">
                <a:solidFill>
                  <a:srgbClr val="ECE7DC"/>
                </a:solidFill>
                <a:latin typeface="Consolas"/>
              </a:rPr>
              <a:t>    │   ├── chat_voice_settings.py</a:t>
            </a:r>
          </a:p>
          <a:p>
            <a:pPr algn="l">
              <a:lnSpc>
                <a:spcPct val="100000"/>
              </a:lnSpc>
            </a:pPr>
            <a:r>
              <a:rPr sz="800" b="0" i="0">
                <a:solidFill>
                  <a:srgbClr val="ECE7DC"/>
                </a:solidFill>
                <a:latin typeface="Consolas"/>
              </a:rPr>
              <a:t>    │   ├── command_togen_pb2.txt</a:t>
            </a:r>
          </a:p>
          <a:p>
            <a:pPr algn="l">
              <a:lnSpc>
                <a:spcPct val="100000"/>
              </a:lnSpc>
            </a:pPr>
            <a:r>
              <a:rPr sz="800" b="0" i="0">
                <a:solidFill>
                  <a:srgbClr val="ECE7DC"/>
                </a:solidFill>
                <a:latin typeface="Consolas"/>
              </a:rPr>
              <a:t>    │   ├── command_watchdog.py</a:t>
            </a:r>
          </a:p>
          <a:p>
            <a:pPr algn="l">
              <a:lnSpc>
                <a:spcPct val="100000"/>
              </a:lnSpc>
            </a:pPr>
            <a:r>
              <a:rPr sz="800" b="0" i="0">
                <a:solidFill>
                  <a:srgbClr val="ECE7DC"/>
                </a:solidFill>
                <a:latin typeface="Consolas"/>
              </a:rPr>
              <a:t>    │   ├── compact_mode.py</a:t>
            </a:r>
          </a:p>
          <a:p>
            <a:pPr algn="l">
              <a:lnSpc>
                <a:spcPct val="100000"/>
              </a:lnSpc>
            </a:pPr>
            <a:r>
              <a:rPr sz="800" b="0" i="0">
                <a:solidFill>
                  <a:srgbClr val="ECE7DC"/>
                </a:solidFill>
                <a:latin typeface="Consolas"/>
              </a:rPr>
              <a:t>    │   ├── config.json</a:t>
            </a:r>
          </a:p>
          <a:p>
            <a:pPr algn="l">
              <a:lnSpc>
                <a:spcPct val="100000"/>
              </a:lnSpc>
            </a:pPr>
            <a:r>
              <a:rPr sz="800" b="0" i="0">
                <a:solidFill>
                  <a:srgbClr val="ECE7DC"/>
                </a:solidFill>
                <a:latin typeface="Consolas"/>
              </a:rPr>
              <a:t>    │   ├── config_loader.py</a:t>
            </a:r>
          </a:p>
          <a:p>
            <a:pPr algn="l">
              <a:lnSpc>
                <a:spcPct val="100000"/>
              </a:lnSpc>
            </a:pPr>
            <a:r>
              <a:rPr sz="800" b="0" i="0">
                <a:solidFill>
                  <a:srgbClr val="ECE7DC"/>
                </a:solidFill>
                <a:latin typeface="Consolas"/>
              </a:rPr>
              <a:t>    │   ├── constants.py</a:t>
            </a:r>
          </a:p>
          <a:p>
            <a:pPr algn="l">
              <a:lnSpc>
                <a:spcPct val="100000"/>
              </a:lnSpc>
            </a:pPr>
            <a:r>
              <a:rPr sz="800" b="0" i="0">
                <a:solidFill>
                  <a:srgbClr val="ECE7DC"/>
                </a:solidFill>
                <a:latin typeface="Consolas"/>
              </a:rPr>
              <a:t>    │   ├── consumers.py</a:t>
            </a:r>
          </a:p>
          <a:p>
            <a:pPr algn="l">
              <a:lnSpc>
                <a:spcPct val="100000"/>
              </a:lnSpc>
            </a:pPr>
            <a:r>
              <a:rPr sz="800" b="0" i="0">
                <a:solidFill>
                  <a:srgbClr val="ECE7DC"/>
                </a:solidFill>
                <a:latin typeface="Consolas"/>
              </a:rPr>
              <a:t>    │   ├── contacts.py</a:t>
            </a:r>
          </a:p>
          <a:p>
            <a:pPr algn="l">
              <a:lnSpc>
                <a:spcPct val="100000"/>
              </a:lnSpc>
            </a:pPr>
            <a:r>
              <a:rPr sz="800" b="0" i="0">
                <a:solidFill>
                  <a:srgbClr val="ECE7DC"/>
                </a:solidFill>
                <a:latin typeface="Consolas"/>
              </a:rPr>
              <a:t>    │   ├── context_baseline.py</a:t>
            </a:r>
          </a:p>
          <a:p>
            <a:pPr algn="l">
              <a:lnSpc>
                <a:spcPct val="100000"/>
              </a:lnSpc>
            </a:pPr>
            <a:r>
              <a:rPr sz="800" b="0" i="0">
                <a:solidFill>
                  <a:srgbClr val="ECE7DC"/>
                </a:solidFill>
                <a:latin typeface="Consolas"/>
              </a:rPr>
              <a:t>    │   ├── context_fitter.py</a:t>
            </a:r>
          </a:p>
          <a:p>
            <a:pPr algn="l">
              <a:lnSpc>
                <a:spcPct val="100000"/>
              </a:lnSpc>
            </a:pPr>
            <a:r>
              <a:rPr sz="800" b="0" i="0">
                <a:solidFill>
                  <a:srgbClr val="ECE7DC"/>
                </a:solidFill>
                <a:latin typeface="Consolas"/>
              </a:rPr>
              <a:t>    │   ├── context_governor.py</a:t>
            </a:r>
          </a:p>
          <a:p>
            <a:pPr algn="l">
              <a:lnSpc>
                <a:spcPct val="100000"/>
              </a:lnSpc>
            </a:pPr>
            <a:r>
              <a:rPr sz="800" b="0" i="0">
                <a:solidFill>
                  <a:srgbClr val="ECE7DC"/>
                </a:solidFill>
                <a:latin typeface="Consolas"/>
              </a:rPr>
              <a:t>    │   ├── context_sidecar_timeout.py</a:t>
            </a:r>
          </a:p>
          <a:p>
            <a:pPr algn="l">
              <a:lnSpc>
                <a:spcPct val="100000"/>
              </a:lnSpc>
            </a:pPr>
            <a:r>
              <a:rPr sz="800" b="0" i="0">
                <a:solidFill>
                  <a:srgbClr val="ECE7DC"/>
                </a:solidFill>
                <a:latin typeface="Consolas"/>
              </a:rPr>
              <a:t>    │   ├── embedding_memory_guard.py</a:t>
            </a:r>
          </a:p>
          <a:p>
            <a:pPr algn="l">
              <a:lnSpc>
                <a:spcPct val="100000"/>
              </a:lnSpc>
            </a:pPr>
            <a:r>
              <a:rPr sz="800" b="0" i="0">
                <a:solidFill>
                  <a:srgbClr val="ECE7DC"/>
                </a:solidFill>
                <a:latin typeface="Consolas"/>
              </a:rPr>
              <a:t>    │   ├── exec_permission.py</a:t>
            </a:r>
          </a:p>
          <a:p>
            <a:pPr algn="l">
              <a:lnSpc>
                <a:spcPct val="100000"/>
              </a:lnSpc>
            </a:pPr>
            <a:r>
              <a:rPr sz="800" b="0" i="0">
                <a:solidFill>
                  <a:srgbClr val="ECE7DC"/>
                </a:solidFill>
                <a:latin typeface="Consolas"/>
              </a:rPr>
              <a:t>    │   ├── external_mcp_defaults.py</a:t>
            </a:r>
          </a:p>
          <a:p>
            <a:pPr algn="l">
              <a:lnSpc>
                <a:spcPct val="100000"/>
              </a:lnSpc>
            </a:pPr>
            <a:r>
              <a:rPr sz="800" b="0" i="0">
                <a:solidFill>
                  <a:srgbClr val="ECE7DC"/>
                </a:solidFill>
                <a:latin typeface="Consolas"/>
              </a:rPr>
              <a:t>    │   ├── external_mcp_manager.py</a:t>
            </a:r>
          </a:p>
          <a:p>
            <a:pPr algn="l">
              <a:lnSpc>
                <a:spcPct val="100000"/>
              </a:lnSpc>
            </a:pPr>
            <a:r>
              <a:rPr sz="800" b="0" i="0">
                <a:solidFill>
                  <a:srgbClr val="ECE7DC"/>
                </a:solidFill>
                <a:latin typeface="Consolas"/>
              </a:rPr>
              <a:t>    │   ├── external_mcps.json</a:t>
            </a:r>
          </a:p>
          <a:p>
            <a:pPr algn="l">
              <a:lnSpc>
                <a:spcPct val="100000"/>
              </a:lnSpc>
            </a:pPr>
            <a:r>
              <a:rPr sz="800" b="0" i="0">
                <a:solidFill>
                  <a:srgbClr val="ECE7DC"/>
                </a:solidFill>
                <a:latin typeface="Consolas"/>
              </a:rPr>
              <a:t>    │   ├── filesearch.proto</a:t>
            </a:r>
          </a:p>
          <a:p>
            <a:pPr algn="l">
              <a:lnSpc>
                <a:spcPct val="100000"/>
              </a:lnSpc>
            </a:pPr>
            <a:r>
              <a:rPr sz="800" b="0" i="0">
                <a:solidFill>
                  <a:srgbClr val="ECE7DC"/>
                </a:solidFill>
                <a:latin typeface="Consolas"/>
              </a:rPr>
              <a:t>    │   ├── filesearch_pb2.py</a:t>
            </a:r>
          </a:p>
          <a:p>
            <a:pPr algn="l">
              <a:lnSpc>
                <a:spcPct val="100000"/>
              </a:lnSpc>
            </a:pPr>
            <a:r>
              <a:rPr sz="800" b="0" i="0">
                <a:solidFill>
                  <a:srgbClr val="ECE7DC"/>
                </a:solidFill>
                <a:latin typeface="Consolas"/>
              </a:rPr>
              <a:t>    │   ├── filesearch_pb2_grpc.py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flow_file_open.py</a:t>
            </a:r>
          </a:p>
          <a:p>
            <a:pPr algn="l">
              <a:lnSpc>
                <a:spcPct val="100000"/>
              </a:lnSpc>
            </a:pPr>
            <a:r>
              <a:rPr sz="800" b="0" i="0">
                <a:solidFill>
                  <a:srgbClr val="ECE7DC"/>
                </a:solidFill>
                <a:latin typeface="Consolas"/>
              </a:rPr>
              <a:t>    │   ├── flow_file_views.py</a:t>
            </a:r>
          </a:p>
          <a:p>
            <a:pPr algn="l">
              <a:lnSpc>
                <a:spcPct val="100000"/>
              </a:lnSpc>
            </a:pPr>
            <a:r>
              <a:rPr sz="800" b="0" i="0">
                <a:solidFill>
                  <a:srgbClr val="ECE7DC"/>
                </a:solidFill>
                <a:latin typeface="Consolas"/>
              </a:rPr>
              <a:t>    │   ├── global_execution_planner.py</a:t>
            </a:r>
          </a:p>
          <a:p>
            <a:pPr algn="l">
              <a:lnSpc>
                <a:spcPct val="100000"/>
              </a:lnSpc>
            </a:pPr>
            <a:r>
              <a:rPr sz="800" b="0" i="0">
                <a:solidFill>
                  <a:srgbClr val="ECE7DC"/>
                </a:solidFill>
                <a:latin typeface="Consolas"/>
              </a:rPr>
              <a:t>    │   ├── global_state.py</a:t>
            </a:r>
          </a:p>
          <a:p>
            <a:pPr algn="l">
              <a:lnSpc>
                <a:spcPct val="100000"/>
              </a:lnSpc>
            </a:pPr>
            <a:r>
              <a:rPr sz="800" b="0" i="0">
                <a:solidFill>
                  <a:srgbClr val="ECE7DC"/>
                </a:solidFill>
                <a:latin typeface="Consolas"/>
              </a:rPr>
              <a:t>    │   ├── gpu_perf.py</a:t>
            </a:r>
          </a:p>
          <a:p>
            <a:pPr algn="l">
              <a:lnSpc>
                <a:spcPct val="100000"/>
              </a:lnSpc>
            </a:pPr>
            <a:r>
              <a:rPr sz="800" b="0" i="0">
                <a:solidFill>
                  <a:srgbClr val="ECE7DC"/>
                </a:solidFill>
                <a:latin typeface="Consolas"/>
              </a:rPr>
              <a:t>    │   ├── inet_determiner.py</a:t>
            </a:r>
          </a:p>
          <a:p>
            <a:pPr algn="l">
              <a:lnSpc>
                <a:spcPct val="100000"/>
              </a:lnSpc>
            </a:pPr>
            <a:r>
              <a:rPr sz="800" b="0" i="0">
                <a:solidFill>
                  <a:srgbClr val="ECE7DC"/>
                </a:solidFill>
                <a:latin typeface="Consolas"/>
              </a:rPr>
              <a:t>    │   ├── interaction_narration.py</a:t>
            </a:r>
          </a:p>
          <a:p>
            <a:pPr algn="l">
              <a:lnSpc>
                <a:spcPct val="100000"/>
              </a:lnSpc>
            </a:pPr>
            <a:r>
              <a:rPr sz="800" b="0" i="0">
                <a:solidFill>
                  <a:srgbClr val="ECE7DC"/>
                </a:solidFill>
                <a:latin typeface="Consolas"/>
              </a:rPr>
              <a:t>    │   ├── interaction_settings.py</a:t>
            </a:r>
          </a:p>
          <a:p>
            <a:pPr algn="l">
              <a:lnSpc>
                <a:spcPct val="100000"/>
              </a:lnSpc>
            </a:pPr>
            <a:r>
              <a:rPr sz="800" b="0" i="0">
                <a:solidFill>
                  <a:srgbClr val="ECE7DC"/>
                </a:solidFill>
                <a:latin typeface="Consolas"/>
              </a:rPr>
              <a:t>    │   ├── llm_timing.py</a:t>
            </a:r>
          </a:p>
          <a:p>
            <a:pPr algn="l">
              <a:lnSpc>
                <a:spcPct val="100000"/>
              </a:lnSpc>
            </a:pPr>
            <a:r>
              <a:rPr sz="800" b="0" i="0">
                <a:solidFill>
                  <a:srgbClr val="ECE7DC"/>
                </a:solidFill>
                <a:latin typeface="Consolas"/>
              </a:rPr>
              <a:t>    │   ├── local_toolcall_parser.py</a:t>
            </a:r>
          </a:p>
          <a:p>
            <a:pPr algn="l">
              <a:lnSpc>
                <a:spcPct val="100000"/>
              </a:lnSpc>
            </a:pPr>
            <a:r>
              <a:rPr sz="800" b="0" i="0">
                <a:solidFill>
                  <a:srgbClr val="ECE7DC"/>
                </a:solidFill>
                <a:latin typeface="Consolas"/>
              </a:rPr>
              <a:t>    │   ├── log_identity.py</a:t>
            </a:r>
          </a:p>
          <a:p>
            <a:pPr algn="l">
              <a:lnSpc>
                <a:spcPct val="100000"/>
              </a:lnSpc>
            </a:pPr>
            <a:r>
              <a:rPr sz="800" b="0" i="0">
                <a:solidFill>
                  <a:srgbClr val="ECE7DC"/>
                </a:solidFill>
                <a:latin typeface="Consolas"/>
              </a:rPr>
              <a:t>    │   ├── mcp_agent.py</a:t>
            </a:r>
          </a:p>
          <a:p>
            <a:pPr algn="l">
              <a:lnSpc>
                <a:spcPct val="100000"/>
              </a:lnSpc>
            </a:pPr>
            <a:r>
              <a:rPr sz="800" b="0" i="0">
                <a:solidFill>
                  <a:srgbClr val="ECE7DC"/>
                </a:solidFill>
                <a:latin typeface="Consolas"/>
              </a:rPr>
              <a:t>    │   ├── mcp_files_search_client.py</a:t>
            </a:r>
          </a:p>
          <a:p>
            <a:pPr algn="l">
              <a:lnSpc>
                <a:spcPct val="100000"/>
              </a:lnSpc>
            </a:pPr>
            <a:r>
              <a:rPr sz="800" b="0" i="0">
                <a:solidFill>
                  <a:srgbClr val="ECE7DC"/>
                </a:solidFill>
                <a:latin typeface="Consolas"/>
              </a:rPr>
              <a:t>    │   ├── mcp_files_search_server.py</a:t>
            </a:r>
          </a:p>
          <a:p>
            <a:pPr algn="l">
              <a:lnSpc>
                <a:spcPct val="100000"/>
              </a:lnSpc>
            </a:pPr>
            <a:r>
              <a:rPr sz="800" b="0" i="0">
                <a:solidFill>
                  <a:srgbClr val="ECE7DC"/>
                </a:solidFill>
                <a:latin typeface="Consolas"/>
              </a:rPr>
              <a:t>    │   ├── mcp_system_client.py</a:t>
            </a:r>
          </a:p>
          <a:p>
            <a:pPr algn="l">
              <a:lnSpc>
                <a:spcPct val="100000"/>
              </a:lnSpc>
            </a:pPr>
            <a:r>
              <a:rPr sz="800" b="0" i="0">
                <a:solidFill>
                  <a:srgbClr val="ECE7DC"/>
                </a:solidFill>
                <a:latin typeface="Consolas"/>
              </a:rPr>
              <a:t>    │   ├── mcp_system_server.py</a:t>
            </a:r>
          </a:p>
          <a:p>
            <a:pPr algn="l">
              <a:lnSpc>
                <a:spcPct val="100000"/>
              </a:lnSpc>
            </a:pPr>
            <a:r>
              <a:rPr sz="800" b="0" i="0">
                <a:solidFill>
                  <a:srgbClr val="ECE7DC"/>
                </a:solidFill>
                <a:latin typeface="Consolas"/>
              </a:rPr>
              <a:t>    │   ├── model_brain.py</a:t>
            </a:r>
          </a:p>
          <a:p>
            <a:pPr algn="l">
              <a:lnSpc>
                <a:spcPct val="100000"/>
              </a:lnSpc>
            </a:pPr>
            <a:r>
              <a:rPr sz="800" b="0" i="0">
                <a:solidFill>
                  <a:srgbClr val="ECE7DC"/>
                </a:solidFill>
                <a:latin typeface="Consolas"/>
              </a:rPr>
              <a:t>    │   ├── model_brain_chat.py</a:t>
            </a:r>
          </a:p>
          <a:p>
            <a:pPr algn="l">
              <a:lnSpc>
                <a:spcPct val="100000"/>
              </a:lnSpc>
            </a:pPr>
            <a:r>
              <a:rPr sz="800" b="0" i="0">
                <a:solidFill>
                  <a:srgbClr val="ECE7DC"/>
                </a:solidFill>
                <a:latin typeface="Consolas"/>
              </a:rPr>
              <a:t>    │   ├── model_brain_views.py</a:t>
            </a:r>
          </a:p>
          <a:p>
            <a:pPr algn="l">
              <a:lnSpc>
                <a:spcPct val="100000"/>
              </a:lnSpc>
            </a:pPr>
            <a:r>
              <a:rPr sz="800" b="0" i="0">
                <a:solidFill>
                  <a:srgbClr val="ECE7DC"/>
                </a:solidFill>
                <a:latin typeface="Consolas"/>
              </a:rPr>
              <a:t>    │   ├── model_profiles.json</a:t>
            </a:r>
          </a:p>
          <a:p>
            <a:pPr algn="l">
              <a:lnSpc>
                <a:spcPct val="100000"/>
              </a:lnSpc>
            </a:pPr>
            <a:r>
              <a:rPr sz="800" b="0" i="0">
                <a:solidFill>
                  <a:srgbClr val="ECE7DC"/>
                </a:solidFill>
                <a:latin typeface="Consolas"/>
              </a:rPr>
              <a:t>    │   ├── models.py</a:t>
            </a:r>
          </a:p>
          <a:p>
            <a:pPr algn="l">
              <a:lnSpc>
                <a:spcPct val="100000"/>
              </a:lnSpc>
            </a:pPr>
            <a:r>
              <a:rPr sz="800" b="0" i="0">
                <a:solidFill>
                  <a:srgbClr val="ECE7DC"/>
                </a:solidFill>
                <a:latin typeface="Consolas"/>
              </a:rPr>
              <a:t>    │   ├── native_dialogs.py</a:t>
            </a:r>
          </a:p>
          <a:p>
            <a:pPr algn="l">
              <a:lnSpc>
                <a:spcPct val="100000"/>
              </a:lnSpc>
            </a:pPr>
            <a:r>
              <a:rPr sz="800" b="0" i="0">
                <a:solidFill>
                  <a:srgbClr val="ECE7DC"/>
                </a:solidFill>
                <a:latin typeface="Consolas"/>
              </a:rPr>
              <a:t>    │   ├── ollama_stop.py</a:t>
            </a:r>
          </a:p>
          <a:p>
            <a:pPr algn="l">
              <a:lnSpc>
                <a:spcPct val="100000"/>
              </a:lnSpc>
            </a:pPr>
            <a:r>
              <a:rPr sz="800" b="0" i="0">
                <a:solidFill>
                  <a:srgbClr val="ECE7DC"/>
                </a:solidFill>
                <a:latin typeface="Consolas"/>
              </a:rPr>
              <a:t>    │   ├── orphan_reaper.py</a:t>
            </a:r>
          </a:p>
          <a:p>
            <a:pPr algn="l">
              <a:lnSpc>
                <a:spcPct val="100000"/>
              </a:lnSpc>
            </a:pPr>
            <a:r>
              <a:rPr sz="800" b="0" i="0">
                <a:solidFill>
                  <a:srgbClr val="ECE7DC"/>
                </a:solidFill>
                <a:latin typeface="Consolas"/>
              </a:rPr>
              <a:t>    │   ├── path_guard.py</a:t>
            </a:r>
          </a:p>
          <a:p>
            <a:pPr algn="l">
              <a:lnSpc>
                <a:spcPct val="100000"/>
              </a:lnSpc>
            </a:pPr>
            <a:r>
              <a:rPr sz="800" b="0" i="0">
                <a:solidFill>
                  <a:srgbClr val="ECE7DC"/>
                </a:solidFill>
                <a:latin typeface="Consolas"/>
              </a:rPr>
              <a:t>    │   ├── pdf_context.py</a:t>
            </a:r>
          </a:p>
          <a:p>
            <a:pPr algn="l">
              <a:lnSpc>
                <a:spcPct val="100000"/>
              </a:lnSpc>
            </a:pPr>
            <a:r>
              <a:rPr sz="800" b="0" i="0">
                <a:solidFill>
                  <a:srgbClr val="ECE7DC"/>
                </a:solidFill>
                <a:latin typeface="Consolas"/>
              </a:rPr>
              <a:t>    │   ├── pdf_context_jobs.py</a:t>
            </a:r>
          </a:p>
          <a:p>
            <a:pPr algn="l">
              <a:lnSpc>
                <a:spcPct val="100000"/>
              </a:lnSpc>
            </a:pPr>
            <a:r>
              <a:rPr sz="800" b="0" i="0">
                <a:solidFill>
                  <a:srgbClr val="ECE7DC"/>
                </a:solidFill>
                <a:latin typeface="Consolas"/>
              </a:rPr>
              <a:t>    │   ├── pdf_context_views.py</a:t>
            </a:r>
          </a:p>
          <a:p>
            <a:pPr algn="l">
              <a:lnSpc>
                <a:spcPct val="100000"/>
              </a:lnSpc>
            </a:pPr>
            <a:r>
              <a:rPr sz="800" b="0" i="0">
                <a:solidFill>
                  <a:srgbClr val="ECE7DC"/>
                </a:solidFill>
                <a:latin typeface="Consolas"/>
              </a:rPr>
              <a:t>    │   ├── pdf_image_analysis.py</a:t>
            </a:r>
          </a:p>
          <a:p>
            <a:pPr algn="l">
              <a:lnSpc>
                <a:spcPct val="100000"/>
              </a:lnSpc>
            </a:pPr>
            <a:r>
              <a:rPr sz="800" b="0" i="0">
                <a:solidFill>
                  <a:srgbClr val="ECE7DC"/>
                </a:solidFill>
                <a:latin typeface="Consolas"/>
              </a:rPr>
              <a:t>    │   ├── prompt.pmt</a:t>
            </a:r>
          </a:p>
          <a:p>
            <a:pPr algn="l">
              <a:lnSpc>
                <a:spcPct val="100000"/>
              </a:lnSpc>
            </a:pPr>
            <a:r>
              <a:rPr sz="800" b="0" i="0">
                <a:solidFill>
                  <a:srgbClr val="ECE7DC"/>
                </a:solidFill>
                <a:latin typeface="Consolas"/>
              </a:rPr>
              <a:t>    │   ├── prompt_flow_panel_consumer.py</a:t>
            </a:r>
          </a:p>
          <a:p>
            <a:pPr algn="l">
              <a:lnSpc>
                <a:spcPct val="100000"/>
              </a:lnSpc>
            </a:pPr>
            <a:r>
              <a:rPr sz="800" b="0" i="0">
                <a:solidFill>
                  <a:srgbClr val="ECE7DC"/>
                </a:solidFill>
                <a:latin typeface="Consolas"/>
              </a:rPr>
              <a:t>    │   ├── prompt_flow_panel_runtime.py</a:t>
            </a:r>
          </a:p>
          <a:p>
            <a:pPr algn="l">
              <a:lnSpc>
                <a:spcPct val="100000"/>
              </a:lnSpc>
            </a:pPr>
            <a:r>
              <a:rPr sz="800" b="0" i="0">
                <a:solidFill>
                  <a:srgbClr val="ECE7DC"/>
                </a:solidFill>
                <a:latin typeface="Consolas"/>
              </a:rPr>
              <a:t>    │   ├── rag_enhancements.py</a:t>
            </a:r>
          </a:p>
          <a:p>
            <a:pPr algn="l">
              <a:lnSpc>
                <a:spcPct val="100000"/>
              </a:lnSpc>
            </a:pPr>
            <a:r>
              <a:rPr sz="800" b="0" i="0">
                <a:solidFill>
                  <a:srgbClr val="ECE7DC"/>
                </a:solidFill>
                <a:latin typeface="Consolas"/>
              </a:rPr>
              <a:t>    │   ├── routing.py</a:t>
            </a:r>
          </a:p>
          <a:p>
            <a:pPr algn="l">
              <a:lnSpc>
                <a:spcPct val="100000"/>
              </a:lnSpc>
            </a:pPr>
            <a:r>
              <a:rPr sz="800" b="0" i="0">
                <a:solidFill>
                  <a:srgbClr val="ECE7DC"/>
                </a:solidFill>
                <a:latin typeface="Consolas"/>
              </a:rPr>
              <a:t>    │   ├── run_db_wal_tests.ps1</a:t>
            </a:r>
          </a:p>
          <a:p>
            <a:pPr algn="l">
              <a:lnSpc>
                <a:spcPct val="100000"/>
              </a:lnSpc>
            </a:pPr>
            <a:r>
              <a:rPr sz="800" b="0" i="0">
                <a:solidFill>
                  <a:srgbClr val="ECE7DC"/>
                </a:solidFill>
                <a:latin typeface="Consolas"/>
              </a:rPr>
              <a:t>    │   ├── runtime_provisioner.py</a:t>
            </a:r>
          </a:p>
          <a:p>
            <a:pPr algn="l">
              <a:lnSpc>
                <a:spcPct val="100000"/>
              </a:lnSpc>
            </a:pPr>
            <a:r>
              <a:rPr sz="800" b="0" i="0">
                <a:solidFill>
                  <a:srgbClr val="ECE7DC"/>
                </a:solidFill>
                <a:latin typeface="Consolas"/>
              </a:rPr>
              <a:t>    │   ├── self_healing.py</a:t>
            </a:r>
          </a:p>
          <a:p>
            <a:pPr algn="l">
              <a:lnSpc>
                <a:spcPct val="100000"/>
              </a:lnSpc>
            </a:pPr>
            <a:r>
              <a:rPr sz="800" b="0" i="0">
                <a:solidFill>
                  <a:srgbClr val="ECE7DC"/>
                </a:solidFill>
                <a:latin typeface="Consolas"/>
              </a:rPr>
              <a:t>    │   ├── self_update.py</a:t>
            </a:r>
          </a:p>
          <a:p>
            <a:pPr algn="l">
              <a:lnSpc>
                <a:spcPct val="100000"/>
              </a:lnSpc>
            </a:pPr>
            <a:r>
              <a:rPr sz="800" b="0" i="0">
                <a:solidFill>
                  <a:srgbClr val="ECE7DC"/>
                </a:solidFill>
                <a:latin typeface="Consolas"/>
              </a:rPr>
              <a:t>    │   ├── sqlite_copy.py</a:t>
            </a:r>
          </a:p>
          <a:p>
            <a:pPr algn="l">
              <a:lnSpc>
                <a:spcPct val="100000"/>
              </a:lnSpc>
            </a:pPr>
            <a:r>
              <a:rPr sz="800" b="0" i="0">
                <a:solidFill>
                  <a:srgbClr val="ECE7DC"/>
                </a:solidFill>
                <a:latin typeface="Consolas"/>
              </a:rPr>
              <a:t>    │   ├── terminal_consumer.py</a:t>
            </a:r>
          </a:p>
          <a:p>
            <a:pPr algn="l">
              <a:lnSpc>
                <a:spcPct val="100000"/>
              </a:lnSpc>
            </a:pPr>
            <a:r>
              <a:rPr sz="800" b="0" i="0">
                <a:solidFill>
                  <a:srgbClr val="ECE7DC"/>
                </a:solidFill>
                <a:latin typeface="Consolas"/>
              </a:rPr>
              <a:t>    │   ├── terminal_guard.py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179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6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terminal_hub.py</a:t>
            </a:r>
          </a:p>
          <a:p>
            <a:pPr algn="l">
              <a:lnSpc>
                <a:spcPct val="100000"/>
              </a:lnSpc>
            </a:pPr>
            <a:r>
              <a:rPr sz="800" b="0" i="0">
                <a:solidFill>
                  <a:srgbClr val="ECE7DC"/>
                </a:solidFill>
                <a:latin typeface="Consolas"/>
              </a:rPr>
              <a:t>    │   ├── terminal_views.py</a:t>
            </a:r>
          </a:p>
          <a:p>
            <a:pPr algn="l">
              <a:lnSpc>
                <a:spcPct val="100000"/>
              </a:lnSpc>
            </a:pPr>
            <a:r>
              <a:rPr sz="800" b="0" i="0">
                <a:solidFill>
                  <a:srgbClr val="ECE7DC"/>
                </a:solidFill>
                <a:latin typeface="Consolas"/>
              </a:rPr>
              <a:t>    │   ├── terminater_testkit.py</a:t>
            </a:r>
          </a:p>
          <a:p>
            <a:pPr algn="l">
              <a:lnSpc>
                <a:spcPct val="100000"/>
              </a:lnSpc>
            </a:pPr>
            <a:r>
              <a:rPr sz="800" b="0" i="0">
                <a:solidFill>
                  <a:srgbClr val="ECE7DC"/>
                </a:solidFill>
                <a:latin typeface="Consolas"/>
              </a:rPr>
              <a:t>    │   ├── terminater_tool.py</a:t>
            </a:r>
          </a:p>
          <a:p>
            <a:pPr algn="l">
              <a:lnSpc>
                <a:spcPct val="100000"/>
              </a:lnSpc>
            </a:pPr>
            <a:r>
              <a:rPr sz="800" b="0" i="0">
                <a:solidFill>
                  <a:srgbClr val="ECE7DC"/>
                </a:solidFill>
                <a:latin typeface="Consolas"/>
              </a:rPr>
              <a:t>    │   ├── test_access_key_wizard.py</a:t>
            </a:r>
          </a:p>
          <a:p>
            <a:pPr algn="l">
              <a:lnSpc>
                <a:spcPct val="100000"/>
              </a:lnSpc>
            </a:pPr>
            <a:r>
              <a:rPr sz="800" b="0" i="0">
                <a:solidFill>
                  <a:srgbClr val="ECE7DC"/>
                </a:solidFill>
                <a:latin typeface="Consolas"/>
              </a:rPr>
              <a:t>    │   ├── test_agent_display_names.py</a:t>
            </a:r>
          </a:p>
          <a:p>
            <a:pPr algn="l">
              <a:lnSpc>
                <a:spcPct val="100000"/>
              </a:lnSpc>
            </a:pPr>
            <a:r>
              <a:rPr sz="800" b="0" i="0">
                <a:solidFill>
                  <a:srgbClr val="ECE7DC"/>
                </a:solidFill>
                <a:latin typeface="Consolas"/>
              </a:rPr>
              <a:t>    │   ├── test_agent_manifest.py</a:t>
            </a:r>
          </a:p>
          <a:p>
            <a:pPr algn="l">
              <a:lnSpc>
                <a:spcPct val="100000"/>
              </a:lnSpc>
            </a:pPr>
            <a:r>
              <a:rPr sz="800" b="0" i="0">
                <a:solidFill>
                  <a:srgbClr val="ECE7DC"/>
                </a:solidFill>
                <a:latin typeface="Consolas"/>
              </a:rPr>
              <a:t>    │   ├── test_agent_verdict.py</a:t>
            </a:r>
          </a:p>
          <a:p>
            <a:pPr algn="l">
              <a:lnSpc>
                <a:spcPct val="100000"/>
              </a:lnSpc>
            </a:pPr>
            <a:r>
              <a:rPr sz="800" b="0" i="0">
                <a:solidFill>
                  <a:srgbClr val="ECE7DC"/>
                </a:solidFill>
                <a:latin typeface="Consolas"/>
              </a:rPr>
              <a:t>    │   ├── test_agents_see_hidden_dirs.py</a:t>
            </a:r>
          </a:p>
          <a:p>
            <a:pPr algn="l">
              <a:lnSpc>
                <a:spcPct val="100000"/>
              </a:lnSpc>
            </a:pPr>
            <a:r>
              <a:rPr sz="800" b="0" i="0">
                <a:solidFill>
                  <a:srgbClr val="ECE7DC"/>
                </a:solidFill>
                <a:latin typeface="Consolas"/>
              </a:rPr>
              <a:t>    │   ├── test_arduiner_agent.py</a:t>
            </a:r>
          </a:p>
          <a:p>
            <a:pPr algn="l">
              <a:lnSpc>
                <a:spcPct val="100000"/>
              </a:lnSpc>
            </a:pPr>
            <a:r>
              <a:rPr sz="800" b="0" i="0">
                <a:solidFill>
                  <a:srgbClr val="ECE7DC"/>
                </a:solidFill>
                <a:latin typeface="Consolas"/>
              </a:rPr>
              <a:t>    │   ├── test_ask_execs_allowlist.py</a:t>
            </a:r>
          </a:p>
          <a:p>
            <a:pPr algn="l">
              <a:lnSpc>
                <a:spcPct val="100000"/>
              </a:lnSpc>
            </a:pPr>
            <a:r>
              <a:rPr sz="800" b="0" i="0">
                <a:solidFill>
                  <a:srgbClr val="ECE7DC"/>
                </a:solidFill>
                <a:latin typeface="Consolas"/>
              </a:rPr>
              <a:t>    │   ├── test_audioplayer_agent.py</a:t>
            </a:r>
          </a:p>
          <a:p>
            <a:pPr algn="l">
              <a:lnSpc>
                <a:spcPct val="100000"/>
              </a:lnSpc>
            </a:pPr>
            <a:r>
              <a:rPr sz="800" b="0" i="0">
                <a:solidFill>
                  <a:srgbClr val="ECE7DC"/>
                </a:solidFill>
                <a:latin typeface="Consolas"/>
              </a:rPr>
              <a:t>    │   ├── test_binary_guard.py</a:t>
            </a:r>
          </a:p>
          <a:p>
            <a:pPr algn="l">
              <a:lnSpc>
                <a:spcPct val="100000"/>
              </a:lnSpc>
            </a:pPr>
            <a:r>
              <a:rPr sz="800" b="0" i="0">
                <a:solidFill>
                  <a:srgbClr val="ECE7DC"/>
                </a:solidFill>
                <a:latin typeface="Consolas"/>
              </a:rPr>
              <a:t>    │   ├── test_blenderer_agent.py</a:t>
            </a:r>
          </a:p>
          <a:p>
            <a:pPr algn="l">
              <a:lnSpc>
                <a:spcPct val="100000"/>
              </a:lnSpc>
            </a:pPr>
            <a:r>
              <a:rPr sz="800" b="0" i="0">
                <a:solidFill>
                  <a:srgbClr val="ECE7DC"/>
                </a:solidFill>
                <a:latin typeface="Consolas"/>
              </a:rPr>
              <a:t>    │   ├── test_build_env.py</a:t>
            </a:r>
          </a:p>
          <a:p>
            <a:pPr algn="l">
              <a:lnSpc>
                <a:spcPct val="100000"/>
              </a:lnSpc>
            </a:pPr>
            <a:r>
              <a:rPr sz="800" b="0" i="0">
                <a:solidFill>
                  <a:srgbClr val="ECE7DC"/>
                </a:solidFill>
                <a:latin typeface="Consolas"/>
              </a:rPr>
              <a:t>    │   ├── test_build_pip_quiet.py</a:t>
            </a:r>
          </a:p>
          <a:p>
            <a:pPr algn="l">
              <a:lnSpc>
                <a:spcPct val="100000"/>
              </a:lnSpc>
            </a:pPr>
            <a:r>
              <a:rPr sz="800" b="0" i="0">
                <a:solidFill>
                  <a:srgbClr val="ECE7DC"/>
                </a:solidFill>
                <a:latin typeface="Consolas"/>
              </a:rPr>
              <a:t>    │   ├── test_build_root_assets.py</a:t>
            </a:r>
          </a:p>
          <a:p>
            <a:pPr algn="l">
              <a:lnSpc>
                <a:spcPct val="100000"/>
              </a:lnSpc>
            </a:pPr>
            <a:r>
              <a:rPr sz="800" b="0" i="0">
                <a:solidFill>
                  <a:srgbClr val="ECE7DC"/>
                </a:solidFill>
                <a:latin typeface="Consolas"/>
              </a:rPr>
              <a:t>    │   ├── test_build_scripts.py</a:t>
            </a:r>
          </a:p>
          <a:p>
            <a:pPr algn="l">
              <a:lnSpc>
                <a:spcPct val="100000"/>
              </a:lnSpc>
            </a:pPr>
            <a:r>
              <a:rPr sz="800" b="0" i="0">
                <a:solidFill>
                  <a:srgbClr val="ECE7DC"/>
                </a:solidFill>
                <a:latin typeface="Consolas"/>
              </a:rPr>
              <a:t>    │   ├── test_camcorder_agent.py</a:t>
            </a:r>
          </a:p>
          <a:p>
            <a:pPr algn="l">
              <a:lnSpc>
                <a:spcPct val="100000"/>
              </a:lnSpc>
            </a:pPr>
            <a:r>
              <a:rPr sz="800" b="0" i="0">
                <a:solidFill>
                  <a:srgbClr val="ECE7DC"/>
                </a:solidFill>
                <a:latin typeface="Consolas"/>
              </a:rPr>
              <a:t>    │   ├── test_cancellation.py</a:t>
            </a:r>
          </a:p>
          <a:p>
            <a:pPr algn="l">
              <a:lnSpc>
                <a:spcPct val="100000"/>
              </a:lnSpc>
            </a:pPr>
            <a:r>
              <a:rPr sz="800" b="0" i="0">
                <a:solidFill>
                  <a:srgbClr val="ECE7DC"/>
                </a:solidFill>
                <a:latin typeface="Consolas"/>
              </a:rPr>
              <a:t>    │   ├── test_canvas_file_views.py</a:t>
            </a:r>
          </a:p>
          <a:p>
            <a:pPr algn="l">
              <a:lnSpc>
                <a:spcPct val="100000"/>
              </a:lnSpc>
            </a:pPr>
            <a:r>
              <a:rPr sz="800" b="0" i="0">
                <a:solidFill>
                  <a:srgbClr val="ECE7DC"/>
                </a:solidFill>
                <a:latin typeface="Consolas"/>
              </a:rPr>
              <a:t>    │   ├── test_catalog_pruning.py</a:t>
            </a:r>
          </a:p>
          <a:p>
            <a:pPr algn="l">
              <a:lnSpc>
                <a:spcPct val="100000"/>
              </a:lnSpc>
            </a:pPr>
            <a:r>
              <a:rPr sz="800" b="0" i="0">
                <a:solidFill>
                  <a:srgbClr val="ECE7DC"/>
                </a:solidFill>
                <a:latin typeface="Consolas"/>
              </a:rPr>
              <a:t>    │   ├── test_chain_readiness.py</a:t>
            </a:r>
          </a:p>
          <a:p>
            <a:pPr algn="l">
              <a:lnSpc>
                <a:spcPct val="100000"/>
              </a:lnSpc>
            </a:pPr>
            <a:r>
              <a:rPr sz="800" b="0" i="0">
                <a:solidFill>
                  <a:srgbClr val="ECE7DC"/>
                </a:solidFill>
                <a:latin typeface="Consolas"/>
              </a:rPr>
              <a:t>    │   ├── test_chat_agent_run_wait.py</a:t>
            </a:r>
          </a:p>
          <a:p>
            <a:pPr algn="l">
              <a:lnSpc>
                <a:spcPct val="100000"/>
              </a:lnSpc>
            </a:pPr>
            <a:r>
              <a:rPr sz="800" b="0" i="0">
                <a:solidFill>
                  <a:srgbClr val="ECE7DC"/>
                </a:solidFill>
                <a:latin typeface="Consolas"/>
              </a:rPr>
              <a:t>    │   ├── test_chat_bridge_bots.py</a:t>
            </a:r>
          </a:p>
          <a:p>
            <a:pPr algn="l">
              <a:lnSpc>
                <a:spcPct val="100000"/>
              </a:lnSpc>
            </a:pPr>
            <a:r>
              <a:rPr sz="800" b="0" i="0">
                <a:solidFill>
                  <a:srgbClr val="ECE7DC"/>
                </a:solidFill>
                <a:latin typeface="Consolas"/>
              </a:rPr>
              <a:t>    │   ├── test_chat_history_window.py</a:t>
            </a:r>
          </a:p>
          <a:p>
            <a:pPr algn="l">
              <a:lnSpc>
                <a:spcPct val="100000"/>
              </a:lnSpc>
            </a:pPr>
            <a:r>
              <a:rPr sz="800" b="0" i="0">
                <a:solidFill>
                  <a:srgbClr val="ECE7DC"/>
                </a:solidFill>
                <a:latin typeface="Consolas"/>
              </a:rPr>
              <a:t>    │   ├── test_chat_voice.py</a:t>
            </a:r>
          </a:p>
          <a:p>
            <a:pPr algn="l">
              <a:lnSpc>
                <a:spcPct val="100000"/>
              </a:lnSpc>
            </a:pPr>
            <a:r>
              <a:rPr sz="800" b="0" i="0">
                <a:solidFill>
                  <a:srgbClr val="ECE7DC"/>
                </a:solidFill>
                <a:latin typeface="Consolas"/>
              </a:rPr>
              <a:t>    │   ├── test_checkbox_bulk_toggle.py</a:t>
            </a:r>
          </a:p>
          <a:p>
            <a:pPr algn="l">
              <a:lnSpc>
                <a:spcPct val="100000"/>
              </a:lnSpc>
            </a:pPr>
            <a:r>
              <a:rPr sz="800" b="0" i="0">
                <a:solidFill>
                  <a:srgbClr val="ECE7DC"/>
                </a:solidFill>
                <a:latin typeface="Consolas"/>
              </a:rPr>
              <a:t>    │   ├── test_command_watchdog.py</a:t>
            </a:r>
          </a:p>
          <a:p>
            <a:pPr algn="l">
              <a:lnSpc>
                <a:spcPct val="100000"/>
              </a:lnSpc>
            </a:pPr>
            <a:r>
              <a:rPr sz="800" b="0" i="0">
                <a:solidFill>
                  <a:srgbClr val="ECE7DC"/>
                </a:solidFill>
                <a:latin typeface="Consolas"/>
              </a:rPr>
              <a:t>    │   ├── test_compact_mode_pingpong.py</a:t>
            </a:r>
          </a:p>
          <a:p>
            <a:pPr algn="l">
              <a:lnSpc>
                <a:spcPct val="100000"/>
              </a:lnSpc>
            </a:pPr>
            <a:r>
              <a:rPr sz="800" b="0" i="0">
                <a:solidFill>
                  <a:srgbClr val="ECE7DC"/>
                </a:solidFill>
                <a:latin typeface="Consolas"/>
              </a:rPr>
              <a:t>    │   ├── test_compact_mode_switch.py</a:t>
            </a:r>
          </a:p>
          <a:p>
            <a:pPr algn="l">
              <a:lnSpc>
                <a:spcPct val="100000"/>
              </a:lnSpc>
            </a:pPr>
            <a:r>
              <a:rPr sz="800" b="0" i="0">
                <a:solidFill>
                  <a:srgbClr val="ECE7DC"/>
                </a:solidFill>
                <a:latin typeface="Consolas"/>
              </a:rPr>
              <a:t>    │   ├── test_configure_dialog_initial_ticks.py</a:t>
            </a:r>
          </a:p>
          <a:p>
            <a:pPr algn="l">
              <a:lnSpc>
                <a:spcPct val="100000"/>
              </a:lnSpc>
            </a:pPr>
            <a:r>
              <a:rPr sz="800" b="0" i="0">
                <a:solidFill>
                  <a:srgbClr val="ECE7DC"/>
                </a:solidFill>
                <a:latin typeface="Consolas"/>
              </a:rPr>
              <a:t>    │   ├── test_console_colors.py</a:t>
            </a:r>
          </a:p>
          <a:p>
            <a:pPr algn="l">
              <a:lnSpc>
                <a:spcPct val="100000"/>
              </a:lnSpc>
            </a:pPr>
            <a:r>
              <a:rPr sz="800" b="0" i="0">
                <a:solidFill>
                  <a:srgbClr val="ECE7DC"/>
                </a:solidFill>
                <a:latin typeface="Consolas"/>
              </a:rPr>
              <a:t>    │   ├── test_console_shield.py</a:t>
            </a:r>
          </a:p>
          <a:p>
            <a:pPr algn="l">
              <a:lnSpc>
                <a:spcPct val="100000"/>
              </a:lnSpc>
            </a:pPr>
            <a:r>
              <a:rPr sz="800" b="0" i="0">
                <a:solidFill>
                  <a:srgbClr val="ECE7DC"/>
                </a:solidFill>
                <a:latin typeface="Consolas"/>
              </a:rPr>
              <a:t>    │   ├── test_contacts.py</a:t>
            </a:r>
          </a:p>
          <a:p>
            <a:pPr algn="l">
              <a:lnSpc>
                <a:spcPct val="100000"/>
              </a:lnSpc>
            </a:pPr>
            <a:r>
              <a:rPr sz="800" b="0" i="0">
                <a:solidFill>
                  <a:srgbClr val="ECE7DC"/>
                </a:solidFill>
                <a:latin typeface="Consolas"/>
              </a:rPr>
              <a:t>    │   ├── test_context_governor.py</a:t>
            </a:r>
          </a:p>
          <a:p>
            <a:pPr algn="l">
              <a:lnSpc>
                <a:spcPct val="100000"/>
              </a:lnSpc>
            </a:pPr>
            <a:r>
              <a:rPr sz="800" b="0" i="0">
                <a:solidFill>
                  <a:srgbClr val="ECE7DC"/>
                </a:solidFill>
                <a:latin typeface="Consolas"/>
              </a:rPr>
              <a:t>    │   ├── test_context_real_tokens.py</a:t>
            </a:r>
          </a:p>
          <a:p>
            <a:pPr algn="l">
              <a:lnSpc>
                <a:spcPct val="100000"/>
              </a:lnSpc>
            </a:pPr>
            <a:r>
              <a:rPr sz="800" b="0" i="0">
                <a:solidFill>
                  <a:srgbClr val="ECE7DC"/>
                </a:solidFill>
                <a:latin typeface="Consolas"/>
              </a:rPr>
              <a:t>    │   ├── test_context_restore_spinner.py</a:t>
            </a:r>
          </a:p>
          <a:p>
            <a:pPr algn="l">
              <a:lnSpc>
                <a:spcPct val="100000"/>
              </a:lnSpc>
            </a:pPr>
            <a:r>
              <a:rPr sz="800" b="0" i="0">
                <a:solidFill>
                  <a:srgbClr val="ECE7DC"/>
                </a:solidFill>
                <a:latin typeface="Consolas"/>
              </a:rPr>
              <a:t>    │   ├── test_context_sidecar_timeout.py</a:t>
            </a:r>
          </a:p>
          <a:p>
            <a:pPr algn="l">
              <a:lnSpc>
                <a:spcPct val="100000"/>
              </a:lnSpc>
            </a:pPr>
            <a:r>
              <a:rPr sz="800" b="0" i="0">
                <a:solidFill>
                  <a:srgbClr val="ECE7DC"/>
                </a:solidFill>
                <a:latin typeface="Consolas"/>
              </a:rPr>
              <a:t>    │   ├── test_crawler_agent.py</a:t>
            </a:r>
          </a:p>
          <a:p>
            <a:pPr algn="l">
              <a:lnSpc>
                <a:spcPct val="100000"/>
              </a:lnSpc>
            </a:pPr>
            <a:r>
              <a:rPr sz="800" b="0" i="0">
                <a:solidFill>
                  <a:srgbClr val="ECE7DC"/>
                </a:solidFill>
                <a:latin typeface="Consolas"/>
              </a:rPr>
              <a:t>    │   ├── test_crawler_resilience.py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test_createsuperuser_wizard.py</a:t>
            </a:r>
          </a:p>
          <a:p>
            <a:pPr algn="l">
              <a:lnSpc>
                <a:spcPct val="100000"/>
              </a:lnSpc>
            </a:pPr>
            <a:r>
              <a:rPr sz="800" b="0" i="0">
                <a:solidFill>
                  <a:srgbClr val="ECE7DC"/>
                </a:solidFill>
                <a:latin typeface="Consolas"/>
              </a:rPr>
              <a:t>    │   ├── test_ctrl_c_shutdown.py</a:t>
            </a:r>
          </a:p>
          <a:p>
            <a:pPr algn="l">
              <a:lnSpc>
                <a:spcPct val="100000"/>
              </a:lnSpc>
            </a:pPr>
            <a:r>
              <a:rPr sz="800" b="0" i="0">
                <a:solidFill>
                  <a:srgbClr val="ECE7DC"/>
                </a:solidFill>
                <a:latin typeface="Consolas"/>
              </a:rPr>
              <a:t>    │   ├── test_db_backup_restore_wal.py</a:t>
            </a:r>
          </a:p>
          <a:p>
            <a:pPr algn="l">
              <a:lnSpc>
                <a:spcPct val="100000"/>
              </a:lnSpc>
            </a:pPr>
            <a:r>
              <a:rPr sz="800" b="0" i="0">
                <a:solidFill>
                  <a:srgbClr val="ECE7DC"/>
                </a:solidFill>
                <a:latin typeface="Consolas"/>
              </a:rPr>
              <a:t>    │   ├── test_db_backup_safety.py</a:t>
            </a:r>
          </a:p>
          <a:p>
            <a:pPr algn="l">
              <a:lnSpc>
                <a:spcPct val="100000"/>
              </a:lnSpc>
            </a:pPr>
            <a:r>
              <a:rPr sz="800" b="0" i="0">
                <a:solidFill>
                  <a:srgbClr val="ECE7DC"/>
                </a:solidFill>
                <a:latin typeface="Consolas"/>
              </a:rPr>
              <a:t>    │   ├── test_de_compresser.py</a:t>
            </a:r>
          </a:p>
          <a:p>
            <a:pPr algn="l">
              <a:lnSpc>
                <a:spcPct val="100000"/>
              </a:lnSpc>
            </a:pPr>
            <a:r>
              <a:rPr sz="800" b="0" i="0">
                <a:solidFill>
                  <a:srgbClr val="ECE7DC"/>
                </a:solidFill>
                <a:latin typeface="Consolas"/>
              </a:rPr>
              <a:t>    │   ├── test_deep_research_prompt.py</a:t>
            </a:r>
          </a:p>
          <a:p>
            <a:pPr algn="l">
              <a:lnSpc>
                <a:spcPct val="100000"/>
              </a:lnSpc>
            </a:pPr>
            <a:r>
              <a:rPr sz="800" b="0" i="0">
                <a:solidFill>
                  <a:srgbClr val="ECE7DC"/>
                </a:solidFill>
                <a:latin typeface="Consolas"/>
              </a:rPr>
              <a:t>    │   ├── test_deleter_safety.py</a:t>
            </a:r>
          </a:p>
          <a:p>
            <a:pPr algn="l">
              <a:lnSpc>
                <a:spcPct val="100000"/>
              </a:lnSpc>
            </a:pPr>
            <a:r>
              <a:rPr sz="800" b="0" i="0">
                <a:solidFill>
                  <a:srgbClr val="ECE7DC"/>
                </a:solidFill>
                <a:latin typeface="Consolas"/>
              </a:rPr>
              <a:t>    │   ├── test_desktop_input_agents.py</a:t>
            </a:r>
          </a:p>
          <a:p>
            <a:pPr algn="l">
              <a:lnSpc>
                <a:spcPct val="100000"/>
              </a:lnSpc>
            </a:pPr>
            <a:r>
              <a:rPr sz="800" b="0" i="0">
                <a:solidFill>
                  <a:srgbClr val="ECE7DC"/>
                </a:solidFill>
                <a:latin typeface="Consolas"/>
              </a:rPr>
              <a:t>    │   ├── test_dialog_dismissal_policy.py</a:t>
            </a:r>
          </a:p>
          <a:p>
            <a:pPr algn="l">
              <a:lnSpc>
                <a:spcPct val="100000"/>
              </a:lnSpc>
            </a:pPr>
            <a:r>
              <a:rPr sz="800" b="0" i="0">
                <a:solidFill>
                  <a:srgbClr val="ECE7DC"/>
                </a:solidFill>
                <a:latin typeface="Consolas"/>
              </a:rPr>
              <a:t>    │   ├── test_dialog_theme.py</a:t>
            </a:r>
          </a:p>
          <a:p>
            <a:pPr algn="l">
              <a:lnSpc>
                <a:spcPct val="100000"/>
              </a:lnSpc>
            </a:pPr>
            <a:r>
              <a:rPr sz="800" b="0" i="0">
                <a:solidFill>
                  <a:srgbClr val="ECE7DC"/>
                </a:solidFill>
                <a:latin typeface="Consolas"/>
              </a:rPr>
              <a:t>    │   ├── test_discoverer_agent.py</a:t>
            </a:r>
          </a:p>
          <a:p>
            <a:pPr algn="l">
              <a:lnSpc>
                <a:spcPct val="100000"/>
              </a:lnSpc>
            </a:pPr>
            <a:r>
              <a:rPr sz="800" b="0" i="0">
                <a:solidFill>
                  <a:srgbClr val="ECE7DC"/>
                </a:solidFill>
                <a:latin typeface="Consolas"/>
              </a:rPr>
              <a:t>    │   ├── test_discoverer_thousand.py</a:t>
            </a:r>
          </a:p>
          <a:p>
            <a:pPr algn="l">
              <a:lnSpc>
                <a:spcPct val="100000"/>
              </a:lnSpc>
            </a:pPr>
            <a:r>
              <a:rPr sz="800" b="0" i="0">
                <a:solidFill>
                  <a:srgbClr val="ECE7DC"/>
                </a:solidFill>
                <a:latin typeface="Consolas"/>
              </a:rPr>
              <a:t>    │   ├── test_django_port_config.py</a:t>
            </a:r>
          </a:p>
          <a:p>
            <a:pPr algn="l">
              <a:lnSpc>
                <a:spcPct val="100000"/>
              </a:lnSpc>
            </a:pPr>
            <a:r>
              <a:rPr sz="800" b="0" i="0">
                <a:solidFill>
                  <a:srgbClr val="ECE7DC"/>
                </a:solidFill>
                <a:latin typeface="Consolas"/>
              </a:rPr>
              <a:t>    │   ├── test_drag_divider_look.py</a:t>
            </a:r>
          </a:p>
          <a:p>
            <a:pPr algn="l">
              <a:lnSpc>
                <a:spcPct val="100000"/>
              </a:lnSpc>
            </a:pPr>
            <a:r>
              <a:rPr sz="800" b="0" i="0">
                <a:solidFill>
                  <a:srgbClr val="ECE7DC"/>
                </a:solidFill>
                <a:latin typeface="Consolas"/>
              </a:rPr>
              <a:t>    │   ├── test_drop_message.py</a:t>
            </a:r>
          </a:p>
          <a:p>
            <a:pPr algn="l">
              <a:lnSpc>
                <a:spcPct val="100000"/>
              </a:lnSpc>
            </a:pPr>
            <a:r>
              <a:rPr sz="800" b="0" i="0">
                <a:solidFill>
                  <a:srgbClr val="ECE7DC"/>
                </a:solidFill>
                <a:latin typeface="Consolas"/>
              </a:rPr>
              <a:t>    │   ├── test_editor_agent.py</a:t>
            </a:r>
          </a:p>
          <a:p>
            <a:pPr algn="l">
              <a:lnSpc>
                <a:spcPct val="100000"/>
              </a:lnSpc>
            </a:pPr>
            <a:r>
              <a:rPr sz="800" b="0" i="0">
                <a:solidFill>
                  <a:srgbClr val="ECE7DC"/>
                </a:solidFill>
                <a:latin typeface="Consolas"/>
              </a:rPr>
              <a:t>    │   ├── test_embedding_memory_guard.py</a:t>
            </a:r>
          </a:p>
          <a:p>
            <a:pPr algn="l">
              <a:lnSpc>
                <a:spcPct val="100000"/>
              </a:lnSpc>
            </a:pPr>
            <a:r>
              <a:rPr sz="800" b="0" i="0">
                <a:solidFill>
                  <a:srgbClr val="ECE7DC"/>
                </a:solidFill>
                <a:latin typeface="Consolas"/>
              </a:rPr>
              <a:t>    │   ├── test_esp32er_agent.py</a:t>
            </a:r>
          </a:p>
          <a:p>
            <a:pPr algn="l">
              <a:lnSpc>
                <a:spcPct val="100000"/>
              </a:lnSpc>
            </a:pPr>
            <a:r>
              <a:rPr sz="800" b="0" i="0">
                <a:solidFill>
                  <a:srgbClr val="ECE7DC"/>
                </a:solidFill>
                <a:latin typeface="Consolas"/>
              </a:rPr>
              <a:t>    │   ├── test_esphomer_agent.py</a:t>
            </a:r>
          </a:p>
          <a:p>
            <a:pPr algn="l">
              <a:lnSpc>
                <a:spcPct val="100000"/>
              </a:lnSpc>
            </a:pPr>
            <a:r>
              <a:rPr sz="800" b="0" i="0">
                <a:solidFill>
                  <a:srgbClr val="ECE7DC"/>
                </a:solidFill>
                <a:latin typeface="Consolas"/>
              </a:rPr>
              <a:t>    │   ├── test_exec_report_verdict.py</a:t>
            </a:r>
          </a:p>
          <a:p>
            <a:pPr algn="l">
              <a:lnSpc>
                <a:spcPct val="100000"/>
              </a:lnSpc>
            </a:pPr>
            <a:r>
              <a:rPr sz="800" b="0" i="0">
                <a:solidFill>
                  <a:srgbClr val="ECE7DC"/>
                </a:solidFill>
                <a:latin typeface="Consolas"/>
              </a:rPr>
              <a:t>    │   ├── test_execute_command_bounded.py</a:t>
            </a:r>
          </a:p>
          <a:p>
            <a:pPr algn="l">
              <a:lnSpc>
                <a:spcPct val="100000"/>
              </a:lnSpc>
            </a:pPr>
            <a:r>
              <a:rPr sz="800" b="0" i="0">
                <a:solidFill>
                  <a:srgbClr val="ECE7DC"/>
                </a:solidFill>
                <a:latin typeface="Consolas"/>
              </a:rPr>
              <a:t>    │   ├── test_executer_window_report.py</a:t>
            </a:r>
          </a:p>
          <a:p>
            <a:pPr algn="l">
              <a:lnSpc>
                <a:spcPct val="100000"/>
              </a:lnSpc>
            </a:pPr>
            <a:r>
              <a:rPr sz="800" b="0" i="0">
                <a:solidFill>
                  <a:srgbClr val="ECE7DC"/>
                </a:solidFill>
                <a:latin typeface="Consolas"/>
              </a:rPr>
              <a:t>    │   ├── test_external_mcp_add_flow.py</a:t>
            </a:r>
          </a:p>
          <a:p>
            <a:pPr algn="l">
              <a:lnSpc>
                <a:spcPct val="100000"/>
              </a:lnSpc>
            </a:pPr>
            <a:r>
              <a:rPr sz="800" b="0" i="0">
                <a:solidFill>
                  <a:srgbClr val="ECE7DC"/>
                </a:solidFill>
                <a:latin typeface="Consolas"/>
              </a:rPr>
              <a:t>    │   ├── test_external_mcp_e2e.py</a:t>
            </a:r>
          </a:p>
          <a:p>
            <a:pPr algn="l">
              <a:lnSpc>
                <a:spcPct val="100000"/>
              </a:lnSpc>
            </a:pPr>
            <a:r>
              <a:rPr sz="800" b="0" i="0">
                <a:solidFill>
                  <a:srgbClr val="ECE7DC"/>
                </a:solidFill>
                <a:latin typeface="Consolas"/>
              </a:rPr>
              <a:t>    │   ├── test_external_mcp_transports.py</a:t>
            </a:r>
          </a:p>
          <a:p>
            <a:pPr algn="l">
              <a:lnSpc>
                <a:spcPct val="100000"/>
              </a:lnSpc>
            </a:pPr>
            <a:r>
              <a:rPr sz="800" b="0" i="0">
                <a:solidFill>
                  <a:srgbClr val="ECE7DC"/>
                </a:solidFill>
                <a:latin typeface="Consolas"/>
              </a:rPr>
              <a:t>    │   ├── test_external_mcp_universal.py</a:t>
            </a:r>
          </a:p>
          <a:p>
            <a:pPr algn="l">
              <a:lnSpc>
                <a:spcPct val="100000"/>
              </a:lnSpc>
            </a:pPr>
            <a:r>
              <a:rPr sz="800" b="0" i="0">
                <a:solidFill>
                  <a:srgbClr val="ECE7DC"/>
                </a:solidFill>
                <a:latin typeface="Consolas"/>
              </a:rPr>
              <a:t>    │   ├── test_file_creator_append.py</a:t>
            </a:r>
          </a:p>
          <a:p>
            <a:pPr algn="l">
              <a:lnSpc>
                <a:spcPct val="100000"/>
              </a:lnSpc>
            </a:pPr>
            <a:r>
              <a:rPr sz="800" b="0" i="0">
                <a:solidFill>
                  <a:srgbClr val="ECE7DC"/>
                </a:solidFill>
                <a:latin typeface="Consolas"/>
              </a:rPr>
              <a:t>    │   ├── test_file_drop_router.py</a:t>
            </a:r>
          </a:p>
          <a:p>
            <a:pPr algn="l">
              <a:lnSpc>
                <a:spcPct val="100000"/>
              </a:lnSpc>
            </a:pPr>
            <a:r>
              <a:rPr sz="800" b="0" i="0">
                <a:solidFill>
                  <a:srgbClr val="ECE7DC"/>
                </a:solidFill>
                <a:latin typeface="Consolas"/>
              </a:rPr>
              <a:t>    │   ├── test_file_extractor_reader.py</a:t>
            </a:r>
          </a:p>
          <a:p>
            <a:pPr algn="l">
              <a:lnSpc>
                <a:spcPct val="100000"/>
              </a:lnSpc>
            </a:pPr>
            <a:r>
              <a:rPr sz="800" b="0" i="0">
                <a:solidFill>
                  <a:srgbClr val="ECE7DC"/>
                </a:solidFill>
                <a:latin typeface="Consolas"/>
              </a:rPr>
              <a:t>    │   ├── test_flow_contracts.py</a:t>
            </a:r>
          </a:p>
          <a:p>
            <a:pPr algn="l">
              <a:lnSpc>
                <a:spcPct val="100000"/>
              </a:lnSpc>
            </a:pPr>
            <a:r>
              <a:rPr sz="800" b="0" i="0">
                <a:solidFill>
                  <a:srgbClr val="ECE7DC"/>
                </a:solidFill>
                <a:latin typeface="Consolas"/>
              </a:rPr>
              <a:t>    │   ├── test_flow_file_open.py</a:t>
            </a:r>
          </a:p>
          <a:p>
            <a:pPr algn="l">
              <a:lnSpc>
                <a:spcPct val="100000"/>
              </a:lnSpc>
            </a:pPr>
            <a:r>
              <a:rPr sz="800" b="0" i="0">
                <a:solidFill>
                  <a:srgbClr val="ECE7DC"/>
                </a:solidFill>
                <a:latin typeface="Consolas"/>
              </a:rPr>
              <a:t>    │   ├── test_flow_file_views.py</a:t>
            </a:r>
          </a:p>
          <a:p>
            <a:pPr algn="l">
              <a:lnSpc>
                <a:spcPct val="100000"/>
              </a:lnSpc>
            </a:pPr>
            <a:r>
              <a:rPr sz="800" b="0" i="0">
                <a:solidFill>
                  <a:srgbClr val="ECE7DC"/>
                </a:solidFill>
                <a:latin typeface="Consolas"/>
              </a:rPr>
              <a:t>    │   ├── test_flow_knowledge.py</a:t>
            </a:r>
          </a:p>
          <a:p>
            <a:pPr algn="l">
              <a:lnSpc>
                <a:spcPct val="100000"/>
              </a:lnSpc>
            </a:pPr>
            <a:r>
              <a:rPr sz="800" b="0" i="0">
                <a:solidFill>
                  <a:srgbClr val="ECE7DC"/>
                </a:solidFill>
                <a:latin typeface="Consolas"/>
              </a:rPr>
              <a:t>    │   ├── test_frontend_mutable_state.py</a:t>
            </a:r>
          </a:p>
          <a:p>
            <a:pPr algn="l">
              <a:lnSpc>
                <a:spcPct val="100000"/>
              </a:lnSpc>
            </a:pPr>
            <a:r>
              <a:rPr sz="800" b="0" i="0">
                <a:solidFill>
                  <a:srgbClr val="ECE7DC"/>
                </a:solidFill>
                <a:latin typeface="Consolas"/>
              </a:rPr>
              <a:t>    │   ├── test_gitter_custom_command.py</a:t>
            </a:r>
          </a:p>
          <a:p>
            <a:pPr algn="l">
              <a:lnSpc>
                <a:spcPct val="100000"/>
              </a:lnSpc>
            </a:pPr>
            <a:r>
              <a:rPr sz="800" b="0" i="0">
                <a:solidFill>
                  <a:srgbClr val="ECE7DC"/>
                </a:solidFill>
                <a:latin typeface="Consolas"/>
              </a:rPr>
              <a:t>    │   ├── test_glob_patterns.py</a:t>
            </a:r>
          </a:p>
          <a:p>
            <a:pPr algn="l">
              <a:lnSpc>
                <a:spcPct val="100000"/>
              </a:lnSpc>
            </a:pPr>
            <a:r>
              <a:rPr sz="800" b="0" i="0">
                <a:solidFill>
                  <a:srgbClr val="ECE7DC"/>
                </a:solidFill>
                <a:latin typeface="Consolas"/>
              </a:rPr>
              <a:t>    │   ├── test_globber_agent.py</a:t>
            </a:r>
          </a:p>
          <a:p>
            <a:pPr algn="l">
              <a:lnSpc>
                <a:spcPct val="100000"/>
              </a:lnSpc>
            </a:pPr>
            <a:r>
              <a:rPr sz="800" b="0" i="0">
                <a:solidFill>
                  <a:srgbClr val="ECE7DC"/>
                </a:solidFill>
                <a:latin typeface="Consolas"/>
              </a:rPr>
              <a:t>    │   ├── test_googler_agent.py</a:t>
            </a:r>
          </a:p>
          <a:p>
            <a:pPr algn="l">
              <a:lnSpc>
                <a:spcPct val="100000"/>
              </a:lnSpc>
            </a:pPr>
            <a:r>
              <a:rPr sz="800" b="0" i="0">
                <a:solidFill>
                  <a:srgbClr val="ECE7DC"/>
                </a:solidFill>
                <a:latin typeface="Consolas"/>
              </a:rPr>
              <a:t>    │   ├── test_googler_dorks.py</a:t>
            </a:r>
          </a:p>
          <a:p>
            <a:pPr algn="l">
              <a:lnSpc>
                <a:spcPct val="100000"/>
              </a:lnSpc>
            </a:pPr>
            <a:r>
              <a:rPr sz="800" b="0" i="0">
                <a:solidFill>
                  <a:srgbClr val="ECE7DC"/>
                </a:solidFill>
                <a:latin typeface="Consolas"/>
              </a:rPr>
              <a:t>    │   ├── test_googler_resilience.py</a:t>
            </a:r>
          </a:p>
          <a:p>
            <a:pPr algn="l">
              <a:lnSpc>
                <a:spcPct val="100000"/>
              </a:lnSpc>
            </a:pPr>
            <a:r>
              <a:rPr sz="800" b="0" i="0">
                <a:solidFill>
                  <a:srgbClr val="ECE7DC"/>
                </a:solidFill>
                <a:latin typeface="Consolas"/>
              </a:rPr>
              <a:t>    │   ├── test_grepper_agent.py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test_grepper_encodings.py</a:t>
            </a:r>
          </a:p>
          <a:p>
            <a:pPr algn="l">
              <a:lnSpc>
                <a:spcPct val="100000"/>
              </a:lnSpc>
            </a:pPr>
            <a:r>
              <a:rPr sz="800" b="0" i="0">
                <a:solidFill>
                  <a:srgbClr val="ECE7DC"/>
                </a:solidFill>
                <a:latin typeface="Consolas"/>
              </a:rPr>
              <a:t>    │   ├── test_grepper_lines_mode.py</a:t>
            </a:r>
          </a:p>
          <a:p>
            <a:pPr algn="l">
              <a:lnSpc>
                <a:spcPct val="100000"/>
              </a:lnSpc>
            </a:pPr>
            <a:r>
              <a:rPr sz="800" b="0" i="0">
                <a:solidFill>
                  <a:srgbClr val="ECE7DC"/>
                </a:solidFill>
                <a:latin typeface="Consolas"/>
              </a:rPr>
              <a:t>    │   ├── test_image_interpreter_agent.py</a:t>
            </a:r>
          </a:p>
          <a:p>
            <a:pPr algn="l">
              <a:lnSpc>
                <a:spcPct val="100000"/>
              </a:lnSpc>
            </a:pPr>
            <a:r>
              <a:rPr sz="800" b="0" i="0">
                <a:solidFill>
                  <a:srgbClr val="ECE7DC"/>
                </a:solidFill>
                <a:latin typeface="Consolas"/>
              </a:rPr>
              <a:t>    │   ├── test_instant_messaging_doctor.py</a:t>
            </a:r>
          </a:p>
          <a:p>
            <a:pPr algn="l">
              <a:lnSpc>
                <a:spcPct val="100000"/>
              </a:lnSpc>
            </a:pPr>
            <a:r>
              <a:rPr sz="800" b="0" i="0">
                <a:solidFill>
                  <a:srgbClr val="ECE7DC"/>
                </a:solidFill>
                <a:latin typeface="Consolas"/>
              </a:rPr>
              <a:t>    │   ├── test_interaction_settings.py</a:t>
            </a:r>
          </a:p>
          <a:p>
            <a:pPr algn="l">
              <a:lnSpc>
                <a:spcPct val="100000"/>
              </a:lnSpc>
            </a:pPr>
            <a:r>
              <a:rPr sz="800" b="0" i="0">
                <a:solidFill>
                  <a:srgbClr val="ECE7DC"/>
                </a:solidFill>
                <a:latin typeface="Consolas"/>
              </a:rPr>
              <a:t>    │   ├── test_interactor.py</a:t>
            </a:r>
          </a:p>
          <a:p>
            <a:pPr algn="l">
              <a:lnSpc>
                <a:spcPct val="100000"/>
              </a:lnSpc>
            </a:pPr>
            <a:r>
              <a:rPr sz="800" b="0" i="0">
                <a:solidFill>
                  <a:srgbClr val="ECE7DC"/>
                </a:solidFill>
                <a:latin typeface="Consolas"/>
              </a:rPr>
              <a:t>    │   ├── test_j_decompiler_agent.py</a:t>
            </a:r>
          </a:p>
          <a:p>
            <a:pPr algn="l">
              <a:lnSpc>
                <a:spcPct val="100000"/>
              </a:lnSpc>
            </a:pPr>
            <a:r>
              <a:rPr sz="800" b="0" i="0">
                <a:solidFill>
                  <a:srgbClr val="ECE7DC"/>
                </a:solidFill>
                <a:latin typeface="Consolas"/>
              </a:rPr>
              <a:t>    │   ├── test_js_gates.py</a:t>
            </a:r>
          </a:p>
          <a:p>
            <a:pPr algn="l">
              <a:lnSpc>
                <a:spcPct val="100000"/>
              </a:lnSpc>
            </a:pPr>
            <a:r>
              <a:rPr sz="800" b="0" i="0">
                <a:solidFill>
                  <a:srgbClr val="ECE7DC"/>
                </a:solidFill>
                <a:latin typeface="Consolas"/>
              </a:rPr>
              <a:t>    │   ├── test_kalier_agent.py</a:t>
            </a:r>
          </a:p>
          <a:p>
            <a:pPr algn="l">
              <a:lnSpc>
                <a:spcPct val="100000"/>
              </a:lnSpc>
            </a:pPr>
            <a:r>
              <a:rPr sz="800" b="0" i="0">
                <a:solidFill>
                  <a:srgbClr val="ECE7DC"/>
                </a:solidFill>
                <a:latin typeface="Consolas"/>
              </a:rPr>
              <a:t>    │   ├── test_latexer_agent.py</a:t>
            </a:r>
          </a:p>
          <a:p>
            <a:pPr algn="l">
              <a:lnSpc>
                <a:spcPct val="100000"/>
              </a:lnSpc>
            </a:pPr>
            <a:r>
              <a:rPr sz="800" b="0" i="0">
                <a:solidFill>
                  <a:srgbClr val="ECE7DC"/>
                </a:solidFill>
                <a:latin typeface="Consolas"/>
              </a:rPr>
              <a:t>    │   ├── test_latexer_delivery_truth.py</a:t>
            </a:r>
          </a:p>
          <a:p>
            <a:pPr algn="l">
              <a:lnSpc>
                <a:spcPct val="100000"/>
              </a:lnSpc>
            </a:pPr>
            <a:r>
              <a:rPr sz="800" b="0" i="0">
                <a:solidFill>
                  <a:srgbClr val="ECE7DC"/>
                </a:solidFill>
                <a:latin typeface="Consolas"/>
              </a:rPr>
              <a:t>    │   ├── test_latexer_layout_truth.py</a:t>
            </a:r>
          </a:p>
          <a:p>
            <a:pPr algn="l">
              <a:lnSpc>
                <a:spcPct val="100000"/>
              </a:lnSpc>
            </a:pPr>
            <a:r>
              <a:rPr sz="800" b="0" i="0">
                <a:solidFill>
                  <a:srgbClr val="ECE7DC"/>
                </a:solidFill>
                <a:latin typeface="Consolas"/>
              </a:rPr>
              <a:t>    │   ├── test_latexer_major_removal_and_window_repair</a:t>
            </a:r>
          </a:p>
          <a:p>
            <a:pPr algn="l">
              <a:lnSpc>
                <a:spcPct val="100000"/>
              </a:lnSpc>
            </a:pPr>
            <a:r>
              <a:rPr sz="800" b="0" i="0">
                <a:solidFill>
                  <a:srgbClr val="ECE7DC"/>
                </a:solidFill>
                <a:latin typeface="Consolas"/>
              </a:rPr>
              <a:t>    │   │     » .py</a:t>
            </a:r>
          </a:p>
          <a:p>
            <a:pPr algn="l">
              <a:lnSpc>
                <a:spcPct val="100000"/>
              </a:lnSpc>
            </a:pPr>
            <a:r>
              <a:rPr sz="800" b="0" i="0">
                <a:solidFill>
                  <a:srgbClr val="ECE7DC"/>
                </a:solidFill>
                <a:latin typeface="Consolas"/>
              </a:rPr>
              <a:t>    │   ├── test_latexer_model_repair_truth.py</a:t>
            </a:r>
          </a:p>
          <a:p>
            <a:pPr algn="l">
              <a:lnSpc>
                <a:spcPct val="100000"/>
              </a:lnSpc>
            </a:pPr>
            <a:r>
              <a:rPr sz="800" b="0" i="0">
                <a:solidFill>
                  <a:srgbClr val="ECE7DC"/>
                </a:solidFill>
                <a:latin typeface="Consolas"/>
              </a:rPr>
              <a:t>    │   ├── test_latexer_repair_ladder.py</a:t>
            </a:r>
          </a:p>
          <a:p>
            <a:pPr algn="l">
              <a:lnSpc>
                <a:spcPct val="100000"/>
              </a:lnSpc>
            </a:pPr>
            <a:r>
              <a:rPr sz="800" b="0" i="0">
                <a:solidFill>
                  <a:srgbClr val="ECE7DC"/>
                </a:solidFill>
                <a:latin typeface="Consolas"/>
              </a:rPr>
              <a:t>    │   ├── test_latexer_styles.py</a:t>
            </a:r>
          </a:p>
          <a:p>
            <a:pPr algn="l">
              <a:lnSpc>
                <a:spcPct val="100000"/>
              </a:lnSpc>
            </a:pPr>
            <a:r>
              <a:rPr sz="800" b="0" i="0">
                <a:solidFill>
                  <a:srgbClr val="ECE7DC"/>
                </a:solidFill>
                <a:latin typeface="Consolas"/>
              </a:rPr>
              <a:t>    │   ├── test_latexer_suite.py</a:t>
            </a:r>
          </a:p>
          <a:p>
            <a:pPr algn="l">
              <a:lnSpc>
                <a:spcPct val="100000"/>
              </a:lnSpc>
            </a:pPr>
            <a:r>
              <a:rPr sz="800" b="0" i="0">
                <a:solidFill>
                  <a:srgbClr val="ECE7DC"/>
                </a:solidFill>
                <a:latin typeface="Consolas"/>
              </a:rPr>
              <a:t>    │   ├── test_latexer_verbatim_channel.py</a:t>
            </a:r>
          </a:p>
          <a:p>
            <a:pPr algn="l">
              <a:lnSpc>
                <a:spcPct val="100000"/>
              </a:lnSpc>
            </a:pPr>
            <a:r>
              <a:rPr sz="800" b="0" i="0">
                <a:solidFill>
                  <a:srgbClr val="ECE7DC"/>
                </a:solidFill>
                <a:latin typeface="Consolas"/>
              </a:rPr>
              <a:t>    │   ├── test_log_identity.py</a:t>
            </a:r>
          </a:p>
          <a:p>
            <a:pPr algn="l">
              <a:lnSpc>
                <a:spcPct val="100000"/>
              </a:lnSpc>
            </a:pPr>
            <a:r>
              <a:rPr sz="800" b="0" i="0">
                <a:solidFill>
                  <a:srgbClr val="ECE7DC"/>
                </a:solidFill>
                <a:latin typeface="Consolas"/>
              </a:rPr>
              <a:t>    │   ├── test_mcp_configured_endpoints.py</a:t>
            </a:r>
          </a:p>
          <a:p>
            <a:pPr algn="l">
              <a:lnSpc>
                <a:spcPct val="100000"/>
              </a:lnSpc>
            </a:pPr>
            <a:r>
              <a:rPr sz="800" b="0" i="0">
                <a:solidFill>
                  <a:srgbClr val="ECE7DC"/>
                </a:solidFill>
                <a:latin typeface="Consolas"/>
              </a:rPr>
              <a:t>    │   ├── test_model_brain.py</a:t>
            </a:r>
          </a:p>
          <a:p>
            <a:pPr algn="l">
              <a:lnSpc>
                <a:spcPct val="100000"/>
              </a:lnSpc>
            </a:pPr>
            <a:r>
              <a:rPr sz="800" b="0" i="0">
                <a:solidFill>
                  <a:srgbClr val="ECE7DC"/>
                </a:solidFill>
                <a:latin typeface="Consolas"/>
              </a:rPr>
              <a:t>    │   ├── test_model_capacity.py</a:t>
            </a:r>
          </a:p>
          <a:p>
            <a:pPr algn="l">
              <a:lnSpc>
                <a:spcPct val="100000"/>
              </a:lnSpc>
            </a:pPr>
            <a:r>
              <a:rPr sz="800" b="0" i="0">
                <a:solidFill>
                  <a:srgbClr val="ECE7DC"/>
                </a:solidFill>
                <a:latin typeface="Consolas"/>
              </a:rPr>
              <a:t>    │   ├── test_model_settings.py</a:t>
            </a:r>
          </a:p>
          <a:p>
            <a:pPr algn="l">
              <a:lnSpc>
                <a:spcPct val="100000"/>
              </a:lnSpc>
            </a:pPr>
            <a:r>
              <a:rPr sz="800" b="0" i="0">
                <a:solidFill>
                  <a:srgbClr val="ECE7DC"/>
                </a:solidFill>
                <a:latin typeface="Consolas"/>
              </a:rPr>
              <a:t>    │   ├── test_mover_file_safety.py</a:t>
            </a:r>
          </a:p>
          <a:p>
            <a:pPr algn="l">
              <a:lnSpc>
                <a:spcPct val="100000"/>
              </a:lnSpc>
            </a:pPr>
            <a:r>
              <a:rPr sz="800" b="0" i="0">
                <a:solidFill>
                  <a:srgbClr val="ECE7DC"/>
                </a:solidFill>
                <a:latin typeface="Consolas"/>
              </a:rPr>
              <a:t>    │   ├── test_native_dialogs.py</a:t>
            </a:r>
          </a:p>
          <a:p>
            <a:pPr algn="l">
              <a:lnSpc>
                <a:spcPct val="100000"/>
              </a:lnSpc>
            </a:pPr>
            <a:r>
              <a:rPr sz="800" b="0" i="0">
                <a:solidFill>
                  <a:srgbClr val="ECE7DC"/>
                </a:solidFill>
                <a:latin typeface="Consolas"/>
              </a:rPr>
              <a:t>    │   ├── test_netspeed_calculator_agent.py</a:t>
            </a:r>
          </a:p>
          <a:p>
            <a:pPr algn="l">
              <a:lnSpc>
                <a:spcPct val="100000"/>
              </a:lnSpc>
            </a:pPr>
            <a:r>
              <a:rPr sz="800" b="0" i="0">
                <a:solidFill>
                  <a:srgbClr val="ECE7DC"/>
                </a:solidFill>
                <a:latin typeface="Consolas"/>
              </a:rPr>
              <a:t>    │   ├── test_nmapper_agent.py</a:t>
            </a:r>
          </a:p>
          <a:p>
            <a:pPr algn="l">
              <a:lnSpc>
                <a:spcPct val="100000"/>
              </a:lnSpc>
            </a:pPr>
            <a:r>
              <a:rPr sz="800" b="0" i="0">
                <a:solidFill>
                  <a:srgbClr val="ECE7DC"/>
                </a:solidFill>
                <a:latin typeface="Consolas"/>
              </a:rPr>
              <a:t>    │   ├── test_no_audio_in_tests.py</a:t>
            </a:r>
          </a:p>
          <a:p>
            <a:pPr algn="l">
              <a:lnSpc>
                <a:spcPct val="100000"/>
              </a:lnSpc>
            </a:pPr>
            <a:r>
              <a:rPr sz="800" b="0" i="0">
                <a:solidFill>
                  <a:srgbClr val="ECE7DC"/>
                </a:solidFill>
                <a:latin typeface="Consolas"/>
              </a:rPr>
              <a:t>    │   ├── test_ollama_catalog_from_server.py</a:t>
            </a:r>
          </a:p>
          <a:p>
            <a:pPr algn="l">
              <a:lnSpc>
                <a:spcPct val="100000"/>
              </a:lnSpc>
            </a:pPr>
            <a:r>
              <a:rPr sz="800" b="0" i="0">
                <a:solidFill>
                  <a:srgbClr val="ECE7DC"/>
                </a:solidFill>
                <a:latin typeface="Consolas"/>
              </a:rPr>
              <a:t>    │   ├── test_ollama_stop_limit.py</a:t>
            </a:r>
          </a:p>
          <a:p>
            <a:pPr algn="l">
              <a:lnSpc>
                <a:spcPct val="100000"/>
              </a:lnSpc>
            </a:pPr>
            <a:r>
              <a:rPr sz="800" b="0" i="0">
                <a:solidFill>
                  <a:srgbClr val="ECE7DC"/>
                </a:solidFill>
                <a:latin typeface="Consolas"/>
              </a:rPr>
              <a:t>    │   ├── test_orphan_reaper.py</a:t>
            </a:r>
          </a:p>
          <a:p>
            <a:pPr algn="l">
              <a:lnSpc>
                <a:spcPct val="100000"/>
              </a:lnSpc>
            </a:pPr>
            <a:r>
              <a:rPr sz="800" b="0" i="0">
                <a:solidFill>
                  <a:srgbClr val="ECE7DC"/>
                </a:solidFill>
                <a:latin typeface="Consolas"/>
              </a:rPr>
              <a:t>    │   ├── test_parametrizer_mcp_doctor.py</a:t>
            </a:r>
          </a:p>
          <a:p>
            <a:pPr algn="l">
              <a:lnSpc>
                <a:spcPct val="100000"/>
              </a:lnSpc>
            </a:pPr>
            <a:r>
              <a:rPr sz="800" b="0" i="0">
                <a:solidFill>
                  <a:srgbClr val="ECE7DC"/>
                </a:solidFill>
                <a:latin typeface="Consolas"/>
              </a:rPr>
              <a:t>    │   ├── test_password_quoting.py</a:t>
            </a:r>
          </a:p>
          <a:p>
            <a:pPr algn="l">
              <a:lnSpc>
                <a:spcPct val="100000"/>
              </a:lnSpc>
            </a:pPr>
            <a:r>
              <a:rPr sz="800" b="0" i="0">
                <a:solidFill>
                  <a:srgbClr val="ECE7DC"/>
                </a:solidFill>
                <a:latin typeface="Consolas"/>
              </a:rPr>
              <a:t>    │   ├── test_pdf_context.py</a:t>
            </a:r>
          </a:p>
          <a:p>
            <a:pPr algn="l">
              <a:lnSpc>
                <a:spcPct val="100000"/>
              </a:lnSpc>
            </a:pPr>
            <a:r>
              <a:rPr sz="800" b="0" i="0">
                <a:solidFill>
                  <a:srgbClr val="ECE7DC"/>
                </a:solidFill>
                <a:latin typeface="Consolas"/>
              </a:rPr>
              <a:t>    │   ├── test_pdfer_agent.py</a:t>
            </a:r>
          </a:p>
          <a:p>
            <a:pPr algn="l">
              <a:lnSpc>
                <a:spcPct val="100000"/>
              </a:lnSpc>
            </a:pPr>
            <a:r>
              <a:rPr sz="800" b="0" i="0">
                <a:solidFill>
                  <a:srgbClr val="ECE7DC"/>
                </a:solidFill>
                <a:latin typeface="Consolas"/>
              </a:rPr>
              <a:t>    │   ├── test_pdfer_nuance_layout.py</a:t>
            </a:r>
          </a:p>
          <a:p>
            <a:pPr algn="l">
              <a:lnSpc>
                <a:spcPct val="100000"/>
              </a:lnSpc>
            </a:pPr>
            <a:r>
              <a:rPr sz="800" b="0" i="0">
                <a:solidFill>
                  <a:srgbClr val="ECE7DC"/>
                </a:solidFill>
                <a:latin typeface="Consolas"/>
              </a:rPr>
              <a:t>    │   ├── test_pdfer_styles.py</a:t>
            </a:r>
          </a:p>
          <a:p>
            <a:pPr algn="l">
              <a:lnSpc>
                <a:spcPct val="100000"/>
              </a:lnSpc>
            </a:pPr>
            <a:r>
              <a:rPr sz="800" b="0" i="0">
                <a:solidFill>
                  <a:srgbClr val="ECE7DC"/>
                </a:solidFill>
                <a:latin typeface="Consolas"/>
              </a:rPr>
              <a:t>    │   ├── test_playwrighter_agent.py</a:t>
            </a:r>
          </a:p>
          <a:p>
            <a:pPr algn="l">
              <a:lnSpc>
                <a:spcPct val="100000"/>
              </a:lnSpc>
            </a:pPr>
            <a:r>
              <a:rPr sz="800" b="0" i="0">
                <a:solidFill>
                  <a:srgbClr val="ECE7DC"/>
                </a:solidFill>
                <a:latin typeface="Consolas"/>
              </a:rPr>
              <a:t>    │   ├── test_pptxer_agent.py</a:t>
            </a:r>
          </a:p>
          <a:p>
            <a:pPr algn="l">
              <a:lnSpc>
                <a:spcPct val="100000"/>
              </a:lnSpc>
            </a:pPr>
            <a:r>
              <a:rPr sz="800" b="0" i="0">
                <a:solidFill>
                  <a:srgbClr val="ECE7DC"/>
                </a:solidFill>
                <a:latin typeface="Consolas"/>
              </a:rPr>
              <a:t>    │   ├── test_pptxer_styles.py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7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test_pptxer_visibility.py</a:t>
            </a:r>
          </a:p>
          <a:p>
            <a:pPr algn="l">
              <a:lnSpc>
                <a:spcPct val="100000"/>
              </a:lnSpc>
            </a:pPr>
            <a:r>
              <a:rPr sz="800" b="0" i="0">
                <a:solidFill>
                  <a:srgbClr val="ECE7DC"/>
                </a:solidFill>
                <a:latin typeface="Consolas"/>
              </a:rPr>
              <a:t>    │   ├── test_preserved_user_state.py</a:t>
            </a:r>
          </a:p>
          <a:p>
            <a:pPr algn="l">
              <a:lnSpc>
                <a:spcPct val="100000"/>
              </a:lnSpc>
            </a:pPr>
            <a:r>
              <a:rPr sz="800" b="0" i="0">
                <a:solidFill>
                  <a:srgbClr val="ECE7DC"/>
                </a:solidFill>
                <a:latin typeface="Consolas"/>
              </a:rPr>
              <a:t>    │   ├── test_program_name_collisions.py</a:t>
            </a:r>
          </a:p>
          <a:p>
            <a:pPr algn="l">
              <a:lnSpc>
                <a:spcPct val="100000"/>
              </a:lnSpc>
            </a:pPr>
            <a:r>
              <a:rPr sz="800" b="0" i="0">
                <a:solidFill>
                  <a:srgbClr val="ECE7DC"/>
                </a:solidFill>
                <a:latin typeface="Consolas"/>
              </a:rPr>
              <a:t>    │   ├── test_prompt_catalog_contiguous.py</a:t>
            </a:r>
          </a:p>
          <a:p>
            <a:pPr algn="l">
              <a:lnSpc>
                <a:spcPct val="100000"/>
              </a:lnSpc>
            </a:pPr>
            <a:r>
              <a:rPr sz="800" b="0" i="0">
                <a:solidFill>
                  <a:srgbClr val="ECE7DC"/>
                </a:solidFill>
                <a:latin typeface="Consolas"/>
              </a:rPr>
              <a:t>    │   ├── test_prompt_flow_panel.py</a:t>
            </a:r>
          </a:p>
          <a:p>
            <a:pPr algn="l">
              <a:lnSpc>
                <a:spcPct val="100000"/>
              </a:lnSpc>
            </a:pPr>
            <a:r>
              <a:rPr sz="800" b="0" i="0">
                <a:solidFill>
                  <a:srgbClr val="ECE7DC"/>
                </a:solidFill>
                <a:latin typeface="Consolas"/>
              </a:rPr>
              <a:t>    │   ├── test_prompt_flow_panel_carriage.py</a:t>
            </a:r>
          </a:p>
          <a:p>
            <a:pPr algn="l">
              <a:lnSpc>
                <a:spcPct val="100000"/>
              </a:lnSpc>
            </a:pPr>
            <a:r>
              <a:rPr sz="800" b="0" i="0">
                <a:solidFill>
                  <a:srgbClr val="ECE7DC"/>
                </a:solidFill>
                <a:latin typeface="Consolas"/>
              </a:rPr>
              <a:t>    │   ├── test_prompt_flow_panel_runtime.py</a:t>
            </a:r>
          </a:p>
          <a:p>
            <a:pPr algn="l">
              <a:lnSpc>
                <a:spcPct val="100000"/>
              </a:lnSpc>
            </a:pPr>
            <a:r>
              <a:rPr sz="800" b="0" i="0">
                <a:solidFill>
                  <a:srgbClr val="ECE7DC"/>
                </a:solidFill>
                <a:latin typeface="Consolas"/>
              </a:rPr>
              <a:t>    │   ├── test_prompt_flow_panel_websocket.py</a:t>
            </a:r>
          </a:p>
          <a:p>
            <a:pPr algn="l">
              <a:lnSpc>
                <a:spcPct val="100000"/>
              </a:lnSpc>
            </a:pPr>
            <a:r>
              <a:rPr sz="800" b="0" i="0">
                <a:solidFill>
                  <a:srgbClr val="ECE7DC"/>
                </a:solidFill>
                <a:latin typeface="Consolas"/>
              </a:rPr>
              <a:t>    │   ├── test_prompt_shape_sentences.py</a:t>
            </a:r>
          </a:p>
          <a:p>
            <a:pPr algn="l">
              <a:lnSpc>
                <a:spcPct val="100000"/>
              </a:lnSpc>
            </a:pPr>
            <a:r>
              <a:rPr sz="800" b="0" i="0">
                <a:solidFill>
                  <a:srgbClr val="ECE7DC"/>
                </a:solidFill>
                <a:latin typeface="Consolas"/>
              </a:rPr>
              <a:t>    │   ├── test_public_release_targets.py</a:t>
            </a:r>
          </a:p>
          <a:p>
            <a:pPr algn="l">
              <a:lnSpc>
                <a:spcPct val="100000"/>
              </a:lnSpc>
            </a:pPr>
            <a:r>
              <a:rPr sz="800" b="0" i="0">
                <a:solidFill>
                  <a:srgbClr val="ECE7DC"/>
                </a:solidFill>
                <a:latin typeface="Consolas"/>
              </a:rPr>
              <a:t>    │   ├── test_pyinstaller_guard.py</a:t>
            </a:r>
          </a:p>
          <a:p>
            <a:pPr algn="l">
              <a:lnSpc>
                <a:spcPct val="100000"/>
              </a:lnSpc>
            </a:pPr>
            <a:r>
              <a:rPr sz="800" b="0" i="0">
                <a:solidFill>
                  <a:srgbClr val="ECE7DC"/>
                </a:solidFill>
                <a:latin typeface="Consolas"/>
              </a:rPr>
              <a:t>    │   ├── test_recorder_agent.py</a:t>
            </a:r>
          </a:p>
          <a:p>
            <a:pPr algn="l">
              <a:lnSpc>
                <a:spcPct val="100000"/>
              </a:lnSpc>
            </a:pPr>
            <a:r>
              <a:rPr sz="800" b="0" i="0">
                <a:solidFill>
                  <a:srgbClr val="ECE7DC"/>
                </a:solidFill>
                <a:latin typeface="Consolas"/>
              </a:rPr>
              <a:t>    │   ├── test_release_payload_ownership.py</a:t>
            </a:r>
          </a:p>
          <a:p>
            <a:pPr algn="l">
              <a:lnSpc>
                <a:spcPct val="100000"/>
              </a:lnSpc>
            </a:pPr>
            <a:r>
              <a:rPr sz="800" b="0" i="0">
                <a:solidFill>
                  <a:srgbClr val="ECE7DC"/>
                </a:solidFill>
                <a:latin typeface="Consolas"/>
              </a:rPr>
              <a:t>    │   ├── test_runtime_provisioner.py</a:t>
            </a:r>
          </a:p>
          <a:p>
            <a:pPr algn="l">
              <a:lnSpc>
                <a:spcPct val="100000"/>
              </a:lnSpc>
            </a:pPr>
            <a:r>
              <a:rPr sz="800" b="0" i="0">
                <a:solidFill>
                  <a:srgbClr val="ECE7DC"/>
                </a:solidFill>
                <a:latin typeface="Consolas"/>
              </a:rPr>
              <a:t>    │   ├── test_security_assets_carriage.py</a:t>
            </a:r>
          </a:p>
          <a:p>
            <a:pPr algn="l">
              <a:lnSpc>
                <a:spcPct val="100000"/>
              </a:lnSpc>
            </a:pPr>
            <a:r>
              <a:rPr sz="800" b="0" i="0">
                <a:solidFill>
                  <a:srgbClr val="ECE7DC"/>
                </a:solidFill>
                <a:latin typeface="Consolas"/>
              </a:rPr>
              <a:t>    │   ├── test_self_healing.py</a:t>
            </a:r>
          </a:p>
          <a:p>
            <a:pPr algn="l">
              <a:lnSpc>
                <a:spcPct val="100000"/>
              </a:lnSpc>
            </a:pPr>
            <a:r>
              <a:rPr sz="800" b="0" i="0">
                <a:solidFill>
                  <a:srgbClr val="ECE7DC"/>
                </a:solidFill>
                <a:latin typeface="Consolas"/>
              </a:rPr>
              <a:t>    │   ├── test_self_knowledge_is_current.py</a:t>
            </a:r>
          </a:p>
          <a:p>
            <a:pPr algn="l">
              <a:lnSpc>
                <a:spcPct val="100000"/>
              </a:lnSpc>
            </a:pPr>
            <a:r>
              <a:rPr sz="800" b="0" i="0">
                <a:solidFill>
                  <a:srgbClr val="ECE7DC"/>
                </a:solidFill>
                <a:latin typeface="Consolas"/>
              </a:rPr>
              <a:t>    │   ├── test_self_modify_gate.py</a:t>
            </a:r>
          </a:p>
          <a:p>
            <a:pPr algn="l">
              <a:lnSpc>
                <a:spcPct val="100000"/>
              </a:lnSpc>
            </a:pPr>
            <a:r>
              <a:rPr sz="800" b="0" i="0">
                <a:solidFill>
                  <a:srgbClr val="ECE7DC"/>
                </a:solidFill>
                <a:latin typeface="Consolas"/>
              </a:rPr>
              <a:t>    │   ├── test_self_modify_switch.py</a:t>
            </a:r>
          </a:p>
          <a:p>
            <a:pPr algn="l">
              <a:lnSpc>
                <a:spcPct val="100000"/>
              </a:lnSpc>
            </a:pPr>
            <a:r>
              <a:rPr sz="800" b="0" i="0">
                <a:solidFill>
                  <a:srgbClr val="ECE7DC"/>
                </a:solidFill>
                <a:latin typeface="Consolas"/>
              </a:rPr>
              <a:t>    │   ├── test_self_update.py</a:t>
            </a:r>
          </a:p>
          <a:p>
            <a:pPr algn="l">
              <a:lnSpc>
                <a:spcPct val="100000"/>
              </a:lnSpc>
            </a:pPr>
            <a:r>
              <a:rPr sz="800" b="0" i="0">
                <a:solidFill>
                  <a:srgbClr val="ECE7DC"/>
                </a:solidFill>
                <a:latin typeface="Consolas"/>
              </a:rPr>
              <a:t>    │   ├── test_shoter_takes_screenshots.py</a:t>
            </a:r>
          </a:p>
          <a:p>
            <a:pPr algn="l">
              <a:lnSpc>
                <a:spcPct val="100000"/>
              </a:lnSpc>
            </a:pPr>
            <a:r>
              <a:rPr sz="800" b="0" i="0">
                <a:solidFill>
                  <a:srgbClr val="ECE7DC"/>
                </a:solidFill>
                <a:latin typeface="Consolas"/>
              </a:rPr>
              <a:t>    │   ├── test_sqlite_wal_mode.py</a:t>
            </a:r>
          </a:p>
          <a:p>
            <a:pPr algn="l">
              <a:lnSpc>
                <a:spcPct val="100000"/>
              </a:lnSpc>
            </a:pPr>
            <a:r>
              <a:rPr sz="800" b="0" i="0">
                <a:solidFill>
                  <a:srgbClr val="ECE7DC"/>
                </a:solidFill>
                <a:latin typeface="Consolas"/>
              </a:rPr>
              <a:t>    │   ├── test_status_vocabulary.py</a:t>
            </a:r>
          </a:p>
          <a:p>
            <a:pPr algn="l">
              <a:lnSpc>
                <a:spcPct val="100000"/>
              </a:lnSpc>
            </a:pPr>
            <a:r>
              <a:rPr sz="800" b="0" i="0">
                <a:solidFill>
                  <a:srgbClr val="ECE7DC"/>
                </a:solidFill>
                <a:latin typeface="Consolas"/>
              </a:rPr>
              <a:t>    │   ├── test_step_by_step_mode.py</a:t>
            </a:r>
          </a:p>
          <a:p>
            <a:pPr algn="l">
              <a:lnSpc>
                <a:spcPct val="100000"/>
              </a:lnSpc>
            </a:pPr>
            <a:r>
              <a:rPr sz="800" b="0" i="0">
                <a:solidFill>
                  <a:srgbClr val="ECE7DC"/>
                </a:solidFill>
                <a:latin typeface="Consolas"/>
              </a:rPr>
              <a:t>    │   ├── test_stm32er_agent.py</a:t>
            </a:r>
          </a:p>
          <a:p>
            <a:pPr algn="l">
              <a:lnSpc>
                <a:spcPct val="100000"/>
              </a:lnSpc>
            </a:pPr>
            <a:r>
              <a:rPr sz="800" b="0" i="0">
                <a:solidFill>
                  <a:srgbClr val="ECE7DC"/>
                </a:solidFill>
                <a:latin typeface="Consolas"/>
              </a:rPr>
              <a:t>    │   ├── test_talker_agent.py</a:t>
            </a:r>
          </a:p>
          <a:p>
            <a:pPr algn="l">
              <a:lnSpc>
                <a:spcPct val="100000"/>
              </a:lnSpc>
            </a:pPr>
            <a:r>
              <a:rPr sz="800" b="0" i="0">
                <a:solidFill>
                  <a:srgbClr val="ECE7DC"/>
                </a:solidFill>
                <a:latin typeface="Consolas"/>
              </a:rPr>
              <a:t>    │   ├── test_telegrammer_identity.py</a:t>
            </a:r>
          </a:p>
          <a:p>
            <a:pPr algn="l">
              <a:lnSpc>
                <a:spcPct val="100000"/>
              </a:lnSpc>
            </a:pPr>
            <a:r>
              <a:rPr sz="800" b="0" i="0">
                <a:solidFill>
                  <a:srgbClr val="ECE7DC"/>
                </a:solidFill>
                <a:latin typeface="Consolas"/>
              </a:rPr>
              <a:t>    │   ├── test_temp_dir_policy.py</a:t>
            </a:r>
          </a:p>
          <a:p>
            <a:pPr algn="l">
              <a:lnSpc>
                <a:spcPct val="100000"/>
              </a:lnSpc>
            </a:pPr>
            <a:r>
              <a:rPr sz="800" b="0" i="0">
                <a:solidFill>
                  <a:srgbClr val="ECE7DC"/>
                </a:solidFill>
                <a:latin typeface="Consolas"/>
              </a:rPr>
              <a:t>    │   ├── test_terminater_agent.py</a:t>
            </a:r>
          </a:p>
          <a:p>
            <a:pPr algn="l">
              <a:lnSpc>
                <a:spcPct val="100000"/>
              </a:lnSpc>
            </a:pPr>
            <a:r>
              <a:rPr sz="800" b="0" i="0">
                <a:solidFill>
                  <a:srgbClr val="ECE7DC"/>
                </a:solidFill>
                <a:latin typeface="Consolas"/>
              </a:rPr>
              <a:t>    │   ├── test_terminater_engine.py</a:t>
            </a:r>
          </a:p>
          <a:p>
            <a:pPr algn="l">
              <a:lnSpc>
                <a:spcPct val="100000"/>
              </a:lnSpc>
            </a:pPr>
            <a:r>
              <a:rPr sz="800" b="0" i="0">
                <a:solidFill>
                  <a:srgbClr val="ECE7DC"/>
                </a:solidFill>
                <a:latin typeface="Consolas"/>
              </a:rPr>
              <a:t>    │   ├── test_terminater_hub_api.py</a:t>
            </a:r>
          </a:p>
          <a:p>
            <a:pPr algn="l">
              <a:lnSpc>
                <a:spcPct val="100000"/>
              </a:lnSpc>
            </a:pPr>
            <a:r>
              <a:rPr sz="800" b="0" i="0">
                <a:solidFill>
                  <a:srgbClr val="ECE7DC"/>
                </a:solidFill>
                <a:latin typeface="Consolas"/>
              </a:rPr>
              <a:t>    │   ├── test_terminater_integration.py</a:t>
            </a:r>
          </a:p>
          <a:p>
            <a:pPr algn="l">
              <a:lnSpc>
                <a:spcPct val="100000"/>
              </a:lnSpc>
            </a:pPr>
            <a:r>
              <a:rPr sz="800" b="0" i="0">
                <a:solidFill>
                  <a:srgbClr val="ECE7DC"/>
                </a:solidFill>
                <a:latin typeface="Consolas"/>
              </a:rPr>
              <a:t>    │   ├── test_terminater_pfp.py</a:t>
            </a:r>
          </a:p>
          <a:p>
            <a:pPr algn="l">
              <a:lnSpc>
                <a:spcPct val="100000"/>
              </a:lnSpc>
            </a:pPr>
            <a:r>
              <a:rPr sz="800" b="0" i="0">
                <a:solidFill>
                  <a:srgbClr val="ECE7DC"/>
                </a:solidFill>
                <a:latin typeface="Consolas"/>
              </a:rPr>
              <a:t>    │   ├── test_terminater_regressions.py</a:t>
            </a:r>
          </a:p>
          <a:p>
            <a:pPr algn="l">
              <a:lnSpc>
                <a:spcPct val="100000"/>
              </a:lnSpc>
            </a:pPr>
            <a:r>
              <a:rPr sz="800" b="0" i="0">
                <a:solidFill>
                  <a:srgbClr val="ECE7DC"/>
                </a:solidFill>
                <a:latin typeface="Consolas"/>
              </a:rPr>
              <a:t>    │   ├── test_terminater_reliability.py</a:t>
            </a:r>
          </a:p>
          <a:p>
            <a:pPr algn="l">
              <a:lnSpc>
                <a:spcPct val="100000"/>
              </a:lnSpc>
            </a:pPr>
            <a:r>
              <a:rPr sz="800" b="0" i="0">
                <a:solidFill>
                  <a:srgbClr val="ECE7DC"/>
                </a:solidFill>
                <a:latin typeface="Consolas"/>
              </a:rPr>
              <a:t>    │   ├── test_terminater_text.py</a:t>
            </a:r>
          </a:p>
          <a:p>
            <a:pPr algn="l">
              <a:lnSpc>
                <a:spcPct val="100000"/>
              </a:lnSpc>
            </a:pPr>
            <a:r>
              <a:rPr sz="800" b="0" i="0">
                <a:solidFill>
                  <a:srgbClr val="ECE7DC"/>
                </a:solidFill>
                <a:latin typeface="Consolas"/>
              </a:rPr>
              <a:t>    │   ├── test_tool_failure_recovery.py</a:t>
            </a:r>
          </a:p>
          <a:p>
            <a:pPr algn="l">
              <a:lnSpc>
                <a:spcPct val="100000"/>
              </a:lnSpc>
            </a:pPr>
            <a:r>
              <a:rPr sz="800" b="0" i="0">
                <a:solidFill>
                  <a:srgbClr val="ECE7DC"/>
                </a:solidFill>
                <a:latin typeface="Consolas"/>
              </a:rPr>
              <a:t>    │   ├── test_uninstall_processes.py</a:t>
            </a:r>
          </a:p>
          <a:p>
            <a:pPr algn="l">
              <a:lnSpc>
                <a:spcPct val="100000"/>
              </a:lnSpc>
            </a:pPr>
            <a:r>
              <a:rPr sz="800" b="0" i="0">
                <a:solidFill>
                  <a:srgbClr val="ECE7DC"/>
                </a:solidFill>
                <a:latin typeface="Consolas"/>
              </a:rPr>
              <a:t>    │   ├── test_uninstaller_lifecycle.py</a:t>
            </a:r>
          </a:p>
          <a:p>
            <a:pPr algn="l">
              <a:lnSpc>
                <a:spcPct val="100000"/>
              </a:lnSpc>
            </a:pPr>
            <a:r>
              <a:rPr sz="800" b="0" i="0">
                <a:solidFill>
                  <a:srgbClr val="ECE7DC"/>
                </a:solidFill>
                <a:latin typeface="Consolas"/>
              </a:rPr>
              <a:t>    │   ├── test_uninstaller_mechanics.py</a:t>
            </a:r>
          </a:p>
          <a:p>
            <a:pPr algn="l">
              <a:lnSpc>
                <a:spcPct val="100000"/>
              </a:lnSpc>
            </a:pPr>
            <a:r>
              <a:rPr sz="800" b="0" i="0">
                <a:solidFill>
                  <a:srgbClr val="ECE7DC"/>
                </a:solidFill>
                <a:latin typeface="Consolas"/>
              </a:rPr>
              <a:t>    │   ├── test_unrealer_agent.py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test_usage.py</a:t>
            </a:r>
          </a:p>
          <a:p>
            <a:pPr algn="l">
              <a:lnSpc>
                <a:spcPct val="100000"/>
              </a:lnSpc>
            </a:pPr>
            <a:r>
              <a:rPr sz="800" b="0" i="0">
                <a:solidFill>
                  <a:srgbClr val="ECE7DC"/>
                </a:solidFill>
                <a:latin typeface="Consolas"/>
              </a:rPr>
              <a:t>    │   ├── test_version_guard.py</a:t>
            </a:r>
          </a:p>
          <a:p>
            <a:pPr algn="l">
              <a:lnSpc>
                <a:spcPct val="100000"/>
              </a:lnSpc>
            </a:pPr>
            <a:r>
              <a:rPr sz="800" b="0" i="0">
                <a:solidFill>
                  <a:srgbClr val="ECE7DC"/>
                </a:solidFill>
                <a:latin typeface="Consolas"/>
              </a:rPr>
              <a:t>    │   ├── test_video_analyzer_agent.py</a:t>
            </a:r>
          </a:p>
          <a:p>
            <a:pPr algn="l">
              <a:lnSpc>
                <a:spcPct val="100000"/>
              </a:lnSpc>
            </a:pPr>
            <a:r>
              <a:rPr sz="800" b="0" i="0">
                <a:solidFill>
                  <a:srgbClr val="ECE7DC"/>
                </a:solidFill>
                <a:latin typeface="Consolas"/>
              </a:rPr>
              <a:t>    │   ├── test_video_analyzer_content.py</a:t>
            </a:r>
          </a:p>
          <a:p>
            <a:pPr algn="l">
              <a:lnSpc>
                <a:spcPct val="100000"/>
              </a:lnSpc>
            </a:pPr>
            <a:r>
              <a:rPr sz="800" b="0" i="0">
                <a:solidFill>
                  <a:srgbClr val="ECE7DC"/>
                </a:solidFill>
                <a:latin typeface="Consolas"/>
              </a:rPr>
              <a:t>    │   ├── test_video_analyzer_fetch.py</a:t>
            </a:r>
          </a:p>
          <a:p>
            <a:pPr algn="l">
              <a:lnSpc>
                <a:spcPct val="100000"/>
              </a:lnSpc>
            </a:pPr>
            <a:r>
              <a:rPr sz="800" b="0" i="0">
                <a:solidFill>
                  <a:srgbClr val="ECE7DC"/>
                </a:solidFill>
                <a:latin typeface="Consolas"/>
              </a:rPr>
              <a:t>    │   ├── test_videoplayer_agent.py</a:t>
            </a:r>
          </a:p>
          <a:p>
            <a:pPr algn="l">
              <a:lnSpc>
                <a:spcPct val="100000"/>
              </a:lnSpc>
            </a:pPr>
            <a:r>
              <a:rPr sz="800" b="0" i="0">
                <a:solidFill>
                  <a:srgbClr val="ECE7DC"/>
                </a:solidFill>
                <a:latin typeface="Consolas"/>
              </a:rPr>
              <a:t>    │   ├── test_visual_fatal_errors.py</a:t>
            </a:r>
          </a:p>
          <a:p>
            <a:pPr algn="l">
              <a:lnSpc>
                <a:spcPct val="100000"/>
              </a:lnSpc>
            </a:pPr>
            <a:r>
              <a:rPr sz="800" b="0" i="0">
                <a:solidFill>
                  <a:srgbClr val="ECE7DC"/>
                </a:solidFill>
                <a:latin typeface="Consolas"/>
              </a:rPr>
              <a:t>    │   ├── test_voice_commands_catalog.py</a:t>
            </a:r>
          </a:p>
          <a:p>
            <a:pPr algn="l">
              <a:lnSpc>
                <a:spcPct val="100000"/>
              </a:lnSpc>
            </a:pPr>
            <a:r>
              <a:rPr sz="800" b="0" i="0">
                <a:solidFill>
                  <a:srgbClr val="ECE7DC"/>
                </a:solidFill>
                <a:latin typeface="Consolas"/>
              </a:rPr>
              <a:t>    │   ├── test_watchdog_foreground_exemption.py</a:t>
            </a:r>
          </a:p>
          <a:p>
            <a:pPr algn="l">
              <a:lnSpc>
                <a:spcPct val="100000"/>
              </a:lnSpc>
            </a:pPr>
            <a:r>
              <a:rPr sz="800" b="0" i="0">
                <a:solidFill>
                  <a:srgbClr val="ECE7DC"/>
                </a:solidFill>
                <a:latin typeface="Consolas"/>
              </a:rPr>
              <a:t>    │   ├── test_web_process_stays_lean.py</a:t>
            </a:r>
          </a:p>
          <a:p>
            <a:pPr algn="l">
              <a:lnSpc>
                <a:spcPct val="100000"/>
              </a:lnSpc>
            </a:pPr>
            <a:r>
              <a:rPr sz="800" b="0" i="0">
                <a:solidFill>
                  <a:srgbClr val="ECE7DC"/>
                </a:solidFill>
                <a:latin typeface="Consolas"/>
              </a:rPr>
              <a:t>    │   ├── test_whatsapper_identity.py</a:t>
            </a:r>
          </a:p>
          <a:p>
            <a:pPr algn="l">
              <a:lnSpc>
                <a:spcPct val="100000"/>
              </a:lnSpc>
            </a:pPr>
            <a:r>
              <a:rPr sz="800" b="0" i="0">
                <a:solidFill>
                  <a:srgbClr val="ECE7DC"/>
                </a:solidFill>
                <a:latin typeface="Consolas"/>
              </a:rPr>
              <a:t>    │   ├── test_whisperer_agent.py</a:t>
            </a:r>
          </a:p>
          <a:p>
            <a:pPr algn="l">
              <a:lnSpc>
                <a:spcPct val="100000"/>
              </a:lnSpc>
            </a:pPr>
            <a:r>
              <a:rPr sz="800" b="0" i="0">
                <a:solidFill>
                  <a:srgbClr val="ECE7DC"/>
                </a:solidFill>
                <a:latin typeface="Consolas"/>
              </a:rPr>
              <a:t>    │   ├── test_win_shim.py</a:t>
            </a:r>
          </a:p>
          <a:p>
            <a:pPr algn="l">
              <a:lnSpc>
                <a:spcPct val="100000"/>
              </a:lnSpc>
            </a:pPr>
            <a:r>
              <a:rPr sz="800" b="0" i="0">
                <a:solidFill>
                  <a:srgbClr val="ECE7DC"/>
                </a:solidFill>
                <a:latin typeface="Consolas"/>
              </a:rPr>
              <a:t>    │   ├── test_windower_agent.py</a:t>
            </a:r>
          </a:p>
          <a:p>
            <a:pPr algn="l">
              <a:lnSpc>
                <a:spcPct val="100000"/>
              </a:lnSpc>
            </a:pPr>
            <a:r>
              <a:rPr sz="800" b="0" i="0">
                <a:solidFill>
                  <a:srgbClr val="ECE7DC"/>
                </a:solidFill>
                <a:latin typeface="Consolas"/>
              </a:rPr>
              <a:t>    │   ├── test_windows_app_registration.py</a:t>
            </a:r>
          </a:p>
          <a:p>
            <a:pPr algn="l">
              <a:lnSpc>
                <a:spcPct val="100000"/>
              </a:lnSpc>
            </a:pPr>
            <a:r>
              <a:rPr sz="800" b="0" i="0">
                <a:solidFill>
                  <a:srgbClr val="ECE7DC"/>
                </a:solidFill>
                <a:latin typeface="Consolas"/>
              </a:rPr>
              <a:t>    │   ├── test_wizard_intent_guards.py</a:t>
            </a:r>
          </a:p>
          <a:p>
            <a:pPr algn="l">
              <a:lnSpc>
                <a:spcPct val="100000"/>
              </a:lnSpc>
            </a:pPr>
            <a:r>
              <a:rPr sz="800" b="0" i="0">
                <a:solidFill>
                  <a:srgbClr val="ECE7DC"/>
                </a:solidFill>
                <a:latin typeface="Consolas"/>
              </a:rPr>
              <a:t>    │   ├── tests.py</a:t>
            </a:r>
          </a:p>
          <a:p>
            <a:pPr algn="l">
              <a:lnSpc>
                <a:spcPct val="100000"/>
              </a:lnSpc>
            </a:pPr>
            <a:r>
              <a:rPr sz="800" b="0" i="0">
                <a:solidFill>
                  <a:srgbClr val="ECE7DC"/>
                </a:solidFill>
                <a:latin typeface="Consolas"/>
              </a:rPr>
              <a:t>    │   ├── tests_perf_3x.py</a:t>
            </a:r>
          </a:p>
          <a:p>
            <a:pPr algn="l">
              <a:lnSpc>
                <a:spcPct val="100000"/>
              </a:lnSpc>
            </a:pPr>
            <a:r>
              <a:rPr sz="800" b="0" i="0">
                <a:solidFill>
                  <a:srgbClr val="ECE7DC"/>
                </a:solidFill>
                <a:latin typeface="Consolas"/>
              </a:rPr>
              <a:t>    │   ├── Tlamatini.md</a:t>
            </a:r>
          </a:p>
          <a:p>
            <a:pPr algn="l">
              <a:lnSpc>
                <a:spcPct val="100000"/>
              </a:lnSpc>
            </a:pPr>
            <a:r>
              <a:rPr sz="800" b="0" i="0">
                <a:solidFill>
                  <a:srgbClr val="ECE7DC"/>
                </a:solidFill>
                <a:latin typeface="Consolas"/>
              </a:rPr>
              <a:t>    │   ├── tools.py</a:t>
            </a:r>
          </a:p>
          <a:p>
            <a:pPr algn="l">
              <a:lnSpc>
                <a:spcPct val="100000"/>
              </a:lnSpc>
            </a:pPr>
            <a:r>
              <a:rPr sz="800" b="0" i="0">
                <a:solidFill>
                  <a:srgbClr val="ECE7DC"/>
                </a:solidFill>
                <a:latin typeface="Consolas"/>
              </a:rPr>
              <a:t>    │   ├── urls.py</a:t>
            </a:r>
          </a:p>
          <a:p>
            <a:pPr algn="l">
              <a:lnSpc>
                <a:spcPct val="100000"/>
              </a:lnSpc>
            </a:pPr>
            <a:r>
              <a:rPr sz="800" b="0" i="0">
                <a:solidFill>
                  <a:srgbClr val="ECE7DC"/>
                </a:solidFill>
                <a:latin typeface="Consolas"/>
              </a:rPr>
              <a:t>    │   ├── usage_provider.py</a:t>
            </a:r>
          </a:p>
          <a:p>
            <a:pPr algn="l">
              <a:lnSpc>
                <a:spcPct val="100000"/>
              </a:lnSpc>
            </a:pPr>
            <a:r>
              <a:rPr sz="800" b="0" i="0">
                <a:solidFill>
                  <a:srgbClr val="ECE7DC"/>
                </a:solidFill>
                <a:latin typeface="Consolas"/>
              </a:rPr>
              <a:t>    │   ├── usage_tracking.py</a:t>
            </a:r>
          </a:p>
          <a:p>
            <a:pPr algn="l">
              <a:lnSpc>
                <a:spcPct val="100000"/>
              </a:lnSpc>
            </a:pPr>
            <a:r>
              <a:rPr sz="800" b="0" i="0">
                <a:solidFill>
                  <a:srgbClr val="ECE7DC"/>
                </a:solidFill>
                <a:latin typeface="Consolas"/>
              </a:rPr>
              <a:t>    │   ├── usage_views.py</a:t>
            </a:r>
          </a:p>
          <a:p>
            <a:pPr algn="l">
              <a:lnSpc>
                <a:spcPct val="100000"/>
              </a:lnSpc>
            </a:pPr>
            <a:r>
              <a:rPr sz="800" b="0" i="0">
                <a:solidFill>
                  <a:srgbClr val="ECE7DC"/>
                </a:solidFill>
                <a:latin typeface="Consolas"/>
              </a:rPr>
              <a:t>    │   ├── version.py</a:t>
            </a:r>
          </a:p>
          <a:p>
            <a:pPr algn="l">
              <a:lnSpc>
                <a:spcPct val="100000"/>
              </a:lnSpc>
            </a:pPr>
            <a:r>
              <a:rPr sz="800" b="0" i="0">
                <a:solidFill>
                  <a:srgbClr val="ECE7DC"/>
                </a:solidFill>
                <a:latin typeface="Consolas"/>
              </a:rPr>
              <a:t>    │   ├── views.py</a:t>
            </a:r>
          </a:p>
          <a:p>
            <a:pPr algn="l">
              <a:lnSpc>
                <a:spcPct val="100000"/>
              </a:lnSpc>
            </a:pPr>
            <a:r>
              <a:rPr sz="800" b="0" i="0">
                <a:solidFill>
                  <a:srgbClr val="ECE7DC"/>
                </a:solidFill>
                <a:latin typeface="Consolas"/>
              </a:rPr>
              <a:t>    │   ├── visual_error_reporting.py</a:t>
            </a:r>
          </a:p>
          <a:p>
            <a:pPr algn="l">
              <a:lnSpc>
                <a:spcPct val="100000"/>
              </a:lnSpc>
            </a:pPr>
            <a:r>
              <a:rPr sz="800" b="0" i="0">
                <a:solidFill>
                  <a:srgbClr val="ECE7DC"/>
                </a:solidFill>
                <a:latin typeface="Consolas"/>
              </a:rPr>
              <a:t>    │   ├── web_search_llm.py</a:t>
            </a:r>
          </a:p>
          <a:p>
            <a:pPr algn="l">
              <a:lnSpc>
                <a:spcPct val="100000"/>
              </a:lnSpc>
            </a:pPr>
            <a:r>
              <a:rPr sz="800" b="0" i="0">
                <a:solidFill>
                  <a:srgbClr val="ECE7DC"/>
                </a:solidFill>
                <a:latin typeface="Consolas"/>
              </a:rPr>
              <a:t>    │   ├── win_shim.py</a:t>
            </a:r>
          </a:p>
          <a:p>
            <a:pPr algn="l">
              <a:lnSpc>
                <a:spcPct val="100000"/>
              </a:lnSpc>
            </a:pPr>
            <a:r>
              <a:rPr sz="800" b="0" i="0">
                <a:solidFill>
                  <a:srgbClr val="ECE7DC"/>
                </a:solidFill>
                <a:latin typeface="Consolas"/>
              </a:rPr>
              <a:t>    │   ├── window_flash.py</a:t>
            </a:r>
          </a:p>
          <a:p>
            <a:pPr algn="l">
              <a:lnSpc>
                <a:spcPct val="100000"/>
              </a:lnSpc>
            </a:pPr>
            <a:r>
              <a:rPr sz="800" b="0" i="0">
                <a:solidFill>
                  <a:srgbClr val="ECE7DC"/>
                </a:solidFill>
                <a:latin typeface="Consolas"/>
              </a:rPr>
              <a:t>    │   ├── windows_app_registration.py</a:t>
            </a:r>
          </a:p>
          <a:p>
            <a:pPr algn="l">
              <a:lnSpc>
                <a:spcPct val="100000"/>
              </a:lnSpc>
            </a:pPr>
            <a:r>
              <a:rPr sz="800" b="0" i="0">
                <a:solidFill>
                  <a:srgbClr val="3BBE93"/>
                </a:solidFill>
                <a:latin typeface="Consolas"/>
              </a:rPr>
              <a:t>    │   ├── acpx/</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agent_registry.py</a:t>
            </a:r>
          </a:p>
          <a:p>
            <a:pPr algn="l">
              <a:lnSpc>
                <a:spcPct val="100000"/>
              </a:lnSpc>
            </a:pPr>
            <a:r>
              <a:rPr sz="800" b="0" i="0">
                <a:solidFill>
                  <a:srgbClr val="ECE7DC"/>
                </a:solidFill>
                <a:latin typeface="Consolas"/>
              </a:rPr>
              <a:t>    │   │   ├── child_health.py</a:t>
            </a:r>
          </a:p>
          <a:p>
            <a:pPr algn="l">
              <a:lnSpc>
                <a:spcPct val="100000"/>
              </a:lnSpc>
            </a:pPr>
            <a:r>
              <a:rPr sz="800" b="0" i="0">
                <a:solidFill>
                  <a:srgbClr val="ECE7DC"/>
                </a:solidFill>
                <a:latin typeface="Consolas"/>
              </a:rPr>
              <a:t>    │   │   ├── config.py</a:t>
            </a:r>
          </a:p>
          <a:p>
            <a:pPr algn="l">
              <a:lnSpc>
                <a:spcPct val="100000"/>
              </a:lnSpc>
            </a:pPr>
            <a:r>
              <a:rPr sz="800" b="0" i="0">
                <a:solidFill>
                  <a:srgbClr val="ECE7DC"/>
                </a:solidFill>
                <a:latin typeface="Consolas"/>
              </a:rPr>
              <a:t>    │   │   ├── permissions.py</a:t>
            </a:r>
          </a:p>
          <a:p>
            <a:pPr algn="l">
              <a:lnSpc>
                <a:spcPct val="100000"/>
              </a:lnSpc>
            </a:pPr>
            <a:r>
              <a:rPr sz="800" b="0" i="0">
                <a:solidFill>
                  <a:srgbClr val="ECE7DC"/>
                </a:solidFill>
                <a:latin typeface="Consolas"/>
              </a:rPr>
              <a:t>    │   │   ├── runtime.py</a:t>
            </a:r>
          </a:p>
          <a:p>
            <a:pPr algn="l">
              <a:lnSpc>
                <a:spcPct val="100000"/>
              </a:lnSpc>
            </a:pPr>
            <a:r>
              <a:rPr sz="800" b="0" i="0">
                <a:solidFill>
                  <a:srgbClr val="ECE7DC"/>
                </a:solidFill>
                <a:latin typeface="Consolas"/>
              </a:rPr>
              <a:t>    │   │   ├── service.py</a:t>
            </a:r>
          </a:p>
          <a:p>
            <a:pPr algn="l">
              <a:lnSpc>
                <a:spcPct val="100000"/>
              </a:lnSpc>
            </a:pPr>
            <a:r>
              <a:rPr sz="800" b="0" i="0">
                <a:solidFill>
                  <a:srgbClr val="ECE7DC"/>
                </a:solidFill>
                <a:latin typeface="Consolas"/>
              </a:rPr>
              <a:t>    │   │   ├── session_store.py</a:t>
            </a:r>
          </a:p>
          <a:p>
            <a:pPr algn="l">
              <a:lnSpc>
                <a:spcPct val="100000"/>
              </a:lnSpc>
            </a:pPr>
            <a:r>
              <a:rPr sz="800" b="0" i="0">
                <a:solidFill>
                  <a:srgbClr val="ECE7DC"/>
                </a:solidFill>
                <a:latin typeface="Consolas"/>
              </a:rPr>
              <a:t>    │   │   ├── tests.py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tools.py</a:t>
            </a:r>
          </a:p>
          <a:p>
            <a:pPr algn="l">
              <a:lnSpc>
                <a:spcPct val="100000"/>
              </a:lnSpc>
            </a:pPr>
            <a:r>
              <a:rPr sz="800" b="0" i="0">
                <a:solidFill>
                  <a:srgbClr val="ECE7DC"/>
                </a:solidFill>
                <a:latin typeface="Consolas"/>
              </a:rPr>
              <a:t>    │   │   └── windows_spawn.py</a:t>
            </a:r>
          </a:p>
          <a:p>
            <a:pPr algn="l">
              <a:lnSpc>
                <a:spcPct val="100000"/>
              </a:lnSpc>
            </a:pPr>
            <a:r>
              <a:rPr sz="800" b="0" i="0">
                <a:solidFill>
                  <a:srgbClr val="3BBE93"/>
                </a:solidFill>
                <a:latin typeface="Consolas"/>
              </a:rPr>
              <a:t>    │   ├── agents/</a:t>
            </a:r>
          </a:p>
          <a:p>
            <a:pPr algn="l">
              <a:lnSpc>
                <a:spcPct val="100000"/>
              </a:lnSpc>
            </a:pPr>
            <a:r>
              <a:rPr sz="800" b="0" i="0">
                <a:solidFill>
                  <a:srgbClr val="ECE7DC"/>
                </a:solidFill>
                <a:latin typeface="Consolas"/>
              </a:rPr>
              <a:t>    │   │   ├── model_settings.py</a:t>
            </a:r>
          </a:p>
          <a:p>
            <a:pPr algn="l">
              <a:lnSpc>
                <a:spcPct val="100000"/>
              </a:lnSpc>
            </a:pPr>
            <a:r>
              <a:rPr sz="800" b="0" i="0">
                <a:solidFill>
                  <a:srgbClr val="ECE7DC"/>
                </a:solidFill>
                <a:latin typeface="Consolas"/>
              </a:rPr>
              <a:t>    │   │   ├── visual_errors.py</a:t>
            </a:r>
          </a:p>
          <a:p>
            <a:pPr algn="l">
              <a:lnSpc>
                <a:spcPct val="100000"/>
              </a:lnSpc>
            </a:pPr>
            <a:r>
              <a:rPr sz="800" b="0" i="0">
                <a:solidFill>
                  <a:srgbClr val="3BBE93"/>
                </a:solidFill>
                <a:latin typeface="Consolas"/>
              </a:rPr>
              <a:t>    │   │   ├── acpxer/</a:t>
            </a:r>
          </a:p>
          <a:p>
            <a:pPr algn="l">
              <a:lnSpc>
                <a:spcPct val="100000"/>
              </a:lnSpc>
            </a:pPr>
            <a:r>
              <a:rPr sz="800" b="0" i="0">
                <a:solidFill>
                  <a:srgbClr val="ECE7DC"/>
                </a:solidFill>
                <a:latin typeface="Consolas"/>
              </a:rPr>
              <a:t>    │   │   │   ├── acpxer.py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analyzer/</a:t>
            </a:r>
          </a:p>
          <a:p>
            <a:pPr algn="l">
              <a:lnSpc>
                <a:spcPct val="100000"/>
              </a:lnSpc>
            </a:pPr>
            <a:r>
              <a:rPr sz="800" b="0" i="0">
                <a:solidFill>
                  <a:srgbClr val="ECE7DC"/>
                </a:solidFill>
                <a:latin typeface="Consolas"/>
              </a:rPr>
              <a:t>    │   │   │   ├── analyzer.py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and/</a:t>
            </a:r>
          </a:p>
          <a:p>
            <a:pPr algn="l">
              <a:lnSpc>
                <a:spcPct val="100000"/>
              </a:lnSpc>
            </a:pPr>
            <a:r>
              <a:rPr sz="800" b="0" i="0">
                <a:solidFill>
                  <a:srgbClr val="ECE7DC"/>
                </a:solidFill>
                <a:latin typeface="Consolas"/>
              </a:rPr>
              <a:t>    │   │   │   ├── and.py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apirer/</a:t>
            </a:r>
          </a:p>
          <a:p>
            <a:pPr algn="l">
              <a:lnSpc>
                <a:spcPct val="100000"/>
              </a:lnSpc>
            </a:pPr>
            <a:r>
              <a:rPr sz="800" b="0" i="0">
                <a:solidFill>
                  <a:srgbClr val="ECE7DC"/>
                </a:solidFill>
                <a:latin typeface="Consolas"/>
              </a:rPr>
              <a:t>    │   │   │   ├── apirer.py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arduiner/</a:t>
            </a:r>
          </a:p>
          <a:p>
            <a:pPr algn="l">
              <a:lnSpc>
                <a:spcPct val="100000"/>
              </a:lnSpc>
            </a:pPr>
            <a:r>
              <a:rPr sz="800" b="0" i="0">
                <a:solidFill>
                  <a:srgbClr val="ECE7DC"/>
                </a:solidFill>
                <a:latin typeface="Consolas"/>
              </a:rPr>
              <a:t>    │   │   │   ├── arduiner.py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 ArduinoTemplateProject/</a:t>
            </a:r>
          </a:p>
          <a:p>
            <a:pPr algn="l">
              <a:lnSpc>
                <a:spcPct val="100000"/>
              </a:lnSpc>
            </a:pPr>
            <a:r>
              <a:rPr sz="800" b="0" i="0">
                <a:solidFill>
                  <a:srgbClr val="ECE7DC"/>
                </a:solidFill>
                <a:latin typeface="Consolas"/>
              </a:rPr>
              <a:t>    │   │   │       ├── ArduinoTemplateProject.ino</a:t>
            </a:r>
          </a:p>
          <a:p>
            <a:pPr algn="l">
              <a:lnSpc>
                <a:spcPct val="100000"/>
              </a:lnSpc>
            </a:pPr>
            <a:r>
              <a:rPr sz="800" b="0" i="0">
                <a:solidFill>
                  <a:srgbClr val="ECE7DC"/>
                </a:solidFill>
                <a:latin typeface="Consolas"/>
              </a:rPr>
              <a:t>    │   │   │       ├── README.md</a:t>
            </a:r>
          </a:p>
          <a:p>
            <a:pPr algn="l">
              <a:lnSpc>
                <a:spcPct val="100000"/>
              </a:lnSpc>
            </a:pPr>
            <a:r>
              <a:rPr sz="800" b="0" i="0">
                <a:solidFill>
                  <a:srgbClr val="ECE7DC"/>
                </a:solidFill>
                <a:latin typeface="Consolas"/>
              </a:rPr>
              <a:t>    │   │   │       ├── sketch.yaml</a:t>
            </a:r>
          </a:p>
          <a:p>
            <a:pPr algn="l">
              <a:lnSpc>
                <a:spcPct val="100000"/>
              </a:lnSpc>
            </a:pPr>
            <a:r>
              <a:rPr sz="800" b="0" i="0">
                <a:solidFill>
                  <a:srgbClr val="3BBE93"/>
                </a:solidFill>
                <a:latin typeface="Consolas"/>
              </a:rPr>
              <a:t>    │   │   │       └── src/</a:t>
            </a:r>
          </a:p>
          <a:p>
            <a:pPr algn="l">
              <a:lnSpc>
                <a:spcPct val="100000"/>
              </a:lnSpc>
            </a:pPr>
            <a:r>
              <a:rPr sz="800" b="0" i="0">
                <a:solidFill>
                  <a:srgbClr val="ECE7DC"/>
                </a:solidFill>
                <a:latin typeface="Consolas"/>
              </a:rPr>
              <a:t>    │   │   │           ├── Heartbeat.cpp</a:t>
            </a:r>
          </a:p>
          <a:p>
            <a:pPr algn="l">
              <a:lnSpc>
                <a:spcPct val="100000"/>
              </a:lnSpc>
            </a:pPr>
            <a:r>
              <a:rPr sz="800" b="0" i="0">
                <a:solidFill>
                  <a:srgbClr val="ECE7DC"/>
                </a:solidFill>
                <a:latin typeface="Consolas"/>
              </a:rPr>
              <a:t>    │   │   │           └── Heartbeat.h</a:t>
            </a:r>
          </a:p>
          <a:p>
            <a:pPr algn="l">
              <a:lnSpc>
                <a:spcPct val="100000"/>
              </a:lnSpc>
            </a:pPr>
            <a:r>
              <a:rPr sz="800" b="0" i="0">
                <a:solidFill>
                  <a:srgbClr val="3BBE93"/>
                </a:solidFill>
                <a:latin typeface="Consolas"/>
              </a:rPr>
              <a:t>    │   │   ├── asker/</a:t>
            </a:r>
          </a:p>
          <a:p>
            <a:pPr algn="l">
              <a:lnSpc>
                <a:spcPct val="100000"/>
              </a:lnSpc>
            </a:pPr>
            <a:r>
              <a:rPr sz="800" b="0" i="0">
                <a:solidFill>
                  <a:srgbClr val="ECE7DC"/>
                </a:solidFill>
                <a:latin typeface="Consolas"/>
              </a:rPr>
              <a:t>    │   │   │   ├── asker.py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audioplayer/</a:t>
            </a:r>
          </a:p>
          <a:p>
            <a:pPr algn="l">
              <a:lnSpc>
                <a:spcPct val="100000"/>
              </a:lnSpc>
            </a:pPr>
            <a:r>
              <a:rPr sz="800" b="0" i="0">
                <a:solidFill>
                  <a:srgbClr val="ECE7DC"/>
                </a:solidFill>
                <a:latin typeface="Consolas"/>
              </a:rPr>
              <a:t>    │   │   │   ├── audioplayer.py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barrier/</a:t>
            </a:r>
          </a:p>
          <a:p>
            <a:pPr algn="l">
              <a:lnSpc>
                <a:spcPct val="100000"/>
              </a:lnSpc>
            </a:pPr>
            <a:r>
              <a:rPr sz="800" b="0" i="0">
                <a:solidFill>
                  <a:srgbClr val="ECE7DC"/>
                </a:solidFill>
                <a:latin typeface="Consolas"/>
              </a:rPr>
              <a:t>    │   │   │   ├── barrier.py</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test_barrier.py</a:t>
            </a:r>
          </a:p>
          <a:p>
            <a:pPr algn="l">
              <a:lnSpc>
                <a:spcPct val="100000"/>
              </a:lnSpc>
            </a:pPr>
            <a:r>
              <a:rPr sz="800" b="0" i="0">
                <a:solidFill>
                  <a:srgbClr val="3BBE93"/>
                </a:solidFill>
                <a:latin typeface="Consolas"/>
              </a:rPr>
              <a:t>    │   │   ├── blenderer/</a:t>
            </a:r>
          </a:p>
          <a:p>
            <a:pPr algn="l">
              <a:lnSpc>
                <a:spcPct val="100000"/>
              </a:lnSpc>
            </a:pPr>
            <a:r>
              <a:rPr sz="800" b="0" i="0">
                <a:solidFill>
                  <a:srgbClr val="ECE7DC"/>
                </a:solidFill>
                <a:latin typeface="Consolas"/>
              </a:rPr>
              <a:t>    │   │   │   ├── blenderer.py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camcorder/</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8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camcorder.py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cleaner/</a:t>
            </a:r>
          </a:p>
          <a:p>
            <a:pPr algn="l">
              <a:lnSpc>
                <a:spcPct val="100000"/>
              </a:lnSpc>
            </a:pPr>
            <a:r>
              <a:rPr sz="800" b="0" i="0">
                <a:solidFill>
                  <a:srgbClr val="ECE7DC"/>
                </a:solidFill>
                <a:latin typeface="Consolas"/>
              </a:rPr>
              <a:t>    │   │   │   ├── __init__.py</a:t>
            </a:r>
          </a:p>
          <a:p>
            <a:pPr algn="l">
              <a:lnSpc>
                <a:spcPct val="100000"/>
              </a:lnSpc>
            </a:pPr>
            <a:r>
              <a:rPr sz="800" b="0" i="0">
                <a:solidFill>
                  <a:srgbClr val="ECE7DC"/>
                </a:solidFill>
                <a:latin typeface="Consolas"/>
              </a:rPr>
              <a:t>    │   │   │   ├── cleaner.py</a:t>
            </a:r>
          </a:p>
          <a:p>
            <a:pPr algn="l">
              <a:lnSpc>
                <a:spcPct val="100000"/>
              </a:lnSpc>
            </a:pPr>
            <a:r>
              <a:rPr sz="800" b="0" i="0">
                <a:solidFill>
                  <a:srgbClr val="ECE7DC"/>
                </a:solidFill>
                <a:latin typeface="Consolas"/>
              </a:rPr>
              <a:t>    │   │   │   └── config.yaml</a:t>
            </a:r>
          </a:p>
          <a:p>
            <a:pPr algn="l">
              <a:lnSpc>
                <a:spcPct val="100000"/>
              </a:lnSpc>
            </a:pPr>
            <a:r>
              <a:rPr sz="800" b="0" i="0">
                <a:solidFill>
                  <a:srgbClr val="3BBE93"/>
                </a:solidFill>
                <a:latin typeface="Consolas"/>
              </a:rPr>
              <a:t>    │   │   ├── counter/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counter.py</a:t>
            </a:r>
          </a:p>
          <a:p>
            <a:pPr algn="l">
              <a:lnSpc>
                <a:spcPct val="100000"/>
              </a:lnSpc>
            </a:pPr>
            <a:r>
              <a:rPr sz="800" b="0" i="0">
                <a:solidFill>
                  <a:srgbClr val="3BBE93"/>
                </a:solidFill>
                <a:latin typeface="Consolas"/>
              </a:rPr>
              <a:t>    │   │   ├── crawler/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crawler.py</a:t>
            </a:r>
          </a:p>
          <a:p>
            <a:pPr algn="l">
              <a:lnSpc>
                <a:spcPct val="100000"/>
              </a:lnSpc>
            </a:pPr>
            <a:r>
              <a:rPr sz="800" b="0" i="0">
                <a:solidFill>
                  <a:srgbClr val="3BBE93"/>
                </a:solidFill>
                <a:latin typeface="Consolas"/>
              </a:rPr>
              <a:t>    │   │   ├── croner/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croner.py</a:t>
            </a:r>
          </a:p>
          <a:p>
            <a:pPr algn="l">
              <a:lnSpc>
                <a:spcPct val="100000"/>
              </a:lnSpc>
            </a:pPr>
            <a:r>
              <a:rPr sz="800" b="0" i="0">
                <a:solidFill>
                  <a:srgbClr val="3BBE93"/>
                </a:solidFill>
                <a:latin typeface="Consolas"/>
              </a:rPr>
              <a:t>    │   │   ├── de_compresser/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de_compresser.py</a:t>
            </a:r>
          </a:p>
          <a:p>
            <a:pPr algn="l">
              <a:lnSpc>
                <a:spcPct val="100000"/>
              </a:lnSpc>
            </a:pPr>
            <a:r>
              <a:rPr sz="800" b="0" i="0">
                <a:solidFill>
                  <a:srgbClr val="3BBE93"/>
                </a:solidFill>
                <a:latin typeface="Consolas"/>
              </a:rPr>
              <a:t>    │   │   ├── deleter/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deleter.py</a:t>
            </a:r>
          </a:p>
          <a:p>
            <a:pPr algn="l">
              <a:lnSpc>
                <a:spcPct val="100000"/>
              </a:lnSpc>
            </a:pPr>
            <a:r>
              <a:rPr sz="800" b="0" i="0">
                <a:solidFill>
                  <a:srgbClr val="3BBE93"/>
                </a:solidFill>
                <a:latin typeface="Consolas"/>
              </a:rPr>
              <a:t>    │   │   ├── discoverer/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discoverer.py</a:t>
            </a:r>
          </a:p>
          <a:p>
            <a:pPr algn="l">
              <a:lnSpc>
                <a:spcPct val="100000"/>
              </a:lnSpc>
            </a:pPr>
            <a:r>
              <a:rPr sz="800" b="0" i="0">
                <a:solidFill>
                  <a:srgbClr val="3BBE93"/>
                </a:solidFill>
                <a:latin typeface="Consolas"/>
              </a:rPr>
              <a:t>    │   │   ├── dockerer/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dockerer.py</a:t>
            </a:r>
          </a:p>
          <a:p>
            <a:pPr algn="l">
              <a:lnSpc>
                <a:spcPct val="100000"/>
              </a:lnSpc>
            </a:pPr>
            <a:r>
              <a:rPr sz="800" b="0" i="0">
                <a:solidFill>
                  <a:srgbClr val="3BBE93"/>
                </a:solidFill>
                <a:latin typeface="Consolas"/>
              </a:rPr>
              <a:t>    │   │   ├── editor/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editor.py</a:t>
            </a:r>
          </a:p>
          <a:p>
            <a:pPr algn="l">
              <a:lnSpc>
                <a:spcPct val="100000"/>
              </a:lnSpc>
            </a:pPr>
            <a:r>
              <a:rPr sz="800" b="0" i="0">
                <a:solidFill>
                  <a:srgbClr val="3BBE93"/>
                </a:solidFill>
                <a:latin typeface="Consolas"/>
              </a:rPr>
              <a:t>    │   │   ├── emailer/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emailer.py</a:t>
            </a:r>
          </a:p>
          <a:p>
            <a:pPr algn="l">
              <a:lnSpc>
                <a:spcPct val="100000"/>
              </a:lnSpc>
            </a:pPr>
            <a:r>
              <a:rPr sz="800" b="0" i="0">
                <a:solidFill>
                  <a:srgbClr val="3BBE93"/>
                </a:solidFill>
                <a:latin typeface="Consolas"/>
              </a:rPr>
              <a:t>    │   │   ├── ender/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ender.py</a:t>
            </a:r>
          </a:p>
          <a:p>
            <a:pPr algn="l">
              <a:lnSpc>
                <a:spcPct val="100000"/>
              </a:lnSpc>
            </a:pPr>
            <a:r>
              <a:rPr sz="800" b="0" i="0">
                <a:solidFill>
                  <a:srgbClr val="3BBE93"/>
                </a:solidFill>
                <a:latin typeface="Consolas"/>
              </a:rPr>
              <a:t>    │   │   ├── esp32er/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esp32er.py</a:t>
            </a:r>
          </a:p>
          <a:p>
            <a:pPr algn="l">
              <a:lnSpc>
                <a:spcPct val="100000"/>
              </a:lnSpc>
            </a:pPr>
            <a:r>
              <a:rPr sz="800" b="0" i="0">
                <a:solidFill>
                  <a:srgbClr val="3BBE93"/>
                </a:solidFill>
                <a:latin typeface="Consolas"/>
              </a:rPr>
              <a:t>    │   │   │   └── ESP32TemplateProject/</a:t>
            </a:r>
          </a:p>
          <a:p>
            <a:pPr algn="l">
              <a:lnSpc>
                <a:spcPct val="100000"/>
              </a:lnSpc>
            </a:pPr>
            <a:r>
              <a:rPr sz="800" b="0" i="0">
                <a:solidFill>
                  <a:srgbClr val="ECE7DC"/>
                </a:solidFill>
                <a:latin typeface="Consolas"/>
              </a:rPr>
              <a:t>    │   │   │       ├── platformio.ini</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README.md</a:t>
            </a:r>
          </a:p>
          <a:p>
            <a:pPr algn="l">
              <a:lnSpc>
                <a:spcPct val="100000"/>
              </a:lnSpc>
            </a:pPr>
            <a:r>
              <a:rPr sz="800" b="0" i="0">
                <a:solidFill>
                  <a:srgbClr val="3BBE93"/>
                </a:solidFill>
                <a:latin typeface="Consolas"/>
              </a:rPr>
              <a:t>    │   │   │       ├── include/</a:t>
            </a:r>
          </a:p>
          <a:p>
            <a:pPr algn="l">
              <a:lnSpc>
                <a:spcPct val="100000"/>
              </a:lnSpc>
            </a:pPr>
            <a:r>
              <a:rPr sz="800" b="0" i="0">
                <a:solidFill>
                  <a:srgbClr val="ECE7DC"/>
                </a:solidFill>
                <a:latin typeface="Consolas"/>
              </a:rPr>
              <a:t>    │   │   │       │   └── README.md</a:t>
            </a:r>
          </a:p>
          <a:p>
            <a:pPr algn="l">
              <a:lnSpc>
                <a:spcPct val="100000"/>
              </a:lnSpc>
            </a:pPr>
            <a:r>
              <a:rPr sz="800" b="0" i="0">
                <a:solidFill>
                  <a:srgbClr val="3BBE93"/>
                </a:solidFill>
                <a:latin typeface="Consolas"/>
              </a:rPr>
              <a:t>    │   │   │       ├── lib/</a:t>
            </a:r>
          </a:p>
          <a:p>
            <a:pPr algn="l">
              <a:lnSpc>
                <a:spcPct val="100000"/>
              </a:lnSpc>
            </a:pPr>
            <a:r>
              <a:rPr sz="800" b="0" i="0">
                <a:solidFill>
                  <a:srgbClr val="ECE7DC"/>
                </a:solidFill>
                <a:latin typeface="Consolas"/>
              </a:rPr>
              <a:t>    │   │   │       │   └── README.md</a:t>
            </a:r>
          </a:p>
          <a:p>
            <a:pPr algn="l">
              <a:lnSpc>
                <a:spcPct val="100000"/>
              </a:lnSpc>
            </a:pPr>
            <a:r>
              <a:rPr sz="800" b="0" i="0">
                <a:solidFill>
                  <a:srgbClr val="3BBE93"/>
                </a:solidFill>
                <a:latin typeface="Consolas"/>
              </a:rPr>
              <a:t>    │   │   │       ├── src/</a:t>
            </a:r>
          </a:p>
          <a:p>
            <a:pPr algn="l">
              <a:lnSpc>
                <a:spcPct val="100000"/>
              </a:lnSpc>
            </a:pPr>
            <a:r>
              <a:rPr sz="800" b="0" i="0">
                <a:solidFill>
                  <a:srgbClr val="ECE7DC"/>
                </a:solidFill>
                <a:latin typeface="Consolas"/>
              </a:rPr>
              <a:t>    │   │   │       │   └── main.cpp</a:t>
            </a:r>
          </a:p>
          <a:p>
            <a:pPr algn="l">
              <a:lnSpc>
                <a:spcPct val="100000"/>
              </a:lnSpc>
            </a:pPr>
            <a:r>
              <a:rPr sz="800" b="0" i="0">
                <a:solidFill>
                  <a:srgbClr val="3BBE93"/>
                </a:solidFill>
                <a:latin typeface="Consolas"/>
              </a:rPr>
              <a:t>    │   │   │       └── test/</a:t>
            </a:r>
          </a:p>
          <a:p>
            <a:pPr algn="l">
              <a:lnSpc>
                <a:spcPct val="100000"/>
              </a:lnSpc>
            </a:pPr>
            <a:r>
              <a:rPr sz="800" b="0" i="0">
                <a:solidFill>
                  <a:srgbClr val="ECE7DC"/>
                </a:solidFill>
                <a:latin typeface="Consolas"/>
              </a:rPr>
              <a:t>    │   │   │           └── README.md</a:t>
            </a:r>
          </a:p>
          <a:p>
            <a:pPr algn="l">
              <a:lnSpc>
                <a:spcPct val="100000"/>
              </a:lnSpc>
            </a:pPr>
            <a:r>
              <a:rPr sz="800" b="0" i="0">
                <a:solidFill>
                  <a:srgbClr val="3BBE93"/>
                </a:solidFill>
                <a:latin typeface="Consolas"/>
              </a:rPr>
              <a:t>    │   │   ├── esphomer/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esphomer.py</a:t>
            </a:r>
          </a:p>
          <a:p>
            <a:pPr algn="l">
              <a:lnSpc>
                <a:spcPct val="100000"/>
              </a:lnSpc>
            </a:pPr>
            <a:r>
              <a:rPr sz="800" b="0" i="0">
                <a:solidFill>
                  <a:srgbClr val="3BBE93"/>
                </a:solidFill>
                <a:latin typeface="Consolas"/>
              </a:rPr>
              <a:t>    │   │   │   └── ESPHomeTemplateProject/</a:t>
            </a:r>
          </a:p>
          <a:p>
            <a:pPr algn="l">
              <a:lnSpc>
                <a:spcPct val="100000"/>
              </a:lnSpc>
            </a:pPr>
            <a:r>
              <a:rPr sz="800" b="0" i="0">
                <a:solidFill>
                  <a:srgbClr val="ECE7DC"/>
                </a:solidFill>
                <a:latin typeface="Consolas"/>
              </a:rPr>
              <a:t>    │   │   │       ├── .gitignore</a:t>
            </a:r>
          </a:p>
          <a:p>
            <a:pPr algn="l">
              <a:lnSpc>
                <a:spcPct val="100000"/>
              </a:lnSpc>
            </a:pPr>
            <a:r>
              <a:rPr sz="800" b="0" i="0">
                <a:solidFill>
                  <a:srgbClr val="ECE7DC"/>
                </a:solidFill>
                <a:latin typeface="Consolas"/>
              </a:rPr>
              <a:t>    │   │   │       ├── README.md</a:t>
            </a:r>
          </a:p>
          <a:p>
            <a:pPr algn="l">
              <a:lnSpc>
                <a:spcPct val="100000"/>
              </a:lnSpc>
            </a:pPr>
            <a:r>
              <a:rPr sz="800" b="0" i="0">
                <a:solidFill>
                  <a:srgbClr val="ECE7DC"/>
                </a:solidFill>
                <a:latin typeface="Consolas"/>
              </a:rPr>
              <a:t>    │   │   │       ├── secrets.yaml.example</a:t>
            </a:r>
          </a:p>
          <a:p>
            <a:pPr algn="l">
              <a:lnSpc>
                <a:spcPct val="100000"/>
              </a:lnSpc>
            </a:pPr>
            <a:r>
              <a:rPr sz="800" b="0" i="0">
                <a:solidFill>
                  <a:srgbClr val="ECE7DC"/>
                </a:solidFill>
                <a:latin typeface="Consolas"/>
              </a:rPr>
              <a:t>    │   │   │       ├── tlamatini-light.yaml</a:t>
            </a:r>
          </a:p>
          <a:p>
            <a:pPr algn="l">
              <a:lnSpc>
                <a:spcPct val="100000"/>
              </a:lnSpc>
            </a:pPr>
            <a:r>
              <a:rPr sz="800" b="0" i="0">
                <a:solidFill>
                  <a:srgbClr val="ECE7DC"/>
                </a:solidFill>
                <a:latin typeface="Consolas"/>
              </a:rPr>
              <a:t>    │   │   │       ├── tlamatini-sensor.yaml</a:t>
            </a:r>
          </a:p>
          <a:p>
            <a:pPr algn="l">
              <a:lnSpc>
                <a:spcPct val="100000"/>
              </a:lnSpc>
            </a:pPr>
            <a:r>
              <a:rPr sz="800" b="0" i="0">
                <a:solidFill>
                  <a:srgbClr val="3BBE93"/>
                </a:solidFill>
                <a:latin typeface="Consolas"/>
              </a:rPr>
              <a:t>    │   │   │       └── common/</a:t>
            </a:r>
          </a:p>
          <a:p>
            <a:pPr algn="l">
              <a:lnSpc>
                <a:spcPct val="100000"/>
              </a:lnSpc>
            </a:pPr>
            <a:r>
              <a:rPr sz="800" b="0" i="0">
                <a:solidFill>
                  <a:srgbClr val="ECE7DC"/>
                </a:solidFill>
                <a:latin typeface="Consolas"/>
              </a:rPr>
              <a:t>    │   │   │           └── base.yaml</a:t>
            </a:r>
          </a:p>
          <a:p>
            <a:pPr algn="l">
              <a:lnSpc>
                <a:spcPct val="100000"/>
              </a:lnSpc>
            </a:pPr>
            <a:r>
              <a:rPr sz="800" b="0" i="0">
                <a:solidFill>
                  <a:srgbClr val="3BBE93"/>
                </a:solidFill>
                <a:latin typeface="Consolas"/>
              </a:rPr>
              <a:t>    │   │   ├── executer/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executer.py</a:t>
            </a:r>
          </a:p>
          <a:p>
            <a:pPr algn="l">
              <a:lnSpc>
                <a:spcPct val="100000"/>
              </a:lnSpc>
            </a:pPr>
            <a:r>
              <a:rPr sz="800" b="0" i="0">
                <a:solidFill>
                  <a:srgbClr val="3BBE93"/>
                </a:solidFill>
                <a:latin typeface="Consolas"/>
              </a:rPr>
              <a:t>    │   │   ├── file_creator/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file_creator.py</a:t>
            </a:r>
          </a:p>
          <a:p>
            <a:pPr algn="l">
              <a:lnSpc>
                <a:spcPct val="100000"/>
              </a:lnSpc>
            </a:pPr>
            <a:r>
              <a:rPr sz="800" b="0" i="0">
                <a:solidFill>
                  <a:srgbClr val="3BBE93"/>
                </a:solidFill>
                <a:latin typeface="Consolas"/>
              </a:rPr>
              <a:t>    │   │   ├── file_extractor/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file_extractor.py</a:t>
            </a:r>
          </a:p>
          <a:p>
            <a:pPr algn="l">
              <a:lnSpc>
                <a:spcPct val="100000"/>
              </a:lnSpc>
            </a:pPr>
            <a:r>
              <a:rPr sz="800" b="0" i="0">
                <a:solidFill>
                  <a:srgbClr val="3BBE93"/>
                </a:solidFill>
                <a:latin typeface="Consolas"/>
              </a:rPr>
              <a:t>    │   │   ├── file_interpreter/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file_interpreter.py</a:t>
            </a:r>
          </a:p>
          <a:p>
            <a:pPr algn="l">
              <a:lnSpc>
                <a:spcPct val="100000"/>
              </a:lnSpc>
            </a:pPr>
            <a:r>
              <a:rPr sz="800" b="0" i="0">
                <a:solidFill>
                  <a:srgbClr val="3BBE93"/>
                </a:solidFill>
                <a:latin typeface="Consolas"/>
              </a:rPr>
              <a:t>    │   │   ├── flowbacker/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flowbacker.py</a:t>
            </a:r>
          </a:p>
          <a:p>
            <a:pPr algn="l">
              <a:lnSpc>
                <a:spcPct val="100000"/>
              </a:lnSpc>
            </a:pPr>
            <a:r>
              <a:rPr sz="800" b="0" i="0">
                <a:solidFill>
                  <a:srgbClr val="3BBE93"/>
                </a:solidFill>
                <a:latin typeface="Consolas"/>
              </a:rPr>
              <a:t>    │   │   ├── flowcreator/</a:t>
            </a:r>
          </a:p>
          <a:p>
            <a:pPr algn="l">
              <a:lnSpc>
                <a:spcPct val="100000"/>
              </a:lnSpc>
            </a:pPr>
            <a:r>
              <a:rPr sz="800" b="0" i="0">
                <a:solidFill>
                  <a:srgbClr val="ECE7DC"/>
                </a:solidFill>
                <a:latin typeface="Consolas"/>
              </a:rPr>
              <a:t>    │   │   │   ├── agentic_skill.md</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flow_catalog.json</a:t>
            </a:r>
          </a:p>
          <a:p>
            <a:pPr algn="l">
              <a:lnSpc>
                <a:spcPct val="100000"/>
              </a:lnSpc>
            </a:pPr>
            <a:r>
              <a:rPr sz="800" b="0" i="0">
                <a:solidFill>
                  <a:srgbClr val="ECE7DC"/>
                </a:solidFill>
                <a:latin typeface="Consolas"/>
              </a:rPr>
              <a:t>    │   │   │   ├── flow_knowledge.py</a:t>
            </a:r>
          </a:p>
          <a:p>
            <a:pPr algn="l">
              <a:lnSpc>
                <a:spcPct val="100000"/>
              </a:lnSpc>
            </a:pPr>
            <a:r>
              <a:rPr sz="800" b="0" i="0">
                <a:solidFill>
                  <a:srgbClr val="ECE7DC"/>
                </a:solidFill>
                <a:latin typeface="Consolas"/>
              </a:rPr>
              <a:t>    │   │   │   ├── flowcreator.py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result_to_flw.py</a:t>
            </a:r>
          </a:p>
          <a:p>
            <a:pPr algn="l">
              <a:lnSpc>
                <a:spcPct val="100000"/>
              </a:lnSpc>
            </a:pPr>
            <a:r>
              <a:rPr sz="800" b="0" i="0">
                <a:solidFill>
                  <a:srgbClr val="3BBE93"/>
                </a:solidFill>
                <a:latin typeface="Consolas"/>
              </a:rPr>
              <a:t>    │   │   ├── flowhypervisor/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flowhypervisor.py</a:t>
            </a:r>
          </a:p>
          <a:p>
            <a:pPr algn="l">
              <a:lnSpc>
                <a:spcPct val="100000"/>
              </a:lnSpc>
            </a:pPr>
            <a:r>
              <a:rPr sz="800" b="0" i="0">
                <a:solidFill>
                  <a:srgbClr val="ECE7DC"/>
                </a:solidFill>
                <a:latin typeface="Consolas"/>
              </a:rPr>
              <a:t>    │   │   │   ├── hypervisor_alert.wav</a:t>
            </a:r>
          </a:p>
          <a:p>
            <a:pPr algn="l">
              <a:lnSpc>
                <a:spcPct val="100000"/>
              </a:lnSpc>
            </a:pPr>
            <a:r>
              <a:rPr sz="800" b="0" i="0">
                <a:solidFill>
                  <a:srgbClr val="ECE7DC"/>
                </a:solidFill>
                <a:latin typeface="Consolas"/>
              </a:rPr>
              <a:t>    │   │   │   └── monitoring-prompt.pmt</a:t>
            </a:r>
          </a:p>
          <a:p>
            <a:pPr algn="l">
              <a:lnSpc>
                <a:spcPct val="100000"/>
              </a:lnSpc>
            </a:pPr>
            <a:r>
              <a:rPr sz="800" b="0" i="0">
                <a:solidFill>
                  <a:srgbClr val="3BBE93"/>
                </a:solidFill>
                <a:latin typeface="Consolas"/>
              </a:rPr>
              <a:t>    │   │   ├── forker/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forker.py</a:t>
            </a:r>
          </a:p>
          <a:p>
            <a:pPr algn="l">
              <a:lnSpc>
                <a:spcPct val="100000"/>
              </a:lnSpc>
            </a:pPr>
            <a:r>
              <a:rPr sz="800" b="0" i="0">
                <a:solidFill>
                  <a:srgbClr val="3BBE93"/>
                </a:solidFill>
                <a:latin typeface="Consolas"/>
              </a:rPr>
              <a:t>    │   │   ├── gitter/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gitter.py</a:t>
            </a:r>
          </a:p>
          <a:p>
            <a:pPr algn="l">
              <a:lnSpc>
                <a:spcPct val="100000"/>
              </a:lnSpc>
            </a:pPr>
            <a:r>
              <a:rPr sz="800" b="0" i="0">
                <a:solidFill>
                  <a:srgbClr val="3BBE93"/>
                </a:solidFill>
                <a:latin typeface="Consolas"/>
              </a:rPr>
              <a:t>    │   │   ├── globber/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globber.py</a:t>
            </a:r>
          </a:p>
          <a:p>
            <a:pPr algn="l">
              <a:lnSpc>
                <a:spcPct val="100000"/>
              </a:lnSpc>
            </a:pPr>
            <a:r>
              <a:rPr sz="800" b="0" i="0">
                <a:solidFill>
                  <a:srgbClr val="3BBE93"/>
                </a:solidFill>
                <a:latin typeface="Consolas"/>
              </a:rPr>
              <a:t>    │   │   ├── googler/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googler.py</a:t>
            </a:r>
          </a:p>
          <a:p>
            <a:pPr algn="l">
              <a:lnSpc>
                <a:spcPct val="100000"/>
              </a:lnSpc>
            </a:pPr>
            <a:r>
              <a:rPr sz="800" b="0" i="0">
                <a:solidFill>
                  <a:srgbClr val="ECE7DC"/>
                </a:solidFill>
                <a:latin typeface="Consolas"/>
              </a:rPr>
              <a:t>    │   │   │   └── googler_engines.py</a:t>
            </a:r>
          </a:p>
          <a:p>
            <a:pPr algn="l">
              <a:lnSpc>
                <a:spcPct val="100000"/>
              </a:lnSpc>
            </a:pPr>
            <a:r>
              <a:rPr sz="800" b="0" i="0">
                <a:solidFill>
                  <a:srgbClr val="3BBE93"/>
                </a:solidFill>
                <a:latin typeface="Consolas"/>
              </a:rPr>
              <a:t>    │   │   ├── grepper/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grepper.py</a:t>
            </a:r>
          </a:p>
          <a:p>
            <a:pPr algn="l">
              <a:lnSpc>
                <a:spcPct val="100000"/>
              </a:lnSpc>
            </a:pPr>
            <a:r>
              <a:rPr sz="800" b="0" i="0">
                <a:solidFill>
                  <a:srgbClr val="3BBE93"/>
                </a:solidFill>
                <a:latin typeface="Consolas"/>
              </a:rPr>
              <a:t>    │   │   ├── image_interpreter/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image_interpreter.py</a:t>
            </a:r>
          </a:p>
          <a:p>
            <a:pPr algn="l">
              <a:lnSpc>
                <a:spcPct val="100000"/>
              </a:lnSpc>
            </a:pPr>
            <a:r>
              <a:rPr sz="800" b="0" i="0">
                <a:solidFill>
                  <a:srgbClr val="3BBE93"/>
                </a:solidFill>
                <a:latin typeface="Consolas"/>
              </a:rPr>
              <a:t>    │   │   ├── instant_messaging_doctor/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instant_messaging_doctor.py</a:t>
            </a:r>
          </a:p>
          <a:p>
            <a:pPr algn="l">
              <a:lnSpc>
                <a:spcPct val="100000"/>
              </a:lnSpc>
            </a:pPr>
            <a:r>
              <a:rPr sz="800" b="0" i="0">
                <a:solidFill>
                  <a:srgbClr val="3BBE93"/>
                </a:solidFill>
                <a:latin typeface="Consolas"/>
              </a:rPr>
              <a:t>    │   │   ├── j_decompiler/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j_decompiler.py</a:t>
            </a:r>
          </a:p>
          <a:p>
            <a:pPr algn="l">
              <a:lnSpc>
                <a:spcPct val="100000"/>
              </a:lnSpc>
            </a:pPr>
            <a:r>
              <a:rPr sz="800" b="0" i="0">
                <a:solidFill>
                  <a:srgbClr val="3BBE93"/>
                </a:solidFill>
                <a:latin typeface="Consolas"/>
              </a:rPr>
              <a:t>    │   │   ├── jenkinser/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jenkinser.py</a:t>
            </a:r>
          </a:p>
          <a:p>
            <a:pPr algn="l">
              <a:lnSpc>
                <a:spcPct val="100000"/>
              </a:lnSpc>
            </a:pPr>
            <a:r>
              <a:rPr sz="800" b="0" i="0">
                <a:solidFill>
                  <a:srgbClr val="3BBE93"/>
                </a:solidFill>
                <a:latin typeface="Consolas"/>
              </a:rPr>
              <a:t>    │   │   ├── kalier/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kalier.py</a:t>
            </a:r>
          </a:p>
          <a:p>
            <a:pPr algn="l">
              <a:lnSpc>
                <a:spcPct val="100000"/>
              </a:lnSpc>
            </a:pPr>
            <a:r>
              <a:rPr sz="800" b="0" i="0">
                <a:solidFill>
                  <a:srgbClr val="3BBE93"/>
                </a:solidFill>
                <a:latin typeface="Consolas"/>
              </a:rPr>
              <a:t>    │   │   ├── keyboarder/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keyboarder.py</a:t>
            </a:r>
          </a:p>
          <a:p>
            <a:pPr algn="l">
              <a:lnSpc>
                <a:spcPct val="100000"/>
              </a:lnSpc>
            </a:pPr>
            <a:r>
              <a:rPr sz="800" b="0" i="0">
                <a:solidFill>
                  <a:srgbClr val="ECE7DC"/>
                </a:solidFill>
                <a:latin typeface="Consolas"/>
              </a:rPr>
              <a:t>    │   │   │   └── keyboarder_input.py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9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kuberneter/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kuberneter.py</a:t>
            </a:r>
          </a:p>
          <a:p>
            <a:pPr algn="l">
              <a:lnSpc>
                <a:spcPct val="100000"/>
              </a:lnSpc>
            </a:pPr>
            <a:r>
              <a:rPr sz="800" b="0" i="0">
                <a:solidFill>
                  <a:srgbClr val="3BBE93"/>
                </a:solidFill>
                <a:latin typeface="Consolas"/>
              </a:rPr>
              <a:t>    │   │   ├── kyber_cipher/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kyber_cipher.py</a:t>
            </a:r>
          </a:p>
          <a:p>
            <a:pPr algn="l">
              <a:lnSpc>
                <a:spcPct val="100000"/>
              </a:lnSpc>
            </a:pPr>
            <a:r>
              <a:rPr sz="800" b="0" i="0">
                <a:solidFill>
                  <a:srgbClr val="3BBE93"/>
                </a:solidFill>
                <a:latin typeface="Consolas"/>
              </a:rPr>
              <a:t>    │   │   ├── kyber_decipher/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kyber_decipher.py</a:t>
            </a:r>
          </a:p>
          <a:p>
            <a:pPr algn="l">
              <a:lnSpc>
                <a:spcPct val="100000"/>
              </a:lnSpc>
            </a:pPr>
            <a:r>
              <a:rPr sz="800" b="0" i="0">
                <a:solidFill>
                  <a:srgbClr val="3BBE93"/>
                </a:solidFill>
                <a:latin typeface="Consolas"/>
              </a:rPr>
              <a:t>    │   │   ├── kyber_keygen/</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kyber_keygen.py</a:t>
            </a:r>
          </a:p>
          <a:p>
            <a:pPr algn="l">
              <a:lnSpc>
                <a:spcPct val="100000"/>
              </a:lnSpc>
            </a:pPr>
            <a:r>
              <a:rPr sz="800" b="0" i="0">
                <a:solidFill>
                  <a:srgbClr val="3BBE93"/>
                </a:solidFill>
                <a:latin typeface="Consolas"/>
              </a:rPr>
              <a:t>    │   │   ├── latexer/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latexer.py</a:t>
            </a:r>
          </a:p>
          <a:p>
            <a:pPr algn="l">
              <a:lnSpc>
                <a:spcPct val="100000"/>
              </a:lnSpc>
            </a:pPr>
            <a:r>
              <a:rPr sz="800" b="0" i="0">
                <a:solidFill>
                  <a:srgbClr val="ECE7DC"/>
                </a:solidFill>
                <a:latin typeface="Consolas"/>
              </a:rPr>
              <a:t>    │   │   │   ├── latexer_artwork.py</a:t>
            </a:r>
          </a:p>
          <a:p>
            <a:pPr algn="l">
              <a:lnSpc>
                <a:spcPct val="100000"/>
              </a:lnSpc>
            </a:pPr>
            <a:r>
              <a:rPr sz="800" b="0" i="0">
                <a:solidFill>
                  <a:srgbClr val="ECE7DC"/>
                </a:solidFill>
                <a:latin typeface="Consolas"/>
              </a:rPr>
              <a:t>    │   │   │   ├── latexer_design.py</a:t>
            </a:r>
          </a:p>
          <a:p>
            <a:pPr algn="l">
              <a:lnSpc>
                <a:spcPct val="100000"/>
              </a:lnSpc>
            </a:pPr>
            <a:r>
              <a:rPr sz="800" b="0" i="0">
                <a:solidFill>
                  <a:srgbClr val="ECE7DC"/>
                </a:solidFill>
                <a:latin typeface="Consolas"/>
              </a:rPr>
              <a:t>    │   │   │   ├── latexer_styles.py</a:t>
            </a:r>
          </a:p>
          <a:p>
            <a:pPr algn="l">
              <a:lnSpc>
                <a:spcPct val="100000"/>
              </a:lnSpc>
            </a:pPr>
            <a:r>
              <a:rPr sz="800" b="0" i="0">
                <a:solidFill>
                  <a:srgbClr val="ECE7DC"/>
                </a:solidFill>
                <a:latin typeface="Consolas"/>
              </a:rPr>
              <a:t>    │   │   │   └── STYLES.md</a:t>
            </a:r>
          </a:p>
          <a:p>
            <a:pPr algn="l">
              <a:lnSpc>
                <a:spcPct val="100000"/>
              </a:lnSpc>
            </a:pPr>
            <a:r>
              <a:rPr sz="800" b="0" i="0">
                <a:solidFill>
                  <a:srgbClr val="3BBE93"/>
                </a:solidFill>
                <a:latin typeface="Consolas"/>
              </a:rPr>
              <a:t>    │   │   ├── mcp_doctor/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mcp_doctor.py</a:t>
            </a:r>
          </a:p>
          <a:p>
            <a:pPr algn="l">
              <a:lnSpc>
                <a:spcPct val="100000"/>
              </a:lnSpc>
            </a:pPr>
            <a:r>
              <a:rPr sz="800" b="0" i="0">
                <a:solidFill>
                  <a:srgbClr val="3BBE93"/>
                </a:solidFill>
                <a:latin typeface="Consolas"/>
              </a:rPr>
              <a:t>    │   │   ├── mongoxer/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mongoxer.py</a:t>
            </a:r>
          </a:p>
          <a:p>
            <a:pPr algn="l">
              <a:lnSpc>
                <a:spcPct val="100000"/>
              </a:lnSpc>
            </a:pPr>
            <a:r>
              <a:rPr sz="800" b="0" i="0">
                <a:solidFill>
                  <a:srgbClr val="3BBE93"/>
                </a:solidFill>
                <a:latin typeface="Consolas"/>
              </a:rPr>
              <a:t>    │   │   ├── monitor_log/</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monitor_log.py</a:t>
            </a:r>
          </a:p>
          <a:p>
            <a:pPr algn="l">
              <a:lnSpc>
                <a:spcPct val="100000"/>
              </a:lnSpc>
            </a:pPr>
            <a:r>
              <a:rPr sz="800" b="0" i="0">
                <a:solidFill>
                  <a:srgbClr val="3BBE93"/>
                </a:solidFill>
                <a:latin typeface="Consolas"/>
              </a:rPr>
              <a:t>    │   │   ├── monitor_netstat/</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monitor_netstat.py</a:t>
            </a:r>
          </a:p>
          <a:p>
            <a:pPr algn="l">
              <a:lnSpc>
                <a:spcPct val="100000"/>
              </a:lnSpc>
            </a:pPr>
            <a:r>
              <a:rPr sz="800" b="0" i="0">
                <a:solidFill>
                  <a:srgbClr val="3BBE93"/>
                </a:solidFill>
                <a:latin typeface="Consolas"/>
              </a:rPr>
              <a:t>    │   │   ├── mouser/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mouser.py</a:t>
            </a:r>
          </a:p>
          <a:p>
            <a:pPr algn="l">
              <a:lnSpc>
                <a:spcPct val="100000"/>
              </a:lnSpc>
            </a:pPr>
            <a:r>
              <a:rPr sz="800" b="0" i="0">
                <a:solidFill>
                  <a:srgbClr val="ECE7DC"/>
                </a:solidFill>
                <a:latin typeface="Consolas"/>
              </a:rPr>
              <a:t>    │   │   │   └── mouser_coordinates.py</a:t>
            </a:r>
          </a:p>
          <a:p>
            <a:pPr algn="l">
              <a:lnSpc>
                <a:spcPct val="100000"/>
              </a:lnSpc>
            </a:pPr>
            <a:r>
              <a:rPr sz="800" b="0" i="0">
                <a:solidFill>
                  <a:srgbClr val="3BBE93"/>
                </a:solidFill>
                <a:latin typeface="Consolas"/>
              </a:rPr>
              <a:t>    │   │   ├── mover/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mover.py</a:t>
            </a:r>
          </a:p>
          <a:p>
            <a:pPr algn="l">
              <a:lnSpc>
                <a:spcPct val="100000"/>
              </a:lnSpc>
            </a:pPr>
            <a:r>
              <a:rPr sz="800" b="0" i="0">
                <a:solidFill>
                  <a:srgbClr val="3BBE93"/>
                </a:solidFill>
                <a:latin typeface="Consolas"/>
              </a:rPr>
              <a:t>    │   │   ├── netspeed_calculator/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netspeed_calculator.py</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3BBE93"/>
                </a:solidFill>
                <a:latin typeface="Consolas"/>
              </a:rPr>
              <a:t>    │   │   ├── nmapper/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nmapper.py</a:t>
            </a:r>
          </a:p>
          <a:p>
            <a:pPr algn="l">
              <a:lnSpc>
                <a:spcPct val="100000"/>
              </a:lnSpc>
            </a:pPr>
            <a:r>
              <a:rPr sz="800" b="0" i="0">
                <a:solidFill>
                  <a:srgbClr val="3BBE93"/>
                </a:solidFill>
                <a:latin typeface="Consolas"/>
              </a:rPr>
              <a:t>    │   │   ├── notifier/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notifier.py</a:t>
            </a:r>
          </a:p>
          <a:p>
            <a:pPr algn="l">
              <a:lnSpc>
                <a:spcPct val="100000"/>
              </a:lnSpc>
            </a:pPr>
            <a:r>
              <a:rPr sz="800" b="0" i="0">
                <a:solidFill>
                  <a:srgbClr val="3BBE93"/>
                </a:solidFill>
                <a:latin typeface="Consolas"/>
              </a:rPr>
              <a:t>    │   │   ├── or/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or.py</a:t>
            </a:r>
          </a:p>
          <a:p>
            <a:pPr algn="l">
              <a:lnSpc>
                <a:spcPct val="100000"/>
              </a:lnSpc>
            </a:pPr>
            <a:r>
              <a:rPr sz="800" b="0" i="0">
                <a:solidFill>
                  <a:srgbClr val="3BBE93"/>
                </a:solidFill>
                <a:latin typeface="Consolas"/>
              </a:rPr>
              <a:t>    │   │   ├── parametrizer/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parametrizer.py</a:t>
            </a:r>
          </a:p>
          <a:p>
            <a:pPr algn="l">
              <a:lnSpc>
                <a:spcPct val="100000"/>
              </a:lnSpc>
            </a:pPr>
            <a:r>
              <a:rPr sz="800" b="0" i="0">
                <a:solidFill>
                  <a:srgbClr val="3BBE93"/>
                </a:solidFill>
                <a:latin typeface="Consolas"/>
              </a:rPr>
              <a:t>    │   │   ├── pdfer/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pdfer.py</a:t>
            </a:r>
          </a:p>
          <a:p>
            <a:pPr algn="l">
              <a:lnSpc>
                <a:spcPct val="100000"/>
              </a:lnSpc>
            </a:pPr>
            <a:r>
              <a:rPr sz="800" b="0" i="0">
                <a:solidFill>
                  <a:srgbClr val="ECE7DC"/>
                </a:solidFill>
                <a:latin typeface="Consolas"/>
              </a:rPr>
              <a:t>    │   │   │   ├── pdfer_artwork.py</a:t>
            </a:r>
          </a:p>
          <a:p>
            <a:pPr algn="l">
              <a:lnSpc>
                <a:spcPct val="100000"/>
              </a:lnSpc>
            </a:pPr>
            <a:r>
              <a:rPr sz="800" b="0" i="0">
                <a:solidFill>
                  <a:srgbClr val="ECE7DC"/>
                </a:solidFill>
                <a:latin typeface="Consolas"/>
              </a:rPr>
              <a:t>    │   │   │   ├── pdfer_atelier.py</a:t>
            </a:r>
          </a:p>
          <a:p>
            <a:pPr algn="l">
              <a:lnSpc>
                <a:spcPct val="100000"/>
              </a:lnSpc>
            </a:pPr>
            <a:r>
              <a:rPr sz="800" b="0" i="0">
                <a:solidFill>
                  <a:srgbClr val="ECE7DC"/>
                </a:solidFill>
                <a:latin typeface="Consolas"/>
              </a:rPr>
              <a:t>    │   │   │   ├── pdfer_audit.py</a:t>
            </a:r>
          </a:p>
          <a:p>
            <a:pPr algn="l">
              <a:lnSpc>
                <a:spcPct val="100000"/>
              </a:lnSpc>
            </a:pPr>
            <a:r>
              <a:rPr sz="800" b="0" i="0">
                <a:solidFill>
                  <a:srgbClr val="ECE7DC"/>
                </a:solidFill>
                <a:latin typeface="Consolas"/>
              </a:rPr>
              <a:t>    │   │   │   ├── pdfer_color.py</a:t>
            </a:r>
          </a:p>
          <a:p>
            <a:pPr algn="l">
              <a:lnSpc>
                <a:spcPct val="100000"/>
              </a:lnSpc>
            </a:pPr>
            <a:r>
              <a:rPr sz="800" b="0" i="0">
                <a:solidFill>
                  <a:srgbClr val="ECE7DC"/>
                </a:solidFill>
                <a:latin typeface="Consolas"/>
              </a:rPr>
              <a:t>    │   │   │   ├── pdfer_consult.py</a:t>
            </a:r>
          </a:p>
          <a:p>
            <a:pPr algn="l">
              <a:lnSpc>
                <a:spcPct val="100000"/>
              </a:lnSpc>
            </a:pPr>
            <a:r>
              <a:rPr sz="800" b="0" i="0">
                <a:solidFill>
                  <a:srgbClr val="ECE7DC"/>
                </a:solidFill>
                <a:latin typeface="Consolas"/>
              </a:rPr>
              <a:t>    │   │   │   ├── pdfer_docmodel.py</a:t>
            </a:r>
          </a:p>
          <a:p>
            <a:pPr algn="l">
              <a:lnSpc>
                <a:spcPct val="100000"/>
              </a:lnSpc>
            </a:pPr>
            <a:r>
              <a:rPr sz="800" b="0" i="0">
                <a:solidFill>
                  <a:srgbClr val="ECE7DC"/>
                </a:solidFill>
                <a:latin typeface="Consolas"/>
              </a:rPr>
              <a:t>    │   │   │   ├── pdfer_nuance.py</a:t>
            </a:r>
          </a:p>
          <a:p>
            <a:pPr algn="l">
              <a:lnSpc>
                <a:spcPct val="100000"/>
              </a:lnSpc>
            </a:pPr>
            <a:r>
              <a:rPr sz="800" b="0" i="0">
                <a:solidFill>
                  <a:srgbClr val="ECE7DC"/>
                </a:solidFill>
                <a:latin typeface="Consolas"/>
              </a:rPr>
              <a:t>    │   │   │   ├── pdfer_ornament.py</a:t>
            </a:r>
          </a:p>
          <a:p>
            <a:pPr algn="l">
              <a:lnSpc>
                <a:spcPct val="100000"/>
              </a:lnSpc>
            </a:pPr>
            <a:r>
              <a:rPr sz="800" b="0" i="0">
                <a:solidFill>
                  <a:srgbClr val="ECE7DC"/>
                </a:solidFill>
                <a:latin typeface="Consolas"/>
              </a:rPr>
              <a:t>    │   │   │   ├── pdfer_styles.py</a:t>
            </a:r>
          </a:p>
          <a:p>
            <a:pPr algn="l">
              <a:lnSpc>
                <a:spcPct val="100000"/>
              </a:lnSpc>
            </a:pPr>
            <a:r>
              <a:rPr sz="800" b="0" i="0">
                <a:solidFill>
                  <a:srgbClr val="ECE7DC"/>
                </a:solidFill>
                <a:latin typeface="Consolas"/>
              </a:rPr>
              <a:t>    │   │   │   ├── pdfer_tables.py</a:t>
            </a:r>
          </a:p>
          <a:p>
            <a:pPr algn="l">
              <a:lnSpc>
                <a:spcPct val="100000"/>
              </a:lnSpc>
            </a:pPr>
            <a:r>
              <a:rPr sz="800" b="0" i="0">
                <a:solidFill>
                  <a:srgbClr val="ECE7DC"/>
                </a:solidFill>
                <a:latin typeface="Consolas"/>
              </a:rPr>
              <a:t>    │   │   │   ├── pdfer_theme.py</a:t>
            </a:r>
          </a:p>
          <a:p>
            <a:pPr algn="l">
              <a:lnSpc>
                <a:spcPct val="100000"/>
              </a:lnSpc>
            </a:pPr>
            <a:r>
              <a:rPr sz="800" b="0" i="0">
                <a:solidFill>
                  <a:srgbClr val="ECE7DC"/>
                </a:solidFill>
                <a:latin typeface="Consolas"/>
              </a:rPr>
              <a:t>    │   │   │   ├── pdfer_typography.py</a:t>
            </a:r>
          </a:p>
          <a:p>
            <a:pPr algn="l">
              <a:lnSpc>
                <a:spcPct val="100000"/>
              </a:lnSpc>
            </a:pPr>
            <a:r>
              <a:rPr sz="800" b="0" i="0">
                <a:solidFill>
                  <a:srgbClr val="ECE7DC"/>
                </a:solidFill>
                <a:latin typeface="Consolas"/>
              </a:rPr>
              <a:t>    │   │   │   └── STYLES.md</a:t>
            </a:r>
          </a:p>
          <a:p>
            <a:pPr algn="l">
              <a:lnSpc>
                <a:spcPct val="100000"/>
              </a:lnSpc>
            </a:pPr>
            <a:r>
              <a:rPr sz="800" b="0" i="0">
                <a:solidFill>
                  <a:srgbClr val="3BBE93"/>
                </a:solidFill>
                <a:latin typeface="Consolas"/>
              </a:rPr>
              <a:t>    │   │   ├── playwrighter/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playwrighter.py</a:t>
            </a:r>
          </a:p>
          <a:p>
            <a:pPr algn="l">
              <a:lnSpc>
                <a:spcPct val="100000"/>
              </a:lnSpc>
            </a:pPr>
            <a:r>
              <a:rPr sz="800" b="0" i="0">
                <a:solidFill>
                  <a:srgbClr val="3BBE93"/>
                </a:solidFill>
                <a:latin typeface="Consolas"/>
              </a:rPr>
              <a:t>    │   │   ├── pptxer/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pptxer.py</a:t>
            </a:r>
          </a:p>
          <a:p>
            <a:pPr algn="l">
              <a:lnSpc>
                <a:spcPct val="100000"/>
              </a:lnSpc>
            </a:pPr>
            <a:r>
              <a:rPr sz="800" b="0" i="0">
                <a:solidFill>
                  <a:srgbClr val="ECE7DC"/>
                </a:solidFill>
                <a:latin typeface="Consolas"/>
              </a:rPr>
              <a:t>    │   │   │   ├── pptxer_audit.py</a:t>
            </a:r>
          </a:p>
          <a:p>
            <a:pPr algn="l">
              <a:lnSpc>
                <a:spcPct val="100000"/>
              </a:lnSpc>
            </a:pPr>
            <a:r>
              <a:rPr sz="800" b="0" i="0">
                <a:solidFill>
                  <a:srgbClr val="ECE7DC"/>
                </a:solidFill>
                <a:latin typeface="Consolas"/>
              </a:rPr>
              <a:t>    │   │   │   ├── pptxer_build.py</a:t>
            </a:r>
          </a:p>
          <a:p>
            <a:pPr algn="l">
              <a:lnSpc>
                <a:spcPct val="100000"/>
              </a:lnSpc>
            </a:pPr>
            <a:r>
              <a:rPr sz="800" b="0" i="0">
                <a:solidFill>
                  <a:srgbClr val="ECE7DC"/>
                </a:solidFill>
                <a:latin typeface="Consolas"/>
              </a:rPr>
              <a:t>    │   │   │   ├── pptxer_color.py</a:t>
            </a:r>
          </a:p>
          <a:p>
            <a:pPr algn="l">
              <a:lnSpc>
                <a:spcPct val="100000"/>
              </a:lnSpc>
            </a:pPr>
            <a:r>
              <a:rPr sz="800" b="0" i="0">
                <a:solidFill>
                  <a:srgbClr val="ECE7DC"/>
                </a:solidFill>
                <a:latin typeface="Consolas"/>
              </a:rPr>
              <a:t>    │   │   │   ├── pptxer_diagram.py</a:t>
            </a:r>
          </a:p>
          <a:p>
            <a:pPr algn="l">
              <a:lnSpc>
                <a:spcPct val="100000"/>
              </a:lnSpc>
            </a:pPr>
            <a:r>
              <a:rPr sz="800" b="0" i="0">
                <a:solidFill>
                  <a:srgbClr val="ECE7DC"/>
                </a:solidFill>
                <a:latin typeface="Consolas"/>
              </a:rPr>
              <a:t>    │   │   │   ├── pptxer_docmodel.py</a:t>
            </a:r>
          </a:p>
          <a:p>
            <a:pPr algn="l">
              <a:lnSpc>
                <a:spcPct val="100000"/>
              </a:lnSpc>
            </a:pPr>
            <a:r>
              <a:rPr sz="800" b="0" i="0">
                <a:solidFill>
                  <a:srgbClr val="ECE7DC"/>
                </a:solidFill>
                <a:latin typeface="Consolas"/>
              </a:rPr>
              <a:t>    │   │   │   ├── pptxer_draw.py</a:t>
            </a:r>
          </a:p>
          <a:p>
            <a:pPr algn="l">
              <a:lnSpc>
                <a:spcPct val="100000"/>
              </a:lnSpc>
            </a:pPr>
            <a:r>
              <a:rPr sz="800" b="0" i="0">
                <a:solidFill>
                  <a:srgbClr val="ECE7DC"/>
                </a:solidFill>
                <a:latin typeface="Consolas"/>
              </a:rPr>
              <a:t>    │   │   │   ├── pptxer_fonts.py</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pptxer_layout.py</a:t>
            </a:r>
          </a:p>
          <a:p>
            <a:pPr algn="l">
              <a:lnSpc>
                <a:spcPct val="100000"/>
              </a:lnSpc>
            </a:pPr>
            <a:r>
              <a:rPr sz="800" b="0" i="0">
                <a:solidFill>
                  <a:srgbClr val="ECE7DC"/>
                </a:solidFill>
                <a:latin typeface="Consolas"/>
              </a:rPr>
              <a:t>    │   │   │   ├── pptxer_media.py</a:t>
            </a:r>
          </a:p>
          <a:p>
            <a:pPr algn="l">
              <a:lnSpc>
                <a:spcPct val="100000"/>
              </a:lnSpc>
            </a:pPr>
            <a:r>
              <a:rPr sz="800" b="0" i="0">
                <a:solidFill>
                  <a:srgbClr val="ECE7DC"/>
                </a:solidFill>
                <a:latin typeface="Consolas"/>
              </a:rPr>
              <a:t>    │   │   │   ├── pptxer_nuance.py</a:t>
            </a:r>
          </a:p>
          <a:p>
            <a:pPr algn="l">
              <a:lnSpc>
                <a:spcPct val="100000"/>
              </a:lnSpc>
            </a:pPr>
            <a:r>
              <a:rPr sz="800" b="0" i="0">
                <a:solidFill>
                  <a:srgbClr val="ECE7DC"/>
                </a:solidFill>
                <a:latin typeface="Consolas"/>
              </a:rPr>
              <a:t>    │   │   │   ├── pptxer_render.py</a:t>
            </a:r>
          </a:p>
          <a:p>
            <a:pPr algn="l">
              <a:lnSpc>
                <a:spcPct val="100000"/>
              </a:lnSpc>
            </a:pPr>
            <a:r>
              <a:rPr sz="800" b="0" i="0">
                <a:solidFill>
                  <a:srgbClr val="ECE7DC"/>
                </a:solidFill>
                <a:latin typeface="Consolas"/>
              </a:rPr>
              <a:t>    │   │   │   ├── pptxer_theme.py</a:t>
            </a:r>
          </a:p>
          <a:p>
            <a:pPr algn="l">
              <a:lnSpc>
                <a:spcPct val="100000"/>
              </a:lnSpc>
            </a:pPr>
            <a:r>
              <a:rPr sz="800" b="0" i="0">
                <a:solidFill>
                  <a:srgbClr val="ECE7DC"/>
                </a:solidFill>
                <a:latin typeface="Consolas"/>
              </a:rPr>
              <a:t>    │   │   │   └── STYLES.md</a:t>
            </a:r>
          </a:p>
          <a:p>
            <a:pPr algn="l">
              <a:lnSpc>
                <a:spcPct val="100000"/>
              </a:lnSpc>
            </a:pPr>
            <a:r>
              <a:rPr sz="800" b="0" i="0">
                <a:solidFill>
                  <a:srgbClr val="3BBE93"/>
                </a:solidFill>
                <a:latin typeface="Consolas"/>
              </a:rPr>
              <a:t>    │   │   ├── prompter/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prompter.py</a:t>
            </a:r>
          </a:p>
          <a:p>
            <a:pPr algn="l">
              <a:lnSpc>
                <a:spcPct val="100000"/>
              </a:lnSpc>
            </a:pPr>
            <a:r>
              <a:rPr sz="800" b="0" i="0">
                <a:solidFill>
                  <a:srgbClr val="3BBE93"/>
                </a:solidFill>
                <a:latin typeface="Consolas"/>
              </a:rPr>
              <a:t>    │   │   ├── pser/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pser.py</a:t>
            </a:r>
          </a:p>
          <a:p>
            <a:pPr algn="l">
              <a:lnSpc>
                <a:spcPct val="100000"/>
              </a:lnSpc>
            </a:pPr>
            <a:r>
              <a:rPr sz="800" b="0" i="0">
                <a:solidFill>
                  <a:srgbClr val="3BBE93"/>
                </a:solidFill>
                <a:latin typeface="Consolas"/>
              </a:rPr>
              <a:t>    │   │   ├── pythonxer/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pythonxer.py</a:t>
            </a:r>
          </a:p>
          <a:p>
            <a:pPr algn="l">
              <a:lnSpc>
                <a:spcPct val="100000"/>
              </a:lnSpc>
            </a:pPr>
            <a:r>
              <a:rPr sz="800" b="0" i="0">
                <a:solidFill>
                  <a:srgbClr val="3BBE93"/>
                </a:solidFill>
                <a:latin typeface="Consolas"/>
              </a:rPr>
              <a:t>    │   │   ├── raiser/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raiser.py</a:t>
            </a:r>
          </a:p>
          <a:p>
            <a:pPr algn="l">
              <a:lnSpc>
                <a:spcPct val="100000"/>
              </a:lnSpc>
            </a:pPr>
            <a:r>
              <a:rPr sz="800" b="0" i="0">
                <a:solidFill>
                  <a:srgbClr val="3BBE93"/>
                </a:solidFill>
                <a:latin typeface="Consolas"/>
              </a:rPr>
              <a:t>    │   │   ├── recmailer/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recmailer.py</a:t>
            </a:r>
          </a:p>
          <a:p>
            <a:pPr algn="l">
              <a:lnSpc>
                <a:spcPct val="100000"/>
              </a:lnSpc>
            </a:pPr>
            <a:r>
              <a:rPr sz="800" b="0" i="0">
                <a:solidFill>
                  <a:srgbClr val="3BBE93"/>
                </a:solidFill>
                <a:latin typeface="Consolas"/>
              </a:rPr>
              <a:t>    │   │   ├── recorder/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recorder.py</a:t>
            </a:r>
          </a:p>
          <a:p>
            <a:pPr algn="l">
              <a:lnSpc>
                <a:spcPct val="100000"/>
              </a:lnSpc>
            </a:pPr>
            <a:r>
              <a:rPr sz="800" b="0" i="0">
                <a:solidFill>
                  <a:srgbClr val="3BBE93"/>
                </a:solidFill>
                <a:latin typeface="Consolas"/>
              </a:rPr>
              <a:t>    │   │   ├── reviewer/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reviewer.py</a:t>
            </a:r>
          </a:p>
          <a:p>
            <a:pPr algn="l">
              <a:lnSpc>
                <a:spcPct val="100000"/>
              </a:lnSpc>
            </a:pPr>
            <a:r>
              <a:rPr sz="800" b="0" i="0">
                <a:solidFill>
                  <a:srgbClr val="3BBE93"/>
                </a:solidFill>
                <a:latin typeface="Consolas"/>
              </a:rPr>
              <a:t>    │   │   ├── scper/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scper.py</a:t>
            </a:r>
          </a:p>
          <a:p>
            <a:pPr algn="l">
              <a:lnSpc>
                <a:spcPct val="100000"/>
              </a:lnSpc>
            </a:pPr>
            <a:r>
              <a:rPr sz="800" b="0" i="0">
                <a:solidFill>
                  <a:srgbClr val="3BBE93"/>
                </a:solidFill>
                <a:latin typeface="Consolas"/>
              </a:rPr>
              <a:t>    │   │   ├── shoter/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shoter.py</a:t>
            </a:r>
          </a:p>
          <a:p>
            <a:pPr algn="l">
              <a:lnSpc>
                <a:spcPct val="100000"/>
              </a:lnSpc>
            </a:pPr>
            <a:r>
              <a:rPr sz="800" b="0" i="0">
                <a:solidFill>
                  <a:srgbClr val="3BBE93"/>
                </a:solidFill>
                <a:latin typeface="Consolas"/>
              </a:rPr>
              <a:t>    │   │   ├── sleeper/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sleeper.py</a:t>
            </a:r>
          </a:p>
          <a:p>
            <a:pPr algn="l">
              <a:lnSpc>
                <a:spcPct val="100000"/>
              </a:lnSpc>
            </a:pPr>
            <a:r>
              <a:rPr sz="800" b="0" i="0">
                <a:solidFill>
                  <a:srgbClr val="3BBE93"/>
                </a:solidFill>
                <a:latin typeface="Consolas"/>
              </a:rPr>
              <a:t>    │   │   ├── sqler/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sqler.py</a:t>
            </a:r>
          </a:p>
          <a:p>
            <a:pPr algn="l">
              <a:lnSpc>
                <a:spcPct val="100000"/>
              </a:lnSpc>
            </a:pPr>
            <a:r>
              <a:rPr sz="800" b="0" i="0">
                <a:solidFill>
                  <a:srgbClr val="3BBE93"/>
                </a:solidFill>
                <a:latin typeface="Consolas"/>
              </a:rPr>
              <a:t>    │   │   ├── ssher/</a:t>
            </a:r>
          </a:p>
          <a:p>
            <a:pPr algn="l">
              <a:lnSpc>
                <a:spcPct val="100000"/>
              </a:lnSpc>
            </a:pPr>
            <a:r>
              <a:rPr sz="800" b="0" i="0">
                <a:solidFill>
                  <a:srgbClr val="ECE7DC"/>
                </a:solidFill>
                <a:latin typeface="Consolas"/>
              </a:rPr>
              <a:t>    │   │   │   ├── config.yaml</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10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ssher.py</a:t>
            </a:r>
          </a:p>
          <a:p>
            <a:pPr algn="l">
              <a:lnSpc>
                <a:spcPct val="100000"/>
              </a:lnSpc>
            </a:pPr>
            <a:r>
              <a:rPr sz="800" b="0" i="0">
                <a:solidFill>
                  <a:srgbClr val="3BBE93"/>
                </a:solidFill>
                <a:latin typeface="Consolas"/>
              </a:rPr>
              <a:t>    │   │   ├── starter/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starter.py</a:t>
            </a:r>
          </a:p>
          <a:p>
            <a:pPr algn="l">
              <a:lnSpc>
                <a:spcPct val="100000"/>
              </a:lnSpc>
            </a:pPr>
            <a:r>
              <a:rPr sz="800" b="0" i="0">
                <a:solidFill>
                  <a:srgbClr val="3BBE93"/>
                </a:solidFill>
                <a:latin typeface="Consolas"/>
              </a:rPr>
              <a:t>    │   │   ├── stm32er/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stm32er.py</a:t>
            </a:r>
          </a:p>
          <a:p>
            <a:pPr algn="l">
              <a:lnSpc>
                <a:spcPct val="100000"/>
              </a:lnSpc>
            </a:pPr>
            <a:r>
              <a:rPr sz="800" b="0" i="0">
                <a:solidFill>
                  <a:srgbClr val="3BBE93"/>
                </a:solidFill>
                <a:latin typeface="Consolas"/>
              </a:rPr>
              <a:t>    │   │   ├── stopper/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stopper.py</a:t>
            </a:r>
          </a:p>
          <a:p>
            <a:pPr algn="l">
              <a:lnSpc>
                <a:spcPct val="100000"/>
              </a:lnSpc>
            </a:pPr>
            <a:r>
              <a:rPr sz="800" b="0" i="0">
                <a:solidFill>
                  <a:srgbClr val="3BBE93"/>
                </a:solidFill>
                <a:latin typeface="Consolas"/>
              </a:rPr>
              <a:t>    │   │   ├── summarizer/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summarizer.py</a:t>
            </a:r>
          </a:p>
          <a:p>
            <a:pPr algn="l">
              <a:lnSpc>
                <a:spcPct val="100000"/>
              </a:lnSpc>
            </a:pPr>
            <a:r>
              <a:rPr sz="800" b="0" i="0">
                <a:solidFill>
                  <a:srgbClr val="3BBE93"/>
                </a:solidFill>
                <a:latin typeface="Consolas"/>
              </a:rPr>
              <a:t>    │   │   ├── talker/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talker.py</a:t>
            </a:r>
          </a:p>
          <a:p>
            <a:pPr algn="l">
              <a:lnSpc>
                <a:spcPct val="100000"/>
              </a:lnSpc>
            </a:pPr>
            <a:r>
              <a:rPr sz="800" b="0" i="0">
                <a:solidFill>
                  <a:srgbClr val="3BBE93"/>
                </a:solidFill>
                <a:latin typeface="Consolas"/>
              </a:rPr>
              <a:t>    │   │   ├── telegrammer/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HOW_TO_GET_YOUR_TELEGRAM_ASSETS.md</a:t>
            </a:r>
          </a:p>
          <a:p>
            <a:pPr algn="l">
              <a:lnSpc>
                <a:spcPct val="100000"/>
              </a:lnSpc>
            </a:pPr>
            <a:r>
              <a:rPr sz="800" b="0" i="0">
                <a:solidFill>
                  <a:srgbClr val="ECE7DC"/>
                </a:solidFill>
                <a:latin typeface="Consolas"/>
              </a:rPr>
              <a:t>    │   │   │   ├── telegrammer.py</a:t>
            </a:r>
          </a:p>
          <a:p>
            <a:pPr algn="l">
              <a:lnSpc>
                <a:spcPct val="100000"/>
              </a:lnSpc>
            </a:pPr>
            <a:r>
              <a:rPr sz="800" b="0" i="0">
                <a:solidFill>
                  <a:srgbClr val="3BBE93"/>
                </a:solidFill>
                <a:latin typeface="Consolas"/>
              </a:rPr>
              <a:t>    │   │   │   └── guide_assets/</a:t>
            </a:r>
          </a:p>
          <a:p>
            <a:pPr algn="l">
              <a:lnSpc>
                <a:spcPct val="100000"/>
              </a:lnSpc>
            </a:pPr>
            <a:r>
              <a:rPr sz="800" b="0" i="0">
                <a:solidFill>
                  <a:srgbClr val="ECE7DC"/>
                </a:solidFill>
                <a:latin typeface="Consolas"/>
              </a:rPr>
              <a:t>    │   │   │       ├── telegram_01_botfather_search.jpg</a:t>
            </a:r>
          </a:p>
          <a:p>
            <a:pPr algn="l">
              <a:lnSpc>
                <a:spcPct val="100000"/>
              </a:lnSpc>
            </a:pPr>
            <a:r>
              <a:rPr sz="800" b="0" i="0">
                <a:solidFill>
                  <a:srgbClr val="ECE7DC"/>
                </a:solidFill>
                <a:latin typeface="Consolas"/>
              </a:rPr>
              <a:t>    │   │   │       ├── telegram_02_newbot_token.jpg</a:t>
            </a:r>
          </a:p>
          <a:p>
            <a:pPr algn="l">
              <a:lnSpc>
                <a:spcPct val="100000"/>
              </a:lnSpc>
            </a:pPr>
            <a:r>
              <a:rPr sz="800" b="0" i="0">
                <a:solidFill>
                  <a:srgbClr val="ECE7DC"/>
                </a:solidFill>
                <a:latin typeface="Consolas"/>
              </a:rPr>
              <a:t>    │   │   │       ├── telegram_03_start_bot_getupdates</a:t>
            </a:r>
          </a:p>
          <a:p>
            <a:pPr algn="l">
              <a:lnSpc>
                <a:spcPct val="100000"/>
              </a:lnSpc>
            </a:pPr>
            <a:r>
              <a:rPr sz="800" b="0" i="0">
                <a:solidFill>
                  <a:srgbClr val="ECE7DC"/>
                </a:solidFill>
                <a:latin typeface="Consolas"/>
              </a:rPr>
              <a:t>    │   │   │       │     » .jpg</a:t>
            </a:r>
          </a:p>
          <a:p>
            <a:pPr algn="l">
              <a:lnSpc>
                <a:spcPct val="100000"/>
              </a:lnSpc>
            </a:pPr>
            <a:r>
              <a:rPr sz="800" b="0" i="0">
                <a:solidFill>
                  <a:srgbClr val="ECE7DC"/>
                </a:solidFill>
                <a:latin typeface="Consolas"/>
              </a:rPr>
              <a:t>    │   │   │       └── telegram_04_tlamatini_contacts.j</a:t>
            </a:r>
          </a:p>
          <a:p>
            <a:pPr algn="l">
              <a:lnSpc>
                <a:spcPct val="100000"/>
              </a:lnSpc>
            </a:pPr>
            <a:r>
              <a:rPr sz="800" b="0" i="0">
                <a:solidFill>
                  <a:srgbClr val="ECE7DC"/>
                </a:solidFill>
                <a:latin typeface="Consolas"/>
              </a:rPr>
              <a:t>    │   │   │             » pg</a:t>
            </a:r>
          </a:p>
          <a:p>
            <a:pPr algn="l">
              <a:lnSpc>
                <a:spcPct val="100000"/>
              </a:lnSpc>
            </a:pPr>
            <a:r>
              <a:rPr sz="800" b="0" i="0">
                <a:solidFill>
                  <a:srgbClr val="3BBE93"/>
                </a:solidFill>
                <a:latin typeface="Consolas"/>
              </a:rPr>
              <a:t>    │   │   ├── teletlamatini/</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teletlamatini.py</a:t>
            </a:r>
          </a:p>
          <a:p>
            <a:pPr algn="l">
              <a:lnSpc>
                <a:spcPct val="100000"/>
              </a:lnSpc>
            </a:pPr>
            <a:r>
              <a:rPr sz="800" b="0" i="0">
                <a:solidFill>
                  <a:srgbClr val="3BBE93"/>
                </a:solidFill>
                <a:latin typeface="Consolas"/>
              </a:rPr>
              <a:t>    │   │   ├── terminater/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terminater.py</a:t>
            </a:r>
          </a:p>
          <a:p>
            <a:pPr algn="l">
              <a:lnSpc>
                <a:spcPct val="100000"/>
              </a:lnSpc>
            </a:pPr>
            <a:r>
              <a:rPr sz="800" b="0" i="0">
                <a:solidFill>
                  <a:srgbClr val="ECE7DC"/>
                </a:solidFill>
                <a:latin typeface="Consolas"/>
              </a:rPr>
              <a:t>    │   │   │   ├── terminater_conpty.py</a:t>
            </a:r>
          </a:p>
          <a:p>
            <a:pPr algn="l">
              <a:lnSpc>
                <a:spcPct val="100000"/>
              </a:lnSpc>
            </a:pPr>
            <a:r>
              <a:rPr sz="800" b="0" i="0">
                <a:solidFill>
                  <a:srgbClr val="ECE7DC"/>
                </a:solidFill>
                <a:latin typeface="Consolas"/>
              </a:rPr>
              <a:t>    │   │   │   ├── terminater_engine.py</a:t>
            </a:r>
          </a:p>
          <a:p>
            <a:pPr algn="l">
              <a:lnSpc>
                <a:spcPct val="100000"/>
              </a:lnSpc>
            </a:pPr>
            <a:r>
              <a:rPr sz="800" b="0" i="0">
                <a:solidFill>
                  <a:srgbClr val="ECE7DC"/>
                </a:solidFill>
                <a:latin typeface="Consolas"/>
              </a:rPr>
              <a:t>    │   │   │   └── terminater_text.py</a:t>
            </a:r>
          </a:p>
          <a:p>
            <a:pPr algn="l">
              <a:lnSpc>
                <a:spcPct val="100000"/>
              </a:lnSpc>
            </a:pPr>
            <a:r>
              <a:rPr sz="800" b="0" i="0">
                <a:solidFill>
                  <a:srgbClr val="3BBE93"/>
                </a:solidFill>
                <a:latin typeface="Consolas"/>
              </a:rPr>
              <a:t>    │   │   ├── unrealer/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unrealer.py</a:t>
            </a:r>
          </a:p>
          <a:p>
            <a:pPr algn="l">
              <a:lnSpc>
                <a:spcPct val="100000"/>
              </a:lnSpc>
            </a:pPr>
            <a:r>
              <a:rPr sz="800" b="0" i="0">
                <a:solidFill>
                  <a:srgbClr val="3BBE93"/>
                </a:solidFill>
                <a:latin typeface="Consolas"/>
              </a:rPr>
              <a:t>    │   │   ├── video_analyzer/</a:t>
            </a:r>
          </a:p>
          <a:p>
            <a:pPr algn="l">
              <a:lnSpc>
                <a:spcPct val="100000"/>
              </a:lnSpc>
            </a:pPr>
            <a:r>
              <a:rPr sz="800" b="0" i="0">
                <a:solidFill>
                  <a:srgbClr val="ECE7DC"/>
                </a:solidFill>
                <a:latin typeface="Consolas"/>
              </a:rPr>
              <a:t>    │   │   │   ├── config.yaml</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README.md</a:t>
            </a:r>
          </a:p>
          <a:p>
            <a:pPr algn="l">
              <a:lnSpc>
                <a:spcPct val="100000"/>
              </a:lnSpc>
            </a:pPr>
            <a:r>
              <a:rPr sz="800" b="0" i="0">
                <a:solidFill>
                  <a:srgbClr val="ECE7DC"/>
                </a:solidFill>
                <a:latin typeface="Consolas"/>
              </a:rPr>
              <a:t>    │   │   │   ├── video_analyzer.py</a:t>
            </a:r>
          </a:p>
          <a:p>
            <a:pPr algn="l">
              <a:lnSpc>
                <a:spcPct val="100000"/>
              </a:lnSpc>
            </a:pPr>
            <a:r>
              <a:rPr sz="800" b="0" i="0">
                <a:solidFill>
                  <a:srgbClr val="ECE7DC"/>
                </a:solidFill>
                <a:latin typeface="Consolas"/>
              </a:rPr>
              <a:t>    │   │   │   ├── video_content.py</a:t>
            </a:r>
          </a:p>
          <a:p>
            <a:pPr algn="l">
              <a:lnSpc>
                <a:spcPct val="100000"/>
              </a:lnSpc>
            </a:pPr>
            <a:r>
              <a:rPr sz="800" b="0" i="0">
                <a:solidFill>
                  <a:srgbClr val="ECE7DC"/>
                </a:solidFill>
                <a:latin typeface="Consolas"/>
              </a:rPr>
              <a:t>    │   │   │   └── video_fetch.py</a:t>
            </a:r>
          </a:p>
          <a:p>
            <a:pPr algn="l">
              <a:lnSpc>
                <a:spcPct val="100000"/>
              </a:lnSpc>
            </a:pPr>
            <a:r>
              <a:rPr sz="800" b="0" i="0">
                <a:solidFill>
                  <a:srgbClr val="3BBE93"/>
                </a:solidFill>
                <a:latin typeface="Consolas"/>
              </a:rPr>
              <a:t>    │   │   ├── videoplayer/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videoplayer.py</a:t>
            </a:r>
          </a:p>
          <a:p>
            <a:pPr algn="l">
              <a:lnSpc>
                <a:spcPct val="100000"/>
              </a:lnSpc>
            </a:pPr>
            <a:r>
              <a:rPr sz="800" b="0" i="0">
                <a:solidFill>
                  <a:srgbClr val="3BBE93"/>
                </a:solidFill>
                <a:latin typeface="Consolas"/>
              </a:rPr>
              <a:t>    │   │   ├── whatsapper/</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HOW_TO_GET_YOUR_WHATSAPP_ASSETS.md</a:t>
            </a:r>
          </a:p>
          <a:p>
            <a:pPr algn="l">
              <a:lnSpc>
                <a:spcPct val="100000"/>
              </a:lnSpc>
            </a:pPr>
            <a:r>
              <a:rPr sz="800" b="0" i="0">
                <a:solidFill>
                  <a:srgbClr val="ECE7DC"/>
                </a:solidFill>
                <a:latin typeface="Consolas"/>
              </a:rPr>
              <a:t>    │   │   │   ├── whatsapper.py</a:t>
            </a:r>
          </a:p>
          <a:p>
            <a:pPr algn="l">
              <a:lnSpc>
                <a:spcPct val="100000"/>
              </a:lnSpc>
            </a:pPr>
            <a:r>
              <a:rPr sz="800" b="0" i="0">
                <a:solidFill>
                  <a:srgbClr val="3BBE93"/>
                </a:solidFill>
                <a:latin typeface="Consolas"/>
              </a:rPr>
              <a:t>    │   │   │   └── guide_assets/</a:t>
            </a:r>
          </a:p>
          <a:p>
            <a:pPr algn="l">
              <a:lnSpc>
                <a:spcPct val="100000"/>
              </a:lnSpc>
            </a:pPr>
            <a:r>
              <a:rPr sz="800" b="0" i="0">
                <a:solidFill>
                  <a:srgbClr val="ECE7DC"/>
                </a:solidFill>
                <a:latin typeface="Consolas"/>
              </a:rPr>
              <a:t>    │   │   │       ├── whatsapp_01_meta_create_app.jpg</a:t>
            </a:r>
          </a:p>
          <a:p>
            <a:pPr algn="l">
              <a:lnSpc>
                <a:spcPct val="100000"/>
              </a:lnSpc>
            </a:pPr>
            <a:r>
              <a:rPr sz="800" b="0" i="0">
                <a:solidFill>
                  <a:srgbClr val="ECE7DC"/>
                </a:solidFill>
                <a:latin typeface="Consolas"/>
              </a:rPr>
              <a:t>    │   │   │       ├── whatsapp_02_api_setup_keys.jpg</a:t>
            </a:r>
          </a:p>
          <a:p>
            <a:pPr algn="l">
              <a:lnSpc>
                <a:spcPct val="100000"/>
              </a:lnSpc>
            </a:pPr>
            <a:r>
              <a:rPr sz="800" b="0" i="0">
                <a:solidFill>
                  <a:srgbClr val="ECE7DC"/>
                </a:solidFill>
                <a:latin typeface="Consolas"/>
              </a:rPr>
              <a:t>    │   │   │       ├── whatsapp_03_test_recipient_send.</a:t>
            </a:r>
          </a:p>
          <a:p>
            <a:pPr algn="l">
              <a:lnSpc>
                <a:spcPct val="100000"/>
              </a:lnSpc>
            </a:pPr>
            <a:r>
              <a:rPr sz="800" b="0" i="0">
                <a:solidFill>
                  <a:srgbClr val="ECE7DC"/>
                </a:solidFill>
                <a:latin typeface="Consolas"/>
              </a:rPr>
              <a:t>    │   │   │       │     » jpg</a:t>
            </a:r>
          </a:p>
          <a:p>
            <a:pPr algn="l">
              <a:lnSpc>
                <a:spcPct val="100000"/>
              </a:lnSpc>
            </a:pPr>
            <a:r>
              <a:rPr sz="800" b="0" i="0">
                <a:solidFill>
                  <a:srgbClr val="ECE7DC"/>
                </a:solidFill>
                <a:latin typeface="Consolas"/>
              </a:rPr>
              <a:t>    │   │   │       ├── whatsapp_04_system_user_token.jp</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whatsapp_05_tlamatini_contacts.j</a:t>
            </a:r>
          </a:p>
          <a:p>
            <a:pPr algn="l">
              <a:lnSpc>
                <a:spcPct val="100000"/>
              </a:lnSpc>
            </a:pPr>
            <a:r>
              <a:rPr sz="800" b="0" i="0">
                <a:solidFill>
                  <a:srgbClr val="ECE7DC"/>
                </a:solidFill>
                <a:latin typeface="Consolas"/>
              </a:rPr>
              <a:t>    │   │   │             » pg</a:t>
            </a:r>
          </a:p>
          <a:p>
            <a:pPr algn="l">
              <a:lnSpc>
                <a:spcPct val="100000"/>
              </a:lnSpc>
            </a:pPr>
            <a:r>
              <a:rPr sz="800" b="0" i="0">
                <a:solidFill>
                  <a:srgbClr val="3BBE93"/>
                </a:solidFill>
                <a:latin typeface="Consolas"/>
              </a:rPr>
              <a:t>    │   │   ├── whisperer/</a:t>
            </a:r>
          </a:p>
          <a:p>
            <a:pPr algn="l">
              <a:lnSpc>
                <a:spcPct val="100000"/>
              </a:lnSpc>
            </a:pPr>
            <a:r>
              <a:rPr sz="800" b="0" i="0">
                <a:solidFill>
                  <a:srgbClr val="ECE7DC"/>
                </a:solidFill>
                <a:latin typeface="Consolas"/>
              </a:rPr>
              <a:t>    │   │   │   ├── chat_worker.py</a:t>
            </a:r>
          </a:p>
          <a:p>
            <a:pPr algn="l">
              <a:lnSpc>
                <a:spcPct val="100000"/>
              </a:lnSpc>
            </a:pPr>
            <a:r>
              <a:rPr sz="800" b="0" i="0">
                <a:solidFill>
                  <a:srgbClr val="ECE7DC"/>
                </a:solidFill>
                <a:latin typeface="Consolas"/>
              </a:rPr>
              <a:t>    │   │   │   ├── config.yaml</a:t>
            </a:r>
          </a:p>
          <a:p>
            <a:pPr algn="l">
              <a:lnSpc>
                <a:spcPct val="100000"/>
              </a:lnSpc>
            </a:pPr>
            <a:r>
              <a:rPr sz="800" b="0" i="0">
                <a:solidFill>
                  <a:srgbClr val="ECE7DC"/>
                </a:solidFill>
                <a:latin typeface="Consolas"/>
              </a:rPr>
              <a:t>    │   │   │   ├── README.md</a:t>
            </a:r>
          </a:p>
          <a:p>
            <a:pPr algn="l">
              <a:lnSpc>
                <a:spcPct val="100000"/>
              </a:lnSpc>
            </a:pPr>
            <a:r>
              <a:rPr sz="800" b="0" i="0">
                <a:solidFill>
                  <a:srgbClr val="ECE7DC"/>
                </a:solidFill>
                <a:latin typeface="Consolas"/>
              </a:rPr>
              <a:t>    │   │   │   └── whisperer.py</a:t>
            </a:r>
          </a:p>
          <a:p>
            <a:pPr algn="l">
              <a:lnSpc>
                <a:spcPct val="100000"/>
              </a:lnSpc>
            </a:pPr>
            <a:r>
              <a:rPr sz="800" b="0" i="0">
                <a:solidFill>
                  <a:srgbClr val="3BBE93"/>
                </a:solidFill>
                <a:latin typeface="Consolas"/>
              </a:rPr>
              <a:t>    │   │   └── windower/</a:t>
            </a:r>
          </a:p>
          <a:p>
            <a:pPr algn="l">
              <a:lnSpc>
                <a:spcPct val="100000"/>
              </a:lnSpc>
            </a:pPr>
            <a:r>
              <a:rPr sz="800" b="0" i="0">
                <a:solidFill>
                  <a:srgbClr val="ECE7DC"/>
                </a:solidFill>
                <a:latin typeface="Consolas"/>
              </a:rPr>
              <a:t>    │   │       ├── config.yaml</a:t>
            </a:r>
          </a:p>
          <a:p>
            <a:pPr algn="l">
              <a:lnSpc>
                <a:spcPct val="100000"/>
              </a:lnSpc>
            </a:pPr>
            <a:r>
              <a:rPr sz="800" b="0" i="0">
                <a:solidFill>
                  <a:srgbClr val="ECE7DC"/>
                </a:solidFill>
                <a:latin typeface="Consolas"/>
              </a:rPr>
              <a:t>    │   │       └── windower.py</a:t>
            </a:r>
          </a:p>
          <a:p>
            <a:pPr algn="l">
              <a:lnSpc>
                <a:spcPct val="100000"/>
              </a:lnSpc>
            </a:pPr>
            <a:r>
              <a:rPr sz="800" b="0" i="0">
                <a:solidFill>
                  <a:srgbClr val="3BBE93"/>
                </a:solidFill>
                <a:latin typeface="Consolas"/>
              </a:rPr>
              <a:t>    │   ├── doc_generation/</a:t>
            </a:r>
          </a:p>
          <a:p>
            <a:pPr algn="l">
              <a:lnSpc>
                <a:spcPct val="100000"/>
              </a:lnSpc>
            </a:pPr>
            <a:r>
              <a:rPr sz="800" b="0" i="0">
                <a:solidFill>
                  <a:srgbClr val="ECE7DC"/>
                </a:solidFill>
                <a:latin typeface="Consolas"/>
              </a:rPr>
              <a:t>    │   │   ├── complete_project_docs.py</a:t>
            </a:r>
          </a:p>
          <a:p>
            <a:pPr algn="l">
              <a:lnSpc>
                <a:spcPct val="100000"/>
              </a:lnSpc>
            </a:pPr>
            <a:r>
              <a:rPr sz="800" b="0" i="0">
                <a:solidFill>
                  <a:srgbClr val="ECE7DC"/>
                </a:solidFill>
                <a:latin typeface="Consolas"/>
              </a:rPr>
              <a:t>    │   │   ├── dossier_content.py</a:t>
            </a:r>
          </a:p>
          <a:p>
            <a:pPr algn="l">
              <a:lnSpc>
                <a:spcPct val="100000"/>
              </a:lnSpc>
            </a:pPr>
            <a:r>
              <a:rPr sz="800" b="0" i="0">
                <a:solidFill>
                  <a:srgbClr val="ECE7DC"/>
                </a:solidFill>
                <a:latin typeface="Consolas"/>
              </a:rPr>
              <a:t>    │   │   ├── dossier_editor_content.py</a:t>
            </a:r>
          </a:p>
          <a:p>
            <a:pPr algn="l">
              <a:lnSpc>
                <a:spcPct val="100000"/>
              </a:lnSpc>
            </a:pPr>
            <a:r>
              <a:rPr sz="800" b="0" i="0">
                <a:solidFill>
                  <a:srgbClr val="ECE7DC"/>
                </a:solidFill>
                <a:latin typeface="Consolas"/>
              </a:rPr>
              <a:t>    │   │   ├── dossier_pdf.py</a:t>
            </a:r>
          </a:p>
          <a:p>
            <a:pPr algn="l">
              <a:lnSpc>
                <a:spcPct val="100000"/>
              </a:lnSpc>
            </a:pPr>
            <a:r>
              <a:rPr sz="800" b="0" i="0">
                <a:solidFill>
                  <a:srgbClr val="ECE7DC"/>
                </a:solidFill>
                <a:latin typeface="Consolas"/>
              </a:rPr>
              <a:t>    │   │   ├── dossier_pptx.py</a:t>
            </a:r>
          </a:p>
          <a:p>
            <a:pPr algn="l">
              <a:lnSpc>
                <a:spcPct val="100000"/>
              </a:lnSpc>
            </a:pPr>
            <a:r>
              <a:rPr sz="800" b="0" i="0">
                <a:solidFill>
                  <a:srgbClr val="ECE7DC"/>
                </a:solidFill>
                <a:latin typeface="Consolas"/>
              </a:rPr>
              <a:t>    │   │   ├── dossier_theme.py</a:t>
            </a:r>
          </a:p>
          <a:p>
            <a:pPr algn="l">
              <a:lnSpc>
                <a:spcPct val="100000"/>
              </a:lnSpc>
            </a:pPr>
            <a:r>
              <a:rPr sz="800" b="0" i="0">
                <a:solidFill>
                  <a:srgbClr val="ECE7DC"/>
                </a:solidFill>
                <a:latin typeface="Consolas"/>
              </a:rPr>
              <a:t>    │   │   ├── dossier_verify.py</a:t>
            </a:r>
          </a:p>
          <a:p>
            <a:pPr algn="l">
              <a:lnSpc>
                <a:spcPct val="100000"/>
              </a:lnSpc>
            </a:pPr>
            <a:r>
              <a:rPr sz="800" b="0" i="0">
                <a:solidFill>
                  <a:srgbClr val="ECE7DC"/>
                </a:solidFill>
                <a:latin typeface="Consolas"/>
              </a:rPr>
              <a:t>    │   │   ├── mardown_to_pdf.py</a:t>
            </a:r>
          </a:p>
          <a:p>
            <a:pPr algn="l">
              <a:lnSpc>
                <a:spcPct val="100000"/>
              </a:lnSpc>
            </a:pPr>
            <a:r>
              <a:rPr sz="800" b="0" i="0">
                <a:solidFill>
                  <a:srgbClr val="ECE7DC"/>
                </a:solidFill>
                <a:latin typeface="Consolas"/>
              </a:rPr>
              <a:t>    │   │   ├── refresh_project_docs.py</a:t>
            </a:r>
          </a:p>
          <a:p>
            <a:pPr algn="l">
              <a:lnSpc>
                <a:spcPct val="100000"/>
              </a:lnSpc>
            </a:pPr>
            <a:r>
              <a:rPr sz="800" b="0" i="0">
                <a:solidFill>
                  <a:srgbClr val="ECE7DC"/>
                </a:solidFill>
                <a:latin typeface="Consolas"/>
              </a:rPr>
              <a:t>    │   │   └── test_output.pdf</a:t>
            </a:r>
          </a:p>
          <a:p>
            <a:pPr algn="l">
              <a:lnSpc>
                <a:spcPct val="100000"/>
              </a:lnSpc>
            </a:pPr>
            <a:r>
              <a:rPr sz="800" b="0" i="0">
                <a:solidFill>
                  <a:srgbClr val="3BBE93"/>
                </a:solidFill>
                <a:latin typeface="Consolas"/>
              </a:rPr>
              <a:t>    │   ├── images/</a:t>
            </a:r>
          </a:p>
          <a:p>
            <a:pPr algn="l">
              <a:lnSpc>
                <a:spcPct val="100000"/>
              </a:lnSpc>
            </a:pPr>
            <a:r>
              <a:rPr sz="800" b="0" i="0">
                <a:solidFill>
                  <a:srgbClr val="ECE7DC"/>
                </a:solidFill>
                <a:latin typeface="Consolas"/>
              </a:rPr>
              <a:t>    │   │   ├── ACPXKeysConfigureWizard.jpg</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ConfigureModels.jpg</a:t>
            </a:r>
          </a:p>
          <a:p>
            <a:pPr algn="l">
              <a:lnSpc>
                <a:spcPct val="100000"/>
              </a:lnSpc>
            </a:pPr>
            <a:r>
              <a:rPr sz="800" b="0" i="0">
                <a:solidFill>
                  <a:srgbClr val="ECE7DC"/>
                </a:solidFill>
                <a:latin typeface="Consolas"/>
              </a:rPr>
              <a:t>    │   │   ├── MenuConfig.jpg</a:t>
            </a:r>
          </a:p>
          <a:p>
            <a:pPr algn="l">
              <a:lnSpc>
                <a:spcPct val="100000"/>
              </a:lnSpc>
            </a:pPr>
            <a:r>
              <a:rPr sz="800" b="0" i="0">
                <a:solidFill>
                  <a:srgbClr val="ECE7DC"/>
                </a:solidFill>
                <a:latin typeface="Consolas"/>
              </a:rPr>
              <a:t>    │   │   ├── mockup.jpg</a:t>
            </a:r>
          </a:p>
          <a:p>
            <a:pPr algn="l">
              <a:lnSpc>
                <a:spcPct val="100000"/>
              </a:lnSpc>
            </a:pPr>
            <a:r>
              <a:rPr sz="800" b="0" i="0">
                <a:solidFill>
                  <a:srgbClr val="ECE7DC"/>
                </a:solidFill>
                <a:latin typeface="Consolas"/>
              </a:rPr>
              <a:t>    │   │   └── XAIHT-Tlamatini.mp4</a:t>
            </a:r>
          </a:p>
          <a:p>
            <a:pPr algn="l">
              <a:lnSpc>
                <a:spcPct val="100000"/>
              </a:lnSpc>
            </a:pPr>
            <a:r>
              <a:rPr sz="800" b="0" i="0">
                <a:solidFill>
                  <a:srgbClr val="3BBE93"/>
                </a:solidFill>
                <a:latin typeface="Consolas"/>
              </a:rPr>
              <a:t>    │   ├── imaging/</a:t>
            </a:r>
          </a:p>
          <a:p>
            <a:pPr algn="l">
              <a:lnSpc>
                <a:spcPct val="100000"/>
              </a:lnSpc>
            </a:pPr>
            <a:r>
              <a:rPr sz="800" b="0" i="0">
                <a:solidFill>
                  <a:srgbClr val="ECE7DC"/>
                </a:solidFill>
                <a:latin typeface="Consolas"/>
              </a:rPr>
              <a:t>    │   │   ├── converter.py</a:t>
            </a:r>
          </a:p>
          <a:p>
            <a:pPr algn="l">
              <a:lnSpc>
                <a:spcPct val="100000"/>
              </a:lnSpc>
            </a:pPr>
            <a:r>
              <a:rPr sz="800" b="0" i="0">
                <a:solidFill>
                  <a:srgbClr val="ECE7DC"/>
                </a:solidFill>
                <a:latin typeface="Consolas"/>
              </a:rPr>
              <a:t>    │   │   ├── image_interpreter.py</a:t>
            </a:r>
          </a:p>
          <a:p>
            <a:pPr algn="l">
              <a:lnSpc>
                <a:spcPct val="100000"/>
              </a:lnSpc>
            </a:pPr>
            <a:r>
              <a:rPr sz="800" b="0" i="0">
                <a:solidFill>
                  <a:srgbClr val="ECE7DC"/>
                </a:solidFill>
                <a:latin typeface="Consolas"/>
              </a:rPr>
              <a:t>    │   │   └── screenshot.py</a:t>
            </a:r>
          </a:p>
          <a:p>
            <a:pPr algn="l">
              <a:lnSpc>
                <a:spcPct val="100000"/>
              </a:lnSpc>
            </a:pPr>
            <a:r>
              <a:rPr sz="800" b="0" i="0">
                <a:solidFill>
                  <a:srgbClr val="3BBE93"/>
                </a:solidFill>
                <a:latin typeface="Consolas"/>
              </a:rPr>
              <a:t>    │   ├── interactor/</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consumer.py</a:t>
            </a:r>
          </a:p>
          <a:p>
            <a:pPr algn="l">
              <a:lnSpc>
                <a:spcPct val="100000"/>
              </a:lnSpc>
            </a:pPr>
            <a:r>
              <a:rPr sz="800" b="0" i="0">
                <a:solidFill>
                  <a:srgbClr val="ECE7DC"/>
                </a:solidFill>
                <a:latin typeface="Consolas"/>
              </a:rPr>
              <a:t>    │   │   ├── context.py</a:t>
            </a:r>
          </a:p>
          <a:p>
            <a:pPr algn="l">
              <a:lnSpc>
                <a:spcPct val="100000"/>
              </a:lnSpc>
            </a:pPr>
            <a:r>
              <a:rPr sz="800" b="0" i="0">
                <a:solidFill>
                  <a:srgbClr val="ECE7DC"/>
                </a:solidFill>
                <a:latin typeface="Consolas"/>
              </a:rPr>
              <a:t>    │   │   ├── editor.mjs</a:t>
            </a:r>
          </a:p>
          <a:p>
            <a:pPr algn="l">
              <a:lnSpc>
                <a:spcPct val="100000"/>
              </a:lnSpc>
            </a:pPr>
            <a:r>
              <a:rPr sz="800" b="0" i="0">
                <a:solidFill>
                  <a:srgbClr val="ECE7DC"/>
                </a:solidFill>
                <a:latin typeface="Consolas"/>
              </a:rPr>
              <a:t>    │   │   ├── files.py</a:t>
            </a:r>
          </a:p>
          <a:p>
            <a:pPr algn="l">
              <a:lnSpc>
                <a:spcPct val="100000"/>
              </a:lnSpc>
            </a:pPr>
            <a:r>
              <a:rPr sz="800" b="0" i="0">
                <a:solidFill>
                  <a:srgbClr val="ECE7DC"/>
                </a:solidFill>
                <a:latin typeface="Consolas"/>
              </a:rPr>
              <a:t>    │   │   ├── hub.py</a:t>
            </a:r>
          </a:p>
          <a:p>
            <a:pPr algn="l">
              <a:lnSpc>
                <a:spcPct val="100000"/>
              </a:lnSpc>
            </a:pPr>
            <a:r>
              <a:rPr sz="800" b="0" i="0">
                <a:solidFill>
                  <a:srgbClr val="ECE7DC"/>
                </a:solidFill>
                <a:latin typeface="Consolas"/>
              </a:rPr>
              <a:t>    │   │   ├── protocol.py</a:t>
            </a:r>
          </a:p>
          <a:p>
            <a:pPr algn="l">
              <a:lnSpc>
                <a:spcPct val="100000"/>
              </a:lnSpc>
            </a:pPr>
            <a:r>
              <a:rPr sz="800" b="0" i="0">
                <a:solidFill>
                  <a:srgbClr val="ECE7DC"/>
                </a:solidFill>
                <a:latin typeface="Consolas"/>
              </a:rPr>
              <a:t>    │   │   └── tool.py</a:t>
            </a:r>
          </a:p>
          <a:p>
            <a:pPr algn="l">
              <a:lnSpc>
                <a:spcPct val="100000"/>
              </a:lnSpc>
            </a:pPr>
            <a:r>
              <a:rPr sz="800" b="0" i="0">
                <a:solidFill>
                  <a:srgbClr val="3BBE93"/>
                </a:solidFill>
                <a:latin typeface="Consolas"/>
              </a:rPr>
              <a:t>    │   ├── management/</a:t>
            </a:r>
          </a:p>
          <a:p>
            <a:pPr algn="l">
              <a:lnSpc>
                <a:spcPct val="100000"/>
              </a:lnSpc>
            </a:pPr>
            <a:r>
              <a:rPr sz="800" b="0" i="0">
                <a:solidFill>
                  <a:srgbClr val="ECE7DC"/>
                </a:solidFill>
                <a:latin typeface="Consolas"/>
              </a:rPr>
              <a:t>    │   │   ├── __init__.py</a:t>
            </a:r>
          </a:p>
          <a:p>
            <a:pPr algn="l">
              <a:lnSpc>
                <a:spcPct val="100000"/>
              </a:lnSpc>
            </a:pPr>
            <a:r>
              <a:rPr sz="800" b="0" i="0">
                <a:solidFill>
                  <a:srgbClr val="3BBE93"/>
                </a:solidFill>
                <a:latin typeface="Consolas"/>
              </a:rPr>
              <a:t>    │   │   └── commands/</a:t>
            </a:r>
          </a:p>
          <a:p>
            <a:pPr algn="l">
              <a:lnSpc>
                <a:spcPct val="100000"/>
              </a:lnSpc>
            </a:pPr>
            <a:r>
              <a:rPr sz="800" b="0" i="0">
                <a:solidFill>
                  <a:srgbClr val="ECE7DC"/>
                </a:solidFill>
                <a:latin typeface="Consolas"/>
              </a:rPr>
              <a:t>    │   │       ├── acpx_lint.py</a:t>
            </a:r>
          </a:p>
          <a:p>
            <a:pPr algn="l">
              <a:lnSpc>
                <a:spcPct val="100000"/>
              </a:lnSpc>
            </a:pPr>
            <a:r>
              <a:rPr sz="800" b="0" i="0">
                <a:solidFill>
                  <a:srgbClr val="ECE7DC"/>
                </a:solidFill>
                <a:latin typeface="Consolas"/>
              </a:rPr>
              <a:t>    │   │       ├── check_agent_runtimes.py</a:t>
            </a:r>
          </a:p>
          <a:p>
            <a:pPr algn="l">
              <a:lnSpc>
                <a:spcPct val="100000"/>
              </a:lnSpc>
            </a:pPr>
            <a:r>
              <a:rPr sz="800" b="0" i="0">
                <a:solidFill>
                  <a:srgbClr val="ECE7DC"/>
                </a:solidFill>
                <a:latin typeface="Consolas"/>
              </a:rPr>
              <a:t>    │   │       ├── check_prompt_flow_panel.py</a:t>
            </a:r>
          </a:p>
          <a:p>
            <a:pPr algn="l">
              <a:lnSpc>
                <a:spcPct val="100000"/>
              </a:lnSpc>
            </a:pPr>
            <a:r>
              <a:rPr sz="800" b="0" i="0">
                <a:solidFill>
                  <a:srgbClr val="ECE7DC"/>
                </a:solidFill>
                <a:latin typeface="Consolas"/>
              </a:rPr>
              <a:t>    │   │       ├── check_terminater.py</a:t>
            </a:r>
          </a:p>
          <a:p>
            <a:pPr algn="l">
              <a:lnSpc>
                <a:spcPct val="100000"/>
              </a:lnSpc>
            </a:pPr>
            <a:r>
              <a:rPr sz="800" b="0" i="0">
                <a:solidFill>
                  <a:srgbClr val="ECE7DC"/>
                </a:solidFill>
                <a:latin typeface="Consolas"/>
              </a:rPr>
              <a:t>    │   │       └── startserver.py</a:t>
            </a:r>
          </a:p>
          <a:p>
            <a:pPr algn="l">
              <a:lnSpc>
                <a:spcPct val="100000"/>
              </a:lnSpc>
            </a:pPr>
            <a:r>
              <a:rPr sz="800" b="0" i="0">
                <a:solidFill>
                  <a:srgbClr val="3BBE93"/>
                </a:solidFill>
                <a:latin typeface="Consolas"/>
              </a:rPr>
              <a:t>    │   ├── monitors/</a:t>
            </a:r>
          </a:p>
          <a:p>
            <a:pPr algn="l">
              <a:lnSpc>
                <a:spcPct val="100000"/>
              </a:lnSpc>
            </a:pPr>
            <a:r>
              <a:rPr sz="800" b="0" i="0">
                <a:solidFill>
                  <a:srgbClr val="ECE7DC"/>
                </a:solidFill>
                <a:latin typeface="Consolas"/>
              </a:rPr>
              <a:t>    │   │   └── monitor_sql.py</a:t>
            </a:r>
          </a:p>
          <a:p>
            <a:pPr algn="l">
              <a:lnSpc>
                <a:spcPct val="100000"/>
              </a:lnSpc>
            </a:pPr>
            <a:r>
              <a:rPr sz="800" b="0" i="0">
                <a:solidFill>
                  <a:srgbClr val="3BBE93"/>
                </a:solidFill>
                <a:latin typeface="Consolas"/>
              </a:rPr>
              <a:t>    │   ├── opus_client/</a:t>
            </a:r>
          </a:p>
          <a:p>
            <a:pPr algn="l">
              <a:lnSpc>
                <a:spcPct val="100000"/>
              </a:lnSpc>
            </a:pPr>
            <a:r>
              <a:rPr sz="800" b="0" i="0">
                <a:solidFill>
                  <a:srgbClr val="ECE7DC"/>
                </a:solidFill>
                <a:latin typeface="Consolas"/>
              </a:rPr>
              <a:t>    │   │   ├── claude_opus_client.py</a:t>
            </a:r>
          </a:p>
          <a:p>
            <a:pPr algn="l">
              <a:lnSpc>
                <a:spcPct val="100000"/>
              </a:lnSpc>
            </a:pPr>
            <a:r>
              <a:rPr sz="800" b="0" i="0">
                <a:solidFill>
                  <a:srgbClr val="ECE7DC"/>
                </a:solidFill>
                <a:latin typeface="Consolas"/>
              </a:rPr>
              <a:t>    │   │   ├── examples.py</a:t>
            </a:r>
          </a:p>
          <a:p>
            <a:pPr algn="l">
              <a:lnSpc>
                <a:spcPct val="100000"/>
              </a:lnSpc>
            </a:pPr>
            <a:r>
              <a:rPr sz="800" b="0" i="0">
                <a:solidFill>
                  <a:srgbClr val="ECE7DC"/>
                </a:solidFill>
                <a:latin typeface="Consolas"/>
              </a:rPr>
              <a:t>    │   │   └── README.md</a:t>
            </a:r>
          </a:p>
          <a:p>
            <a:pPr algn="l">
              <a:lnSpc>
                <a:spcPct val="100000"/>
              </a:lnSpc>
            </a:pPr>
            <a:r>
              <a:rPr sz="800" b="0" i="0">
                <a:solidFill>
                  <a:srgbClr val="3BBE93"/>
                </a:solidFill>
                <a:latin typeface="Consolas"/>
              </a:rPr>
              <a:t>    │   ├── rag/</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binary_guard.py</a:t>
            </a:r>
          </a:p>
          <a:p>
            <a:pPr algn="l">
              <a:lnSpc>
                <a:spcPct val="100000"/>
              </a:lnSpc>
            </a:pPr>
            <a:r>
              <a:rPr sz="800" b="0" i="0">
                <a:solidFill>
                  <a:srgbClr val="ECE7DC"/>
                </a:solidFill>
                <a:latin typeface="Consolas"/>
              </a:rPr>
              <a:t>    │   │   ├── config.py</a:t>
            </a:r>
          </a:p>
          <a:p>
            <a:pPr algn="l">
              <a:lnSpc>
                <a:spcPct val="100000"/>
              </a:lnSpc>
            </a:pPr>
            <a:r>
              <a:rPr sz="800" b="0" i="0">
                <a:solidFill>
                  <a:srgbClr val="ECE7DC"/>
                </a:solidFill>
                <a:latin typeface="Consolas"/>
              </a:rPr>
              <a:t>    │   │   ├── factory.py</a:t>
            </a:r>
          </a:p>
          <a:p>
            <a:pPr algn="l">
              <a:lnSpc>
                <a:spcPct val="100000"/>
              </a:lnSpc>
            </a:pPr>
            <a:r>
              <a:rPr sz="800" b="0" i="0">
                <a:solidFill>
                  <a:srgbClr val="ECE7DC"/>
                </a:solidFill>
                <a:latin typeface="Consolas"/>
              </a:rPr>
              <a:t>    │   │   ├── interaction.py</a:t>
            </a:r>
          </a:p>
          <a:p>
            <a:pPr algn="l">
              <a:lnSpc>
                <a:spcPct val="100000"/>
              </a:lnSpc>
            </a:pPr>
            <a:r>
              <a:rPr sz="800" b="0" i="0">
                <a:solidFill>
                  <a:srgbClr val="ECE7DC"/>
                </a:solidFill>
                <a:latin typeface="Consolas"/>
              </a:rPr>
              <a:t>    │   │   ├── interface.py</a:t>
            </a:r>
          </a:p>
          <a:p>
            <a:pPr algn="l">
              <a:lnSpc>
                <a:spcPct val="100000"/>
              </a:lnSpc>
            </a:pPr>
            <a:r>
              <a:rPr sz="800" b="0" i="0">
                <a:solidFill>
                  <a:srgbClr val="ECE7DC"/>
                </a:solidFill>
                <a:latin typeface="Consolas"/>
              </a:rPr>
              <a:t>    │   │   ├── loaders.py</a:t>
            </a:r>
          </a:p>
          <a:p>
            <a:pPr algn="l">
              <a:lnSpc>
                <a:spcPct val="100000"/>
              </a:lnSpc>
            </a:pPr>
            <a:r>
              <a:rPr sz="800" b="0" i="0">
                <a:solidFill>
                  <a:srgbClr val="ECE7DC"/>
                </a:solidFill>
                <a:latin typeface="Consolas"/>
              </a:rPr>
              <a:t>    │   │   ├── prompts.py</a:t>
            </a:r>
          </a:p>
          <a:p>
            <a:pPr algn="l">
              <a:lnSpc>
                <a:spcPct val="100000"/>
              </a:lnSpc>
            </a:pPr>
            <a:r>
              <a:rPr sz="800" b="0" i="0">
                <a:solidFill>
                  <a:srgbClr val="ECE7DC"/>
                </a:solidFill>
                <a:latin typeface="Consolas"/>
              </a:rPr>
              <a:t>    │   │   ├── retrieval.py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11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splitters.py</a:t>
            </a:r>
          </a:p>
          <a:p>
            <a:pPr algn="l">
              <a:lnSpc>
                <a:spcPct val="100000"/>
              </a:lnSpc>
            </a:pPr>
            <a:r>
              <a:rPr sz="800" b="0" i="0">
                <a:solidFill>
                  <a:srgbClr val="ECE7DC"/>
                </a:solidFill>
                <a:latin typeface="Consolas"/>
              </a:rPr>
              <a:t>    │   │   ├── utils.py</a:t>
            </a:r>
          </a:p>
          <a:p>
            <a:pPr algn="l">
              <a:lnSpc>
                <a:spcPct val="100000"/>
              </a:lnSpc>
            </a:pPr>
            <a:r>
              <a:rPr sz="800" b="0" i="0">
                <a:solidFill>
                  <a:srgbClr val="3BBE93"/>
                </a:solidFill>
                <a:latin typeface="Consolas"/>
              </a:rPr>
              <a:t>    │   │   └── chains/</a:t>
            </a:r>
          </a:p>
          <a:p>
            <a:pPr algn="l">
              <a:lnSpc>
                <a:spcPct val="100000"/>
              </a:lnSpc>
            </a:pPr>
            <a:r>
              <a:rPr sz="800" b="0" i="0">
                <a:solidFill>
                  <a:srgbClr val="ECE7DC"/>
                </a:solidFill>
                <a:latin typeface="Consolas"/>
              </a:rPr>
              <a:t>    │   │       ├── base.py</a:t>
            </a:r>
          </a:p>
          <a:p>
            <a:pPr algn="l">
              <a:lnSpc>
                <a:spcPct val="100000"/>
              </a:lnSpc>
            </a:pPr>
            <a:r>
              <a:rPr sz="800" b="0" i="0">
                <a:solidFill>
                  <a:srgbClr val="ECE7DC"/>
                </a:solidFill>
                <a:latin typeface="Consolas"/>
              </a:rPr>
              <a:t>    │   │       ├── basic.py</a:t>
            </a:r>
          </a:p>
          <a:p>
            <a:pPr algn="l">
              <a:lnSpc>
                <a:spcPct val="100000"/>
              </a:lnSpc>
            </a:pPr>
            <a:r>
              <a:rPr sz="800" b="0" i="0">
                <a:solidFill>
                  <a:srgbClr val="ECE7DC"/>
                </a:solidFill>
                <a:latin typeface="Consolas"/>
              </a:rPr>
              <a:t>    │   │       ├── history_aware.py</a:t>
            </a:r>
          </a:p>
          <a:p>
            <a:pPr algn="l">
              <a:lnSpc>
                <a:spcPct val="100000"/>
              </a:lnSpc>
            </a:pPr>
            <a:r>
              <a:rPr sz="800" b="0" i="0">
                <a:solidFill>
                  <a:srgbClr val="ECE7DC"/>
                </a:solidFill>
                <a:latin typeface="Consolas"/>
              </a:rPr>
              <a:t>    │   │       └── unified.py</a:t>
            </a:r>
          </a:p>
          <a:p>
            <a:pPr algn="l">
              <a:lnSpc>
                <a:spcPct val="100000"/>
              </a:lnSpc>
            </a:pPr>
            <a:r>
              <a:rPr sz="800" b="0" i="0">
                <a:solidFill>
                  <a:srgbClr val="3BBE93"/>
                </a:solidFill>
                <a:latin typeface="Consolas"/>
              </a:rPr>
              <a:t>    │   ├── services/</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agent_contracts.py</a:t>
            </a:r>
          </a:p>
          <a:p>
            <a:pPr algn="l">
              <a:lnSpc>
                <a:spcPct val="100000"/>
              </a:lnSpc>
            </a:pPr>
            <a:r>
              <a:rPr sz="800" b="0" i="0">
                <a:solidFill>
                  <a:srgbClr val="ECE7DC"/>
                </a:solidFill>
                <a:latin typeface="Consolas"/>
              </a:rPr>
              <a:t>    │   │   ├── agent_paths.py</a:t>
            </a:r>
          </a:p>
          <a:p>
            <a:pPr algn="l">
              <a:lnSpc>
                <a:spcPct val="100000"/>
              </a:lnSpc>
            </a:pPr>
            <a:r>
              <a:rPr sz="800" b="0" i="0">
                <a:solidFill>
                  <a:srgbClr val="ECE7DC"/>
                </a:solidFill>
                <a:latin typeface="Consolas"/>
              </a:rPr>
              <a:t>    │   │   ├── filesystem.py</a:t>
            </a:r>
          </a:p>
          <a:p>
            <a:pPr algn="l">
              <a:lnSpc>
                <a:spcPct val="100000"/>
              </a:lnSpc>
            </a:pPr>
            <a:r>
              <a:rPr sz="800" b="0" i="0">
                <a:solidFill>
                  <a:srgbClr val="ECE7DC"/>
                </a:solidFill>
                <a:latin typeface="Consolas"/>
              </a:rPr>
              <a:t>    │   │   ├── flow_compiler.py</a:t>
            </a:r>
          </a:p>
          <a:p>
            <a:pPr algn="l">
              <a:lnSpc>
                <a:spcPct val="100000"/>
              </a:lnSpc>
            </a:pPr>
            <a:r>
              <a:rPr sz="800" b="0" i="0">
                <a:solidFill>
                  <a:srgbClr val="ECE7DC"/>
                </a:solidFill>
                <a:latin typeface="Consolas"/>
              </a:rPr>
              <a:t>    │   │   ├── flow_knowledge.py</a:t>
            </a:r>
          </a:p>
          <a:p>
            <a:pPr algn="l">
              <a:lnSpc>
                <a:spcPct val="100000"/>
              </a:lnSpc>
            </a:pPr>
            <a:r>
              <a:rPr sz="800" b="0" i="0">
                <a:solidFill>
                  <a:srgbClr val="ECE7DC"/>
                </a:solidFill>
                <a:latin typeface="Consolas"/>
              </a:rPr>
              <a:t>    │   │   ├── flow_spec.py</a:t>
            </a:r>
          </a:p>
          <a:p>
            <a:pPr algn="l">
              <a:lnSpc>
                <a:spcPct val="100000"/>
              </a:lnSpc>
            </a:pPr>
            <a:r>
              <a:rPr sz="800" b="0" i="0">
                <a:solidFill>
                  <a:srgbClr val="ECE7DC"/>
                </a:solidFill>
                <a:latin typeface="Consolas"/>
              </a:rPr>
              <a:t>    │   │   ├── prompt_flow_panel.py</a:t>
            </a:r>
          </a:p>
          <a:p>
            <a:pPr algn="l">
              <a:lnSpc>
                <a:spcPct val="100000"/>
              </a:lnSpc>
            </a:pPr>
            <a:r>
              <a:rPr sz="800" b="0" i="0">
                <a:solidFill>
                  <a:srgbClr val="ECE7DC"/>
                </a:solidFill>
                <a:latin typeface="Consolas"/>
              </a:rPr>
              <a:t>    │   │   └── response_parser.py</a:t>
            </a:r>
          </a:p>
          <a:p>
            <a:pPr algn="l">
              <a:lnSpc>
                <a:spcPct val="100000"/>
              </a:lnSpc>
            </a:pPr>
            <a:r>
              <a:rPr sz="800" b="0" i="0">
                <a:solidFill>
                  <a:srgbClr val="3BBE93"/>
                </a:solidFill>
                <a:latin typeface="Consolas"/>
              </a:rPr>
              <a:t>    │   ├── skills/</a:t>
            </a:r>
          </a:p>
          <a:p>
            <a:pPr algn="l">
              <a:lnSpc>
                <a:spcPct val="100000"/>
              </a:lnSpc>
            </a:pPr>
            <a:r>
              <a:rPr sz="800" b="0" i="0">
                <a:solidFill>
                  <a:srgbClr val="ECE7DC"/>
                </a:solidFill>
                <a:latin typeface="Consolas"/>
              </a:rPr>
              <a:t>    │   │   ├── __init__.py</a:t>
            </a:r>
          </a:p>
          <a:p>
            <a:pPr algn="l">
              <a:lnSpc>
                <a:spcPct val="100000"/>
              </a:lnSpc>
            </a:pPr>
            <a:r>
              <a:rPr sz="800" b="0" i="0">
                <a:solidFill>
                  <a:srgbClr val="ECE7DC"/>
                </a:solidFill>
                <a:latin typeface="Consolas"/>
              </a:rPr>
              <a:t>    │   │   ├── frontmatter.py</a:t>
            </a:r>
          </a:p>
          <a:p>
            <a:pPr algn="l">
              <a:lnSpc>
                <a:spcPct val="100000"/>
              </a:lnSpc>
            </a:pPr>
            <a:r>
              <a:rPr sz="800" b="0" i="0">
                <a:solidFill>
                  <a:srgbClr val="ECE7DC"/>
                </a:solidFill>
                <a:latin typeface="Consolas"/>
              </a:rPr>
              <a:t>    │   │   ├── harness.py</a:t>
            </a:r>
          </a:p>
          <a:p>
            <a:pPr algn="l">
              <a:lnSpc>
                <a:spcPct val="100000"/>
              </a:lnSpc>
            </a:pPr>
            <a:r>
              <a:rPr sz="800" b="0" i="0">
                <a:solidFill>
                  <a:srgbClr val="ECE7DC"/>
                </a:solidFill>
                <a:latin typeface="Consolas"/>
              </a:rPr>
              <a:t>    │   │   ├── io_contract.py</a:t>
            </a:r>
          </a:p>
          <a:p>
            <a:pPr algn="l">
              <a:lnSpc>
                <a:spcPct val="100000"/>
              </a:lnSpc>
            </a:pPr>
            <a:r>
              <a:rPr sz="800" b="0" i="0">
                <a:solidFill>
                  <a:srgbClr val="ECE7DC"/>
                </a:solidFill>
                <a:latin typeface="Consolas"/>
              </a:rPr>
              <a:t>    │   │   ├── redaction.py</a:t>
            </a:r>
          </a:p>
          <a:p>
            <a:pPr algn="l">
              <a:lnSpc>
                <a:spcPct val="100000"/>
              </a:lnSpc>
            </a:pPr>
            <a:r>
              <a:rPr sz="800" b="0" i="0">
                <a:solidFill>
                  <a:srgbClr val="ECE7DC"/>
                </a:solidFill>
                <a:latin typeface="Consolas"/>
              </a:rPr>
              <a:t>    │   │   ├── registry.py</a:t>
            </a:r>
          </a:p>
          <a:p>
            <a:pPr algn="l">
              <a:lnSpc>
                <a:spcPct val="100000"/>
              </a:lnSpc>
            </a:pPr>
            <a:r>
              <a:rPr sz="800" b="0" i="0">
                <a:solidFill>
                  <a:srgbClr val="ECE7DC"/>
                </a:solidFill>
                <a:latin typeface="Consolas"/>
              </a:rPr>
              <a:t>    │   │   └── validation.py</a:t>
            </a:r>
          </a:p>
          <a:p>
            <a:pPr algn="l">
              <a:lnSpc>
                <a:spcPct val="100000"/>
              </a:lnSpc>
            </a:pPr>
            <a:r>
              <a:rPr sz="800" b="0" i="0">
                <a:solidFill>
                  <a:srgbClr val="3BBE93"/>
                </a:solidFill>
                <a:latin typeface="Consolas"/>
              </a:rPr>
              <a:t>    │   ├── skills_pkg/</a:t>
            </a:r>
          </a:p>
          <a:p>
            <a:pPr algn="l">
              <a:lnSpc>
                <a:spcPct val="100000"/>
              </a:lnSpc>
            </a:pPr>
            <a:r>
              <a:rPr sz="800" b="0" i="0">
                <a:solidFill>
                  <a:srgbClr val="3BBE93"/>
                </a:solidFill>
                <a:latin typeface="Consolas"/>
              </a:rPr>
              <a:t>    │   │   ├── _meta/</a:t>
            </a:r>
          </a:p>
          <a:p>
            <a:pPr algn="l">
              <a:lnSpc>
                <a:spcPct val="100000"/>
              </a:lnSpc>
            </a:pPr>
            <a:r>
              <a:rPr sz="800" b="0" i="0">
                <a:solidFill>
                  <a:srgbClr val="ECE7DC"/>
                </a:solidFill>
                <a:latin typeface="Consolas"/>
              </a:rPr>
              <a:t>    │   │   │   ├── lint.py</a:t>
            </a:r>
          </a:p>
          <a:p>
            <a:pPr algn="l">
              <a:lnSpc>
                <a:spcPct val="100000"/>
              </a:lnSpc>
            </a:pPr>
            <a:r>
              <a:rPr sz="800" b="0" i="0">
                <a:solidFill>
                  <a:srgbClr val="ECE7DC"/>
                </a:solidFill>
                <a:latin typeface="Consolas"/>
              </a:rPr>
              <a:t>    │   │   │   └── schema.json</a:t>
            </a:r>
          </a:p>
          <a:p>
            <a:pPr algn="l">
              <a:lnSpc>
                <a:spcPct val="100000"/>
              </a:lnSpc>
            </a:pPr>
            <a:r>
              <a:rPr sz="800" b="0" i="0">
                <a:solidFill>
                  <a:srgbClr val="3BBE93"/>
                </a:solidFill>
                <a:latin typeface="Consolas"/>
              </a:rPr>
              <a:t>    │   │   ├── acp_router/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adding_external_mcp/</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 references/</a:t>
            </a:r>
          </a:p>
          <a:p>
            <a:pPr algn="l">
              <a:lnSpc>
                <a:spcPct val="100000"/>
              </a:lnSpc>
            </a:pPr>
            <a:r>
              <a:rPr sz="800" b="0" i="0">
                <a:solidFill>
                  <a:srgbClr val="ECE7DC"/>
                </a:solidFill>
                <a:latin typeface="Consolas"/>
              </a:rPr>
              <a:t>    │   │   │       ├── external_mcp_catalog_format.md</a:t>
            </a:r>
          </a:p>
          <a:p>
            <a:pPr algn="l">
              <a:lnSpc>
                <a:spcPct val="100000"/>
              </a:lnSpc>
            </a:pPr>
            <a:r>
              <a:rPr sz="800" b="0" i="0">
                <a:solidFill>
                  <a:srgbClr val="ECE7DC"/>
                </a:solidFill>
                <a:latin typeface="Consolas"/>
              </a:rPr>
              <a:t>    │   │   │       ├── llm_reflection_research.md</a:t>
            </a:r>
          </a:p>
          <a:p>
            <a:pPr algn="l">
              <a:lnSpc>
                <a:spcPct val="100000"/>
              </a:lnSpc>
            </a:pPr>
            <a:r>
              <a:rPr sz="800" b="0" i="0">
                <a:solidFill>
                  <a:srgbClr val="ECE7DC"/>
                </a:solidFill>
                <a:latin typeface="Consolas"/>
              </a:rPr>
              <a:t>    │   │   │       ├── transport_guide.md</a:t>
            </a:r>
          </a:p>
          <a:p>
            <a:pPr algn="l">
              <a:lnSpc>
                <a:spcPct val="100000"/>
              </a:lnSpc>
            </a:pPr>
            <a:r>
              <a:rPr sz="800" b="0" i="0">
                <a:solidFill>
                  <a:srgbClr val="ECE7DC"/>
                </a:solidFill>
                <a:latin typeface="Consolas"/>
              </a:rPr>
              <a:t>    │   │   │       └── troubleshooting.md</a:t>
            </a:r>
          </a:p>
          <a:p>
            <a:pPr algn="l">
              <a:lnSpc>
                <a:spcPct val="100000"/>
              </a:lnSpc>
            </a:pPr>
            <a:r>
              <a:rPr sz="800" b="0" i="0">
                <a:solidFill>
                  <a:srgbClr val="3BBE93"/>
                </a:solidFill>
                <a:latin typeface="Consolas"/>
              </a:rPr>
              <a:t>    │   │   ├── code_review/</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create_new_agent/</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create_new_mcp/</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flow_making/</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 references/</a:t>
            </a:r>
          </a:p>
          <a:p>
            <a:pPr algn="l">
              <a:lnSpc>
                <a:spcPct val="100000"/>
              </a:lnSpc>
            </a:pPr>
            <a:r>
              <a:rPr sz="800" b="0" i="0">
                <a:solidFill>
                  <a:srgbClr val="ECE7DC"/>
                </a:solidFill>
                <a:latin typeface="Consolas"/>
              </a:rPr>
              <a:t>    │   │   │   │   └── flw_schema.md</a:t>
            </a:r>
          </a:p>
          <a:p>
            <a:pPr algn="l">
              <a:lnSpc>
                <a:spcPct val="100000"/>
              </a:lnSpc>
            </a:pPr>
            <a:r>
              <a:rPr sz="800" b="0" i="0">
                <a:solidFill>
                  <a:srgbClr val="3BBE93"/>
                </a:solidFill>
                <a:latin typeface="Consolas"/>
              </a:rPr>
              <a:t>    │   │   │   └── scripts/</a:t>
            </a:r>
          </a:p>
          <a:p>
            <a:pPr algn="l">
              <a:lnSpc>
                <a:spcPct val="100000"/>
              </a:lnSpc>
            </a:pPr>
            <a:r>
              <a:rPr sz="800" b="0" i="0">
                <a:solidFill>
                  <a:srgbClr val="ECE7DC"/>
                </a:solidFill>
                <a:latin typeface="Consolas"/>
              </a:rPr>
              <a:t>    │   │   │       ├── make_flow.py</a:t>
            </a:r>
          </a:p>
          <a:p>
            <a:pPr algn="l">
              <a:lnSpc>
                <a:spcPct val="100000"/>
              </a:lnSpc>
            </a:pPr>
            <a:r>
              <a:rPr sz="800" b="0" i="0">
                <a:solidFill>
                  <a:srgbClr val="ECE7DC"/>
                </a:solidFill>
                <a:latin typeface="Consolas"/>
              </a:rPr>
              <a:t>    │   │   │       └── result_to_flw.py</a:t>
            </a:r>
          </a:p>
          <a:p>
            <a:pPr algn="l">
              <a:lnSpc>
                <a:spcPct val="100000"/>
              </a:lnSpc>
            </a:pPr>
            <a:r>
              <a:rPr sz="800" b="0" i="0">
                <a:solidFill>
                  <a:srgbClr val="3BBE93"/>
                </a:solidFill>
                <a:latin typeface="Consolas"/>
              </a:rPr>
              <a:t>    │   │   ├── github/</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gmail/</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hello_world/</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jira/</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kali_pentest/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notion/</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roblox_studio/</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security_audit/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setup_new_acpx_key/</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skill_creator/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 scripts/</a:t>
            </a:r>
          </a:p>
          <a:p>
            <a:pPr algn="l">
              <a:lnSpc>
                <a:spcPct val="100000"/>
              </a:lnSpc>
            </a:pPr>
            <a:r>
              <a:rPr sz="800" b="0" i="0">
                <a:solidFill>
                  <a:srgbClr val="ECE7DC"/>
                </a:solidFill>
                <a:latin typeface="Consolas"/>
              </a:rPr>
              <a:t>    │   │   │       └── quick_validate.py</a:t>
            </a:r>
          </a:p>
          <a:p>
            <a:pPr algn="l">
              <a:lnSpc>
                <a:spcPct val="100000"/>
              </a:lnSpc>
            </a:pPr>
            <a:r>
              <a:rPr sz="800" b="0" i="0">
                <a:solidFill>
                  <a:srgbClr val="3BBE93"/>
                </a:solidFill>
                <a:latin typeface="Consolas"/>
              </a:rPr>
              <a:t>    │   │   ├── slack/</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summarize/</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tlamatini_allowed_hosts_tighten/</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tlamatini_csrf_exempt_audit/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tlamatini_exec_report_row_adder/</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tlamatini_flow_from_objective/</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tlamatini_flw_doctor/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tlamatini_new_acp_agent/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tlamatini_planner_trace_replay/</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tlamatini_static_version_bumper/</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todoist/</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trello/</a:t>
            </a:r>
          </a:p>
          <a:p>
            <a:pPr algn="l">
              <a:lnSpc>
                <a:spcPct val="100000"/>
              </a:lnSpc>
            </a:pPr>
            <a:r>
              <a:rPr sz="800" b="0" i="0">
                <a:solidFill>
                  <a:srgbClr val="ECE7DC"/>
                </a:solidFill>
                <a:latin typeface="Consolas"/>
              </a:rPr>
              <a:t>    │   │   │   └── SKILL.md</a:t>
            </a:r>
          </a:p>
          <a:p>
            <a:pPr algn="l">
              <a:lnSpc>
                <a:spcPct val="100000"/>
              </a:lnSpc>
            </a:pPr>
            <a:r>
              <a:rPr sz="800" b="0" i="0">
                <a:solidFill>
                  <a:srgbClr val="3BBE93"/>
                </a:solidFill>
                <a:latin typeface="Consolas"/>
              </a:rPr>
              <a:t>    │   │   └── weather/</a:t>
            </a:r>
          </a:p>
          <a:p>
            <a:pPr algn="l">
              <a:lnSpc>
                <a:spcPct val="100000"/>
              </a:lnSpc>
            </a:pPr>
            <a:r>
              <a:rPr sz="800" b="0" i="0">
                <a:solidFill>
                  <a:srgbClr val="ECE7DC"/>
                </a:solidFill>
                <a:latin typeface="Consolas"/>
              </a:rPr>
              <a:t>    │   │       └── SKILL.md</a:t>
            </a:r>
          </a:p>
          <a:p>
            <a:pPr algn="l">
              <a:lnSpc>
                <a:spcPct val="100000"/>
              </a:lnSpc>
            </a:pPr>
            <a:r>
              <a:rPr sz="800" b="0" i="0">
                <a:solidFill>
                  <a:srgbClr val="3BBE93"/>
                </a:solidFill>
                <a:latin typeface="Consolas"/>
              </a:rPr>
              <a:t>    │   ├── static/</a:t>
            </a:r>
          </a:p>
          <a:p>
            <a:pPr algn="l">
              <a:lnSpc>
                <a:spcPct val="100000"/>
              </a:lnSpc>
            </a:pPr>
            <a:r>
              <a:rPr sz="800" b="0" i="0">
                <a:solidFill>
                  <a:srgbClr val="3BBE93"/>
                </a:solidFill>
                <a:latin typeface="Consolas"/>
              </a:rPr>
              <a:t>    │   │   └── agent/</a:t>
            </a:r>
          </a:p>
          <a:p>
            <a:pPr algn="l">
              <a:lnSpc>
                <a:spcPct val="100000"/>
              </a:lnSpc>
            </a:pPr>
            <a:r>
              <a:rPr sz="800" b="0" i="0">
                <a:solidFill>
                  <a:srgbClr val="3BBE93"/>
                </a:solidFill>
                <a:latin typeface="Consolas"/>
              </a:rPr>
              <a:t>    │   │       ├── css/</a:t>
            </a:r>
          </a:p>
          <a:p>
            <a:pPr algn="l">
              <a:lnSpc>
                <a:spcPct val="100000"/>
              </a:lnSpc>
            </a:pPr>
            <a:r>
              <a:rPr sz="800" b="0" i="0">
                <a:solidFill>
                  <a:srgbClr val="ECE7DC"/>
                </a:solidFill>
                <a:latin typeface="Consolas"/>
              </a:rPr>
              <a:t>    │   │       │   ├── access_keys_wizard.css</a:t>
            </a:r>
          </a:p>
          <a:p>
            <a:pPr algn="l">
              <a:lnSpc>
                <a:spcPct val="100000"/>
              </a:lnSpc>
            </a:pPr>
            <a:r>
              <a:rPr sz="800" b="0" i="0">
                <a:solidFill>
                  <a:srgbClr val="ECE7DC"/>
                </a:solidFill>
                <a:latin typeface="Consolas"/>
              </a:rPr>
              <a:t>    │   │       │   ├── admin_theme.css</a:t>
            </a:r>
          </a:p>
          <a:p>
            <a:pPr algn="l">
              <a:lnSpc>
                <a:spcPct val="100000"/>
              </a:lnSpc>
            </a:pPr>
            <a:r>
              <a:rPr sz="800" b="0" i="0">
                <a:solidFill>
                  <a:srgbClr val="ECE7DC"/>
                </a:solidFill>
                <a:latin typeface="Consolas"/>
              </a:rPr>
              <a:t>    │   │       │   ├── agent_page.css</a:t>
            </a:r>
          </a:p>
          <a:p>
            <a:pPr algn="l">
              <a:lnSpc>
                <a:spcPct val="100000"/>
              </a:lnSpc>
            </a:pPr>
            <a:r>
              <a:rPr sz="800" b="0" i="0">
                <a:solidFill>
                  <a:srgbClr val="ECE7DC"/>
                </a:solidFill>
                <a:latin typeface="Consolas"/>
              </a:rPr>
              <a:t>    │   │       │   ├── agentic_control_panel.css</a:t>
            </a:r>
          </a:p>
          <a:p>
            <a:pPr algn="l">
              <a:lnSpc>
                <a:spcPct val="100000"/>
              </a:lnSpc>
            </a:pPr>
            <a:r>
              <a:rPr sz="800" b="0" i="0">
                <a:solidFill>
                  <a:srgbClr val="ECE7DC"/>
                </a:solidFill>
                <a:latin typeface="Consolas"/>
              </a:rPr>
              <a:t>    │   │       │   ├── avatar.css</a:t>
            </a:r>
          </a:p>
          <a:p>
            <a:pPr algn="l">
              <a:lnSpc>
                <a:spcPct val="100000"/>
              </a:lnSpc>
            </a:pPr>
            <a:r>
              <a:rPr sz="800" b="0" i="0">
                <a:solidFill>
                  <a:srgbClr val="ECE7DC"/>
                </a:solidFill>
                <a:latin typeface="Consolas"/>
              </a:rPr>
              <a:t>    │   │       │   ├── canvas_editor.css</a:t>
            </a:r>
          </a:p>
          <a:p>
            <a:pPr algn="l">
              <a:lnSpc>
                <a:spcPct val="100000"/>
              </a:lnSpc>
            </a:pPr>
            <a:r>
              <a:rPr sz="800" b="0" i="0">
                <a:solidFill>
                  <a:srgbClr val="ECE7DC"/>
                </a:solidFill>
                <a:latin typeface="Consolas"/>
              </a:rPr>
              <a:t>    │   │       │   ├── chat_dictation.css</a:t>
            </a:r>
          </a:p>
          <a:p>
            <a:pPr algn="l">
              <a:lnSpc>
                <a:spcPct val="100000"/>
              </a:lnSpc>
            </a:pPr>
            <a:r>
              <a:rPr sz="800" b="0" i="0">
                <a:solidFill>
                  <a:srgbClr val="ECE7DC"/>
                </a:solidFill>
                <a:latin typeface="Consolas"/>
              </a:rPr>
              <a:t>    │   │       │   ├── contacts_dialog.css</a:t>
            </a:r>
          </a:p>
          <a:p>
            <a:pPr algn="l">
              <a:lnSpc>
                <a:spcPct val="100000"/>
              </a:lnSpc>
            </a:pPr>
            <a:r>
              <a:rPr sz="800" b="0" i="0">
                <a:solidFill>
                  <a:srgbClr val="ECE7DC"/>
                </a:solidFill>
                <a:latin typeface="Consolas"/>
              </a:rPr>
              <a:t>    │   │       │   ├── context_gauge.css</a:t>
            </a:r>
          </a:p>
          <a:p>
            <a:pPr algn="l">
              <a:lnSpc>
                <a:spcPct val="100000"/>
              </a:lnSpc>
            </a:pPr>
            <a:r>
              <a:rPr sz="800" b="0" i="0">
                <a:solidFill>
                  <a:srgbClr val="ECE7DC"/>
                </a:solidFill>
                <a:latin typeface="Consolas"/>
              </a:rPr>
              <a:t>    │   │       │   ├── dialog_theme.css</a:t>
            </a:r>
          </a:p>
          <a:p>
            <a:pPr algn="l">
              <a:lnSpc>
                <a:spcPct val="100000"/>
              </a:lnSpc>
            </a:pPr>
            <a:r>
              <a:rPr sz="800" b="0" i="0">
                <a:solidFill>
                  <a:srgbClr val="ECE7DC"/>
                </a:solidFill>
                <a:latin typeface="Consolas"/>
              </a:rPr>
              <a:t>    │   │       │   ├── entry_pages.css</a:t>
            </a:r>
          </a:p>
          <a:p>
            <a:pPr algn="l">
              <a:lnSpc>
                <a:spcPct val="100000"/>
              </a:lnSpc>
            </a:pPr>
            <a:r>
              <a:rPr sz="800" b="0" i="0">
                <a:solidFill>
                  <a:srgbClr val="ECE7DC"/>
                </a:solidFill>
                <a:latin typeface="Consolas"/>
              </a:rPr>
              <a:t>    │   │       │   ├── external_mcps_dialog.css</a:t>
            </a:r>
          </a:p>
          <a:p>
            <a:pPr algn="l">
              <a:lnSpc>
                <a:spcPct val="100000"/>
              </a:lnSpc>
            </a:pPr>
            <a:r>
              <a:rPr sz="800" b="0" i="0">
                <a:solidFill>
                  <a:srgbClr val="ECE7DC"/>
                </a:solidFill>
                <a:latin typeface="Consolas"/>
              </a:rPr>
              <a:t>    │   │       │   ├── flow_canvas.css</a:t>
            </a:r>
          </a:p>
          <a:p>
            <a:pPr algn="l">
              <a:lnSpc>
                <a:spcPct val="100000"/>
              </a:lnSpc>
            </a:pPr>
            <a:r>
              <a:rPr sz="800" b="0" i="0">
                <a:solidFill>
                  <a:srgbClr val="ECE7DC"/>
                </a:solidFill>
                <a:latin typeface="Consolas"/>
              </a:rPr>
              <a:t>    │   │       │   ├── interaction_settings.css</a:t>
            </a:r>
          </a:p>
          <a:p>
            <a:pPr algn="l">
              <a:lnSpc>
                <a:spcPct val="100000"/>
              </a:lnSpc>
            </a:pPr>
            <a:r>
              <a:rPr sz="800" b="0" i="0">
                <a:solidFill>
                  <a:srgbClr val="ECE7DC"/>
                </a:solidFill>
                <a:latin typeface="Consolas"/>
              </a:rPr>
              <a:t>    │   │       │   ├── login.css</a:t>
            </a:r>
          </a:p>
          <a:p>
            <a:pPr algn="l">
              <a:lnSpc>
                <a:spcPct val="100000"/>
              </a:lnSpc>
            </a:pPr>
            <a:r>
              <a:rPr sz="800" b="0" i="0">
                <a:solidFill>
                  <a:srgbClr val="ECE7DC"/>
                </a:solidFill>
                <a:latin typeface="Consolas"/>
              </a:rPr>
              <a:t>    │   │       │   ├── markdown_canvas.css</a:t>
            </a:r>
          </a:p>
          <a:p>
            <a:pPr algn="l">
              <a:lnSpc>
                <a:spcPct val="100000"/>
              </a:lnSpc>
            </a:pPr>
            <a:r>
              <a:rPr sz="800" b="0" i="0">
                <a:solidFill>
                  <a:srgbClr val="ECE7DC"/>
                </a:solidFill>
                <a:latin typeface="Consolas"/>
              </a:rPr>
              <a:t>    │   │       │   ├── model_brain_tuning.css</a:t>
            </a:r>
          </a:p>
          <a:p>
            <a:pPr algn="l">
              <a:lnSpc>
                <a:spcPct val="100000"/>
              </a:lnSpc>
            </a:pPr>
            <a:r>
              <a:rPr sz="800" b="0" i="0">
                <a:solidFill>
                  <a:srgbClr val="ECE7DC"/>
                </a:solidFill>
                <a:latin typeface="Consolas"/>
              </a:rPr>
              <a:t>    │   │       │   ├── model_capacity.css</a:t>
            </a:r>
          </a:p>
          <a:p>
            <a:pPr algn="l">
              <a:lnSpc>
                <a:spcPct val="100000"/>
              </a:lnSpc>
            </a:pPr>
            <a:r>
              <a:rPr sz="800" b="0" i="0">
                <a:solidFill>
                  <a:srgbClr val="ECE7DC"/>
                </a:solidFill>
                <a:latin typeface="Consolas"/>
              </a:rPr>
              <a:t>    │   │       │   ├── pdf_canvas.css</a:t>
            </a:r>
          </a:p>
          <a:p>
            <a:pPr algn="l">
              <a:lnSpc>
                <a:spcPct val="100000"/>
              </a:lnSpc>
            </a:pPr>
            <a:r>
              <a:rPr sz="800" b="0" i="0">
                <a:solidFill>
                  <a:srgbClr val="ECE7DC"/>
                </a:solidFill>
                <a:latin typeface="Consolas"/>
              </a:rPr>
              <a:t>    │   │       │   ├── pdf_context_progress.css</a:t>
            </a:r>
          </a:p>
          <a:p>
            <a:pPr algn="l">
              <a:lnSpc>
                <a:spcPct val="100000"/>
              </a:lnSpc>
            </a:pPr>
            <a:r>
              <a:rPr sz="800" b="0" i="0">
                <a:solidFill>
                  <a:srgbClr val="ECE7DC"/>
                </a:solidFill>
                <a:latin typeface="Consolas"/>
              </a:rPr>
              <a:t>    │   │       │   ├── prompt_flow_panel.css</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12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skills_dialog.css</a:t>
            </a:r>
          </a:p>
          <a:p>
            <a:pPr algn="l">
              <a:lnSpc>
                <a:spcPct val="100000"/>
              </a:lnSpc>
            </a:pPr>
            <a:r>
              <a:rPr sz="800" b="0" i="0">
                <a:solidFill>
                  <a:srgbClr val="ECE7DC"/>
                </a:solidFill>
                <a:latin typeface="Consolas"/>
              </a:rPr>
              <a:t>    │   │       │   ├── terminater_dock.css</a:t>
            </a:r>
          </a:p>
          <a:p>
            <a:pPr algn="l">
              <a:lnSpc>
                <a:spcPct val="100000"/>
              </a:lnSpc>
            </a:pPr>
            <a:r>
              <a:rPr sz="800" b="0" i="0">
                <a:solidFill>
                  <a:srgbClr val="ECE7DC"/>
                </a:solidFill>
                <a:latin typeface="Consolas"/>
              </a:rPr>
              <a:t>    │   │       │   ├── tools_dialog.css</a:t>
            </a:r>
          </a:p>
          <a:p>
            <a:pPr algn="l">
              <a:lnSpc>
                <a:spcPct val="100000"/>
              </a:lnSpc>
            </a:pPr>
            <a:r>
              <a:rPr sz="800" b="0" i="0">
                <a:solidFill>
                  <a:srgbClr val="ECE7DC"/>
                </a:solidFill>
                <a:latin typeface="Consolas"/>
              </a:rPr>
              <a:t>    │   │       │   ├── ui_shell.css</a:t>
            </a:r>
          </a:p>
          <a:p>
            <a:pPr algn="l">
              <a:lnSpc>
                <a:spcPct val="100000"/>
              </a:lnSpc>
            </a:pPr>
            <a:r>
              <a:rPr sz="800" b="0" i="0">
                <a:solidFill>
                  <a:srgbClr val="ECE7DC"/>
                </a:solidFill>
                <a:latin typeface="Consolas"/>
              </a:rPr>
              <a:t>    │   │       │   ├── ui_splitters.css</a:t>
            </a:r>
          </a:p>
          <a:p>
            <a:pPr algn="l">
              <a:lnSpc>
                <a:spcPct val="100000"/>
              </a:lnSpc>
            </a:pPr>
            <a:r>
              <a:rPr sz="800" b="0" i="0">
                <a:solidFill>
                  <a:srgbClr val="ECE7DC"/>
                </a:solidFill>
                <a:latin typeface="Consolas"/>
              </a:rPr>
              <a:t>    │   │       │   ├── ui_tokens.css</a:t>
            </a:r>
          </a:p>
          <a:p>
            <a:pPr algn="l">
              <a:lnSpc>
                <a:spcPct val="100000"/>
              </a:lnSpc>
            </a:pPr>
            <a:r>
              <a:rPr sz="800" b="0" i="0">
                <a:solidFill>
                  <a:srgbClr val="ECE7DC"/>
                </a:solidFill>
                <a:latin typeface="Consolas"/>
              </a:rPr>
              <a:t>    │   │       │   ├── usage_dashboard.css</a:t>
            </a:r>
          </a:p>
          <a:p>
            <a:pPr algn="l">
              <a:lnSpc>
                <a:spcPct val="100000"/>
              </a:lnSpc>
            </a:pPr>
            <a:r>
              <a:rPr sz="800" b="0" i="0">
                <a:solidFill>
                  <a:srgbClr val="ECE7DC"/>
                </a:solidFill>
                <a:latin typeface="Consolas"/>
              </a:rPr>
              <a:t>    │   │       │   └── welcome.css</a:t>
            </a:r>
          </a:p>
          <a:p>
            <a:pPr algn="l">
              <a:lnSpc>
                <a:spcPct val="100000"/>
              </a:lnSpc>
            </a:pPr>
            <a:r>
              <a:rPr sz="800" b="0" i="0">
                <a:solidFill>
                  <a:srgbClr val="3BBE93"/>
                </a:solidFill>
                <a:latin typeface="Consolas"/>
              </a:rPr>
              <a:t>    │   │       ├── img/</a:t>
            </a:r>
          </a:p>
          <a:p>
            <a:pPr algn="l">
              <a:lnSpc>
                <a:spcPct val="100000"/>
              </a:lnSpc>
            </a:pPr>
            <a:r>
              <a:rPr sz="800" b="0" i="0">
                <a:solidFill>
                  <a:srgbClr val="ECE7DC"/>
                </a:solidFill>
                <a:latin typeface="Consolas"/>
              </a:rPr>
              <a:t>    │   │       │   ├── spinner.svg</a:t>
            </a:r>
          </a:p>
          <a:p>
            <a:pPr algn="l">
              <a:lnSpc>
                <a:spcPct val="100000"/>
              </a:lnSpc>
            </a:pPr>
            <a:r>
              <a:rPr sz="800" b="0" i="0">
                <a:solidFill>
                  <a:srgbClr val="ECE7DC"/>
                </a:solidFill>
                <a:latin typeface="Consolas"/>
              </a:rPr>
              <a:t>    │   │       │   ├── Tlamatini.ico</a:t>
            </a:r>
          </a:p>
          <a:p>
            <a:pPr algn="l">
              <a:lnSpc>
                <a:spcPct val="100000"/>
              </a:lnSpc>
            </a:pPr>
            <a:r>
              <a:rPr sz="800" b="0" i="0">
                <a:solidFill>
                  <a:srgbClr val="3BBE93"/>
                </a:solidFill>
                <a:latin typeface="Consolas"/>
              </a:rPr>
              <a:t>    │   │       │   └── avatar/</a:t>
            </a:r>
          </a:p>
          <a:p>
            <a:pPr algn="l">
              <a:lnSpc>
                <a:spcPct val="100000"/>
              </a:lnSpc>
            </a:pPr>
            <a:r>
              <a:rPr sz="800" b="0" i="0">
                <a:solidFill>
                  <a:srgbClr val="ECE7DC"/>
                </a:solidFill>
                <a:latin typeface="Consolas"/>
              </a:rPr>
              <a:t>    │   │       │       ├── ec_mc.jpg</a:t>
            </a:r>
          </a:p>
          <a:p>
            <a:pPr algn="l">
              <a:lnSpc>
                <a:spcPct val="100000"/>
              </a:lnSpc>
            </a:pPr>
            <a:r>
              <a:rPr sz="800" b="0" i="0">
                <a:solidFill>
                  <a:srgbClr val="ECE7DC"/>
                </a:solidFill>
                <a:latin typeface="Consolas"/>
              </a:rPr>
              <a:t>    │   │       │       ├── ec_mo.jpg</a:t>
            </a:r>
          </a:p>
          <a:p>
            <a:pPr algn="l">
              <a:lnSpc>
                <a:spcPct val="100000"/>
              </a:lnSpc>
            </a:pPr>
            <a:r>
              <a:rPr sz="800" b="0" i="0">
                <a:solidFill>
                  <a:srgbClr val="ECE7DC"/>
                </a:solidFill>
                <a:latin typeface="Consolas"/>
              </a:rPr>
              <a:t>    │   │       │       ├── eo_mc.jpg</a:t>
            </a:r>
          </a:p>
          <a:p>
            <a:pPr algn="l">
              <a:lnSpc>
                <a:spcPct val="100000"/>
              </a:lnSpc>
            </a:pPr>
            <a:r>
              <a:rPr sz="800" b="0" i="0">
                <a:solidFill>
                  <a:srgbClr val="ECE7DC"/>
                </a:solidFill>
                <a:latin typeface="Consolas"/>
              </a:rPr>
              <a:t>    │   │       │       └── eo_mo.jpg</a:t>
            </a:r>
          </a:p>
          <a:p>
            <a:pPr algn="l">
              <a:lnSpc>
                <a:spcPct val="100000"/>
              </a:lnSpc>
            </a:pPr>
            <a:r>
              <a:rPr sz="800" b="0" i="0">
                <a:solidFill>
                  <a:srgbClr val="3BBE93"/>
                </a:solidFill>
                <a:latin typeface="Consolas"/>
              </a:rPr>
              <a:t>    │   │       ├── interactor/</a:t>
            </a:r>
          </a:p>
          <a:p>
            <a:pPr algn="l">
              <a:lnSpc>
                <a:spcPct val="100000"/>
              </a:lnSpc>
            </a:pPr>
            <a:r>
              <a:rPr sz="800" b="0" i="0">
                <a:solidFill>
                  <a:srgbClr val="ECE7DC"/>
                </a:solidFill>
                <a:latin typeface="Consolas"/>
              </a:rPr>
              <a:t>    │   │       │   ├── bridge.js</a:t>
            </a:r>
          </a:p>
          <a:p>
            <a:pPr algn="l">
              <a:lnSpc>
                <a:spcPct val="100000"/>
              </a:lnSpc>
            </a:pPr>
            <a:r>
              <a:rPr sz="800" b="0" i="0">
                <a:solidFill>
                  <a:srgbClr val="ECE7DC"/>
                </a:solidFill>
                <a:latin typeface="Consolas"/>
              </a:rPr>
              <a:t>    │   │       │   └── interactor.css</a:t>
            </a:r>
          </a:p>
          <a:p>
            <a:pPr algn="l">
              <a:lnSpc>
                <a:spcPct val="100000"/>
              </a:lnSpc>
            </a:pPr>
            <a:r>
              <a:rPr sz="800" b="0" i="0">
                <a:solidFill>
                  <a:srgbClr val="3BBE93"/>
                </a:solidFill>
                <a:latin typeface="Consolas"/>
              </a:rPr>
              <a:t>    │   │       ├── js/</a:t>
            </a:r>
          </a:p>
          <a:p>
            <a:pPr algn="l">
              <a:lnSpc>
                <a:spcPct val="100000"/>
              </a:lnSpc>
            </a:pPr>
            <a:r>
              <a:rPr sz="800" b="0" i="0">
                <a:solidFill>
                  <a:srgbClr val="ECE7DC"/>
                </a:solidFill>
                <a:latin typeface="Consolas"/>
              </a:rPr>
              <a:t>    │   │       │   ├── access_keys_wizard.js</a:t>
            </a:r>
          </a:p>
          <a:p>
            <a:pPr algn="l">
              <a:lnSpc>
                <a:spcPct val="100000"/>
              </a:lnSpc>
            </a:pPr>
            <a:r>
              <a:rPr sz="800" b="0" i="0">
                <a:solidFill>
                  <a:srgbClr val="ECE7DC"/>
                </a:solidFill>
                <a:latin typeface="Consolas"/>
              </a:rPr>
              <a:t>    │   │       │   ├── acp-agent-connectors.js</a:t>
            </a:r>
          </a:p>
          <a:p>
            <a:pPr algn="l">
              <a:lnSpc>
                <a:spcPct val="100000"/>
              </a:lnSpc>
            </a:pPr>
            <a:r>
              <a:rPr sz="800" b="0" i="0">
                <a:solidFill>
                  <a:srgbClr val="ECE7DC"/>
                </a:solidFill>
                <a:latin typeface="Consolas"/>
              </a:rPr>
              <a:t>    │   │       │   ├── acp-canvas-core.js</a:t>
            </a:r>
          </a:p>
          <a:p>
            <a:pPr algn="l">
              <a:lnSpc>
                <a:spcPct val="100000"/>
              </a:lnSpc>
            </a:pPr>
            <a:r>
              <a:rPr sz="800" b="0" i="0">
                <a:solidFill>
                  <a:srgbClr val="ECE7DC"/>
                </a:solidFill>
                <a:latin typeface="Consolas"/>
              </a:rPr>
              <a:t>    │   │       │   ├── acp-canvas-undo.js</a:t>
            </a:r>
          </a:p>
          <a:p>
            <a:pPr algn="l">
              <a:lnSpc>
                <a:spcPct val="100000"/>
              </a:lnSpc>
            </a:pPr>
            <a:r>
              <a:rPr sz="800" b="0" i="0">
                <a:solidFill>
                  <a:srgbClr val="ECE7DC"/>
                </a:solidFill>
                <a:latin typeface="Consolas"/>
              </a:rPr>
              <a:t>    │   │       │   ├── acp-connection-status.js</a:t>
            </a:r>
          </a:p>
          <a:p>
            <a:pPr algn="l">
              <a:lnSpc>
                <a:spcPct val="100000"/>
              </a:lnSpc>
            </a:pPr>
            <a:r>
              <a:rPr sz="800" b="0" i="0">
                <a:solidFill>
                  <a:srgbClr val="ECE7DC"/>
                </a:solidFill>
                <a:latin typeface="Consolas"/>
              </a:rPr>
              <a:t>    │   │       │   ├── acp-control-buttons.js</a:t>
            </a:r>
          </a:p>
          <a:p>
            <a:pPr algn="l">
              <a:lnSpc>
                <a:spcPct val="100000"/>
              </a:lnSpc>
            </a:pPr>
            <a:r>
              <a:rPr sz="800" b="0" i="0">
                <a:solidFill>
                  <a:srgbClr val="ECE7DC"/>
                </a:solidFill>
                <a:latin typeface="Consolas"/>
              </a:rPr>
              <a:t>    │   │       │   ├── acp-editor-tools.js</a:t>
            </a:r>
          </a:p>
          <a:p>
            <a:pPr algn="l">
              <a:lnSpc>
                <a:spcPct val="100000"/>
              </a:lnSpc>
            </a:pPr>
            <a:r>
              <a:rPr sz="800" b="0" i="0">
                <a:solidFill>
                  <a:srgbClr val="ECE7DC"/>
                </a:solidFill>
                <a:latin typeface="Consolas"/>
              </a:rPr>
              <a:t>    │   │       │   ├── acp-file-io.js</a:t>
            </a:r>
          </a:p>
          <a:p>
            <a:pPr algn="l">
              <a:lnSpc>
                <a:spcPct val="100000"/>
              </a:lnSpc>
            </a:pPr>
            <a:r>
              <a:rPr sz="800" b="0" i="0">
                <a:solidFill>
                  <a:srgbClr val="ECE7DC"/>
                </a:solidFill>
                <a:latin typeface="Consolas"/>
              </a:rPr>
              <a:t>    │   │       │   ├── acp-flow-snapshot.js</a:t>
            </a:r>
          </a:p>
          <a:p>
            <a:pPr algn="l">
              <a:lnSpc>
                <a:spcPct val="100000"/>
              </a:lnSpc>
            </a:pPr>
            <a:r>
              <a:rPr sz="800" b="0" i="0">
                <a:solidFill>
                  <a:srgbClr val="ECE7DC"/>
                </a:solidFill>
                <a:latin typeface="Consolas"/>
              </a:rPr>
              <a:t>    │   │       │   ├── acp-globals.js</a:t>
            </a:r>
          </a:p>
          <a:p>
            <a:pPr algn="l">
              <a:lnSpc>
                <a:spcPct val="100000"/>
              </a:lnSpc>
            </a:pPr>
            <a:r>
              <a:rPr sz="800" b="0" i="0">
                <a:solidFill>
                  <a:srgbClr val="ECE7DC"/>
                </a:solidFill>
                <a:latin typeface="Consolas"/>
              </a:rPr>
              <a:t>    │   │       │   ├── acp-layout.js</a:t>
            </a:r>
          </a:p>
          <a:p>
            <a:pPr algn="l">
              <a:lnSpc>
                <a:spcPct val="100000"/>
              </a:lnSpc>
            </a:pPr>
            <a:r>
              <a:rPr sz="800" b="0" i="0">
                <a:solidFill>
                  <a:srgbClr val="ECE7DC"/>
                </a:solidFill>
                <a:latin typeface="Consolas"/>
              </a:rPr>
              <a:t>    │   │       │   ├── acp-parametrizer-dialog.js</a:t>
            </a:r>
          </a:p>
          <a:p>
            <a:pPr algn="l">
              <a:lnSpc>
                <a:spcPct val="100000"/>
              </a:lnSpc>
            </a:pPr>
            <a:r>
              <a:rPr sz="800" b="0" i="0">
                <a:solidFill>
                  <a:srgbClr val="ECE7DC"/>
                </a:solidFill>
                <a:latin typeface="Consolas"/>
              </a:rPr>
              <a:t>    │   │       │   ├── acp-running-state.js</a:t>
            </a:r>
          </a:p>
          <a:p>
            <a:pPr algn="l">
              <a:lnSpc>
                <a:spcPct val="100000"/>
              </a:lnSpc>
            </a:pPr>
            <a:r>
              <a:rPr sz="800" b="0" i="0">
                <a:solidFill>
                  <a:srgbClr val="ECE7DC"/>
                </a:solidFill>
                <a:latin typeface="Consolas"/>
              </a:rPr>
              <a:t>    │   │       │   ├── acp-session.js</a:t>
            </a:r>
          </a:p>
          <a:p>
            <a:pPr algn="l">
              <a:lnSpc>
                <a:spcPct val="100000"/>
              </a:lnSpc>
            </a:pPr>
            <a:r>
              <a:rPr sz="800" b="0" i="0">
                <a:solidFill>
                  <a:srgbClr val="ECE7DC"/>
                </a:solidFill>
                <a:latin typeface="Consolas"/>
              </a:rPr>
              <a:t>    │   │       │   ├── acp-undo-manager.js</a:t>
            </a:r>
          </a:p>
          <a:p>
            <a:pPr algn="l">
              <a:lnSpc>
                <a:spcPct val="100000"/>
              </a:lnSpc>
            </a:pPr>
            <a:r>
              <a:rPr sz="800" b="0" i="0">
                <a:solidFill>
                  <a:srgbClr val="ECE7DC"/>
                </a:solidFill>
                <a:latin typeface="Consolas"/>
              </a:rPr>
              <a:t>    │   │       │   ├── acp-validate.js</a:t>
            </a:r>
          </a:p>
          <a:p>
            <a:pPr algn="l">
              <a:lnSpc>
                <a:spcPct val="100000"/>
              </a:lnSpc>
            </a:pPr>
            <a:r>
              <a:rPr sz="800" b="0" i="0">
                <a:solidFill>
                  <a:srgbClr val="ECE7DC"/>
                </a:solidFill>
                <a:latin typeface="Consolas"/>
              </a:rPr>
              <a:t>    │   │       │   ├── agent_page_canvas.js</a:t>
            </a:r>
          </a:p>
          <a:p>
            <a:pPr algn="l">
              <a:lnSpc>
                <a:spcPct val="100000"/>
              </a:lnSpc>
            </a:pPr>
            <a:r>
              <a:rPr sz="800" b="0" i="0">
                <a:solidFill>
                  <a:srgbClr val="ECE7DC"/>
                </a:solidFill>
                <a:latin typeface="Consolas"/>
              </a:rPr>
              <a:t>    │   │       │   ├── agent_page_chat.js</a:t>
            </a:r>
          </a:p>
          <a:p>
            <a:pPr algn="l">
              <a:lnSpc>
                <a:spcPct val="100000"/>
              </a:lnSpc>
            </a:pPr>
            <a:r>
              <a:rPr sz="800" b="0" i="0">
                <a:solidFill>
                  <a:srgbClr val="ECE7DC"/>
                </a:solidFill>
                <a:latin typeface="Consolas"/>
              </a:rPr>
              <a:t>    │   │       │   ├── agent_page_context.js</a:t>
            </a:r>
          </a:p>
          <a:p>
            <a:pPr algn="l">
              <a:lnSpc>
                <a:spcPct val="100000"/>
              </a:lnSpc>
            </a:pPr>
            <a:r>
              <a:rPr sz="800" b="0" i="0">
                <a:solidFill>
                  <a:srgbClr val="ECE7DC"/>
                </a:solidFill>
                <a:latin typeface="Consolas"/>
              </a:rPr>
              <a:t>    │   │       │   ├── agent_page_dialogs.js</a:t>
            </a:r>
          </a:p>
          <a:p>
            <a:pPr algn="l">
              <a:lnSpc>
                <a:spcPct val="100000"/>
              </a:lnSpc>
            </a:pPr>
            <a:r>
              <a:rPr sz="800" b="0" i="0">
                <a:solidFill>
                  <a:srgbClr val="ECE7DC"/>
                </a:solidFill>
                <a:latin typeface="Consolas"/>
              </a:rPr>
              <a:t>    │   │       │   ├── agent_page_editing.js</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agent_page_init.js</a:t>
            </a:r>
          </a:p>
          <a:p>
            <a:pPr algn="l">
              <a:lnSpc>
                <a:spcPct val="100000"/>
              </a:lnSpc>
            </a:pPr>
            <a:r>
              <a:rPr sz="800" b="0" i="0">
                <a:solidFill>
                  <a:srgbClr val="ECE7DC"/>
                </a:solidFill>
                <a:latin typeface="Consolas"/>
              </a:rPr>
              <a:t>    │   │       │   ├── agent_page_layout.js</a:t>
            </a:r>
          </a:p>
          <a:p>
            <a:pPr algn="l">
              <a:lnSpc>
                <a:spcPct val="100000"/>
              </a:lnSpc>
            </a:pPr>
            <a:r>
              <a:rPr sz="800" b="0" i="0">
                <a:solidFill>
                  <a:srgbClr val="ECE7DC"/>
                </a:solidFill>
                <a:latin typeface="Consolas"/>
              </a:rPr>
              <a:t>    │   │       │   ├── agent_page_markdown.js</a:t>
            </a:r>
          </a:p>
          <a:p>
            <a:pPr algn="l">
              <a:lnSpc>
                <a:spcPct val="100000"/>
              </a:lnSpc>
            </a:pPr>
            <a:r>
              <a:rPr sz="800" b="0" i="0">
                <a:solidFill>
                  <a:srgbClr val="ECE7DC"/>
                </a:solidFill>
                <a:latin typeface="Consolas"/>
              </a:rPr>
              <a:t>    │   │       │   ├── agent_page_pdf.js</a:t>
            </a:r>
          </a:p>
          <a:p>
            <a:pPr algn="l">
              <a:lnSpc>
                <a:spcPct val="100000"/>
              </a:lnSpc>
            </a:pPr>
            <a:r>
              <a:rPr sz="800" b="0" i="0">
                <a:solidFill>
                  <a:srgbClr val="ECE7DC"/>
                </a:solidFill>
                <a:latin typeface="Consolas"/>
              </a:rPr>
              <a:t>    │   │       │   ├── agent_page_state.js</a:t>
            </a:r>
          </a:p>
          <a:p>
            <a:pPr algn="l">
              <a:lnSpc>
                <a:spcPct val="100000"/>
              </a:lnSpc>
            </a:pPr>
            <a:r>
              <a:rPr sz="800" b="0" i="0">
                <a:solidFill>
                  <a:srgbClr val="ECE7DC"/>
                </a:solidFill>
                <a:latin typeface="Consolas"/>
              </a:rPr>
              <a:t>    │   │       │   ├── agent_page_ui.js</a:t>
            </a:r>
          </a:p>
          <a:p>
            <a:pPr algn="l">
              <a:lnSpc>
                <a:spcPct val="100000"/>
              </a:lnSpc>
            </a:pPr>
            <a:r>
              <a:rPr sz="800" b="0" i="0">
                <a:solidFill>
                  <a:srgbClr val="ECE7DC"/>
                </a:solidFill>
                <a:latin typeface="Consolas"/>
              </a:rPr>
              <a:t>    │   │       │   ├── agentic_control_panel.js</a:t>
            </a:r>
          </a:p>
          <a:p>
            <a:pPr algn="l">
              <a:lnSpc>
                <a:spcPct val="100000"/>
              </a:lnSpc>
            </a:pPr>
            <a:r>
              <a:rPr sz="800" b="0" i="0">
                <a:solidFill>
                  <a:srgbClr val="ECE7DC"/>
                </a:solidFill>
                <a:latin typeface="Consolas"/>
              </a:rPr>
              <a:t>    │   │       │   ├── avatar.js</a:t>
            </a:r>
          </a:p>
          <a:p>
            <a:pPr algn="l">
              <a:lnSpc>
                <a:spcPct val="100000"/>
              </a:lnSpc>
            </a:pPr>
            <a:r>
              <a:rPr sz="800" b="0" i="0">
                <a:solidFill>
                  <a:srgbClr val="ECE7DC"/>
                </a:solidFill>
                <a:latin typeface="Consolas"/>
              </a:rPr>
              <a:t>    │   │       │   ├── avatar_presence.js</a:t>
            </a:r>
          </a:p>
          <a:p>
            <a:pPr algn="l">
              <a:lnSpc>
                <a:spcPct val="100000"/>
              </a:lnSpc>
            </a:pPr>
            <a:r>
              <a:rPr sz="800" b="0" i="0">
                <a:solidFill>
                  <a:srgbClr val="ECE7DC"/>
                </a:solidFill>
                <a:latin typeface="Consolas"/>
              </a:rPr>
              <a:t>    │   │       │   ├── avatar_size.js</a:t>
            </a:r>
          </a:p>
          <a:p>
            <a:pPr algn="l">
              <a:lnSpc>
                <a:spcPct val="100000"/>
              </a:lnSpc>
            </a:pPr>
            <a:r>
              <a:rPr sz="800" b="0" i="0">
                <a:solidFill>
                  <a:srgbClr val="ECE7DC"/>
                </a:solidFill>
                <a:latin typeface="Consolas"/>
              </a:rPr>
              <a:t>    │   │       │   ├── canvas_item_dialog.js</a:t>
            </a:r>
          </a:p>
          <a:p>
            <a:pPr algn="l">
              <a:lnSpc>
                <a:spcPct val="100000"/>
              </a:lnSpc>
            </a:pPr>
            <a:r>
              <a:rPr sz="800" b="0" i="0">
                <a:solidFill>
                  <a:srgbClr val="ECE7DC"/>
                </a:solidFill>
                <a:latin typeface="Consolas"/>
              </a:rPr>
              <a:t>    │   │       │   ├── chat_dictation.js</a:t>
            </a:r>
          </a:p>
          <a:p>
            <a:pPr algn="l">
              <a:lnSpc>
                <a:spcPct val="100000"/>
              </a:lnSpc>
            </a:pPr>
            <a:r>
              <a:rPr sz="800" b="0" i="0">
                <a:solidFill>
                  <a:srgbClr val="ECE7DC"/>
                </a:solidFill>
                <a:latin typeface="Consolas"/>
              </a:rPr>
              <a:t>    │   │       │   ├── chat_image_paste.js</a:t>
            </a:r>
          </a:p>
          <a:p>
            <a:pPr algn="l">
              <a:lnSpc>
                <a:spcPct val="100000"/>
              </a:lnSpc>
            </a:pPr>
            <a:r>
              <a:rPr sz="800" b="0" i="0">
                <a:solidFill>
                  <a:srgbClr val="ECE7DC"/>
                </a:solidFill>
                <a:latin typeface="Consolas"/>
              </a:rPr>
              <a:t>    │   │       │   ├── chat_page_runtime_poller.js</a:t>
            </a:r>
          </a:p>
          <a:p>
            <a:pPr algn="l">
              <a:lnSpc>
                <a:spcPct val="100000"/>
              </a:lnSpc>
            </a:pPr>
            <a:r>
              <a:rPr sz="800" b="0" i="0">
                <a:solidFill>
                  <a:srgbClr val="ECE7DC"/>
                </a:solidFill>
                <a:latin typeface="Consolas"/>
              </a:rPr>
              <a:t>    │   │       │   ├── chat_table_contrast.js</a:t>
            </a:r>
          </a:p>
          <a:p>
            <a:pPr algn="l">
              <a:lnSpc>
                <a:spcPct val="100000"/>
              </a:lnSpc>
            </a:pPr>
            <a:r>
              <a:rPr sz="800" b="0" i="0">
                <a:solidFill>
                  <a:srgbClr val="ECE7DC"/>
                </a:solidFill>
                <a:latin typeface="Consolas"/>
              </a:rPr>
              <a:t>    │   │       │   ├── checkbox_bulk_toggle.js</a:t>
            </a:r>
          </a:p>
          <a:p>
            <a:pPr algn="l">
              <a:lnSpc>
                <a:spcPct val="100000"/>
              </a:lnSpc>
            </a:pPr>
            <a:r>
              <a:rPr sz="800" b="0" i="0">
                <a:solidFill>
                  <a:srgbClr val="ECE7DC"/>
                </a:solidFill>
                <a:latin typeface="Consolas"/>
              </a:rPr>
              <a:t>    │   │       │   ├── compact_costs.js</a:t>
            </a:r>
          </a:p>
          <a:p>
            <a:pPr algn="l">
              <a:lnSpc>
                <a:spcPct val="100000"/>
              </a:lnSpc>
            </a:pPr>
            <a:r>
              <a:rPr sz="800" b="0" i="0">
                <a:solidFill>
                  <a:srgbClr val="ECE7DC"/>
                </a:solidFill>
                <a:latin typeface="Consolas"/>
              </a:rPr>
              <a:t>    │   │       │   ├── contacts_dialog.js</a:t>
            </a:r>
          </a:p>
          <a:p>
            <a:pPr algn="l">
              <a:lnSpc>
                <a:spcPct val="100000"/>
              </a:lnSpc>
            </a:pPr>
            <a:r>
              <a:rPr sz="800" b="0" i="0">
                <a:solidFill>
                  <a:srgbClr val="ECE7DC"/>
                </a:solidFill>
                <a:latin typeface="Consolas"/>
              </a:rPr>
              <a:t>    │   │       │   ├── context_gauge.js</a:t>
            </a:r>
          </a:p>
          <a:p>
            <a:pPr algn="l">
              <a:lnSpc>
                <a:spcPct val="100000"/>
              </a:lnSpc>
            </a:pPr>
            <a:r>
              <a:rPr sz="800" b="0" i="0">
                <a:solidFill>
                  <a:srgbClr val="ECE7DC"/>
                </a:solidFill>
                <a:latin typeface="Consolas"/>
              </a:rPr>
              <a:t>    │   │       │   ├── contextual_menus.js</a:t>
            </a:r>
          </a:p>
          <a:p>
            <a:pPr algn="l">
              <a:lnSpc>
                <a:spcPct val="100000"/>
              </a:lnSpc>
            </a:pPr>
            <a:r>
              <a:rPr sz="800" b="0" i="0">
                <a:solidFill>
                  <a:srgbClr val="ECE7DC"/>
                </a:solidFill>
                <a:latin typeface="Consolas"/>
              </a:rPr>
              <a:t>    │   │       │   ├── dialog_policy.js</a:t>
            </a:r>
          </a:p>
          <a:p>
            <a:pPr algn="l">
              <a:lnSpc>
                <a:spcPct val="100000"/>
              </a:lnSpc>
            </a:pPr>
            <a:r>
              <a:rPr sz="800" b="0" i="0">
                <a:solidFill>
                  <a:srgbClr val="ECE7DC"/>
                </a:solidFill>
                <a:latin typeface="Consolas"/>
              </a:rPr>
              <a:t>    │   │       │   ├── external_mcps_dialog.js</a:t>
            </a:r>
          </a:p>
          <a:p>
            <a:pPr algn="l">
              <a:lnSpc>
                <a:spcPct val="100000"/>
              </a:lnSpc>
            </a:pPr>
            <a:r>
              <a:rPr sz="800" b="0" i="0">
                <a:solidFill>
                  <a:srgbClr val="ECE7DC"/>
                </a:solidFill>
                <a:latin typeface="Consolas"/>
              </a:rPr>
              <a:t>    │   │       │   ├── file_drop_router.js</a:t>
            </a:r>
          </a:p>
          <a:p>
            <a:pPr algn="l">
              <a:lnSpc>
                <a:spcPct val="100000"/>
              </a:lnSpc>
            </a:pPr>
            <a:r>
              <a:rPr sz="800" b="0" i="0">
                <a:solidFill>
                  <a:srgbClr val="ECE7DC"/>
                </a:solidFill>
                <a:latin typeface="Consolas"/>
              </a:rPr>
              <a:t>    │   │       │   ├── flow-canvas-interactions.js</a:t>
            </a:r>
          </a:p>
          <a:p>
            <a:pPr algn="l">
              <a:lnSpc>
                <a:spcPct val="100000"/>
              </a:lnSpc>
            </a:pPr>
            <a:r>
              <a:rPr sz="800" b="0" i="0">
                <a:solidFill>
                  <a:srgbClr val="ECE7DC"/>
                </a:solidFill>
                <a:latin typeface="Consolas"/>
              </a:rPr>
              <a:t>    │   │       │   ├── interaction_settings.js</a:t>
            </a:r>
          </a:p>
          <a:p>
            <a:pPr algn="l">
              <a:lnSpc>
                <a:spcPct val="100000"/>
              </a:lnSpc>
            </a:pPr>
            <a:r>
              <a:rPr sz="800" b="0" i="0">
                <a:solidFill>
                  <a:srgbClr val="ECE7DC"/>
                </a:solidFill>
                <a:latin typeface="Consolas"/>
              </a:rPr>
              <a:t>    │   │       │   ├── interaction_speech.js</a:t>
            </a:r>
          </a:p>
          <a:p>
            <a:pPr algn="l">
              <a:lnSpc>
                <a:spcPct val="100000"/>
              </a:lnSpc>
            </a:pPr>
            <a:r>
              <a:rPr sz="800" b="0" i="0">
                <a:solidFill>
                  <a:srgbClr val="ECE7DC"/>
                </a:solidFill>
                <a:latin typeface="Consolas"/>
              </a:rPr>
              <a:t>    │   │       │   ├── mic_settings.js</a:t>
            </a:r>
          </a:p>
          <a:p>
            <a:pPr algn="l">
              <a:lnSpc>
                <a:spcPct val="100000"/>
              </a:lnSpc>
            </a:pPr>
            <a:r>
              <a:rPr sz="800" b="0" i="0">
                <a:solidFill>
                  <a:srgbClr val="ECE7DC"/>
                </a:solidFill>
                <a:latin typeface="Consolas"/>
              </a:rPr>
              <a:t>    │   │       │   ├── model_brain_tuning.js</a:t>
            </a:r>
          </a:p>
          <a:p>
            <a:pPr algn="l">
              <a:lnSpc>
                <a:spcPct val="100000"/>
              </a:lnSpc>
            </a:pPr>
            <a:r>
              <a:rPr sz="800" b="0" i="0">
                <a:solidFill>
                  <a:srgbClr val="ECE7DC"/>
                </a:solidFill>
                <a:latin typeface="Consolas"/>
              </a:rPr>
              <a:t>    │   │       │   ├── model_capacity.js</a:t>
            </a:r>
          </a:p>
          <a:p>
            <a:pPr algn="l">
              <a:lnSpc>
                <a:spcPct val="100000"/>
              </a:lnSpc>
            </a:pPr>
            <a:r>
              <a:rPr sz="800" b="0" i="0">
                <a:solidFill>
                  <a:srgbClr val="ECE7DC"/>
                </a:solidFill>
                <a:latin typeface="Consolas"/>
              </a:rPr>
              <a:t>    │   │       │   ├── pdf_canvas_viewer.js</a:t>
            </a:r>
          </a:p>
          <a:p>
            <a:pPr algn="l">
              <a:lnSpc>
                <a:spcPct val="100000"/>
              </a:lnSpc>
            </a:pPr>
            <a:r>
              <a:rPr sz="800" b="0" i="0">
                <a:solidFill>
                  <a:srgbClr val="ECE7DC"/>
                </a:solidFill>
                <a:latin typeface="Consolas"/>
              </a:rPr>
              <a:t>    │   │       │   ├── pdf_context_progress.js</a:t>
            </a:r>
          </a:p>
          <a:p>
            <a:pPr algn="l">
              <a:lnSpc>
                <a:spcPct val="100000"/>
              </a:lnSpc>
            </a:pPr>
            <a:r>
              <a:rPr sz="800" b="0" i="0">
                <a:solidFill>
                  <a:srgbClr val="ECE7DC"/>
                </a:solidFill>
                <a:latin typeface="Consolas"/>
              </a:rPr>
              <a:t>    │   │       │   ├── prompt-flow-panel-model.js</a:t>
            </a:r>
          </a:p>
          <a:p>
            <a:pPr algn="l">
              <a:lnSpc>
                <a:spcPct val="100000"/>
              </a:lnSpc>
            </a:pPr>
            <a:r>
              <a:rPr sz="800" b="0" i="0">
                <a:solidFill>
                  <a:srgbClr val="ECE7DC"/>
                </a:solidFill>
                <a:latin typeface="Consolas"/>
              </a:rPr>
              <a:t>    │   │       │   ├── prompt-flow-panel.js</a:t>
            </a:r>
          </a:p>
          <a:p>
            <a:pPr algn="l">
              <a:lnSpc>
                <a:spcPct val="100000"/>
              </a:lnSpc>
            </a:pPr>
            <a:r>
              <a:rPr sz="800" b="0" i="0">
                <a:solidFill>
                  <a:srgbClr val="ECE7DC"/>
                </a:solidFill>
                <a:latin typeface="Consolas"/>
              </a:rPr>
              <a:t>    │   │       │   ├── release_notes_renderer.js</a:t>
            </a:r>
          </a:p>
          <a:p>
            <a:pPr algn="l">
              <a:lnSpc>
                <a:spcPct val="100000"/>
              </a:lnSpc>
            </a:pPr>
            <a:r>
              <a:rPr sz="800" b="0" i="0">
                <a:solidFill>
                  <a:srgbClr val="ECE7DC"/>
                </a:solidFill>
                <a:latin typeface="Consolas"/>
              </a:rPr>
              <a:t>    │   │       │   ├── self_modify_switch.js</a:t>
            </a:r>
          </a:p>
          <a:p>
            <a:pPr algn="l">
              <a:lnSpc>
                <a:spcPct val="100000"/>
              </a:lnSpc>
            </a:pPr>
            <a:r>
              <a:rPr sz="800" b="0" i="0">
                <a:solidFill>
                  <a:srgbClr val="ECE7DC"/>
                </a:solidFill>
                <a:latin typeface="Consolas"/>
              </a:rPr>
              <a:t>    │   │       │   ├── shared-runtime-dialogs.js</a:t>
            </a:r>
          </a:p>
          <a:p>
            <a:pPr algn="l">
              <a:lnSpc>
                <a:spcPct val="100000"/>
              </a:lnSpc>
            </a:pPr>
            <a:r>
              <a:rPr sz="800" b="0" i="0">
                <a:solidFill>
                  <a:srgbClr val="ECE7DC"/>
                </a:solidFill>
                <a:latin typeface="Consolas"/>
              </a:rPr>
              <a:t>    │   │       │   ├── skills_dialog.js</a:t>
            </a:r>
          </a:p>
          <a:p>
            <a:pPr algn="l">
              <a:lnSpc>
                <a:spcPct val="100000"/>
              </a:lnSpc>
            </a:pPr>
            <a:r>
              <a:rPr sz="800" b="0" i="0">
                <a:solidFill>
                  <a:srgbClr val="ECE7DC"/>
                </a:solidFill>
                <a:latin typeface="Consolas"/>
              </a:rPr>
              <a:t>    │   │       │   ├── terminater_dock.js</a:t>
            </a:r>
          </a:p>
          <a:p>
            <a:pPr algn="l">
              <a:lnSpc>
                <a:spcPct val="100000"/>
              </a:lnSpc>
            </a:pPr>
            <a:r>
              <a:rPr sz="800" b="0" i="0">
                <a:solidFill>
                  <a:srgbClr val="ECE7DC"/>
                </a:solidFill>
                <a:latin typeface="Consolas"/>
              </a:rPr>
              <a:t>    │   │       │   ├── tools_dialog.js</a:t>
            </a:r>
          </a:p>
          <a:p>
            <a:pPr algn="l">
              <a:lnSpc>
                <a:spcPct val="100000"/>
              </a:lnSpc>
            </a:pPr>
            <a:r>
              <a:rPr sz="800" b="0" i="0">
                <a:solidFill>
                  <a:srgbClr val="ECE7DC"/>
                </a:solidFill>
                <a:latin typeface="Consolas"/>
              </a:rPr>
              <a:t>    │   │       │   ├── ui_splitters.js</a:t>
            </a:r>
          </a:p>
          <a:p>
            <a:pPr algn="l">
              <a:lnSpc>
                <a:spcPct val="100000"/>
              </a:lnSpc>
            </a:pPr>
            <a:r>
              <a:rPr sz="800" b="0" i="0">
                <a:solidFill>
                  <a:srgbClr val="ECE7DC"/>
                </a:solidFill>
                <a:latin typeface="Consolas"/>
              </a:rPr>
              <a:t>    │   │       │   ├── usage_dashboard.js</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voice_runtime.js</a:t>
            </a:r>
          </a:p>
          <a:p>
            <a:pPr algn="l">
              <a:lnSpc>
                <a:spcPct val="100000"/>
              </a:lnSpc>
            </a:pPr>
            <a:r>
              <a:rPr sz="800" b="0" i="0">
                <a:solidFill>
                  <a:srgbClr val="ECE7DC"/>
                </a:solidFill>
                <a:latin typeface="Consolas"/>
              </a:rPr>
              <a:t>    │   │       │   └── welcome_enter_default.js</a:t>
            </a:r>
          </a:p>
          <a:p>
            <a:pPr algn="l">
              <a:lnSpc>
                <a:spcPct val="100000"/>
              </a:lnSpc>
            </a:pPr>
            <a:r>
              <a:rPr sz="800" b="0" i="0">
                <a:solidFill>
                  <a:srgbClr val="3BBE93"/>
                </a:solidFill>
                <a:latin typeface="Consolas"/>
              </a:rPr>
              <a:t>    │   │       ├── pdf/</a:t>
            </a:r>
          </a:p>
          <a:p>
            <a:pPr algn="l">
              <a:lnSpc>
                <a:spcPct val="100000"/>
              </a:lnSpc>
            </a:pPr>
            <a:r>
              <a:rPr sz="800" b="0" i="0">
                <a:solidFill>
                  <a:srgbClr val="ECE7DC"/>
                </a:solidFill>
                <a:latin typeface="Consolas"/>
              </a:rPr>
              <a:t>    │   │       │   └── canvas.html</a:t>
            </a:r>
          </a:p>
          <a:p>
            <a:pPr algn="l">
              <a:lnSpc>
                <a:spcPct val="100000"/>
              </a:lnSpc>
            </a:pPr>
            <a:r>
              <a:rPr sz="800" b="0" i="0">
                <a:solidFill>
                  <a:srgbClr val="3BBE93"/>
                </a:solidFill>
                <a:latin typeface="Consolas"/>
              </a:rPr>
              <a:t>    │   │       ├── sounds/</a:t>
            </a:r>
          </a:p>
          <a:p>
            <a:pPr algn="l">
              <a:lnSpc>
                <a:spcPct val="100000"/>
              </a:lnSpc>
            </a:pPr>
            <a:r>
              <a:rPr sz="800" b="0" i="0">
                <a:solidFill>
                  <a:srgbClr val="ECE7DC"/>
                </a:solidFill>
                <a:latin typeface="Consolas"/>
              </a:rPr>
              <a:t>    │   │       │   ├── hypervisor_alert.wav</a:t>
            </a:r>
          </a:p>
          <a:p>
            <a:pPr algn="l">
              <a:lnSpc>
                <a:spcPct val="100000"/>
              </a:lnSpc>
            </a:pPr>
            <a:r>
              <a:rPr sz="800" b="0" i="0">
                <a:solidFill>
                  <a:srgbClr val="ECE7DC"/>
                </a:solidFill>
                <a:latin typeface="Consolas"/>
              </a:rPr>
              <a:t>    │   │       │   └── notification.wav</a:t>
            </a:r>
          </a:p>
          <a:p>
            <a:pPr algn="l">
              <a:lnSpc>
                <a:spcPct val="100000"/>
              </a:lnSpc>
            </a:pPr>
            <a:r>
              <a:rPr sz="800" b="0" i="0">
                <a:solidFill>
                  <a:srgbClr val="3BBE93"/>
                </a:solidFill>
                <a:latin typeface="Consolas"/>
              </a:rPr>
              <a:t>    │   │       ├── vendor/</a:t>
            </a:r>
          </a:p>
          <a:p>
            <a:pPr algn="l">
              <a:lnSpc>
                <a:spcPct val="100000"/>
              </a:lnSpc>
            </a:pPr>
            <a:r>
              <a:rPr sz="800" b="0" i="0">
                <a:solidFill>
                  <a:srgbClr val="3BBE93"/>
                </a:solidFill>
                <a:latin typeface="Consolas"/>
              </a:rPr>
              <a:t>    │   │       │   ├── canvas-editor/</a:t>
            </a:r>
          </a:p>
          <a:p>
            <a:pPr algn="l">
              <a:lnSpc>
                <a:spcPct val="100000"/>
              </a:lnSpc>
            </a:pPr>
            <a:r>
              <a:rPr sz="800" b="0" i="0">
                <a:solidFill>
                  <a:srgbClr val="ECE7DC"/>
                </a:solidFill>
                <a:latin typeface="Consolas"/>
              </a:rPr>
              <a:t>    │   │       │   │   ├── editor.js</a:t>
            </a:r>
          </a:p>
          <a:p>
            <a:pPr algn="l">
              <a:lnSpc>
                <a:spcPct val="100000"/>
              </a:lnSpc>
            </a:pPr>
            <a:r>
              <a:rPr sz="800" b="0" i="0">
                <a:solidFill>
                  <a:srgbClr val="ECE7DC"/>
                </a:solidFill>
                <a:latin typeface="Consolas"/>
              </a:rPr>
              <a:t>    │   │       │   │   ├── LICENSES.txt</a:t>
            </a:r>
          </a:p>
          <a:p>
            <a:pPr algn="l">
              <a:lnSpc>
                <a:spcPct val="100000"/>
              </a:lnSpc>
            </a:pPr>
            <a:r>
              <a:rPr sz="800" b="0" i="0">
                <a:solidFill>
                  <a:srgbClr val="ECE7DC"/>
                </a:solidFill>
                <a:latin typeface="Consolas"/>
              </a:rPr>
              <a:t>    │   │       │   │   └── manifest.json</a:t>
            </a:r>
          </a:p>
          <a:p>
            <a:pPr algn="l">
              <a:lnSpc>
                <a:spcPct val="100000"/>
              </a:lnSpc>
            </a:pPr>
            <a:r>
              <a:rPr sz="800" b="0" i="0">
                <a:solidFill>
                  <a:srgbClr val="3BBE93"/>
                </a:solidFill>
                <a:latin typeface="Consolas"/>
              </a:rPr>
              <a:t>    │   │       │   ├── frontend/</a:t>
            </a:r>
          </a:p>
          <a:p>
            <a:pPr algn="l">
              <a:lnSpc>
                <a:spcPct val="100000"/>
              </a:lnSpc>
            </a:pPr>
            <a:r>
              <a:rPr sz="800" b="0" i="0">
                <a:solidFill>
                  <a:srgbClr val="ECE7DC"/>
                </a:solidFill>
                <a:latin typeface="Consolas"/>
              </a:rPr>
              <a:t>    │   │       │   │   ├── manifest.json</a:t>
            </a:r>
          </a:p>
          <a:p>
            <a:pPr algn="l">
              <a:lnSpc>
                <a:spcPct val="100000"/>
              </a:lnSpc>
            </a:pPr>
            <a:r>
              <a:rPr sz="800" b="0" i="0">
                <a:solidFill>
                  <a:srgbClr val="3BBE93"/>
                </a:solidFill>
                <a:latin typeface="Consolas"/>
              </a:rPr>
              <a:t>    │   │       │   │   ├── bootstrap/</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dist/</a:t>
            </a:r>
          </a:p>
          <a:p>
            <a:pPr algn="l">
              <a:lnSpc>
                <a:spcPct val="100000"/>
              </a:lnSpc>
            </a:pPr>
            <a:r>
              <a:rPr sz="800" b="0" i="0">
                <a:solidFill>
                  <a:srgbClr val="3BBE93"/>
                </a:solidFill>
                <a:latin typeface="Consolas"/>
              </a:rPr>
              <a:t>    │   │       │   │   │       ├── css/</a:t>
            </a:r>
          </a:p>
          <a:p>
            <a:pPr algn="l">
              <a:lnSpc>
                <a:spcPct val="100000"/>
              </a:lnSpc>
            </a:pPr>
            <a:r>
              <a:rPr sz="800" b="0" i="0">
                <a:solidFill>
                  <a:srgbClr val="ECE7DC"/>
                </a:solidFill>
                <a:latin typeface="Consolas"/>
              </a:rPr>
              <a:t>    │   │       │   │   │       │   ├── bootstrap.min.cs</a:t>
            </a:r>
          </a:p>
          <a:p>
            <a:pPr algn="l">
              <a:lnSpc>
                <a:spcPct val="100000"/>
              </a:lnSpc>
            </a:pPr>
            <a:r>
              <a:rPr sz="800" b="0" i="0">
                <a:solidFill>
                  <a:srgbClr val="ECE7DC"/>
                </a:solidFill>
                <a:latin typeface="Consolas"/>
              </a:rPr>
              <a:t>    │   │       │   │   │       │   │     » s</a:t>
            </a:r>
          </a:p>
          <a:p>
            <a:pPr algn="l">
              <a:lnSpc>
                <a:spcPct val="100000"/>
              </a:lnSpc>
            </a:pPr>
            <a:r>
              <a:rPr sz="800" b="0" i="0">
                <a:solidFill>
                  <a:srgbClr val="ECE7DC"/>
                </a:solidFill>
                <a:latin typeface="Consolas"/>
              </a:rPr>
              <a:t>    │   │       │   │   │       │   └── bootstrap.min.cs</a:t>
            </a:r>
          </a:p>
          <a:p>
            <a:pPr algn="l">
              <a:lnSpc>
                <a:spcPct val="100000"/>
              </a:lnSpc>
            </a:pPr>
            <a:r>
              <a:rPr sz="800" b="0" i="0">
                <a:solidFill>
                  <a:srgbClr val="ECE7DC"/>
                </a:solidFill>
                <a:latin typeface="Consolas"/>
              </a:rPr>
              <a:t>    │   │       │   │   │       │         » s.map</a:t>
            </a:r>
          </a:p>
          <a:p>
            <a:pPr algn="l">
              <a:lnSpc>
                <a:spcPct val="100000"/>
              </a:lnSpc>
            </a:pPr>
            <a:r>
              <a:rPr sz="800" b="0" i="0">
                <a:solidFill>
                  <a:srgbClr val="3BBE93"/>
                </a:solidFill>
                <a:latin typeface="Consolas"/>
              </a:rPr>
              <a:t>    │   │       │   │   │       └── js/</a:t>
            </a:r>
          </a:p>
          <a:p>
            <a:pPr algn="l">
              <a:lnSpc>
                <a:spcPct val="100000"/>
              </a:lnSpc>
            </a:pPr>
            <a:r>
              <a:rPr sz="800" b="0" i="0">
                <a:solidFill>
                  <a:srgbClr val="ECE7DC"/>
                </a:solidFill>
                <a:latin typeface="Consolas"/>
              </a:rPr>
              <a:t>    │   │       │   │   │           ├── bootstrap.bundle</a:t>
            </a:r>
          </a:p>
          <a:p>
            <a:pPr algn="l">
              <a:lnSpc>
                <a:spcPct val="100000"/>
              </a:lnSpc>
            </a:pPr>
            <a:r>
              <a:rPr sz="800" b="0" i="0">
                <a:solidFill>
                  <a:srgbClr val="ECE7DC"/>
                </a:solidFill>
                <a:latin typeface="Consolas"/>
              </a:rPr>
              <a:t>    │   │       │   │   │           │     » .min.js</a:t>
            </a:r>
          </a:p>
          <a:p>
            <a:pPr algn="l">
              <a:lnSpc>
                <a:spcPct val="100000"/>
              </a:lnSpc>
            </a:pPr>
            <a:r>
              <a:rPr sz="800" b="0" i="0">
                <a:solidFill>
                  <a:srgbClr val="ECE7DC"/>
                </a:solidFill>
                <a:latin typeface="Consolas"/>
              </a:rPr>
              <a:t>    │   │       │   │   │           └── bootstrap.bundle</a:t>
            </a:r>
          </a:p>
          <a:p>
            <a:pPr algn="l">
              <a:lnSpc>
                <a:spcPct val="100000"/>
              </a:lnSpc>
            </a:pPr>
            <a:r>
              <a:rPr sz="800" b="0" i="0">
                <a:solidFill>
                  <a:srgbClr val="ECE7DC"/>
                </a:solidFill>
                <a:latin typeface="Consolas"/>
              </a:rPr>
              <a:t>    │   │       │   │   │                 » .min.js.map</a:t>
            </a:r>
          </a:p>
          <a:p>
            <a:pPr algn="l">
              <a:lnSpc>
                <a:spcPct val="100000"/>
              </a:lnSpc>
            </a:pPr>
            <a:r>
              <a:rPr sz="800" b="0" i="0">
                <a:solidFill>
                  <a:srgbClr val="3BBE93"/>
                </a:solidFill>
                <a:latin typeface="Consolas"/>
              </a:rPr>
              <a:t>    │   │       │   │   ├── dompurify/</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dist/</a:t>
            </a:r>
          </a:p>
          <a:p>
            <a:pPr algn="l">
              <a:lnSpc>
                <a:spcPct val="100000"/>
              </a:lnSpc>
            </a:pPr>
            <a:r>
              <a:rPr sz="800" b="0" i="0">
                <a:solidFill>
                  <a:srgbClr val="ECE7DC"/>
                </a:solidFill>
                <a:latin typeface="Consolas"/>
              </a:rPr>
              <a:t>    │   │       │   │   │       ├── purify.min.js</a:t>
            </a:r>
          </a:p>
          <a:p>
            <a:pPr algn="l">
              <a:lnSpc>
                <a:spcPct val="100000"/>
              </a:lnSpc>
            </a:pPr>
            <a:r>
              <a:rPr sz="800" b="0" i="0">
                <a:solidFill>
                  <a:srgbClr val="ECE7DC"/>
                </a:solidFill>
                <a:latin typeface="Consolas"/>
              </a:rPr>
              <a:t>    │   │       │   │   │       └── purify.min.js.map</a:t>
            </a:r>
          </a:p>
          <a:p>
            <a:pPr algn="l">
              <a:lnSpc>
                <a:spcPct val="100000"/>
              </a:lnSpc>
            </a:pPr>
            <a:r>
              <a:rPr sz="800" b="0" i="0">
                <a:solidFill>
                  <a:srgbClr val="3BBE93"/>
                </a:solidFill>
                <a:latin typeface="Consolas"/>
              </a:rPr>
              <a:t>    │   │       │   │   ├── highlightjs/</a:t>
            </a:r>
          </a:p>
          <a:p>
            <a:pPr algn="l">
              <a:lnSpc>
                <a:spcPct val="100000"/>
              </a:lnSpc>
            </a:pPr>
            <a:r>
              <a:rPr sz="800" b="0" i="0">
                <a:solidFill>
                  <a:srgbClr val="ECE7DC"/>
                </a:solidFill>
                <a:latin typeface="Consolas"/>
              </a:rPr>
              <a:t>    │   │       │   │   │   ├── highlight.min.js</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languages/</a:t>
            </a:r>
          </a:p>
          <a:p>
            <a:pPr algn="l">
              <a:lnSpc>
                <a:spcPct val="100000"/>
              </a:lnSpc>
            </a:pPr>
            <a:r>
              <a:rPr sz="800" b="0" i="0">
                <a:solidFill>
                  <a:srgbClr val="ECE7DC"/>
                </a:solidFill>
                <a:latin typeface="Consolas"/>
              </a:rPr>
              <a:t>    │   │       │   │   │   │   ├── bash.min.js</a:t>
            </a:r>
          </a:p>
          <a:p>
            <a:pPr algn="l">
              <a:lnSpc>
                <a:spcPct val="100000"/>
              </a:lnSpc>
            </a:pPr>
            <a:r>
              <a:rPr sz="800" b="0" i="0">
                <a:solidFill>
                  <a:srgbClr val="ECE7DC"/>
                </a:solidFill>
                <a:latin typeface="Consolas"/>
              </a:rPr>
              <a:t>    │   │       │   │   │   │   ├── c.min.js</a:t>
            </a:r>
          </a:p>
          <a:p>
            <a:pPr algn="l">
              <a:lnSpc>
                <a:spcPct val="100000"/>
              </a:lnSpc>
            </a:pPr>
            <a:r>
              <a:rPr sz="800" b="0" i="0">
                <a:solidFill>
                  <a:srgbClr val="ECE7DC"/>
                </a:solidFill>
                <a:latin typeface="Consolas"/>
              </a:rPr>
              <a:t>    │   │       │   │   │   │   ├── cpp.min.js</a:t>
            </a:r>
          </a:p>
          <a:p>
            <a:pPr algn="l">
              <a:lnSpc>
                <a:spcPct val="100000"/>
              </a:lnSpc>
            </a:pPr>
            <a:r>
              <a:rPr sz="800" b="0" i="0">
                <a:solidFill>
                  <a:srgbClr val="ECE7DC"/>
                </a:solidFill>
                <a:latin typeface="Consolas"/>
              </a:rPr>
              <a:t>    │   │       │   │   │   │   ├── css.min.js</a:t>
            </a:r>
          </a:p>
          <a:p>
            <a:pPr algn="l">
              <a:lnSpc>
                <a:spcPct val="100000"/>
              </a:lnSpc>
            </a:pPr>
            <a:r>
              <a:rPr sz="800" b="0" i="0">
                <a:solidFill>
                  <a:srgbClr val="ECE7DC"/>
                </a:solidFill>
                <a:latin typeface="Consolas"/>
              </a:rPr>
              <a:t>    │   │       │   │   │   │   ├── ini.min.js</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13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   ├── java.min.js</a:t>
            </a:r>
          </a:p>
          <a:p>
            <a:pPr algn="l">
              <a:lnSpc>
                <a:spcPct val="100000"/>
              </a:lnSpc>
            </a:pPr>
            <a:r>
              <a:rPr sz="800" b="0" i="0">
                <a:solidFill>
                  <a:srgbClr val="ECE7DC"/>
                </a:solidFill>
                <a:latin typeface="Consolas"/>
              </a:rPr>
              <a:t>    │   │       │   │   │   │   ├── javascript.min.js</a:t>
            </a:r>
          </a:p>
          <a:p>
            <a:pPr algn="l">
              <a:lnSpc>
                <a:spcPct val="100000"/>
              </a:lnSpc>
            </a:pPr>
            <a:r>
              <a:rPr sz="800" b="0" i="0">
                <a:solidFill>
                  <a:srgbClr val="ECE7DC"/>
                </a:solidFill>
                <a:latin typeface="Consolas"/>
              </a:rPr>
              <a:t>    │   │       │   │   │   │   ├── kotlin.min.js</a:t>
            </a:r>
          </a:p>
          <a:p>
            <a:pPr algn="l">
              <a:lnSpc>
                <a:spcPct val="100000"/>
              </a:lnSpc>
            </a:pPr>
            <a:r>
              <a:rPr sz="800" b="0" i="0">
                <a:solidFill>
                  <a:srgbClr val="ECE7DC"/>
                </a:solidFill>
                <a:latin typeface="Consolas"/>
              </a:rPr>
              <a:t>    │   │       │   │   │   │   ├── python.min.js</a:t>
            </a:r>
          </a:p>
          <a:p>
            <a:pPr algn="l">
              <a:lnSpc>
                <a:spcPct val="100000"/>
              </a:lnSpc>
            </a:pPr>
            <a:r>
              <a:rPr sz="800" b="0" i="0">
                <a:solidFill>
                  <a:srgbClr val="ECE7DC"/>
                </a:solidFill>
                <a:latin typeface="Consolas"/>
              </a:rPr>
              <a:t>    │   │       │   │   │   │   ├── rust.min.js</a:t>
            </a:r>
          </a:p>
          <a:p>
            <a:pPr algn="l">
              <a:lnSpc>
                <a:spcPct val="100000"/>
              </a:lnSpc>
            </a:pPr>
            <a:r>
              <a:rPr sz="800" b="0" i="0">
                <a:solidFill>
                  <a:srgbClr val="ECE7DC"/>
                </a:solidFill>
                <a:latin typeface="Consolas"/>
              </a:rPr>
              <a:t>    │   │       │   │   │   │   ├── sql.min.js</a:t>
            </a:r>
          </a:p>
          <a:p>
            <a:pPr algn="l">
              <a:lnSpc>
                <a:spcPct val="100000"/>
              </a:lnSpc>
            </a:pPr>
            <a:r>
              <a:rPr sz="800" b="0" i="0">
                <a:solidFill>
                  <a:srgbClr val="ECE7DC"/>
                </a:solidFill>
                <a:latin typeface="Consolas"/>
              </a:rPr>
              <a:t>    │   │       │   │   │   │   ├── typescript.min.js</a:t>
            </a:r>
          </a:p>
          <a:p>
            <a:pPr algn="l">
              <a:lnSpc>
                <a:spcPct val="100000"/>
              </a:lnSpc>
            </a:pPr>
            <a:r>
              <a:rPr sz="800" b="0" i="0">
                <a:solidFill>
                  <a:srgbClr val="ECE7DC"/>
                </a:solidFill>
                <a:latin typeface="Consolas"/>
              </a:rPr>
              <a:t>    │   │       │   │   │   │   ├── xml.min.js</a:t>
            </a:r>
          </a:p>
          <a:p>
            <a:pPr algn="l">
              <a:lnSpc>
                <a:spcPct val="100000"/>
              </a:lnSpc>
            </a:pPr>
            <a:r>
              <a:rPr sz="800" b="0" i="0">
                <a:solidFill>
                  <a:srgbClr val="ECE7DC"/>
                </a:solidFill>
                <a:latin typeface="Consolas"/>
              </a:rPr>
              <a:t>    │   │       │   │   │   │   └── yaml.min.js</a:t>
            </a:r>
          </a:p>
          <a:p>
            <a:pPr algn="l">
              <a:lnSpc>
                <a:spcPct val="100000"/>
              </a:lnSpc>
            </a:pPr>
            <a:r>
              <a:rPr sz="800" b="0" i="0">
                <a:solidFill>
                  <a:srgbClr val="3BBE93"/>
                </a:solidFill>
                <a:latin typeface="Consolas"/>
              </a:rPr>
              <a:t>    │   │       │   │   │   └── styles/</a:t>
            </a:r>
          </a:p>
          <a:p>
            <a:pPr algn="l">
              <a:lnSpc>
                <a:spcPct val="100000"/>
              </a:lnSpc>
            </a:pPr>
            <a:r>
              <a:rPr sz="800" b="0" i="0">
                <a:solidFill>
                  <a:srgbClr val="ECE7DC"/>
                </a:solidFill>
                <a:latin typeface="Consolas"/>
              </a:rPr>
              <a:t>    │   │       │   │   │       └── atom-one-dark.min.cs</a:t>
            </a:r>
          </a:p>
          <a:p>
            <a:pPr algn="l">
              <a:lnSpc>
                <a:spcPct val="100000"/>
              </a:lnSpc>
            </a:pPr>
            <a:r>
              <a:rPr sz="800" b="0" i="0">
                <a:solidFill>
                  <a:srgbClr val="ECE7DC"/>
                </a:solidFill>
                <a:latin typeface="Consolas"/>
              </a:rPr>
              <a:t>    │   │       │   │   │             » s</a:t>
            </a:r>
          </a:p>
          <a:p>
            <a:pPr algn="l">
              <a:lnSpc>
                <a:spcPct val="100000"/>
              </a:lnSpc>
            </a:pPr>
            <a:r>
              <a:rPr sz="800" b="0" i="0">
                <a:solidFill>
                  <a:srgbClr val="3BBE93"/>
                </a:solidFill>
                <a:latin typeface="Consolas"/>
              </a:rPr>
              <a:t>    │   │       │   │   ├── jquery/</a:t>
            </a:r>
          </a:p>
          <a:p>
            <a:pPr algn="l">
              <a:lnSpc>
                <a:spcPct val="100000"/>
              </a:lnSpc>
            </a:pPr>
            <a:r>
              <a:rPr sz="800" b="0" i="0">
                <a:solidFill>
                  <a:srgbClr val="ECE7DC"/>
                </a:solidFill>
                <a:latin typeface="Consolas"/>
              </a:rPr>
              <a:t>    │   │       │   │   │   ├── LICENSE.txt</a:t>
            </a:r>
          </a:p>
          <a:p>
            <a:pPr algn="l">
              <a:lnSpc>
                <a:spcPct val="100000"/>
              </a:lnSpc>
            </a:pPr>
            <a:r>
              <a:rPr sz="800" b="0" i="0">
                <a:solidFill>
                  <a:srgbClr val="3BBE93"/>
                </a:solidFill>
                <a:latin typeface="Consolas"/>
              </a:rPr>
              <a:t>    │   │       │   │   │   └── dist/</a:t>
            </a:r>
          </a:p>
          <a:p>
            <a:pPr algn="l">
              <a:lnSpc>
                <a:spcPct val="100000"/>
              </a:lnSpc>
            </a:pPr>
            <a:r>
              <a:rPr sz="800" b="0" i="0">
                <a:solidFill>
                  <a:srgbClr val="ECE7DC"/>
                </a:solidFill>
                <a:latin typeface="Consolas"/>
              </a:rPr>
              <a:t>    │   │       │   │   │       ├── jquery.min.js</a:t>
            </a:r>
          </a:p>
          <a:p>
            <a:pPr algn="l">
              <a:lnSpc>
                <a:spcPct val="100000"/>
              </a:lnSpc>
            </a:pPr>
            <a:r>
              <a:rPr sz="800" b="0" i="0">
                <a:solidFill>
                  <a:srgbClr val="ECE7DC"/>
                </a:solidFill>
                <a:latin typeface="Consolas"/>
              </a:rPr>
              <a:t>    │   │       │   │   │       └── jquery.min.map</a:t>
            </a:r>
          </a:p>
          <a:p>
            <a:pPr algn="l">
              <a:lnSpc>
                <a:spcPct val="100000"/>
              </a:lnSpc>
            </a:pPr>
            <a:r>
              <a:rPr sz="800" b="0" i="0">
                <a:solidFill>
                  <a:srgbClr val="3BBE93"/>
                </a:solidFill>
                <a:latin typeface="Consolas"/>
              </a:rPr>
              <a:t>    │   │       │   │   ├── jquery-ui/</a:t>
            </a:r>
          </a:p>
          <a:p>
            <a:pPr algn="l">
              <a:lnSpc>
                <a:spcPct val="100000"/>
              </a:lnSpc>
            </a:pPr>
            <a:r>
              <a:rPr sz="800" b="0" i="0">
                <a:solidFill>
                  <a:srgbClr val="ECE7DC"/>
                </a:solidFill>
                <a:latin typeface="Consolas"/>
              </a:rPr>
              <a:t>    │   │       │   │   │   ├── jquery-ui.min.js</a:t>
            </a:r>
          </a:p>
          <a:p>
            <a:pPr algn="l">
              <a:lnSpc>
                <a:spcPct val="100000"/>
              </a:lnSpc>
            </a:pPr>
            <a:r>
              <a:rPr sz="800" b="0" i="0">
                <a:solidFill>
                  <a:srgbClr val="ECE7DC"/>
                </a:solidFill>
                <a:latin typeface="Consolas"/>
              </a:rPr>
              <a:t>    │   │       │   │   │   └── LICENSE.txt</a:t>
            </a:r>
          </a:p>
          <a:p>
            <a:pPr algn="l">
              <a:lnSpc>
                <a:spcPct val="100000"/>
              </a:lnSpc>
            </a:pPr>
            <a:r>
              <a:rPr sz="800" b="0" i="0">
                <a:solidFill>
                  <a:srgbClr val="3BBE93"/>
                </a:solidFill>
                <a:latin typeface="Consolas"/>
              </a:rPr>
              <a:t>    │   │       │   │   ├── marked/</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nunito/</a:t>
            </a:r>
          </a:p>
          <a:p>
            <a:pPr algn="l">
              <a:lnSpc>
                <a:spcPct val="100000"/>
              </a:lnSpc>
            </a:pPr>
            <a:r>
              <a:rPr sz="800" b="0" i="0">
                <a:solidFill>
                  <a:srgbClr val="ECE7DC"/>
                </a:solidFill>
                <a:latin typeface="Consolas"/>
              </a:rPr>
              <a:t>    │   │       │   │   │   ├── 400.css</a:t>
            </a:r>
          </a:p>
          <a:p>
            <a:pPr algn="l">
              <a:lnSpc>
                <a:spcPct val="100000"/>
              </a:lnSpc>
            </a:pPr>
            <a:r>
              <a:rPr sz="800" b="0" i="0">
                <a:solidFill>
                  <a:srgbClr val="ECE7DC"/>
                </a:solidFill>
                <a:latin typeface="Consolas"/>
              </a:rPr>
              <a:t>    │   │       │   │   │   ├── 700.css</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files/</a:t>
            </a:r>
          </a:p>
          <a:p>
            <a:pPr algn="l">
              <a:lnSpc>
                <a:spcPct val="100000"/>
              </a:lnSpc>
            </a:pPr>
            <a:r>
              <a:rPr sz="800" b="0" i="0">
                <a:solidFill>
                  <a:srgbClr val="ECE7DC"/>
                </a:solidFill>
                <a:latin typeface="Consolas"/>
              </a:rPr>
              <a:t>    │   │       │   │   │       ├── nunito-cyrillic-400-</a:t>
            </a:r>
          </a:p>
          <a:p>
            <a:pPr algn="l">
              <a:lnSpc>
                <a:spcPct val="100000"/>
              </a:lnSpc>
            </a:pPr>
            <a:r>
              <a:rPr sz="800" b="0" i="0">
                <a:solidFill>
                  <a:srgbClr val="ECE7DC"/>
                </a:solidFill>
                <a:latin typeface="Consolas"/>
              </a:rPr>
              <a:t>    │   │       │   │   │       │     » normal.woff</a:t>
            </a:r>
          </a:p>
          <a:p>
            <a:pPr algn="l">
              <a:lnSpc>
                <a:spcPct val="100000"/>
              </a:lnSpc>
            </a:pPr>
            <a:r>
              <a:rPr sz="800" b="0" i="0">
                <a:solidFill>
                  <a:srgbClr val="ECE7DC"/>
                </a:solidFill>
                <a:latin typeface="Consolas"/>
              </a:rPr>
              <a:t>    │   │       │   │   │       ├── nunito-cyrillic-400-</a:t>
            </a:r>
          </a:p>
          <a:p>
            <a:pPr algn="l">
              <a:lnSpc>
                <a:spcPct val="100000"/>
              </a:lnSpc>
            </a:pPr>
            <a:r>
              <a:rPr sz="800" b="0" i="0">
                <a:solidFill>
                  <a:srgbClr val="ECE7DC"/>
                </a:solidFill>
                <a:latin typeface="Consolas"/>
              </a:rPr>
              <a:t>    │   │       │   │   │       │     » normal.woff2</a:t>
            </a:r>
          </a:p>
          <a:p>
            <a:pPr algn="l">
              <a:lnSpc>
                <a:spcPct val="100000"/>
              </a:lnSpc>
            </a:pPr>
            <a:r>
              <a:rPr sz="800" b="0" i="0">
                <a:solidFill>
                  <a:srgbClr val="ECE7DC"/>
                </a:solidFill>
                <a:latin typeface="Consolas"/>
              </a:rPr>
              <a:t>    │   │       │   │   │       ├── nunito-cyrillic-700-</a:t>
            </a:r>
          </a:p>
          <a:p>
            <a:pPr algn="l">
              <a:lnSpc>
                <a:spcPct val="100000"/>
              </a:lnSpc>
            </a:pPr>
            <a:r>
              <a:rPr sz="800" b="0" i="0">
                <a:solidFill>
                  <a:srgbClr val="ECE7DC"/>
                </a:solidFill>
                <a:latin typeface="Consolas"/>
              </a:rPr>
              <a:t>    │   │       │   │   │       │     » normal.woff</a:t>
            </a:r>
          </a:p>
          <a:p>
            <a:pPr algn="l">
              <a:lnSpc>
                <a:spcPct val="100000"/>
              </a:lnSpc>
            </a:pPr>
            <a:r>
              <a:rPr sz="800" b="0" i="0">
                <a:solidFill>
                  <a:srgbClr val="ECE7DC"/>
                </a:solidFill>
                <a:latin typeface="Consolas"/>
              </a:rPr>
              <a:t>    │   │       │   │   │       ├── nunito-cyrillic-700-</a:t>
            </a:r>
          </a:p>
          <a:p>
            <a:pPr algn="l">
              <a:lnSpc>
                <a:spcPct val="100000"/>
              </a:lnSpc>
            </a:pPr>
            <a:r>
              <a:rPr sz="800" b="0" i="0">
                <a:solidFill>
                  <a:srgbClr val="ECE7DC"/>
                </a:solidFill>
                <a:latin typeface="Consolas"/>
              </a:rPr>
              <a:t>    │   │       │   │   │       │     » normal.woff2</a:t>
            </a:r>
          </a:p>
          <a:p>
            <a:pPr algn="l">
              <a:lnSpc>
                <a:spcPct val="100000"/>
              </a:lnSpc>
            </a:pPr>
            <a:r>
              <a:rPr sz="800" b="0" i="0">
                <a:solidFill>
                  <a:srgbClr val="ECE7DC"/>
                </a:solidFill>
                <a:latin typeface="Consolas"/>
              </a:rPr>
              <a:t>    │   │       │   │   │       ├── nunito-cyrillic-ext-</a:t>
            </a:r>
          </a:p>
          <a:p>
            <a:pPr algn="l">
              <a:lnSpc>
                <a:spcPct val="100000"/>
              </a:lnSpc>
            </a:pPr>
            <a:r>
              <a:rPr sz="800" b="0" i="0">
                <a:solidFill>
                  <a:srgbClr val="ECE7DC"/>
                </a:solidFill>
                <a:latin typeface="Consolas"/>
              </a:rPr>
              <a:t>    │   │       │   │   │       │     » 400-normal.woff</a:t>
            </a:r>
          </a:p>
          <a:p>
            <a:pPr algn="l">
              <a:lnSpc>
                <a:spcPct val="100000"/>
              </a:lnSpc>
            </a:pPr>
            <a:r>
              <a:rPr sz="800" b="0" i="0">
                <a:solidFill>
                  <a:srgbClr val="ECE7DC"/>
                </a:solidFill>
                <a:latin typeface="Consolas"/>
              </a:rPr>
              <a:t>    │   │       │   │   │       ├── nunito-cyrillic-ext-</a:t>
            </a:r>
          </a:p>
          <a:p>
            <a:pPr algn="l">
              <a:lnSpc>
                <a:spcPct val="100000"/>
              </a:lnSpc>
            </a:pPr>
            <a:r>
              <a:rPr sz="800" b="0" i="0">
                <a:solidFill>
                  <a:srgbClr val="ECE7DC"/>
                </a:solidFill>
                <a:latin typeface="Consolas"/>
              </a:rPr>
              <a:t>    │   │       │   │   │       │     » 400-normal.woff2</a:t>
            </a:r>
          </a:p>
          <a:p>
            <a:pPr algn="l">
              <a:lnSpc>
                <a:spcPct val="100000"/>
              </a:lnSpc>
            </a:pPr>
            <a:r>
              <a:rPr sz="800" b="0" i="0">
                <a:solidFill>
                  <a:srgbClr val="ECE7DC"/>
                </a:solidFill>
                <a:latin typeface="Consolas"/>
              </a:rPr>
              <a:t>    │   │       │   │   │       ├── nunito-cyrillic-ext-</a:t>
            </a:r>
          </a:p>
          <a:p>
            <a:pPr algn="l">
              <a:lnSpc>
                <a:spcPct val="100000"/>
              </a:lnSpc>
            </a:pPr>
            <a:r>
              <a:rPr sz="800" b="0" i="0">
                <a:solidFill>
                  <a:srgbClr val="ECE7DC"/>
                </a:solidFill>
                <a:latin typeface="Consolas"/>
              </a:rPr>
              <a:t>    │   │       │   │   │       │     » 700-normal.woff</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 nunito-cyrillic-ext-</a:t>
            </a:r>
          </a:p>
          <a:p>
            <a:pPr algn="l">
              <a:lnSpc>
                <a:spcPct val="100000"/>
              </a:lnSpc>
            </a:pPr>
            <a:r>
              <a:rPr sz="800" b="0" i="0">
                <a:solidFill>
                  <a:srgbClr val="ECE7DC"/>
                </a:solidFill>
                <a:latin typeface="Consolas"/>
              </a:rPr>
              <a:t>    │   │       │   │   │       │     » 700-normal.woff2</a:t>
            </a:r>
          </a:p>
          <a:p>
            <a:pPr algn="l">
              <a:lnSpc>
                <a:spcPct val="100000"/>
              </a:lnSpc>
            </a:pPr>
            <a:r>
              <a:rPr sz="800" b="0" i="0">
                <a:solidFill>
                  <a:srgbClr val="ECE7DC"/>
                </a:solidFill>
                <a:latin typeface="Consolas"/>
              </a:rPr>
              <a:t>    │   │       │   │   │       ├── nunito-latin-400-nor</a:t>
            </a:r>
          </a:p>
          <a:p>
            <a:pPr algn="l">
              <a:lnSpc>
                <a:spcPct val="100000"/>
              </a:lnSpc>
            </a:pPr>
            <a:r>
              <a:rPr sz="800" b="0" i="0">
                <a:solidFill>
                  <a:srgbClr val="ECE7DC"/>
                </a:solidFill>
                <a:latin typeface="Consolas"/>
              </a:rPr>
              <a:t>    │   │       │   │   │       │     » mal.woff</a:t>
            </a:r>
          </a:p>
          <a:p>
            <a:pPr algn="l">
              <a:lnSpc>
                <a:spcPct val="100000"/>
              </a:lnSpc>
            </a:pPr>
            <a:r>
              <a:rPr sz="800" b="0" i="0">
                <a:solidFill>
                  <a:srgbClr val="ECE7DC"/>
                </a:solidFill>
                <a:latin typeface="Consolas"/>
              </a:rPr>
              <a:t>    │   │       │   │   │       ├── nunito-latin-400-nor</a:t>
            </a:r>
          </a:p>
          <a:p>
            <a:pPr algn="l">
              <a:lnSpc>
                <a:spcPct val="100000"/>
              </a:lnSpc>
            </a:pPr>
            <a:r>
              <a:rPr sz="800" b="0" i="0">
                <a:solidFill>
                  <a:srgbClr val="ECE7DC"/>
                </a:solidFill>
                <a:latin typeface="Consolas"/>
              </a:rPr>
              <a:t>    │   │       │   │   │       │     » mal.woff2</a:t>
            </a:r>
          </a:p>
          <a:p>
            <a:pPr algn="l">
              <a:lnSpc>
                <a:spcPct val="100000"/>
              </a:lnSpc>
            </a:pPr>
            <a:r>
              <a:rPr sz="800" b="0" i="0">
                <a:solidFill>
                  <a:srgbClr val="ECE7DC"/>
                </a:solidFill>
                <a:latin typeface="Consolas"/>
              </a:rPr>
              <a:t>    │   │       │   │   │       ├── nunito-latin-700-nor</a:t>
            </a:r>
          </a:p>
          <a:p>
            <a:pPr algn="l">
              <a:lnSpc>
                <a:spcPct val="100000"/>
              </a:lnSpc>
            </a:pPr>
            <a:r>
              <a:rPr sz="800" b="0" i="0">
                <a:solidFill>
                  <a:srgbClr val="ECE7DC"/>
                </a:solidFill>
                <a:latin typeface="Consolas"/>
              </a:rPr>
              <a:t>    │   │       │   │   │       │     » mal.woff</a:t>
            </a:r>
          </a:p>
          <a:p>
            <a:pPr algn="l">
              <a:lnSpc>
                <a:spcPct val="100000"/>
              </a:lnSpc>
            </a:pPr>
            <a:r>
              <a:rPr sz="800" b="0" i="0">
                <a:solidFill>
                  <a:srgbClr val="ECE7DC"/>
                </a:solidFill>
                <a:latin typeface="Consolas"/>
              </a:rPr>
              <a:t>    │   │       │   │   │       ├── nunito-latin-700-nor</a:t>
            </a:r>
          </a:p>
          <a:p>
            <a:pPr algn="l">
              <a:lnSpc>
                <a:spcPct val="100000"/>
              </a:lnSpc>
            </a:pPr>
            <a:r>
              <a:rPr sz="800" b="0" i="0">
                <a:solidFill>
                  <a:srgbClr val="ECE7DC"/>
                </a:solidFill>
                <a:latin typeface="Consolas"/>
              </a:rPr>
              <a:t>    │   │       │   │   │       │     » mal.woff2</a:t>
            </a:r>
          </a:p>
          <a:p>
            <a:pPr algn="l">
              <a:lnSpc>
                <a:spcPct val="100000"/>
              </a:lnSpc>
            </a:pPr>
            <a:r>
              <a:rPr sz="800" b="0" i="0">
                <a:solidFill>
                  <a:srgbClr val="ECE7DC"/>
                </a:solidFill>
                <a:latin typeface="Consolas"/>
              </a:rPr>
              <a:t>    │   │       │   │   │       ├── nunito-latin-ext-400</a:t>
            </a:r>
          </a:p>
          <a:p>
            <a:pPr algn="l">
              <a:lnSpc>
                <a:spcPct val="100000"/>
              </a:lnSpc>
            </a:pPr>
            <a:r>
              <a:rPr sz="800" b="0" i="0">
                <a:solidFill>
                  <a:srgbClr val="ECE7DC"/>
                </a:solidFill>
                <a:latin typeface="Consolas"/>
              </a:rPr>
              <a:t>    │   │       │   │   │       │     » -normal.woff</a:t>
            </a:r>
          </a:p>
          <a:p>
            <a:pPr algn="l">
              <a:lnSpc>
                <a:spcPct val="100000"/>
              </a:lnSpc>
            </a:pPr>
            <a:r>
              <a:rPr sz="800" b="0" i="0">
                <a:solidFill>
                  <a:srgbClr val="ECE7DC"/>
                </a:solidFill>
                <a:latin typeface="Consolas"/>
              </a:rPr>
              <a:t>    │   │       │   │   │       ├── nunito-latin-ext-400</a:t>
            </a:r>
          </a:p>
          <a:p>
            <a:pPr algn="l">
              <a:lnSpc>
                <a:spcPct val="100000"/>
              </a:lnSpc>
            </a:pPr>
            <a:r>
              <a:rPr sz="800" b="0" i="0">
                <a:solidFill>
                  <a:srgbClr val="ECE7DC"/>
                </a:solidFill>
                <a:latin typeface="Consolas"/>
              </a:rPr>
              <a:t>    │   │       │   │   │       │     » -normal.woff2</a:t>
            </a:r>
          </a:p>
          <a:p>
            <a:pPr algn="l">
              <a:lnSpc>
                <a:spcPct val="100000"/>
              </a:lnSpc>
            </a:pPr>
            <a:r>
              <a:rPr sz="800" b="0" i="0">
                <a:solidFill>
                  <a:srgbClr val="ECE7DC"/>
                </a:solidFill>
                <a:latin typeface="Consolas"/>
              </a:rPr>
              <a:t>    │   │       │   │   │       ├── nunito-latin-ext-700</a:t>
            </a:r>
          </a:p>
          <a:p>
            <a:pPr algn="l">
              <a:lnSpc>
                <a:spcPct val="100000"/>
              </a:lnSpc>
            </a:pPr>
            <a:r>
              <a:rPr sz="800" b="0" i="0">
                <a:solidFill>
                  <a:srgbClr val="ECE7DC"/>
                </a:solidFill>
                <a:latin typeface="Consolas"/>
              </a:rPr>
              <a:t>    │   │       │   │   │       │     » -normal.woff</a:t>
            </a:r>
          </a:p>
          <a:p>
            <a:pPr algn="l">
              <a:lnSpc>
                <a:spcPct val="100000"/>
              </a:lnSpc>
            </a:pPr>
            <a:r>
              <a:rPr sz="800" b="0" i="0">
                <a:solidFill>
                  <a:srgbClr val="ECE7DC"/>
                </a:solidFill>
                <a:latin typeface="Consolas"/>
              </a:rPr>
              <a:t>    │   │       │   │   │       ├── nunito-latin-ext-700</a:t>
            </a:r>
          </a:p>
          <a:p>
            <a:pPr algn="l">
              <a:lnSpc>
                <a:spcPct val="100000"/>
              </a:lnSpc>
            </a:pPr>
            <a:r>
              <a:rPr sz="800" b="0" i="0">
                <a:solidFill>
                  <a:srgbClr val="ECE7DC"/>
                </a:solidFill>
                <a:latin typeface="Consolas"/>
              </a:rPr>
              <a:t>    │   │       │   │   │       │     » -normal.woff2</a:t>
            </a:r>
          </a:p>
          <a:p>
            <a:pPr algn="l">
              <a:lnSpc>
                <a:spcPct val="100000"/>
              </a:lnSpc>
            </a:pPr>
            <a:r>
              <a:rPr sz="800" b="0" i="0">
                <a:solidFill>
                  <a:srgbClr val="ECE7DC"/>
                </a:solidFill>
                <a:latin typeface="Consolas"/>
              </a:rPr>
              <a:t>    │   │       │   │   │       ├── nunito-vietnamese-40</a:t>
            </a:r>
          </a:p>
          <a:p>
            <a:pPr algn="l">
              <a:lnSpc>
                <a:spcPct val="100000"/>
              </a:lnSpc>
            </a:pPr>
            <a:r>
              <a:rPr sz="800" b="0" i="0">
                <a:solidFill>
                  <a:srgbClr val="ECE7DC"/>
                </a:solidFill>
                <a:latin typeface="Consolas"/>
              </a:rPr>
              <a:t>    │   │       │   │   │       │     » 0-normal.woff</a:t>
            </a:r>
          </a:p>
          <a:p>
            <a:pPr algn="l">
              <a:lnSpc>
                <a:spcPct val="100000"/>
              </a:lnSpc>
            </a:pPr>
            <a:r>
              <a:rPr sz="800" b="0" i="0">
                <a:solidFill>
                  <a:srgbClr val="ECE7DC"/>
                </a:solidFill>
                <a:latin typeface="Consolas"/>
              </a:rPr>
              <a:t>    │   │       │   │   │       ├── nunito-vietnamese-40</a:t>
            </a:r>
          </a:p>
          <a:p>
            <a:pPr algn="l">
              <a:lnSpc>
                <a:spcPct val="100000"/>
              </a:lnSpc>
            </a:pPr>
            <a:r>
              <a:rPr sz="800" b="0" i="0">
                <a:solidFill>
                  <a:srgbClr val="ECE7DC"/>
                </a:solidFill>
                <a:latin typeface="Consolas"/>
              </a:rPr>
              <a:t>    │   │       │   │   │       │     » 0-normal.woff2</a:t>
            </a:r>
          </a:p>
          <a:p>
            <a:pPr algn="l">
              <a:lnSpc>
                <a:spcPct val="100000"/>
              </a:lnSpc>
            </a:pPr>
            <a:r>
              <a:rPr sz="800" b="0" i="0">
                <a:solidFill>
                  <a:srgbClr val="ECE7DC"/>
                </a:solidFill>
                <a:latin typeface="Consolas"/>
              </a:rPr>
              <a:t>    │   │       │   │   │       ├── nunito-vietnamese-70</a:t>
            </a:r>
          </a:p>
          <a:p>
            <a:pPr algn="l">
              <a:lnSpc>
                <a:spcPct val="100000"/>
              </a:lnSpc>
            </a:pPr>
            <a:r>
              <a:rPr sz="800" b="0" i="0">
                <a:solidFill>
                  <a:srgbClr val="ECE7DC"/>
                </a:solidFill>
                <a:latin typeface="Consolas"/>
              </a:rPr>
              <a:t>    │   │       │   │   │       │     » 0-normal.woff</a:t>
            </a:r>
          </a:p>
          <a:p>
            <a:pPr algn="l">
              <a:lnSpc>
                <a:spcPct val="100000"/>
              </a:lnSpc>
            </a:pPr>
            <a:r>
              <a:rPr sz="800" b="0" i="0">
                <a:solidFill>
                  <a:srgbClr val="ECE7DC"/>
                </a:solidFill>
                <a:latin typeface="Consolas"/>
              </a:rPr>
              <a:t>    │   │       │   │   │       └── nunito-vietnamese-70</a:t>
            </a:r>
          </a:p>
          <a:p>
            <a:pPr algn="l">
              <a:lnSpc>
                <a:spcPct val="100000"/>
              </a:lnSpc>
            </a:pPr>
            <a:r>
              <a:rPr sz="800" b="0" i="0">
                <a:solidFill>
                  <a:srgbClr val="ECE7DC"/>
                </a:solidFill>
                <a:latin typeface="Consolas"/>
              </a:rPr>
              <a:t>    │   │       │   │   │             » 0-normal.woff2</a:t>
            </a:r>
          </a:p>
          <a:p>
            <a:pPr algn="l">
              <a:lnSpc>
                <a:spcPct val="100000"/>
              </a:lnSpc>
            </a:pPr>
            <a:r>
              <a:rPr sz="800" b="0" i="0">
                <a:solidFill>
                  <a:srgbClr val="3BBE93"/>
                </a:solidFill>
                <a:latin typeface="Consolas"/>
              </a:rPr>
              <a:t>    │   │       │   │   ├── xterm/</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 css/</a:t>
            </a:r>
          </a:p>
          <a:p>
            <a:pPr algn="l">
              <a:lnSpc>
                <a:spcPct val="100000"/>
              </a:lnSpc>
            </a:pPr>
            <a:r>
              <a:rPr sz="800" b="0" i="0">
                <a:solidFill>
                  <a:srgbClr val="ECE7DC"/>
                </a:solidFill>
                <a:latin typeface="Consolas"/>
              </a:rPr>
              <a:t>    │   │       │   │   │       └── xterm.css</a:t>
            </a:r>
          </a:p>
          <a:p>
            <a:pPr algn="l">
              <a:lnSpc>
                <a:spcPct val="100000"/>
              </a:lnSpc>
            </a:pPr>
            <a:r>
              <a:rPr sz="800" b="0" i="0">
                <a:solidFill>
                  <a:srgbClr val="3BBE93"/>
                </a:solidFill>
                <a:latin typeface="Consolas"/>
              </a:rPr>
              <a:t>    │   │       │   │   ├── xterm-addon-fit/</a:t>
            </a:r>
          </a:p>
          <a:p>
            <a:pPr algn="l">
              <a:lnSpc>
                <a:spcPct val="100000"/>
              </a:lnSpc>
            </a:pPr>
            <a:r>
              <a:rPr sz="800" b="0" i="0">
                <a:solidFill>
                  <a:srgbClr val="ECE7DC"/>
                </a:solidFill>
                <a:latin typeface="Consolas"/>
              </a:rPr>
              <a:t>    │   │       │   │   │   └── LICENSE</a:t>
            </a:r>
          </a:p>
          <a:p>
            <a:pPr algn="l">
              <a:lnSpc>
                <a:spcPct val="100000"/>
              </a:lnSpc>
            </a:pPr>
            <a:r>
              <a:rPr sz="800" b="0" i="0">
                <a:solidFill>
                  <a:srgbClr val="3BBE93"/>
                </a:solidFill>
                <a:latin typeface="Consolas"/>
              </a:rPr>
              <a:t>    │   │       │   │   └── xterm-addon-web-links/</a:t>
            </a:r>
          </a:p>
          <a:p>
            <a:pPr algn="l">
              <a:lnSpc>
                <a:spcPct val="100000"/>
              </a:lnSpc>
            </a:pPr>
            <a:r>
              <a:rPr sz="800" b="0" i="0">
                <a:solidFill>
                  <a:srgbClr val="ECE7DC"/>
                </a:solidFill>
                <a:latin typeface="Consolas"/>
              </a:rPr>
              <a:t>    │   │       │   │       └── LICENSE</a:t>
            </a:r>
          </a:p>
          <a:p>
            <a:pPr algn="l">
              <a:lnSpc>
                <a:spcPct val="100000"/>
              </a:lnSpc>
            </a:pPr>
            <a:r>
              <a:rPr sz="800" b="0" i="0">
                <a:solidFill>
                  <a:srgbClr val="3BBE93"/>
                </a:solidFill>
                <a:latin typeface="Consolas"/>
              </a:rPr>
              <a:t>    │   │       │   └── pdfjs/</a:t>
            </a:r>
          </a:p>
          <a:p>
            <a:pPr algn="l">
              <a:lnSpc>
                <a:spcPct val="100000"/>
              </a:lnSpc>
            </a:pPr>
            <a:r>
              <a:rPr sz="800" b="0" i="0">
                <a:solidFill>
                  <a:srgbClr val="ECE7DC"/>
                </a:solidFill>
                <a:latin typeface="Consolas"/>
              </a:rPr>
              <a:t>    │   │       │       ├── LICENSE</a:t>
            </a:r>
          </a:p>
          <a:p>
            <a:pPr algn="l">
              <a:lnSpc>
                <a:spcPct val="100000"/>
              </a:lnSpc>
            </a:pPr>
            <a:r>
              <a:rPr sz="800" b="0" i="0">
                <a:solidFill>
                  <a:srgbClr val="ECE7DC"/>
                </a:solidFill>
                <a:latin typeface="Consolas"/>
              </a:rPr>
              <a:t>    │   │       │       ├── VERSION</a:t>
            </a:r>
          </a:p>
          <a:p>
            <a:pPr algn="l">
              <a:lnSpc>
                <a:spcPct val="100000"/>
              </a:lnSpc>
            </a:pPr>
            <a:r>
              <a:rPr sz="800" b="0" i="0">
                <a:solidFill>
                  <a:srgbClr val="3BBE93"/>
                </a:solidFill>
                <a:latin typeface="Consolas"/>
              </a:rPr>
              <a:t>    │   │       │       ├── build/</a:t>
            </a:r>
          </a:p>
          <a:p>
            <a:pPr algn="l">
              <a:lnSpc>
                <a:spcPct val="100000"/>
              </a:lnSpc>
            </a:pPr>
            <a:r>
              <a:rPr sz="800" b="0" i="0">
                <a:solidFill>
                  <a:srgbClr val="ECE7DC"/>
                </a:solidFill>
                <a:latin typeface="Consolas"/>
              </a:rPr>
              <a:t>    │   │       │       │   ├── pdf.mjs</a:t>
            </a:r>
          </a:p>
          <a:p>
            <a:pPr algn="l">
              <a:lnSpc>
                <a:spcPct val="100000"/>
              </a:lnSpc>
            </a:pPr>
            <a:r>
              <a:rPr sz="800" b="0" i="0">
                <a:solidFill>
                  <a:srgbClr val="ECE7DC"/>
                </a:solidFill>
                <a:latin typeface="Consolas"/>
              </a:rPr>
              <a:t>    │   │       │       │   └── pdf.worker.mjs</a:t>
            </a:r>
          </a:p>
          <a:p>
            <a:pPr algn="l">
              <a:lnSpc>
                <a:spcPct val="100000"/>
              </a:lnSpc>
            </a:pPr>
            <a:r>
              <a:rPr sz="800" b="0" i="0">
                <a:solidFill>
                  <a:srgbClr val="3BBE93"/>
                </a:solidFill>
                <a:latin typeface="Consolas"/>
              </a:rPr>
              <a:t>    │   │       │       ├── cmaps/</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78-EUC-H.bcmap</a:t>
            </a:r>
          </a:p>
          <a:p>
            <a:pPr algn="l">
              <a:lnSpc>
                <a:spcPct val="100000"/>
              </a:lnSpc>
            </a:pPr>
            <a:r>
              <a:rPr sz="800" b="0" i="0">
                <a:solidFill>
                  <a:srgbClr val="ECE7DC"/>
                </a:solidFill>
                <a:latin typeface="Consolas"/>
              </a:rPr>
              <a:t>    │   │       │       │   ├── 78-EUC-V.bcmap</a:t>
            </a:r>
          </a:p>
          <a:p>
            <a:pPr algn="l">
              <a:lnSpc>
                <a:spcPct val="100000"/>
              </a:lnSpc>
            </a:pPr>
            <a:r>
              <a:rPr sz="800" b="0" i="0">
                <a:solidFill>
                  <a:srgbClr val="ECE7DC"/>
                </a:solidFill>
                <a:latin typeface="Consolas"/>
              </a:rPr>
              <a:t>    │   │       │       │   ├── 78-H.bcmap</a:t>
            </a:r>
          </a:p>
          <a:p>
            <a:pPr algn="l">
              <a:lnSpc>
                <a:spcPct val="100000"/>
              </a:lnSpc>
            </a:pPr>
            <a:r>
              <a:rPr sz="800" b="0" i="0">
                <a:solidFill>
                  <a:srgbClr val="ECE7DC"/>
                </a:solidFill>
                <a:latin typeface="Consolas"/>
              </a:rPr>
              <a:t>    │   │       │       │   ├── 78-RKSJ-H.bcmap</a:t>
            </a:r>
          </a:p>
          <a:p>
            <a:pPr algn="l">
              <a:lnSpc>
                <a:spcPct val="100000"/>
              </a:lnSpc>
            </a:pPr>
            <a:r>
              <a:rPr sz="800" b="0" i="0">
                <a:solidFill>
                  <a:srgbClr val="ECE7DC"/>
                </a:solidFill>
                <a:latin typeface="Consolas"/>
              </a:rPr>
              <a:t>    │   │       │       │   ├── 78-RKSJ-V.bcmap</a:t>
            </a:r>
          </a:p>
          <a:p>
            <a:pPr algn="l">
              <a:lnSpc>
                <a:spcPct val="100000"/>
              </a:lnSpc>
            </a:pPr>
            <a:r>
              <a:rPr sz="800" b="0" i="0">
                <a:solidFill>
                  <a:srgbClr val="ECE7DC"/>
                </a:solidFill>
                <a:latin typeface="Consolas"/>
              </a:rPr>
              <a:t>    │   │       │       │   ├── 78-V.bcmap</a:t>
            </a:r>
          </a:p>
          <a:p>
            <a:pPr algn="l">
              <a:lnSpc>
                <a:spcPct val="100000"/>
              </a:lnSpc>
            </a:pPr>
            <a:r>
              <a:rPr sz="800" b="0" i="0">
                <a:solidFill>
                  <a:srgbClr val="ECE7DC"/>
                </a:solidFill>
                <a:latin typeface="Consolas"/>
              </a:rPr>
              <a:t>    │   │       │       │   ├── 78ms-RKSJ-H.bcmap</a:t>
            </a:r>
          </a:p>
          <a:p>
            <a:pPr algn="l">
              <a:lnSpc>
                <a:spcPct val="100000"/>
              </a:lnSpc>
            </a:pPr>
            <a:r>
              <a:rPr sz="800" b="0" i="0">
                <a:solidFill>
                  <a:srgbClr val="ECE7DC"/>
                </a:solidFill>
                <a:latin typeface="Consolas"/>
              </a:rPr>
              <a:t>    │   │       │       │   ├── 78ms-RKSJ-V.bcmap</a:t>
            </a:r>
          </a:p>
          <a:p>
            <a:pPr algn="l">
              <a:lnSpc>
                <a:spcPct val="100000"/>
              </a:lnSpc>
            </a:pPr>
            <a:r>
              <a:rPr sz="800" b="0" i="0">
                <a:solidFill>
                  <a:srgbClr val="ECE7DC"/>
                </a:solidFill>
                <a:latin typeface="Consolas"/>
              </a:rPr>
              <a:t>    │   │       │       │   ├── 83pv-RKSJ-H.bcmap</a:t>
            </a:r>
          </a:p>
          <a:p>
            <a:pPr algn="l">
              <a:lnSpc>
                <a:spcPct val="100000"/>
              </a:lnSpc>
            </a:pPr>
            <a:r>
              <a:rPr sz="800" b="0" i="0">
                <a:solidFill>
                  <a:srgbClr val="ECE7DC"/>
                </a:solidFill>
                <a:latin typeface="Consolas"/>
              </a:rPr>
              <a:t>    │   │       │       │   ├── 90ms-RKSJ-H.bcmap</a:t>
            </a:r>
          </a:p>
          <a:p>
            <a:pPr algn="l">
              <a:lnSpc>
                <a:spcPct val="100000"/>
              </a:lnSpc>
            </a:pPr>
            <a:r>
              <a:rPr sz="800" b="0" i="0">
                <a:solidFill>
                  <a:srgbClr val="ECE7DC"/>
                </a:solidFill>
                <a:latin typeface="Consolas"/>
              </a:rPr>
              <a:t>    │   │       │       │   ├── 90ms-RKSJ-V.bcmap</a:t>
            </a:r>
          </a:p>
          <a:p>
            <a:pPr algn="l">
              <a:lnSpc>
                <a:spcPct val="100000"/>
              </a:lnSpc>
            </a:pPr>
            <a:r>
              <a:rPr sz="800" b="0" i="0">
                <a:solidFill>
                  <a:srgbClr val="ECE7DC"/>
                </a:solidFill>
                <a:latin typeface="Consolas"/>
              </a:rPr>
              <a:t>    │   │       │       │   ├── 90msp-RKSJ-H.bcmap</a:t>
            </a:r>
          </a:p>
          <a:p>
            <a:pPr algn="l">
              <a:lnSpc>
                <a:spcPct val="100000"/>
              </a:lnSpc>
            </a:pPr>
            <a:r>
              <a:rPr sz="800" b="0" i="0">
                <a:solidFill>
                  <a:srgbClr val="ECE7DC"/>
                </a:solidFill>
                <a:latin typeface="Consolas"/>
              </a:rPr>
              <a:t>    │   │       │       │   ├── 90msp-RKSJ-V.bcmap</a:t>
            </a:r>
          </a:p>
          <a:p>
            <a:pPr algn="l">
              <a:lnSpc>
                <a:spcPct val="100000"/>
              </a:lnSpc>
            </a:pPr>
            <a:r>
              <a:rPr sz="800" b="0" i="0">
                <a:solidFill>
                  <a:srgbClr val="ECE7DC"/>
                </a:solidFill>
                <a:latin typeface="Consolas"/>
              </a:rPr>
              <a:t>    │   │       │       │   ├── 90pv-RKSJ-H.bcmap</a:t>
            </a:r>
          </a:p>
          <a:p>
            <a:pPr algn="l">
              <a:lnSpc>
                <a:spcPct val="100000"/>
              </a:lnSpc>
            </a:pPr>
            <a:r>
              <a:rPr sz="800" b="0" i="0">
                <a:solidFill>
                  <a:srgbClr val="ECE7DC"/>
                </a:solidFill>
                <a:latin typeface="Consolas"/>
              </a:rPr>
              <a:t>    │   │       │       │   ├── 90pv-RKSJ-V.bcmap</a:t>
            </a:r>
          </a:p>
          <a:p>
            <a:pPr algn="l">
              <a:lnSpc>
                <a:spcPct val="100000"/>
              </a:lnSpc>
            </a:pPr>
            <a:r>
              <a:rPr sz="800" b="0" i="0">
                <a:solidFill>
                  <a:srgbClr val="ECE7DC"/>
                </a:solidFill>
                <a:latin typeface="Consolas"/>
              </a:rPr>
              <a:t>    │   │       │       │   ├── Add-H.bcmap</a:t>
            </a:r>
          </a:p>
          <a:p>
            <a:pPr algn="l">
              <a:lnSpc>
                <a:spcPct val="100000"/>
              </a:lnSpc>
            </a:pPr>
            <a:r>
              <a:rPr sz="800" b="0" i="0">
                <a:solidFill>
                  <a:srgbClr val="ECE7DC"/>
                </a:solidFill>
                <a:latin typeface="Consolas"/>
              </a:rPr>
              <a:t>    │   │       │       │   ├── Add-RKSJ-H.bcmap</a:t>
            </a:r>
          </a:p>
          <a:p>
            <a:pPr algn="l">
              <a:lnSpc>
                <a:spcPct val="100000"/>
              </a:lnSpc>
            </a:pPr>
            <a:r>
              <a:rPr sz="800" b="0" i="0">
                <a:solidFill>
                  <a:srgbClr val="ECE7DC"/>
                </a:solidFill>
                <a:latin typeface="Consolas"/>
              </a:rPr>
              <a:t>    │   │       │       │   ├── Add-RKSJ-V.bcmap</a:t>
            </a:r>
          </a:p>
          <a:p>
            <a:pPr algn="l">
              <a:lnSpc>
                <a:spcPct val="100000"/>
              </a:lnSpc>
            </a:pPr>
            <a:r>
              <a:rPr sz="800" b="0" i="0">
                <a:solidFill>
                  <a:srgbClr val="ECE7DC"/>
                </a:solidFill>
                <a:latin typeface="Consolas"/>
              </a:rPr>
              <a:t>    │   │       │       │   ├── Add-V.bcmap</a:t>
            </a:r>
          </a:p>
          <a:p>
            <a:pPr algn="l">
              <a:lnSpc>
                <a:spcPct val="100000"/>
              </a:lnSpc>
            </a:pPr>
            <a:r>
              <a:rPr sz="800" b="0" i="0">
                <a:solidFill>
                  <a:srgbClr val="ECE7DC"/>
                </a:solidFill>
                <a:latin typeface="Consolas"/>
              </a:rPr>
              <a:t>    │   │       │       │   ├── Adobe-CNS1-0.bcmap</a:t>
            </a:r>
          </a:p>
          <a:p>
            <a:pPr algn="l">
              <a:lnSpc>
                <a:spcPct val="100000"/>
              </a:lnSpc>
            </a:pPr>
            <a:r>
              <a:rPr sz="800" b="0" i="0">
                <a:solidFill>
                  <a:srgbClr val="ECE7DC"/>
                </a:solidFill>
                <a:latin typeface="Consolas"/>
              </a:rPr>
              <a:t>    │   │       │       │   ├── Adobe-CNS1-1.bcmap</a:t>
            </a:r>
          </a:p>
          <a:p>
            <a:pPr algn="l">
              <a:lnSpc>
                <a:spcPct val="100000"/>
              </a:lnSpc>
            </a:pPr>
            <a:r>
              <a:rPr sz="800" b="0" i="0">
                <a:solidFill>
                  <a:srgbClr val="ECE7DC"/>
                </a:solidFill>
                <a:latin typeface="Consolas"/>
              </a:rPr>
              <a:t>    │   │       │       │   ├── Adobe-CNS1-2.bcmap</a:t>
            </a:r>
          </a:p>
          <a:p>
            <a:pPr algn="l">
              <a:lnSpc>
                <a:spcPct val="100000"/>
              </a:lnSpc>
            </a:pPr>
            <a:r>
              <a:rPr sz="800" b="0" i="0">
                <a:solidFill>
                  <a:srgbClr val="ECE7DC"/>
                </a:solidFill>
                <a:latin typeface="Consolas"/>
              </a:rPr>
              <a:t>    │   │       │       │   ├── Adobe-CNS1-3.bcmap</a:t>
            </a:r>
          </a:p>
          <a:p>
            <a:pPr algn="l">
              <a:lnSpc>
                <a:spcPct val="100000"/>
              </a:lnSpc>
            </a:pPr>
            <a:r>
              <a:rPr sz="800" b="0" i="0">
                <a:solidFill>
                  <a:srgbClr val="ECE7DC"/>
                </a:solidFill>
                <a:latin typeface="Consolas"/>
              </a:rPr>
              <a:t>    │   │       │       │   ├── Adobe-CNS1-4.bcmap</a:t>
            </a:r>
          </a:p>
          <a:p>
            <a:pPr algn="l">
              <a:lnSpc>
                <a:spcPct val="100000"/>
              </a:lnSpc>
            </a:pPr>
            <a:r>
              <a:rPr sz="800" b="0" i="0">
                <a:solidFill>
                  <a:srgbClr val="ECE7DC"/>
                </a:solidFill>
                <a:latin typeface="Consolas"/>
              </a:rPr>
              <a:t>    │   │       │       │   ├── Adobe-CNS1-5.bcmap</a:t>
            </a:r>
          </a:p>
          <a:p>
            <a:pPr algn="l">
              <a:lnSpc>
                <a:spcPct val="100000"/>
              </a:lnSpc>
            </a:pPr>
            <a:r>
              <a:rPr sz="800" b="0" i="0">
                <a:solidFill>
                  <a:srgbClr val="ECE7DC"/>
                </a:solidFill>
                <a:latin typeface="Consolas"/>
              </a:rPr>
              <a:t>    │   │       │       │   ├── Adobe-CNS1-6.bcmap</a:t>
            </a:r>
          </a:p>
          <a:p>
            <a:pPr algn="l">
              <a:lnSpc>
                <a:spcPct val="100000"/>
              </a:lnSpc>
            </a:pPr>
            <a:r>
              <a:rPr sz="800" b="0" i="0">
                <a:solidFill>
                  <a:srgbClr val="ECE7DC"/>
                </a:solidFill>
                <a:latin typeface="Consolas"/>
              </a:rPr>
              <a:t>    │   │       │       │   ├── Adobe-CNS1-UCS2.bcmap</a:t>
            </a:r>
          </a:p>
          <a:p>
            <a:pPr algn="l">
              <a:lnSpc>
                <a:spcPct val="100000"/>
              </a:lnSpc>
            </a:pPr>
            <a:r>
              <a:rPr sz="800" b="0" i="0">
                <a:solidFill>
                  <a:srgbClr val="ECE7DC"/>
                </a:solidFill>
                <a:latin typeface="Consolas"/>
              </a:rPr>
              <a:t>    │   │       │       │   ├── Adobe-GB1-0.bcmap</a:t>
            </a:r>
          </a:p>
          <a:p>
            <a:pPr algn="l">
              <a:lnSpc>
                <a:spcPct val="100000"/>
              </a:lnSpc>
            </a:pPr>
            <a:r>
              <a:rPr sz="800" b="0" i="0">
                <a:solidFill>
                  <a:srgbClr val="ECE7DC"/>
                </a:solidFill>
                <a:latin typeface="Consolas"/>
              </a:rPr>
              <a:t>    │   │       │       │   ├── Adobe-GB1-1.bcmap</a:t>
            </a:r>
          </a:p>
          <a:p>
            <a:pPr algn="l">
              <a:lnSpc>
                <a:spcPct val="100000"/>
              </a:lnSpc>
            </a:pPr>
            <a:r>
              <a:rPr sz="800" b="0" i="0">
                <a:solidFill>
                  <a:srgbClr val="ECE7DC"/>
                </a:solidFill>
                <a:latin typeface="Consolas"/>
              </a:rPr>
              <a:t>    │   │       │       │   ├── Adobe-GB1-2.bcmap</a:t>
            </a:r>
          </a:p>
          <a:p>
            <a:pPr algn="l">
              <a:lnSpc>
                <a:spcPct val="100000"/>
              </a:lnSpc>
            </a:pPr>
            <a:r>
              <a:rPr sz="800" b="0" i="0">
                <a:solidFill>
                  <a:srgbClr val="ECE7DC"/>
                </a:solidFill>
                <a:latin typeface="Consolas"/>
              </a:rPr>
              <a:t>    │   │       │       │   ├── Adobe-GB1-3.bcmap</a:t>
            </a:r>
          </a:p>
          <a:p>
            <a:pPr algn="l">
              <a:lnSpc>
                <a:spcPct val="100000"/>
              </a:lnSpc>
            </a:pPr>
            <a:r>
              <a:rPr sz="800" b="0" i="0">
                <a:solidFill>
                  <a:srgbClr val="ECE7DC"/>
                </a:solidFill>
                <a:latin typeface="Consolas"/>
              </a:rPr>
              <a:t>    │   │       │       │   ├── Adobe-GB1-4.bcmap</a:t>
            </a:r>
          </a:p>
          <a:p>
            <a:pPr algn="l">
              <a:lnSpc>
                <a:spcPct val="100000"/>
              </a:lnSpc>
            </a:pPr>
            <a:r>
              <a:rPr sz="800" b="0" i="0">
                <a:solidFill>
                  <a:srgbClr val="ECE7DC"/>
                </a:solidFill>
                <a:latin typeface="Consolas"/>
              </a:rPr>
              <a:t>    │   │       │       │   ├── Adobe-GB1-5.bcmap</a:t>
            </a:r>
          </a:p>
          <a:p>
            <a:pPr algn="l">
              <a:lnSpc>
                <a:spcPct val="100000"/>
              </a:lnSpc>
            </a:pPr>
            <a:r>
              <a:rPr sz="800" b="0" i="0">
                <a:solidFill>
                  <a:srgbClr val="ECE7DC"/>
                </a:solidFill>
                <a:latin typeface="Consolas"/>
              </a:rPr>
              <a:t>    │   │       │       │   ├── Adobe-GB1-UCS2.bcmap</a:t>
            </a:r>
          </a:p>
          <a:p>
            <a:pPr algn="l">
              <a:lnSpc>
                <a:spcPct val="100000"/>
              </a:lnSpc>
            </a:pPr>
            <a:r>
              <a:rPr sz="800" b="0" i="0">
                <a:solidFill>
                  <a:srgbClr val="ECE7DC"/>
                </a:solidFill>
                <a:latin typeface="Consolas"/>
              </a:rPr>
              <a:t>    │   │       │       │   ├── Adobe-Japan1-0.bcmap</a:t>
            </a:r>
          </a:p>
          <a:p>
            <a:pPr algn="l">
              <a:lnSpc>
                <a:spcPct val="100000"/>
              </a:lnSpc>
            </a:pPr>
            <a:r>
              <a:rPr sz="800" b="0" i="0">
                <a:solidFill>
                  <a:srgbClr val="ECE7DC"/>
                </a:solidFill>
                <a:latin typeface="Consolas"/>
              </a:rPr>
              <a:t>    │   │       │       │   ├── Adobe-Japan1-1.bcmap</a:t>
            </a:r>
          </a:p>
          <a:p>
            <a:pPr algn="l">
              <a:lnSpc>
                <a:spcPct val="100000"/>
              </a:lnSpc>
            </a:pPr>
            <a:r>
              <a:rPr sz="800" b="0" i="0">
                <a:solidFill>
                  <a:srgbClr val="ECE7DC"/>
                </a:solidFill>
                <a:latin typeface="Consolas"/>
              </a:rPr>
              <a:t>    │   │       │       │   ├── Adobe-Japan1-2.bcmap</a:t>
            </a:r>
          </a:p>
          <a:p>
            <a:pPr algn="l">
              <a:lnSpc>
                <a:spcPct val="100000"/>
              </a:lnSpc>
            </a:pPr>
            <a:r>
              <a:rPr sz="800" b="0" i="0">
                <a:solidFill>
                  <a:srgbClr val="ECE7DC"/>
                </a:solidFill>
                <a:latin typeface="Consolas"/>
              </a:rPr>
              <a:t>    │   │       │       │   ├── Adobe-Japan1-3.bcmap</a:t>
            </a:r>
          </a:p>
          <a:p>
            <a:pPr algn="l">
              <a:lnSpc>
                <a:spcPct val="100000"/>
              </a:lnSpc>
            </a:pPr>
            <a:r>
              <a:rPr sz="800" b="0" i="0">
                <a:solidFill>
                  <a:srgbClr val="ECE7DC"/>
                </a:solidFill>
                <a:latin typeface="Consolas"/>
              </a:rPr>
              <a:t>    │   │       │       │   ├── Adobe-Japan1-4.bcmap</a:t>
            </a:r>
          </a:p>
          <a:p>
            <a:pPr algn="l">
              <a:lnSpc>
                <a:spcPct val="100000"/>
              </a:lnSpc>
            </a:pPr>
            <a:r>
              <a:rPr sz="800" b="0" i="0">
                <a:solidFill>
                  <a:srgbClr val="ECE7DC"/>
                </a:solidFill>
                <a:latin typeface="Consolas"/>
              </a:rPr>
              <a:t>    │   │       │       │   ├── Adobe-Japan1-5.bcmap</a:t>
            </a:r>
          </a:p>
          <a:p>
            <a:pPr algn="l">
              <a:lnSpc>
                <a:spcPct val="100000"/>
              </a:lnSpc>
            </a:pPr>
            <a:r>
              <a:rPr sz="800" b="0" i="0">
                <a:solidFill>
                  <a:srgbClr val="ECE7DC"/>
                </a:solidFill>
                <a:latin typeface="Consolas"/>
              </a:rPr>
              <a:t>    │   │       │       │   ├── Adobe-Japan1-6.bcmap</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14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Adobe-Japan1-UCS2.bcmap</a:t>
            </a:r>
          </a:p>
          <a:p>
            <a:pPr algn="l">
              <a:lnSpc>
                <a:spcPct val="100000"/>
              </a:lnSpc>
            </a:pPr>
            <a:r>
              <a:rPr sz="800" b="0" i="0">
                <a:solidFill>
                  <a:srgbClr val="ECE7DC"/>
                </a:solidFill>
                <a:latin typeface="Consolas"/>
              </a:rPr>
              <a:t>    │   │       │       │   ├── Adobe-Korea1-0.bcmap</a:t>
            </a:r>
          </a:p>
          <a:p>
            <a:pPr algn="l">
              <a:lnSpc>
                <a:spcPct val="100000"/>
              </a:lnSpc>
            </a:pPr>
            <a:r>
              <a:rPr sz="800" b="0" i="0">
                <a:solidFill>
                  <a:srgbClr val="ECE7DC"/>
                </a:solidFill>
                <a:latin typeface="Consolas"/>
              </a:rPr>
              <a:t>    │   │       │       │   ├── Adobe-Korea1-1.bcmap</a:t>
            </a:r>
          </a:p>
          <a:p>
            <a:pPr algn="l">
              <a:lnSpc>
                <a:spcPct val="100000"/>
              </a:lnSpc>
            </a:pPr>
            <a:r>
              <a:rPr sz="800" b="0" i="0">
                <a:solidFill>
                  <a:srgbClr val="ECE7DC"/>
                </a:solidFill>
                <a:latin typeface="Consolas"/>
              </a:rPr>
              <a:t>    │   │       │       │   ├── Adobe-Korea1-2.bcmap</a:t>
            </a:r>
          </a:p>
          <a:p>
            <a:pPr algn="l">
              <a:lnSpc>
                <a:spcPct val="100000"/>
              </a:lnSpc>
            </a:pPr>
            <a:r>
              <a:rPr sz="800" b="0" i="0">
                <a:solidFill>
                  <a:srgbClr val="ECE7DC"/>
                </a:solidFill>
                <a:latin typeface="Consolas"/>
              </a:rPr>
              <a:t>    │   │       │       │   ├── Adobe-Korea1-UCS2.bcmap</a:t>
            </a:r>
          </a:p>
          <a:p>
            <a:pPr algn="l">
              <a:lnSpc>
                <a:spcPct val="100000"/>
              </a:lnSpc>
            </a:pPr>
            <a:r>
              <a:rPr sz="800" b="0" i="0">
                <a:solidFill>
                  <a:srgbClr val="ECE7DC"/>
                </a:solidFill>
                <a:latin typeface="Consolas"/>
              </a:rPr>
              <a:t>    │   │       │       │   ├── B5-H.bcmap</a:t>
            </a:r>
          </a:p>
          <a:p>
            <a:pPr algn="l">
              <a:lnSpc>
                <a:spcPct val="100000"/>
              </a:lnSpc>
            </a:pPr>
            <a:r>
              <a:rPr sz="800" b="0" i="0">
                <a:solidFill>
                  <a:srgbClr val="ECE7DC"/>
                </a:solidFill>
                <a:latin typeface="Consolas"/>
              </a:rPr>
              <a:t>    │   │       │       │   ├── B5-V.bcmap</a:t>
            </a:r>
          </a:p>
          <a:p>
            <a:pPr algn="l">
              <a:lnSpc>
                <a:spcPct val="100000"/>
              </a:lnSpc>
            </a:pPr>
            <a:r>
              <a:rPr sz="800" b="0" i="0">
                <a:solidFill>
                  <a:srgbClr val="ECE7DC"/>
                </a:solidFill>
                <a:latin typeface="Consolas"/>
              </a:rPr>
              <a:t>    │   │       │       │   ├── B5pc-H.bcmap</a:t>
            </a:r>
          </a:p>
          <a:p>
            <a:pPr algn="l">
              <a:lnSpc>
                <a:spcPct val="100000"/>
              </a:lnSpc>
            </a:pPr>
            <a:r>
              <a:rPr sz="800" b="0" i="0">
                <a:solidFill>
                  <a:srgbClr val="ECE7DC"/>
                </a:solidFill>
                <a:latin typeface="Consolas"/>
              </a:rPr>
              <a:t>    │   │       │       │   ├── B5pc-V.bcmap</a:t>
            </a:r>
          </a:p>
          <a:p>
            <a:pPr algn="l">
              <a:lnSpc>
                <a:spcPct val="100000"/>
              </a:lnSpc>
            </a:pPr>
            <a:r>
              <a:rPr sz="800" b="0" i="0">
                <a:solidFill>
                  <a:srgbClr val="ECE7DC"/>
                </a:solidFill>
                <a:latin typeface="Consolas"/>
              </a:rPr>
              <a:t>    │   │       │       │   ├── CNS-EUC-H.bcmap</a:t>
            </a:r>
          </a:p>
          <a:p>
            <a:pPr algn="l">
              <a:lnSpc>
                <a:spcPct val="100000"/>
              </a:lnSpc>
            </a:pPr>
            <a:r>
              <a:rPr sz="800" b="0" i="0">
                <a:solidFill>
                  <a:srgbClr val="ECE7DC"/>
                </a:solidFill>
                <a:latin typeface="Consolas"/>
              </a:rPr>
              <a:t>    │   │       │       │   ├── CNS-EUC-V.bcmap</a:t>
            </a:r>
          </a:p>
          <a:p>
            <a:pPr algn="l">
              <a:lnSpc>
                <a:spcPct val="100000"/>
              </a:lnSpc>
            </a:pPr>
            <a:r>
              <a:rPr sz="800" b="0" i="0">
                <a:solidFill>
                  <a:srgbClr val="ECE7DC"/>
                </a:solidFill>
                <a:latin typeface="Consolas"/>
              </a:rPr>
              <a:t>    │   │       │       │   ├── CNS1-H.bcmap</a:t>
            </a:r>
          </a:p>
          <a:p>
            <a:pPr algn="l">
              <a:lnSpc>
                <a:spcPct val="100000"/>
              </a:lnSpc>
            </a:pPr>
            <a:r>
              <a:rPr sz="800" b="0" i="0">
                <a:solidFill>
                  <a:srgbClr val="ECE7DC"/>
                </a:solidFill>
                <a:latin typeface="Consolas"/>
              </a:rPr>
              <a:t>    │   │       │       │   ├── CNS1-V.bcmap</a:t>
            </a:r>
          </a:p>
          <a:p>
            <a:pPr algn="l">
              <a:lnSpc>
                <a:spcPct val="100000"/>
              </a:lnSpc>
            </a:pPr>
            <a:r>
              <a:rPr sz="800" b="0" i="0">
                <a:solidFill>
                  <a:srgbClr val="ECE7DC"/>
                </a:solidFill>
                <a:latin typeface="Consolas"/>
              </a:rPr>
              <a:t>    │   │       │       │   ├── CNS2-H.bcmap</a:t>
            </a:r>
          </a:p>
          <a:p>
            <a:pPr algn="l">
              <a:lnSpc>
                <a:spcPct val="100000"/>
              </a:lnSpc>
            </a:pPr>
            <a:r>
              <a:rPr sz="800" b="0" i="0">
                <a:solidFill>
                  <a:srgbClr val="ECE7DC"/>
                </a:solidFill>
                <a:latin typeface="Consolas"/>
              </a:rPr>
              <a:t>    │   │       │       │   ├── CNS2-V.bcmap</a:t>
            </a:r>
          </a:p>
          <a:p>
            <a:pPr algn="l">
              <a:lnSpc>
                <a:spcPct val="100000"/>
              </a:lnSpc>
            </a:pPr>
            <a:r>
              <a:rPr sz="800" b="0" i="0">
                <a:solidFill>
                  <a:srgbClr val="ECE7DC"/>
                </a:solidFill>
                <a:latin typeface="Consolas"/>
              </a:rPr>
              <a:t>    │   │       │       │   ├── ETen-B5-H.bcmap</a:t>
            </a:r>
          </a:p>
          <a:p>
            <a:pPr algn="l">
              <a:lnSpc>
                <a:spcPct val="100000"/>
              </a:lnSpc>
            </a:pPr>
            <a:r>
              <a:rPr sz="800" b="0" i="0">
                <a:solidFill>
                  <a:srgbClr val="ECE7DC"/>
                </a:solidFill>
                <a:latin typeface="Consolas"/>
              </a:rPr>
              <a:t>    │   │       │       │   ├── ETen-B5-V.bcmap</a:t>
            </a:r>
          </a:p>
          <a:p>
            <a:pPr algn="l">
              <a:lnSpc>
                <a:spcPct val="100000"/>
              </a:lnSpc>
            </a:pPr>
            <a:r>
              <a:rPr sz="800" b="0" i="0">
                <a:solidFill>
                  <a:srgbClr val="ECE7DC"/>
                </a:solidFill>
                <a:latin typeface="Consolas"/>
              </a:rPr>
              <a:t>    │   │       │       │   ├── ETenms-B5-H.bcmap</a:t>
            </a:r>
          </a:p>
          <a:p>
            <a:pPr algn="l">
              <a:lnSpc>
                <a:spcPct val="100000"/>
              </a:lnSpc>
            </a:pPr>
            <a:r>
              <a:rPr sz="800" b="0" i="0">
                <a:solidFill>
                  <a:srgbClr val="ECE7DC"/>
                </a:solidFill>
                <a:latin typeface="Consolas"/>
              </a:rPr>
              <a:t>    │   │       │       │   ├── ETenms-B5-V.bcmap</a:t>
            </a:r>
          </a:p>
          <a:p>
            <a:pPr algn="l">
              <a:lnSpc>
                <a:spcPct val="100000"/>
              </a:lnSpc>
            </a:pPr>
            <a:r>
              <a:rPr sz="800" b="0" i="0">
                <a:solidFill>
                  <a:srgbClr val="ECE7DC"/>
                </a:solidFill>
                <a:latin typeface="Consolas"/>
              </a:rPr>
              <a:t>    │   │       │       │   ├── ETHK-B5-H.bcmap</a:t>
            </a:r>
          </a:p>
          <a:p>
            <a:pPr algn="l">
              <a:lnSpc>
                <a:spcPct val="100000"/>
              </a:lnSpc>
            </a:pPr>
            <a:r>
              <a:rPr sz="800" b="0" i="0">
                <a:solidFill>
                  <a:srgbClr val="ECE7DC"/>
                </a:solidFill>
                <a:latin typeface="Consolas"/>
              </a:rPr>
              <a:t>    │   │       │       │   ├── ETHK-B5-V.bcmap</a:t>
            </a:r>
          </a:p>
          <a:p>
            <a:pPr algn="l">
              <a:lnSpc>
                <a:spcPct val="100000"/>
              </a:lnSpc>
            </a:pPr>
            <a:r>
              <a:rPr sz="800" b="0" i="0">
                <a:solidFill>
                  <a:srgbClr val="ECE7DC"/>
                </a:solidFill>
                <a:latin typeface="Consolas"/>
              </a:rPr>
              <a:t>    │   │       │       │   ├── EUC-H.bcmap</a:t>
            </a:r>
          </a:p>
          <a:p>
            <a:pPr algn="l">
              <a:lnSpc>
                <a:spcPct val="100000"/>
              </a:lnSpc>
            </a:pPr>
            <a:r>
              <a:rPr sz="800" b="0" i="0">
                <a:solidFill>
                  <a:srgbClr val="ECE7DC"/>
                </a:solidFill>
                <a:latin typeface="Consolas"/>
              </a:rPr>
              <a:t>    │   │       │       │   ├── EUC-V.bcmap</a:t>
            </a:r>
          </a:p>
          <a:p>
            <a:pPr algn="l">
              <a:lnSpc>
                <a:spcPct val="100000"/>
              </a:lnSpc>
            </a:pPr>
            <a:r>
              <a:rPr sz="800" b="0" i="0">
                <a:solidFill>
                  <a:srgbClr val="ECE7DC"/>
                </a:solidFill>
                <a:latin typeface="Consolas"/>
              </a:rPr>
              <a:t>    │   │       │       │   ├── Ext-H.bcmap</a:t>
            </a:r>
          </a:p>
          <a:p>
            <a:pPr algn="l">
              <a:lnSpc>
                <a:spcPct val="100000"/>
              </a:lnSpc>
            </a:pPr>
            <a:r>
              <a:rPr sz="800" b="0" i="0">
                <a:solidFill>
                  <a:srgbClr val="ECE7DC"/>
                </a:solidFill>
                <a:latin typeface="Consolas"/>
              </a:rPr>
              <a:t>    │   │       │       │   ├── Ext-RKSJ-H.bcmap</a:t>
            </a:r>
          </a:p>
          <a:p>
            <a:pPr algn="l">
              <a:lnSpc>
                <a:spcPct val="100000"/>
              </a:lnSpc>
            </a:pPr>
            <a:r>
              <a:rPr sz="800" b="0" i="0">
                <a:solidFill>
                  <a:srgbClr val="ECE7DC"/>
                </a:solidFill>
                <a:latin typeface="Consolas"/>
              </a:rPr>
              <a:t>    │   │       │       │   ├── Ext-RKSJ-V.bcmap</a:t>
            </a:r>
          </a:p>
          <a:p>
            <a:pPr algn="l">
              <a:lnSpc>
                <a:spcPct val="100000"/>
              </a:lnSpc>
            </a:pPr>
            <a:r>
              <a:rPr sz="800" b="0" i="0">
                <a:solidFill>
                  <a:srgbClr val="ECE7DC"/>
                </a:solidFill>
                <a:latin typeface="Consolas"/>
              </a:rPr>
              <a:t>    │   │       │       │   ├── Ext-V.bcmap</a:t>
            </a:r>
          </a:p>
          <a:p>
            <a:pPr algn="l">
              <a:lnSpc>
                <a:spcPct val="100000"/>
              </a:lnSpc>
            </a:pPr>
            <a:r>
              <a:rPr sz="800" b="0" i="0">
                <a:solidFill>
                  <a:srgbClr val="ECE7DC"/>
                </a:solidFill>
                <a:latin typeface="Consolas"/>
              </a:rPr>
              <a:t>    │   │       │       │   ├── GB-EUC-H.bcmap</a:t>
            </a:r>
          </a:p>
          <a:p>
            <a:pPr algn="l">
              <a:lnSpc>
                <a:spcPct val="100000"/>
              </a:lnSpc>
            </a:pPr>
            <a:r>
              <a:rPr sz="800" b="0" i="0">
                <a:solidFill>
                  <a:srgbClr val="ECE7DC"/>
                </a:solidFill>
                <a:latin typeface="Consolas"/>
              </a:rPr>
              <a:t>    │   │       │       │   ├── GB-EUC-V.bcmap</a:t>
            </a:r>
          </a:p>
          <a:p>
            <a:pPr algn="l">
              <a:lnSpc>
                <a:spcPct val="100000"/>
              </a:lnSpc>
            </a:pPr>
            <a:r>
              <a:rPr sz="800" b="0" i="0">
                <a:solidFill>
                  <a:srgbClr val="ECE7DC"/>
                </a:solidFill>
                <a:latin typeface="Consolas"/>
              </a:rPr>
              <a:t>    │   │       │       │   ├── GB-H.bcmap</a:t>
            </a:r>
          </a:p>
          <a:p>
            <a:pPr algn="l">
              <a:lnSpc>
                <a:spcPct val="100000"/>
              </a:lnSpc>
            </a:pPr>
            <a:r>
              <a:rPr sz="800" b="0" i="0">
                <a:solidFill>
                  <a:srgbClr val="ECE7DC"/>
                </a:solidFill>
                <a:latin typeface="Consolas"/>
              </a:rPr>
              <a:t>    │   │       │       │   ├── GB-V.bcmap</a:t>
            </a:r>
          </a:p>
          <a:p>
            <a:pPr algn="l">
              <a:lnSpc>
                <a:spcPct val="100000"/>
              </a:lnSpc>
            </a:pPr>
            <a:r>
              <a:rPr sz="800" b="0" i="0">
                <a:solidFill>
                  <a:srgbClr val="ECE7DC"/>
                </a:solidFill>
                <a:latin typeface="Consolas"/>
              </a:rPr>
              <a:t>    │   │       │       │   ├── GBK-EUC-H.bcmap</a:t>
            </a:r>
          </a:p>
          <a:p>
            <a:pPr algn="l">
              <a:lnSpc>
                <a:spcPct val="100000"/>
              </a:lnSpc>
            </a:pPr>
            <a:r>
              <a:rPr sz="800" b="0" i="0">
                <a:solidFill>
                  <a:srgbClr val="ECE7DC"/>
                </a:solidFill>
                <a:latin typeface="Consolas"/>
              </a:rPr>
              <a:t>    │   │       │       │   ├── GBK-EUC-V.bcmap</a:t>
            </a:r>
          </a:p>
          <a:p>
            <a:pPr algn="l">
              <a:lnSpc>
                <a:spcPct val="100000"/>
              </a:lnSpc>
            </a:pPr>
            <a:r>
              <a:rPr sz="800" b="0" i="0">
                <a:solidFill>
                  <a:srgbClr val="ECE7DC"/>
                </a:solidFill>
                <a:latin typeface="Consolas"/>
              </a:rPr>
              <a:t>    │   │       │       │   ├── GBK2K-H.bcmap</a:t>
            </a:r>
          </a:p>
          <a:p>
            <a:pPr algn="l">
              <a:lnSpc>
                <a:spcPct val="100000"/>
              </a:lnSpc>
            </a:pPr>
            <a:r>
              <a:rPr sz="800" b="0" i="0">
                <a:solidFill>
                  <a:srgbClr val="ECE7DC"/>
                </a:solidFill>
                <a:latin typeface="Consolas"/>
              </a:rPr>
              <a:t>    │   │       │       │   ├── GBK2K-V.bcmap</a:t>
            </a:r>
          </a:p>
          <a:p>
            <a:pPr algn="l">
              <a:lnSpc>
                <a:spcPct val="100000"/>
              </a:lnSpc>
            </a:pPr>
            <a:r>
              <a:rPr sz="800" b="0" i="0">
                <a:solidFill>
                  <a:srgbClr val="ECE7DC"/>
                </a:solidFill>
                <a:latin typeface="Consolas"/>
              </a:rPr>
              <a:t>    │   │       │       │   ├── GBKp-EUC-H.bcmap</a:t>
            </a:r>
          </a:p>
          <a:p>
            <a:pPr algn="l">
              <a:lnSpc>
                <a:spcPct val="100000"/>
              </a:lnSpc>
            </a:pPr>
            <a:r>
              <a:rPr sz="800" b="0" i="0">
                <a:solidFill>
                  <a:srgbClr val="ECE7DC"/>
                </a:solidFill>
                <a:latin typeface="Consolas"/>
              </a:rPr>
              <a:t>    │   │       │       │   ├── GBKp-EUC-V.bcmap</a:t>
            </a:r>
          </a:p>
          <a:p>
            <a:pPr algn="l">
              <a:lnSpc>
                <a:spcPct val="100000"/>
              </a:lnSpc>
            </a:pPr>
            <a:r>
              <a:rPr sz="800" b="0" i="0">
                <a:solidFill>
                  <a:srgbClr val="ECE7DC"/>
                </a:solidFill>
                <a:latin typeface="Consolas"/>
              </a:rPr>
              <a:t>    │   │       │       │   ├── GBpc-EUC-H.bcmap</a:t>
            </a:r>
          </a:p>
          <a:p>
            <a:pPr algn="l">
              <a:lnSpc>
                <a:spcPct val="100000"/>
              </a:lnSpc>
            </a:pPr>
            <a:r>
              <a:rPr sz="800" b="0" i="0">
                <a:solidFill>
                  <a:srgbClr val="ECE7DC"/>
                </a:solidFill>
                <a:latin typeface="Consolas"/>
              </a:rPr>
              <a:t>    │   │       │       │   ├── GBpc-EUC-V.bcmap</a:t>
            </a:r>
          </a:p>
          <a:p>
            <a:pPr algn="l">
              <a:lnSpc>
                <a:spcPct val="100000"/>
              </a:lnSpc>
            </a:pPr>
            <a:r>
              <a:rPr sz="800" b="0" i="0">
                <a:solidFill>
                  <a:srgbClr val="ECE7DC"/>
                </a:solidFill>
                <a:latin typeface="Consolas"/>
              </a:rPr>
              <a:t>    │   │       │       │   ├── GBT-EUC-H.bcmap</a:t>
            </a:r>
          </a:p>
          <a:p>
            <a:pPr algn="l">
              <a:lnSpc>
                <a:spcPct val="100000"/>
              </a:lnSpc>
            </a:pPr>
            <a:r>
              <a:rPr sz="800" b="0" i="0">
                <a:solidFill>
                  <a:srgbClr val="ECE7DC"/>
                </a:solidFill>
                <a:latin typeface="Consolas"/>
              </a:rPr>
              <a:t>    │   │       │       │   ├── GBT-EUC-V.bcmap</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GBT-H.bcmap</a:t>
            </a:r>
          </a:p>
          <a:p>
            <a:pPr algn="l">
              <a:lnSpc>
                <a:spcPct val="100000"/>
              </a:lnSpc>
            </a:pPr>
            <a:r>
              <a:rPr sz="800" b="0" i="0">
                <a:solidFill>
                  <a:srgbClr val="ECE7DC"/>
                </a:solidFill>
                <a:latin typeface="Consolas"/>
              </a:rPr>
              <a:t>    │   │       │       │   ├── GBT-V.bcmap</a:t>
            </a:r>
          </a:p>
          <a:p>
            <a:pPr algn="l">
              <a:lnSpc>
                <a:spcPct val="100000"/>
              </a:lnSpc>
            </a:pPr>
            <a:r>
              <a:rPr sz="800" b="0" i="0">
                <a:solidFill>
                  <a:srgbClr val="ECE7DC"/>
                </a:solidFill>
                <a:latin typeface="Consolas"/>
              </a:rPr>
              <a:t>    │   │       │       │   ├── GBTpc-EUC-H.bcmap</a:t>
            </a:r>
          </a:p>
          <a:p>
            <a:pPr algn="l">
              <a:lnSpc>
                <a:spcPct val="100000"/>
              </a:lnSpc>
            </a:pPr>
            <a:r>
              <a:rPr sz="800" b="0" i="0">
                <a:solidFill>
                  <a:srgbClr val="ECE7DC"/>
                </a:solidFill>
                <a:latin typeface="Consolas"/>
              </a:rPr>
              <a:t>    │   │       │       │   ├── GBTpc-EUC-V.bcmap</a:t>
            </a:r>
          </a:p>
          <a:p>
            <a:pPr algn="l">
              <a:lnSpc>
                <a:spcPct val="100000"/>
              </a:lnSpc>
            </a:pPr>
            <a:r>
              <a:rPr sz="800" b="0" i="0">
                <a:solidFill>
                  <a:srgbClr val="ECE7DC"/>
                </a:solidFill>
                <a:latin typeface="Consolas"/>
              </a:rPr>
              <a:t>    │   │       │       │   ├── H.bcmap</a:t>
            </a:r>
          </a:p>
          <a:p>
            <a:pPr algn="l">
              <a:lnSpc>
                <a:spcPct val="100000"/>
              </a:lnSpc>
            </a:pPr>
            <a:r>
              <a:rPr sz="800" b="0" i="0">
                <a:solidFill>
                  <a:srgbClr val="ECE7DC"/>
                </a:solidFill>
                <a:latin typeface="Consolas"/>
              </a:rPr>
              <a:t>    │   │       │       │   ├── Hankaku.bcmap</a:t>
            </a:r>
          </a:p>
          <a:p>
            <a:pPr algn="l">
              <a:lnSpc>
                <a:spcPct val="100000"/>
              </a:lnSpc>
            </a:pPr>
            <a:r>
              <a:rPr sz="800" b="0" i="0">
                <a:solidFill>
                  <a:srgbClr val="ECE7DC"/>
                </a:solidFill>
                <a:latin typeface="Consolas"/>
              </a:rPr>
              <a:t>    │   │       │       │   ├── Hiragana.bcmap</a:t>
            </a:r>
          </a:p>
          <a:p>
            <a:pPr algn="l">
              <a:lnSpc>
                <a:spcPct val="100000"/>
              </a:lnSpc>
            </a:pPr>
            <a:r>
              <a:rPr sz="800" b="0" i="0">
                <a:solidFill>
                  <a:srgbClr val="ECE7DC"/>
                </a:solidFill>
                <a:latin typeface="Consolas"/>
              </a:rPr>
              <a:t>    │   │       │       │   ├── HKdla-B5-H.bcmap</a:t>
            </a:r>
          </a:p>
          <a:p>
            <a:pPr algn="l">
              <a:lnSpc>
                <a:spcPct val="100000"/>
              </a:lnSpc>
            </a:pPr>
            <a:r>
              <a:rPr sz="800" b="0" i="0">
                <a:solidFill>
                  <a:srgbClr val="ECE7DC"/>
                </a:solidFill>
                <a:latin typeface="Consolas"/>
              </a:rPr>
              <a:t>    │   │       │       │   ├── HKdla-B5-V.bcmap</a:t>
            </a:r>
          </a:p>
          <a:p>
            <a:pPr algn="l">
              <a:lnSpc>
                <a:spcPct val="100000"/>
              </a:lnSpc>
            </a:pPr>
            <a:r>
              <a:rPr sz="800" b="0" i="0">
                <a:solidFill>
                  <a:srgbClr val="ECE7DC"/>
                </a:solidFill>
                <a:latin typeface="Consolas"/>
              </a:rPr>
              <a:t>    │   │       │       │   ├── HKdlb-B5-H.bcmap</a:t>
            </a:r>
          </a:p>
          <a:p>
            <a:pPr algn="l">
              <a:lnSpc>
                <a:spcPct val="100000"/>
              </a:lnSpc>
            </a:pPr>
            <a:r>
              <a:rPr sz="800" b="0" i="0">
                <a:solidFill>
                  <a:srgbClr val="ECE7DC"/>
                </a:solidFill>
                <a:latin typeface="Consolas"/>
              </a:rPr>
              <a:t>    │   │       │       │   ├── HKdlb-B5-V.bcmap</a:t>
            </a:r>
          </a:p>
          <a:p>
            <a:pPr algn="l">
              <a:lnSpc>
                <a:spcPct val="100000"/>
              </a:lnSpc>
            </a:pPr>
            <a:r>
              <a:rPr sz="800" b="0" i="0">
                <a:solidFill>
                  <a:srgbClr val="ECE7DC"/>
                </a:solidFill>
                <a:latin typeface="Consolas"/>
              </a:rPr>
              <a:t>    │   │       │       │   ├── HKgccs-B5-H.bcmap</a:t>
            </a:r>
          </a:p>
          <a:p>
            <a:pPr algn="l">
              <a:lnSpc>
                <a:spcPct val="100000"/>
              </a:lnSpc>
            </a:pPr>
            <a:r>
              <a:rPr sz="800" b="0" i="0">
                <a:solidFill>
                  <a:srgbClr val="ECE7DC"/>
                </a:solidFill>
                <a:latin typeface="Consolas"/>
              </a:rPr>
              <a:t>    │   │       │       │   ├── HKgccs-B5-V.bcmap</a:t>
            </a:r>
          </a:p>
          <a:p>
            <a:pPr algn="l">
              <a:lnSpc>
                <a:spcPct val="100000"/>
              </a:lnSpc>
            </a:pPr>
            <a:r>
              <a:rPr sz="800" b="0" i="0">
                <a:solidFill>
                  <a:srgbClr val="ECE7DC"/>
                </a:solidFill>
                <a:latin typeface="Consolas"/>
              </a:rPr>
              <a:t>    │   │       │       │   ├── HKm314-B5-H.bcmap</a:t>
            </a:r>
          </a:p>
          <a:p>
            <a:pPr algn="l">
              <a:lnSpc>
                <a:spcPct val="100000"/>
              </a:lnSpc>
            </a:pPr>
            <a:r>
              <a:rPr sz="800" b="0" i="0">
                <a:solidFill>
                  <a:srgbClr val="ECE7DC"/>
                </a:solidFill>
                <a:latin typeface="Consolas"/>
              </a:rPr>
              <a:t>    │   │       │       │   ├── HKm314-B5-V.bcmap</a:t>
            </a:r>
          </a:p>
          <a:p>
            <a:pPr algn="l">
              <a:lnSpc>
                <a:spcPct val="100000"/>
              </a:lnSpc>
            </a:pPr>
            <a:r>
              <a:rPr sz="800" b="0" i="0">
                <a:solidFill>
                  <a:srgbClr val="ECE7DC"/>
                </a:solidFill>
                <a:latin typeface="Consolas"/>
              </a:rPr>
              <a:t>    │   │       │       │   ├── HKm471-B5-H.bcmap</a:t>
            </a:r>
          </a:p>
          <a:p>
            <a:pPr algn="l">
              <a:lnSpc>
                <a:spcPct val="100000"/>
              </a:lnSpc>
            </a:pPr>
            <a:r>
              <a:rPr sz="800" b="0" i="0">
                <a:solidFill>
                  <a:srgbClr val="ECE7DC"/>
                </a:solidFill>
                <a:latin typeface="Consolas"/>
              </a:rPr>
              <a:t>    │   │       │       │   ├── HKm471-B5-V.bcmap</a:t>
            </a:r>
          </a:p>
          <a:p>
            <a:pPr algn="l">
              <a:lnSpc>
                <a:spcPct val="100000"/>
              </a:lnSpc>
            </a:pPr>
            <a:r>
              <a:rPr sz="800" b="0" i="0">
                <a:solidFill>
                  <a:srgbClr val="ECE7DC"/>
                </a:solidFill>
                <a:latin typeface="Consolas"/>
              </a:rPr>
              <a:t>    │   │       │       │   ├── HKscs-B5-H.bcmap</a:t>
            </a:r>
          </a:p>
          <a:p>
            <a:pPr algn="l">
              <a:lnSpc>
                <a:spcPct val="100000"/>
              </a:lnSpc>
            </a:pPr>
            <a:r>
              <a:rPr sz="800" b="0" i="0">
                <a:solidFill>
                  <a:srgbClr val="ECE7DC"/>
                </a:solidFill>
                <a:latin typeface="Consolas"/>
              </a:rPr>
              <a:t>    │   │       │       │   ├── HKscs-B5-V.bcmap</a:t>
            </a:r>
          </a:p>
          <a:p>
            <a:pPr algn="l">
              <a:lnSpc>
                <a:spcPct val="100000"/>
              </a:lnSpc>
            </a:pPr>
            <a:r>
              <a:rPr sz="800" b="0" i="0">
                <a:solidFill>
                  <a:srgbClr val="ECE7DC"/>
                </a:solidFill>
                <a:latin typeface="Consolas"/>
              </a:rPr>
              <a:t>    │   │       │       │   ├── Katakana.bcmap</a:t>
            </a:r>
          </a:p>
          <a:p>
            <a:pPr algn="l">
              <a:lnSpc>
                <a:spcPct val="100000"/>
              </a:lnSpc>
            </a:pPr>
            <a:r>
              <a:rPr sz="800" b="0" i="0">
                <a:solidFill>
                  <a:srgbClr val="ECE7DC"/>
                </a:solidFill>
                <a:latin typeface="Consolas"/>
              </a:rPr>
              <a:t>    │   │       │       │   ├── KSC-EUC-H.bcmap</a:t>
            </a:r>
          </a:p>
          <a:p>
            <a:pPr algn="l">
              <a:lnSpc>
                <a:spcPct val="100000"/>
              </a:lnSpc>
            </a:pPr>
            <a:r>
              <a:rPr sz="800" b="0" i="0">
                <a:solidFill>
                  <a:srgbClr val="ECE7DC"/>
                </a:solidFill>
                <a:latin typeface="Consolas"/>
              </a:rPr>
              <a:t>    │   │       │       │   ├── KSC-EUC-V.bcmap</a:t>
            </a:r>
          </a:p>
          <a:p>
            <a:pPr algn="l">
              <a:lnSpc>
                <a:spcPct val="100000"/>
              </a:lnSpc>
            </a:pPr>
            <a:r>
              <a:rPr sz="800" b="0" i="0">
                <a:solidFill>
                  <a:srgbClr val="ECE7DC"/>
                </a:solidFill>
                <a:latin typeface="Consolas"/>
              </a:rPr>
              <a:t>    │   │       │       │   ├── KSC-H.bcmap</a:t>
            </a:r>
          </a:p>
          <a:p>
            <a:pPr algn="l">
              <a:lnSpc>
                <a:spcPct val="100000"/>
              </a:lnSpc>
            </a:pPr>
            <a:r>
              <a:rPr sz="800" b="0" i="0">
                <a:solidFill>
                  <a:srgbClr val="ECE7DC"/>
                </a:solidFill>
                <a:latin typeface="Consolas"/>
              </a:rPr>
              <a:t>    │   │       │       │   ├── KSC-Johab-H.bcmap</a:t>
            </a:r>
          </a:p>
          <a:p>
            <a:pPr algn="l">
              <a:lnSpc>
                <a:spcPct val="100000"/>
              </a:lnSpc>
            </a:pPr>
            <a:r>
              <a:rPr sz="800" b="0" i="0">
                <a:solidFill>
                  <a:srgbClr val="ECE7DC"/>
                </a:solidFill>
                <a:latin typeface="Consolas"/>
              </a:rPr>
              <a:t>    │   │       │       │   ├── KSC-Johab-V.bcmap</a:t>
            </a:r>
          </a:p>
          <a:p>
            <a:pPr algn="l">
              <a:lnSpc>
                <a:spcPct val="100000"/>
              </a:lnSpc>
            </a:pPr>
            <a:r>
              <a:rPr sz="800" b="0" i="0">
                <a:solidFill>
                  <a:srgbClr val="ECE7DC"/>
                </a:solidFill>
                <a:latin typeface="Consolas"/>
              </a:rPr>
              <a:t>    │   │       │       │   ├── KSC-V.bcmap</a:t>
            </a:r>
          </a:p>
          <a:p>
            <a:pPr algn="l">
              <a:lnSpc>
                <a:spcPct val="100000"/>
              </a:lnSpc>
            </a:pPr>
            <a:r>
              <a:rPr sz="800" b="0" i="0">
                <a:solidFill>
                  <a:srgbClr val="ECE7DC"/>
                </a:solidFill>
                <a:latin typeface="Consolas"/>
              </a:rPr>
              <a:t>    │   │       │       │   ├── KSCms-UHC-H.bcmap</a:t>
            </a:r>
          </a:p>
          <a:p>
            <a:pPr algn="l">
              <a:lnSpc>
                <a:spcPct val="100000"/>
              </a:lnSpc>
            </a:pPr>
            <a:r>
              <a:rPr sz="800" b="0" i="0">
                <a:solidFill>
                  <a:srgbClr val="ECE7DC"/>
                </a:solidFill>
                <a:latin typeface="Consolas"/>
              </a:rPr>
              <a:t>    │   │       │       │   ├── KSCms-UHC-HW-H.bcmap</a:t>
            </a:r>
          </a:p>
          <a:p>
            <a:pPr algn="l">
              <a:lnSpc>
                <a:spcPct val="100000"/>
              </a:lnSpc>
            </a:pPr>
            <a:r>
              <a:rPr sz="800" b="0" i="0">
                <a:solidFill>
                  <a:srgbClr val="ECE7DC"/>
                </a:solidFill>
                <a:latin typeface="Consolas"/>
              </a:rPr>
              <a:t>    │   │       │       │   ├── KSCms-UHC-HW-V.bcmap</a:t>
            </a:r>
          </a:p>
          <a:p>
            <a:pPr algn="l">
              <a:lnSpc>
                <a:spcPct val="100000"/>
              </a:lnSpc>
            </a:pPr>
            <a:r>
              <a:rPr sz="800" b="0" i="0">
                <a:solidFill>
                  <a:srgbClr val="ECE7DC"/>
                </a:solidFill>
                <a:latin typeface="Consolas"/>
              </a:rPr>
              <a:t>    │   │       │       │   ├── KSCms-UHC-V.bcmap</a:t>
            </a:r>
          </a:p>
          <a:p>
            <a:pPr algn="l">
              <a:lnSpc>
                <a:spcPct val="100000"/>
              </a:lnSpc>
            </a:pPr>
            <a:r>
              <a:rPr sz="800" b="0" i="0">
                <a:solidFill>
                  <a:srgbClr val="ECE7DC"/>
                </a:solidFill>
                <a:latin typeface="Consolas"/>
              </a:rPr>
              <a:t>    │   │       │       │   ├── KSCpc-EUC-H.bcmap</a:t>
            </a:r>
          </a:p>
          <a:p>
            <a:pPr algn="l">
              <a:lnSpc>
                <a:spcPct val="100000"/>
              </a:lnSpc>
            </a:pPr>
            <a:r>
              <a:rPr sz="800" b="0" i="0">
                <a:solidFill>
                  <a:srgbClr val="ECE7DC"/>
                </a:solidFill>
                <a:latin typeface="Consolas"/>
              </a:rPr>
              <a:t>    │   │       │       │   ├── KSCpc-EUC-V.bcmap</a:t>
            </a:r>
          </a:p>
          <a:p>
            <a:pPr algn="l">
              <a:lnSpc>
                <a:spcPct val="100000"/>
              </a:lnSpc>
            </a:pPr>
            <a:r>
              <a:rPr sz="800" b="0" i="0">
                <a:solidFill>
                  <a:srgbClr val="ECE7DC"/>
                </a:solidFill>
                <a:latin typeface="Consolas"/>
              </a:rPr>
              <a:t>    │   │       │       │   ├── LICENSE</a:t>
            </a:r>
          </a:p>
          <a:p>
            <a:pPr algn="l">
              <a:lnSpc>
                <a:spcPct val="100000"/>
              </a:lnSpc>
            </a:pPr>
            <a:r>
              <a:rPr sz="800" b="0" i="0">
                <a:solidFill>
                  <a:srgbClr val="ECE7DC"/>
                </a:solidFill>
                <a:latin typeface="Consolas"/>
              </a:rPr>
              <a:t>    │   │       │       │   ├── NWP-H.bcmap</a:t>
            </a:r>
          </a:p>
          <a:p>
            <a:pPr algn="l">
              <a:lnSpc>
                <a:spcPct val="100000"/>
              </a:lnSpc>
            </a:pPr>
            <a:r>
              <a:rPr sz="800" b="0" i="0">
                <a:solidFill>
                  <a:srgbClr val="ECE7DC"/>
                </a:solidFill>
                <a:latin typeface="Consolas"/>
              </a:rPr>
              <a:t>    │   │       │       │   ├── NWP-V.bcmap</a:t>
            </a:r>
          </a:p>
          <a:p>
            <a:pPr algn="l">
              <a:lnSpc>
                <a:spcPct val="100000"/>
              </a:lnSpc>
            </a:pPr>
            <a:r>
              <a:rPr sz="800" b="0" i="0">
                <a:solidFill>
                  <a:srgbClr val="ECE7DC"/>
                </a:solidFill>
                <a:latin typeface="Consolas"/>
              </a:rPr>
              <a:t>    │   │       │       │   ├── RKSJ-H.bcmap</a:t>
            </a:r>
          </a:p>
          <a:p>
            <a:pPr algn="l">
              <a:lnSpc>
                <a:spcPct val="100000"/>
              </a:lnSpc>
            </a:pPr>
            <a:r>
              <a:rPr sz="800" b="0" i="0">
                <a:solidFill>
                  <a:srgbClr val="ECE7DC"/>
                </a:solidFill>
                <a:latin typeface="Consolas"/>
              </a:rPr>
              <a:t>    │   │       │       │   ├── RKSJ-V.bcmap</a:t>
            </a:r>
          </a:p>
          <a:p>
            <a:pPr algn="l">
              <a:lnSpc>
                <a:spcPct val="100000"/>
              </a:lnSpc>
            </a:pPr>
            <a:r>
              <a:rPr sz="800" b="0" i="0">
                <a:solidFill>
                  <a:srgbClr val="ECE7DC"/>
                </a:solidFill>
                <a:latin typeface="Consolas"/>
              </a:rPr>
              <a:t>    │   │       │       │   ├── Roman.bcmap</a:t>
            </a:r>
          </a:p>
          <a:p>
            <a:pPr algn="l">
              <a:lnSpc>
                <a:spcPct val="100000"/>
              </a:lnSpc>
            </a:pPr>
            <a:r>
              <a:rPr sz="800" b="0" i="0">
                <a:solidFill>
                  <a:srgbClr val="ECE7DC"/>
                </a:solidFill>
                <a:latin typeface="Consolas"/>
              </a:rPr>
              <a:t>    │   │       │       │   ├── UniCNS-UCS2-H.bcmap</a:t>
            </a:r>
          </a:p>
          <a:p>
            <a:pPr algn="l">
              <a:lnSpc>
                <a:spcPct val="100000"/>
              </a:lnSpc>
            </a:pPr>
            <a:r>
              <a:rPr sz="800" b="0" i="0">
                <a:solidFill>
                  <a:srgbClr val="ECE7DC"/>
                </a:solidFill>
                <a:latin typeface="Consolas"/>
              </a:rPr>
              <a:t>    │   │       │       │   ├── UniCNS-UCS2-V.bcmap</a:t>
            </a:r>
          </a:p>
          <a:p>
            <a:pPr algn="l">
              <a:lnSpc>
                <a:spcPct val="100000"/>
              </a:lnSpc>
            </a:pPr>
            <a:r>
              <a:rPr sz="800" b="0" i="0">
                <a:solidFill>
                  <a:srgbClr val="ECE7DC"/>
                </a:solidFill>
                <a:latin typeface="Consolas"/>
              </a:rPr>
              <a:t>    │   │       │       │   ├── UniCNS-UTF16-H.bcmap</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UniCNS-UTF16-V.bcmap</a:t>
            </a:r>
          </a:p>
          <a:p>
            <a:pPr algn="l">
              <a:lnSpc>
                <a:spcPct val="100000"/>
              </a:lnSpc>
            </a:pPr>
            <a:r>
              <a:rPr sz="800" b="0" i="0">
                <a:solidFill>
                  <a:srgbClr val="ECE7DC"/>
                </a:solidFill>
                <a:latin typeface="Consolas"/>
              </a:rPr>
              <a:t>    │   │       │       │   ├── UniCNS-UTF32-H.bcmap</a:t>
            </a:r>
          </a:p>
          <a:p>
            <a:pPr algn="l">
              <a:lnSpc>
                <a:spcPct val="100000"/>
              </a:lnSpc>
            </a:pPr>
            <a:r>
              <a:rPr sz="800" b="0" i="0">
                <a:solidFill>
                  <a:srgbClr val="ECE7DC"/>
                </a:solidFill>
                <a:latin typeface="Consolas"/>
              </a:rPr>
              <a:t>    │   │       │       │   ├── UniCNS-UTF32-V.bcmap</a:t>
            </a:r>
          </a:p>
          <a:p>
            <a:pPr algn="l">
              <a:lnSpc>
                <a:spcPct val="100000"/>
              </a:lnSpc>
            </a:pPr>
            <a:r>
              <a:rPr sz="800" b="0" i="0">
                <a:solidFill>
                  <a:srgbClr val="ECE7DC"/>
                </a:solidFill>
                <a:latin typeface="Consolas"/>
              </a:rPr>
              <a:t>    │   │       │       │   ├── UniCNS-UTF8-H.bcmap</a:t>
            </a:r>
          </a:p>
          <a:p>
            <a:pPr algn="l">
              <a:lnSpc>
                <a:spcPct val="100000"/>
              </a:lnSpc>
            </a:pPr>
            <a:r>
              <a:rPr sz="800" b="0" i="0">
                <a:solidFill>
                  <a:srgbClr val="ECE7DC"/>
                </a:solidFill>
                <a:latin typeface="Consolas"/>
              </a:rPr>
              <a:t>    │   │       │       │   ├── UniCNS-UTF8-V.bcmap</a:t>
            </a:r>
          </a:p>
          <a:p>
            <a:pPr algn="l">
              <a:lnSpc>
                <a:spcPct val="100000"/>
              </a:lnSpc>
            </a:pPr>
            <a:r>
              <a:rPr sz="800" b="0" i="0">
                <a:solidFill>
                  <a:srgbClr val="ECE7DC"/>
                </a:solidFill>
                <a:latin typeface="Consolas"/>
              </a:rPr>
              <a:t>    │   │       │       │   ├── UniGB-UCS2-H.bcmap</a:t>
            </a:r>
          </a:p>
          <a:p>
            <a:pPr algn="l">
              <a:lnSpc>
                <a:spcPct val="100000"/>
              </a:lnSpc>
            </a:pPr>
            <a:r>
              <a:rPr sz="800" b="0" i="0">
                <a:solidFill>
                  <a:srgbClr val="ECE7DC"/>
                </a:solidFill>
                <a:latin typeface="Consolas"/>
              </a:rPr>
              <a:t>    │   │       │       │   ├── UniGB-UCS2-V.bcmap</a:t>
            </a:r>
          </a:p>
          <a:p>
            <a:pPr algn="l">
              <a:lnSpc>
                <a:spcPct val="100000"/>
              </a:lnSpc>
            </a:pPr>
            <a:r>
              <a:rPr sz="800" b="0" i="0">
                <a:solidFill>
                  <a:srgbClr val="ECE7DC"/>
                </a:solidFill>
                <a:latin typeface="Consolas"/>
              </a:rPr>
              <a:t>    │   │       │       │   ├── UniGB-UTF16-H.bcmap</a:t>
            </a:r>
          </a:p>
          <a:p>
            <a:pPr algn="l">
              <a:lnSpc>
                <a:spcPct val="100000"/>
              </a:lnSpc>
            </a:pPr>
            <a:r>
              <a:rPr sz="800" b="0" i="0">
                <a:solidFill>
                  <a:srgbClr val="ECE7DC"/>
                </a:solidFill>
                <a:latin typeface="Consolas"/>
              </a:rPr>
              <a:t>    │   │       │       │   ├── UniGB-UTF16-V.bcmap</a:t>
            </a:r>
          </a:p>
          <a:p>
            <a:pPr algn="l">
              <a:lnSpc>
                <a:spcPct val="100000"/>
              </a:lnSpc>
            </a:pPr>
            <a:r>
              <a:rPr sz="800" b="0" i="0">
                <a:solidFill>
                  <a:srgbClr val="ECE7DC"/>
                </a:solidFill>
                <a:latin typeface="Consolas"/>
              </a:rPr>
              <a:t>    │   │       │       │   ├── UniGB-UTF32-H.bcmap</a:t>
            </a:r>
          </a:p>
          <a:p>
            <a:pPr algn="l">
              <a:lnSpc>
                <a:spcPct val="100000"/>
              </a:lnSpc>
            </a:pPr>
            <a:r>
              <a:rPr sz="800" b="0" i="0">
                <a:solidFill>
                  <a:srgbClr val="ECE7DC"/>
                </a:solidFill>
                <a:latin typeface="Consolas"/>
              </a:rPr>
              <a:t>    │   │       │       │   ├── UniGB-UTF32-V.bcmap</a:t>
            </a:r>
          </a:p>
          <a:p>
            <a:pPr algn="l">
              <a:lnSpc>
                <a:spcPct val="100000"/>
              </a:lnSpc>
            </a:pPr>
            <a:r>
              <a:rPr sz="800" b="0" i="0">
                <a:solidFill>
                  <a:srgbClr val="ECE7DC"/>
                </a:solidFill>
                <a:latin typeface="Consolas"/>
              </a:rPr>
              <a:t>    │   │       │       │   ├── UniGB-UTF8-H.bcmap</a:t>
            </a:r>
          </a:p>
          <a:p>
            <a:pPr algn="l">
              <a:lnSpc>
                <a:spcPct val="100000"/>
              </a:lnSpc>
            </a:pPr>
            <a:r>
              <a:rPr sz="800" b="0" i="0">
                <a:solidFill>
                  <a:srgbClr val="ECE7DC"/>
                </a:solidFill>
                <a:latin typeface="Consolas"/>
              </a:rPr>
              <a:t>    │   │       │       │   ├── UniGB-UTF8-V.bcmap</a:t>
            </a:r>
          </a:p>
          <a:p>
            <a:pPr algn="l">
              <a:lnSpc>
                <a:spcPct val="100000"/>
              </a:lnSpc>
            </a:pPr>
            <a:r>
              <a:rPr sz="800" b="0" i="0">
                <a:solidFill>
                  <a:srgbClr val="ECE7DC"/>
                </a:solidFill>
                <a:latin typeface="Consolas"/>
              </a:rPr>
              <a:t>    │   │       │       │   ├── UniJIS-UCS2-H.bcmap</a:t>
            </a:r>
          </a:p>
          <a:p>
            <a:pPr algn="l">
              <a:lnSpc>
                <a:spcPct val="100000"/>
              </a:lnSpc>
            </a:pPr>
            <a:r>
              <a:rPr sz="800" b="0" i="0">
                <a:solidFill>
                  <a:srgbClr val="ECE7DC"/>
                </a:solidFill>
                <a:latin typeface="Consolas"/>
              </a:rPr>
              <a:t>    │   │       │       │   ├── UniJIS-UCS2-HW-H.bcmap</a:t>
            </a:r>
          </a:p>
          <a:p>
            <a:pPr algn="l">
              <a:lnSpc>
                <a:spcPct val="100000"/>
              </a:lnSpc>
            </a:pPr>
            <a:r>
              <a:rPr sz="800" b="0" i="0">
                <a:solidFill>
                  <a:srgbClr val="ECE7DC"/>
                </a:solidFill>
                <a:latin typeface="Consolas"/>
              </a:rPr>
              <a:t>    │   │       │       │   ├── UniJIS-UCS2-HW-V.bcmap</a:t>
            </a:r>
          </a:p>
          <a:p>
            <a:pPr algn="l">
              <a:lnSpc>
                <a:spcPct val="100000"/>
              </a:lnSpc>
            </a:pPr>
            <a:r>
              <a:rPr sz="800" b="0" i="0">
                <a:solidFill>
                  <a:srgbClr val="ECE7DC"/>
                </a:solidFill>
                <a:latin typeface="Consolas"/>
              </a:rPr>
              <a:t>    │   │       │       │   ├── UniJIS-UCS2-V.bcmap</a:t>
            </a:r>
          </a:p>
          <a:p>
            <a:pPr algn="l">
              <a:lnSpc>
                <a:spcPct val="100000"/>
              </a:lnSpc>
            </a:pPr>
            <a:r>
              <a:rPr sz="800" b="0" i="0">
                <a:solidFill>
                  <a:srgbClr val="ECE7DC"/>
                </a:solidFill>
                <a:latin typeface="Consolas"/>
              </a:rPr>
              <a:t>    │   │       │       │   ├── UniJIS-UTF16-H.bcmap</a:t>
            </a:r>
          </a:p>
          <a:p>
            <a:pPr algn="l">
              <a:lnSpc>
                <a:spcPct val="100000"/>
              </a:lnSpc>
            </a:pPr>
            <a:r>
              <a:rPr sz="800" b="0" i="0">
                <a:solidFill>
                  <a:srgbClr val="ECE7DC"/>
                </a:solidFill>
                <a:latin typeface="Consolas"/>
              </a:rPr>
              <a:t>    │   │       │       │   ├── UniJIS-UTF16-V.bcmap</a:t>
            </a:r>
          </a:p>
          <a:p>
            <a:pPr algn="l">
              <a:lnSpc>
                <a:spcPct val="100000"/>
              </a:lnSpc>
            </a:pPr>
            <a:r>
              <a:rPr sz="800" b="0" i="0">
                <a:solidFill>
                  <a:srgbClr val="ECE7DC"/>
                </a:solidFill>
                <a:latin typeface="Consolas"/>
              </a:rPr>
              <a:t>    │   │       │       │   ├── UniJIS-UTF32-H.bcmap</a:t>
            </a:r>
          </a:p>
          <a:p>
            <a:pPr algn="l">
              <a:lnSpc>
                <a:spcPct val="100000"/>
              </a:lnSpc>
            </a:pPr>
            <a:r>
              <a:rPr sz="800" b="0" i="0">
                <a:solidFill>
                  <a:srgbClr val="ECE7DC"/>
                </a:solidFill>
                <a:latin typeface="Consolas"/>
              </a:rPr>
              <a:t>    │   │       │       │   ├── UniJIS-UTF32-V.bcmap</a:t>
            </a:r>
          </a:p>
          <a:p>
            <a:pPr algn="l">
              <a:lnSpc>
                <a:spcPct val="100000"/>
              </a:lnSpc>
            </a:pPr>
            <a:r>
              <a:rPr sz="800" b="0" i="0">
                <a:solidFill>
                  <a:srgbClr val="ECE7DC"/>
                </a:solidFill>
                <a:latin typeface="Consolas"/>
              </a:rPr>
              <a:t>    │   │       │       │   ├── UniJIS-UTF8-H.bcmap</a:t>
            </a:r>
          </a:p>
          <a:p>
            <a:pPr algn="l">
              <a:lnSpc>
                <a:spcPct val="100000"/>
              </a:lnSpc>
            </a:pPr>
            <a:r>
              <a:rPr sz="800" b="0" i="0">
                <a:solidFill>
                  <a:srgbClr val="ECE7DC"/>
                </a:solidFill>
                <a:latin typeface="Consolas"/>
              </a:rPr>
              <a:t>    │   │       │       │   ├── UniJIS-UTF8-V.bcmap</a:t>
            </a:r>
          </a:p>
          <a:p>
            <a:pPr algn="l">
              <a:lnSpc>
                <a:spcPct val="100000"/>
              </a:lnSpc>
            </a:pPr>
            <a:r>
              <a:rPr sz="800" b="0" i="0">
                <a:solidFill>
                  <a:srgbClr val="ECE7DC"/>
                </a:solidFill>
                <a:latin typeface="Consolas"/>
              </a:rPr>
              <a:t>    │   │       │       │   ├── UniJIS2004-UTF16-H.bcmap</a:t>
            </a:r>
          </a:p>
          <a:p>
            <a:pPr algn="l">
              <a:lnSpc>
                <a:spcPct val="100000"/>
              </a:lnSpc>
            </a:pPr>
            <a:r>
              <a:rPr sz="800" b="0" i="0">
                <a:solidFill>
                  <a:srgbClr val="ECE7DC"/>
                </a:solidFill>
                <a:latin typeface="Consolas"/>
              </a:rPr>
              <a:t>    │   │       │       │   ├── UniJIS2004-UTF16-V.bcmap</a:t>
            </a:r>
          </a:p>
          <a:p>
            <a:pPr algn="l">
              <a:lnSpc>
                <a:spcPct val="100000"/>
              </a:lnSpc>
            </a:pPr>
            <a:r>
              <a:rPr sz="800" b="0" i="0">
                <a:solidFill>
                  <a:srgbClr val="ECE7DC"/>
                </a:solidFill>
                <a:latin typeface="Consolas"/>
              </a:rPr>
              <a:t>    │   │       │       │   ├── UniJIS2004-UTF32-H.bcmap</a:t>
            </a:r>
          </a:p>
          <a:p>
            <a:pPr algn="l">
              <a:lnSpc>
                <a:spcPct val="100000"/>
              </a:lnSpc>
            </a:pPr>
            <a:r>
              <a:rPr sz="800" b="0" i="0">
                <a:solidFill>
                  <a:srgbClr val="ECE7DC"/>
                </a:solidFill>
                <a:latin typeface="Consolas"/>
              </a:rPr>
              <a:t>    │   │       │       │   ├── UniJIS2004-UTF32-V.bcmap</a:t>
            </a:r>
          </a:p>
          <a:p>
            <a:pPr algn="l">
              <a:lnSpc>
                <a:spcPct val="100000"/>
              </a:lnSpc>
            </a:pPr>
            <a:r>
              <a:rPr sz="800" b="0" i="0">
                <a:solidFill>
                  <a:srgbClr val="ECE7DC"/>
                </a:solidFill>
                <a:latin typeface="Consolas"/>
              </a:rPr>
              <a:t>    │   │       │       │   ├── UniJIS2004-UTF8-H.bcmap</a:t>
            </a:r>
          </a:p>
          <a:p>
            <a:pPr algn="l">
              <a:lnSpc>
                <a:spcPct val="100000"/>
              </a:lnSpc>
            </a:pPr>
            <a:r>
              <a:rPr sz="800" b="0" i="0">
                <a:solidFill>
                  <a:srgbClr val="ECE7DC"/>
                </a:solidFill>
                <a:latin typeface="Consolas"/>
              </a:rPr>
              <a:t>    │   │       │       │   ├── UniJIS2004-UTF8-V.bcmap</a:t>
            </a:r>
          </a:p>
          <a:p>
            <a:pPr algn="l">
              <a:lnSpc>
                <a:spcPct val="100000"/>
              </a:lnSpc>
            </a:pPr>
            <a:r>
              <a:rPr sz="800" b="0" i="0">
                <a:solidFill>
                  <a:srgbClr val="ECE7DC"/>
                </a:solidFill>
                <a:latin typeface="Consolas"/>
              </a:rPr>
              <a:t>    │   │       │       │   ├── UniJISPro-UCS2-HW-V.bcma</a:t>
            </a:r>
          </a:p>
          <a:p>
            <a:pPr algn="l">
              <a:lnSpc>
                <a:spcPct val="100000"/>
              </a:lnSpc>
            </a:pPr>
            <a:r>
              <a:rPr sz="800" b="0" i="0">
                <a:solidFill>
                  <a:srgbClr val="ECE7DC"/>
                </a:solidFill>
                <a:latin typeface="Consolas"/>
              </a:rPr>
              <a:t>    │   │       │       │   │     » p</a:t>
            </a:r>
          </a:p>
          <a:p>
            <a:pPr algn="l">
              <a:lnSpc>
                <a:spcPct val="100000"/>
              </a:lnSpc>
            </a:pPr>
            <a:r>
              <a:rPr sz="800" b="0" i="0">
                <a:solidFill>
                  <a:srgbClr val="ECE7DC"/>
                </a:solidFill>
                <a:latin typeface="Consolas"/>
              </a:rPr>
              <a:t>    │   │       │       │   ├── UniJISPro-UCS2-V.bcmap</a:t>
            </a:r>
          </a:p>
          <a:p>
            <a:pPr algn="l">
              <a:lnSpc>
                <a:spcPct val="100000"/>
              </a:lnSpc>
            </a:pPr>
            <a:r>
              <a:rPr sz="800" b="0" i="0">
                <a:solidFill>
                  <a:srgbClr val="ECE7DC"/>
                </a:solidFill>
                <a:latin typeface="Consolas"/>
              </a:rPr>
              <a:t>    │   │       │       │   ├── UniJISPro-UTF8-V.bcmap</a:t>
            </a:r>
          </a:p>
          <a:p>
            <a:pPr algn="l">
              <a:lnSpc>
                <a:spcPct val="100000"/>
              </a:lnSpc>
            </a:pPr>
            <a:r>
              <a:rPr sz="800" b="0" i="0">
                <a:solidFill>
                  <a:srgbClr val="ECE7DC"/>
                </a:solidFill>
                <a:latin typeface="Consolas"/>
              </a:rPr>
              <a:t>    │   │       │       │   ├── UniJISX0213-UTF32-H.bcma</a:t>
            </a:r>
          </a:p>
          <a:p>
            <a:pPr algn="l">
              <a:lnSpc>
                <a:spcPct val="100000"/>
              </a:lnSpc>
            </a:pPr>
            <a:r>
              <a:rPr sz="800" b="0" i="0">
                <a:solidFill>
                  <a:srgbClr val="ECE7DC"/>
                </a:solidFill>
                <a:latin typeface="Consolas"/>
              </a:rPr>
              <a:t>    │   │       │       │   │     » p</a:t>
            </a:r>
          </a:p>
          <a:p>
            <a:pPr algn="l">
              <a:lnSpc>
                <a:spcPct val="100000"/>
              </a:lnSpc>
            </a:pPr>
            <a:r>
              <a:rPr sz="800" b="0" i="0">
                <a:solidFill>
                  <a:srgbClr val="ECE7DC"/>
                </a:solidFill>
                <a:latin typeface="Consolas"/>
              </a:rPr>
              <a:t>    │   │       │       │   ├── UniJISX0213-UTF32-V.bcma</a:t>
            </a:r>
          </a:p>
          <a:p>
            <a:pPr algn="l">
              <a:lnSpc>
                <a:spcPct val="100000"/>
              </a:lnSpc>
            </a:pPr>
            <a:r>
              <a:rPr sz="800" b="0" i="0">
                <a:solidFill>
                  <a:srgbClr val="ECE7DC"/>
                </a:solidFill>
                <a:latin typeface="Consolas"/>
              </a:rPr>
              <a:t>    │   │       │       │   │     » p</a:t>
            </a:r>
          </a:p>
          <a:p>
            <a:pPr algn="l">
              <a:lnSpc>
                <a:spcPct val="100000"/>
              </a:lnSpc>
            </a:pPr>
            <a:r>
              <a:rPr sz="800" b="0" i="0">
                <a:solidFill>
                  <a:srgbClr val="ECE7DC"/>
                </a:solidFill>
                <a:latin typeface="Consolas"/>
              </a:rPr>
              <a:t>    │   │       │       │   ├── UniJISX02132004-UTF32-H.</a:t>
            </a:r>
          </a:p>
          <a:p>
            <a:pPr algn="l">
              <a:lnSpc>
                <a:spcPct val="100000"/>
              </a:lnSpc>
            </a:pPr>
            <a:r>
              <a:rPr sz="800" b="0" i="0">
                <a:solidFill>
                  <a:srgbClr val="ECE7DC"/>
                </a:solidFill>
                <a:latin typeface="Consolas"/>
              </a:rPr>
              <a:t>    │   │       │       │   │     » bcmap</a:t>
            </a:r>
          </a:p>
          <a:p>
            <a:pPr algn="l">
              <a:lnSpc>
                <a:spcPct val="100000"/>
              </a:lnSpc>
            </a:pPr>
            <a:r>
              <a:rPr sz="800" b="0" i="0">
                <a:solidFill>
                  <a:srgbClr val="ECE7DC"/>
                </a:solidFill>
                <a:latin typeface="Consolas"/>
              </a:rPr>
              <a:t>    │   │       │       │   ├── UniJISX02132004-UTF32-V.</a:t>
            </a:r>
          </a:p>
          <a:p>
            <a:pPr algn="l">
              <a:lnSpc>
                <a:spcPct val="100000"/>
              </a:lnSpc>
            </a:pPr>
            <a:r>
              <a:rPr sz="800" b="0" i="0">
                <a:solidFill>
                  <a:srgbClr val="ECE7DC"/>
                </a:solidFill>
                <a:latin typeface="Consolas"/>
              </a:rPr>
              <a:t>    │   │       │       │   │     » bcmap</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15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UniKS-UCS2-H.bcmap</a:t>
            </a:r>
          </a:p>
          <a:p>
            <a:pPr algn="l">
              <a:lnSpc>
                <a:spcPct val="100000"/>
              </a:lnSpc>
            </a:pPr>
            <a:r>
              <a:rPr sz="800" b="0" i="0">
                <a:solidFill>
                  <a:srgbClr val="ECE7DC"/>
                </a:solidFill>
                <a:latin typeface="Consolas"/>
              </a:rPr>
              <a:t>    │   │       │       │   ├── UniKS-UCS2-V.bcmap</a:t>
            </a:r>
          </a:p>
          <a:p>
            <a:pPr algn="l">
              <a:lnSpc>
                <a:spcPct val="100000"/>
              </a:lnSpc>
            </a:pPr>
            <a:r>
              <a:rPr sz="800" b="0" i="0">
                <a:solidFill>
                  <a:srgbClr val="ECE7DC"/>
                </a:solidFill>
                <a:latin typeface="Consolas"/>
              </a:rPr>
              <a:t>    │   │       │       │   ├── UniKS-UTF16-H.bcmap</a:t>
            </a:r>
          </a:p>
          <a:p>
            <a:pPr algn="l">
              <a:lnSpc>
                <a:spcPct val="100000"/>
              </a:lnSpc>
            </a:pPr>
            <a:r>
              <a:rPr sz="800" b="0" i="0">
                <a:solidFill>
                  <a:srgbClr val="ECE7DC"/>
                </a:solidFill>
                <a:latin typeface="Consolas"/>
              </a:rPr>
              <a:t>    │   │       │       │   ├── UniKS-UTF16-V.bcmap</a:t>
            </a:r>
          </a:p>
          <a:p>
            <a:pPr algn="l">
              <a:lnSpc>
                <a:spcPct val="100000"/>
              </a:lnSpc>
            </a:pPr>
            <a:r>
              <a:rPr sz="800" b="0" i="0">
                <a:solidFill>
                  <a:srgbClr val="ECE7DC"/>
                </a:solidFill>
                <a:latin typeface="Consolas"/>
              </a:rPr>
              <a:t>    │   │       │       │   ├── UniKS-UTF32-H.bcmap</a:t>
            </a:r>
          </a:p>
          <a:p>
            <a:pPr algn="l">
              <a:lnSpc>
                <a:spcPct val="100000"/>
              </a:lnSpc>
            </a:pPr>
            <a:r>
              <a:rPr sz="800" b="0" i="0">
                <a:solidFill>
                  <a:srgbClr val="ECE7DC"/>
                </a:solidFill>
                <a:latin typeface="Consolas"/>
              </a:rPr>
              <a:t>    │   │       │       │   ├── UniKS-UTF32-V.bcmap</a:t>
            </a:r>
          </a:p>
          <a:p>
            <a:pPr algn="l">
              <a:lnSpc>
                <a:spcPct val="100000"/>
              </a:lnSpc>
            </a:pPr>
            <a:r>
              <a:rPr sz="800" b="0" i="0">
                <a:solidFill>
                  <a:srgbClr val="ECE7DC"/>
                </a:solidFill>
                <a:latin typeface="Consolas"/>
              </a:rPr>
              <a:t>    │   │       │       │   ├── UniKS-UTF8-H.bcmap</a:t>
            </a:r>
          </a:p>
          <a:p>
            <a:pPr algn="l">
              <a:lnSpc>
                <a:spcPct val="100000"/>
              </a:lnSpc>
            </a:pPr>
            <a:r>
              <a:rPr sz="800" b="0" i="0">
                <a:solidFill>
                  <a:srgbClr val="ECE7DC"/>
                </a:solidFill>
                <a:latin typeface="Consolas"/>
              </a:rPr>
              <a:t>    │   │       │       │   ├── UniKS-UTF8-V.bcmap</a:t>
            </a:r>
          </a:p>
          <a:p>
            <a:pPr algn="l">
              <a:lnSpc>
                <a:spcPct val="100000"/>
              </a:lnSpc>
            </a:pPr>
            <a:r>
              <a:rPr sz="800" b="0" i="0">
                <a:solidFill>
                  <a:srgbClr val="ECE7DC"/>
                </a:solidFill>
                <a:latin typeface="Consolas"/>
              </a:rPr>
              <a:t>    │   │       │       │   ├── V.bcmap</a:t>
            </a:r>
          </a:p>
          <a:p>
            <a:pPr algn="l">
              <a:lnSpc>
                <a:spcPct val="100000"/>
              </a:lnSpc>
            </a:pPr>
            <a:r>
              <a:rPr sz="800" b="0" i="0">
                <a:solidFill>
                  <a:srgbClr val="ECE7DC"/>
                </a:solidFill>
                <a:latin typeface="Consolas"/>
              </a:rPr>
              <a:t>    │   │       │       │   └── WP-Symbol.bcmap</a:t>
            </a:r>
          </a:p>
          <a:p>
            <a:pPr algn="l">
              <a:lnSpc>
                <a:spcPct val="100000"/>
              </a:lnSpc>
            </a:pPr>
            <a:r>
              <a:rPr sz="800" b="0" i="0">
                <a:solidFill>
                  <a:srgbClr val="3BBE93"/>
                </a:solidFill>
                <a:latin typeface="Consolas"/>
              </a:rPr>
              <a:t>    │   │       │       ├── iccs/</a:t>
            </a:r>
          </a:p>
          <a:p>
            <a:pPr algn="l">
              <a:lnSpc>
                <a:spcPct val="100000"/>
              </a:lnSpc>
            </a:pPr>
            <a:r>
              <a:rPr sz="800" b="0" i="0">
                <a:solidFill>
                  <a:srgbClr val="ECE7DC"/>
                </a:solidFill>
                <a:latin typeface="Consolas"/>
              </a:rPr>
              <a:t>    │   │       │       │   ├── CGATS001Compat-v2-micro.</a:t>
            </a:r>
          </a:p>
          <a:p>
            <a:pPr algn="l">
              <a:lnSpc>
                <a:spcPct val="100000"/>
              </a:lnSpc>
            </a:pPr>
            <a:r>
              <a:rPr sz="800" b="0" i="0">
                <a:solidFill>
                  <a:srgbClr val="ECE7DC"/>
                </a:solidFill>
                <a:latin typeface="Consolas"/>
              </a:rPr>
              <a:t>    │   │       │       │   │     » icc</a:t>
            </a:r>
          </a:p>
          <a:p>
            <a:pPr algn="l">
              <a:lnSpc>
                <a:spcPct val="100000"/>
              </a:lnSpc>
            </a:pPr>
            <a:r>
              <a:rPr sz="800" b="0" i="0">
                <a:solidFill>
                  <a:srgbClr val="ECE7DC"/>
                </a:solidFill>
                <a:latin typeface="Consolas"/>
              </a:rPr>
              <a:t>    │   │       │       │   └── LICENSE</a:t>
            </a:r>
          </a:p>
          <a:p>
            <a:pPr algn="l">
              <a:lnSpc>
                <a:spcPct val="100000"/>
              </a:lnSpc>
            </a:pPr>
            <a:r>
              <a:rPr sz="800" b="0" i="0">
                <a:solidFill>
                  <a:srgbClr val="3BBE93"/>
                </a:solidFill>
                <a:latin typeface="Consolas"/>
              </a:rPr>
              <a:t>    │   │       │       ├── standard_fonts/</a:t>
            </a:r>
          </a:p>
          <a:p>
            <a:pPr algn="l">
              <a:lnSpc>
                <a:spcPct val="100000"/>
              </a:lnSpc>
            </a:pPr>
            <a:r>
              <a:rPr sz="800" b="0" i="0">
                <a:solidFill>
                  <a:srgbClr val="ECE7DC"/>
                </a:solidFill>
                <a:latin typeface="Consolas"/>
              </a:rPr>
              <a:t>    │   │       │       │   ├── FoxitDingbats.pfb</a:t>
            </a:r>
          </a:p>
          <a:p>
            <a:pPr algn="l">
              <a:lnSpc>
                <a:spcPct val="100000"/>
              </a:lnSpc>
            </a:pPr>
            <a:r>
              <a:rPr sz="800" b="0" i="0">
                <a:solidFill>
                  <a:srgbClr val="ECE7DC"/>
                </a:solidFill>
                <a:latin typeface="Consolas"/>
              </a:rPr>
              <a:t>    │   │       │       │   ├── FoxitFixed.pfb</a:t>
            </a:r>
          </a:p>
          <a:p>
            <a:pPr algn="l">
              <a:lnSpc>
                <a:spcPct val="100000"/>
              </a:lnSpc>
            </a:pPr>
            <a:r>
              <a:rPr sz="800" b="0" i="0">
                <a:solidFill>
                  <a:srgbClr val="ECE7DC"/>
                </a:solidFill>
                <a:latin typeface="Consolas"/>
              </a:rPr>
              <a:t>    │   │       │       │   ├── FoxitFixedBold.pfb</a:t>
            </a:r>
          </a:p>
          <a:p>
            <a:pPr algn="l">
              <a:lnSpc>
                <a:spcPct val="100000"/>
              </a:lnSpc>
            </a:pPr>
            <a:r>
              <a:rPr sz="800" b="0" i="0">
                <a:solidFill>
                  <a:srgbClr val="ECE7DC"/>
                </a:solidFill>
                <a:latin typeface="Consolas"/>
              </a:rPr>
              <a:t>    │   │       │       │   ├── FoxitFixedBoldItalic.pfb</a:t>
            </a:r>
          </a:p>
          <a:p>
            <a:pPr algn="l">
              <a:lnSpc>
                <a:spcPct val="100000"/>
              </a:lnSpc>
            </a:pPr>
            <a:r>
              <a:rPr sz="800" b="0" i="0">
                <a:solidFill>
                  <a:srgbClr val="ECE7DC"/>
                </a:solidFill>
                <a:latin typeface="Consolas"/>
              </a:rPr>
              <a:t>    │   │       │       │   ├── FoxitFixedItalic.pfb</a:t>
            </a:r>
          </a:p>
          <a:p>
            <a:pPr algn="l">
              <a:lnSpc>
                <a:spcPct val="100000"/>
              </a:lnSpc>
            </a:pPr>
            <a:r>
              <a:rPr sz="800" b="0" i="0">
                <a:solidFill>
                  <a:srgbClr val="ECE7DC"/>
                </a:solidFill>
                <a:latin typeface="Consolas"/>
              </a:rPr>
              <a:t>    │   │       │       │   ├── FoxitSerif.pfb</a:t>
            </a:r>
          </a:p>
          <a:p>
            <a:pPr algn="l">
              <a:lnSpc>
                <a:spcPct val="100000"/>
              </a:lnSpc>
            </a:pPr>
            <a:r>
              <a:rPr sz="800" b="0" i="0">
                <a:solidFill>
                  <a:srgbClr val="ECE7DC"/>
                </a:solidFill>
                <a:latin typeface="Consolas"/>
              </a:rPr>
              <a:t>    │   │       │       │   ├── FoxitSerifBold.pfb</a:t>
            </a:r>
          </a:p>
          <a:p>
            <a:pPr algn="l">
              <a:lnSpc>
                <a:spcPct val="100000"/>
              </a:lnSpc>
            </a:pPr>
            <a:r>
              <a:rPr sz="800" b="0" i="0">
                <a:solidFill>
                  <a:srgbClr val="ECE7DC"/>
                </a:solidFill>
                <a:latin typeface="Consolas"/>
              </a:rPr>
              <a:t>    │   │       │       │   ├── FoxitSerifBoldItalic.pfb</a:t>
            </a:r>
          </a:p>
          <a:p>
            <a:pPr algn="l">
              <a:lnSpc>
                <a:spcPct val="100000"/>
              </a:lnSpc>
            </a:pPr>
            <a:r>
              <a:rPr sz="800" b="0" i="0">
                <a:solidFill>
                  <a:srgbClr val="ECE7DC"/>
                </a:solidFill>
                <a:latin typeface="Consolas"/>
              </a:rPr>
              <a:t>    │   │       │       │   ├── FoxitSerifItalic.pfb</a:t>
            </a:r>
          </a:p>
          <a:p>
            <a:pPr algn="l">
              <a:lnSpc>
                <a:spcPct val="100000"/>
              </a:lnSpc>
            </a:pPr>
            <a:r>
              <a:rPr sz="800" b="0" i="0">
                <a:solidFill>
                  <a:srgbClr val="ECE7DC"/>
                </a:solidFill>
                <a:latin typeface="Consolas"/>
              </a:rPr>
              <a:t>    │   │       │       │   ├── FoxitSymbol.pfb</a:t>
            </a:r>
          </a:p>
          <a:p>
            <a:pPr algn="l">
              <a:lnSpc>
                <a:spcPct val="100000"/>
              </a:lnSpc>
            </a:pPr>
            <a:r>
              <a:rPr sz="800" b="0" i="0">
                <a:solidFill>
                  <a:srgbClr val="ECE7DC"/>
                </a:solidFill>
                <a:latin typeface="Consolas"/>
              </a:rPr>
              <a:t>    │   │       │       │   ├── LiberationSans-Bold.ttf</a:t>
            </a:r>
          </a:p>
          <a:p>
            <a:pPr algn="l">
              <a:lnSpc>
                <a:spcPct val="100000"/>
              </a:lnSpc>
            </a:pPr>
            <a:r>
              <a:rPr sz="800" b="0" i="0">
                <a:solidFill>
                  <a:srgbClr val="ECE7DC"/>
                </a:solidFill>
                <a:latin typeface="Consolas"/>
              </a:rPr>
              <a:t>    │   │       │       │   ├── LiberationSans-BoldItali</a:t>
            </a:r>
          </a:p>
          <a:p>
            <a:pPr algn="l">
              <a:lnSpc>
                <a:spcPct val="100000"/>
              </a:lnSpc>
            </a:pPr>
            <a:r>
              <a:rPr sz="800" b="0" i="0">
                <a:solidFill>
                  <a:srgbClr val="ECE7DC"/>
                </a:solidFill>
                <a:latin typeface="Consolas"/>
              </a:rPr>
              <a:t>    │   │       │       │   │     » c.ttf</a:t>
            </a:r>
          </a:p>
          <a:p>
            <a:pPr algn="l">
              <a:lnSpc>
                <a:spcPct val="100000"/>
              </a:lnSpc>
            </a:pPr>
            <a:r>
              <a:rPr sz="800" b="0" i="0">
                <a:solidFill>
                  <a:srgbClr val="ECE7DC"/>
                </a:solidFill>
                <a:latin typeface="Consolas"/>
              </a:rPr>
              <a:t>    │   │       │       │   ├── LiberationSans-Italic.tt</a:t>
            </a:r>
          </a:p>
          <a:p>
            <a:pPr algn="l">
              <a:lnSpc>
                <a:spcPct val="100000"/>
              </a:lnSpc>
            </a:pPr>
            <a:r>
              <a:rPr sz="800" b="0" i="0">
                <a:solidFill>
                  <a:srgbClr val="ECE7DC"/>
                </a:solidFill>
                <a:latin typeface="Consolas"/>
              </a:rPr>
              <a:t>    │   │       │       │   │     » f</a:t>
            </a:r>
          </a:p>
          <a:p>
            <a:pPr algn="l">
              <a:lnSpc>
                <a:spcPct val="100000"/>
              </a:lnSpc>
            </a:pPr>
            <a:r>
              <a:rPr sz="800" b="0" i="0">
                <a:solidFill>
                  <a:srgbClr val="ECE7DC"/>
                </a:solidFill>
                <a:latin typeface="Consolas"/>
              </a:rPr>
              <a:t>    │   │       │       │   ├── LiberationSans-Regular.t</a:t>
            </a:r>
          </a:p>
          <a:p>
            <a:pPr algn="l">
              <a:lnSpc>
                <a:spcPct val="100000"/>
              </a:lnSpc>
            </a:pPr>
            <a:r>
              <a:rPr sz="800" b="0" i="0">
                <a:solidFill>
                  <a:srgbClr val="ECE7DC"/>
                </a:solidFill>
                <a:latin typeface="Consolas"/>
              </a:rPr>
              <a:t>    │   │       │       │   │     » tf</a:t>
            </a:r>
          </a:p>
          <a:p>
            <a:pPr algn="l">
              <a:lnSpc>
                <a:spcPct val="100000"/>
              </a:lnSpc>
            </a:pPr>
            <a:r>
              <a:rPr sz="800" b="0" i="0">
                <a:solidFill>
                  <a:srgbClr val="ECE7DC"/>
                </a:solidFill>
                <a:latin typeface="Consolas"/>
              </a:rPr>
              <a:t>    │   │       │       │   ├── LICENSE_FOXIT</a:t>
            </a:r>
          </a:p>
          <a:p>
            <a:pPr algn="l">
              <a:lnSpc>
                <a:spcPct val="100000"/>
              </a:lnSpc>
            </a:pPr>
            <a:r>
              <a:rPr sz="800" b="0" i="0">
                <a:solidFill>
                  <a:srgbClr val="ECE7DC"/>
                </a:solidFill>
                <a:latin typeface="Consolas"/>
              </a:rPr>
              <a:t>    │   │       │       │   └── LICENSE_LIBERATION</a:t>
            </a:r>
          </a:p>
          <a:p>
            <a:pPr algn="l">
              <a:lnSpc>
                <a:spcPct val="100000"/>
              </a:lnSpc>
            </a:pPr>
            <a:r>
              <a:rPr sz="800" b="0" i="0">
                <a:solidFill>
                  <a:srgbClr val="3BBE93"/>
                </a:solidFill>
                <a:latin typeface="Consolas"/>
              </a:rPr>
              <a:t>    │   │       │       ├── wasm/</a:t>
            </a:r>
          </a:p>
          <a:p>
            <a:pPr algn="l">
              <a:lnSpc>
                <a:spcPct val="100000"/>
              </a:lnSpc>
            </a:pPr>
            <a:r>
              <a:rPr sz="800" b="0" i="0">
                <a:solidFill>
                  <a:srgbClr val="ECE7DC"/>
                </a:solidFill>
                <a:latin typeface="Consolas"/>
              </a:rPr>
              <a:t>    │   │       │       │   ├── jbig2.wasm</a:t>
            </a:r>
          </a:p>
          <a:p>
            <a:pPr algn="l">
              <a:lnSpc>
                <a:spcPct val="100000"/>
              </a:lnSpc>
            </a:pPr>
            <a:r>
              <a:rPr sz="800" b="0" i="0">
                <a:solidFill>
                  <a:srgbClr val="ECE7DC"/>
                </a:solidFill>
                <a:latin typeface="Consolas"/>
              </a:rPr>
              <a:t>    │   │       │       │   ├── jbig2_nowasm_fallback.js</a:t>
            </a:r>
          </a:p>
          <a:p>
            <a:pPr algn="l">
              <a:lnSpc>
                <a:spcPct val="100000"/>
              </a:lnSpc>
            </a:pPr>
            <a:r>
              <a:rPr sz="800" b="0" i="0">
                <a:solidFill>
                  <a:srgbClr val="ECE7DC"/>
                </a:solidFill>
                <a:latin typeface="Consolas"/>
              </a:rPr>
              <a:t>    │   │       │       │   ├── LICENSE_JBIG2</a:t>
            </a:r>
          </a:p>
          <a:p>
            <a:pPr algn="l">
              <a:lnSpc>
                <a:spcPct val="100000"/>
              </a:lnSpc>
            </a:pPr>
            <a:r>
              <a:rPr sz="800" b="0" i="0">
                <a:solidFill>
                  <a:srgbClr val="ECE7DC"/>
                </a:solidFill>
                <a:latin typeface="Consolas"/>
              </a:rPr>
              <a:t>    │   │       │       │   ├── LICENSE_OPENJPEG</a:t>
            </a:r>
          </a:p>
          <a:p>
            <a:pPr algn="l">
              <a:lnSpc>
                <a:spcPct val="100000"/>
              </a:lnSpc>
            </a:pPr>
            <a:r>
              <a:rPr sz="800" b="0" i="0">
                <a:solidFill>
                  <a:srgbClr val="ECE7DC"/>
                </a:solidFill>
                <a:latin typeface="Consolas"/>
              </a:rPr>
              <a:t>    │   │       │       │   ├── LICENSE_PDFJS_JBIG2</a:t>
            </a:r>
          </a:p>
          <a:p>
            <a:pPr algn="l">
              <a:lnSpc>
                <a:spcPct val="100000"/>
              </a:lnSpc>
            </a:pPr>
            <a:r>
              <a:rPr sz="800" b="0" i="0">
                <a:solidFill>
                  <a:srgbClr val="ECE7DC"/>
                </a:solidFill>
                <a:latin typeface="Consolas"/>
              </a:rPr>
              <a:t>    │   │       │       │   ├── LICENSE_PDFJS_OPENJPEG</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LICENSE_PDFJS_QCMS</a:t>
            </a:r>
          </a:p>
          <a:p>
            <a:pPr algn="l">
              <a:lnSpc>
                <a:spcPct val="100000"/>
              </a:lnSpc>
            </a:pPr>
            <a:r>
              <a:rPr sz="800" b="0" i="0">
                <a:solidFill>
                  <a:srgbClr val="ECE7DC"/>
                </a:solidFill>
                <a:latin typeface="Consolas"/>
              </a:rPr>
              <a:t>    │   │       │       │   ├── LICENSE_QCMS</a:t>
            </a:r>
          </a:p>
          <a:p>
            <a:pPr algn="l">
              <a:lnSpc>
                <a:spcPct val="100000"/>
              </a:lnSpc>
            </a:pPr>
            <a:r>
              <a:rPr sz="800" b="0" i="0">
                <a:solidFill>
                  <a:srgbClr val="ECE7DC"/>
                </a:solidFill>
                <a:latin typeface="Consolas"/>
              </a:rPr>
              <a:t>    │   │       │       │   ├── openjpeg.wasm</a:t>
            </a:r>
          </a:p>
          <a:p>
            <a:pPr algn="l">
              <a:lnSpc>
                <a:spcPct val="100000"/>
              </a:lnSpc>
            </a:pPr>
            <a:r>
              <a:rPr sz="800" b="0" i="0">
                <a:solidFill>
                  <a:srgbClr val="ECE7DC"/>
                </a:solidFill>
                <a:latin typeface="Consolas"/>
              </a:rPr>
              <a:t>    │   │       │       │   ├── openjpeg_nowasm_fallback</a:t>
            </a:r>
          </a:p>
          <a:p>
            <a:pPr algn="l">
              <a:lnSpc>
                <a:spcPct val="100000"/>
              </a:lnSpc>
            </a:pPr>
            <a:r>
              <a:rPr sz="800" b="0" i="0">
                <a:solidFill>
                  <a:srgbClr val="ECE7DC"/>
                </a:solidFill>
                <a:latin typeface="Consolas"/>
              </a:rPr>
              <a:t>    │   │       │       │   │     » .js</a:t>
            </a:r>
          </a:p>
          <a:p>
            <a:pPr algn="l">
              <a:lnSpc>
                <a:spcPct val="100000"/>
              </a:lnSpc>
            </a:pPr>
            <a:r>
              <a:rPr sz="800" b="0" i="0">
                <a:solidFill>
                  <a:srgbClr val="ECE7DC"/>
                </a:solidFill>
                <a:latin typeface="Consolas"/>
              </a:rPr>
              <a:t>    │   │       │       │   ├── qcms_bg.wasm</a:t>
            </a:r>
          </a:p>
          <a:p>
            <a:pPr algn="l">
              <a:lnSpc>
                <a:spcPct val="100000"/>
              </a:lnSpc>
            </a:pPr>
            <a:r>
              <a:rPr sz="800" b="0" i="0">
                <a:solidFill>
                  <a:srgbClr val="ECE7DC"/>
                </a:solidFill>
                <a:latin typeface="Consolas"/>
              </a:rPr>
              <a:t>    │   │       │       │   ├── quickjs-eval.js</a:t>
            </a:r>
          </a:p>
          <a:p>
            <a:pPr algn="l">
              <a:lnSpc>
                <a:spcPct val="100000"/>
              </a:lnSpc>
            </a:pPr>
            <a:r>
              <a:rPr sz="800" b="0" i="0">
                <a:solidFill>
                  <a:srgbClr val="ECE7DC"/>
                </a:solidFill>
                <a:latin typeface="Consolas"/>
              </a:rPr>
              <a:t>    │   │       │       │   └── quickjs-eval.wasm</a:t>
            </a:r>
          </a:p>
          <a:p>
            <a:pPr algn="l">
              <a:lnSpc>
                <a:spcPct val="100000"/>
              </a:lnSpc>
            </a:pPr>
            <a:r>
              <a:rPr sz="800" b="0" i="0">
                <a:solidFill>
                  <a:srgbClr val="3BBE93"/>
                </a:solidFill>
                <a:latin typeface="Consolas"/>
              </a:rPr>
              <a:t>    │   │       │       └── web/</a:t>
            </a:r>
          </a:p>
          <a:p>
            <a:pPr algn="l">
              <a:lnSpc>
                <a:spcPct val="100000"/>
              </a:lnSpc>
            </a:pPr>
            <a:r>
              <a:rPr sz="800" b="0" i="0">
                <a:solidFill>
                  <a:srgbClr val="ECE7DC"/>
                </a:solidFill>
                <a:latin typeface="Consolas"/>
              </a:rPr>
              <a:t>    │   │       │           ├── pdf_viewer.css</a:t>
            </a:r>
          </a:p>
          <a:p>
            <a:pPr algn="l">
              <a:lnSpc>
                <a:spcPct val="100000"/>
              </a:lnSpc>
            </a:pPr>
            <a:r>
              <a:rPr sz="800" b="0" i="0">
                <a:solidFill>
                  <a:srgbClr val="ECE7DC"/>
                </a:solidFill>
                <a:latin typeface="Consolas"/>
              </a:rPr>
              <a:t>    │   │       │           ├── pdf_viewer.mjs</a:t>
            </a:r>
          </a:p>
          <a:p>
            <a:pPr algn="l">
              <a:lnSpc>
                <a:spcPct val="100000"/>
              </a:lnSpc>
            </a:pPr>
            <a:r>
              <a:rPr sz="800" b="0" i="0">
                <a:solidFill>
                  <a:srgbClr val="3BBE93"/>
                </a:solidFill>
                <a:latin typeface="Consolas"/>
              </a:rPr>
              <a:t>    │   │       │           └── images/</a:t>
            </a:r>
          </a:p>
          <a:p>
            <a:pPr algn="l">
              <a:lnSpc>
                <a:spcPct val="100000"/>
              </a:lnSpc>
            </a:pPr>
            <a:r>
              <a:rPr sz="800" b="0" i="0">
                <a:solidFill>
                  <a:srgbClr val="ECE7DC"/>
                </a:solidFill>
                <a:latin typeface="Consolas"/>
              </a:rPr>
              <a:t>    │   │       │               ├── altText_add.svg</a:t>
            </a:r>
          </a:p>
          <a:p>
            <a:pPr algn="l">
              <a:lnSpc>
                <a:spcPct val="100000"/>
              </a:lnSpc>
            </a:pPr>
            <a:r>
              <a:rPr sz="800" b="0" i="0">
                <a:solidFill>
                  <a:srgbClr val="ECE7DC"/>
                </a:solidFill>
                <a:latin typeface="Consolas"/>
              </a:rPr>
              <a:t>    │   │       │               ├── altText_disclaimer.s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altText_done.svg</a:t>
            </a:r>
          </a:p>
          <a:p>
            <a:pPr algn="l">
              <a:lnSpc>
                <a:spcPct val="100000"/>
              </a:lnSpc>
            </a:pPr>
            <a:r>
              <a:rPr sz="800" b="0" i="0">
                <a:solidFill>
                  <a:srgbClr val="ECE7DC"/>
                </a:solidFill>
                <a:latin typeface="Consolas"/>
              </a:rPr>
              <a:t>    │   │       │               ├── altText_spinner.svg</a:t>
            </a:r>
          </a:p>
          <a:p>
            <a:pPr algn="l">
              <a:lnSpc>
                <a:spcPct val="100000"/>
              </a:lnSpc>
            </a:pPr>
            <a:r>
              <a:rPr sz="800" b="0" i="0">
                <a:solidFill>
                  <a:srgbClr val="ECE7DC"/>
                </a:solidFill>
                <a:latin typeface="Consolas"/>
              </a:rPr>
              <a:t>    │   │       │               ├── altText_warning.svg</a:t>
            </a:r>
          </a:p>
          <a:p>
            <a:pPr algn="l">
              <a:lnSpc>
                <a:spcPct val="100000"/>
              </a:lnSpc>
            </a:pPr>
            <a:r>
              <a:rPr sz="800" b="0" i="0">
                <a:solidFill>
                  <a:srgbClr val="ECE7DC"/>
                </a:solidFill>
                <a:latin typeface="Consolas"/>
              </a:rPr>
              <a:t>    │   │       │               ├── annotation-check.svg</a:t>
            </a:r>
          </a:p>
          <a:p>
            <a:pPr algn="l">
              <a:lnSpc>
                <a:spcPct val="100000"/>
              </a:lnSpc>
            </a:pPr>
            <a:r>
              <a:rPr sz="800" b="0" i="0">
                <a:solidFill>
                  <a:srgbClr val="ECE7DC"/>
                </a:solidFill>
                <a:latin typeface="Consolas"/>
              </a:rPr>
              <a:t>    │   │       │               ├── annotation-comment.s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annotation-help.svg</a:t>
            </a:r>
          </a:p>
          <a:p>
            <a:pPr algn="l">
              <a:lnSpc>
                <a:spcPct val="100000"/>
              </a:lnSpc>
            </a:pPr>
            <a:r>
              <a:rPr sz="800" b="0" i="0">
                <a:solidFill>
                  <a:srgbClr val="ECE7DC"/>
                </a:solidFill>
                <a:latin typeface="Consolas"/>
              </a:rPr>
              <a:t>    │   │       │               ├── annotation-insert.sv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annotation-key.svg</a:t>
            </a:r>
          </a:p>
          <a:p>
            <a:pPr algn="l">
              <a:lnSpc>
                <a:spcPct val="100000"/>
              </a:lnSpc>
            </a:pPr>
            <a:r>
              <a:rPr sz="800" b="0" i="0">
                <a:solidFill>
                  <a:srgbClr val="ECE7DC"/>
                </a:solidFill>
                <a:latin typeface="Consolas"/>
              </a:rPr>
              <a:t>    │   │       │               ├── annotation-newparagr</a:t>
            </a:r>
          </a:p>
          <a:p>
            <a:pPr algn="l">
              <a:lnSpc>
                <a:spcPct val="100000"/>
              </a:lnSpc>
            </a:pPr>
            <a:r>
              <a:rPr sz="800" b="0" i="0">
                <a:solidFill>
                  <a:srgbClr val="ECE7DC"/>
                </a:solidFill>
                <a:latin typeface="Consolas"/>
              </a:rPr>
              <a:t>    │   │       │               │     » aph.svg</a:t>
            </a:r>
          </a:p>
          <a:p>
            <a:pPr algn="l">
              <a:lnSpc>
                <a:spcPct val="100000"/>
              </a:lnSpc>
            </a:pPr>
            <a:r>
              <a:rPr sz="800" b="0" i="0">
                <a:solidFill>
                  <a:srgbClr val="ECE7DC"/>
                </a:solidFill>
                <a:latin typeface="Consolas"/>
              </a:rPr>
              <a:t>    │   │       │               ├── annotation-noicon.sv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annotation-note.svg</a:t>
            </a:r>
          </a:p>
          <a:p>
            <a:pPr algn="l">
              <a:lnSpc>
                <a:spcPct val="100000"/>
              </a:lnSpc>
            </a:pPr>
            <a:r>
              <a:rPr sz="800" b="0" i="0">
                <a:solidFill>
                  <a:srgbClr val="ECE7DC"/>
                </a:solidFill>
                <a:latin typeface="Consolas"/>
              </a:rPr>
              <a:t>    │   │       │               ├── annotation-paperclip</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annotation-paragraph</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annotation-pushpin.s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checkmark.svg</a:t>
            </a:r>
          </a:p>
          <a:p>
            <a:pPr algn="l">
              <a:lnSpc>
                <a:spcPct val="100000"/>
              </a:lnSpc>
            </a:pPr>
            <a:r>
              <a:rPr sz="800" b="0" i="0">
                <a:solidFill>
                  <a:srgbClr val="ECE7DC"/>
                </a:solidFill>
                <a:latin typeface="Consolas"/>
              </a:rPr>
              <a:t>    │   │       │               ├── comment-actionsButto</a:t>
            </a:r>
          </a:p>
          <a:p>
            <a:pPr algn="l">
              <a:lnSpc>
                <a:spcPct val="100000"/>
              </a:lnSpc>
            </a:pPr>
            <a:r>
              <a:rPr sz="800" b="0" i="0">
                <a:solidFill>
                  <a:srgbClr val="ECE7DC"/>
                </a:solidFill>
                <a:latin typeface="Consolas"/>
              </a:rPr>
              <a:t>    │   │       │               │     » n.svg</a:t>
            </a:r>
          </a:p>
          <a:p>
            <a:pPr algn="l">
              <a:lnSpc>
                <a:spcPct val="100000"/>
              </a:lnSpc>
            </a:pPr>
            <a:r>
              <a:rPr sz="800" b="0" i="0">
                <a:solidFill>
                  <a:srgbClr val="ECE7DC"/>
                </a:solidFill>
                <a:latin typeface="Consolas"/>
              </a:rPr>
              <a:t>    │   │       │               ├── comment-closeButton.</a:t>
            </a:r>
          </a:p>
          <a:p>
            <a:pPr algn="l">
              <a:lnSpc>
                <a:spcPct val="100000"/>
              </a:lnSpc>
            </a:pPr>
            <a:r>
              <a:rPr sz="800" b="0" i="0">
                <a:solidFill>
                  <a:srgbClr val="ECE7DC"/>
                </a:solidFill>
                <a:latin typeface="Consolas"/>
              </a:rPr>
              <a:t>    │   │       │               │     » svg</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comment-editButton.s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comment-popup-editBu</a:t>
            </a:r>
          </a:p>
          <a:p>
            <a:pPr algn="l">
              <a:lnSpc>
                <a:spcPct val="100000"/>
              </a:lnSpc>
            </a:pPr>
            <a:r>
              <a:rPr sz="800" b="0" i="0">
                <a:solidFill>
                  <a:srgbClr val="ECE7DC"/>
                </a:solidFill>
                <a:latin typeface="Consolas"/>
              </a:rPr>
              <a:t>    │   │       │               │     » tton.svg</a:t>
            </a:r>
          </a:p>
          <a:p>
            <a:pPr algn="l">
              <a:lnSpc>
                <a:spcPct val="100000"/>
              </a:lnSpc>
            </a:pPr>
            <a:r>
              <a:rPr sz="800" b="0" i="0">
                <a:solidFill>
                  <a:srgbClr val="ECE7DC"/>
                </a:solidFill>
                <a:latin typeface="Consolas"/>
              </a:rPr>
              <a:t>    │   │       │               ├── cursor-editorFreeHig</a:t>
            </a:r>
          </a:p>
          <a:p>
            <a:pPr algn="l">
              <a:lnSpc>
                <a:spcPct val="100000"/>
              </a:lnSpc>
            </a:pPr>
            <a:r>
              <a:rPr sz="800" b="0" i="0">
                <a:solidFill>
                  <a:srgbClr val="ECE7DC"/>
                </a:solidFill>
                <a:latin typeface="Consolas"/>
              </a:rPr>
              <a:t>    │   │       │               │     » hlight.svg</a:t>
            </a:r>
          </a:p>
          <a:p>
            <a:pPr algn="l">
              <a:lnSpc>
                <a:spcPct val="100000"/>
              </a:lnSpc>
            </a:pPr>
            <a:r>
              <a:rPr sz="800" b="0" i="0">
                <a:solidFill>
                  <a:srgbClr val="ECE7DC"/>
                </a:solidFill>
                <a:latin typeface="Consolas"/>
              </a:rPr>
              <a:t>    │   │       │               ├── cursor-editorFreeTex</a:t>
            </a:r>
          </a:p>
          <a:p>
            <a:pPr algn="l">
              <a:lnSpc>
                <a:spcPct val="100000"/>
              </a:lnSpc>
            </a:pPr>
            <a:r>
              <a:rPr sz="800" b="0" i="0">
                <a:solidFill>
                  <a:srgbClr val="ECE7DC"/>
                </a:solidFill>
                <a:latin typeface="Consolas"/>
              </a:rPr>
              <a:t>    │   │       │               │     » t.svg</a:t>
            </a:r>
          </a:p>
          <a:p>
            <a:pPr algn="l">
              <a:lnSpc>
                <a:spcPct val="100000"/>
              </a:lnSpc>
            </a:pPr>
            <a:r>
              <a:rPr sz="800" b="0" i="0">
                <a:solidFill>
                  <a:srgbClr val="ECE7DC"/>
                </a:solidFill>
                <a:latin typeface="Consolas"/>
              </a:rPr>
              <a:t>    │   │       │               ├── cursor-editorInk.svg</a:t>
            </a:r>
          </a:p>
          <a:p>
            <a:pPr algn="l">
              <a:lnSpc>
                <a:spcPct val="100000"/>
              </a:lnSpc>
            </a:pPr>
            <a:r>
              <a:rPr sz="800" b="0" i="0">
                <a:solidFill>
                  <a:srgbClr val="ECE7DC"/>
                </a:solidFill>
                <a:latin typeface="Consolas"/>
              </a:rPr>
              <a:t>    │   │       │               ├── cursor-editorTextHig</a:t>
            </a:r>
          </a:p>
          <a:p>
            <a:pPr algn="l">
              <a:lnSpc>
                <a:spcPct val="100000"/>
              </a:lnSpc>
            </a:pPr>
            <a:r>
              <a:rPr sz="800" b="0" i="0">
                <a:solidFill>
                  <a:srgbClr val="ECE7DC"/>
                </a:solidFill>
                <a:latin typeface="Consolas"/>
              </a:rPr>
              <a:t>    │   │       │               │     » hlight.svg</a:t>
            </a:r>
          </a:p>
          <a:p>
            <a:pPr algn="l">
              <a:lnSpc>
                <a:spcPct val="100000"/>
              </a:lnSpc>
            </a:pPr>
            <a:r>
              <a:rPr sz="800" b="0" i="0">
                <a:solidFill>
                  <a:srgbClr val="ECE7DC"/>
                </a:solidFill>
                <a:latin typeface="Consolas"/>
              </a:rPr>
              <a:t>    │   │       │               ├── editor-toolbar-delet</a:t>
            </a:r>
          </a:p>
          <a:p>
            <a:pPr algn="l">
              <a:lnSpc>
                <a:spcPct val="100000"/>
              </a:lnSpc>
            </a:pPr>
            <a:r>
              <a:rPr sz="800" b="0" i="0">
                <a:solidFill>
                  <a:srgbClr val="ECE7DC"/>
                </a:solidFill>
                <a:latin typeface="Consolas"/>
              </a:rPr>
              <a:t>    │   │       │               │     » e.svg</a:t>
            </a:r>
          </a:p>
          <a:p>
            <a:pPr algn="l">
              <a:lnSpc>
                <a:spcPct val="100000"/>
              </a:lnSpc>
            </a:pPr>
            <a:r>
              <a:rPr sz="800" b="0" i="0">
                <a:solidFill>
                  <a:srgbClr val="ECE7DC"/>
                </a:solidFill>
                <a:latin typeface="Consolas"/>
              </a:rPr>
              <a:t>    │   │       │               ├── editor-toolbar-edit.</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findbarButton-next.s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findbarButton-previo</a:t>
            </a:r>
          </a:p>
          <a:p>
            <a:pPr algn="l">
              <a:lnSpc>
                <a:spcPct val="100000"/>
              </a:lnSpc>
            </a:pPr>
            <a:r>
              <a:rPr sz="800" b="0" i="0">
                <a:solidFill>
                  <a:srgbClr val="ECE7DC"/>
                </a:solidFill>
                <a:latin typeface="Consolas"/>
              </a:rPr>
              <a:t>    │   │       │               │     » us.svg</a:t>
            </a:r>
          </a:p>
          <a:p>
            <a:pPr algn="l">
              <a:lnSpc>
                <a:spcPct val="100000"/>
              </a:lnSpc>
            </a:pPr>
            <a:r>
              <a:rPr sz="800" b="0" i="0">
                <a:solidFill>
                  <a:srgbClr val="ECE7DC"/>
                </a:solidFill>
                <a:latin typeface="Consolas"/>
              </a:rPr>
              <a:t>    │   │       │               ├── gv-toolbarButton-dow</a:t>
            </a:r>
          </a:p>
          <a:p>
            <a:pPr algn="l">
              <a:lnSpc>
                <a:spcPct val="100000"/>
              </a:lnSpc>
            </a:pPr>
            <a:r>
              <a:rPr sz="800" b="0" i="0">
                <a:solidFill>
                  <a:srgbClr val="ECE7DC"/>
                </a:solidFill>
                <a:latin typeface="Consolas"/>
              </a:rPr>
              <a:t>    │   │       │               │     » nload.svg</a:t>
            </a:r>
          </a:p>
          <a:p>
            <a:pPr algn="l">
              <a:lnSpc>
                <a:spcPct val="100000"/>
              </a:lnSpc>
            </a:pPr>
            <a:r>
              <a:rPr sz="800" b="0" i="0">
                <a:solidFill>
                  <a:srgbClr val="ECE7DC"/>
                </a:solidFill>
                <a:latin typeface="Consolas"/>
              </a:rPr>
              <a:t>    │   │       │               ├── loading-icon.gif</a:t>
            </a:r>
          </a:p>
          <a:p>
            <a:pPr algn="l">
              <a:lnSpc>
                <a:spcPct val="100000"/>
              </a:lnSpc>
            </a:pPr>
            <a:r>
              <a:rPr sz="800" b="0" i="0">
                <a:solidFill>
                  <a:srgbClr val="ECE7DC"/>
                </a:solidFill>
                <a:latin typeface="Consolas"/>
              </a:rPr>
              <a:t>    │   │       │               ├── loading.svg</a:t>
            </a:r>
          </a:p>
          <a:p>
            <a:pPr algn="l">
              <a:lnSpc>
                <a:spcPct val="100000"/>
              </a:lnSpc>
            </a:pPr>
            <a:r>
              <a:rPr sz="800" b="0" i="0">
                <a:solidFill>
                  <a:srgbClr val="ECE7DC"/>
                </a:solidFill>
                <a:latin typeface="Consolas"/>
              </a:rPr>
              <a:t>    │   │       │               ├── messageBar_closingBu</a:t>
            </a:r>
          </a:p>
          <a:p>
            <a:pPr algn="l">
              <a:lnSpc>
                <a:spcPct val="100000"/>
              </a:lnSpc>
            </a:pPr>
            <a:r>
              <a:rPr sz="800" b="0" i="0">
                <a:solidFill>
                  <a:srgbClr val="ECE7DC"/>
                </a:solidFill>
                <a:latin typeface="Consolas"/>
              </a:rPr>
              <a:t>    │   │       │               │     » tton.svg</a:t>
            </a:r>
          </a:p>
          <a:p>
            <a:pPr algn="l">
              <a:lnSpc>
                <a:spcPct val="100000"/>
              </a:lnSpc>
            </a:pPr>
            <a:r>
              <a:rPr sz="800" b="0" i="0">
                <a:solidFill>
                  <a:srgbClr val="ECE7DC"/>
                </a:solidFill>
                <a:latin typeface="Consolas"/>
              </a:rPr>
              <a:t>    │   │       │               ├── messageBar_info.svg</a:t>
            </a:r>
          </a:p>
          <a:p>
            <a:pPr algn="l">
              <a:lnSpc>
                <a:spcPct val="100000"/>
              </a:lnSpc>
            </a:pPr>
            <a:r>
              <a:rPr sz="800" b="0" i="0">
                <a:solidFill>
                  <a:srgbClr val="ECE7DC"/>
                </a:solidFill>
                <a:latin typeface="Consolas"/>
              </a:rPr>
              <a:t>    │   │       │               ├── messageBar_warning.s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pages_closeButton.sv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pages_selected.svg</a:t>
            </a:r>
          </a:p>
          <a:p>
            <a:pPr algn="l">
              <a:lnSpc>
                <a:spcPct val="100000"/>
              </a:lnSpc>
            </a:pPr>
            <a:r>
              <a:rPr sz="800" b="0" i="0">
                <a:solidFill>
                  <a:srgbClr val="ECE7DC"/>
                </a:solidFill>
                <a:latin typeface="Consolas"/>
              </a:rPr>
              <a:t>    │   │       │               ├── pages_viewArrow.svg</a:t>
            </a:r>
          </a:p>
          <a:p>
            <a:pPr algn="l">
              <a:lnSpc>
                <a:spcPct val="100000"/>
              </a:lnSpc>
            </a:pPr>
            <a:r>
              <a:rPr sz="800" b="0" i="0">
                <a:solidFill>
                  <a:srgbClr val="ECE7DC"/>
                </a:solidFill>
                <a:latin typeface="Consolas"/>
              </a:rPr>
              <a:t>    │   │       │               ├── pages_viewButton.svg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on-documentPrope</a:t>
            </a:r>
          </a:p>
          <a:p>
            <a:pPr algn="l">
              <a:lnSpc>
                <a:spcPct val="100000"/>
              </a:lnSpc>
            </a:pPr>
            <a:r>
              <a:rPr sz="800" b="0" i="0">
                <a:solidFill>
                  <a:srgbClr val="ECE7DC"/>
                </a:solidFill>
                <a:latin typeface="Consolas"/>
              </a:rPr>
              <a:t>    │   │       │               │     » rties.svg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on-firstPage.svg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on-handTool.svg</a:t>
            </a:r>
          </a:p>
          <a:p>
            <a:pPr algn="l">
              <a:lnSpc>
                <a:spcPct val="100000"/>
              </a:lnSpc>
            </a:pPr>
            <a:r>
              <a:rPr sz="800" b="0" i="0">
                <a:solidFill>
                  <a:srgbClr val="ECE7DC"/>
                </a:solidFill>
                <a:latin typeface="Consolas"/>
              </a:rPr>
              <a:t>    │   │       │               ├── secondaryToolbarButt</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189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16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on-lastPage.svg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on-rotateCcw.svg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on-rotateCw.svg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on-scrollHorizon</a:t>
            </a:r>
          </a:p>
          <a:p>
            <a:pPr algn="l">
              <a:lnSpc>
                <a:spcPct val="100000"/>
              </a:lnSpc>
            </a:pPr>
            <a:r>
              <a:rPr sz="800" b="0" i="0">
                <a:solidFill>
                  <a:srgbClr val="ECE7DC"/>
                </a:solidFill>
                <a:latin typeface="Consolas"/>
              </a:rPr>
              <a:t>    │   │       │               │     » tal.svg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on-scrollPage.sv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on-scrollVertica</a:t>
            </a:r>
          </a:p>
          <a:p>
            <a:pPr algn="l">
              <a:lnSpc>
                <a:spcPct val="100000"/>
              </a:lnSpc>
            </a:pPr>
            <a:r>
              <a:rPr sz="800" b="0" i="0">
                <a:solidFill>
                  <a:srgbClr val="ECE7DC"/>
                </a:solidFill>
                <a:latin typeface="Consolas"/>
              </a:rPr>
              <a:t>    │   │       │               │     » l.svg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on-scrollWrapped</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on-selectTool.sv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on-spreadEven.sv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on-spreadNone.sv</a:t>
            </a:r>
          </a:p>
          <a:p>
            <a:pPr algn="l">
              <a:lnSpc>
                <a:spcPct val="100000"/>
              </a:lnSpc>
            </a:pPr>
            <a:r>
              <a:rPr sz="800" b="0" i="0">
                <a:solidFill>
                  <a:srgbClr val="ECE7DC"/>
                </a:solidFill>
                <a:latin typeface="Consolas"/>
              </a:rPr>
              <a:t>    │   │       │               │     » g</a:t>
            </a:r>
          </a:p>
          <a:p>
            <a:pPr algn="l">
              <a:lnSpc>
                <a:spcPct val="100000"/>
              </a:lnSpc>
            </a:pPr>
            <a:r>
              <a:rPr sz="800" b="0" i="0">
                <a:solidFill>
                  <a:srgbClr val="ECE7DC"/>
                </a:solidFill>
                <a:latin typeface="Consolas"/>
              </a:rPr>
              <a:t>    │   │       │               ├── secondaryToolbarButt</a:t>
            </a:r>
          </a:p>
          <a:p>
            <a:pPr algn="l">
              <a:lnSpc>
                <a:spcPct val="100000"/>
              </a:lnSpc>
            </a:pPr>
            <a:r>
              <a:rPr sz="800" b="0" i="0">
                <a:solidFill>
                  <a:srgbClr val="ECE7DC"/>
                </a:solidFill>
                <a:latin typeface="Consolas"/>
              </a:rPr>
              <a:t>    │   │       │               │     » on-spreadOdd.svg</a:t>
            </a:r>
          </a:p>
          <a:p>
            <a:pPr algn="l">
              <a:lnSpc>
                <a:spcPct val="100000"/>
              </a:lnSpc>
            </a:pPr>
            <a:r>
              <a:rPr sz="800" b="0" i="0">
                <a:solidFill>
                  <a:srgbClr val="ECE7DC"/>
                </a:solidFill>
                <a:latin typeface="Consolas"/>
              </a:rPr>
              <a:t>    │   │       │               ├── signature-properties</a:t>
            </a:r>
          </a:p>
          <a:p>
            <a:pPr algn="l">
              <a:lnSpc>
                <a:spcPct val="100000"/>
              </a:lnSpc>
            </a:pPr>
            <a:r>
              <a:rPr sz="800" b="0" i="0">
                <a:solidFill>
                  <a:srgbClr val="ECE7DC"/>
                </a:solidFill>
                <a:latin typeface="Consolas"/>
              </a:rPr>
              <a:t>    │   │       │               │     » -row-check.svg</a:t>
            </a:r>
          </a:p>
          <a:p>
            <a:pPr algn="l">
              <a:lnSpc>
                <a:spcPct val="100000"/>
              </a:lnSpc>
            </a:pPr>
            <a:r>
              <a:rPr sz="800" b="0" i="0">
                <a:solidFill>
                  <a:srgbClr val="ECE7DC"/>
                </a:solidFill>
                <a:latin typeface="Consolas"/>
              </a:rPr>
              <a:t>    │   │       │               ├── toolbarButton-bookma</a:t>
            </a:r>
          </a:p>
          <a:p>
            <a:pPr algn="l">
              <a:lnSpc>
                <a:spcPct val="100000"/>
              </a:lnSpc>
            </a:pPr>
            <a:r>
              <a:rPr sz="800" b="0" i="0">
                <a:solidFill>
                  <a:srgbClr val="ECE7DC"/>
                </a:solidFill>
                <a:latin typeface="Consolas"/>
              </a:rPr>
              <a:t>    │   │       │               │     » rk.svg</a:t>
            </a:r>
          </a:p>
          <a:p>
            <a:pPr algn="l">
              <a:lnSpc>
                <a:spcPct val="100000"/>
              </a:lnSpc>
            </a:pPr>
            <a:r>
              <a:rPr sz="800" b="0" i="0">
                <a:solidFill>
                  <a:srgbClr val="ECE7DC"/>
                </a:solidFill>
                <a:latin typeface="Consolas"/>
              </a:rPr>
              <a:t>    │   │       │               ├── toolbarButton-curren</a:t>
            </a:r>
          </a:p>
          <a:p>
            <a:pPr algn="l">
              <a:lnSpc>
                <a:spcPct val="100000"/>
              </a:lnSpc>
            </a:pPr>
            <a:r>
              <a:rPr sz="800" b="0" i="0">
                <a:solidFill>
                  <a:srgbClr val="ECE7DC"/>
                </a:solidFill>
                <a:latin typeface="Consolas"/>
              </a:rPr>
              <a:t>    │   │       │               │     » tOutlineItem.svg</a:t>
            </a:r>
          </a:p>
          <a:p>
            <a:pPr algn="l">
              <a:lnSpc>
                <a:spcPct val="100000"/>
              </a:lnSpc>
            </a:pPr>
            <a:r>
              <a:rPr sz="800" b="0" i="0">
                <a:solidFill>
                  <a:srgbClr val="ECE7DC"/>
                </a:solidFill>
                <a:latin typeface="Consolas"/>
              </a:rPr>
              <a:t>    │   │       │               ├── toolbarButton-downlo</a:t>
            </a:r>
          </a:p>
          <a:p>
            <a:pPr algn="l">
              <a:lnSpc>
                <a:spcPct val="100000"/>
              </a:lnSpc>
            </a:pPr>
            <a:r>
              <a:rPr sz="800" b="0" i="0">
                <a:solidFill>
                  <a:srgbClr val="ECE7DC"/>
                </a:solidFill>
                <a:latin typeface="Consolas"/>
              </a:rPr>
              <a:t>    │   │       │               │     » ad.svg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FreeText.svg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Highlight.svg</a:t>
            </a:r>
          </a:p>
          <a:p>
            <a:pPr algn="l">
              <a:lnSpc>
                <a:spcPct val="100000"/>
              </a:lnSpc>
            </a:pPr>
            <a:r>
              <a:rPr sz="800" b="0" i="0">
                <a:solidFill>
                  <a:srgbClr val="ECE7DC"/>
                </a:solidFill>
                <a:latin typeface="Consolas"/>
              </a:rPr>
              <a:t>    │   │       │               ├── toolbarButton-editor</a:t>
            </a:r>
          </a:p>
        </p:txBody>
      </p:sp>
      <p:sp>
        <p:nvSpPr>
          <p:cNvPr id="6" name="TextBox 5"/>
          <p:cNvSpPr txBox="1"/>
          <p:nvPr/>
        </p:nvSpPr>
        <p:spPr>
          <a:xfrm>
            <a:off x="433821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Ink.svg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Signature.svg</a:t>
            </a:r>
          </a:p>
          <a:p>
            <a:pPr algn="l">
              <a:lnSpc>
                <a:spcPct val="100000"/>
              </a:lnSpc>
            </a:pPr>
            <a:r>
              <a:rPr sz="800" b="0" i="0">
                <a:solidFill>
                  <a:srgbClr val="ECE7DC"/>
                </a:solidFill>
                <a:latin typeface="Consolas"/>
              </a:rPr>
              <a:t>    │   │       │               ├── toolbarButton-editor</a:t>
            </a:r>
          </a:p>
          <a:p>
            <a:pPr algn="l">
              <a:lnSpc>
                <a:spcPct val="100000"/>
              </a:lnSpc>
            </a:pPr>
            <a:r>
              <a:rPr sz="800" b="0" i="0">
                <a:solidFill>
                  <a:srgbClr val="ECE7DC"/>
                </a:solidFill>
                <a:latin typeface="Consolas"/>
              </a:rPr>
              <a:t>    │   │       │               │     » Stamp.svg</a:t>
            </a:r>
          </a:p>
          <a:p>
            <a:pPr algn="l">
              <a:lnSpc>
                <a:spcPct val="100000"/>
              </a:lnSpc>
            </a:pPr>
            <a:r>
              <a:rPr sz="800" b="0" i="0">
                <a:solidFill>
                  <a:srgbClr val="ECE7DC"/>
                </a:solidFill>
                <a:latin typeface="Consolas"/>
              </a:rPr>
              <a:t>    │   │       │               ├── toolbarButton-menuAr</a:t>
            </a:r>
          </a:p>
          <a:p>
            <a:pPr algn="l">
              <a:lnSpc>
                <a:spcPct val="100000"/>
              </a:lnSpc>
            </a:pPr>
            <a:r>
              <a:rPr sz="800" b="0" i="0">
                <a:solidFill>
                  <a:srgbClr val="ECE7DC"/>
                </a:solidFill>
                <a:latin typeface="Consolas"/>
              </a:rPr>
              <a:t>    │   │       │               │     » row.svg</a:t>
            </a:r>
          </a:p>
          <a:p>
            <a:pPr algn="l">
              <a:lnSpc>
                <a:spcPct val="100000"/>
              </a:lnSpc>
            </a:pPr>
            <a:r>
              <a:rPr sz="800" b="0" i="0">
                <a:solidFill>
                  <a:srgbClr val="ECE7DC"/>
                </a:solidFill>
                <a:latin typeface="Consolas"/>
              </a:rPr>
              <a:t>    │   │       │               ├── toolbarButton-menuAr</a:t>
            </a:r>
          </a:p>
          <a:p>
            <a:pPr algn="l">
              <a:lnSpc>
                <a:spcPct val="100000"/>
              </a:lnSpc>
            </a:pPr>
            <a:r>
              <a:rPr sz="800" b="0" i="0">
                <a:solidFill>
                  <a:srgbClr val="ECE7DC"/>
                </a:solidFill>
                <a:latin typeface="Consolas"/>
              </a:rPr>
              <a:t>    │   │       │               │     » rowNova.svg</a:t>
            </a:r>
          </a:p>
          <a:p>
            <a:pPr algn="l">
              <a:lnSpc>
                <a:spcPct val="100000"/>
              </a:lnSpc>
            </a:pPr>
            <a:r>
              <a:rPr sz="800" b="0" i="0">
                <a:solidFill>
                  <a:srgbClr val="ECE7DC"/>
                </a:solidFill>
                <a:latin typeface="Consolas"/>
              </a:rPr>
              <a:t>    │   │       │               ├── toolbarButton-openFi</a:t>
            </a:r>
          </a:p>
          <a:p>
            <a:pPr algn="l">
              <a:lnSpc>
                <a:spcPct val="100000"/>
              </a:lnSpc>
            </a:pPr>
            <a:r>
              <a:rPr sz="800" b="0" i="0">
                <a:solidFill>
                  <a:srgbClr val="ECE7DC"/>
                </a:solidFill>
                <a:latin typeface="Consolas"/>
              </a:rPr>
              <a:t>    │   │       │               │     » le.svg</a:t>
            </a:r>
          </a:p>
          <a:p>
            <a:pPr algn="l">
              <a:lnSpc>
                <a:spcPct val="100000"/>
              </a:lnSpc>
            </a:pPr>
            <a:r>
              <a:rPr sz="800" b="0" i="0">
                <a:solidFill>
                  <a:srgbClr val="ECE7DC"/>
                </a:solidFill>
                <a:latin typeface="Consolas"/>
              </a:rPr>
              <a:t>    │   │       │               ├── toolbarButton-pageDo</a:t>
            </a:r>
          </a:p>
          <a:p>
            <a:pPr algn="l">
              <a:lnSpc>
                <a:spcPct val="100000"/>
              </a:lnSpc>
            </a:pPr>
            <a:r>
              <a:rPr sz="800" b="0" i="0">
                <a:solidFill>
                  <a:srgbClr val="ECE7DC"/>
                </a:solidFill>
                <a:latin typeface="Consolas"/>
              </a:rPr>
              <a:t>    │   │       │               │     » wn.svg</a:t>
            </a:r>
          </a:p>
          <a:p>
            <a:pPr algn="l">
              <a:lnSpc>
                <a:spcPct val="100000"/>
              </a:lnSpc>
            </a:pPr>
            <a:r>
              <a:rPr sz="800" b="0" i="0">
                <a:solidFill>
                  <a:srgbClr val="ECE7DC"/>
                </a:solidFill>
                <a:latin typeface="Consolas"/>
              </a:rPr>
              <a:t>    │   │       │               ├── toolbarButton-pageUp</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toolbarButton-presen</a:t>
            </a:r>
          </a:p>
          <a:p>
            <a:pPr algn="l">
              <a:lnSpc>
                <a:spcPct val="100000"/>
              </a:lnSpc>
            </a:pPr>
            <a:r>
              <a:rPr sz="800" b="0" i="0">
                <a:solidFill>
                  <a:srgbClr val="ECE7DC"/>
                </a:solidFill>
                <a:latin typeface="Consolas"/>
              </a:rPr>
              <a:t>    │   │       │               │     » tationMode.svg</a:t>
            </a:r>
          </a:p>
          <a:p>
            <a:pPr algn="l">
              <a:lnSpc>
                <a:spcPct val="100000"/>
              </a:lnSpc>
            </a:pPr>
            <a:r>
              <a:rPr sz="800" b="0" i="0">
                <a:solidFill>
                  <a:srgbClr val="ECE7DC"/>
                </a:solidFill>
                <a:latin typeface="Consolas"/>
              </a:rPr>
              <a:t>    │   │       │               ├── toolbarButton-print.</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toolbarButton-search</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toolbarButton-second</a:t>
            </a:r>
          </a:p>
          <a:p>
            <a:pPr algn="l">
              <a:lnSpc>
                <a:spcPct val="100000"/>
              </a:lnSpc>
            </a:pPr>
            <a:r>
              <a:rPr sz="800" b="0" i="0">
                <a:solidFill>
                  <a:srgbClr val="ECE7DC"/>
                </a:solidFill>
                <a:latin typeface="Consolas"/>
              </a:rPr>
              <a:t>    │   │       │               │     » aryToolbarToggle</a:t>
            </a:r>
          </a:p>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toolbarButton-signat</a:t>
            </a:r>
          </a:p>
          <a:p>
            <a:pPr algn="l">
              <a:lnSpc>
                <a:spcPct val="100000"/>
              </a:lnSpc>
            </a:pPr>
            <a:r>
              <a:rPr sz="800" b="0" i="0">
                <a:solidFill>
                  <a:srgbClr val="ECE7DC"/>
                </a:solidFill>
                <a:latin typeface="Consolas"/>
              </a:rPr>
              <a:t>    │   │       │               │     » urePropertiesErr</a:t>
            </a:r>
          </a:p>
          <a:p>
            <a:pPr algn="l">
              <a:lnSpc>
                <a:spcPct val="100000"/>
              </a:lnSpc>
            </a:pPr>
            <a:r>
              <a:rPr sz="800" b="0" i="0">
                <a:solidFill>
                  <a:srgbClr val="ECE7DC"/>
                </a:solidFill>
                <a:latin typeface="Consolas"/>
              </a:rPr>
              <a:t>    │   │       │               │     » or.svg</a:t>
            </a:r>
          </a:p>
          <a:p>
            <a:pPr algn="l">
              <a:lnSpc>
                <a:spcPct val="100000"/>
              </a:lnSpc>
            </a:pPr>
            <a:r>
              <a:rPr sz="800" b="0" i="0">
                <a:solidFill>
                  <a:srgbClr val="ECE7DC"/>
                </a:solidFill>
                <a:latin typeface="Consolas"/>
              </a:rPr>
              <a:t>    │   │       │               ├── toolbarButton-signat</a:t>
            </a:r>
          </a:p>
          <a:p>
            <a:pPr algn="l">
              <a:lnSpc>
                <a:spcPct val="100000"/>
              </a:lnSpc>
            </a:pPr>
            <a:r>
              <a:rPr sz="800" b="0" i="0">
                <a:solidFill>
                  <a:srgbClr val="ECE7DC"/>
                </a:solidFill>
                <a:latin typeface="Consolas"/>
              </a:rPr>
              <a:t>    │   │       │               │     » urePropertiesVer</a:t>
            </a:r>
          </a:p>
          <a:p>
            <a:pPr algn="l">
              <a:lnSpc>
                <a:spcPct val="100000"/>
              </a:lnSpc>
            </a:pPr>
            <a:r>
              <a:rPr sz="800" b="0" i="0">
                <a:solidFill>
                  <a:srgbClr val="ECE7DC"/>
                </a:solidFill>
                <a:latin typeface="Consolas"/>
              </a:rPr>
              <a:t>    │   │       │               │     » ified.svg</a:t>
            </a:r>
          </a:p>
          <a:p>
            <a:pPr algn="l">
              <a:lnSpc>
                <a:spcPct val="100000"/>
              </a:lnSpc>
            </a:pPr>
            <a:r>
              <a:rPr sz="800" b="0" i="0">
                <a:solidFill>
                  <a:srgbClr val="ECE7DC"/>
                </a:solidFill>
                <a:latin typeface="Consolas"/>
              </a:rPr>
              <a:t>    │   │       │               ├── toolbarButton-viewAt</a:t>
            </a:r>
          </a:p>
          <a:p>
            <a:pPr algn="l">
              <a:lnSpc>
                <a:spcPct val="100000"/>
              </a:lnSpc>
            </a:pPr>
            <a:r>
              <a:rPr sz="800" b="0" i="0">
                <a:solidFill>
                  <a:srgbClr val="ECE7DC"/>
                </a:solidFill>
                <a:latin typeface="Consolas"/>
              </a:rPr>
              <a:t>    │   │       │               │     » tachments.svg</a:t>
            </a:r>
          </a:p>
          <a:p>
            <a:pPr algn="l">
              <a:lnSpc>
                <a:spcPct val="100000"/>
              </a:lnSpc>
            </a:pPr>
            <a:r>
              <a:rPr sz="800" b="0" i="0">
                <a:solidFill>
                  <a:srgbClr val="ECE7DC"/>
                </a:solidFill>
                <a:latin typeface="Consolas"/>
              </a:rPr>
              <a:t>    │   │       │               ├── toolbarButton-viewLa</a:t>
            </a:r>
          </a:p>
          <a:p>
            <a:pPr algn="l">
              <a:lnSpc>
                <a:spcPct val="100000"/>
              </a:lnSpc>
            </a:pPr>
            <a:r>
              <a:rPr sz="800" b="0" i="0">
                <a:solidFill>
                  <a:srgbClr val="ECE7DC"/>
                </a:solidFill>
                <a:latin typeface="Consolas"/>
              </a:rPr>
              <a:t>    │   │       │               │     » yers.svg</a:t>
            </a:r>
          </a:p>
          <a:p>
            <a:pPr algn="l">
              <a:lnSpc>
                <a:spcPct val="100000"/>
              </a:lnSpc>
            </a:pPr>
            <a:r>
              <a:rPr sz="800" b="0" i="0">
                <a:solidFill>
                  <a:srgbClr val="ECE7DC"/>
                </a:solidFill>
                <a:latin typeface="Consolas"/>
              </a:rPr>
              <a:t>    │   │       │               ├── toolbarButton-viewOu</a:t>
            </a:r>
          </a:p>
          <a:p>
            <a:pPr algn="l">
              <a:lnSpc>
                <a:spcPct val="100000"/>
              </a:lnSpc>
            </a:pPr>
            <a:r>
              <a:rPr sz="800" b="0" i="0">
                <a:solidFill>
                  <a:srgbClr val="ECE7DC"/>
                </a:solidFill>
                <a:latin typeface="Consolas"/>
              </a:rPr>
              <a:t>    │   │       │               │     » tline.svg</a:t>
            </a:r>
          </a:p>
          <a:p>
            <a:pPr algn="l">
              <a:lnSpc>
                <a:spcPct val="100000"/>
              </a:lnSpc>
            </a:pPr>
            <a:r>
              <a:rPr sz="800" b="0" i="0">
                <a:solidFill>
                  <a:srgbClr val="ECE7DC"/>
                </a:solidFill>
                <a:latin typeface="Consolas"/>
              </a:rPr>
              <a:t>    │   │       │               ├── toolbarButton-viewsM</a:t>
            </a:r>
          </a:p>
          <a:p>
            <a:pPr algn="l">
              <a:lnSpc>
                <a:spcPct val="100000"/>
              </a:lnSpc>
            </a:pPr>
            <a:r>
              <a:rPr sz="800" b="0" i="0">
                <a:solidFill>
                  <a:srgbClr val="ECE7DC"/>
                </a:solidFill>
                <a:latin typeface="Consolas"/>
              </a:rPr>
              <a:t>    │   │       │               │     » anagerToggle.svg</a:t>
            </a:r>
          </a:p>
          <a:p>
            <a:pPr algn="l">
              <a:lnSpc>
                <a:spcPct val="100000"/>
              </a:lnSpc>
            </a:pPr>
            <a:r>
              <a:rPr sz="800" b="0" i="0">
                <a:solidFill>
                  <a:srgbClr val="ECE7DC"/>
                </a:solidFill>
                <a:latin typeface="Consolas"/>
              </a:rPr>
              <a:t>    │   │       │               ├── toolbarButton-viewTh</a:t>
            </a:r>
          </a:p>
          <a:p>
            <a:pPr algn="l">
              <a:lnSpc>
                <a:spcPct val="100000"/>
              </a:lnSpc>
            </a:pPr>
            <a:r>
              <a:rPr sz="800" b="0" i="0">
                <a:solidFill>
                  <a:srgbClr val="ECE7DC"/>
                </a:solidFill>
                <a:latin typeface="Consolas"/>
              </a:rPr>
              <a:t>    │   │       │               │     » umbnail.svg</a:t>
            </a:r>
          </a:p>
          <a:p>
            <a:pPr algn="l">
              <a:lnSpc>
                <a:spcPct val="100000"/>
              </a:lnSpc>
            </a:pPr>
            <a:r>
              <a:rPr sz="800" b="0" i="0">
                <a:solidFill>
                  <a:srgbClr val="ECE7DC"/>
                </a:solidFill>
                <a:latin typeface="Consolas"/>
              </a:rPr>
              <a:t>    │   │       │               ├── toolbarButton-zoomIn</a:t>
            </a:r>
          </a:p>
        </p:txBody>
      </p:sp>
      <p:sp>
        <p:nvSpPr>
          <p:cNvPr id="7" name="TextBox 6"/>
          <p:cNvSpPr txBox="1"/>
          <p:nvPr/>
        </p:nvSpPr>
        <p:spPr>
          <a:xfrm>
            <a:off x="810950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               │     » .svg</a:t>
            </a:r>
          </a:p>
          <a:p>
            <a:pPr algn="l">
              <a:lnSpc>
                <a:spcPct val="100000"/>
              </a:lnSpc>
            </a:pPr>
            <a:r>
              <a:rPr sz="800" b="0" i="0">
                <a:solidFill>
                  <a:srgbClr val="ECE7DC"/>
                </a:solidFill>
                <a:latin typeface="Consolas"/>
              </a:rPr>
              <a:t>    │   │       │               ├── toolbarButton-zoomOu</a:t>
            </a:r>
          </a:p>
          <a:p>
            <a:pPr algn="l">
              <a:lnSpc>
                <a:spcPct val="100000"/>
              </a:lnSpc>
            </a:pPr>
            <a:r>
              <a:rPr sz="800" b="0" i="0">
                <a:solidFill>
                  <a:srgbClr val="ECE7DC"/>
                </a:solidFill>
                <a:latin typeface="Consolas"/>
              </a:rPr>
              <a:t>    │   │       │               │     » t.svg</a:t>
            </a:r>
          </a:p>
          <a:p>
            <a:pPr algn="l">
              <a:lnSpc>
                <a:spcPct val="100000"/>
              </a:lnSpc>
            </a:pPr>
            <a:r>
              <a:rPr sz="800" b="0" i="0">
                <a:solidFill>
                  <a:srgbClr val="ECE7DC"/>
                </a:solidFill>
                <a:latin typeface="Consolas"/>
              </a:rPr>
              <a:t>    │   │       │               ├── treeitem-collapsed.s</a:t>
            </a:r>
          </a:p>
          <a:p>
            <a:pPr algn="l">
              <a:lnSpc>
                <a:spcPct val="100000"/>
              </a:lnSpc>
            </a:pPr>
            <a:r>
              <a:rPr sz="800" b="0" i="0">
                <a:solidFill>
                  <a:srgbClr val="ECE7DC"/>
                </a:solidFill>
                <a:latin typeface="Consolas"/>
              </a:rPr>
              <a:t>    │   │       │               │     » vg</a:t>
            </a:r>
          </a:p>
          <a:p>
            <a:pPr algn="l">
              <a:lnSpc>
                <a:spcPct val="100000"/>
              </a:lnSpc>
            </a:pPr>
            <a:r>
              <a:rPr sz="800" b="0" i="0">
                <a:solidFill>
                  <a:srgbClr val="ECE7DC"/>
                </a:solidFill>
                <a:latin typeface="Consolas"/>
              </a:rPr>
              <a:t>    │   │       │               └── treeitem-expanded.sv</a:t>
            </a:r>
          </a:p>
          <a:p>
            <a:pPr algn="l">
              <a:lnSpc>
                <a:spcPct val="100000"/>
              </a:lnSpc>
            </a:pPr>
            <a:r>
              <a:rPr sz="800" b="0" i="0">
                <a:solidFill>
                  <a:srgbClr val="ECE7DC"/>
                </a:solidFill>
                <a:latin typeface="Consolas"/>
              </a:rPr>
              <a:t>    │   │       │                     » g</a:t>
            </a:r>
          </a:p>
          <a:p>
            <a:pPr algn="l">
              <a:lnSpc>
                <a:spcPct val="100000"/>
              </a:lnSpc>
            </a:pPr>
            <a:r>
              <a:rPr sz="800" b="0" i="0">
                <a:solidFill>
                  <a:srgbClr val="3BBE93"/>
                </a:solidFill>
                <a:latin typeface="Consolas"/>
              </a:rPr>
              <a:t>    │   │       └── video/</a:t>
            </a:r>
          </a:p>
          <a:p>
            <a:pPr algn="l">
              <a:lnSpc>
                <a:spcPct val="100000"/>
              </a:lnSpc>
            </a:pPr>
            <a:r>
              <a:rPr sz="800" b="0" i="0">
                <a:solidFill>
                  <a:srgbClr val="ECE7DC"/>
                </a:solidFill>
                <a:latin typeface="Consolas"/>
              </a:rPr>
              <a:t>    │   │           └── XAIHT-Tlamatini.mp4</a:t>
            </a:r>
          </a:p>
          <a:p>
            <a:pPr algn="l">
              <a:lnSpc>
                <a:spcPct val="100000"/>
              </a:lnSpc>
            </a:pPr>
            <a:r>
              <a:rPr sz="800" b="0" i="0">
                <a:solidFill>
                  <a:srgbClr val="3BBE93"/>
                </a:solidFill>
                <a:latin typeface="Consolas"/>
              </a:rPr>
              <a:t>    │   ├── templates/</a:t>
            </a:r>
          </a:p>
          <a:p>
            <a:pPr algn="l">
              <a:lnSpc>
                <a:spcPct val="100000"/>
              </a:lnSpc>
            </a:pPr>
            <a:r>
              <a:rPr sz="800" b="0" i="0">
                <a:solidFill>
                  <a:srgbClr val="3BBE93"/>
                </a:solidFill>
                <a:latin typeface="Consolas"/>
              </a:rPr>
              <a:t>    │   │   ├── admin/</a:t>
            </a:r>
          </a:p>
          <a:p>
            <a:pPr algn="l">
              <a:lnSpc>
                <a:spcPct val="100000"/>
              </a:lnSpc>
            </a:pPr>
            <a:r>
              <a:rPr sz="800" b="0" i="0">
                <a:solidFill>
                  <a:srgbClr val="ECE7DC"/>
                </a:solidFill>
                <a:latin typeface="Consolas"/>
              </a:rPr>
              <a:t>    │   │   │   └── base_site.html</a:t>
            </a:r>
          </a:p>
          <a:p>
            <a:pPr algn="l">
              <a:lnSpc>
                <a:spcPct val="100000"/>
              </a:lnSpc>
            </a:pPr>
            <a:r>
              <a:rPr sz="800" b="0" i="0">
                <a:solidFill>
                  <a:srgbClr val="3BBE93"/>
                </a:solidFill>
                <a:latin typeface="Consolas"/>
              </a:rPr>
              <a:t>    │   │   └── agent/</a:t>
            </a:r>
          </a:p>
          <a:p>
            <a:pPr algn="l">
              <a:lnSpc>
                <a:spcPct val="100000"/>
              </a:lnSpc>
            </a:pPr>
            <a:r>
              <a:rPr sz="800" b="0" i="0">
                <a:solidFill>
                  <a:srgbClr val="ECE7DC"/>
                </a:solidFill>
                <a:latin typeface="Consolas"/>
              </a:rPr>
              <a:t>    │   │       ├── agent_page.html</a:t>
            </a:r>
          </a:p>
          <a:p>
            <a:pPr algn="l">
              <a:lnSpc>
                <a:spcPct val="100000"/>
              </a:lnSpc>
            </a:pPr>
            <a:r>
              <a:rPr sz="800" b="0" i="0">
                <a:solidFill>
                  <a:srgbClr val="ECE7DC"/>
                </a:solidFill>
                <a:latin typeface="Consolas"/>
              </a:rPr>
              <a:t>    │   │       ├── agentic_control_panel.html</a:t>
            </a:r>
          </a:p>
          <a:p>
            <a:pPr algn="l">
              <a:lnSpc>
                <a:spcPct val="100000"/>
              </a:lnSpc>
            </a:pPr>
            <a:r>
              <a:rPr sz="800" b="0" i="0">
                <a:solidFill>
                  <a:srgbClr val="ECE7DC"/>
                </a:solidFill>
                <a:latin typeface="Consolas"/>
              </a:rPr>
              <a:t>    │   │       ├── interaction_settings.html</a:t>
            </a:r>
          </a:p>
          <a:p>
            <a:pPr algn="l">
              <a:lnSpc>
                <a:spcPct val="100000"/>
              </a:lnSpc>
            </a:pPr>
            <a:r>
              <a:rPr sz="800" b="0" i="0">
                <a:solidFill>
                  <a:srgbClr val="ECE7DC"/>
                </a:solidFill>
                <a:latin typeface="Consolas"/>
              </a:rPr>
              <a:t>    │   │       ├── interactor.html</a:t>
            </a:r>
          </a:p>
          <a:p>
            <a:pPr algn="l">
              <a:lnSpc>
                <a:spcPct val="100000"/>
              </a:lnSpc>
            </a:pPr>
            <a:r>
              <a:rPr sz="800" b="0" i="0">
                <a:solidFill>
                  <a:srgbClr val="ECE7DC"/>
                </a:solidFill>
                <a:latin typeface="Consolas"/>
              </a:rPr>
              <a:t>    │   │       ├── login.html</a:t>
            </a:r>
          </a:p>
          <a:p>
            <a:pPr algn="l">
              <a:lnSpc>
                <a:spcPct val="100000"/>
              </a:lnSpc>
            </a:pPr>
            <a:r>
              <a:rPr sz="800" b="0" i="0">
                <a:solidFill>
                  <a:srgbClr val="ECE7DC"/>
                </a:solidFill>
                <a:latin typeface="Consolas"/>
              </a:rPr>
              <a:t>    │   │       ├── prompt_flow_panel.html</a:t>
            </a:r>
          </a:p>
          <a:p>
            <a:pPr algn="l">
              <a:lnSpc>
                <a:spcPct val="100000"/>
              </a:lnSpc>
            </a:pPr>
            <a:r>
              <a:rPr sz="800" b="0" i="0">
                <a:solidFill>
                  <a:srgbClr val="ECE7DC"/>
                </a:solidFill>
                <a:latin typeface="Consolas"/>
              </a:rPr>
              <a:t>    │   │       ├── usage_dialog.html</a:t>
            </a:r>
          </a:p>
          <a:p>
            <a:pPr algn="l">
              <a:lnSpc>
                <a:spcPct val="100000"/>
              </a:lnSpc>
            </a:pPr>
            <a:r>
              <a:rPr sz="800" b="0" i="0">
                <a:solidFill>
                  <a:srgbClr val="ECE7DC"/>
                </a:solidFill>
                <a:latin typeface="Consolas"/>
              </a:rPr>
              <a:t>    │   │       └── welcome.html</a:t>
            </a:r>
          </a:p>
          <a:p>
            <a:pPr algn="l">
              <a:lnSpc>
                <a:spcPct val="100000"/>
              </a:lnSpc>
            </a:pPr>
            <a:r>
              <a:rPr sz="800" b="0" i="0">
                <a:solidFill>
                  <a:srgbClr val="3BBE93"/>
                </a:solidFill>
                <a:latin typeface="Consolas"/>
              </a:rPr>
              <a:t>    │   ├── test_fixtures/</a:t>
            </a:r>
          </a:p>
          <a:p>
            <a:pPr algn="l">
              <a:lnSpc>
                <a:spcPct val="100000"/>
              </a:lnSpc>
            </a:pPr>
            <a:r>
              <a:rPr sz="800" b="0" i="0">
                <a:solidFill>
                  <a:srgbClr val="ECE7DC"/>
                </a:solidFill>
                <a:latin typeface="Consolas"/>
              </a:rPr>
              <a:t>    │   │   └── talker_orpheus_tokens.txt</a:t>
            </a:r>
          </a:p>
          <a:p>
            <a:pPr algn="l">
              <a:lnSpc>
                <a:spcPct val="100000"/>
              </a:lnSpc>
            </a:pPr>
            <a:r>
              <a:rPr sz="800" b="0" i="0">
                <a:solidFill>
                  <a:srgbClr val="3BBE93"/>
                </a:solidFill>
                <a:latin typeface="Consolas"/>
              </a:rPr>
              <a:t>    │   └── TlamatiniSourceCode/</a:t>
            </a:r>
          </a:p>
          <a:p>
            <a:pPr algn="l">
              <a:lnSpc>
                <a:spcPct val="100000"/>
              </a:lnSpc>
            </a:pPr>
            <a:r>
              <a:rPr sz="800" b="0" i="0">
                <a:solidFill>
                  <a:srgbClr val="ECE7DC"/>
                </a:solidFill>
                <a:latin typeface="Consolas"/>
              </a:rPr>
              <a:t>    │       └── README.md</a:t>
            </a:r>
          </a:p>
          <a:p>
            <a:pPr algn="l">
              <a:lnSpc>
                <a:spcPct val="100000"/>
              </a:lnSpc>
            </a:pPr>
            <a:r>
              <a:rPr sz="800" b="0" i="0">
                <a:solidFill>
                  <a:srgbClr val="3BBE93"/>
                </a:solidFill>
                <a:latin typeface="Consolas"/>
              </a:rPr>
              <a:t>    ├── DB/</a:t>
            </a:r>
          </a:p>
          <a:p>
            <a:pPr algn="l">
              <a:lnSpc>
                <a:spcPct val="100000"/>
              </a:lnSpc>
            </a:pPr>
            <a:r>
              <a:rPr sz="800" b="0" i="0">
                <a:solidFill>
                  <a:srgbClr val="3BBE93"/>
                </a:solidFill>
                <a:latin typeface="Consolas"/>
              </a:rPr>
              <a:t>    │   ├── Older/</a:t>
            </a:r>
          </a:p>
          <a:p>
            <a:pPr algn="l">
              <a:lnSpc>
                <a:spcPct val="100000"/>
              </a:lnSpc>
            </a:pPr>
            <a:r>
              <a:rPr sz="800" b="0" i="0">
                <a:solidFill>
                  <a:srgbClr val="ECE7DC"/>
                </a:solidFill>
                <a:latin typeface="Consolas"/>
              </a:rPr>
              <a:t>    │   │   └── README.md</a:t>
            </a:r>
          </a:p>
          <a:p>
            <a:pPr algn="l">
              <a:lnSpc>
                <a:spcPct val="100000"/>
              </a:lnSpc>
            </a:pPr>
            <a:r>
              <a:rPr sz="800" b="0" i="0">
                <a:solidFill>
                  <a:srgbClr val="3BBE93"/>
                </a:solidFill>
                <a:latin typeface="Consolas"/>
              </a:rPr>
              <a:t>    │   └── ToLoad/</a:t>
            </a:r>
          </a:p>
          <a:p>
            <a:pPr algn="l">
              <a:lnSpc>
                <a:spcPct val="100000"/>
              </a:lnSpc>
            </a:pPr>
            <a:r>
              <a:rPr sz="800" b="0" i="0">
                <a:solidFill>
                  <a:srgbClr val="ECE7DC"/>
                </a:solidFill>
                <a:latin typeface="Consolas"/>
              </a:rPr>
              <a:t>    │       └── README.md</a:t>
            </a:r>
          </a:p>
          <a:p>
            <a:pPr algn="l">
              <a:lnSpc>
                <a:spcPct val="100000"/>
              </a:lnSpc>
            </a:pPr>
            <a:r>
              <a:rPr sz="800" b="0" i="0">
                <a:solidFill>
                  <a:srgbClr val="3BBE93"/>
                </a:solidFill>
                <a:latin typeface="Consolas"/>
              </a:rPr>
              <a:t>    ├── jd-cli/</a:t>
            </a:r>
          </a:p>
          <a:p>
            <a:pPr algn="l">
              <a:lnSpc>
                <a:spcPct val="100000"/>
              </a:lnSpc>
            </a:pPr>
            <a:r>
              <a:rPr sz="800" b="0" i="0">
                <a:solidFill>
                  <a:srgbClr val="ECE7DC"/>
                </a:solidFill>
                <a:latin typeface="Consolas"/>
              </a:rPr>
              <a:t>    │   ├── jd-cli.bat</a:t>
            </a:r>
          </a:p>
          <a:p>
            <a:pPr algn="l">
              <a:lnSpc>
                <a:spcPct val="100000"/>
              </a:lnSpc>
            </a:pPr>
            <a:r>
              <a:rPr sz="800" b="0" i="0">
                <a:solidFill>
                  <a:srgbClr val="ECE7DC"/>
                </a:solidFill>
                <a:latin typeface="Consolas"/>
              </a:rPr>
              <a:t>    │   └── jd-cli.jar</a:t>
            </a:r>
          </a:p>
          <a:p>
            <a:pPr algn="l">
              <a:lnSpc>
                <a:spcPct val="100000"/>
              </a:lnSpc>
            </a:pPr>
            <a:r>
              <a:rPr sz="800" b="0" i="0">
                <a:solidFill>
                  <a:srgbClr val="3BBE93"/>
                </a:solidFill>
                <a:latin typeface="Consolas"/>
              </a:rPr>
              <a:t>    ├── tests_e2e/</a:t>
            </a:r>
          </a:p>
          <a:p>
            <a:pPr algn="l">
              <a:lnSpc>
                <a:spcPct val="100000"/>
              </a:lnSpc>
            </a:pPr>
            <a:r>
              <a:rPr sz="800" b="0" i="0">
                <a:solidFill>
                  <a:srgbClr val="ECE7DC"/>
                </a:solidFill>
                <a:latin typeface="Consolas"/>
              </a:rPr>
              <a:t>    │   ├── oob_child_helper.py</a:t>
            </a:r>
          </a:p>
          <a:p>
            <a:pPr algn="l">
              <a:lnSpc>
                <a:spcPct val="100000"/>
              </a:lnSpc>
            </a:pPr>
            <a:r>
              <a:rPr sz="800" b="0" i="0">
                <a:solidFill>
                  <a:srgbClr val="ECE7DC"/>
                </a:solidFill>
                <a:latin typeface="Consolas"/>
              </a:rPr>
              <a:t>    │   ├── README.md</a:t>
            </a:r>
          </a:p>
          <a:p>
            <a:pPr algn="l">
              <a:lnSpc>
                <a:spcPct val="100000"/>
              </a:lnSpc>
            </a:pPr>
            <a:r>
              <a:rPr sz="800" b="0" i="0">
                <a:solidFill>
                  <a:srgbClr val="ECE7DC"/>
                </a:solidFill>
                <a:latin typeface="Consolas"/>
              </a:rPr>
              <a:t>    │   ├── test_create_flow_visual.py</a:t>
            </a:r>
          </a:p>
          <a:p>
            <a:pPr algn="l">
              <a:lnSpc>
                <a:spcPct val="100000"/>
              </a:lnSpc>
            </a:pPr>
            <a:r>
              <a:rPr sz="800" b="0" i="0">
                <a:solidFill>
                  <a:srgbClr val="ECE7DC"/>
                </a:solidFill>
                <a:latin typeface="Consolas"/>
              </a:rPr>
              <a:t>    │   ├── test_ctrl_c_quits_visible.py</a:t>
            </a:r>
          </a:p>
          <a:p>
            <a:pPr algn="l">
              <a:lnSpc>
                <a:spcPct val="100000"/>
              </a:lnSpc>
            </a:pPr>
            <a:r>
              <a:rPr sz="800" b="0" i="0">
                <a:solidFill>
                  <a:srgbClr val="ECE7DC"/>
                </a:solidFill>
                <a:latin typeface="Consolas"/>
              </a:rPr>
              <a:t>    │   ├── test_db_backup_set_visible.py</a:t>
            </a:r>
          </a:p>
          <a:p>
            <a:pPr algn="l">
              <a:lnSpc>
                <a:spcPct val="100000"/>
              </a:lnSpc>
            </a:pPr>
            <a:r>
              <a:rPr sz="800" b="0" i="0">
                <a:solidFill>
                  <a:srgbClr val="ECE7DC"/>
                </a:solidFill>
                <a:latin typeface="Consolas"/>
              </a:rPr>
              <a:t>    │   ├── test_oob_browser_visible.py</a:t>
            </a:r>
          </a:p>
          <a:p>
            <a:pPr algn="l">
              <a:lnSpc>
                <a:spcPct val="100000"/>
              </a:lnSpc>
            </a:pPr>
            <a:r>
              <a:rPr sz="800" b="0" i="0">
                <a:solidFill>
                  <a:srgbClr val="ECE7DC"/>
                </a:solidFill>
                <a:latin typeface="Consolas"/>
              </a:rPr>
              <a:t>    │   ├── test_oob_namu_unit.py</a:t>
            </a:r>
          </a:p>
        </p:txBody>
      </p:sp>
      <p:cxnSp>
        <p:nvCxnSpPr>
          <p:cNvPr id="8" name="Connector 7"/>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10" name="TextBox 9"/>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appendix.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566928" y="384048"/>
            <a:ext cx="8686800" cy="329184"/>
          </a:xfrm>
          <a:prstGeom prst="rect">
            <a:avLst/>
          </a:prstGeom>
          <a:noFill/>
        </p:spPr>
        <p:txBody>
          <a:bodyPr wrap="square" lIns="45720" rIns="45720" tIns="27432" bIns="27432" anchor="t">
            <a:noAutofit/>
          </a:bodyPr>
          <a:lstStyle/>
          <a:p>
            <a:pPr algn="l">
              <a:lnSpc>
                <a:spcPct val="100000"/>
              </a:lnSpc>
            </a:pPr>
            <a:r>
              <a:rPr sz="1100" b="0" i="0" spc="200">
                <a:solidFill>
                  <a:srgbClr val="C98457"/>
                </a:solidFill>
                <a:latin typeface="Segoe UI Semibold"/>
              </a:rPr>
              <a:t>APPENDIX A  ·  APPLICATION FILE TREE  ·  17 / 17</a:t>
            </a:r>
          </a:p>
        </p:txBody>
      </p:sp>
      <p:sp>
        <p:nvSpPr>
          <p:cNvPr id="4" name="TextBox 3"/>
          <p:cNvSpPr txBox="1"/>
          <p:nvPr/>
        </p:nvSpPr>
        <p:spPr>
          <a:xfrm>
            <a:off x="566928" y="731520"/>
            <a:ext cx="11057839" cy="384048"/>
          </a:xfrm>
          <a:prstGeom prst="rect">
            <a:avLst/>
          </a:prstGeom>
          <a:noFill/>
        </p:spPr>
        <p:txBody>
          <a:bodyPr wrap="square" lIns="45720" rIns="45720" tIns="27432" bIns="27432" anchor="t">
            <a:noAutofit/>
          </a:bodyPr>
          <a:lstStyle/>
          <a:p>
            <a:pPr algn="l">
              <a:lnSpc>
                <a:spcPct val="100000"/>
              </a:lnSpc>
            </a:pPr>
            <a:r>
              <a:rPr sz="1300" b="0" i="0">
                <a:solidFill>
                  <a:srgbClr val="A7B2B0"/>
                </a:solidFill>
                <a:latin typeface="Segoe UI"/>
              </a:rPr>
              <a:t>1,608 listed files at commit 9915938a; 221 database-history files summarized.</a:t>
            </a:r>
          </a:p>
        </p:txBody>
      </p:sp>
      <p:sp>
        <p:nvSpPr>
          <p:cNvPr id="5" name="TextBox 4"/>
          <p:cNvSpPr txBox="1"/>
          <p:nvPr/>
        </p:nvSpPr>
        <p:spPr>
          <a:xfrm>
            <a:off x="566928" y="1170432"/>
            <a:ext cx="3515258" cy="5084064"/>
          </a:xfrm>
          <a:prstGeom prst="rect">
            <a:avLst/>
          </a:prstGeom>
          <a:noFill/>
        </p:spPr>
        <p:txBody>
          <a:bodyPr wrap="none" lIns="45720" rIns="45720" tIns="27432" bIns="27432" anchor="t">
            <a:noAutofit/>
          </a:bodyPr>
          <a:lstStyle/>
          <a:p>
            <a:pPr algn="l">
              <a:lnSpc>
                <a:spcPct val="100000"/>
              </a:lnSpc>
            </a:pPr>
            <a:r>
              <a:rPr sz="800" b="0" i="0">
                <a:solidFill>
                  <a:srgbClr val="ECE7DC"/>
                </a:solidFill>
                <a:latin typeface="Consolas"/>
              </a:rPr>
              <a:t>    │   ├── test_prompts_catalog_visual.py</a:t>
            </a:r>
          </a:p>
          <a:p>
            <a:pPr algn="l">
              <a:lnSpc>
                <a:spcPct val="100000"/>
              </a:lnSpc>
            </a:pPr>
            <a:r>
              <a:rPr sz="800" b="0" i="0">
                <a:solidFill>
                  <a:srgbClr val="ECE7DC"/>
                </a:solidFill>
                <a:latin typeface="Consolas"/>
              </a:rPr>
              <a:t>    │   ├── test_self_healing_visual.py</a:t>
            </a:r>
          </a:p>
          <a:p>
            <a:pPr algn="l">
              <a:lnSpc>
                <a:spcPct val="100000"/>
              </a:lnSpc>
            </a:pPr>
            <a:r>
              <a:rPr sz="800" b="0" i="0">
                <a:solidFill>
                  <a:srgbClr val="ECE7DC"/>
                </a:solidFill>
                <a:latin typeface="Consolas"/>
              </a:rPr>
              <a:t>    │   ├── test_voice_visual.py</a:t>
            </a:r>
          </a:p>
          <a:p>
            <a:pPr algn="l">
              <a:lnSpc>
                <a:spcPct val="100000"/>
              </a:lnSpc>
            </a:pPr>
            <a:r>
              <a:rPr sz="800" b="0" i="0">
                <a:solidFill>
                  <a:srgbClr val="ECE7DC"/>
                </a:solidFill>
                <a:latin typeface="Consolas"/>
              </a:rPr>
              <a:t>    │   └── Tlamatini-Whatsapper-Daily-Tests.py</a:t>
            </a:r>
          </a:p>
          <a:p>
            <a:pPr algn="l">
              <a:lnSpc>
                <a:spcPct val="100000"/>
              </a:lnSpc>
            </a:pPr>
            <a:r>
              <a:rPr sz="800" b="0" i="0">
                <a:solidFill>
                  <a:srgbClr val="3BBE93"/>
                </a:solidFill>
                <a:latin typeface="Consolas"/>
              </a:rPr>
              <a:t>    └── tlamatini/</a:t>
            </a:r>
          </a:p>
          <a:p>
            <a:pPr algn="l">
              <a:lnSpc>
                <a:spcPct val="100000"/>
              </a:lnSpc>
            </a:pPr>
            <a:r>
              <a:rPr sz="800" b="0" i="0">
                <a:solidFill>
                  <a:srgbClr val="ECE7DC"/>
                </a:solidFill>
                <a:latin typeface="Consolas"/>
              </a:rPr>
              <a:t>        ├── __init__.py</a:t>
            </a:r>
          </a:p>
          <a:p>
            <a:pPr algn="l">
              <a:lnSpc>
                <a:spcPct val="100000"/>
              </a:lnSpc>
            </a:pPr>
            <a:r>
              <a:rPr sz="800" b="0" i="0">
                <a:solidFill>
                  <a:srgbClr val="ECE7DC"/>
                </a:solidFill>
                <a:latin typeface="Consolas"/>
              </a:rPr>
              <a:t>        ├── asgi.py</a:t>
            </a:r>
          </a:p>
          <a:p>
            <a:pPr algn="l">
              <a:lnSpc>
                <a:spcPct val="100000"/>
              </a:lnSpc>
            </a:pPr>
            <a:r>
              <a:rPr sz="800" b="0" i="0">
                <a:solidFill>
                  <a:srgbClr val="ECE7DC"/>
                </a:solidFill>
                <a:latin typeface="Consolas"/>
              </a:rPr>
              <a:t>        ├── context_processors.py</a:t>
            </a:r>
          </a:p>
          <a:p>
            <a:pPr algn="l">
              <a:lnSpc>
                <a:spcPct val="100000"/>
              </a:lnSpc>
            </a:pPr>
            <a:r>
              <a:rPr sz="800" b="0" i="0">
                <a:solidFill>
                  <a:srgbClr val="ECE7DC"/>
                </a:solidFill>
                <a:latin typeface="Consolas"/>
              </a:rPr>
              <a:t>        ├── logging_filters.py</a:t>
            </a:r>
          </a:p>
          <a:p>
            <a:pPr algn="l">
              <a:lnSpc>
                <a:spcPct val="100000"/>
              </a:lnSpc>
            </a:pPr>
            <a:r>
              <a:rPr sz="800" b="0" i="0">
                <a:solidFill>
                  <a:srgbClr val="ECE7DC"/>
                </a:solidFill>
                <a:latin typeface="Consolas"/>
              </a:rPr>
              <a:t>        ├── middleware.py</a:t>
            </a:r>
          </a:p>
          <a:p>
            <a:pPr algn="l">
              <a:lnSpc>
                <a:spcPct val="100000"/>
              </a:lnSpc>
            </a:pPr>
            <a:r>
              <a:rPr sz="800" b="0" i="0">
                <a:solidFill>
                  <a:srgbClr val="ECE7DC"/>
                </a:solidFill>
                <a:latin typeface="Consolas"/>
              </a:rPr>
              <a:t>        ├── settings.py</a:t>
            </a:r>
          </a:p>
          <a:p>
            <a:pPr algn="l">
              <a:lnSpc>
                <a:spcPct val="100000"/>
              </a:lnSpc>
            </a:pPr>
            <a:r>
              <a:rPr sz="800" b="0" i="0">
                <a:solidFill>
                  <a:srgbClr val="ECE7DC"/>
                </a:solidFill>
                <a:latin typeface="Consolas"/>
              </a:rPr>
              <a:t>        ├── urls.py</a:t>
            </a:r>
          </a:p>
          <a:p>
            <a:pPr algn="l">
              <a:lnSpc>
                <a:spcPct val="100000"/>
              </a:lnSpc>
            </a:pPr>
            <a:r>
              <a:rPr sz="800" b="0" i="0">
                <a:solidFill>
                  <a:srgbClr val="ECE7DC"/>
                </a:solidFill>
                <a:latin typeface="Consolas"/>
              </a:rPr>
              <a:t>        └── wsgi.py</a:t>
            </a:r>
          </a:p>
        </p:txBody>
      </p:sp>
      <p:cxnSp>
        <p:nvCxnSpPr>
          <p:cNvPr id="6" name="Connector 5"/>
          <p:cNvCxnSpPr/>
          <p:nvPr/>
        </p:nvCxnSpPr>
        <p:spPr>
          <a:xfrm>
            <a:off x="566928" y="6373368"/>
            <a:ext cx="11057839" cy="0"/>
          </a:xfrm>
          <a:prstGeom prst="line">
            <a:avLst/>
          </a:prstGeom>
          <a:ln w="7620">
            <a:solidFill>
              <a:srgbClr val="2A3A40"/>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66928" y="6419088"/>
            <a:ext cx="6858000" cy="274320"/>
          </a:xfrm>
          <a:prstGeom prst="rect">
            <a:avLst/>
          </a:prstGeom>
          <a:noFill/>
        </p:spPr>
        <p:txBody>
          <a:bodyPr wrap="square" lIns="45720" rIns="45720" tIns="27432" bIns="27432" anchor="t">
            <a:noAutofit/>
          </a:bodyPr>
          <a:lstStyle/>
          <a:p>
            <a:pPr algn="l">
              <a:lnSpc>
                <a:spcPct val="100000"/>
              </a:lnSpc>
            </a:pPr>
            <a:r>
              <a:rPr sz="850" b="0" i="0" spc="120">
                <a:solidFill>
                  <a:srgbClr val="A7B2B0"/>
                </a:solidFill>
                <a:latin typeface="Segoe UI Semibold"/>
              </a:rPr>
              <a:t>TLAMATINI  ·  APPENDIX A · FILE TREE</a:t>
            </a:r>
          </a:p>
        </p:txBody>
      </p:sp>
      <p:sp>
        <p:nvSpPr>
          <p:cNvPr id="8" name="TextBox 7"/>
          <p:cNvSpPr txBox="1"/>
          <p:nvPr/>
        </p:nvSpPr>
        <p:spPr>
          <a:xfrm>
            <a:off x="8698687" y="6419088"/>
            <a:ext cx="2926080" cy="274320"/>
          </a:xfrm>
          <a:prstGeom prst="rect">
            <a:avLst/>
          </a:prstGeom>
          <a:noFill/>
        </p:spPr>
        <p:txBody>
          <a:bodyPr wrap="square" lIns="45720" rIns="45720" tIns="27432" bIns="27432" anchor="t">
            <a:noAutofit/>
          </a:bodyPr>
          <a:lstStyle/>
          <a:p>
            <a:pPr algn="r">
              <a:lnSpc>
                <a:spcPct val="100000"/>
              </a:lnSpc>
            </a:pPr>
            <a:r>
              <a:rPr sz="850" b="0" i="0" spc="100">
                <a:solidFill>
                  <a:srgbClr val="A7B2B0"/>
                </a:solidFill>
                <a:latin typeface="Segoe UI Semibold"/>
              </a:rPr>
              <a:t>v1.91.1   ·   191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g_divider.png"/>
          <p:cNvPicPr>
            <a:picLocks noChangeAspect="1"/>
          </p:cNvPicPr>
          <p:nvPr/>
        </p:nvPicPr>
        <p:blipFill>
          <a:blip r:embed="rId2"/>
          <a:stretch>
            <a:fillRect/>
          </a:stretch>
        </p:blipFill>
        <p:spPr>
          <a:xfrm>
            <a:off x="0" y="0"/>
            <a:ext cx="12191695" cy="6858000"/>
          </a:xfrm>
          <a:prstGeom prst="rect">
            <a:avLst/>
          </a:prstGeom>
        </p:spPr>
      </p:pic>
      <p:pic>
        <p:nvPicPr>
          <p:cNvPr id="3" name="Picture 2" descr="portrait_eo_mo_copper.png"/>
          <p:cNvPicPr>
            <a:picLocks noChangeAspect="1"/>
          </p:cNvPicPr>
          <p:nvPr/>
        </p:nvPicPr>
        <p:blipFill>
          <a:blip r:embed="rId4"/>
          <a:stretch>
            <a:fillRect/>
          </a:stretch>
        </p:blipFill>
        <p:spPr>
          <a:xfrm>
            <a:off x="1005840" y="1234440"/>
            <a:ext cx="4114800" cy="4114800"/>
          </a:xfrm>
          <a:prstGeom prst="rect">
            <a:avLst/>
          </a:prstGeom>
        </p:spPr>
      </p:pic>
      <p:sp>
        <p:nvSpPr>
          <p:cNvPr id="4" name="TextBox 3"/>
          <p:cNvSpPr txBox="1"/>
          <p:nvPr/>
        </p:nvSpPr>
        <p:spPr>
          <a:xfrm>
            <a:off x="5760720" y="1554480"/>
            <a:ext cx="5760720" cy="1097280"/>
          </a:xfrm>
          <a:prstGeom prst="rect">
            <a:avLst/>
          </a:prstGeom>
          <a:noFill/>
        </p:spPr>
        <p:txBody>
          <a:bodyPr wrap="square" lIns="45720" rIns="45720" tIns="27432" bIns="27432" anchor="t">
            <a:noAutofit/>
          </a:bodyPr>
          <a:lstStyle/>
          <a:p>
            <a:pPr algn="l">
              <a:lnSpc>
                <a:spcPct val="100000"/>
              </a:lnSpc>
            </a:pPr>
            <a:r>
              <a:rPr sz="6400" b="0" i="0">
                <a:solidFill>
                  <a:srgbClr val="F7F2E8"/>
                </a:solidFill>
                <a:latin typeface="Palatino Linotype"/>
              </a:rPr>
              <a:t>Tlamatini</a:t>
            </a:r>
          </a:p>
        </p:txBody>
      </p:sp>
      <p:sp>
        <p:nvSpPr>
          <p:cNvPr id="5" name="TextBox 4"/>
          <p:cNvSpPr txBox="1"/>
          <p:nvPr/>
        </p:nvSpPr>
        <p:spPr>
          <a:xfrm>
            <a:off x="5788152" y="2697480"/>
            <a:ext cx="5669280" cy="502920"/>
          </a:xfrm>
          <a:prstGeom prst="rect">
            <a:avLst/>
          </a:prstGeom>
          <a:noFill/>
        </p:spPr>
        <p:txBody>
          <a:bodyPr wrap="square" lIns="45720" rIns="45720" tIns="27432" bIns="27432" anchor="t">
            <a:noAutofit/>
          </a:bodyPr>
          <a:lstStyle/>
          <a:p>
            <a:pPr algn="l">
              <a:lnSpc>
                <a:spcPct val="100000"/>
              </a:lnSpc>
            </a:pPr>
            <a:r>
              <a:rPr sz="2400" b="0" i="1">
                <a:solidFill>
                  <a:srgbClr val="3BBE93"/>
                </a:solidFill>
                <a:latin typeface="Palatino Linotype"/>
              </a:rPr>
              <a:t>one who knows</a:t>
            </a:r>
          </a:p>
        </p:txBody>
      </p:sp>
      <p:sp>
        <p:nvSpPr>
          <p:cNvPr id="6" name="TextBox 5"/>
          <p:cNvSpPr txBox="1"/>
          <p:nvPr/>
        </p:nvSpPr>
        <p:spPr>
          <a:xfrm>
            <a:off x="5788152" y="3310128"/>
            <a:ext cx="5760720" cy="1463040"/>
          </a:xfrm>
          <a:prstGeom prst="rect">
            <a:avLst/>
          </a:prstGeom>
          <a:noFill/>
        </p:spPr>
        <p:txBody>
          <a:bodyPr wrap="square" lIns="45720" rIns="45720" tIns="27432" bIns="27432" anchor="t">
            <a:noAutofit/>
          </a:bodyPr>
          <a:lstStyle/>
          <a:p>
            <a:pPr algn="l">
              <a:lnSpc>
                <a:spcPct val="100000"/>
              </a:lnSpc>
            </a:pPr>
            <a:r>
              <a:rPr sz="1700" b="0" i="0">
                <a:solidFill>
                  <a:srgbClr val="ECE7DC"/>
                </a:solidFill>
                <a:latin typeface="Segoe UI Light"/>
              </a:rPr>
              <a:t>Conceived, designed and built by </a:t>
            </a:r>
            <a:r>
              <a:rPr sz="1700" b="0" i="0">
                <a:solidFill>
                  <a:srgbClr val="F7F2E8"/>
                </a:solidFill>
                <a:latin typeface="Segoe UI Semibold"/>
              </a:rPr>
              <a:t>Angela López Mendoza</a:t>
            </a:r>
            <a:r>
              <a:rPr sz="1700" b="0" i="0">
                <a:solidFill>
                  <a:srgbClr val="ECE7DC"/>
                </a:solidFill>
                <a:latin typeface="Segoe UI Light"/>
              </a:rPr>
              <a:t>. Every number in this deck was counted from the source tree when it was generated.</a:t>
            </a:r>
          </a:p>
        </p:txBody>
      </p:sp>
      <p:sp>
        <p:nvSpPr>
          <p:cNvPr id="7" name="TextBox 6"/>
          <p:cNvSpPr txBox="1"/>
          <p:nvPr/>
        </p:nvSpPr>
        <p:spPr>
          <a:xfrm>
            <a:off x="5788152" y="4892040"/>
            <a:ext cx="5486400" cy="365760"/>
          </a:xfrm>
          <a:prstGeom prst="rect">
            <a:avLst/>
          </a:prstGeom>
          <a:noFill/>
        </p:spPr>
        <p:txBody>
          <a:bodyPr wrap="square" lIns="45720" rIns="45720" tIns="27432" bIns="27432" anchor="t">
            <a:noAutofit/>
          </a:bodyPr>
          <a:lstStyle/>
          <a:p>
            <a:pPr algn="l">
              <a:lnSpc>
                <a:spcPct val="100000"/>
              </a:lnSpc>
            </a:pPr>
            <a:r>
              <a:rPr sz="1300" b="0" i="0">
                <a:solidFill>
                  <a:srgbClr val="E2B462"/>
                </a:solidFill>
                <a:latin typeface="Consolas"/>
              </a:rPr>
              <a:t>Regenerate with  refresh_project_docs.py</a:t>
            </a:r>
          </a:p>
        </p:txBody>
      </p:sp>
      <p:sp>
        <p:nvSpPr>
          <p:cNvPr id="8" name="TextBox 7"/>
          <p:cNvSpPr txBox="1"/>
          <p:nvPr/>
        </p:nvSpPr>
        <p:spPr>
          <a:xfrm>
            <a:off x="5788152" y="5303520"/>
            <a:ext cx="5486400" cy="329184"/>
          </a:xfrm>
          <a:prstGeom prst="rect">
            <a:avLst/>
          </a:prstGeom>
          <a:noFill/>
        </p:spPr>
        <p:txBody>
          <a:bodyPr wrap="square" lIns="45720" rIns="45720" tIns="27432" bIns="27432" anchor="t">
            <a:noAutofit/>
          </a:bodyPr>
          <a:lstStyle/>
          <a:p>
            <a:pPr algn="l">
              <a:lnSpc>
                <a:spcPct val="100000"/>
              </a:lnSpc>
            </a:pPr>
            <a:r>
              <a:rPr sz="1100" b="0" i="0">
                <a:solidFill>
                  <a:srgbClr val="A7B2B0"/>
                </a:solidFill>
                <a:latin typeface="Segoe UI"/>
              </a:rPr>
              <a:t>October 27, 2026  ·  commit 9915938a  ·  github.com/XAIHT/Tlamatini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Tlamatini — Complete Project Dossier</dc:title>
  <dc:subject>Tlamatini 1.91.1</dc:subject>
  <dc:creator>Angela López Mendoza</dc:creator>
  <cp:keywords>Tlamatini; agents; Multi-Turn; ACPX; MCP; workflow designer</cp:keywords>
  <dc:description>Generated by refresh_project_docs.py from the source tree.</dc:description>
  <cp:lastModifiedBy>Steve Canny</cp:lastModifiedBy>
  <cp:revision>1</cp:revision>
  <dcterms:created xsi:type="dcterms:W3CDTF">2013-01-27T09:14:16Z</dcterms:created>
  <dcterms:modified xsi:type="dcterms:W3CDTF">2013-01-27T09:15:58Z</dcterms:modified>
  <cp:category/>
</cp:coreProperties>
</file>