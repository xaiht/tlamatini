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91695" cy="160020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530352"/>
            <a:ext cx="1920240" cy="1016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41248"/>
            <a:ext cx="9875520" cy="640080"/>
          </a:xfrm>
          <a:prstGeom prst="rect">
            <a:avLst/>
          </a:prstGeom>
          <a:noFill/>
        </p:spPr>
        <p:txBody>
          <a:bodyPr wrap="square">
            <a:spAutoFit/>
          </a:bodyPr>
          <a:lstStyle/>
          <a:p>
            <a:pPr algn="l"/>
            <a:r>
              <a:rPr sz="2800" b="1">
                <a:solidFill>
                  <a:srgbClr val="FFFFFF"/>
                </a:solidFill>
                <a:latin typeface="Aptos Display"/>
              </a:rPr>
              <a:t>Tlamatini</a:t>
            </a:r>
          </a:p>
        </p:txBody>
      </p:sp>
      <p:sp>
        <p:nvSpPr>
          <p:cNvPr id="6" name="TextBox 5"/>
          <p:cNvSpPr txBox="1"/>
          <p:nvPr/>
        </p:nvSpPr>
        <p:spPr>
          <a:xfrm>
            <a:off x="502920" y="1417320"/>
            <a:ext cx="10607040" cy="512064"/>
          </a:xfrm>
          <a:prstGeom prst="rect">
            <a:avLst/>
          </a:prstGeom>
          <a:noFill/>
        </p:spPr>
        <p:txBody>
          <a:bodyPr wrap="square">
            <a:spAutoFit/>
          </a:bodyPr>
          <a:lstStyle/>
          <a:p>
            <a:pPr algn="l"/>
            <a:r>
              <a:rPr sz="2000" b="1">
                <a:solidFill>
                  <a:srgbClr val="20C997"/>
                </a:solidFill>
                <a:latin typeface="Aptos"/>
              </a:rPr>
              <a:t>Extended Artificial Intelligence, Humanly Tempered</a:t>
            </a:r>
          </a:p>
        </p:txBody>
      </p:sp>
      <p:sp>
        <p:nvSpPr>
          <p:cNvPr id="7" name="TextBox 6"/>
          <p:cNvSpPr txBox="1"/>
          <p:nvPr/>
        </p:nvSpPr>
        <p:spPr>
          <a:xfrm>
            <a:off x="502920" y="1965960"/>
            <a:ext cx="10332720" cy="1005840"/>
          </a:xfrm>
          <a:prstGeom prst="rect">
            <a:avLst/>
          </a:prstGeom>
          <a:noFill/>
        </p:spPr>
        <p:txBody>
          <a:bodyPr wrap="square">
            <a:spAutoFit/>
          </a:bodyPr>
          <a:lstStyle/>
          <a:p>
            <a:pPr algn="l"/>
            <a:r>
              <a:rPr sz="1800" b="0">
                <a:solidFill>
                  <a:srgbClr val="FFFFFF"/>
                </a:solidFill>
                <a:latin typeface="Aptos"/>
              </a:rPr>
              <a:t>Complete operator guide: what Tlamatini is, how to run it from source, how to install Ollama and pull the required models, how to use chat and the Agentic Control Panel, how to build release executables, and how to extend the platform with new agents and MCP-backed capabilities.</a:t>
            </a:r>
          </a:p>
        </p:txBody>
      </p:sp>
      <p:sp>
        <p:nvSpPr>
          <p:cNvPr id="8" name="Rectangle 7"/>
          <p:cNvSpPr/>
          <p:nvPr/>
        </p:nvSpPr>
        <p:spPr>
          <a:xfrm>
            <a:off x="502920" y="3246120"/>
            <a:ext cx="1965960" cy="82296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319272"/>
            <a:ext cx="1746504" cy="219456"/>
          </a:xfrm>
          <a:prstGeom prst="rect">
            <a:avLst/>
          </a:prstGeom>
          <a:noFill/>
        </p:spPr>
        <p:txBody>
          <a:bodyPr wrap="square">
            <a:spAutoFit/>
          </a:bodyPr>
          <a:lstStyle/>
          <a:p>
            <a:pPr algn="l"/>
            <a:r>
              <a:rPr sz="1100" b="0">
                <a:solidFill>
                  <a:srgbClr val="FFFFFF"/>
                </a:solidFill>
                <a:latin typeface="Aptos"/>
              </a:rPr>
              <a:t>Tracked files</a:t>
            </a:r>
          </a:p>
        </p:txBody>
      </p:sp>
      <p:sp>
        <p:nvSpPr>
          <p:cNvPr id="10" name="TextBox 9"/>
          <p:cNvSpPr txBox="1"/>
          <p:nvPr/>
        </p:nvSpPr>
        <p:spPr>
          <a:xfrm>
            <a:off x="612648" y="3502152"/>
            <a:ext cx="1746504" cy="310896"/>
          </a:xfrm>
          <a:prstGeom prst="rect">
            <a:avLst/>
          </a:prstGeom>
          <a:noFill/>
        </p:spPr>
        <p:txBody>
          <a:bodyPr wrap="square">
            <a:spAutoFit/>
          </a:bodyPr>
          <a:lstStyle/>
          <a:p>
            <a:pPr algn="l"/>
            <a:r>
              <a:rPr sz="2000" b="1">
                <a:solidFill>
                  <a:srgbClr val="FFFFFF"/>
                </a:solidFill>
                <a:latin typeface="Aptos Display"/>
              </a:rPr>
              <a:t>340</a:t>
            </a:r>
          </a:p>
        </p:txBody>
      </p:sp>
      <p:sp>
        <p:nvSpPr>
          <p:cNvPr id="11" name="Rectangle 10"/>
          <p:cNvSpPr/>
          <p:nvPr/>
        </p:nvSpPr>
        <p:spPr>
          <a:xfrm>
            <a:off x="2697480" y="3246120"/>
            <a:ext cx="1965960" cy="822960"/>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7208" y="3319272"/>
            <a:ext cx="1746504" cy="219456"/>
          </a:xfrm>
          <a:prstGeom prst="rect">
            <a:avLst/>
          </a:prstGeom>
          <a:noFill/>
        </p:spPr>
        <p:txBody>
          <a:bodyPr wrap="square">
            <a:spAutoFit/>
          </a:bodyPr>
          <a:lstStyle/>
          <a:p>
            <a:pPr algn="l"/>
            <a:r>
              <a:rPr sz="1100" b="0">
                <a:solidFill>
                  <a:srgbClr val="FFFFFF"/>
                </a:solidFill>
                <a:latin typeface="Aptos"/>
              </a:rPr>
              <a:t>Workflow agents</a:t>
            </a:r>
          </a:p>
        </p:txBody>
      </p:sp>
      <p:sp>
        <p:nvSpPr>
          <p:cNvPr id="13" name="TextBox 12"/>
          <p:cNvSpPr txBox="1"/>
          <p:nvPr/>
        </p:nvSpPr>
        <p:spPr>
          <a:xfrm>
            <a:off x="2807208" y="3502152"/>
            <a:ext cx="1746504" cy="310896"/>
          </a:xfrm>
          <a:prstGeom prst="rect">
            <a:avLst/>
          </a:prstGeom>
          <a:noFill/>
        </p:spPr>
        <p:txBody>
          <a:bodyPr wrap="square">
            <a:spAutoFit/>
          </a:bodyPr>
          <a:lstStyle/>
          <a:p>
            <a:pPr algn="l"/>
            <a:r>
              <a:rPr sz="2000" b="1">
                <a:solidFill>
                  <a:srgbClr val="FFFFFF"/>
                </a:solidFill>
                <a:latin typeface="Aptos Display"/>
              </a:rPr>
              <a:t>57</a:t>
            </a:r>
          </a:p>
        </p:txBody>
      </p:sp>
      <p:sp>
        <p:nvSpPr>
          <p:cNvPr id="14" name="Rectangle 13"/>
          <p:cNvSpPr/>
          <p:nvPr/>
        </p:nvSpPr>
        <p:spPr>
          <a:xfrm>
            <a:off x="4892040" y="3246120"/>
            <a:ext cx="1965960" cy="8229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1768" y="3319272"/>
            <a:ext cx="1746504" cy="219456"/>
          </a:xfrm>
          <a:prstGeom prst="rect">
            <a:avLst/>
          </a:prstGeom>
          <a:noFill/>
        </p:spPr>
        <p:txBody>
          <a:bodyPr wrap="square">
            <a:spAutoFit/>
          </a:bodyPr>
          <a:lstStyle/>
          <a:p>
            <a:pPr algn="l"/>
            <a:r>
              <a:rPr sz="1100" b="0">
                <a:solidFill>
                  <a:srgbClr val="FFFFFF"/>
                </a:solidFill>
                <a:latin typeface="Aptos"/>
              </a:rPr>
              <a:t>JS modules</a:t>
            </a:r>
          </a:p>
        </p:txBody>
      </p:sp>
      <p:sp>
        <p:nvSpPr>
          <p:cNvPr id="16" name="TextBox 15"/>
          <p:cNvSpPr txBox="1"/>
          <p:nvPr/>
        </p:nvSpPr>
        <p:spPr>
          <a:xfrm>
            <a:off x="5001768" y="3502152"/>
            <a:ext cx="1746504" cy="310896"/>
          </a:xfrm>
          <a:prstGeom prst="rect">
            <a:avLst/>
          </a:prstGeom>
          <a:noFill/>
        </p:spPr>
        <p:txBody>
          <a:bodyPr wrap="square">
            <a:spAutoFit/>
          </a:bodyPr>
          <a:lstStyle/>
          <a:p>
            <a:pPr algn="l"/>
            <a:r>
              <a:rPr sz="2000" b="1">
                <a:solidFill>
                  <a:srgbClr val="FFFFFF"/>
                </a:solidFill>
                <a:latin typeface="Aptos Display"/>
              </a:rPr>
              <a:t>24</a:t>
            </a:r>
          </a:p>
        </p:txBody>
      </p:sp>
      <p:sp>
        <p:nvSpPr>
          <p:cNvPr id="17" name="Rectangle 16"/>
          <p:cNvSpPr/>
          <p:nvPr/>
        </p:nvSpPr>
        <p:spPr>
          <a:xfrm>
            <a:off x="7086600" y="3246120"/>
            <a:ext cx="2240280" cy="82296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96328" y="3319272"/>
            <a:ext cx="2020824" cy="219456"/>
          </a:xfrm>
          <a:prstGeom prst="rect">
            <a:avLst/>
          </a:prstGeom>
          <a:noFill/>
        </p:spPr>
        <p:txBody>
          <a:bodyPr wrap="square">
            <a:spAutoFit/>
          </a:bodyPr>
          <a:lstStyle/>
          <a:p>
            <a:pPr algn="l"/>
            <a:r>
              <a:rPr sz="1100" b="0">
                <a:solidFill>
                  <a:srgbClr val="FFFFFF"/>
                </a:solidFill>
                <a:latin typeface="Aptos"/>
              </a:rPr>
              <a:t>Chat / ACP templates</a:t>
            </a:r>
          </a:p>
        </p:txBody>
      </p:sp>
      <p:sp>
        <p:nvSpPr>
          <p:cNvPr id="19" name="TextBox 18"/>
          <p:cNvSpPr txBox="1"/>
          <p:nvPr/>
        </p:nvSpPr>
        <p:spPr>
          <a:xfrm>
            <a:off x="7196328" y="3502152"/>
            <a:ext cx="2020824" cy="310896"/>
          </a:xfrm>
          <a:prstGeom prst="rect">
            <a:avLst/>
          </a:prstGeom>
          <a:noFill/>
        </p:spPr>
        <p:txBody>
          <a:bodyPr wrap="square">
            <a:spAutoFit/>
          </a:bodyPr>
          <a:lstStyle/>
          <a:p>
            <a:pPr algn="l"/>
            <a:r>
              <a:rPr sz="2000" b="1">
                <a:solidFill>
                  <a:srgbClr val="FFFFFF"/>
                </a:solidFill>
                <a:latin typeface="Aptos Display"/>
              </a:rPr>
              <a:t>4 HTML</a:t>
            </a:r>
          </a:p>
        </p:txBody>
      </p:sp>
      <p:sp>
        <p:nvSpPr>
          <p:cNvPr id="20" name="TextBox 19"/>
          <p:cNvSpPr txBox="1"/>
          <p:nvPr/>
        </p:nvSpPr>
        <p:spPr>
          <a:xfrm>
            <a:off x="502920" y="5650992"/>
            <a:ext cx="8138160" cy="292608"/>
          </a:xfrm>
          <a:prstGeom prst="rect">
            <a:avLst/>
          </a:prstGeom>
          <a:noFill/>
        </p:spPr>
        <p:txBody>
          <a:bodyPr wrap="square">
            <a:spAutoFit/>
          </a:bodyPr>
          <a:lstStyle/>
          <a:p>
            <a:pPr algn="l"/>
            <a:r>
              <a:rPr sz="1200" b="0">
                <a:solidFill>
                  <a:srgbClr val="FFFFFF"/>
                </a:solidFill>
                <a:latin typeface="Aptos"/>
              </a:rPr>
              <a:t>Built from README.md, CLAUDE.md, agent_page.html, agentic_control_panel.html, create_new_agent.md, and create_new_mcp.md.</a:t>
            </a:r>
          </a:p>
        </p:txBody>
      </p:sp>
      <p:sp>
        <p:nvSpPr>
          <p:cNvPr id="21" name="TextBox 20"/>
          <p:cNvSpPr txBox="1"/>
          <p:nvPr/>
        </p:nvSpPr>
        <p:spPr>
          <a:xfrm>
            <a:off x="10241280" y="5632704"/>
            <a:ext cx="914400" cy="256032"/>
          </a:xfrm>
          <a:prstGeom prst="rect">
            <a:avLst/>
          </a:prstGeom>
          <a:noFill/>
        </p:spPr>
        <p:txBody>
          <a:bodyPr wrap="square">
            <a:spAutoFit/>
          </a:bodyPr>
          <a:lstStyle/>
          <a:p>
            <a:pPr algn="r"/>
            <a:r>
              <a:rPr sz="1200" b="1">
                <a:solidFill>
                  <a:srgbClr val="FFFFFF"/>
                </a:solidFill>
                <a:latin typeface="Apt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Orientation</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This Deck Covers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a:t>
            </a:r>
          </a:p>
        </p:txBody>
      </p:sp>
      <p:sp>
        <p:nvSpPr>
          <p:cNvPr id="8" name="TextBox 7"/>
          <p:cNvSpPr txBox="1"/>
          <p:nvPr/>
        </p:nvSpPr>
        <p:spPr>
          <a:xfrm>
            <a:off x="640080" y="1188720"/>
            <a:ext cx="6350000" cy="5200000"/>
          </a:xfrm>
          <a:prstGeom prst="rect">
            <a:avLst/>
          </a:prstGeom>
          <a:noFill/>
        </p:spPr>
        <p:txBody>
          <a:bodyPr wrap="square">
            <a:normAutofit/>
          </a:bodyPr>
          <a:lstStyle/>
          <a:p>
            <a:pPr>
              <a:spcAft>
                <a:spcPts val="800"/>
              </a:spcAft>
            </a:pPr>
            <a:r>
              <a:rPr sz="1800">
                <a:solidFill>
                  <a:srgbClr val="111827"/>
                </a:solidFill>
                <a:latin typeface="Aptos"/>
              </a:rPr>
              <a:t>What Tlamatini is: product identity, architecture, repository-backed facts, and the core execution model.</a:t>
            </a:r>
          </a:p>
          <a:p>
            <a:pPr>
              <a:spcAft>
                <a:spcPts val="800"/>
              </a:spcAft>
            </a:pPr>
            <a:r>
              <a:rPr sz="1800">
                <a:solidFill>
                  <a:srgbClr val="111827"/>
                </a:solidFill>
                <a:latin typeface="Aptos"/>
              </a:rPr>
              <a:t>How to run Tlamatini without any installer: prerequisites, source checkout, virtual environment, migrations, superuser creation, static collection, and server start commands.</a:t>
            </a:r>
          </a:p>
          <a:p>
            <a:pPr>
              <a:spcAft>
                <a:spcPts val="800"/>
              </a:spcAft>
            </a:pPr>
            <a:r>
              <a:rPr sz="1800">
                <a:solidFill>
                  <a:srgbClr val="111827"/>
                </a:solidFill>
                <a:latin typeface="Aptos"/>
              </a:rPr>
              <a:t>How to install Ollama without admin rights and pull the default model tags expected by the checked-in configuration.</a:t>
            </a:r>
          </a:p>
          <a:p>
            <a:pPr>
              <a:spcAft>
                <a:spcPts val="800"/>
              </a:spcAft>
            </a:pPr>
            <a:r>
              <a:rPr sz="1800">
                <a:solidFill>
                  <a:srgbClr val="111827"/>
                </a:solidFill>
                <a:latin typeface="Aptos"/>
              </a:rPr>
              <a:t>How to use the two main interfaces: the chat page in `agent_page.html` and the Agentic Control Panel in `agentic_control_panel.html`.</a:t>
            </a:r>
          </a:p>
          <a:p>
            <a:pPr>
              <a:spcAft>
                <a:spcPts val="800"/>
              </a:spcAft>
            </a:pPr>
            <a:r>
              <a:rPr sz="1800">
                <a:solidFill>
                  <a:srgbClr val="111827"/>
                </a:solidFill>
                <a:latin typeface="Aptos"/>
              </a:rPr>
              <a:t>How to package the application for end users with `python build.py`, `python build_uninstaller.py`, and `python build_installer.py`.</a:t>
            </a:r>
          </a:p>
          <a:p>
            <a:pPr>
              <a:spcAft>
                <a:spcPts val="800"/>
              </a:spcAft>
            </a:pPr>
            <a:r>
              <a:rPr sz="1800">
                <a:solidFill>
                  <a:srgbClr val="111827"/>
                </a:solidFill>
                <a:latin typeface="Aptos"/>
              </a:rPr>
              <a:t>How to extend the platform using the `create_new_agent.md` and `create_new_mcp.md` skills.</a:t>
            </a:r>
          </a:p>
        </p:txBody>
      </p:sp>
      <p:sp>
        <p:nvSpPr>
          <p:cNvPr id="9" name="Rectangle 8"/>
          <p:cNvSpPr/>
          <p:nvPr/>
        </p:nvSpPr>
        <p:spPr>
          <a:xfrm>
            <a:off x="7315200" y="1417320"/>
            <a:ext cx="3749039" cy="3383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79" y="1627632"/>
            <a:ext cx="3383280" cy="237744"/>
          </a:xfrm>
          <a:prstGeom prst="rect">
            <a:avLst/>
          </a:prstGeom>
          <a:noFill/>
        </p:spPr>
        <p:txBody>
          <a:bodyPr wrap="square">
            <a:spAutoFit/>
          </a:bodyPr>
          <a:lstStyle/>
          <a:p>
            <a:pPr algn="l"/>
            <a:r>
              <a:rPr sz="1500" b="1">
                <a:solidFill>
                  <a:srgbClr val="133B63"/>
                </a:solidFill>
                <a:latin typeface="Aptos"/>
              </a:rPr>
              <a:t>Fast reading path</a:t>
            </a:r>
          </a:p>
        </p:txBody>
      </p:sp>
      <p:sp>
        <p:nvSpPr>
          <p:cNvPr id="11" name="TextBox 10"/>
          <p:cNvSpPr txBox="1"/>
          <p:nvPr/>
        </p:nvSpPr>
        <p:spPr>
          <a:xfrm>
            <a:off x="7452360" y="1901952"/>
            <a:ext cx="3383280" cy="2651760"/>
          </a:xfrm>
          <a:prstGeom prst="rect">
            <a:avLst/>
          </a:prstGeom>
          <a:noFill/>
        </p:spPr>
        <p:txBody>
          <a:bodyPr wrap="square">
            <a:spAutoFit/>
          </a:bodyPr>
          <a:lstStyle/>
          <a:p>
            <a:pPr>
              <a:spcAft>
                <a:spcPts val="800"/>
              </a:spcAft>
            </a:pPr>
            <a:r>
              <a:rPr sz="1600">
                <a:solidFill>
                  <a:srgbClr val="111827"/>
                </a:solidFill>
                <a:latin typeface="Aptos"/>
              </a:rPr>
              <a:t>Slides 3-5: understand Tlamatini.</a:t>
            </a:r>
          </a:p>
          <a:p>
            <a:pPr>
              <a:spcAft>
                <a:spcPts val="800"/>
              </a:spcAft>
            </a:pPr>
            <a:r>
              <a:rPr sz="1600">
                <a:solidFill>
                  <a:srgbClr val="111827"/>
                </a:solidFill>
                <a:latin typeface="Aptos"/>
              </a:rPr>
              <a:t>Slides 6-9: get a source install running.</a:t>
            </a:r>
          </a:p>
          <a:p>
            <a:pPr>
              <a:spcAft>
                <a:spcPts val="800"/>
              </a:spcAft>
            </a:pPr>
            <a:r>
              <a:rPr sz="1600">
                <a:solidFill>
                  <a:srgbClr val="111827"/>
                </a:solidFill>
                <a:latin typeface="Aptos"/>
              </a:rPr>
              <a:t>Slides 10-16: use chat and ACP correctly.</a:t>
            </a:r>
          </a:p>
          <a:p>
            <a:pPr>
              <a:spcAft>
                <a:spcPts val="800"/>
              </a:spcAft>
            </a:pPr>
            <a:r>
              <a:rPr sz="1600">
                <a:solidFill>
                  <a:srgbClr val="111827"/>
                </a:solidFill>
                <a:latin typeface="Aptos"/>
              </a:rPr>
              <a:t>Slides 17-20: build packaged releases.</a:t>
            </a:r>
          </a:p>
          <a:p>
            <a:pPr>
              <a:spcAft>
                <a:spcPts val="800"/>
              </a:spcAft>
            </a:pPr>
            <a:r>
              <a:rPr sz="1600">
                <a:solidFill>
                  <a:srgbClr val="111827"/>
                </a:solidFill>
                <a:latin typeface="Aptos"/>
              </a:rPr>
              <a:t>Slides 21-24: extend the platform safely.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Identity</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Tlamatini Is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3</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Product definition</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What makes it different</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34840"/>
          </a:xfrm>
          <a:prstGeom prst="rect">
            <a:avLst/>
          </a:prstGeom>
          <a:noFill/>
        </p:spPr>
        <p:txBody>
          <a:bodyPr wrap="square">
            <a:spAutoFit/>
          </a:bodyPr>
          <a:lstStyle/>
          <a:p>
            <a:pPr>
              <a:spcAft>
                <a:spcPts val="800"/>
              </a:spcAft>
            </a:pPr>
            <a:r>
              <a:rPr sz="1800">
                <a:solidFill>
                  <a:srgbClr val="111827"/>
                </a:solidFill>
                <a:latin typeface="Aptos"/>
              </a:rPr>
              <a:t>A locally deployed AI developer assistant built with Django, Django Channels, LangChain, LangGraph, and a large in-repo `agent` application.</a:t>
            </a:r>
          </a:p>
          <a:p>
            <a:pPr>
              <a:spcAft>
                <a:spcPts val="800"/>
              </a:spcAft>
            </a:pPr>
            <a:r>
              <a:rPr sz="1800">
                <a:solidFill>
                  <a:srgbClr val="111827"/>
                </a:solidFill>
                <a:latin typeface="Aptos"/>
              </a:rPr>
              <a:t>It exposes two primary interfaces: the chat page at `/agent/` and the Agentic Control Panel at `/agentic_control_panel/`.</a:t>
            </a:r>
          </a:p>
          <a:p>
            <a:pPr>
              <a:spcAft>
                <a:spcPts val="800"/>
              </a:spcAft>
            </a:pPr>
            <a:r>
              <a:rPr sz="1800">
                <a:solidFill>
                  <a:srgbClr val="111827"/>
                </a:solidFill>
                <a:latin typeface="Aptos"/>
              </a:rPr>
              <a:t>It can answer questions, analyze code, load file or directory context, call tools, launch isolated wrapped agents, and orchestrate drag-and-drop workflows.</a:t>
            </a:r>
          </a:p>
          <a:p>
            <a:pPr>
              <a:spcAft>
                <a:spcPts val="800"/>
              </a:spcAft>
            </a:pPr>
            <a:r>
              <a:rPr sz="1800">
                <a:solidFill>
                  <a:srgbClr val="111827"/>
                </a:solidFill>
                <a:latin typeface="Aptos"/>
              </a:rPr>
              <a:t>It supports Ollama-local models, Anthropic Claude integrations, and Qwen-based vision paths.</a:t>
            </a:r>
          </a:p>
          <a:p>
            <a:pPr>
              <a:spcAft>
                <a:spcPts val="800"/>
              </a:spcAft>
            </a:pPr>
            <a:r>
              <a:rPr sz="1800">
                <a:solidFill>
                  <a:srgbClr val="111827"/>
                </a:solidFill>
                <a:latin typeface="Aptos"/>
              </a:rPr>
              <a:t>It can run directly from source; building the installer is optional and only needed for packaged distribution.</a:t>
            </a:r>
          </a:p>
        </p:txBody>
      </p:sp>
      <p:sp>
        <p:nvSpPr>
          <p:cNvPr id="13" name="TextBox 12"/>
          <p:cNvSpPr txBox="1"/>
          <p:nvPr/>
        </p:nvSpPr>
        <p:spPr>
          <a:xfrm>
            <a:off x="6263640" y="1371600"/>
            <a:ext cx="4754880" cy="4434840"/>
          </a:xfrm>
          <a:prstGeom prst="rect">
            <a:avLst/>
          </a:prstGeom>
          <a:noFill/>
        </p:spPr>
        <p:txBody>
          <a:bodyPr wrap="square">
            <a:spAutoFit/>
          </a:bodyPr>
          <a:lstStyle/>
          <a:p>
            <a:pPr>
              <a:spcAft>
                <a:spcPts val="800"/>
              </a:spcAft>
            </a:pPr>
            <a:r>
              <a:rPr sz="1800">
                <a:solidFill>
                  <a:srgbClr val="111827"/>
                </a:solidFill>
                <a:latin typeface="Aptos"/>
              </a:rPr>
              <a:t>RAG is not just file loading: the repo documents metadata extraction, hybrid FAISS + BM25 retrieval, context budgeting, and fallback behavior.</a:t>
            </a:r>
          </a:p>
          <a:p>
            <a:pPr>
              <a:spcAft>
                <a:spcPts val="800"/>
              </a:spcAft>
            </a:pPr>
            <a:r>
              <a:rPr sz="1800">
                <a:solidFill>
                  <a:srgbClr val="111827"/>
                </a:solidFill>
                <a:latin typeface="Aptos"/>
              </a:rPr>
              <a:t>The chat stack has an opt-in Multi-Turn mode that performs request-scoped planning, tool selection, and runtime monitoring.</a:t>
            </a:r>
          </a:p>
          <a:p>
            <a:pPr>
              <a:spcAft>
                <a:spcPts val="800"/>
              </a:spcAft>
            </a:pPr>
            <a:r>
              <a:rPr sz="1800">
                <a:solidFill>
                  <a:srgbClr val="111827"/>
                </a:solidFill>
                <a:latin typeface="Aptos"/>
              </a:rPr>
              <a:t>The ACP is not a toy canvas: it deploys real session-scoped agent instances, updates config wiring automatically, validates structural rules, and supports pause/resume.</a:t>
            </a:r>
          </a:p>
          <a:p>
            <a:pPr>
              <a:spcAft>
                <a:spcPts val="800"/>
              </a:spcAft>
            </a:pPr>
            <a:r>
              <a:rPr sz="1800">
                <a:solidFill>
                  <a:srgbClr val="111827"/>
                </a:solidFill>
                <a:latin typeface="Aptos"/>
              </a:rPr>
              <a:t>The project ships skills for creating new workflow agents and for extending MCP/tool/context-provider infrastructure without modifying the wrong subsystem.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Current workspace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Verified Repository Facts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4</a:t>
            </a:r>
          </a:p>
        </p:txBody>
      </p:sp>
      <p:graphicFrame>
        <p:nvGraphicFramePr>
          <p:cNvPr id="8" name="Table 7"/>
          <p:cNvGraphicFramePr>
            <a:graphicFrameLocks noGrp="1"/>
          </p:cNvGraphicFramePr>
          <p:nvPr/>
        </p:nvGraphicFramePr>
        <p:xfrm>
          <a:off x="594360" y="1234440"/>
          <a:ext cx="4892040" cy="2651760"/>
        </p:xfrm>
        <a:graphic>
          <a:graphicData uri="http://schemas.openxmlformats.org/drawingml/2006/table">
            <a:tbl>
              <a:tblPr firstRow="1" bandRow="1">
                <a:tableStyleId>{5C22544A-7EE6-4342-B048-85BDC9FD1C3A}</a:tableStyleId>
              </a:tblPr>
              <a:tblGrid>
                <a:gridCol w="2446020"/>
                <a:gridCol w="2446020"/>
              </a:tblGrid>
              <a:tr h="331470">
                <a:tc>
                  <a:txBody>
                    <a:bodyPr wrap="square"/>
                    <a:lstStyle/>
                    <a:p>
                      <a:pPr algn="l"/>
                      <a:r>
                        <a:rPr sz="1200" b="1">
                          <a:solidFill>
                            <a:srgbClr val="FFFFFF"/>
                          </a:solidFill>
                          <a:latin typeface="Aptos"/>
                        </a:rPr>
                        <a:t>Measure</a:t>
                      </a:r>
                    </a:p>
                  </a:txBody>
                  <a:tcPr marL="76200" marR="76200" marT="50800" marB="50800">
                    <a:solidFill>
                      <a:srgbClr val="133B63"/>
                    </a:solidFill>
                  </a:tcPr>
                </a:tc>
                <a:tc>
                  <a:txBody>
                    <a:bodyPr wrap="square"/>
                    <a:lstStyle/>
                    <a:p>
                      <a:pPr algn="l"/>
                      <a:r>
                        <a:rPr sz="1200" b="1">
                          <a:solidFill>
                            <a:srgbClr val="FFFFFF"/>
                          </a:solidFill>
                          <a:latin typeface="Aptos"/>
                        </a:rPr>
                        <a:t>Value</a:t>
                      </a:r>
                    </a:p>
                  </a:txBody>
                  <a:tcPr marL="76200" marR="76200" marT="50800" marB="50800">
                    <a:solidFill>
                      <a:srgbClr val="133B63"/>
                    </a:solidFill>
                  </a:tcPr>
                </a:tc>
              </a:tr>
              <a:tr h="331470">
                <a:tc>
                  <a:txBody>
                    <a:bodyPr wrap="square"/>
                    <a:lstStyle/>
                    <a:p>
                      <a:pPr algn="l"/>
                      <a:r>
                        <a:rPr sz="1200" b="0">
                          <a:solidFill>
                            <a:srgbClr val="111827"/>
                          </a:solidFill>
                          <a:latin typeface="Aptos"/>
                        </a:rPr>
                        <a:t>Tracked files</a:t>
                      </a:r>
                    </a:p>
                  </a:txBody>
                  <a:tcPr marL="76200" marR="76200" marT="50800" marB="50800">
                    <a:solidFill>
                      <a:srgbClr val="FFFFFF"/>
                    </a:solidFill>
                  </a:tcPr>
                </a:tc>
                <a:tc>
                  <a:txBody>
                    <a:bodyPr wrap="square"/>
                    <a:lstStyle/>
                    <a:p>
                      <a:pPr algn="l"/>
                      <a:r>
                        <a:rPr sz="1200" b="0">
                          <a:solidFill>
                            <a:srgbClr val="111827"/>
                          </a:solidFill>
                          <a:latin typeface="Aptos"/>
                        </a:rPr>
                        <a:t>340</a:t>
                      </a:r>
                    </a:p>
                  </a:txBody>
                  <a:tcPr marL="76200" marR="76200" marT="50800" marB="50800">
                    <a:solidFill>
                      <a:srgbClr val="FFFFFF"/>
                    </a:solidFill>
                  </a:tcPr>
                </a:tc>
              </a:tr>
              <a:tr h="331470">
                <a:tc>
                  <a:txBody>
                    <a:bodyPr wrap="square"/>
                    <a:lstStyle/>
                    <a:p>
                      <a:pPr algn="l"/>
                      <a:r>
                        <a:rPr sz="1200" b="0">
                          <a:solidFill>
                            <a:srgbClr val="111827"/>
                          </a:solidFill>
                          <a:latin typeface="Aptos"/>
                        </a:rPr>
                        <a:t>Workflow agent templates</a:t>
                      </a:r>
                    </a:p>
                  </a:txBody>
                  <a:tcPr marL="76200" marR="76200" marT="50800" marB="50800">
                    <a:solidFill>
                      <a:srgbClr val="FFFFFF"/>
                    </a:solidFill>
                  </a:tcPr>
                </a:tc>
                <a:tc>
                  <a:txBody>
                    <a:bodyPr wrap="square"/>
                    <a:lstStyle/>
                    <a:p>
                      <a:pPr algn="l"/>
                      <a:r>
                        <a:rPr sz="1200" b="0">
                          <a:solidFill>
                            <a:srgbClr val="111827"/>
                          </a:solidFill>
                          <a:latin typeface="Aptos"/>
                        </a:rPr>
                        <a:t>57</a:t>
                      </a:r>
                    </a:p>
                  </a:txBody>
                  <a:tcPr marL="76200" marR="76200" marT="50800" marB="50800">
                    <a:solidFill>
                      <a:srgbClr val="FFFFFF"/>
                    </a:solidFill>
                  </a:tcPr>
                </a:tc>
              </a:tr>
              <a:tr h="331470">
                <a:tc>
                  <a:txBody>
                    <a:bodyPr wrap="square"/>
                    <a:lstStyle/>
                    <a:p>
                      <a:pPr algn="l"/>
                      <a:r>
                        <a:rPr sz="1200" b="0">
                          <a:solidFill>
                            <a:srgbClr val="111827"/>
                          </a:solidFill>
                          <a:latin typeface="Aptos"/>
                        </a:rPr>
                        <a:t>Frontend JS modules</a:t>
                      </a:r>
                    </a:p>
                  </a:txBody>
                  <a:tcPr marL="76200" marR="76200" marT="50800" marB="50800">
                    <a:solidFill>
                      <a:srgbClr val="FFFFFF"/>
                    </a:solidFill>
                  </a:tcPr>
                </a:tc>
                <a:tc>
                  <a:txBody>
                    <a:bodyPr wrap="square"/>
                    <a:lstStyle/>
                    <a:p>
                      <a:pPr algn="l"/>
                      <a:r>
                        <a:rPr sz="1200" b="0">
                          <a:solidFill>
                            <a:srgbClr val="111827"/>
                          </a:solidFill>
                          <a:latin typeface="Aptos"/>
                        </a:rPr>
                        <a:t>24</a:t>
                      </a:r>
                    </a:p>
                  </a:txBody>
                  <a:tcPr marL="76200" marR="76200" marT="50800" marB="50800">
                    <a:solidFill>
                      <a:srgbClr val="FFFFFF"/>
                    </a:solidFill>
                  </a:tcPr>
                </a:tc>
              </a:tr>
              <a:tr h="331470">
                <a:tc>
                  <a:txBody>
                    <a:bodyPr wrap="square"/>
                    <a:lstStyle/>
                    <a:p>
                      <a:pPr algn="l"/>
                      <a:r>
                        <a:rPr sz="1200" b="0">
                          <a:solidFill>
                            <a:srgbClr val="111827"/>
                          </a:solidFill>
                          <a:latin typeface="Aptos"/>
                        </a:rPr>
                        <a:t>Frontend CSS files</a:t>
                      </a:r>
                    </a:p>
                  </a:txBody>
                  <a:tcPr marL="76200" marR="76200" marT="50800" marB="50800">
                    <a:solidFill>
                      <a:srgbClr val="FFFFFF"/>
                    </a:solidFill>
                  </a:tcPr>
                </a:tc>
                <a:tc>
                  <a:txBody>
                    <a:bodyPr wrap="square"/>
                    <a:lstStyle/>
                    <a:p>
                      <a:pPr algn="l"/>
                      <a:r>
                        <a:rPr sz="1200" b="0">
                          <a:solidFill>
                            <a:srgbClr val="111827"/>
                          </a:solidFill>
                          <a:latin typeface="Aptos"/>
                        </a:rPr>
                        <a:t>5</a:t>
                      </a:r>
                    </a:p>
                  </a:txBody>
                  <a:tcPr marL="76200" marR="76200" marT="50800" marB="50800">
                    <a:solidFill>
                      <a:srgbClr val="FFFFFF"/>
                    </a:solidFill>
                  </a:tcPr>
                </a:tc>
              </a:tr>
              <a:tr h="331470">
                <a:tc>
                  <a:txBody>
                    <a:bodyPr wrap="square"/>
                    <a:lstStyle/>
                    <a:p>
                      <a:pPr algn="l"/>
                      <a:r>
                        <a:rPr sz="1200" b="0">
                          <a:solidFill>
                            <a:srgbClr val="111827"/>
                          </a:solidFill>
                          <a:latin typeface="Aptos"/>
                        </a:rPr>
                        <a:t>Agent/ACP HTML templates</a:t>
                      </a:r>
                    </a:p>
                  </a:txBody>
                  <a:tcPr marL="76200" marR="76200" marT="50800" marB="50800">
                    <a:solidFill>
                      <a:srgbClr val="FFFFFF"/>
                    </a:solidFill>
                  </a:tcPr>
                </a:tc>
                <a:tc>
                  <a:txBody>
                    <a:bodyPr wrap="square"/>
                    <a:lstStyle/>
                    <a:p>
                      <a:pPr algn="l"/>
                      <a:r>
                        <a:rPr sz="1200" b="0">
                          <a:solidFill>
                            <a:srgbClr val="111827"/>
                          </a:solidFill>
                          <a:latin typeface="Aptos"/>
                        </a:rPr>
                        <a:t>4</a:t>
                      </a:r>
                    </a:p>
                  </a:txBody>
                  <a:tcPr marL="76200" marR="76200" marT="50800" marB="50800">
                    <a:solidFill>
                      <a:srgbClr val="FFFFFF"/>
                    </a:solidFill>
                  </a:tcPr>
                </a:tc>
              </a:tr>
              <a:tr h="331470">
                <a:tc>
                  <a:txBody>
                    <a:bodyPr wrap="square"/>
                    <a:lstStyle/>
                    <a:p>
                      <a:pPr algn="l"/>
                      <a:r>
                        <a:rPr sz="1200" b="0">
                          <a:solidFill>
                            <a:srgbClr val="111827"/>
                          </a:solidFill>
                          <a:latin typeface="Aptos"/>
                        </a:rPr>
                        <a:t>Django migrations</a:t>
                      </a:r>
                    </a:p>
                  </a:txBody>
                  <a:tcPr marL="76200" marR="76200" marT="50800" marB="50800">
                    <a:solidFill>
                      <a:srgbClr val="FFFFFF"/>
                    </a:solidFill>
                  </a:tcPr>
                </a:tc>
                <a:tc>
                  <a:txBody>
                    <a:bodyPr wrap="square"/>
                    <a:lstStyle/>
                    <a:p>
                      <a:pPr algn="l"/>
                      <a:r>
                        <a:rPr sz="1200" b="0">
                          <a:solidFill>
                            <a:srgbClr val="111827"/>
                          </a:solidFill>
                          <a:latin typeface="Aptos"/>
                        </a:rPr>
                        <a:t>70</a:t>
                      </a:r>
                    </a:p>
                  </a:txBody>
                  <a:tcPr marL="76200" marR="76200" marT="50800" marB="50800">
                    <a:solidFill>
                      <a:srgbClr val="FFFFFF"/>
                    </a:solidFill>
                  </a:tcPr>
                </a:tc>
              </a:tr>
              <a:tr h="331470">
                <a:tc>
                  <a:txBody>
                    <a:bodyPr wrap="square"/>
                    <a:lstStyle/>
                    <a:p>
                      <a:pPr algn="l"/>
                      <a:r>
                        <a:rPr sz="1200" b="0">
                          <a:solidFill>
                            <a:srgbClr val="111827"/>
                          </a:solidFill>
                          <a:latin typeface="Aptos"/>
                        </a:rPr>
                        <a:t>Primary truth sources</a:t>
                      </a:r>
                    </a:p>
                  </a:txBody>
                  <a:tcPr marL="76200" marR="76200" marT="50800" marB="50800">
                    <a:solidFill>
                      <a:srgbClr val="FFFFFF"/>
                    </a:solidFill>
                  </a:tcPr>
                </a:tc>
                <a:tc>
                  <a:txBody>
                    <a:bodyPr wrap="square"/>
                    <a:lstStyle/>
                    <a:p>
                      <a:pPr algn="l"/>
                      <a:r>
                        <a:rPr sz="1200" b="0">
                          <a:solidFill>
                            <a:srgbClr val="111827"/>
                          </a:solidFill>
                          <a:latin typeface="Aptos"/>
                        </a:rPr>
                        <a:t>README.md + CLAUDE.md</a:t>
                      </a:r>
                    </a:p>
                  </a:txBody>
                  <a:tcPr marL="76200" marR="76200" marT="50800" marB="50800">
                    <a:solidFill>
                      <a:srgbClr val="FFFFFF"/>
                    </a:solidFill>
                  </a:tcPr>
                </a:tc>
              </a:tr>
            </a:tbl>
          </a:graphicData>
        </a:graphic>
      </p:graphicFrame>
      <p:sp>
        <p:nvSpPr>
          <p:cNvPr id="9" name="Rectangle 8"/>
          <p:cNvSpPr/>
          <p:nvPr/>
        </p:nvSpPr>
        <p:spPr>
          <a:xfrm>
            <a:off x="5897880" y="1234440"/>
            <a:ext cx="4983480" cy="32500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1417320"/>
            <a:ext cx="4572000" cy="228600"/>
          </a:xfrm>
          <a:prstGeom prst="rect">
            <a:avLst/>
          </a:prstGeom>
          <a:noFill/>
        </p:spPr>
        <p:txBody>
          <a:bodyPr wrap="square">
            <a:spAutoFit/>
          </a:bodyPr>
          <a:lstStyle/>
          <a:p>
            <a:pPr algn="l"/>
            <a:r>
              <a:rPr sz="1600" b="1">
                <a:solidFill>
                  <a:srgbClr val="133B63"/>
                </a:solidFill>
                <a:latin typeface="Aptos"/>
              </a:rPr>
              <a:t>Why these facts matter</a:t>
            </a:r>
          </a:p>
        </p:txBody>
      </p:sp>
      <p:sp>
        <p:nvSpPr>
          <p:cNvPr id="11" name="TextBox 10"/>
          <p:cNvSpPr txBox="1"/>
          <p:nvPr/>
        </p:nvSpPr>
        <p:spPr>
          <a:xfrm>
            <a:off x="6016752" y="1783080"/>
            <a:ext cx="4572000" cy="2400000"/>
          </a:xfrm>
          <a:prstGeom prst="rect">
            <a:avLst/>
          </a:prstGeom>
          <a:noFill/>
        </p:spPr>
        <p:txBody>
          <a:bodyPr wrap="square">
            <a:normAutofit/>
          </a:bodyPr>
          <a:lstStyle/>
          <a:p>
            <a:pPr>
              <a:spcAft>
                <a:spcPts val="800"/>
              </a:spcAft>
            </a:pPr>
            <a:r>
              <a:rPr sz="1500">
                <a:solidFill>
                  <a:srgbClr val="111827"/>
                </a:solidFill>
                <a:latin typeface="Aptos"/>
              </a:rPr>
              <a:t>This deck intentionally uses current counts instead of the stale numbers in the previous 10-slide presentation.</a:t>
            </a:r>
          </a:p>
          <a:p>
            <a:pPr>
              <a:spcAft>
                <a:spcPts val="800"/>
              </a:spcAft>
            </a:pPr>
            <a:r>
              <a:rPr sz="1500">
                <a:solidFill>
                  <a:srgbClr val="111827"/>
                </a:solidFill>
                <a:latin typeface="Aptos"/>
              </a:rPr>
              <a:t>The checked-in README and CLAUDE guide agree that Tlamatini currently exposes 57 workflow-agent directories.</a:t>
            </a:r>
          </a:p>
          <a:p>
            <a:pPr>
              <a:spcAft>
                <a:spcPts val="800"/>
              </a:spcAft>
            </a:pPr>
            <a:r>
              <a:rPr sz="1500">
                <a:solidFill>
                  <a:srgbClr val="111827"/>
                </a:solidFill>
                <a:latin typeface="Aptos"/>
              </a:rPr>
              <a:t>The repository shape proves that the product is bigger than a chat wrapper: it contains frontend, runtime services, workflow agents, packaging, and extension scaffolding.</a:t>
            </a:r>
          </a:p>
        </p:txBody>
      </p:sp>
      <p:sp>
        <p:nvSpPr>
          <p:cNvPr id="12" name="Rectangle 11"/>
          <p:cNvSpPr/>
          <p:nvPr/>
        </p:nvSpPr>
        <p:spPr>
          <a:xfrm>
            <a:off x="5989320" y="4837952"/>
            <a:ext cx="1508760" cy="92000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9048" y="4900000"/>
            <a:ext cx="1289304" cy="210000"/>
          </a:xfrm>
          <a:prstGeom prst="rect">
            <a:avLst/>
          </a:prstGeom>
          <a:noFill/>
        </p:spPr>
        <p:txBody>
          <a:bodyPr wrap="square">
            <a:normAutofit/>
          </a:bodyPr>
          <a:lstStyle/>
          <a:p>
            <a:pPr algn="l"/>
            <a:r>
              <a:rPr sz="1100" b="0">
                <a:solidFill>
                  <a:srgbClr val="FFFFFF"/>
                </a:solidFill>
                <a:latin typeface="Aptos"/>
              </a:rPr>
              <a:t>Core app</a:t>
            </a:r>
          </a:p>
        </p:txBody>
      </p:sp>
      <p:sp>
        <p:nvSpPr>
          <p:cNvPr id="14" name="TextBox 13"/>
          <p:cNvSpPr txBox="1"/>
          <p:nvPr/>
        </p:nvSpPr>
        <p:spPr>
          <a:xfrm>
            <a:off x="6099048" y="5120000"/>
            <a:ext cx="1289304" cy="420000"/>
          </a:xfrm>
          <a:prstGeom prst="rect">
            <a:avLst/>
          </a:prstGeom>
          <a:noFill/>
        </p:spPr>
        <p:txBody>
          <a:bodyPr wrap="square">
            <a:normAutofit/>
          </a:bodyPr>
          <a:lstStyle/>
          <a:p>
            <a:pPr algn="l"/>
            <a:r>
              <a:rPr sz="1700" b="1">
                <a:solidFill>
                  <a:srgbClr val="FFFFFF"/>
                </a:solidFill>
                <a:latin typeface="Aptos Display"/>
              </a:rPr>
              <a:t>agent/</a:t>
            </a:r>
          </a:p>
        </p:txBody>
      </p:sp>
      <p:sp>
        <p:nvSpPr>
          <p:cNvPr id="15" name="Rectangle 14"/>
          <p:cNvSpPr/>
          <p:nvPr/>
        </p:nvSpPr>
        <p:spPr>
          <a:xfrm>
            <a:off x="7726679" y="4837952"/>
            <a:ext cx="1508760" cy="9200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36407" y="4900000"/>
            <a:ext cx="1289304" cy="210000"/>
          </a:xfrm>
          <a:prstGeom prst="rect">
            <a:avLst/>
          </a:prstGeom>
          <a:noFill/>
        </p:spPr>
        <p:txBody>
          <a:bodyPr wrap="square">
            <a:normAutofit/>
          </a:bodyPr>
          <a:lstStyle/>
          <a:p>
            <a:pPr algn="l"/>
            <a:r>
              <a:rPr sz="1100" b="0">
                <a:solidFill>
                  <a:srgbClr val="FFFFFF"/>
                </a:solidFill>
                <a:latin typeface="Aptos"/>
              </a:rPr>
              <a:t>Skills</a:t>
            </a:r>
          </a:p>
        </p:txBody>
      </p:sp>
      <p:sp>
        <p:nvSpPr>
          <p:cNvPr id="17" name="TextBox 16"/>
          <p:cNvSpPr txBox="1"/>
          <p:nvPr/>
        </p:nvSpPr>
        <p:spPr>
          <a:xfrm>
            <a:off x="7836407" y="5120000"/>
            <a:ext cx="1289304" cy="420000"/>
          </a:xfrm>
          <a:prstGeom prst="rect">
            <a:avLst/>
          </a:prstGeom>
          <a:noFill/>
        </p:spPr>
        <p:txBody>
          <a:bodyPr wrap="none" lIns="0" rIns="0">
            <a:normAutofit/>
          </a:bodyPr>
          <a:lstStyle/>
          <a:p>
            <a:pPr algn="l"/>
            <a:r>
              <a:rPr sz="1200" b="1">
                <a:solidFill>
                  <a:srgbClr val="FFFFFF"/>
                </a:solidFill>
                <a:latin typeface="Aptos Display"/>
              </a:rPr>
              <a:t>.agents/.mcps</a:t>
            </a:r>
          </a:p>
        </p:txBody>
      </p:sp>
      <p:sp>
        <p:nvSpPr>
          <p:cNvPr id="18" name="Rectangle 17"/>
          <p:cNvSpPr/>
          <p:nvPr/>
        </p:nvSpPr>
        <p:spPr>
          <a:xfrm>
            <a:off x="9464040" y="4837952"/>
            <a:ext cx="1325880" cy="92000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73768" y="4900000"/>
            <a:ext cx="1106424" cy="210000"/>
          </a:xfrm>
          <a:prstGeom prst="rect">
            <a:avLst/>
          </a:prstGeom>
          <a:noFill/>
        </p:spPr>
        <p:txBody>
          <a:bodyPr wrap="square">
            <a:normAutofit/>
          </a:bodyPr>
          <a:lstStyle/>
          <a:p>
            <a:pPr algn="l"/>
            <a:r>
              <a:rPr sz="1100" b="0">
                <a:solidFill>
                  <a:srgbClr val="FFFFFF"/>
                </a:solidFill>
                <a:latin typeface="Aptos"/>
              </a:rPr>
              <a:t>Build</a:t>
            </a:r>
          </a:p>
        </p:txBody>
      </p:sp>
      <p:sp>
        <p:nvSpPr>
          <p:cNvPr id="20" name="TextBox 19"/>
          <p:cNvSpPr txBox="1"/>
          <p:nvPr/>
        </p:nvSpPr>
        <p:spPr>
          <a:xfrm>
            <a:off x="9573768" y="5120000"/>
            <a:ext cx="1106424" cy="420000"/>
          </a:xfrm>
          <a:prstGeom prst="rect">
            <a:avLst/>
          </a:prstGeom>
          <a:noFill/>
        </p:spPr>
        <p:txBody>
          <a:bodyPr wrap="square">
            <a:normAutofit/>
          </a:bodyPr>
          <a:lstStyle/>
          <a:p>
            <a:pPr algn="l"/>
            <a:r>
              <a:rPr sz="1500" b="1">
                <a:solidFill>
                  <a:srgbClr val="FFFFFF"/>
                </a:solidFill>
                <a:latin typeface="Aptos Display"/>
              </a:rPr>
              <a:t>3 scripts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Tlamatini model</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Architecture in One Reading</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5</a:t>
            </a:r>
          </a:p>
        </p:txBody>
      </p:sp>
      <p:sp>
        <p:nvSpPr>
          <p:cNvPr id="8" name="Rectangle 7"/>
          <p:cNvSpPr/>
          <p:nvPr/>
        </p:nvSpPr>
        <p:spPr>
          <a:xfrm>
            <a:off x="731520" y="1463040"/>
            <a:ext cx="2103120" cy="77724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536192"/>
            <a:ext cx="1883664" cy="219456"/>
          </a:xfrm>
          <a:prstGeom prst="rect">
            <a:avLst/>
          </a:prstGeom>
          <a:noFill/>
        </p:spPr>
        <p:txBody>
          <a:bodyPr wrap="square">
            <a:spAutoFit/>
          </a:bodyPr>
          <a:lstStyle/>
          <a:p>
            <a:pPr algn="ctr"/>
            <a:r>
              <a:rPr sz="1400" b="1">
                <a:solidFill>
                  <a:srgbClr val="FFFFFF"/>
                </a:solidFill>
                <a:latin typeface="Aptos"/>
              </a:rPr>
              <a:t>Browser UI</a:t>
            </a:r>
          </a:p>
        </p:txBody>
      </p:sp>
      <p:sp>
        <p:nvSpPr>
          <p:cNvPr id="10" name="TextBox 9"/>
          <p:cNvSpPr txBox="1"/>
          <p:nvPr/>
        </p:nvSpPr>
        <p:spPr>
          <a:xfrm>
            <a:off x="841248" y="1773936"/>
            <a:ext cx="1883664" cy="182880"/>
          </a:xfrm>
          <a:prstGeom prst="rect">
            <a:avLst/>
          </a:prstGeom>
          <a:noFill/>
        </p:spPr>
        <p:txBody>
          <a:bodyPr wrap="square">
            <a:spAutoFit/>
          </a:bodyPr>
          <a:lstStyle/>
          <a:p>
            <a:pPr algn="ctr"/>
            <a:r>
              <a:rPr sz="1100" b="0">
                <a:solidFill>
                  <a:srgbClr val="FFFFFF"/>
                </a:solidFill>
                <a:latin typeface="Aptos"/>
              </a:rPr>
              <a:t>Chat page + ACP</a:t>
            </a:r>
          </a:p>
        </p:txBody>
      </p:sp>
      <p:sp>
        <p:nvSpPr>
          <p:cNvPr id="11" name="Rectangle 10"/>
          <p:cNvSpPr/>
          <p:nvPr/>
        </p:nvSpPr>
        <p:spPr>
          <a:xfrm>
            <a:off x="3063240" y="1463040"/>
            <a:ext cx="2103120" cy="77724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72968" y="1536192"/>
            <a:ext cx="1883664" cy="219456"/>
          </a:xfrm>
          <a:prstGeom prst="rect">
            <a:avLst/>
          </a:prstGeom>
          <a:noFill/>
        </p:spPr>
        <p:txBody>
          <a:bodyPr wrap="square">
            <a:spAutoFit/>
          </a:bodyPr>
          <a:lstStyle/>
          <a:p>
            <a:pPr algn="ctr"/>
            <a:r>
              <a:rPr sz="1400" b="1">
                <a:solidFill>
                  <a:srgbClr val="FFFFFF"/>
                </a:solidFill>
                <a:latin typeface="Aptos"/>
              </a:rPr>
              <a:t>Django Channels</a:t>
            </a:r>
          </a:p>
        </p:txBody>
      </p:sp>
      <p:sp>
        <p:nvSpPr>
          <p:cNvPr id="13" name="TextBox 12"/>
          <p:cNvSpPr txBox="1"/>
          <p:nvPr/>
        </p:nvSpPr>
        <p:spPr>
          <a:xfrm>
            <a:off x="3172968" y="1773936"/>
            <a:ext cx="1883664" cy="182880"/>
          </a:xfrm>
          <a:prstGeom prst="rect">
            <a:avLst/>
          </a:prstGeom>
          <a:noFill/>
        </p:spPr>
        <p:txBody>
          <a:bodyPr wrap="square">
            <a:spAutoFit/>
          </a:bodyPr>
          <a:lstStyle/>
          <a:p>
            <a:pPr algn="ctr"/>
            <a:r>
              <a:rPr sz="1100" b="0">
                <a:solidFill>
                  <a:srgbClr val="FFFFFF"/>
                </a:solidFill>
                <a:latin typeface="Aptos"/>
              </a:rPr>
              <a:t>AgentConsumer</a:t>
            </a:r>
          </a:p>
        </p:txBody>
      </p:sp>
      <p:sp>
        <p:nvSpPr>
          <p:cNvPr id="14" name="Rectangle 13"/>
          <p:cNvSpPr/>
          <p:nvPr/>
        </p:nvSpPr>
        <p:spPr>
          <a:xfrm>
            <a:off x="5394960" y="1463040"/>
            <a:ext cx="1737360" cy="777240"/>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1536192"/>
            <a:ext cx="1517904" cy="219456"/>
          </a:xfrm>
          <a:prstGeom prst="rect">
            <a:avLst/>
          </a:prstGeom>
          <a:noFill/>
        </p:spPr>
        <p:txBody>
          <a:bodyPr wrap="square">
            <a:spAutoFit/>
          </a:bodyPr>
          <a:lstStyle/>
          <a:p>
            <a:pPr algn="ctr"/>
            <a:r>
              <a:rPr sz="1400" b="1">
                <a:solidFill>
                  <a:srgbClr val="FFFFFF"/>
                </a:solidFill>
                <a:latin typeface="Aptos"/>
              </a:rPr>
              <a:t>RAG</a:t>
            </a:r>
          </a:p>
        </p:txBody>
      </p:sp>
      <p:sp>
        <p:nvSpPr>
          <p:cNvPr id="16" name="TextBox 15"/>
          <p:cNvSpPr txBox="1"/>
          <p:nvPr/>
        </p:nvSpPr>
        <p:spPr>
          <a:xfrm>
            <a:off x="5504688" y="1773936"/>
            <a:ext cx="1517904" cy="182880"/>
          </a:xfrm>
          <a:prstGeom prst="rect">
            <a:avLst/>
          </a:prstGeom>
          <a:noFill/>
        </p:spPr>
        <p:txBody>
          <a:bodyPr wrap="square">
            <a:spAutoFit/>
          </a:bodyPr>
          <a:lstStyle/>
          <a:p>
            <a:pPr algn="ctr"/>
            <a:r>
              <a:rPr sz="1100" b="0">
                <a:solidFill>
                  <a:srgbClr val="FFFFFF"/>
                </a:solidFill>
                <a:latin typeface="Aptos"/>
              </a:rPr>
              <a:t>retrieval + context</a:t>
            </a:r>
          </a:p>
        </p:txBody>
      </p:sp>
      <p:sp>
        <p:nvSpPr>
          <p:cNvPr id="17" name="Rectangle 16"/>
          <p:cNvSpPr/>
          <p:nvPr/>
        </p:nvSpPr>
        <p:spPr>
          <a:xfrm>
            <a:off x="7315200" y="1463040"/>
            <a:ext cx="2011680" cy="77724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8" y="1536192"/>
            <a:ext cx="1792224" cy="219456"/>
          </a:xfrm>
          <a:prstGeom prst="rect">
            <a:avLst/>
          </a:prstGeom>
          <a:noFill/>
        </p:spPr>
        <p:txBody>
          <a:bodyPr wrap="square">
            <a:spAutoFit/>
          </a:bodyPr>
          <a:lstStyle/>
          <a:p>
            <a:pPr algn="ctr"/>
            <a:r>
              <a:rPr sz="1400" b="1">
                <a:solidFill>
                  <a:srgbClr val="FFFFFF"/>
                </a:solidFill>
                <a:latin typeface="Aptos"/>
              </a:rPr>
              <a:t>Unified Agent</a:t>
            </a:r>
          </a:p>
        </p:txBody>
      </p:sp>
      <p:sp>
        <p:nvSpPr>
          <p:cNvPr id="19" name="TextBox 18"/>
          <p:cNvSpPr txBox="1"/>
          <p:nvPr/>
        </p:nvSpPr>
        <p:spPr>
          <a:xfrm>
            <a:off x="7424928" y="1773936"/>
            <a:ext cx="1792224" cy="182880"/>
          </a:xfrm>
          <a:prstGeom prst="rect">
            <a:avLst/>
          </a:prstGeom>
          <a:noFill/>
        </p:spPr>
        <p:txBody>
          <a:bodyPr wrap="square">
            <a:spAutoFit/>
          </a:bodyPr>
          <a:lstStyle/>
          <a:p>
            <a:pPr algn="ctr"/>
            <a:r>
              <a:rPr sz="1100" b="0">
                <a:solidFill>
                  <a:srgbClr val="FFFFFF"/>
                </a:solidFill>
                <a:latin typeface="Aptos"/>
              </a:rPr>
              <a:t>tools + runtimes</a:t>
            </a:r>
          </a:p>
        </p:txBody>
      </p:sp>
      <p:sp>
        <p:nvSpPr>
          <p:cNvPr id="20" name="Rectangle 19"/>
          <p:cNvSpPr/>
          <p:nvPr/>
        </p:nvSpPr>
        <p:spPr>
          <a:xfrm>
            <a:off x="9555480" y="1463040"/>
            <a:ext cx="1828800" cy="77724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65208" y="1536192"/>
            <a:ext cx="1609344" cy="219456"/>
          </a:xfrm>
          <a:prstGeom prst="rect">
            <a:avLst/>
          </a:prstGeom>
          <a:noFill/>
        </p:spPr>
        <p:txBody>
          <a:bodyPr wrap="square">
            <a:spAutoFit/>
          </a:bodyPr>
          <a:lstStyle/>
          <a:p>
            <a:pPr algn="ctr"/>
            <a:r>
              <a:rPr sz="1400" b="1">
                <a:solidFill>
                  <a:srgbClr val="FFFFFF"/>
                </a:solidFill>
                <a:latin typeface="Aptos"/>
              </a:rPr>
              <a:t>LLM Backends</a:t>
            </a:r>
          </a:p>
        </p:txBody>
      </p:sp>
      <p:sp>
        <p:nvSpPr>
          <p:cNvPr id="22" name="TextBox 21"/>
          <p:cNvSpPr txBox="1"/>
          <p:nvPr/>
        </p:nvSpPr>
        <p:spPr>
          <a:xfrm>
            <a:off x="9665208" y="1773936"/>
            <a:ext cx="1609344" cy="182880"/>
          </a:xfrm>
          <a:prstGeom prst="rect">
            <a:avLst/>
          </a:prstGeom>
          <a:noFill/>
        </p:spPr>
        <p:txBody>
          <a:bodyPr wrap="square">
            <a:spAutoFit/>
          </a:bodyPr>
          <a:lstStyle/>
          <a:p>
            <a:pPr algn="ctr"/>
            <a:r>
              <a:rPr sz="1100" b="0">
                <a:solidFill>
                  <a:srgbClr val="FFFFFF"/>
                </a:solidFill>
                <a:latin typeface="Aptos"/>
              </a:rPr>
              <a:t>Ollama / Claude / Qwen</a:t>
            </a:r>
          </a:p>
        </p:txBody>
      </p:sp>
      <p:cxnSp>
        <p:nvCxnSpPr>
          <p:cNvPr id="23" name="Connector 22"/>
          <p:cNvCxnSpPr/>
          <p:nvPr/>
        </p:nvCxnSpPr>
        <p:spPr>
          <a:xfrm>
            <a:off x="283464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6636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132320" y="1847088"/>
            <a:ext cx="18288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326880" y="1847088"/>
            <a:ext cx="228600" cy="0"/>
          </a:xfrm>
          <a:prstGeom prst="line">
            <a:avLst/>
          </a:prstGeom>
          <a:ln w="31750">
            <a:solidFill>
              <a:srgbClr val="20C997"/>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Five practical layers</a:t>
            </a:r>
          </a:p>
        </p:txBody>
      </p:sp>
      <p:sp>
        <p:nvSpPr>
          <p:cNvPr id="28" name="TextBox 27"/>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Request flow summary</a:t>
            </a:r>
          </a:p>
        </p:txBody>
      </p:sp>
      <p:sp>
        <p:nvSpPr>
          <p:cNvPr id="29" name="Rectangle 28"/>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743200"/>
            <a:ext cx="5074920" cy="2743200"/>
          </a:xfrm>
          <a:prstGeom prst="rect">
            <a:avLst/>
          </a:prstGeom>
          <a:noFill/>
        </p:spPr>
        <p:txBody>
          <a:bodyPr wrap="square">
            <a:spAutoFit/>
          </a:bodyPr>
          <a:lstStyle/>
          <a:p>
            <a:pPr>
              <a:spcAft>
                <a:spcPts val="800"/>
              </a:spcAft>
            </a:pPr>
            <a:r>
              <a:rPr sz="1600">
                <a:solidFill>
                  <a:srgbClr val="111827"/>
                </a:solidFill>
                <a:latin typeface="Aptos"/>
              </a:rPr>
              <a:t>Persisted toggles in the database: `Mcp`, `Tool`, and `Agent` rows.</a:t>
            </a:r>
          </a:p>
          <a:p>
            <a:pPr>
              <a:spcAft>
                <a:spcPts val="800"/>
              </a:spcAft>
            </a:pPr>
            <a:r>
              <a:rPr sz="1600">
                <a:solidFill>
                  <a:srgbClr val="111827"/>
                </a:solidFill>
                <a:latin typeface="Aptos"/>
              </a:rPr>
              <a:t>Runtime MCP services: System-Metrics over WebSocket and Files-Search over gRPC.</a:t>
            </a:r>
          </a:p>
          <a:p>
            <a:pPr>
              <a:spcAft>
                <a:spcPts val="800"/>
              </a:spcAft>
            </a:pPr>
            <a:r>
              <a:rPr sz="1600">
                <a:solidFill>
                  <a:srgbClr val="111827"/>
                </a:solidFill>
                <a:latin typeface="Aptos"/>
              </a:rPr>
              <a:t>Context-fetch sidecars: `chain_system_lcel.py` and `chain_files_search_lcel.py`.</a:t>
            </a:r>
          </a:p>
          <a:p>
            <a:pPr>
              <a:spcAft>
                <a:spcPts val="800"/>
              </a:spcAft>
            </a:pPr>
            <a:r>
              <a:rPr sz="1600">
                <a:solidFill>
                  <a:srgbClr val="111827"/>
                </a:solidFill>
                <a:latin typeface="Aptos"/>
              </a:rPr>
              <a:t>Main answer chains under `agent/rag/chains/`.</a:t>
            </a:r>
          </a:p>
          <a:p>
            <a:pPr>
              <a:spcAft>
                <a:spcPts val="800"/>
              </a:spcAft>
            </a:pPr>
            <a:r>
              <a:rPr sz="1600">
                <a:solidFill>
                  <a:srgbClr val="111827"/>
                </a:solidFill>
                <a:latin typeface="Aptos"/>
              </a:rPr>
              <a:t>Unified-agent tools and wrapped runtime helpers under `agent/tools.py`, `mcp_agent.py`, and `chat_agent_runtime.py`.</a:t>
            </a:r>
          </a:p>
        </p:txBody>
      </p:sp>
      <p:sp>
        <p:nvSpPr>
          <p:cNvPr id="32" name="TextBox 31"/>
          <p:cNvSpPr txBox="1"/>
          <p:nvPr/>
        </p:nvSpPr>
        <p:spPr>
          <a:xfrm>
            <a:off x="6263640" y="2743200"/>
            <a:ext cx="4754880" cy="2743200"/>
          </a:xfrm>
          <a:prstGeom prst="rect">
            <a:avLst/>
          </a:prstGeom>
          <a:noFill/>
        </p:spPr>
        <p:txBody>
          <a:bodyPr wrap="square">
            <a:spAutoFit/>
          </a:bodyPr>
          <a:lstStyle/>
          <a:p>
            <a:pPr>
              <a:spcAft>
                <a:spcPts val="800"/>
              </a:spcAft>
            </a:pPr>
            <a:r>
              <a:rPr sz="1600">
                <a:solidFill>
                  <a:srgbClr val="111827"/>
                </a:solidFill>
                <a:latin typeface="Aptos"/>
              </a:rPr>
              <a:t>User request enters through `AgentConsumer` over WebSocket.</a:t>
            </a:r>
          </a:p>
          <a:p>
            <a:pPr>
              <a:spcAft>
                <a:spcPts val="800"/>
              </a:spcAft>
            </a:pPr>
            <a:r>
              <a:rPr sz="1600">
                <a:solidFill>
                  <a:srgbClr val="111827"/>
                </a:solidFill>
                <a:latin typeface="Aptos"/>
              </a:rPr>
              <a:t>Factory selects a chain and optionally injects file/system context.</a:t>
            </a:r>
          </a:p>
          <a:p>
            <a:pPr>
              <a:spcAft>
                <a:spcPts val="800"/>
              </a:spcAft>
            </a:pPr>
            <a:r>
              <a:rPr sz="1600">
                <a:solidFill>
                  <a:srgbClr val="111827"/>
                </a:solidFill>
                <a:latin typeface="Aptos"/>
              </a:rPr>
              <a:t>Unchecked chat preserves legacy one-shot behavior.</a:t>
            </a:r>
          </a:p>
          <a:p>
            <a:pPr>
              <a:spcAft>
                <a:spcPts val="800"/>
              </a:spcAft>
            </a:pPr>
            <a:r>
              <a:rPr sz="1600">
                <a:solidFill>
                  <a:srgbClr val="111827"/>
                </a:solidFill>
                <a:latin typeface="Aptos"/>
              </a:rPr>
              <a:t>Checked Multi-Turn enables planner-based context and tool selection.</a:t>
            </a:r>
          </a:p>
          <a:p>
            <a:pPr>
              <a:spcAft>
                <a:spcPts val="800"/>
              </a:spcAft>
            </a:pPr>
            <a:r>
              <a:rPr sz="1600">
                <a:solidFill>
                  <a:srgbClr val="111827"/>
                </a:solidFill>
                <a:latin typeface="Aptos"/>
              </a:rPr>
              <a:t>The final answer streams back with tool output, monitored runtime state, and retrieved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Source mode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Run From Source: Setup Without Any Installer</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6</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Prerequisites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Exact setup commands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37760" cy="4434840"/>
          </a:xfrm>
          <a:prstGeom prst="rect">
            <a:avLst/>
          </a:prstGeom>
          <a:noFill/>
        </p:spPr>
        <p:txBody>
          <a:bodyPr wrap="square">
            <a:spAutoFit/>
          </a:bodyPr>
          <a:lstStyle/>
          <a:p>
            <a:pPr>
              <a:spcAft>
                <a:spcPts val="800"/>
              </a:spcAft>
            </a:pPr>
            <a:r>
              <a:rPr sz="1800">
                <a:solidFill>
                  <a:srgbClr val="111827"/>
                </a:solidFill>
                <a:latin typeface="Aptos"/>
              </a:rPr>
              <a:t>Windows-friendly workflow; Python 3.12+ is the expected baseline in the docs and requirements.</a:t>
            </a:r>
          </a:p>
          <a:p>
            <a:pPr>
              <a:spcAft>
                <a:spcPts val="800"/>
              </a:spcAft>
            </a:pPr>
            <a:r>
              <a:rPr sz="1800">
                <a:solidFill>
                  <a:srgbClr val="111827"/>
                </a:solidFill>
                <a:latin typeface="Aptos"/>
              </a:rPr>
              <a:t>You need Git, a writable workspace, and a decision about model backend: keep the checked-in cloud-oriented defaults or replace them with your own Ollama-local values.</a:t>
            </a:r>
          </a:p>
          <a:p>
            <a:pPr>
              <a:spcAft>
                <a:spcPts val="800"/>
              </a:spcAft>
            </a:pPr>
            <a:r>
              <a:rPr sz="1800">
                <a:solidFill>
                  <a:srgbClr val="111827"/>
                </a:solidFill>
                <a:latin typeface="Aptos"/>
              </a:rPr>
              <a:t>No installer build is required to learn or use Tlamatini from source.</a:t>
            </a:r>
          </a:p>
          <a:p>
            <a:pPr>
              <a:spcAft>
                <a:spcPts val="800"/>
              </a:spcAft>
            </a:pPr>
            <a:r>
              <a:rPr sz="1800">
                <a:solidFill>
                  <a:srgbClr val="111827"/>
                </a:solidFill>
                <a:latin typeface="Aptos"/>
              </a:rPr>
              <a:t>In source mode you create your own superuser; the shipped `user/changeme` credentials are for built installer flows only.</a:t>
            </a:r>
          </a:p>
        </p:txBody>
      </p:sp>
      <p:sp>
        <p:nvSpPr>
          <p:cNvPr id="13" name="Rectangle 12"/>
          <p:cNvSpPr/>
          <p:nvPr/>
        </p:nvSpPr>
        <p:spPr>
          <a:xfrm>
            <a:off x="5989320" y="1325880"/>
            <a:ext cx="498348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399032"/>
            <a:ext cx="4654296" cy="228600"/>
          </a:xfrm>
          <a:prstGeom prst="rect">
            <a:avLst/>
          </a:prstGeom>
          <a:noFill/>
        </p:spPr>
        <p:txBody>
          <a:bodyPr wrap="square">
            <a:spAutoFit/>
          </a:bodyPr>
          <a:lstStyle/>
          <a:p>
            <a:pPr algn="l"/>
            <a:r>
              <a:rPr sz="1200" b="1">
                <a:solidFill>
                  <a:srgbClr val="20C997"/>
                </a:solidFill>
                <a:latin typeface="Aptos"/>
              </a:rPr>
              <a:t>Source-mode bootstrap</a:t>
            </a:r>
          </a:p>
        </p:txBody>
      </p:sp>
      <p:sp>
        <p:nvSpPr>
          <p:cNvPr id="15" name="TextBox 14"/>
          <p:cNvSpPr txBox="1"/>
          <p:nvPr/>
        </p:nvSpPr>
        <p:spPr>
          <a:xfrm>
            <a:off x="6153912" y="1636776"/>
            <a:ext cx="4654296" cy="4315968"/>
          </a:xfrm>
          <a:prstGeom prst="rect">
            <a:avLst/>
          </a:prstGeom>
          <a:noFill/>
        </p:spPr>
        <p:txBody>
          <a:bodyPr wrap="square">
            <a:spAutoFit/>
          </a:bodyPr>
          <a:lstStyle/>
          <a:p>
            <a:pPr algn="l"/>
            <a:r>
              <a:rPr sz="1200" b="0">
                <a:solidFill>
                  <a:srgbClr val="FFFFFF"/>
                </a:solidFill>
                <a:latin typeface="Consolas"/>
              </a:rPr>
              <a:t>git clone https://github.com/XAIHT/Tlamatini.git
cd Tlamatini
python -m venv venv
venv\Scripts\activate
pip install -r requirements.txt
python Tlamatini/manage.py migrate
python Tlamatini/manage.py createsuperuser
python Tlamatini/manage.py collectstatic --noinput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Local model runtime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Install Ollama Without Admin Rights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7</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No-admin install path</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Service and health checks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37760" cy="4480560"/>
          </a:xfrm>
          <a:prstGeom prst="rect">
            <a:avLst/>
          </a:prstGeom>
          <a:noFill/>
        </p:spPr>
        <p:txBody>
          <a:bodyPr wrap="square">
            <a:spAutoFit/>
          </a:bodyPr>
          <a:lstStyle/>
          <a:p>
            <a:pPr>
              <a:spcAft>
                <a:spcPts val="800"/>
              </a:spcAft>
            </a:pPr>
            <a:r>
              <a:rPr sz="1800">
                <a:solidFill>
                  <a:srgbClr val="111827"/>
                </a:solidFill>
                <a:latin typeface="Aptos"/>
              </a:rPr>
              <a:t>Open a normal PowerShell window; do not run as Administrator.</a:t>
            </a:r>
          </a:p>
          <a:p>
            <a:pPr>
              <a:spcAft>
                <a:spcPts val="800"/>
              </a:spcAft>
            </a:pPr>
            <a:r>
              <a:rPr sz="1800">
                <a:solidFill>
                  <a:srgbClr val="111827"/>
                </a:solidFill>
                <a:latin typeface="Aptos"/>
              </a:rPr>
              <a:t>The README documents a per-user install under `%LOCALAPPDATA%\Programs\Ollama`.</a:t>
            </a:r>
          </a:p>
          <a:p>
            <a:pPr>
              <a:spcAft>
                <a:spcPts val="800"/>
              </a:spcAft>
            </a:pPr>
            <a:r>
              <a:rPr sz="1800">
                <a:solidFill>
                  <a:srgbClr val="111827"/>
                </a:solidFill>
                <a:latin typeface="Aptos"/>
              </a:rPr>
              <a:t>After the installer finishes, close and reopen PowerShell so PATH updates are visible.</a:t>
            </a:r>
          </a:p>
          <a:p>
            <a:pPr>
              <a:spcAft>
                <a:spcPts val="800"/>
              </a:spcAft>
            </a:pPr>
            <a:r>
              <a:rPr sz="1800">
                <a:solidFill>
                  <a:srgbClr val="111827"/>
                </a:solidFill>
                <a:latin typeface="Aptos"/>
              </a:rPr>
              <a:t>If `ollama` is still not on PATH, the README shows how to execute it directly from the install directory.</a:t>
            </a:r>
          </a:p>
        </p:txBody>
      </p:sp>
      <p:sp>
        <p:nvSpPr>
          <p:cNvPr id="13" name="Rectangle 12"/>
          <p:cNvSpPr/>
          <p:nvPr/>
        </p:nvSpPr>
        <p:spPr>
          <a:xfrm>
            <a:off x="5989320" y="1325880"/>
            <a:ext cx="498348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399032"/>
            <a:ext cx="4654296" cy="228600"/>
          </a:xfrm>
          <a:prstGeom prst="rect">
            <a:avLst/>
          </a:prstGeom>
          <a:noFill/>
        </p:spPr>
        <p:txBody>
          <a:bodyPr wrap="square">
            <a:spAutoFit/>
          </a:bodyPr>
          <a:lstStyle/>
          <a:p>
            <a:pPr algn="l"/>
            <a:r>
              <a:rPr sz="1200" b="1">
                <a:solidFill>
                  <a:srgbClr val="20C997"/>
                </a:solidFill>
                <a:latin typeface="Aptos"/>
              </a:rPr>
              <a:t>PowerShell commands</a:t>
            </a:r>
          </a:p>
        </p:txBody>
      </p:sp>
      <p:sp>
        <p:nvSpPr>
          <p:cNvPr id="15" name="TextBox 14"/>
          <p:cNvSpPr txBox="1"/>
          <p:nvPr/>
        </p:nvSpPr>
        <p:spPr>
          <a:xfrm>
            <a:off x="6153912" y="1636776"/>
            <a:ext cx="4654296" cy="4315968"/>
          </a:xfrm>
          <a:prstGeom prst="rect">
            <a:avLst/>
          </a:prstGeom>
          <a:noFill/>
        </p:spPr>
        <p:txBody>
          <a:bodyPr wrap="square">
            <a:spAutoFit/>
          </a:bodyPr>
          <a:lstStyle/>
          <a:p>
            <a:pPr algn="l"/>
            <a:r>
              <a:rPr sz="1200" b="0">
                <a:solidFill>
                  <a:srgbClr val="FFFFFF"/>
                </a:solidFill>
                <a:latin typeface="Consolas"/>
              </a:rPr>
              <a:t>$env:OLLAMA_INSTALL_DIR = "$env:LOCALAPPDATA\Programs\Ollama"
irm https://ollama.com/install.ps1 | iex
ollama --version
ollama serve
Invoke-WebRequest http://127.0.0.1:11434/api/tags -UseBasicParsing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Model defaults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Required Models and `config.json` Caveat</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8</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Pull the shipped default model tags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Know what the checked-in config means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325880"/>
            <a:ext cx="5029200" cy="452628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399032"/>
            <a:ext cx="4700016" cy="228600"/>
          </a:xfrm>
          <a:prstGeom prst="rect">
            <a:avLst/>
          </a:prstGeom>
          <a:noFill/>
        </p:spPr>
        <p:txBody>
          <a:bodyPr wrap="square">
            <a:spAutoFit/>
          </a:bodyPr>
          <a:lstStyle/>
          <a:p>
            <a:pPr algn="l"/>
            <a:r>
              <a:rPr sz="1200" b="1">
                <a:solidFill>
                  <a:srgbClr val="20C997"/>
                </a:solidFill>
                <a:latin typeface="Aptos"/>
              </a:rPr>
              <a:t>README default pull list</a:t>
            </a:r>
          </a:p>
        </p:txBody>
      </p:sp>
      <p:sp>
        <p:nvSpPr>
          <p:cNvPr id="14" name="TextBox 13"/>
          <p:cNvSpPr txBox="1"/>
          <p:nvPr/>
        </p:nvSpPr>
        <p:spPr>
          <a:xfrm>
            <a:off x="758952" y="1636776"/>
            <a:ext cx="4700016" cy="4361688"/>
          </a:xfrm>
          <a:prstGeom prst="rect">
            <a:avLst/>
          </a:prstGeom>
          <a:noFill/>
        </p:spPr>
        <p:txBody>
          <a:bodyPr wrap="square">
            <a:spAutoFit/>
          </a:bodyPr>
          <a:lstStyle/>
          <a:p>
            <a:pPr algn="l"/>
            <a:r>
              <a:rPr sz="1200" b="0">
                <a:solidFill>
                  <a:srgbClr val="FFFFFF"/>
                </a:solidFill>
                <a:latin typeface="Consolas"/>
              </a:rPr>
              <a:t>ollama pull qwen3-embedding:8b
ollama pull glm-5:cloud
ollama pull qwen3.5:cloud
ollama pull gpt-oss:120b-cloud
ollama pull qwen3.5:397b-cloud
ollama pull llama3.2-vision:11b</a:t>
            </a:r>
          </a:p>
        </p:txBody>
      </p:sp>
      <p:sp>
        <p:nvSpPr>
          <p:cNvPr id="15" name="TextBox 14"/>
          <p:cNvSpPr txBox="1"/>
          <p:nvPr/>
        </p:nvSpPr>
        <p:spPr>
          <a:xfrm>
            <a:off x="6035040" y="1353312"/>
            <a:ext cx="4892040" cy="4526280"/>
          </a:xfrm>
          <a:prstGeom prst="rect">
            <a:avLst/>
          </a:prstGeom>
          <a:noFill/>
        </p:spPr>
        <p:txBody>
          <a:bodyPr wrap="square">
            <a:spAutoFit/>
          </a:bodyPr>
          <a:lstStyle/>
          <a:p>
            <a:pPr>
              <a:spcAft>
                <a:spcPts val="800"/>
              </a:spcAft>
            </a:pPr>
            <a:r>
              <a:rPr sz="1600">
                <a:solidFill>
                  <a:srgbClr val="111827"/>
                </a:solidFill>
                <a:latin typeface="Aptos"/>
              </a:rPr>
              <a:t>The checked-in `Tlamatini/agent/config.json` uses `qwen3-embedding:8b` for embeddings and `glm-5:cloud` for several chat and MCP-related defaults.</a:t>
            </a:r>
          </a:p>
          <a:p>
            <a:pPr>
              <a:spcAft>
                <a:spcPts val="800"/>
              </a:spcAft>
            </a:pPr>
            <a:r>
              <a:rPr sz="1600">
                <a:solidFill>
                  <a:srgbClr val="111827"/>
                </a:solidFill>
                <a:latin typeface="Aptos"/>
              </a:rPr>
              <a:t>Image interpretation defaults to `qwen3.5:cloud`; FlowCreator agent templates ship with `qwen3.5:397b-cloud`.</a:t>
            </a:r>
          </a:p>
          <a:p>
            <a:pPr>
              <a:spcAft>
                <a:spcPts val="800"/>
              </a:spcAft>
            </a:pPr>
            <a:r>
              <a:rPr sz="1600">
                <a:solidFill>
                  <a:srgbClr val="111827"/>
                </a:solidFill>
                <a:latin typeface="Aptos"/>
              </a:rPr>
              <a:t>If you want a fully local deployment, replace the `:cloud` tags with model names available in your Ollama environment and keep the base URLs pointed at `http://127.0.0.1:11434`.</a:t>
            </a:r>
          </a:p>
          <a:p>
            <a:pPr>
              <a:spcAft>
                <a:spcPts val="800"/>
              </a:spcAft>
            </a:pPr>
            <a:r>
              <a:rPr sz="1600">
                <a:solidFill>
                  <a:srgbClr val="111827"/>
                </a:solidFill>
                <a:latin typeface="Aptos"/>
              </a:rPr>
              <a:t>`telegramrx` also refers to a Whisper model (`medium`), but that is not installed with `ollama pull`.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First productive run</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Start Tlamatini and Access the UI</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9</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Server start options</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First-use checklist</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1325880"/>
            <a:ext cx="5029200" cy="448056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399032"/>
            <a:ext cx="4700016" cy="228600"/>
          </a:xfrm>
          <a:prstGeom prst="rect">
            <a:avLst/>
          </a:prstGeom>
          <a:noFill/>
        </p:spPr>
        <p:txBody>
          <a:bodyPr wrap="square">
            <a:spAutoFit/>
          </a:bodyPr>
          <a:lstStyle/>
          <a:p>
            <a:pPr algn="l"/>
            <a:r>
              <a:rPr sz="1200" b="1">
                <a:solidFill>
                  <a:srgbClr val="20C997"/>
                </a:solidFill>
                <a:latin typeface="Aptos"/>
              </a:rPr>
              <a:t>Choose one</a:t>
            </a:r>
          </a:p>
        </p:txBody>
      </p:sp>
      <p:sp>
        <p:nvSpPr>
          <p:cNvPr id="14" name="TextBox 13"/>
          <p:cNvSpPr txBox="1"/>
          <p:nvPr/>
        </p:nvSpPr>
        <p:spPr>
          <a:xfrm>
            <a:off x="758952" y="1636776"/>
            <a:ext cx="4700016" cy="4315968"/>
          </a:xfrm>
          <a:prstGeom prst="rect">
            <a:avLst/>
          </a:prstGeom>
          <a:noFill/>
        </p:spPr>
        <p:txBody>
          <a:bodyPr wrap="square">
            <a:spAutoFit/>
          </a:bodyPr>
          <a:lstStyle/>
          <a:p>
            <a:pPr algn="l"/>
            <a:r>
              <a:rPr sz="1200" b="0">
                <a:solidFill>
                  <a:srgbClr val="FFFFFF"/>
                </a:solidFill>
                <a:latin typeface="Consolas"/>
              </a:rPr>
              <a:t>python Tlamatini/manage.py runserver --noreload
python Tlamatini/manage.py startserver
daphne -b 127.0.0.1 -p 8000 tlamatini.asgi:application</a:t>
            </a:r>
          </a:p>
        </p:txBody>
      </p:sp>
      <p:sp>
        <p:nvSpPr>
          <p:cNvPr id="15" name="TextBox 14"/>
          <p:cNvSpPr txBox="1"/>
          <p:nvPr/>
        </p:nvSpPr>
        <p:spPr>
          <a:xfrm>
            <a:off x="6035040" y="1353312"/>
            <a:ext cx="4892040" cy="4526280"/>
          </a:xfrm>
          <a:prstGeom prst="rect">
            <a:avLst/>
          </a:prstGeom>
          <a:noFill/>
        </p:spPr>
        <p:txBody>
          <a:bodyPr wrap="square">
            <a:spAutoFit/>
          </a:bodyPr>
          <a:lstStyle/>
          <a:p>
            <a:pPr>
              <a:spcAft>
                <a:spcPts val="800"/>
              </a:spcAft>
            </a:pPr>
            <a:r>
              <a:rPr sz="1700">
                <a:solidFill>
                  <a:srgbClr val="111827"/>
                </a:solidFill>
                <a:latin typeface="Aptos"/>
              </a:rPr>
              <a:t>Open `http://127.0.0.1:8000/` in your browser.</a:t>
            </a:r>
          </a:p>
          <a:p>
            <a:pPr>
              <a:spcAft>
                <a:spcPts val="800"/>
              </a:spcAft>
            </a:pPr>
            <a:r>
              <a:rPr sz="1700">
                <a:solidFill>
                  <a:srgbClr val="111827"/>
                </a:solidFill>
                <a:latin typeface="Aptos"/>
              </a:rPr>
              <a:t>Log in with the superuser you created in source mode.</a:t>
            </a:r>
          </a:p>
          <a:p>
            <a:pPr>
              <a:spcAft>
                <a:spcPts val="800"/>
              </a:spcAft>
            </a:pPr>
            <a:r>
              <a:rPr sz="1700">
                <a:solidFill>
                  <a:srgbClr val="111827"/>
                </a:solidFill>
                <a:latin typeface="Aptos"/>
              </a:rPr>
              <a:t>Navigate to `/agent/` for chat and `/agentic_control_panel/` for flow design.</a:t>
            </a:r>
          </a:p>
          <a:p>
            <a:pPr>
              <a:spcAft>
                <a:spcPts val="800"/>
              </a:spcAft>
            </a:pPr>
            <a:r>
              <a:rPr sz="1700">
                <a:solidFill>
                  <a:srgbClr val="111827"/>
                </a:solidFill>
                <a:latin typeface="Aptos"/>
              </a:rPr>
              <a:t>Load a directory or file context before asking codebase-specific questions.</a:t>
            </a:r>
          </a:p>
          <a:p>
            <a:pPr>
              <a:spcAft>
                <a:spcPts val="800"/>
              </a:spcAft>
            </a:pPr>
            <a:r>
              <a:rPr sz="1700">
                <a:solidFill>
                  <a:srgbClr val="111827"/>
                </a:solidFill>
                <a:latin typeface="Aptos"/>
              </a:rPr>
              <a:t>Use `startserver` when you want the documented MCP startup path to come up explicitly with the Django server.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Interface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Chat Page Anatomy (`agent_page.html`)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10</a:t>
            </a:r>
          </a:p>
        </p:txBody>
      </p:sp>
      <p:sp>
        <p:nvSpPr>
          <p:cNvPr id="8" name="Rectangle 7"/>
          <p:cNvSpPr/>
          <p:nvPr/>
        </p:nvSpPr>
        <p:spPr>
          <a:xfrm>
            <a:off x="502920" y="1234440"/>
            <a:ext cx="7040880" cy="4526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234440"/>
            <a:ext cx="7040880" cy="41148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344168"/>
            <a:ext cx="1280160" cy="146304"/>
          </a:xfrm>
          <a:prstGeom prst="rect">
            <a:avLst/>
          </a:prstGeom>
          <a:noFill/>
        </p:spPr>
        <p:txBody>
          <a:bodyPr wrap="square">
            <a:spAutoFit/>
          </a:bodyPr>
          <a:lstStyle/>
          <a:p>
            <a:pPr algn="l"/>
            <a:r>
              <a:rPr sz="1300" b="1">
                <a:solidFill>
                  <a:srgbClr val="FFFFFF"/>
                </a:solidFill>
                <a:latin typeface="Aptos"/>
              </a:rPr>
              <a:t>Navbar</a:t>
            </a:r>
          </a:p>
        </p:txBody>
      </p:sp>
      <p:sp>
        <p:nvSpPr>
          <p:cNvPr id="11" name="TextBox 10"/>
          <p:cNvSpPr txBox="1"/>
          <p:nvPr/>
        </p:nvSpPr>
        <p:spPr>
          <a:xfrm>
            <a:off x="1828800" y="1344168"/>
            <a:ext cx="5303520" cy="146304"/>
          </a:xfrm>
          <a:prstGeom prst="rect">
            <a:avLst/>
          </a:prstGeom>
          <a:noFill/>
        </p:spPr>
        <p:txBody>
          <a:bodyPr wrap="square">
            <a:spAutoFit/>
          </a:bodyPr>
          <a:lstStyle/>
          <a:p>
            <a:pPr algn="l"/>
            <a:r>
              <a:rPr sz="1000" b="0">
                <a:solidFill>
                  <a:srgbClr val="FFFFFF"/>
                </a:solidFill>
                <a:latin typeface="Aptos"/>
              </a:rPr>
              <a:t>Open | Save | Context | MCPs | Agents | Admin | Reconnect | About | Logout</a:t>
            </a:r>
          </a:p>
        </p:txBody>
      </p:sp>
      <p:sp>
        <p:nvSpPr>
          <p:cNvPr id="12" name="Rectangle 11"/>
          <p:cNvSpPr/>
          <p:nvPr/>
        </p:nvSpPr>
        <p:spPr>
          <a:xfrm>
            <a:off x="640080" y="1783080"/>
            <a:ext cx="2286000" cy="34290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63240" y="1783080"/>
            <a:ext cx="4206240" cy="34290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993392"/>
            <a:ext cx="2057400" cy="1737360"/>
          </a:xfrm>
          <a:prstGeom prst="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3840480"/>
            <a:ext cx="2057400" cy="38404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808" y="4315968"/>
            <a:ext cx="2057400" cy="658368"/>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847088"/>
            <a:ext cx="3931920" cy="347472"/>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2286000"/>
            <a:ext cx="384048" cy="2743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21024" y="2286000"/>
            <a:ext cx="3511296" cy="2743200"/>
          </a:xfrm>
          <a:prstGeom prst="rect">
            <a:avLst/>
          </a:prstGeom>
          <a:solidFill>
            <a:srgbClr val="FAFAFA"/>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48840"/>
            <a:ext cx="1783080" cy="228600"/>
          </a:xfrm>
          <a:prstGeom prst="rect">
            <a:avLst/>
          </a:prstGeom>
          <a:noFill/>
        </p:spPr>
        <p:txBody>
          <a:bodyPr wrap="square">
            <a:spAutoFit/>
          </a:bodyPr>
          <a:lstStyle/>
          <a:p>
            <a:pPr algn="l"/>
            <a:r>
              <a:rPr sz="1400" b="1">
                <a:solidFill>
                  <a:srgbClr val="133B63"/>
                </a:solidFill>
                <a:latin typeface="Aptos"/>
              </a:rPr>
              <a:t>Chat log</a:t>
            </a:r>
          </a:p>
        </p:txBody>
      </p:sp>
      <p:sp>
        <p:nvSpPr>
          <p:cNvPr id="21" name="TextBox 20"/>
          <p:cNvSpPr txBox="1"/>
          <p:nvPr/>
        </p:nvSpPr>
        <p:spPr>
          <a:xfrm>
            <a:off x="868680" y="3913632"/>
            <a:ext cx="1783080" cy="201168"/>
          </a:xfrm>
          <a:prstGeom prst="rect">
            <a:avLst/>
          </a:prstGeom>
          <a:noFill/>
        </p:spPr>
        <p:txBody>
          <a:bodyPr wrap="square">
            <a:spAutoFit/>
          </a:bodyPr>
          <a:lstStyle/>
          <a:p>
            <a:pPr algn="l"/>
            <a:r>
              <a:rPr sz="1200" b="1">
                <a:solidFill>
                  <a:srgbClr val="133B63"/>
                </a:solidFill>
                <a:latin typeface="Aptos"/>
              </a:rPr>
              <a:t>Toolbar toggles</a:t>
            </a:r>
          </a:p>
        </p:txBody>
      </p:sp>
      <p:sp>
        <p:nvSpPr>
          <p:cNvPr id="22" name="TextBox 21"/>
          <p:cNvSpPr txBox="1"/>
          <p:nvPr/>
        </p:nvSpPr>
        <p:spPr>
          <a:xfrm>
            <a:off x="868680" y="4407408"/>
            <a:ext cx="1783080" cy="411480"/>
          </a:xfrm>
          <a:prstGeom prst="rect">
            <a:avLst/>
          </a:prstGeom>
          <a:noFill/>
        </p:spPr>
        <p:txBody>
          <a:bodyPr wrap="square">
            <a:spAutoFit/>
          </a:bodyPr>
          <a:lstStyle/>
          <a:p>
            <a:pPr algn="l"/>
            <a:r>
              <a:rPr sz="1200" b="0">
                <a:solidFill>
                  <a:srgbClr val="133B63"/>
                </a:solidFill>
                <a:latin typeface="Aptos"/>
              </a:rPr>
              <a:t>Message textarea
+ Send button</a:t>
            </a:r>
          </a:p>
        </p:txBody>
      </p:sp>
      <p:sp>
        <p:nvSpPr>
          <p:cNvPr id="23" name="TextBox 22"/>
          <p:cNvSpPr txBox="1"/>
          <p:nvPr/>
        </p:nvSpPr>
        <p:spPr>
          <a:xfrm>
            <a:off x="3364992" y="1929384"/>
            <a:ext cx="3474720" cy="182880"/>
          </a:xfrm>
          <a:prstGeom prst="rect">
            <a:avLst/>
          </a:prstGeom>
          <a:noFill/>
        </p:spPr>
        <p:txBody>
          <a:bodyPr wrap="square">
            <a:spAutoFit/>
          </a:bodyPr>
          <a:lstStyle/>
          <a:p>
            <a:pPr algn="l"/>
            <a:r>
              <a:rPr sz="1100" b="0">
                <a:solidFill>
                  <a:srgbClr val="133B63"/>
                </a:solidFill>
                <a:latin typeface="Aptos"/>
              </a:rPr>
              <a:t>Filename + Copy/Reopen/Clear/Use as context</a:t>
            </a:r>
          </a:p>
        </p:txBody>
      </p:sp>
      <p:sp>
        <p:nvSpPr>
          <p:cNvPr id="24" name="TextBox 23"/>
          <p:cNvSpPr txBox="1"/>
          <p:nvPr/>
        </p:nvSpPr>
        <p:spPr>
          <a:xfrm>
            <a:off x="3886200" y="3429000"/>
            <a:ext cx="2651760" cy="365760"/>
          </a:xfrm>
          <a:prstGeom prst="rect">
            <a:avLst/>
          </a:prstGeom>
          <a:noFill/>
        </p:spPr>
        <p:txBody>
          <a:bodyPr wrap="square">
            <a:spAutoFit/>
          </a:bodyPr>
          <a:lstStyle/>
          <a:p>
            <a:pPr algn="ctr"/>
            <a:r>
              <a:rPr sz="1800" b="1">
                <a:solidFill>
                  <a:srgbClr val="133B63"/>
                </a:solidFill>
                <a:latin typeface="Aptos"/>
              </a:rPr>
              <a:t>Code / text canvas</a:t>
            </a:r>
          </a:p>
        </p:txBody>
      </p:sp>
      <p:sp>
        <p:nvSpPr>
          <p:cNvPr id="25" name="TextBox 24"/>
          <p:cNvSpPr txBox="1"/>
          <p:nvPr/>
        </p:nvSpPr>
        <p:spPr>
          <a:xfrm>
            <a:off x="7818120" y="1417320"/>
            <a:ext cx="3520440" cy="4389120"/>
          </a:xfrm>
          <a:prstGeom prst="rect">
            <a:avLst/>
          </a:prstGeom>
          <a:noFill/>
        </p:spPr>
        <p:txBody>
          <a:bodyPr wrap="square">
            <a:spAutoFit/>
          </a:bodyPr>
          <a:lstStyle/>
          <a:p>
            <a:pPr>
              <a:spcAft>
                <a:spcPts val="800"/>
              </a:spcAft>
            </a:pPr>
            <a:r>
              <a:rPr sz="1500">
                <a:solidFill>
                  <a:srgbClr val="111827"/>
                </a:solidFill>
                <a:latin typeface="Aptos"/>
              </a:rPr>
              <a:t>Navbar menus give you file operations, context loading, MCP/tool configuration, agent configuration, reconnect, About, and logout.</a:t>
            </a:r>
          </a:p>
          <a:p>
            <a:pPr>
              <a:spcAft>
                <a:spcPts val="800"/>
              </a:spcAft>
            </a:pPr>
            <a:r>
              <a:rPr sz="1500">
                <a:solidFill>
                  <a:srgbClr val="111827"/>
                </a:solidFill>
                <a:latin typeface="Aptos"/>
              </a:rPr>
              <a:t>The left pane is the conversation surface: chat log, prompt catalog, Clear history, Multi-Turn, Add internet context, and the main message composer.</a:t>
            </a:r>
          </a:p>
          <a:p>
            <a:pPr>
              <a:spcAft>
                <a:spcPts val="800"/>
              </a:spcAft>
            </a:pPr>
            <a:r>
              <a:rPr sz="1500">
                <a:solidFill>
                  <a:srgbClr val="111827"/>
                </a:solidFill>
                <a:latin typeface="Aptos"/>
              </a:rPr>
              <a:t>The right pane is the code/text canvas with filename display plus Copy, Reopen, Clear canvas, and Use as context actions.</a:t>
            </a:r>
          </a:p>
          <a:p>
            <a:pPr>
              <a:spcAft>
                <a:spcPts val="800"/>
              </a:spcAft>
            </a:pPr>
            <a:r>
              <a:rPr sz="1500">
                <a:solidFill>
                  <a:srgbClr val="111827"/>
                </a:solidFill>
                <a:latin typeface="Aptos"/>
              </a:rPr>
              <a:t>Dialogs in the same template power omissions, MCP toggles, tool toggles, and agent enable/disable lists.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Operator workflow</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How To Use Chat Day To Day</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11</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Normal working loop</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Useful built-in conveniences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Use the Context menu to load a directory or a single file before asking project-specific questions.</a:t>
            </a:r>
          </a:p>
          <a:p>
            <a:pPr>
              <a:spcAft>
                <a:spcPts val="800"/>
              </a:spcAft>
            </a:pPr>
            <a:r>
              <a:rPr sz="1700">
                <a:solidFill>
                  <a:srgbClr val="111827"/>
                </a:solidFill>
                <a:latin typeface="Aptos"/>
              </a:rPr>
              <a:t>Ask ordinary questions in standard mode when you want direct analysis from the loaded context.</a:t>
            </a:r>
          </a:p>
          <a:p>
            <a:pPr>
              <a:spcAft>
                <a:spcPts val="800"/>
              </a:spcAft>
            </a:pPr>
            <a:r>
              <a:rPr sz="1700">
                <a:solidFill>
                  <a:srgbClr val="111827"/>
                </a:solidFill>
                <a:latin typeface="Aptos"/>
              </a:rPr>
              <a:t>Use the right canvas for generated code, extracted snippets, or files you want to promote into the next prompt as context.</a:t>
            </a:r>
          </a:p>
          <a:p>
            <a:pPr>
              <a:spcAft>
                <a:spcPts val="800"/>
              </a:spcAft>
            </a:pPr>
            <a:r>
              <a:rPr sz="1700">
                <a:solidFill>
                  <a:srgbClr val="111827"/>
                </a:solidFill>
                <a:latin typeface="Aptos"/>
              </a:rPr>
              <a:t>Open Configure MCPs to enable System-Metrics, Files-Search, and the dynamic list of tool toggles.</a:t>
            </a:r>
          </a:p>
          <a:p>
            <a:pPr>
              <a:spcAft>
                <a:spcPts val="800"/>
              </a:spcAft>
            </a:pPr>
            <a:r>
              <a:rPr sz="1700">
                <a:solidFill>
                  <a:srgbClr val="111827"/>
                </a:solidFill>
                <a:latin typeface="Aptos"/>
              </a:rPr>
              <a:t>Open Configure Agents when you want wrapped agent capabilities exposed in the chat surface.</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700">
                <a:solidFill>
                  <a:srgbClr val="111827"/>
                </a:solidFill>
                <a:latin typeface="Aptos"/>
              </a:rPr>
              <a:t>The top context bar shows the current directory or file and unlocks the `Open in...` external-editor dropdown.</a:t>
            </a:r>
          </a:p>
          <a:p>
            <a:pPr>
              <a:spcAft>
                <a:spcPts val="800"/>
              </a:spcAft>
            </a:pPr>
            <a:r>
              <a:rPr sz="1700">
                <a:solidFill>
                  <a:srgbClr val="111827"/>
                </a:solidFill>
                <a:latin typeface="Aptos"/>
              </a:rPr>
              <a:t>Reconnect restores saved session state; the frontend reapplies restored context into the top bar and related actions.</a:t>
            </a:r>
          </a:p>
          <a:p>
            <a:pPr>
              <a:spcAft>
                <a:spcPts val="800"/>
              </a:spcAft>
            </a:pPr>
            <a:r>
              <a:rPr sz="1700">
                <a:solidFill>
                  <a:srgbClr val="111827"/>
                </a:solidFill>
                <a:latin typeface="Aptos"/>
              </a:rPr>
              <a:t>Admin users can jump straight to Django admin from the navbar.</a:t>
            </a:r>
          </a:p>
          <a:p>
            <a:pPr>
              <a:spcAft>
                <a:spcPts val="800"/>
              </a:spcAft>
            </a:pPr>
            <a:r>
              <a:rPr sz="1700">
                <a:solidFill>
                  <a:srgbClr val="111827"/>
                </a:solidFill>
                <a:latin typeface="Aptos"/>
              </a:rPr>
              <a:t>About opens the branded media overlay; prompt catalog opens a modal of reusable prompts.</a:t>
            </a:r>
          </a:p>
          <a:p>
            <a:pPr>
              <a:spcAft>
                <a:spcPts val="800"/>
              </a:spcAft>
            </a:pPr>
            <a:r>
              <a:rPr sz="1700">
                <a:solidFill>
                  <a:srgbClr val="111827"/>
                </a:solidFill>
                <a:latin typeface="Aptos"/>
              </a:rPr>
              <a:t>Use Clear history when you want a fresh conversation without clearing the context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Execution modes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Standard Chat vs Checked Multi-Turn</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12</a:t>
            </a:r>
          </a:p>
        </p:txBody>
      </p:sp>
      <p:graphicFrame>
        <p:nvGraphicFramePr>
          <p:cNvPr id="8" name="Table 7"/>
          <p:cNvGraphicFramePr>
            <a:graphicFrameLocks noGrp="1"/>
          </p:cNvGraphicFramePr>
          <p:nvPr/>
        </p:nvGraphicFramePr>
        <p:xfrm>
          <a:off x="685800" y="1325880"/>
          <a:ext cx="10561320" cy="2926080"/>
        </p:xfrm>
        <a:graphic>
          <a:graphicData uri="http://schemas.openxmlformats.org/drawingml/2006/table">
            <a:tbl>
              <a:tblPr firstRow="1" bandRow="1">
                <a:tableStyleId>{5C22544A-7EE6-4342-B048-85BDC9FD1C3A}</a:tableStyleId>
              </a:tblPr>
              <a:tblGrid>
                <a:gridCol w="3520440"/>
                <a:gridCol w="3520440"/>
                <a:gridCol w="3520440"/>
              </a:tblGrid>
              <a:tr h="487680">
                <a:tc>
                  <a:txBody>
                    <a:bodyPr wrap="square"/>
                    <a:lstStyle/>
                    <a:p>
                      <a:pPr algn="l"/>
                      <a:r>
                        <a:rPr sz="1100" b="1">
                          <a:solidFill>
                            <a:srgbClr val="FFFFFF"/>
                          </a:solidFill>
                          <a:latin typeface="Aptos"/>
                        </a:rPr>
                        <a:t>Behavior</a:t>
                      </a:r>
                    </a:p>
                  </a:txBody>
                  <a:tcPr marL="76200" marR="76200" marT="50800" marB="50800">
                    <a:solidFill>
                      <a:srgbClr val="133B63"/>
                    </a:solidFill>
                  </a:tcPr>
                </a:tc>
                <a:tc>
                  <a:txBody>
                    <a:bodyPr wrap="square"/>
                    <a:lstStyle/>
                    <a:p>
                      <a:pPr algn="l"/>
                      <a:r>
                        <a:rPr sz="1100" b="1">
                          <a:solidFill>
                            <a:srgbClr val="FFFFFF"/>
                          </a:solidFill>
                          <a:latin typeface="Aptos"/>
                        </a:rPr>
                        <a:t>Standard / unchecked</a:t>
                      </a:r>
                    </a:p>
                  </a:txBody>
                  <a:tcPr marL="76200" marR="76200" marT="50800" marB="50800">
                    <a:solidFill>
                      <a:srgbClr val="133B63"/>
                    </a:solidFill>
                  </a:tcPr>
                </a:tc>
                <a:tc>
                  <a:txBody>
                    <a:bodyPr wrap="square"/>
                    <a:lstStyle/>
                    <a:p>
                      <a:pPr algn="l"/>
                      <a:r>
                        <a:rPr sz="1100" b="1">
                          <a:solidFill>
                            <a:srgbClr val="FFFFFF"/>
                          </a:solidFill>
                          <a:latin typeface="Aptos"/>
                        </a:rPr>
                        <a:t>Checked Multi-Turn</a:t>
                      </a:r>
                    </a:p>
                  </a:txBody>
                  <a:tcPr marL="76200" marR="76200" marT="50800" marB="50800">
                    <a:solidFill>
                      <a:srgbClr val="133B63"/>
                    </a:solidFill>
                  </a:tcPr>
                </a:tc>
              </a:tr>
              <a:tr h="487680">
                <a:tc>
                  <a:txBody>
                    <a:bodyPr wrap="square"/>
                    <a:lstStyle/>
                    <a:p>
                      <a:pPr algn="l"/>
                      <a:r>
                        <a:rPr sz="1100" b="0">
                          <a:solidFill>
                            <a:srgbClr val="111827"/>
                          </a:solidFill>
                          <a:latin typeface="Aptos"/>
                        </a:rPr>
                        <a:t>Prompt validation</a:t>
                      </a:r>
                    </a:p>
                  </a:txBody>
                  <a:tcPr marL="76200" marR="76200" marT="50800" marB="50800">
                    <a:solidFill>
                      <a:srgbClr val="FFFFFF"/>
                    </a:solidFill>
                  </a:tcPr>
                </a:tc>
                <a:tc>
                  <a:txBody>
                    <a:bodyPr wrap="square"/>
                    <a:lstStyle/>
                    <a:p>
                      <a:pPr algn="l"/>
                      <a:r>
                        <a:rPr sz="1100" b="0">
                          <a:solidFill>
                            <a:srgbClr val="111827"/>
                          </a:solidFill>
                          <a:latin typeface="Aptos"/>
                        </a:rPr>
                        <a:t>Question/rephrase gate stays active</a:t>
                      </a:r>
                    </a:p>
                  </a:txBody>
                  <a:tcPr marL="76200" marR="76200" marT="50800" marB="50800">
                    <a:solidFill>
                      <a:srgbClr val="FFFFFF"/>
                    </a:solidFill>
                  </a:tcPr>
                </a:tc>
                <a:tc>
                  <a:txBody>
                    <a:bodyPr wrap="square"/>
                    <a:lstStyle/>
                    <a:p>
                      <a:pPr algn="l"/>
                      <a:r>
                        <a:rPr sz="1100" b="0">
                          <a:solidFill>
                            <a:srgbClr val="111827"/>
                          </a:solidFill>
                          <a:latin typeface="Aptos"/>
                        </a:rPr>
                        <a:t>Prompt-shape gate is bypassed</a:t>
                      </a:r>
                    </a:p>
                  </a:txBody>
                  <a:tcPr marL="76200" marR="76200" marT="50800" marB="50800">
                    <a:solidFill>
                      <a:srgbClr val="FFFFFF"/>
                    </a:solidFill>
                  </a:tcPr>
                </a:tc>
              </a:tr>
              <a:tr h="487680">
                <a:tc>
                  <a:txBody>
                    <a:bodyPr wrap="square"/>
                    <a:lstStyle/>
                    <a:p>
                      <a:pPr algn="l"/>
                      <a:r>
                        <a:rPr sz="1100" b="0">
                          <a:solidFill>
                            <a:srgbClr val="111827"/>
                          </a:solidFill>
                          <a:latin typeface="Aptos"/>
                        </a:rPr>
                        <a:t>Tool binding</a:t>
                      </a:r>
                    </a:p>
                  </a:txBody>
                  <a:tcPr marL="76200" marR="76200" marT="50800" marB="50800">
                    <a:solidFill>
                      <a:srgbClr val="FFFFFF"/>
                    </a:solidFill>
                  </a:tcPr>
                </a:tc>
                <a:tc>
                  <a:txBody>
                    <a:bodyPr wrap="square"/>
                    <a:lstStyle/>
                    <a:p>
                      <a:pPr algn="l"/>
                      <a:r>
                        <a:rPr sz="1100" b="0">
                          <a:solidFill>
                            <a:srgbClr val="111827"/>
                          </a:solidFill>
                          <a:latin typeface="Aptos"/>
                        </a:rPr>
                        <a:t>Legacy broad tool surface</a:t>
                      </a:r>
                    </a:p>
                  </a:txBody>
                  <a:tcPr marL="76200" marR="76200" marT="50800" marB="50800">
                    <a:solidFill>
                      <a:srgbClr val="FFFFFF"/>
                    </a:solidFill>
                  </a:tcPr>
                </a:tc>
                <a:tc>
                  <a:txBody>
                    <a:bodyPr wrap="square"/>
                    <a:lstStyle/>
                    <a:p>
                      <a:pPr algn="l"/>
                      <a:r>
                        <a:rPr sz="1100" b="0">
                          <a:solidFill>
                            <a:srgbClr val="111827"/>
                          </a:solidFill>
                          <a:latin typeface="Aptos"/>
                        </a:rPr>
                        <a:t>Capability-aware selective binding</a:t>
                      </a:r>
                    </a:p>
                  </a:txBody>
                  <a:tcPr marL="76200" marR="76200" marT="50800" marB="50800">
                    <a:solidFill>
                      <a:srgbClr val="FFFFFF"/>
                    </a:solidFill>
                  </a:tcPr>
                </a:tc>
              </a:tr>
              <a:tr h="487680">
                <a:tc>
                  <a:txBody>
                    <a:bodyPr wrap="square"/>
                    <a:lstStyle/>
                    <a:p>
                      <a:pPr algn="l"/>
                      <a:r>
                        <a:rPr sz="1100" b="0">
                          <a:solidFill>
                            <a:srgbClr val="111827"/>
                          </a:solidFill>
                          <a:latin typeface="Aptos"/>
                        </a:rPr>
                        <a:t>File listing shortcut</a:t>
                      </a:r>
                    </a:p>
                  </a:txBody>
                  <a:tcPr marL="76200" marR="76200" marT="50800" marB="50800">
                    <a:solidFill>
                      <a:srgbClr val="FFFFFF"/>
                    </a:solidFill>
                  </a:tcPr>
                </a:tc>
                <a:tc>
                  <a:txBody>
                    <a:bodyPr wrap="square"/>
                    <a:lstStyle/>
                    <a:p>
                      <a:pPr algn="l"/>
                      <a:r>
                        <a:rPr sz="1100" b="0">
                          <a:solidFill>
                            <a:srgbClr val="111827"/>
                          </a:solidFill>
                          <a:latin typeface="Aptos"/>
                        </a:rPr>
                        <a:t>May short-circuit</a:t>
                      </a:r>
                    </a:p>
                  </a:txBody>
                  <a:tcPr marL="76200" marR="76200" marT="50800" marB="50800">
                    <a:solidFill>
                      <a:srgbClr val="FFFFFF"/>
                    </a:solidFill>
                  </a:tcPr>
                </a:tc>
                <a:tc>
                  <a:txBody>
                    <a:bodyPr wrap="square"/>
                    <a:lstStyle/>
                    <a:p>
                      <a:pPr algn="l"/>
                      <a:r>
                        <a:rPr sz="1100" b="0">
                          <a:solidFill>
                            <a:srgbClr val="111827"/>
                          </a:solidFill>
                          <a:latin typeface="Aptos"/>
                        </a:rPr>
                        <a:t>Request always reaches the LLM</a:t>
                      </a:r>
                    </a:p>
                  </a:txBody>
                  <a:tcPr marL="76200" marR="76200" marT="50800" marB="50800">
                    <a:solidFill>
                      <a:srgbClr val="FFFFFF"/>
                    </a:solidFill>
                  </a:tcPr>
                </a:tc>
              </a:tr>
              <a:tr h="487680">
                <a:tc>
                  <a:txBody>
                    <a:bodyPr wrap="square"/>
                    <a:lstStyle/>
                    <a:p>
                      <a:pPr algn="l"/>
                      <a:r>
                        <a:rPr sz="1100" b="0">
                          <a:solidFill>
                            <a:srgbClr val="111827"/>
                          </a:solidFill>
                          <a:latin typeface="Aptos"/>
                        </a:rPr>
                        <a:t>Execution style</a:t>
                      </a:r>
                    </a:p>
                  </a:txBody>
                  <a:tcPr marL="76200" marR="76200" marT="50800" marB="50800">
                    <a:solidFill>
                      <a:srgbClr val="FFFFFF"/>
                    </a:solidFill>
                  </a:tcPr>
                </a:tc>
                <a:tc>
                  <a:txBody>
                    <a:bodyPr wrap="square"/>
                    <a:lstStyle/>
                    <a:p>
                      <a:pPr algn="l"/>
                      <a:r>
                        <a:rPr sz="1100" b="0">
                          <a:solidFill>
                            <a:srgbClr val="111827"/>
                          </a:solidFill>
                          <a:latin typeface="Aptos"/>
                        </a:rPr>
                        <a:t>Single answer turn</a:t>
                      </a:r>
                    </a:p>
                  </a:txBody>
                  <a:tcPr marL="76200" marR="76200" marT="50800" marB="50800">
                    <a:solidFill>
                      <a:srgbClr val="FFFFFF"/>
                    </a:solidFill>
                  </a:tcPr>
                </a:tc>
                <a:tc>
                  <a:txBody>
                    <a:bodyPr wrap="square"/>
                    <a:lstStyle/>
                    <a:p>
                      <a:pPr algn="l"/>
                      <a:r>
                        <a:rPr sz="1100" b="0">
                          <a:solidFill>
                            <a:srgbClr val="111827"/>
                          </a:solidFill>
                          <a:latin typeface="Aptos"/>
                        </a:rPr>
                        <a:t>Up to 100 tool iterations</a:t>
                      </a:r>
                    </a:p>
                  </a:txBody>
                  <a:tcPr marL="76200" marR="76200" marT="50800" marB="50800">
                    <a:solidFill>
                      <a:srgbClr val="FFFFFF"/>
                    </a:solidFill>
                  </a:tcPr>
                </a:tc>
              </a:tr>
              <a:tr h="487680">
                <a:tc>
                  <a:txBody>
                    <a:bodyPr wrap="square"/>
                    <a:lstStyle/>
                    <a:p>
                      <a:pPr algn="l"/>
                      <a:r>
                        <a:rPr sz="1100" b="0">
                          <a:solidFill>
                            <a:srgbClr val="111827"/>
                          </a:solidFill>
                          <a:latin typeface="Aptos"/>
                        </a:rPr>
                        <a:t>Console behavior</a:t>
                      </a:r>
                    </a:p>
                  </a:txBody>
                  <a:tcPr marL="76200" marR="76200" marT="50800" marB="50800">
                    <a:solidFill>
                      <a:srgbClr val="FFFFFF"/>
                    </a:solidFill>
                  </a:tcPr>
                </a:tc>
                <a:tc>
                  <a:txBody>
                    <a:bodyPr wrap="square"/>
                    <a:lstStyle/>
                    <a:p>
                      <a:pPr algn="l"/>
                      <a:r>
                        <a:rPr sz="1100" b="0">
                          <a:solidFill>
                            <a:srgbClr val="111827"/>
                          </a:solidFill>
                          <a:latin typeface="Aptos"/>
                        </a:rPr>
                        <a:t>Legacy visible console semantics</a:t>
                      </a:r>
                    </a:p>
                  </a:txBody>
                  <a:tcPr marL="76200" marR="76200" marT="50800" marB="50800">
                    <a:solidFill>
                      <a:srgbClr val="FFFFFF"/>
                    </a:solidFill>
                  </a:tcPr>
                </a:tc>
                <a:tc>
                  <a:txBody>
                    <a:bodyPr wrap="square"/>
                    <a:lstStyle/>
                    <a:p>
                      <a:pPr algn="l"/>
                      <a:r>
                        <a:rPr sz="1100" b="0">
                          <a:solidFill>
                            <a:srgbClr val="111827"/>
                          </a:solidFill>
                          <a:latin typeface="Aptos"/>
                        </a:rPr>
                        <a:t>Headless/background wrapped runtime launches</a:t>
                      </a:r>
                    </a:p>
                  </a:txBody>
                  <a:tcPr marL="76200" marR="76200" marT="50800" marB="50800">
                    <a:solidFill>
                      <a:srgbClr val="FFFFFF"/>
                    </a:solidFill>
                  </a:tcPr>
                </a:tc>
              </a:tr>
            </a:tbl>
          </a:graphicData>
        </a:graphic>
      </p:graphicFrame>
      <p:sp>
        <p:nvSpPr>
          <p:cNvPr id="9" name="TextBox 8"/>
          <p:cNvSpPr txBox="1"/>
          <p:nvPr/>
        </p:nvSpPr>
        <p:spPr>
          <a:xfrm>
            <a:off x="822960" y="4572000"/>
            <a:ext cx="10058400" cy="914400"/>
          </a:xfrm>
          <a:prstGeom prst="rect">
            <a:avLst/>
          </a:prstGeom>
          <a:noFill/>
        </p:spPr>
        <p:txBody>
          <a:bodyPr wrap="square">
            <a:spAutoFit/>
          </a:bodyPr>
          <a:lstStyle/>
          <a:p>
            <a:pPr>
              <a:spcAft>
                <a:spcPts val="800"/>
              </a:spcAft>
            </a:pPr>
            <a:r>
              <a:rPr sz="1600">
                <a:solidFill>
                  <a:srgbClr val="111827"/>
                </a:solidFill>
                <a:latin typeface="Aptos"/>
              </a:rPr>
              <a:t>Use standard mode for straightforward, context-grounded Q&amp;A. Use Multi-Turn when you want the model to operate as an agent: chain tools, run commands, monitor wrapped agents, or complete multi-step tasks in one conversation turn.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Runtime behavior</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Multi-Turn Actually Does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13</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Execution pipeline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Tool/runtime consequences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The browser sends `multi_turn_enabled: true` over WebSocket.</a:t>
            </a:r>
          </a:p>
          <a:p>
            <a:pPr>
              <a:spcAft>
                <a:spcPts val="800"/>
              </a:spcAft>
            </a:pPr>
            <a:r>
              <a:rPr sz="1700">
                <a:solidFill>
                  <a:srgbClr val="111827"/>
                </a:solidFill>
                <a:latin typeface="Aptos"/>
              </a:rPr>
              <a:t>The RAG interface bypasses prompt-shape validation and forwards the flag into the unified chain.</a:t>
            </a:r>
          </a:p>
          <a:p>
            <a:pPr>
              <a:spcAft>
                <a:spcPts val="800"/>
              </a:spcAft>
            </a:pPr>
            <a:r>
              <a:rPr sz="1700">
                <a:solidFill>
                  <a:srgbClr val="111827"/>
                </a:solidFill>
                <a:latin typeface="Aptos"/>
              </a:rPr>
              <a:t>The factory builds a request-scoped global execution plan and selectively fetches MCP-backed context.</a:t>
            </a:r>
          </a:p>
          <a:p>
            <a:pPr>
              <a:spcAft>
                <a:spcPts val="800"/>
              </a:spcAft>
            </a:pPr>
            <a:r>
              <a:rPr sz="1700">
                <a:solidFill>
                  <a:srgbClr val="111827"/>
                </a:solidFill>
                <a:latin typeface="Aptos"/>
              </a:rPr>
              <a:t>The executor binds only the planned tools, then loops until the LLM returns a final text answer or exhausts iterations.</a:t>
            </a:r>
          </a:p>
          <a:p>
            <a:pPr>
              <a:spcAft>
                <a:spcPts val="800"/>
              </a:spcAft>
            </a:pPr>
            <a:r>
              <a:rPr sz="1700">
                <a:solidFill>
                  <a:srgbClr val="111827"/>
                </a:solidFill>
                <a:latin typeface="Aptos"/>
              </a:rPr>
              <a:t>Results stream back with tool observations and monitored runtime status where relevant.</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Plain tools cover direct local actions such as commands, file execution, unzip, image viewing, and Java decompilation.</a:t>
            </a:r>
          </a:p>
          <a:p>
            <a:pPr>
              <a:spcAft>
                <a:spcPts val="800"/>
              </a:spcAft>
            </a:pPr>
            <a:r>
              <a:rPr sz="1600">
                <a:solidFill>
                  <a:srgbClr val="111827"/>
                </a:solidFill>
                <a:latin typeface="Aptos"/>
              </a:rPr>
              <a:t>Template-agent tools configure and manage pool agents from chat.</a:t>
            </a:r>
          </a:p>
          <a:p>
            <a:pPr>
              <a:spcAft>
                <a:spcPts val="800"/>
              </a:spcAft>
            </a:pPr>
            <a:r>
              <a:rPr sz="1600">
                <a:solidFill>
                  <a:srgbClr val="111827"/>
                </a:solidFill>
                <a:latin typeface="Aptos"/>
              </a:rPr>
              <a:t>Wrapped chat-agent tools create isolated runtime copies under `pools/__chat_runs__/...` and return `run_id`, `status`, `pid`, runtime path, and log excerpt.</a:t>
            </a:r>
          </a:p>
          <a:p>
            <a:pPr>
              <a:spcAft>
                <a:spcPts val="800"/>
              </a:spcAft>
            </a:pPr>
            <a:r>
              <a:rPr sz="1600">
                <a:solidFill>
                  <a:srgbClr val="111827"/>
                </a:solidFill>
                <a:latin typeface="Aptos"/>
              </a:rPr>
              <a:t>Runtime follow-up tools (`chat_agent_run_status`, `chat_agent_run_log`, etc.) let the model poll or stop those isolated runs.</a:t>
            </a:r>
          </a:p>
          <a:p>
            <a:pPr>
              <a:spcAft>
                <a:spcPts val="800"/>
              </a:spcAft>
            </a:pPr>
            <a:r>
              <a:rPr sz="1600">
                <a:solidFill>
                  <a:srgbClr val="111827"/>
                </a:solidFill>
                <a:latin typeface="Aptos"/>
              </a:rPr>
              <a:t>The googler tool adds Playwright-backed web search when current internet content is needed.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Operational details</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Chat Extras: Context, MCPs, Sessions, External Editors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14</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Context and persistence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MCPs and editor integration</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Session state is stored per user for 24 hours through the `SessionState` model.</a:t>
            </a:r>
          </a:p>
          <a:p>
            <a:pPr>
              <a:spcAft>
                <a:spcPts val="800"/>
              </a:spcAft>
            </a:pPr>
            <a:r>
              <a:rPr sz="1700">
                <a:solidFill>
                  <a:srgbClr val="111827"/>
                </a:solidFill>
                <a:latin typeface="Aptos"/>
              </a:rPr>
              <a:t>Preserved items include context path/type, chat history, tool configuration state, and rebuildable RAG state.</a:t>
            </a:r>
          </a:p>
          <a:p>
            <a:pPr>
              <a:spcAft>
                <a:spcPts val="800"/>
              </a:spcAft>
            </a:pPr>
            <a:r>
              <a:rPr sz="1700">
                <a:solidFill>
                  <a:srgbClr val="111827"/>
                </a:solidFill>
                <a:latin typeface="Aptos"/>
              </a:rPr>
              <a:t>Restored file contexts derive their parent directory so directory-oriented actions stay coherent after reconnect.</a:t>
            </a:r>
          </a:p>
          <a:p>
            <a:pPr>
              <a:spcAft>
                <a:spcPts val="800"/>
              </a:spcAft>
            </a:pPr>
            <a:r>
              <a:rPr sz="1700">
                <a:solidFill>
                  <a:srgbClr val="111827"/>
                </a:solidFill>
                <a:latin typeface="Aptos"/>
              </a:rPr>
              <a:t>Clear Context explicitly resets active context; browser close clears in-memory state only.</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The MCP dialog still has two hardcoded context-provider checkboxes: System-Metrics and Files-Search.</a:t>
            </a:r>
          </a:p>
          <a:p>
            <a:pPr>
              <a:spcAft>
                <a:spcPts val="800"/>
              </a:spcAft>
            </a:pPr>
            <a:r>
              <a:rPr sz="1600">
                <a:solidFill>
                  <a:srgbClr val="111827"/>
                </a:solidFill>
                <a:latin typeface="Aptos"/>
              </a:rPr>
              <a:t>Tool toggles inside that same dialog are dynamic and sourced from the database.</a:t>
            </a:r>
          </a:p>
          <a:p>
            <a:pPr>
              <a:spcAft>
                <a:spcPts val="800"/>
              </a:spcAft>
            </a:pPr>
            <a:r>
              <a:rPr sz="1600">
                <a:solidFill>
                  <a:srgbClr val="111827"/>
                </a:solidFill>
                <a:latin typeface="Aptos"/>
              </a:rPr>
              <a:t>The navbar `Open in...` button can open the context directory in File Explorer, VS Code, or Antigravity when detected.</a:t>
            </a:r>
          </a:p>
          <a:p>
            <a:pPr>
              <a:spcAft>
                <a:spcPts val="800"/>
              </a:spcAft>
            </a:pPr>
            <a:r>
              <a:rPr sz="1600">
                <a:solidFill>
                  <a:srgbClr val="111827"/>
                </a:solidFill>
                <a:latin typeface="Aptos"/>
              </a:rPr>
              <a:t>The same path resolution pattern is reused in ACP right-click shortcuts such as `Explore dir...` and `Open cmd...`.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Interface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Agentic Control Panel Anatomy (`agentic_control_panel.html`)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15</a:t>
            </a:r>
          </a:p>
        </p:txBody>
      </p:sp>
      <p:sp>
        <p:nvSpPr>
          <p:cNvPr id="8" name="Rectangle 7"/>
          <p:cNvSpPr/>
          <p:nvPr/>
        </p:nvSpPr>
        <p:spPr>
          <a:xfrm>
            <a:off x="502920" y="1234440"/>
            <a:ext cx="7040880" cy="45262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234440"/>
            <a:ext cx="7040880" cy="411480"/>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344168"/>
            <a:ext cx="2103120" cy="146304"/>
          </a:xfrm>
          <a:prstGeom prst="rect">
            <a:avLst/>
          </a:prstGeom>
          <a:noFill/>
        </p:spPr>
        <p:txBody>
          <a:bodyPr wrap="square">
            <a:spAutoFit/>
          </a:bodyPr>
          <a:lstStyle/>
          <a:p>
            <a:pPr algn="l"/>
            <a:r>
              <a:rPr sz="1300" b="1">
                <a:solidFill>
                  <a:srgbClr val="FFFFFF"/>
                </a:solidFill>
                <a:latin typeface="Aptos"/>
              </a:rPr>
              <a:t>ACP Navbar</a:t>
            </a:r>
          </a:p>
        </p:txBody>
      </p:sp>
      <p:sp>
        <p:nvSpPr>
          <p:cNvPr id="11" name="TextBox 10"/>
          <p:cNvSpPr txBox="1"/>
          <p:nvPr/>
        </p:nvSpPr>
        <p:spPr>
          <a:xfrm>
            <a:off x="5212080" y="1344168"/>
            <a:ext cx="1645920" cy="146304"/>
          </a:xfrm>
          <a:prstGeom prst="rect">
            <a:avLst/>
          </a:prstGeom>
          <a:noFill/>
        </p:spPr>
        <p:txBody>
          <a:bodyPr wrap="square">
            <a:spAutoFit/>
          </a:bodyPr>
          <a:lstStyle/>
          <a:p>
            <a:pPr algn="l"/>
            <a:r>
              <a:rPr sz="1100" b="0">
                <a:solidFill>
                  <a:srgbClr val="FFFFFF"/>
                </a:solidFill>
                <a:latin typeface="Aptos"/>
              </a:rPr>
              <a:t>File menu</a:t>
            </a:r>
          </a:p>
        </p:txBody>
      </p:sp>
      <p:sp>
        <p:nvSpPr>
          <p:cNvPr id="12" name="Rectangle 11"/>
          <p:cNvSpPr/>
          <p:nvPr/>
        </p:nvSpPr>
        <p:spPr>
          <a:xfrm>
            <a:off x="640080" y="1783080"/>
            <a:ext cx="1828800" cy="36118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6040" y="1783080"/>
            <a:ext cx="4663440" cy="361188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6040" y="1783080"/>
            <a:ext cx="4663440" cy="420624"/>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1993392"/>
            <a:ext cx="1371600" cy="182880"/>
          </a:xfrm>
          <a:prstGeom prst="rect">
            <a:avLst/>
          </a:prstGeom>
          <a:noFill/>
        </p:spPr>
        <p:txBody>
          <a:bodyPr wrap="square">
            <a:spAutoFit/>
          </a:bodyPr>
          <a:lstStyle/>
          <a:p>
            <a:pPr algn="l"/>
            <a:r>
              <a:rPr sz="1500" b="1">
                <a:solidFill>
                  <a:srgbClr val="133B63"/>
                </a:solidFill>
                <a:latin typeface="Aptos"/>
              </a:rPr>
              <a:t>Agent palette</a:t>
            </a:r>
          </a:p>
        </p:txBody>
      </p:sp>
      <p:sp>
        <p:nvSpPr>
          <p:cNvPr id="16" name="TextBox 15"/>
          <p:cNvSpPr txBox="1"/>
          <p:nvPr/>
        </p:nvSpPr>
        <p:spPr>
          <a:xfrm>
            <a:off x="841248" y="2304288"/>
            <a:ext cx="1371600" cy="2286000"/>
          </a:xfrm>
          <a:prstGeom prst="rect">
            <a:avLst/>
          </a:prstGeom>
          <a:noFill/>
        </p:spPr>
        <p:txBody>
          <a:bodyPr wrap="square">
            <a:spAutoFit/>
          </a:bodyPr>
          <a:lstStyle/>
          <a:p>
            <a:pPr algn="l"/>
            <a:r>
              <a:rPr sz="1300" b="0">
                <a:solidFill>
                  <a:srgbClr val="111827"/>
                </a:solidFill>
                <a:latin typeface="Aptos"/>
              </a:rPr>
              <a:t>Drag agents from the left list onto the canvas.
Each item inherits its purpose tooltip from the README Workflow Agents tables.</a:t>
            </a:r>
          </a:p>
        </p:txBody>
      </p:sp>
      <p:sp>
        <p:nvSpPr>
          <p:cNvPr id="17" name="TextBox 16"/>
          <p:cNvSpPr txBox="1"/>
          <p:nvPr/>
        </p:nvSpPr>
        <p:spPr>
          <a:xfrm>
            <a:off x="2816352" y="1901952"/>
            <a:ext cx="4114800" cy="182880"/>
          </a:xfrm>
          <a:prstGeom prst="rect">
            <a:avLst/>
          </a:prstGeom>
          <a:noFill/>
        </p:spPr>
        <p:txBody>
          <a:bodyPr wrap="square">
            <a:spAutoFit/>
          </a:bodyPr>
          <a:lstStyle/>
          <a:p>
            <a:pPr algn="l"/>
            <a:r>
              <a:rPr sz="1200" b="1">
                <a:solidFill>
                  <a:srgbClr val="133B63"/>
                </a:solidFill>
                <a:latin typeface="Aptos"/>
              </a:rPr>
              <a:t>Validate | Start | Stop | Pause | Clear</a:t>
            </a:r>
          </a:p>
        </p:txBody>
      </p:sp>
      <p:sp>
        <p:nvSpPr>
          <p:cNvPr id="18" name="Rectangle 17"/>
          <p:cNvSpPr/>
          <p:nvPr/>
        </p:nvSpPr>
        <p:spPr>
          <a:xfrm>
            <a:off x="2880360" y="2359152"/>
            <a:ext cx="1097280" cy="621792"/>
          </a:xfrm>
          <a:prstGeom prst="rect">
            <a:avLst/>
          </a:prstGeom>
          <a:solidFill>
            <a:srgbClr val="0EA5E9"/>
          </a:solidFill>
          <a:ln>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63440" y="2359152"/>
            <a:ext cx="1097280" cy="621792"/>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67328" y="3703320"/>
            <a:ext cx="1097280" cy="62179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3977639" y="2670048"/>
            <a:ext cx="685801"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370832" y="2980944"/>
            <a:ext cx="841248" cy="722376"/>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72384" y="2542032"/>
            <a:ext cx="731520" cy="146304"/>
          </a:xfrm>
          <a:prstGeom prst="rect">
            <a:avLst/>
          </a:prstGeom>
          <a:noFill/>
        </p:spPr>
        <p:txBody>
          <a:bodyPr wrap="square">
            <a:spAutoFit/>
          </a:bodyPr>
          <a:lstStyle/>
          <a:p>
            <a:pPr algn="ctr"/>
            <a:r>
              <a:rPr sz="1300" b="1">
                <a:solidFill>
                  <a:srgbClr val="FFFFFF"/>
                </a:solidFill>
                <a:latin typeface="Aptos"/>
              </a:rPr>
              <a:t>Starter</a:t>
            </a:r>
          </a:p>
        </p:txBody>
      </p:sp>
      <p:sp>
        <p:nvSpPr>
          <p:cNvPr id="24" name="TextBox 23"/>
          <p:cNvSpPr txBox="1"/>
          <p:nvPr/>
        </p:nvSpPr>
        <p:spPr>
          <a:xfrm>
            <a:off x="4846320" y="2542032"/>
            <a:ext cx="548640" cy="146304"/>
          </a:xfrm>
          <a:prstGeom prst="rect">
            <a:avLst/>
          </a:prstGeom>
          <a:noFill/>
        </p:spPr>
        <p:txBody>
          <a:bodyPr wrap="square">
            <a:spAutoFit/>
          </a:bodyPr>
          <a:lstStyle/>
          <a:p>
            <a:pPr algn="ctr"/>
            <a:r>
              <a:rPr sz="1300" b="1">
                <a:solidFill>
                  <a:srgbClr val="FFFFFF"/>
                </a:solidFill>
                <a:latin typeface="Aptos"/>
              </a:rPr>
              <a:t>Task</a:t>
            </a:r>
          </a:p>
        </p:txBody>
      </p:sp>
      <p:sp>
        <p:nvSpPr>
          <p:cNvPr id="25" name="TextBox 24"/>
          <p:cNvSpPr txBox="1"/>
          <p:nvPr/>
        </p:nvSpPr>
        <p:spPr>
          <a:xfrm>
            <a:off x="3913632" y="3886200"/>
            <a:ext cx="822960" cy="146304"/>
          </a:xfrm>
          <a:prstGeom prst="rect">
            <a:avLst/>
          </a:prstGeom>
          <a:noFill/>
        </p:spPr>
        <p:txBody>
          <a:bodyPr wrap="square">
            <a:spAutoFit/>
          </a:bodyPr>
          <a:lstStyle/>
          <a:p>
            <a:pPr algn="ctr"/>
            <a:r>
              <a:rPr sz="1300" b="1">
                <a:solidFill>
                  <a:srgbClr val="FFFFFF"/>
                </a:solidFill>
                <a:latin typeface="Aptos"/>
              </a:rPr>
              <a:t>Ender</a:t>
            </a:r>
          </a:p>
        </p:txBody>
      </p:sp>
      <p:sp>
        <p:nvSpPr>
          <p:cNvPr id="26" name="TextBox 25"/>
          <p:cNvSpPr txBox="1"/>
          <p:nvPr/>
        </p:nvSpPr>
        <p:spPr>
          <a:xfrm>
            <a:off x="2880360" y="4590288"/>
            <a:ext cx="3931920" cy="384048"/>
          </a:xfrm>
          <a:prstGeom prst="rect">
            <a:avLst/>
          </a:prstGeom>
          <a:noFill/>
        </p:spPr>
        <p:txBody>
          <a:bodyPr wrap="square">
            <a:spAutoFit/>
          </a:bodyPr>
          <a:lstStyle/>
          <a:p>
            <a:pPr algn="l"/>
            <a:r>
              <a:rPr sz="1100" b="0">
                <a:solidFill>
                  <a:srgbClr val="133B63"/>
                </a:solidFill>
                <a:latin typeface="Aptos"/>
              </a:rPr>
              <a:t>Canvas IDs, connection lines, LEDs, and context-menu actions all operate on session-scoped deployed pool instances.</a:t>
            </a:r>
          </a:p>
        </p:txBody>
      </p:sp>
      <p:sp>
        <p:nvSpPr>
          <p:cNvPr id="27" name="TextBox 26"/>
          <p:cNvSpPr txBox="1"/>
          <p:nvPr/>
        </p:nvSpPr>
        <p:spPr>
          <a:xfrm>
            <a:off x="7818120" y="1417320"/>
            <a:ext cx="3520440" cy="4389120"/>
          </a:xfrm>
          <a:prstGeom prst="rect">
            <a:avLst/>
          </a:prstGeom>
          <a:noFill/>
        </p:spPr>
        <p:txBody>
          <a:bodyPr wrap="square">
            <a:spAutoFit/>
          </a:bodyPr>
          <a:lstStyle/>
          <a:p>
            <a:pPr>
              <a:spcAft>
                <a:spcPts val="800"/>
              </a:spcAft>
            </a:pPr>
            <a:r>
              <a:rPr sz="1400">
                <a:solidFill>
                  <a:srgbClr val="111827"/>
                </a:solidFill>
                <a:latin typeface="Aptos"/>
              </a:rPr>
              <a:t>The ACP navbar is intentionally smaller: File -&gt; Open, Save as, Close.</a:t>
            </a:r>
          </a:p>
          <a:p>
            <a:pPr>
              <a:spcAft>
                <a:spcPts val="800"/>
              </a:spcAft>
            </a:pPr>
            <a:r>
              <a:rPr sz="1400">
                <a:solidFill>
                  <a:srgbClr val="111827"/>
                </a:solidFill>
                <a:latin typeface="Aptos"/>
              </a:rPr>
              <a:t>The left column is the draggable agent palette; the right side is the flow canvas plus connection layer.</a:t>
            </a:r>
          </a:p>
          <a:p>
            <a:pPr>
              <a:spcAft>
                <a:spcPts val="800"/>
              </a:spcAft>
            </a:pPr>
            <a:r>
              <a:rPr sz="1400">
                <a:solidFill>
                  <a:srgbClr val="111827"/>
                </a:solidFill>
                <a:latin typeface="Aptos"/>
              </a:rPr>
              <a:t>Top-right controls are Validate, Start, Stop, Pause, and Clear.</a:t>
            </a:r>
          </a:p>
          <a:p>
            <a:pPr>
              <a:spcAft>
                <a:spcPts val="800"/>
              </a:spcAft>
            </a:pPr>
            <a:r>
              <a:rPr sz="1400">
                <a:solidFill>
                  <a:srgbClr val="111827"/>
                </a:solidFill>
                <a:latin typeface="Aptos"/>
              </a:rPr>
              <a:t>The template includes dialogs for agent lists, deployment results, validation results, log viewing, and agent descriptions.</a:t>
            </a:r>
          </a:p>
          <a:p>
            <a:pPr>
              <a:spcAft>
                <a:spcPts val="800"/>
              </a:spcAft>
            </a:pPr>
            <a:r>
              <a:rPr sz="1400">
                <a:solidFill>
                  <a:srgbClr val="111827"/>
                </a:solidFill>
                <a:latin typeface="Aptos"/>
              </a:rPr>
              <a:t>The right-click context menu exposes Configure, Description, See log, Explore dir..., Open cmd..., and Restart.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ACP usage</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How To Build and Operate Flows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16</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Typical build sequence</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Stateful runtime controls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Drag agents from the sidebar onto the canvas.</a:t>
            </a:r>
          </a:p>
          <a:p>
            <a:pPr>
              <a:spcAft>
                <a:spcPts val="800"/>
              </a:spcAft>
            </a:pPr>
            <a:r>
              <a:rPr sz="1700">
                <a:solidFill>
                  <a:srgbClr val="111827"/>
                </a:solidFill>
                <a:latin typeface="Aptos"/>
              </a:rPr>
              <a:t>Connect agents visually; the frontend auto-populates connection-related fields in each deployed instance config.</a:t>
            </a:r>
          </a:p>
          <a:p>
            <a:pPr>
              <a:spcAft>
                <a:spcPts val="800"/>
              </a:spcAft>
            </a:pPr>
            <a:r>
              <a:rPr sz="1700">
                <a:solidFill>
                  <a:srgbClr val="111827"/>
                </a:solidFill>
                <a:latin typeface="Aptos"/>
              </a:rPr>
              <a:t>Configure each agent through its dialog and save the workflow as a `.flw` file when needed.</a:t>
            </a:r>
          </a:p>
          <a:p>
            <a:pPr>
              <a:spcAft>
                <a:spcPts val="800"/>
              </a:spcAft>
            </a:pPr>
            <a:r>
              <a:rPr sz="1700">
                <a:solidFill>
                  <a:srgbClr val="111827"/>
                </a:solidFill>
                <a:latin typeface="Aptos"/>
              </a:rPr>
              <a:t>Press Validate before execution so structural rules are checked on the deployed pool graph, not just on template assumptions.</a:t>
            </a:r>
          </a:p>
          <a:p>
            <a:pPr>
              <a:spcAft>
                <a:spcPts val="800"/>
              </a:spcAft>
            </a:pPr>
            <a:r>
              <a:rPr sz="1700">
                <a:solidFill>
                  <a:srgbClr val="111827"/>
                </a:solidFill>
                <a:latin typeface="Aptos"/>
              </a:rPr>
              <a:t>Start launches Starter-driven flows, not arbitrary canvas shapes.</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Pause captures running agents in `paused_agents.reanim`, kills processes, preserves logs and `reanim*` state, and marks LEDs yellow blinking.</a:t>
            </a:r>
          </a:p>
          <a:p>
            <a:pPr>
              <a:spcAft>
                <a:spcPts val="800"/>
              </a:spcAft>
            </a:pPr>
            <a:r>
              <a:rPr sz="1600">
                <a:solidFill>
                  <a:srgbClr val="111827"/>
                </a:solidFill>
                <a:latin typeface="Aptos"/>
              </a:rPr>
              <a:t>Resume reanimates stored agents with `AGENT_REANIMATED=1` so resumable agents reload their restart files.</a:t>
            </a:r>
          </a:p>
          <a:p>
            <a:pPr>
              <a:spcAft>
                <a:spcPts val="800"/>
              </a:spcAft>
            </a:pPr>
            <a:r>
              <a:rPr sz="1600">
                <a:solidFill>
                  <a:srgbClr val="111827"/>
                </a:solidFill>
                <a:latin typeface="Aptos"/>
              </a:rPr>
              <a:t>Stop is Ender-driven: it clears `.pos` reanimation files and returns the canvas to a clean stopped state.</a:t>
            </a:r>
          </a:p>
          <a:p>
            <a:pPr>
              <a:spcAft>
                <a:spcPts val="800"/>
              </a:spcAft>
            </a:pPr>
            <a:r>
              <a:rPr sz="1600">
                <a:solidFill>
                  <a:srgbClr val="111827"/>
                </a:solidFill>
                <a:latin typeface="Aptos"/>
              </a:rPr>
              <a:t>See log and Description are runtime-instance actions, not template-folder shortcuts.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Agent model</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Workflow Agent Categories and Special Roles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17</a:t>
            </a:r>
          </a:p>
        </p:txBody>
      </p:sp>
      <p:graphicFrame>
        <p:nvGraphicFramePr>
          <p:cNvPr id="8" name="Table 7"/>
          <p:cNvGraphicFramePr>
            <a:graphicFrameLocks noGrp="1"/>
          </p:cNvGraphicFramePr>
          <p:nvPr/>
        </p:nvGraphicFramePr>
        <p:xfrm>
          <a:off x="594360" y="1234440"/>
          <a:ext cx="10652760" cy="3383280"/>
        </p:xfrm>
        <a:graphic>
          <a:graphicData uri="http://schemas.openxmlformats.org/drawingml/2006/table">
            <a:tbl>
              <a:tblPr firstRow="1" bandRow="1">
                <a:tableStyleId>{5C22544A-7EE6-4342-B048-85BDC9FD1C3A}</a:tableStyleId>
              </a:tblPr>
              <a:tblGrid>
                <a:gridCol w="3550920"/>
                <a:gridCol w="3550920"/>
                <a:gridCol w="3550920"/>
              </a:tblGrid>
              <a:tr h="422910">
                <a:tc>
                  <a:txBody>
                    <a:bodyPr wrap="square"/>
                    <a:lstStyle/>
                    <a:p>
                      <a:pPr algn="l"/>
                      <a:r>
                        <a:rPr sz="1100" b="1">
                          <a:solidFill>
                            <a:srgbClr val="FFFFFF"/>
                          </a:solidFill>
                          <a:latin typeface="Aptos"/>
                        </a:rPr>
                        <a:t>Category</a:t>
                      </a:r>
                    </a:p>
                  </a:txBody>
                  <a:tcPr marL="76200" marR="76200" marT="50800" marB="50800">
                    <a:solidFill>
                      <a:srgbClr val="133B63"/>
                    </a:solidFill>
                  </a:tcPr>
                </a:tc>
                <a:tc>
                  <a:txBody>
                    <a:bodyPr wrap="square"/>
                    <a:lstStyle/>
                    <a:p>
                      <a:pPr algn="l"/>
                      <a:r>
                        <a:rPr sz="1100" b="1">
                          <a:solidFill>
                            <a:srgbClr val="FFFFFF"/>
                          </a:solidFill>
                          <a:latin typeface="Aptos"/>
                        </a:rPr>
                        <a:t>Examples</a:t>
                      </a:r>
                    </a:p>
                  </a:txBody>
                  <a:tcPr marL="76200" marR="76200" marT="50800" marB="50800">
                    <a:solidFill>
                      <a:srgbClr val="133B63"/>
                    </a:solidFill>
                  </a:tcPr>
                </a:tc>
                <a:tc>
                  <a:txBody>
                    <a:bodyPr wrap="square"/>
                    <a:lstStyle/>
                    <a:p>
                      <a:pPr algn="l"/>
                      <a:r>
                        <a:rPr sz="1100" b="1">
                          <a:solidFill>
                            <a:srgbClr val="FFFFFF"/>
                          </a:solidFill>
                          <a:latin typeface="Aptos"/>
                        </a:rPr>
                        <a:t>Use when you need</a:t>
                      </a:r>
                    </a:p>
                  </a:txBody>
                  <a:tcPr marL="76200" marR="76200" marT="50800" marB="50800">
                    <a:solidFill>
                      <a:srgbClr val="133B63"/>
                    </a:solidFill>
                  </a:tcPr>
                </a:tc>
              </a:tr>
              <a:tr h="422910">
                <a:tc>
                  <a:txBody>
                    <a:bodyPr wrap="square"/>
                    <a:lstStyle/>
                    <a:p>
                      <a:pPr algn="l"/>
                      <a:r>
                        <a:rPr sz="1100" b="0">
                          <a:solidFill>
                            <a:srgbClr val="111827"/>
                          </a:solidFill>
                          <a:latin typeface="Aptos"/>
                        </a:rPr>
                        <a:t>Control</a:t>
                      </a:r>
                    </a:p>
                  </a:txBody>
                  <a:tcPr marL="76200" marR="76200" marT="50800" marB="50800">
                    <a:solidFill>
                      <a:srgbClr val="FFFFFF"/>
                    </a:solidFill>
                  </a:tcPr>
                </a:tc>
                <a:tc>
                  <a:txBody>
                    <a:bodyPr wrap="square"/>
                    <a:lstStyle/>
                    <a:p>
                      <a:pPr algn="l"/>
                      <a:r>
                        <a:rPr sz="1100" b="0">
                          <a:solidFill>
                            <a:srgbClr val="111827"/>
                          </a:solidFill>
                          <a:latin typeface="Aptos"/>
                        </a:rPr>
                        <a:t>Starter, Ender, Stopper, Cleaner, Sleeper, Croner</a:t>
                      </a:r>
                    </a:p>
                  </a:txBody>
                  <a:tcPr marL="76200" marR="76200" marT="50800" marB="50800">
                    <a:solidFill>
                      <a:srgbClr val="FFFFFF"/>
                    </a:solidFill>
                  </a:tcPr>
                </a:tc>
                <a:tc>
                  <a:txBody>
                    <a:bodyPr wrap="square"/>
                    <a:lstStyle/>
                    <a:p>
                      <a:pPr algn="l"/>
                      <a:r>
                        <a:rPr sz="1100" b="0">
                          <a:solidFill>
                            <a:srgbClr val="111827"/>
                          </a:solidFill>
                          <a:latin typeface="Aptos"/>
                        </a:rPr>
                        <a:t>Entry, shutdown, scheduling, cleanup, and timing</a:t>
                      </a:r>
                    </a:p>
                  </a:txBody>
                  <a:tcPr marL="76200" marR="76200" marT="50800" marB="50800">
                    <a:solidFill>
                      <a:srgbClr val="FFFFFF"/>
                    </a:solidFill>
                  </a:tcPr>
                </a:tc>
              </a:tr>
              <a:tr h="422910">
                <a:tc>
                  <a:txBody>
                    <a:bodyPr wrap="square"/>
                    <a:lstStyle/>
                    <a:p>
                      <a:pPr algn="l"/>
                      <a:r>
                        <a:rPr sz="1100" b="0">
                          <a:solidFill>
                            <a:srgbClr val="111827"/>
                          </a:solidFill>
                          <a:latin typeface="Aptos"/>
                        </a:rPr>
                        <a:t>Routing</a:t>
                      </a:r>
                    </a:p>
                  </a:txBody>
                  <a:tcPr marL="76200" marR="76200" marT="50800" marB="50800">
                    <a:solidFill>
                      <a:srgbClr val="FFFFFF"/>
                    </a:solidFill>
                  </a:tcPr>
                </a:tc>
                <a:tc>
                  <a:txBody>
                    <a:bodyPr wrap="square"/>
                    <a:lstStyle/>
                    <a:p>
                      <a:pPr algn="l"/>
                      <a:r>
                        <a:rPr sz="1100" b="0">
                          <a:solidFill>
                            <a:srgbClr val="111827"/>
                          </a:solidFill>
                          <a:latin typeface="Aptos"/>
                        </a:rPr>
                        <a:t>Raiser, Forker, Asker, Counter</a:t>
                      </a:r>
                    </a:p>
                  </a:txBody>
                  <a:tcPr marL="76200" marR="76200" marT="50800" marB="50800">
                    <a:solidFill>
                      <a:srgbClr val="FFFFFF"/>
                    </a:solidFill>
                  </a:tcPr>
                </a:tc>
                <a:tc>
                  <a:txBody>
                    <a:bodyPr wrap="square"/>
                    <a:lstStyle/>
                    <a:p>
                      <a:pPr algn="l"/>
                      <a:r>
                        <a:rPr sz="1100" b="0">
                          <a:solidFill>
                            <a:srgbClr val="111827"/>
                          </a:solidFill>
                          <a:latin typeface="Aptos"/>
                        </a:rPr>
                        <a:t>Pattern-triggered or branch-based decisions</a:t>
                      </a:r>
                    </a:p>
                  </a:txBody>
                  <a:tcPr marL="76200" marR="76200" marT="50800" marB="50800">
                    <a:solidFill>
                      <a:srgbClr val="FFFFFF"/>
                    </a:solidFill>
                  </a:tcPr>
                </a:tc>
              </a:tr>
              <a:tr h="422910">
                <a:tc>
                  <a:txBody>
                    <a:bodyPr wrap="square"/>
                    <a:lstStyle/>
                    <a:p>
                      <a:pPr algn="l"/>
                      <a:r>
                        <a:rPr sz="1100" b="0">
                          <a:solidFill>
                            <a:srgbClr val="111827"/>
                          </a:solidFill>
                          <a:latin typeface="Aptos"/>
                        </a:rPr>
                        <a:t>Logic</a:t>
                      </a:r>
                    </a:p>
                  </a:txBody>
                  <a:tcPr marL="76200" marR="76200" marT="50800" marB="50800">
                    <a:solidFill>
                      <a:srgbClr val="FFFFFF"/>
                    </a:solidFill>
                  </a:tcPr>
                </a:tc>
                <a:tc>
                  <a:txBody>
                    <a:bodyPr wrap="square"/>
                    <a:lstStyle/>
                    <a:p>
                      <a:pPr algn="l"/>
                      <a:r>
                        <a:rPr sz="1100" b="0">
                          <a:solidFill>
                            <a:srgbClr val="111827"/>
                          </a:solidFill>
                          <a:latin typeface="Aptos"/>
                        </a:rPr>
                        <a:t>OR, AND, Barrier</a:t>
                      </a:r>
                    </a:p>
                  </a:txBody>
                  <a:tcPr marL="76200" marR="76200" marT="50800" marB="50800">
                    <a:solidFill>
                      <a:srgbClr val="FFFFFF"/>
                    </a:solidFill>
                  </a:tcPr>
                </a:tc>
                <a:tc>
                  <a:txBody>
                    <a:bodyPr wrap="square"/>
                    <a:lstStyle/>
                    <a:p>
                      <a:pPr algn="l"/>
                      <a:r>
                        <a:rPr sz="1100" b="0">
                          <a:solidFill>
                            <a:srgbClr val="111827"/>
                          </a:solidFill>
                          <a:latin typeface="Aptos"/>
                        </a:rPr>
                        <a:t>Convergence of multiple flow branches</a:t>
                      </a:r>
                    </a:p>
                  </a:txBody>
                  <a:tcPr marL="76200" marR="76200" marT="50800" marB="50800">
                    <a:solidFill>
                      <a:srgbClr val="FFFFFF"/>
                    </a:solidFill>
                  </a:tcPr>
                </a:tc>
              </a:tr>
              <a:tr h="422910">
                <a:tc>
                  <a:txBody>
                    <a:bodyPr wrap="square"/>
                    <a:lstStyle/>
                    <a:p>
                      <a:pPr algn="l"/>
                      <a:r>
                        <a:rPr sz="1100" b="0">
                          <a:solidFill>
                            <a:srgbClr val="111827"/>
                          </a:solidFill>
                          <a:latin typeface="Aptos"/>
                        </a:rPr>
                        <a:t>Action</a:t>
                      </a:r>
                    </a:p>
                  </a:txBody>
                  <a:tcPr marL="76200" marR="76200" marT="50800" marB="50800">
                    <a:solidFill>
                      <a:srgbClr val="FFFFFF"/>
                    </a:solidFill>
                  </a:tcPr>
                </a:tc>
                <a:tc>
                  <a:txBody>
                    <a:bodyPr wrap="square"/>
                    <a:lstStyle/>
                    <a:p>
                      <a:pPr algn="l"/>
                      <a:r>
                        <a:rPr sz="1100" b="0">
                          <a:solidFill>
                            <a:srgbClr val="111827"/>
                          </a:solidFill>
                          <a:latin typeface="Aptos"/>
                        </a:rPr>
                        <a:t>Executer, Pythonxer, Prompter, Crawler, Googler, Apirer, Gitter, Dockerer, Kuberneter</a:t>
                      </a:r>
                    </a:p>
                  </a:txBody>
                  <a:tcPr marL="76200" marR="76200" marT="50800" marB="50800">
                    <a:solidFill>
                      <a:srgbClr val="FFFFFF"/>
                    </a:solidFill>
                  </a:tcPr>
                </a:tc>
                <a:tc>
                  <a:txBody>
                    <a:bodyPr wrap="square"/>
                    <a:lstStyle/>
                    <a:p>
                      <a:pPr algn="l"/>
                      <a:r>
                        <a:rPr sz="1100" b="0">
                          <a:solidFill>
                            <a:srgbClr val="111827"/>
                          </a:solidFill>
                          <a:latin typeface="Aptos"/>
                        </a:rPr>
                        <a:t>External work against OS, web, APIs, SCM, or infra</a:t>
                      </a:r>
                    </a:p>
                  </a:txBody>
                  <a:tcPr marL="76200" marR="76200" marT="50800" marB="50800">
                    <a:solidFill>
                      <a:srgbClr val="FFFFFF"/>
                    </a:solidFill>
                  </a:tcPr>
                </a:tc>
              </a:tr>
              <a:tr h="422910">
                <a:tc>
                  <a:txBody>
                    <a:bodyPr wrap="square"/>
                    <a:lstStyle/>
                    <a:p>
                      <a:pPr algn="l"/>
                      <a:r>
                        <a:rPr sz="1100" b="0">
                          <a:solidFill>
                            <a:srgbClr val="111827"/>
                          </a:solidFill>
                          <a:latin typeface="Aptos"/>
                        </a:rPr>
                        <a:t>Data / interpretation</a:t>
                      </a:r>
                    </a:p>
                  </a:txBody>
                  <a:tcPr marL="76200" marR="76200" marT="50800" marB="50800">
                    <a:solidFill>
                      <a:srgbClr val="FFFFFF"/>
                    </a:solidFill>
                  </a:tcPr>
                </a:tc>
                <a:tc>
                  <a:txBody>
                    <a:bodyPr wrap="square"/>
                    <a:lstStyle/>
                    <a:p>
                      <a:pPr algn="l"/>
                      <a:r>
                        <a:rPr sz="1100" b="0">
                          <a:solidFill>
                            <a:srgbClr val="111827"/>
                          </a:solidFill>
                          <a:latin typeface="Aptos"/>
                        </a:rPr>
                        <a:t>File Creator, File Extractor, File Interpreter, Image Interpreter, Summarizer</a:t>
                      </a:r>
                    </a:p>
                  </a:txBody>
                  <a:tcPr marL="76200" marR="76200" marT="50800" marB="50800">
                    <a:solidFill>
                      <a:srgbClr val="FFFFFF"/>
                    </a:solidFill>
                  </a:tcPr>
                </a:tc>
                <a:tc>
                  <a:txBody>
                    <a:bodyPr wrap="square"/>
                    <a:lstStyle/>
                    <a:p>
                      <a:pPr algn="l"/>
                      <a:r>
                        <a:rPr sz="1100" b="0">
                          <a:solidFill>
                            <a:srgbClr val="111827"/>
                          </a:solidFill>
                          <a:latin typeface="Aptos"/>
                        </a:rPr>
                        <a:t>Reading, creating, or interpreting content</a:t>
                      </a:r>
                    </a:p>
                  </a:txBody>
                  <a:tcPr marL="76200" marR="76200" marT="50800" marB="50800">
                    <a:solidFill>
                      <a:srgbClr val="FFFFFF"/>
                    </a:solidFill>
                  </a:tcPr>
                </a:tc>
              </a:tr>
              <a:tr h="422910">
                <a:tc>
                  <a:txBody>
                    <a:bodyPr wrap="square"/>
                    <a:lstStyle/>
                    <a:p>
                      <a:pPr algn="l"/>
                      <a:r>
                        <a:rPr sz="1100" b="0">
                          <a:solidFill>
                            <a:srgbClr val="111827"/>
                          </a:solidFill>
                          <a:latin typeface="Aptos"/>
                        </a:rPr>
                        <a:t>Crypto / infra utility</a:t>
                      </a:r>
                    </a:p>
                  </a:txBody>
                  <a:tcPr marL="76200" marR="76200" marT="50800" marB="50800">
                    <a:solidFill>
                      <a:srgbClr val="FFFFFF"/>
                    </a:solidFill>
                  </a:tcPr>
                </a:tc>
                <a:tc>
                  <a:txBody>
                    <a:bodyPr wrap="square"/>
                    <a:lstStyle/>
                    <a:p>
                      <a:pPr algn="l"/>
                      <a:r>
                        <a:rPr sz="1100" b="0">
                          <a:solidFill>
                            <a:srgbClr val="111827"/>
                          </a:solidFill>
                          <a:latin typeface="Aptos"/>
                        </a:rPr>
                        <a:t>Kyber KeyGen, Kyber Cipher, Kyber Decipher, Node Manager</a:t>
                      </a:r>
                    </a:p>
                  </a:txBody>
                  <a:tcPr marL="76200" marR="76200" marT="50800" marB="50800">
                    <a:solidFill>
                      <a:srgbClr val="FFFFFF"/>
                    </a:solidFill>
                  </a:tcPr>
                </a:tc>
                <a:tc>
                  <a:txBody>
                    <a:bodyPr wrap="square"/>
                    <a:lstStyle/>
                    <a:p>
                      <a:pPr algn="l"/>
                      <a:r>
                        <a:rPr sz="1100" b="0">
                          <a:solidFill>
                            <a:srgbClr val="111827"/>
                          </a:solidFill>
                          <a:latin typeface="Aptos"/>
                        </a:rPr>
                        <a:t>Cryptography or node inventory</a:t>
                      </a:r>
                    </a:p>
                  </a:txBody>
                  <a:tcPr marL="76200" marR="76200" marT="50800" marB="50800">
                    <a:solidFill>
                      <a:srgbClr val="FFFFFF"/>
                    </a:solidFill>
                  </a:tcPr>
                </a:tc>
              </a:tr>
              <a:tr h="422910">
                <a:tc>
                  <a:txBody>
                    <a:bodyPr wrap="square"/>
                    <a:lstStyle/>
                    <a:p>
                      <a:pPr algn="l"/>
                      <a:r>
                        <a:rPr sz="1100" b="0">
                          <a:solidFill>
                            <a:srgbClr val="111827"/>
                          </a:solidFill>
                          <a:latin typeface="Aptos"/>
                        </a:rPr>
                        <a:t>Terminal / monitoring</a:t>
                      </a:r>
                    </a:p>
                  </a:txBody>
                  <a:tcPr marL="76200" marR="76200" marT="50800" marB="50800">
                    <a:solidFill>
                      <a:srgbClr val="FFFFFF"/>
                    </a:solidFill>
                  </a:tcPr>
                </a:tc>
                <a:tc>
                  <a:txBody>
                    <a:bodyPr wrap="square"/>
                    <a:lstStyle/>
                    <a:p>
                      <a:pPr algn="l"/>
                      <a:r>
                        <a:rPr sz="1100" b="0">
                          <a:solidFill>
                            <a:srgbClr val="111827"/>
                          </a:solidFill>
                          <a:latin typeface="Aptos"/>
                        </a:rPr>
                        <a:t>Monitor Log, Monitor Netstat, Recmailer, Notifier, Whatsapper, Telegramrx</a:t>
                      </a:r>
                    </a:p>
                  </a:txBody>
                  <a:tcPr marL="76200" marR="76200" marT="50800" marB="50800">
                    <a:solidFill>
                      <a:srgbClr val="FFFFFF"/>
                    </a:solidFill>
                  </a:tcPr>
                </a:tc>
                <a:tc>
                  <a:txBody>
                    <a:bodyPr wrap="square"/>
                    <a:lstStyle/>
                    <a:p>
                      <a:pPr algn="l"/>
                      <a:r>
                        <a:rPr sz="1100" b="0">
                          <a:solidFill>
                            <a:srgbClr val="111827"/>
                          </a:solidFill>
                          <a:latin typeface="Aptos"/>
                        </a:rPr>
                        <a:t>Long-running observers or notification endpoints</a:t>
                      </a:r>
                    </a:p>
                  </a:txBody>
                  <a:tcPr marL="76200" marR="76200" marT="50800" marB="50800">
                    <a:solidFill>
                      <a:srgbClr val="FFFFFF"/>
                    </a:solidFill>
                  </a:tcPr>
                </a:tc>
              </a:tr>
            </a:tbl>
          </a:graphicData>
        </a:graphic>
      </p:graphicFrame>
      <p:sp>
        <p:nvSpPr>
          <p:cNvPr id="9" name="TextBox 8"/>
          <p:cNvSpPr txBox="1"/>
          <p:nvPr/>
        </p:nvSpPr>
        <p:spPr>
          <a:xfrm>
            <a:off x="777240" y="4800600"/>
            <a:ext cx="10149840" cy="822960"/>
          </a:xfrm>
          <a:prstGeom prst="rect">
            <a:avLst/>
          </a:prstGeom>
          <a:noFill/>
        </p:spPr>
        <p:txBody>
          <a:bodyPr wrap="square">
            <a:spAutoFit/>
          </a:bodyPr>
          <a:lstStyle/>
          <a:p>
            <a:pPr>
              <a:spcAft>
                <a:spcPts val="800"/>
              </a:spcAft>
            </a:pPr>
            <a:r>
              <a:rPr sz="1500">
                <a:solidFill>
                  <a:srgbClr val="111827"/>
                </a:solidFill>
                <a:latin typeface="Aptos"/>
              </a:rPr>
              <a:t>Special roles worth remembering: Parametrizer is the strict interconnection engine, Gatewayer is the inbound webhook/folder-drop gateway, Gateway Relayer handles GitHub/GitLab relay flows, FlowCreator is the LLM-assisted flow author, and FlowHypervisor is the flow health monitor.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Build strategy</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Packaging Is Optional for Use, Required for Distribution</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18</a:t>
            </a:r>
          </a:p>
        </p:txBody>
      </p:sp>
      <p:sp>
        <p:nvSpPr>
          <p:cNvPr id="8" name="TextBox 7"/>
          <p:cNvSpPr txBox="1"/>
          <p:nvPr/>
        </p:nvSpPr>
        <p:spPr>
          <a:xfrm>
            <a:off x="640080" y="1207008"/>
            <a:ext cx="10698480" cy="658368"/>
          </a:xfrm>
          <a:prstGeom prst="rect">
            <a:avLst/>
          </a:prstGeom>
          <a:noFill/>
        </p:spPr>
        <p:txBody>
          <a:bodyPr wrap="square">
            <a:spAutoFit/>
          </a:bodyPr>
          <a:lstStyle/>
          <a:p>
            <a:pPr>
              <a:spcAft>
                <a:spcPts val="800"/>
              </a:spcAft>
            </a:pPr>
            <a:r>
              <a:rPr sz="1800">
                <a:solidFill>
                  <a:srgbClr val="111827"/>
                </a:solidFill>
                <a:latin typeface="Aptos"/>
              </a:rPr>
              <a:t>You do not need any of the build scripts to run Tlamatini from source. Use them only when you are preparing a distributable Windows release for end users.</a:t>
            </a:r>
          </a:p>
        </p:txBody>
      </p:sp>
      <p:sp>
        <p:nvSpPr>
          <p:cNvPr id="9" name="Rectangle 8"/>
          <p:cNvSpPr/>
          <p:nvPr/>
        </p:nvSpPr>
        <p:spPr>
          <a:xfrm>
            <a:off x="822960" y="1920240"/>
            <a:ext cx="2286000" cy="822960"/>
          </a:xfrm>
          <a:prstGeom prst="rect">
            <a:avLst/>
          </a:prstGeom>
          <a:solidFill>
            <a:srgbClr val="133B63"/>
          </a:solidFill>
          <a:ln>
            <a:solidFill>
              <a:srgbClr val="133B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93392"/>
            <a:ext cx="2066544" cy="219456"/>
          </a:xfrm>
          <a:prstGeom prst="rect">
            <a:avLst/>
          </a:prstGeom>
          <a:noFill/>
        </p:spPr>
        <p:txBody>
          <a:bodyPr wrap="square">
            <a:spAutoFit/>
          </a:bodyPr>
          <a:lstStyle/>
          <a:p>
            <a:pPr algn="l"/>
            <a:r>
              <a:rPr sz="1100" b="0">
                <a:solidFill>
                  <a:srgbClr val="FFFFFF"/>
                </a:solidFill>
                <a:latin typeface="Aptos"/>
              </a:rPr>
              <a:t>Step 1</a:t>
            </a:r>
          </a:p>
        </p:txBody>
      </p:sp>
      <p:sp>
        <p:nvSpPr>
          <p:cNvPr id="11" name="TextBox 10"/>
          <p:cNvSpPr txBox="1"/>
          <p:nvPr/>
        </p:nvSpPr>
        <p:spPr>
          <a:xfrm>
            <a:off x="932688" y="2176272"/>
            <a:ext cx="2066544" cy="310896"/>
          </a:xfrm>
          <a:prstGeom prst="rect">
            <a:avLst/>
          </a:prstGeom>
          <a:noFill/>
        </p:spPr>
        <p:txBody>
          <a:bodyPr wrap="square">
            <a:spAutoFit/>
          </a:bodyPr>
          <a:lstStyle/>
          <a:p>
            <a:pPr algn="l"/>
            <a:r>
              <a:rPr sz="2000" b="1">
                <a:solidFill>
                  <a:srgbClr val="FFFFFF"/>
                </a:solidFill>
                <a:latin typeface="Aptos Display"/>
              </a:rPr>
              <a:t>python build.py</a:t>
            </a:r>
          </a:p>
        </p:txBody>
      </p:sp>
      <p:sp>
        <p:nvSpPr>
          <p:cNvPr id="12" name="Rectangle 11"/>
          <p:cNvSpPr/>
          <p:nvPr/>
        </p:nvSpPr>
        <p:spPr>
          <a:xfrm>
            <a:off x="4572000" y="1920240"/>
            <a:ext cx="2651760" cy="82296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1993392"/>
            <a:ext cx="2432304" cy="219456"/>
          </a:xfrm>
          <a:prstGeom prst="rect">
            <a:avLst/>
          </a:prstGeom>
          <a:noFill/>
        </p:spPr>
        <p:txBody>
          <a:bodyPr wrap="square">
            <a:spAutoFit/>
          </a:bodyPr>
          <a:lstStyle/>
          <a:p>
            <a:pPr algn="l"/>
            <a:r>
              <a:rPr sz="1100" b="0">
                <a:solidFill>
                  <a:srgbClr val="FFFFFF"/>
                </a:solidFill>
                <a:latin typeface="Aptos"/>
              </a:rPr>
              <a:t>Step 2</a:t>
            </a:r>
          </a:p>
        </p:txBody>
      </p:sp>
      <p:sp>
        <p:nvSpPr>
          <p:cNvPr id="14" name="TextBox 13"/>
          <p:cNvSpPr txBox="1"/>
          <p:nvPr/>
        </p:nvSpPr>
        <p:spPr>
          <a:xfrm>
            <a:off x="4681728" y="2176272"/>
            <a:ext cx="2432304" cy="310896"/>
          </a:xfrm>
          <a:prstGeom prst="rect">
            <a:avLst/>
          </a:prstGeom>
          <a:noFill/>
        </p:spPr>
        <p:txBody>
          <a:bodyPr wrap="square">
            <a:spAutoFit/>
          </a:bodyPr>
          <a:lstStyle/>
          <a:p>
            <a:pPr algn="l"/>
            <a:r>
              <a:rPr sz="2000" b="1">
                <a:solidFill>
                  <a:srgbClr val="FFFFFF"/>
                </a:solidFill>
                <a:latin typeface="Aptos Display"/>
              </a:rPr>
              <a:t>python build_uninstaller.py</a:t>
            </a:r>
          </a:p>
        </p:txBody>
      </p:sp>
      <p:sp>
        <p:nvSpPr>
          <p:cNvPr id="15" name="Rectangle 14"/>
          <p:cNvSpPr/>
          <p:nvPr/>
        </p:nvSpPr>
        <p:spPr>
          <a:xfrm>
            <a:off x="8412480" y="1920240"/>
            <a:ext cx="2103120" cy="8229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22208" y="1993392"/>
            <a:ext cx="1883664" cy="219456"/>
          </a:xfrm>
          <a:prstGeom prst="rect">
            <a:avLst/>
          </a:prstGeom>
          <a:noFill/>
        </p:spPr>
        <p:txBody>
          <a:bodyPr wrap="square">
            <a:spAutoFit/>
          </a:bodyPr>
          <a:lstStyle/>
          <a:p>
            <a:pPr algn="l"/>
            <a:r>
              <a:rPr sz="1100" b="0">
                <a:solidFill>
                  <a:srgbClr val="FFFFFF"/>
                </a:solidFill>
                <a:latin typeface="Aptos"/>
              </a:rPr>
              <a:t>Step 3</a:t>
            </a:r>
          </a:p>
        </p:txBody>
      </p:sp>
      <p:sp>
        <p:nvSpPr>
          <p:cNvPr id="17" name="TextBox 16"/>
          <p:cNvSpPr txBox="1"/>
          <p:nvPr/>
        </p:nvSpPr>
        <p:spPr>
          <a:xfrm>
            <a:off x="8522208" y="2176272"/>
            <a:ext cx="1883664" cy="310896"/>
          </a:xfrm>
          <a:prstGeom prst="rect">
            <a:avLst/>
          </a:prstGeom>
          <a:noFill/>
        </p:spPr>
        <p:txBody>
          <a:bodyPr wrap="square">
            <a:spAutoFit/>
          </a:bodyPr>
          <a:lstStyle/>
          <a:p>
            <a:pPr algn="l"/>
            <a:r>
              <a:rPr sz="2000" b="1">
                <a:solidFill>
                  <a:srgbClr val="FFFFFF"/>
                </a:solidFill>
                <a:latin typeface="Aptos Display"/>
              </a:rPr>
              <a:t>python build_installer.py</a:t>
            </a:r>
          </a:p>
        </p:txBody>
      </p:sp>
      <p:cxnSp>
        <p:nvCxnSpPr>
          <p:cNvPr id="18" name="Connector 17"/>
          <p:cNvCxnSpPr/>
          <p:nvPr/>
        </p:nvCxnSpPr>
        <p:spPr>
          <a:xfrm>
            <a:off x="3154680" y="2340864"/>
            <a:ext cx="1325880"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69480" y="2340864"/>
            <a:ext cx="1051560" cy="0"/>
          </a:xfrm>
          <a:prstGeom prst="line">
            <a:avLst/>
          </a:prstGeom>
          <a:ln w="31750">
            <a:solidFill>
              <a:srgbClr val="133B6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3108960"/>
            <a:ext cx="2103120" cy="182880"/>
          </a:xfrm>
          <a:prstGeom prst="rect">
            <a:avLst/>
          </a:prstGeom>
          <a:noFill/>
        </p:spPr>
        <p:txBody>
          <a:bodyPr wrap="square">
            <a:spAutoFit/>
          </a:bodyPr>
          <a:lstStyle/>
          <a:p>
            <a:pPr algn="ctr"/>
            <a:r>
              <a:rPr sz="1400" b="1">
                <a:solidFill>
                  <a:srgbClr val="133B63"/>
                </a:solidFill>
                <a:latin typeface="Aptos"/>
              </a:rPr>
              <a:t>Output: `pkg.zip`</a:t>
            </a:r>
          </a:p>
        </p:txBody>
      </p:sp>
      <p:sp>
        <p:nvSpPr>
          <p:cNvPr id="21" name="TextBox 20"/>
          <p:cNvSpPr txBox="1"/>
          <p:nvPr/>
        </p:nvSpPr>
        <p:spPr>
          <a:xfrm>
            <a:off x="4709160" y="3108960"/>
            <a:ext cx="2286000" cy="182880"/>
          </a:xfrm>
          <a:prstGeom prst="rect">
            <a:avLst/>
          </a:prstGeom>
          <a:noFill/>
        </p:spPr>
        <p:txBody>
          <a:bodyPr wrap="square">
            <a:spAutoFit/>
          </a:bodyPr>
          <a:lstStyle/>
          <a:p>
            <a:pPr algn="ctr"/>
            <a:r>
              <a:rPr sz="1400" b="1">
                <a:solidFill>
                  <a:srgbClr val="133B63"/>
                </a:solidFill>
                <a:latin typeface="Aptos"/>
              </a:rPr>
              <a:t>Output: `Uninstaller.exe`</a:t>
            </a:r>
          </a:p>
        </p:txBody>
      </p:sp>
      <p:sp>
        <p:nvSpPr>
          <p:cNvPr id="22" name="TextBox 21"/>
          <p:cNvSpPr txBox="1"/>
          <p:nvPr/>
        </p:nvSpPr>
        <p:spPr>
          <a:xfrm>
            <a:off x="8138160" y="3108960"/>
            <a:ext cx="2651760" cy="384048"/>
          </a:xfrm>
          <a:prstGeom prst="rect">
            <a:avLst/>
          </a:prstGeom>
          <a:noFill/>
        </p:spPr>
        <p:txBody>
          <a:bodyPr wrap="square">
            <a:spAutoFit/>
          </a:bodyPr>
          <a:lstStyle/>
          <a:p>
            <a:pPr algn="ctr"/>
            <a:r>
              <a:rPr sz="1400" b="1">
                <a:solidFill>
                  <a:srgbClr val="133B63"/>
                </a:solidFill>
                <a:latin typeface="Aptos"/>
              </a:rPr>
              <a:t>Output: `dist/Tlamatini_Release/`</a:t>
            </a:r>
          </a:p>
        </p:txBody>
      </p:sp>
      <p:sp>
        <p:nvSpPr>
          <p:cNvPr id="23" name="TextBox 22"/>
          <p:cNvSpPr txBox="1"/>
          <p:nvPr/>
        </p:nvSpPr>
        <p:spPr>
          <a:xfrm>
            <a:off x="822960" y="3794760"/>
            <a:ext cx="9966960" cy="1371600"/>
          </a:xfrm>
          <a:prstGeom prst="rect">
            <a:avLst/>
          </a:prstGeom>
          <a:noFill/>
        </p:spPr>
        <p:txBody>
          <a:bodyPr wrap="square">
            <a:spAutoFit/>
          </a:bodyPr>
          <a:lstStyle/>
          <a:p>
            <a:pPr>
              <a:spcAft>
                <a:spcPts val="800"/>
              </a:spcAft>
            </a:pPr>
            <a:r>
              <a:rPr sz="1700">
                <a:solidFill>
                  <a:srgbClr val="111827"/>
                </a:solidFill>
                <a:latin typeface="Aptos"/>
              </a:rPr>
              <a:t>The README documents a strict build order because each later step consumes artifacts from the previous one.</a:t>
            </a:r>
          </a:p>
          <a:p>
            <a:pPr>
              <a:spcAft>
                <a:spcPts val="800"/>
              </a:spcAft>
            </a:pPr>
            <a:r>
              <a:rPr sz="1700">
                <a:solidFill>
                  <a:srgbClr val="111827"/>
                </a:solidFill>
                <a:latin typeface="Aptos"/>
              </a:rPr>
              <a:t>The final release is the entire `dist/Tlamatini_Release/` folder, not just one EXE copied out of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Release step 1</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`python build.py` Does</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19</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Command</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Main responsibilities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371600"/>
            <a:ext cx="4160520" cy="4343400"/>
          </a:xfrm>
          <a:prstGeom prst="rect">
            <a:avLst/>
          </a:prstGeom>
          <a:solidFill>
            <a:srgbClr val="0F172A"/>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444752"/>
            <a:ext cx="3831336" cy="228600"/>
          </a:xfrm>
          <a:prstGeom prst="rect">
            <a:avLst/>
          </a:prstGeom>
          <a:noFill/>
        </p:spPr>
        <p:txBody>
          <a:bodyPr wrap="square">
            <a:spAutoFit/>
          </a:bodyPr>
          <a:lstStyle/>
          <a:p>
            <a:pPr algn="l"/>
            <a:r>
              <a:rPr sz="1200" b="1">
                <a:solidFill>
                  <a:srgbClr val="20C997"/>
                </a:solidFill>
                <a:latin typeface="Aptos"/>
              </a:rPr>
              <a:t>Build the application bundle</a:t>
            </a:r>
          </a:p>
        </p:txBody>
      </p:sp>
      <p:sp>
        <p:nvSpPr>
          <p:cNvPr id="14" name="TextBox 13"/>
          <p:cNvSpPr txBox="1"/>
          <p:nvPr/>
        </p:nvSpPr>
        <p:spPr>
          <a:xfrm>
            <a:off x="804672" y="1682496"/>
            <a:ext cx="3831336" cy="4178808"/>
          </a:xfrm>
          <a:prstGeom prst="rect">
            <a:avLst/>
          </a:prstGeom>
          <a:noFill/>
        </p:spPr>
        <p:txBody>
          <a:bodyPr wrap="square">
            <a:spAutoFit/>
          </a:bodyPr>
          <a:lstStyle/>
          <a:p>
            <a:pPr algn="l"/>
            <a:r>
              <a:rPr sz="1200" b="0">
                <a:solidFill>
                  <a:srgbClr val="FFFFFF"/>
                </a:solidFill>
                <a:latin typeface="Consolas"/>
              </a:rPr>
              <a:t>python build.py
# Output
pkg.zip</a:t>
            </a:r>
          </a:p>
        </p:txBody>
      </p:sp>
      <p:sp>
        <p:nvSpPr>
          <p:cNvPr id="15" name="TextBox 14"/>
          <p:cNvSpPr txBox="1"/>
          <p:nvPr/>
        </p:nvSpPr>
        <p:spPr>
          <a:xfrm>
            <a:off x="5166360" y="1417320"/>
            <a:ext cx="5623560" cy="4389120"/>
          </a:xfrm>
          <a:prstGeom prst="rect">
            <a:avLst/>
          </a:prstGeom>
          <a:noFill/>
        </p:spPr>
        <p:txBody>
          <a:bodyPr wrap="square">
            <a:spAutoFit/>
          </a:bodyPr>
          <a:lstStyle/>
          <a:p>
            <a:pPr>
              <a:spcAft>
                <a:spcPts val="800"/>
              </a:spcAft>
            </a:pPr>
            <a:r>
              <a:rPr sz="1600">
                <a:solidFill>
                  <a:srgbClr val="111827"/>
                </a:solidFill>
                <a:latin typeface="Aptos"/>
              </a:rPr>
              <a:t>Installs dependencies and runs Django `collectstatic`.</a:t>
            </a:r>
          </a:p>
          <a:p>
            <a:pPr>
              <a:spcAft>
                <a:spcPts val="800"/>
              </a:spcAft>
            </a:pPr>
            <a:r>
              <a:rPr sz="1600">
                <a:solidFill>
                  <a:srgbClr val="111827"/>
                </a:solidFill>
                <a:latin typeface="Aptos"/>
              </a:rPr>
              <a:t>Executes PyInstaller for the application and creates runtime directories such as `application`, `applications`, and `content_generated`.</a:t>
            </a:r>
          </a:p>
          <a:p>
            <a:pPr>
              <a:spcAft>
                <a:spcPts val="800"/>
              </a:spcAft>
            </a:pPr>
            <a:r>
              <a:rPr sz="1600">
                <a:solidFill>
                  <a:srgbClr val="111827"/>
                </a:solidFill>
                <a:latin typeface="Aptos"/>
              </a:rPr>
              <a:t>Copies required payloads including `README.md` and `jd-cli/` into the packaged output and fails if those assets are missing.</a:t>
            </a:r>
          </a:p>
          <a:p>
            <a:pPr>
              <a:spcAft>
                <a:spcPts val="800"/>
              </a:spcAft>
            </a:pPr>
            <a:r>
              <a:rPr sz="1600">
                <a:solidFill>
                  <a:srgbClr val="111827"/>
                </a:solidFill>
                <a:latin typeface="Aptos"/>
              </a:rPr>
              <a:t>Runs migrations, creates the default built-install user, renames the executable to `Tlamatini.exe`, copies agent templates, bundles helper PowerShell scripts, and zips the packaged application into `pkg.zip`.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Release steps 2 and 3</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What `build_uninstaller.py` and `build_installer.py` Do</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20</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`python build_uninstaller.py`</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`python build_installer.py`</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Builds `uninstall.py` into a single-file `Uninstaller.exe` with PyInstaller `--onefile --windowed`.</a:t>
            </a:r>
          </a:p>
          <a:p>
            <a:pPr>
              <a:spcAft>
                <a:spcPts val="800"/>
              </a:spcAft>
            </a:pPr>
            <a:r>
              <a:rPr sz="1700">
                <a:solidFill>
                  <a:srgbClr val="111827"/>
                </a:solidFill>
                <a:latin typeface="Aptos"/>
              </a:rPr>
              <a:t>Collects the Tcl/Tk and system DLLs needed for the Tkinter GUI.</a:t>
            </a:r>
          </a:p>
          <a:p>
            <a:pPr>
              <a:spcAft>
                <a:spcPts val="800"/>
              </a:spcAft>
            </a:pPr>
            <a:r>
              <a:rPr sz="1700">
                <a:solidFill>
                  <a:srgbClr val="111827"/>
                </a:solidFill>
                <a:latin typeface="Aptos"/>
              </a:rPr>
              <a:t>Copies the final `Uninstaller.exe` back to project root and removes intermediate build artifacts.</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600">
                <a:solidFill>
                  <a:srgbClr val="111827"/>
                </a:solidFill>
                <a:latin typeface="Aptos"/>
              </a:rPr>
              <a:t>Consumes `pkg.zip` and `Uninstaller.exe` from the project root.</a:t>
            </a:r>
          </a:p>
          <a:p>
            <a:pPr>
              <a:spcAft>
                <a:spcPts val="800"/>
              </a:spcAft>
            </a:pPr>
            <a:r>
              <a:rPr sz="1600">
                <a:solidFill>
                  <a:srgbClr val="111827"/>
                </a:solidFill>
                <a:latin typeface="Aptos"/>
              </a:rPr>
              <a:t>Builds the installer UI from `install.py`, copies artifacts into `dist/Installer/`, and assembles `dist/Tlamatini_Release/`.</a:t>
            </a:r>
          </a:p>
          <a:p>
            <a:pPr>
              <a:spcAft>
                <a:spcPts val="800"/>
              </a:spcAft>
            </a:pPr>
            <a:r>
              <a:rPr sz="1600">
                <a:solidFill>
                  <a:srgbClr val="111827"/>
                </a:solidFill>
                <a:latin typeface="Aptos"/>
              </a:rPr>
              <a:t>The release folder is what you zip and distribute; end users run `Installer.exe` from that folder.</a:t>
            </a:r>
          </a:p>
          <a:p>
            <a:pPr>
              <a:spcAft>
                <a:spcPts val="800"/>
              </a:spcAft>
            </a:pPr>
            <a:r>
              <a:rPr sz="1600">
                <a:solidFill>
                  <a:srgbClr val="111827"/>
                </a:solidFill>
                <a:latin typeface="Aptos"/>
              </a:rPr>
              <a:t>The installer extracts `pkg.zip`, writes config, creates shortcuts, registers `.flw`, and places `Uninstaller.exe` beside the installed app.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Extension path 1</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Create a New Workflow Agent With the Skill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21</a:t>
            </a:r>
          </a:p>
        </p:txBody>
      </p:sp>
      <p:sp>
        <p:nvSpPr>
          <p:cNvPr id="8" name="TextBox 7"/>
          <p:cNvSpPr txBox="1"/>
          <p:nvPr/>
        </p:nvSpPr>
        <p:spPr>
          <a:xfrm>
            <a:off x="502920" y="914400"/>
            <a:ext cx="5120640" cy="256032"/>
          </a:xfrm>
          <a:prstGeom prst="rect">
            <a:avLst/>
          </a:prstGeom>
          <a:noFill/>
        </p:spPr>
        <p:txBody>
          <a:bodyPr wrap="square">
            <a:spAutoFit/>
          </a:bodyPr>
          <a:lstStyle/>
          <a:p>
            <a:pPr algn="l"/>
            <a:r>
              <a:rPr sz="1600" b="1">
                <a:solidFill>
                  <a:srgbClr val="133B63"/>
                </a:solidFill>
                <a:latin typeface="Aptos"/>
              </a:rPr>
              <a:t>The 8-step flow in `create_new_agent.md`</a:t>
            </a:r>
          </a:p>
        </p:txBody>
      </p:sp>
      <p:sp>
        <p:nvSpPr>
          <p:cNvPr id="9" name="TextBox 8"/>
          <p:cNvSpPr txBox="1"/>
          <p:nvPr/>
        </p:nvSpPr>
        <p:spPr>
          <a:xfrm>
            <a:off x="6172200" y="914400"/>
            <a:ext cx="5120640" cy="256032"/>
          </a:xfrm>
          <a:prstGeom prst="rect">
            <a:avLst/>
          </a:prstGeom>
          <a:noFill/>
        </p:spPr>
        <p:txBody>
          <a:bodyPr wrap="square">
            <a:spAutoFit/>
          </a:bodyPr>
          <a:lstStyle/>
          <a:p>
            <a:pPr algn="l"/>
            <a:r>
              <a:rPr sz="1600" b="1">
                <a:solidFill>
                  <a:srgbClr val="133B63"/>
                </a:solidFill>
                <a:latin typeface="Aptos"/>
              </a:rPr>
              <a:t>Non-negotiable rules</a:t>
            </a:r>
          </a:p>
        </p:txBody>
      </p:sp>
      <p:sp>
        <p:nvSpPr>
          <p:cNvPr id="10" name="Rectangle 9"/>
          <p:cNvSpPr/>
          <p:nvPr/>
        </p:nvSpPr>
        <p:spPr>
          <a:xfrm>
            <a:off x="50292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216152"/>
            <a:ext cx="5074920" cy="25400"/>
          </a:xfrm>
          <a:prstGeom prst="rect">
            <a:avLst/>
          </a:prstGeom>
          <a:solidFill>
            <a:srgbClr val="20C997"/>
          </a:solidFill>
          <a:ln>
            <a:solidFill>
              <a:srgbClr val="20C9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371600"/>
            <a:ext cx="4983480" cy="4480560"/>
          </a:xfrm>
          <a:prstGeom prst="rect">
            <a:avLst/>
          </a:prstGeom>
          <a:noFill/>
        </p:spPr>
        <p:txBody>
          <a:bodyPr wrap="square">
            <a:spAutoFit/>
          </a:bodyPr>
          <a:lstStyle/>
          <a:p>
            <a:pPr>
              <a:spcAft>
                <a:spcPts val="800"/>
              </a:spcAft>
            </a:pPr>
            <a:r>
              <a:rPr sz="1700">
                <a:solidFill>
                  <a:srgbClr val="111827"/>
                </a:solidFill>
                <a:latin typeface="Aptos"/>
              </a:rPr>
              <a:t>Create `agent/agents/&lt;agent_name&gt;/&lt;agent_name&gt;.py` and `config.yaml`.</a:t>
            </a:r>
          </a:p>
          <a:p>
            <a:pPr>
              <a:spcAft>
                <a:spcPts val="800"/>
              </a:spcAft>
            </a:pPr>
            <a:r>
              <a:rPr sz="1700">
                <a:solidFill>
                  <a:srgbClr val="111827"/>
                </a:solidFill>
                <a:latin typeface="Aptos"/>
              </a:rPr>
              <a:t>Add a Django connection-update view and register its URL.</a:t>
            </a:r>
          </a:p>
          <a:p>
            <a:pPr>
              <a:spcAft>
                <a:spcPts val="800"/>
              </a:spcAft>
            </a:pPr>
            <a:r>
              <a:rPr sz="1700">
                <a:solidFill>
                  <a:srgbClr val="111827"/>
                </a:solidFill>
                <a:latin typeface="Aptos"/>
              </a:rPr>
              <a:t>Create a migration that seeds the `Agent` row and run `python Tlamatini/manage.py migrate`.</a:t>
            </a:r>
          </a:p>
          <a:p>
            <a:pPr>
              <a:spcAft>
                <a:spcPts val="800"/>
              </a:spcAft>
            </a:pPr>
            <a:r>
              <a:rPr sz="1700">
                <a:solidFill>
                  <a:srgbClr val="111827"/>
                </a:solidFill>
                <a:latin typeface="Aptos"/>
              </a:rPr>
              <a:t>Add ACP CSS gradient styling and frontend JS integration across connectors, canvas core, undo, and file I/O.</a:t>
            </a:r>
          </a:p>
          <a:p>
            <a:pPr>
              <a:spcAft>
                <a:spcPts val="800"/>
              </a:spcAft>
            </a:pPr>
            <a:r>
              <a:rPr sz="1700">
                <a:solidFill>
                  <a:srgbClr val="111827"/>
                </a:solidFill>
                <a:latin typeface="Aptos"/>
              </a:rPr>
              <a:t>Update `agentic_skill.md` and `README.md`, then run Ruff and ESLint.</a:t>
            </a:r>
          </a:p>
        </p:txBody>
      </p:sp>
      <p:sp>
        <p:nvSpPr>
          <p:cNvPr id="13" name="TextBox 12"/>
          <p:cNvSpPr txBox="1"/>
          <p:nvPr/>
        </p:nvSpPr>
        <p:spPr>
          <a:xfrm>
            <a:off x="6080760" y="1371600"/>
            <a:ext cx="4892040" cy="4480560"/>
          </a:xfrm>
          <a:prstGeom prst="rect">
            <a:avLst/>
          </a:prstGeom>
          <a:noFill/>
        </p:spPr>
        <p:txBody>
          <a:bodyPr wrap="square">
            <a:spAutoFit/>
          </a:bodyPr>
          <a:lstStyle/>
          <a:p>
            <a:pPr>
              <a:spcAft>
                <a:spcPts val="800"/>
              </a:spcAft>
            </a:pPr>
            <a:r>
              <a:rPr sz="1500">
                <a:solidFill>
                  <a:srgbClr val="111827"/>
                </a:solidFill>
                <a:latin typeface="Aptos"/>
              </a:rPr>
              <a:t>Set `FOR_DISABLE_CONSOLE_CTRL_HANDLER` before other imports and write/remove `agent.pid` correctly.</a:t>
            </a:r>
          </a:p>
          <a:p>
            <a:pPr>
              <a:spcAft>
                <a:spcPts val="800"/>
              </a:spcAft>
            </a:pPr>
            <a:r>
              <a:rPr sz="1500">
                <a:solidFill>
                  <a:srgbClr val="111827"/>
                </a:solidFill>
                <a:latin typeface="Aptos"/>
              </a:rPr>
              <a:t>Support reanimation with `_IS_REANIMATED` and preserve `reanim*` files where relevant.</a:t>
            </a:r>
          </a:p>
          <a:p>
            <a:pPr>
              <a:spcAft>
                <a:spcPts val="800"/>
              </a:spcAft>
            </a:pPr>
            <a:r>
              <a:rPr sz="1500">
                <a:solidFill>
                  <a:srgbClr val="111827"/>
                </a:solidFill>
                <a:latin typeface="Aptos"/>
              </a:rPr>
              <a:t>If the agent emits structured output for Parametrizer, it must use the unified `INI_SECTION_&lt;TYPE&gt;&lt;&lt;&lt; ... &gt;&gt;&gt;END_SECTION_&lt;TYPE&gt;` format and be registered in Parametrizer + views + README.</a:t>
            </a:r>
          </a:p>
          <a:p>
            <a:pPr>
              <a:spcAft>
                <a:spcPts val="800"/>
              </a:spcAft>
            </a:pPr>
            <a:r>
              <a:rPr sz="1500">
                <a:solidFill>
                  <a:srgbClr val="111827"/>
                </a:solidFill>
                <a:latin typeface="Aptos"/>
              </a:rPr>
              <a:t>The `agentDescription` naming convention drives CSS class resolution, sidebar visuals, and connection handlers; getting name forms wrong breaks ACP behavior.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Extension path 2</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Create a New MCP or Tool With the Skill</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22</a:t>
            </a:r>
          </a:p>
        </p:txBody>
      </p:sp>
      <p:graphicFrame>
        <p:nvGraphicFramePr>
          <p:cNvPr id="8" name="Table 7"/>
          <p:cNvGraphicFramePr>
            <a:graphicFrameLocks noGrp="1"/>
          </p:cNvGraphicFramePr>
          <p:nvPr/>
        </p:nvGraphicFramePr>
        <p:xfrm>
          <a:off x="685800" y="1325880"/>
          <a:ext cx="10515600" cy="1828800"/>
        </p:xfrm>
        <a:graphic>
          <a:graphicData uri="http://schemas.openxmlformats.org/drawingml/2006/table">
            <a:tbl>
              <a:tblPr firstRow="1" bandRow="1">
                <a:tableStyleId>{5C22544A-7EE6-4342-B048-85BDC9FD1C3A}</a:tableStyleId>
              </a:tblPr>
              <a:tblGrid>
                <a:gridCol w="3505200"/>
                <a:gridCol w="3505200"/>
                <a:gridCol w="3505200"/>
              </a:tblGrid>
              <a:tr h="457200">
                <a:tc>
                  <a:txBody>
                    <a:bodyPr wrap="square"/>
                    <a:lstStyle/>
                    <a:p>
                      <a:pPr algn="l"/>
                      <a:r>
                        <a:rPr sz="1000" b="1">
                          <a:solidFill>
                            <a:srgbClr val="FFFFFF"/>
                          </a:solidFill>
                          <a:latin typeface="Aptos"/>
                        </a:rPr>
                        <a:t>First decision</a:t>
                      </a:r>
                    </a:p>
                  </a:txBody>
                  <a:tcPr marL="76200" marR="76200" marT="50800" marB="50800">
                    <a:solidFill>
                      <a:srgbClr val="133B63"/>
                    </a:solidFill>
                  </a:tcPr>
                </a:tc>
                <a:tc>
                  <a:txBody>
                    <a:bodyPr wrap="square"/>
                    <a:lstStyle/>
                    <a:p>
                      <a:pPr algn="l"/>
                      <a:r>
                        <a:rPr sz="1000" b="1">
                          <a:solidFill>
                            <a:srgbClr val="FFFFFF"/>
                          </a:solidFill>
                          <a:latin typeface="Aptos"/>
                        </a:rPr>
                        <a:t>Meaning</a:t>
                      </a:r>
                    </a:p>
                  </a:txBody>
                  <a:tcPr marL="76200" marR="76200" marT="50800" marB="50800">
                    <a:solidFill>
                      <a:srgbClr val="133B63"/>
                    </a:solidFill>
                  </a:tcPr>
                </a:tc>
                <a:tc>
                  <a:txBody>
                    <a:bodyPr wrap="square"/>
                    <a:lstStyle/>
                    <a:p>
                      <a:pPr algn="l"/>
                      <a:r>
                        <a:rPr sz="1000" b="1">
                          <a:solidFill>
                            <a:srgbClr val="FFFFFF"/>
                          </a:solidFill>
                          <a:latin typeface="Aptos"/>
                        </a:rPr>
                        <a:t>Typical files</a:t>
                      </a:r>
                    </a:p>
                  </a:txBody>
                  <a:tcPr marL="76200" marR="76200" marT="50800" marB="50800">
                    <a:solidFill>
                      <a:srgbClr val="133B63"/>
                    </a:solidFill>
                  </a:tcPr>
                </a:tc>
              </a:tr>
              <a:tr h="457200">
                <a:tc>
                  <a:txBody>
                    <a:bodyPr wrap="square"/>
                    <a:lstStyle/>
                    <a:p>
                      <a:pPr algn="l"/>
                      <a:r>
                        <a:rPr sz="1000" b="0">
                          <a:solidFill>
                            <a:srgbClr val="111827"/>
                          </a:solidFill>
                          <a:latin typeface="Aptos"/>
                        </a:rPr>
                        <a:t>Tool only</a:t>
                      </a:r>
                    </a:p>
                  </a:txBody>
                  <a:tcPr marL="76200" marR="76200" marT="50800" marB="50800">
                    <a:solidFill>
                      <a:srgbClr val="FFFFFF"/>
                    </a:solidFill>
                  </a:tcPr>
                </a:tc>
                <a:tc>
                  <a:txBody>
                    <a:bodyPr wrap="square"/>
                    <a:lstStyle/>
                    <a:p>
                      <a:pPr algn="l"/>
                      <a:r>
                        <a:rPr sz="1000" b="0">
                          <a:solidFill>
                            <a:srgbClr val="111827"/>
                          </a:solidFill>
                          <a:latin typeface="Aptos"/>
                        </a:rPr>
                        <a:t>Imperative action during unified-agent execution</a:t>
                      </a:r>
                    </a:p>
                  </a:txBody>
                  <a:tcPr marL="76200" marR="76200" marT="50800" marB="50800">
                    <a:solidFill>
                      <a:srgbClr val="FFFFFF"/>
                    </a:solidFill>
                  </a:tcPr>
                </a:tc>
                <a:tc>
                  <a:txBody>
                    <a:bodyPr wrap="square"/>
                    <a:lstStyle/>
                    <a:p>
                      <a:pPr algn="l"/>
                      <a:r>
                        <a:rPr sz="1000" b="0">
                          <a:solidFill>
                            <a:srgbClr val="111827"/>
                          </a:solidFill>
                          <a:latin typeface="Aptos"/>
                        </a:rPr>
                        <a:t>`agent/tools.py`, migration for `Tool`, maybe helper modules</a:t>
                      </a:r>
                    </a:p>
                  </a:txBody>
                  <a:tcPr marL="76200" marR="76200" marT="50800" marB="50800">
                    <a:solidFill>
                      <a:srgbClr val="FFFFFF"/>
                    </a:solidFill>
                  </a:tcPr>
                </a:tc>
              </a:tr>
              <a:tr h="457200">
                <a:tc>
                  <a:txBody>
                    <a:bodyPr wrap="square"/>
                    <a:lstStyle/>
                    <a:p>
                      <a:pPr algn="l"/>
                      <a:r>
                        <a:rPr sz="1000" b="0">
                          <a:solidFill>
                            <a:srgbClr val="111827"/>
                          </a:solidFill>
                          <a:latin typeface="Aptos"/>
                        </a:rPr>
                        <a:t>MCP-backed context provider only</a:t>
                      </a:r>
                    </a:p>
                  </a:txBody>
                  <a:tcPr marL="76200" marR="76200" marT="50800" marB="50800">
                    <a:solidFill>
                      <a:srgbClr val="FFFFFF"/>
                    </a:solidFill>
                  </a:tcPr>
                </a:tc>
                <a:tc>
                  <a:txBody>
                    <a:bodyPr wrap="square"/>
                    <a:lstStyle/>
                    <a:p>
                      <a:pPr algn="l"/>
                      <a:r>
                        <a:rPr sz="1000" b="0">
                          <a:solidFill>
                            <a:srgbClr val="111827"/>
                          </a:solidFill>
                          <a:latin typeface="Aptos"/>
                        </a:rPr>
                        <a:t>Pre-fetched context before main answer chains respond</a:t>
                      </a:r>
                    </a:p>
                  </a:txBody>
                  <a:tcPr marL="76200" marR="76200" marT="50800" marB="50800">
                    <a:solidFill>
                      <a:srgbClr val="FFFFFF"/>
                    </a:solidFill>
                  </a:tcPr>
                </a:tc>
                <a:tc>
                  <a:txBody>
                    <a:bodyPr wrap="square"/>
                    <a:lstStyle/>
                    <a:p>
                      <a:pPr algn="l"/>
                      <a:r>
                        <a:rPr sz="1000" b="0">
                          <a:solidFill>
                            <a:srgbClr val="111827"/>
                          </a:solidFill>
                          <a:latin typeface="Aptos"/>
                        </a:rPr>
                        <a:t>runtime MCP server/client, `chain_*_lcel.py`, `factory.py`, MCP UI wiring</a:t>
                      </a:r>
                    </a:p>
                  </a:txBody>
                  <a:tcPr marL="76200" marR="76200" marT="50800" marB="50800">
                    <a:solidFill>
                      <a:srgbClr val="FFFFFF"/>
                    </a:solidFill>
                  </a:tcPr>
                </a:tc>
              </a:tr>
              <a:tr h="457200">
                <a:tc>
                  <a:txBody>
                    <a:bodyPr wrap="square"/>
                    <a:lstStyle/>
                    <a:p>
                      <a:pPr algn="l"/>
                      <a:r>
                        <a:rPr sz="1000" b="0">
                          <a:solidFill>
                            <a:srgbClr val="111827"/>
                          </a:solidFill>
                          <a:latin typeface="Aptos"/>
                        </a:rPr>
                        <a:t>Both</a:t>
                      </a:r>
                    </a:p>
                  </a:txBody>
                  <a:tcPr marL="76200" marR="76200" marT="50800" marB="50800">
                    <a:solidFill>
                      <a:srgbClr val="FFFFFF"/>
                    </a:solidFill>
                  </a:tcPr>
                </a:tc>
                <a:tc>
                  <a:txBody>
                    <a:bodyPr wrap="square"/>
                    <a:lstStyle/>
                    <a:p>
                      <a:pPr algn="l"/>
                      <a:r>
                        <a:rPr sz="1000" b="0">
                          <a:solidFill>
                            <a:srgbClr val="111827"/>
                          </a:solidFill>
                          <a:latin typeface="Aptos"/>
                        </a:rPr>
                        <a:t>Rare case with a real context payload and a separate action tool</a:t>
                      </a:r>
                    </a:p>
                  </a:txBody>
                  <a:tcPr marL="76200" marR="76200" marT="50800" marB="50800">
                    <a:solidFill>
                      <a:srgbClr val="FFFFFF"/>
                    </a:solidFill>
                  </a:tcPr>
                </a:tc>
                <a:tc>
                  <a:txBody>
                    <a:bodyPr wrap="square"/>
                    <a:lstStyle/>
                    <a:p>
                      <a:pPr algn="l"/>
                      <a:r>
                        <a:rPr sz="1000" b="0">
                          <a:solidFill>
                            <a:srgbClr val="111827"/>
                          </a:solidFill>
                          <a:latin typeface="Aptos"/>
                        </a:rPr>
                        <a:t>Do both workflows explicitly</a:t>
                      </a:r>
                    </a:p>
                  </a:txBody>
                  <a:tcPr marL="76200" marR="76200" marT="50800" marB="50800">
                    <a:solidFill>
                      <a:srgbClr val="FFFFFF"/>
                    </a:solidFill>
                  </a:tcPr>
                </a:tc>
              </a:tr>
            </a:tbl>
          </a:graphicData>
        </a:graphic>
      </p:graphicFrame>
      <p:sp>
        <p:nvSpPr>
          <p:cNvPr id="9" name="TextBox 8"/>
          <p:cNvSpPr txBox="1"/>
          <p:nvPr/>
        </p:nvSpPr>
        <p:spPr>
          <a:xfrm>
            <a:off x="822960" y="3566160"/>
            <a:ext cx="10058400" cy="1828800"/>
          </a:xfrm>
          <a:prstGeom prst="rect">
            <a:avLst/>
          </a:prstGeom>
          <a:noFill/>
        </p:spPr>
        <p:txBody>
          <a:bodyPr wrap="square">
            <a:spAutoFit/>
          </a:bodyPr>
          <a:lstStyle/>
          <a:p>
            <a:pPr>
              <a:spcAft>
                <a:spcPts val="800"/>
              </a:spcAft>
            </a:pPr>
            <a:r>
              <a:rPr sz="1500">
                <a:solidFill>
                  <a:srgbClr val="111827"/>
                </a:solidFill>
                <a:latin typeface="Aptos"/>
              </a:rPr>
              <a:t>The skill insists on separating three meanings of "MCP": runtime service, persisted `Mcp` toggle row, and LangChain tool returned by `get_mcp_tools()`.</a:t>
            </a:r>
          </a:p>
          <a:p>
            <a:pPr>
              <a:spcAft>
                <a:spcPts val="800"/>
              </a:spcAft>
            </a:pPr>
            <a:r>
              <a:rPr sz="1500">
                <a:solidFill>
                  <a:srgbClr val="111827"/>
                </a:solidFill>
                <a:latin typeface="Aptos"/>
              </a:rPr>
              <a:t>Hardcoded caveat: MCP UI is still specific to `System-Metrics` and `Files-Search`, while tool UI is dynamic.</a:t>
            </a:r>
          </a:p>
          <a:p>
            <a:pPr>
              <a:spcAft>
                <a:spcPts val="800"/>
              </a:spcAft>
            </a:pPr>
            <a:r>
              <a:rPr sz="1500">
                <a:solidFill>
                  <a:srgbClr val="111827"/>
                </a:solidFill>
                <a:latin typeface="Aptos"/>
              </a:rPr>
              <a:t>Another caveat: adding an `Mcp` row without extending `factory.py` does nothing.</a:t>
            </a:r>
          </a:p>
          <a:p>
            <a:pPr>
              <a:spcAft>
                <a:spcPts val="800"/>
              </a:spcAft>
            </a:pPr>
            <a:r>
              <a:rPr sz="1500">
                <a:solidFill>
                  <a:srgbClr val="111827"/>
                </a:solidFill>
                <a:latin typeface="Aptos"/>
              </a:rPr>
              <a:t>Before coding, explicitly answer: am I adding a runtime service, a context preprocessor, a unified-agent tool, or more than one of those?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Reference map</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Files To Read When You Need the Truth</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23</a:t>
            </a:r>
          </a:p>
        </p:txBody>
      </p:sp>
      <p:graphicFrame>
        <p:nvGraphicFramePr>
          <p:cNvPr id="8" name="Table 7"/>
          <p:cNvGraphicFramePr>
            <a:graphicFrameLocks noGrp="1"/>
          </p:cNvGraphicFramePr>
          <p:nvPr/>
        </p:nvGraphicFramePr>
        <p:xfrm>
          <a:off x="640080" y="1234440"/>
          <a:ext cx="10607040" cy="4206240"/>
        </p:xfrm>
        <a:graphic>
          <a:graphicData uri="http://schemas.openxmlformats.org/drawingml/2006/table">
            <a:tbl>
              <a:tblPr firstRow="1" bandRow="1">
                <a:tableStyleId>{5C22544A-7EE6-4342-B048-85BDC9FD1C3A}</a:tableStyleId>
              </a:tblPr>
              <a:tblGrid>
                <a:gridCol w="5303520"/>
                <a:gridCol w="5303520"/>
              </a:tblGrid>
              <a:tr h="525780">
                <a:tc>
                  <a:txBody>
                    <a:bodyPr wrap="square"/>
                    <a:lstStyle/>
                    <a:p>
                      <a:pPr algn="l"/>
                      <a:r>
                        <a:rPr sz="1100" b="1">
                          <a:solidFill>
                            <a:srgbClr val="FFFFFF"/>
                          </a:solidFill>
                          <a:latin typeface="Aptos"/>
                        </a:rPr>
                        <a:t>Need</a:t>
                      </a:r>
                    </a:p>
                  </a:txBody>
                  <a:tcPr marL="76200" marR="76200" marT="50800" marB="50800">
                    <a:solidFill>
                      <a:srgbClr val="133B63"/>
                    </a:solidFill>
                  </a:tcPr>
                </a:tc>
                <a:tc>
                  <a:txBody>
                    <a:bodyPr wrap="square"/>
                    <a:lstStyle/>
                    <a:p>
                      <a:pPr algn="l"/>
                      <a:r>
                        <a:rPr sz="1100" b="1">
                          <a:solidFill>
                            <a:srgbClr val="FFFFFF"/>
                          </a:solidFill>
                          <a:latin typeface="Aptos"/>
                        </a:rPr>
                        <a:t>Read first</a:t>
                      </a:r>
                    </a:p>
                  </a:txBody>
                  <a:tcPr marL="76200" marR="76200" marT="50800" marB="50800">
                    <a:solidFill>
                      <a:srgbClr val="133B63"/>
                    </a:solidFill>
                  </a:tcPr>
                </a:tc>
              </a:tr>
              <a:tr h="525780">
                <a:tc>
                  <a:txBody>
                    <a:bodyPr wrap="square"/>
                    <a:lstStyle/>
                    <a:p>
                      <a:pPr algn="l"/>
                      <a:r>
                        <a:rPr sz="1100" b="0">
                          <a:solidFill>
                            <a:srgbClr val="111827"/>
                          </a:solidFill>
                          <a:latin typeface="Aptos"/>
                        </a:rPr>
                        <a:t>User-facing overview and commands</a:t>
                      </a:r>
                    </a:p>
                  </a:txBody>
                  <a:tcPr marL="76200" marR="76200" marT="50800" marB="50800">
                    <a:solidFill>
                      <a:srgbClr val="FFFFFF"/>
                    </a:solidFill>
                  </a:tcPr>
                </a:tc>
                <a:tc>
                  <a:txBody>
                    <a:bodyPr wrap="square"/>
                    <a:lstStyle/>
                    <a:p>
                      <a:pPr algn="l"/>
                      <a:r>
                        <a:rPr sz="1100" b="0">
                          <a:solidFill>
                            <a:srgbClr val="111827"/>
                          </a:solidFill>
                          <a:latin typeface="Aptos"/>
                        </a:rPr>
                        <a:t>README.md</a:t>
                      </a:r>
                    </a:p>
                  </a:txBody>
                  <a:tcPr marL="76200" marR="76200" marT="50800" marB="50800">
                    <a:solidFill>
                      <a:srgbClr val="FFFFFF"/>
                    </a:solidFill>
                  </a:tcPr>
                </a:tc>
              </a:tr>
              <a:tr h="525780">
                <a:tc>
                  <a:txBody>
                    <a:bodyPr wrap="square"/>
                    <a:lstStyle/>
                    <a:p>
                      <a:pPr algn="l"/>
                      <a:r>
                        <a:rPr sz="1100" b="0">
                          <a:solidFill>
                            <a:srgbClr val="111827"/>
                          </a:solidFill>
                          <a:latin typeface="Aptos"/>
                        </a:rPr>
                        <a:t>AI-assistant engineering map</a:t>
                      </a:r>
                    </a:p>
                  </a:txBody>
                  <a:tcPr marL="76200" marR="76200" marT="50800" marB="50800">
                    <a:solidFill>
                      <a:srgbClr val="FFFFFF"/>
                    </a:solidFill>
                  </a:tcPr>
                </a:tc>
                <a:tc>
                  <a:txBody>
                    <a:bodyPr wrap="square"/>
                    <a:lstStyle/>
                    <a:p>
                      <a:pPr algn="l"/>
                      <a:r>
                        <a:rPr sz="1100" b="0">
                          <a:solidFill>
                            <a:srgbClr val="111827"/>
                          </a:solidFill>
                          <a:latin typeface="Aptos"/>
                        </a:rPr>
                        <a:t>CLAUDE.md</a:t>
                      </a:r>
                    </a:p>
                  </a:txBody>
                  <a:tcPr marL="76200" marR="76200" marT="50800" marB="50800">
                    <a:solidFill>
                      <a:srgbClr val="FFFFFF"/>
                    </a:solidFill>
                  </a:tcPr>
                </a:tc>
              </a:tr>
              <a:tr h="525780">
                <a:tc>
                  <a:txBody>
                    <a:bodyPr wrap="square"/>
                    <a:lstStyle/>
                    <a:p>
                      <a:pPr algn="l"/>
                      <a:r>
                        <a:rPr sz="1100" b="0">
                          <a:solidFill>
                            <a:srgbClr val="111827"/>
                          </a:solidFill>
                          <a:latin typeface="Aptos"/>
                        </a:rPr>
                        <a:t>Chat UI structure</a:t>
                      </a:r>
                    </a:p>
                  </a:txBody>
                  <a:tcPr marL="76200" marR="76200" marT="50800" marB="50800">
                    <a:solidFill>
                      <a:srgbClr val="FFFFFF"/>
                    </a:solidFill>
                  </a:tcPr>
                </a:tc>
                <a:tc>
                  <a:txBody>
                    <a:bodyPr wrap="square"/>
                    <a:lstStyle/>
                    <a:p>
                      <a:pPr algn="l"/>
                      <a:r>
                        <a:rPr sz="1100" b="0">
                          <a:solidFill>
                            <a:srgbClr val="111827"/>
                          </a:solidFill>
                          <a:latin typeface="Aptos"/>
                        </a:rPr>
                        <a:t>Tlamatini/agent/templates/agent/agent_page.html + static/agent/js/agent_page_*.js</a:t>
                      </a:r>
                    </a:p>
                  </a:txBody>
                  <a:tcPr marL="76200" marR="76200" marT="50800" marB="50800">
                    <a:solidFill>
                      <a:srgbClr val="FFFFFF"/>
                    </a:solidFill>
                  </a:tcPr>
                </a:tc>
              </a:tr>
              <a:tr h="525780">
                <a:tc>
                  <a:txBody>
                    <a:bodyPr wrap="square"/>
                    <a:lstStyle/>
                    <a:p>
                      <a:pPr algn="l"/>
                      <a:r>
                        <a:rPr sz="1100" b="0">
                          <a:solidFill>
                            <a:srgbClr val="111827"/>
                          </a:solidFill>
                          <a:latin typeface="Aptos"/>
                        </a:rPr>
                        <a:t>ACP structure</a:t>
                      </a:r>
                    </a:p>
                  </a:txBody>
                  <a:tcPr marL="76200" marR="76200" marT="50800" marB="50800">
                    <a:solidFill>
                      <a:srgbClr val="FFFFFF"/>
                    </a:solidFill>
                  </a:tcPr>
                </a:tc>
                <a:tc>
                  <a:txBody>
                    <a:bodyPr wrap="square"/>
                    <a:lstStyle/>
                    <a:p>
                      <a:pPr algn="l"/>
                      <a:r>
                        <a:rPr sz="1100" b="0">
                          <a:solidFill>
                            <a:srgbClr val="111827"/>
                          </a:solidFill>
                          <a:latin typeface="Aptos"/>
                        </a:rPr>
                        <a:t>Tlamatini/agent/templates/agent/agentic_control_panel.html + static/agent/js/acp-*.js</a:t>
                      </a:r>
                    </a:p>
                  </a:txBody>
                  <a:tcPr marL="76200" marR="76200" marT="50800" marB="50800">
                    <a:solidFill>
                      <a:srgbClr val="FFFFFF"/>
                    </a:solidFill>
                  </a:tcPr>
                </a:tc>
              </a:tr>
              <a:tr h="525780">
                <a:tc>
                  <a:txBody>
                    <a:bodyPr wrap="square"/>
                    <a:lstStyle/>
                    <a:p>
                      <a:pPr algn="l"/>
                      <a:r>
                        <a:rPr sz="1100" b="0">
                          <a:solidFill>
                            <a:srgbClr val="111827"/>
                          </a:solidFill>
                          <a:latin typeface="Aptos"/>
                        </a:rPr>
                        <a:t>Model/runtime config</a:t>
                      </a:r>
                    </a:p>
                  </a:txBody>
                  <a:tcPr marL="76200" marR="76200" marT="50800" marB="50800">
                    <a:solidFill>
                      <a:srgbClr val="FFFFFF"/>
                    </a:solidFill>
                  </a:tcPr>
                </a:tc>
                <a:tc>
                  <a:txBody>
                    <a:bodyPr wrap="square"/>
                    <a:lstStyle/>
                    <a:p>
                      <a:pPr algn="l"/>
                      <a:r>
                        <a:rPr sz="1100" b="0">
                          <a:solidFill>
                            <a:srgbClr val="111827"/>
                          </a:solidFill>
                          <a:latin typeface="Aptos"/>
                        </a:rPr>
                        <a:t>Tlamatini/agent/config.json</a:t>
                      </a:r>
                    </a:p>
                  </a:txBody>
                  <a:tcPr marL="76200" marR="76200" marT="50800" marB="50800">
                    <a:solidFill>
                      <a:srgbClr val="FFFFFF"/>
                    </a:solidFill>
                  </a:tcPr>
                </a:tc>
              </a:tr>
              <a:tr h="525780">
                <a:tc>
                  <a:txBody>
                    <a:bodyPr wrap="square"/>
                    <a:lstStyle/>
                    <a:p>
                      <a:pPr algn="l"/>
                      <a:r>
                        <a:rPr sz="1100" b="0">
                          <a:solidFill>
                            <a:srgbClr val="111827"/>
                          </a:solidFill>
                          <a:latin typeface="Aptos"/>
                        </a:rPr>
                        <a:t>Create a workflow agent</a:t>
                      </a:r>
                    </a:p>
                  </a:txBody>
                  <a:tcPr marL="76200" marR="76200" marT="50800" marB="50800">
                    <a:solidFill>
                      <a:srgbClr val="FFFFFF"/>
                    </a:solidFill>
                  </a:tcPr>
                </a:tc>
                <a:tc>
                  <a:txBody>
                    <a:bodyPr wrap="square"/>
                    <a:lstStyle/>
                    <a:p>
                      <a:pPr algn="l"/>
                      <a:r>
                        <a:rPr sz="1100" b="0">
                          <a:solidFill>
                            <a:srgbClr val="111827"/>
                          </a:solidFill>
                          <a:latin typeface="Aptos"/>
                        </a:rPr>
                        <a:t>Tlamatini/.agents/workflows/create_new_agent.md</a:t>
                      </a:r>
                    </a:p>
                  </a:txBody>
                  <a:tcPr marL="76200" marR="76200" marT="50800" marB="50800">
                    <a:solidFill>
                      <a:srgbClr val="FFFFFF"/>
                    </a:solidFill>
                  </a:tcPr>
                </a:tc>
              </a:tr>
              <a:tr h="525780">
                <a:tc>
                  <a:txBody>
                    <a:bodyPr wrap="square"/>
                    <a:lstStyle/>
                    <a:p>
                      <a:pPr algn="l"/>
                      <a:r>
                        <a:rPr sz="1100" b="0">
                          <a:solidFill>
                            <a:srgbClr val="111827"/>
                          </a:solidFill>
                          <a:latin typeface="Aptos"/>
                        </a:rPr>
                        <a:t>Create MCP/tool/context-provider plumbing</a:t>
                      </a:r>
                    </a:p>
                  </a:txBody>
                  <a:tcPr marL="76200" marR="76200" marT="50800" marB="50800">
                    <a:solidFill>
                      <a:srgbClr val="FFFFFF"/>
                    </a:solidFill>
                  </a:tcPr>
                </a:tc>
                <a:tc>
                  <a:txBody>
                    <a:bodyPr wrap="square"/>
                    <a:lstStyle/>
                    <a:p>
                      <a:pPr algn="l"/>
                      <a:r>
                        <a:rPr sz="1100" b="0">
                          <a:solidFill>
                            <a:srgbClr val="111827"/>
                          </a:solidFill>
                          <a:latin typeface="Aptos"/>
                        </a:rPr>
                        <a:t>Tlamatini/.mcps/create_new_mcp.md</a:t>
                      </a:r>
                    </a:p>
                  </a:txBody>
                  <a:tcPr marL="76200" marR="76200" marT="50800" marB="5080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21792"/>
          </a:xfrm>
          <a:prstGeom prst="rect">
            <a:avLst/>
          </a:prstGeom>
          <a:solidFill>
            <a:srgbClr val="0D2B45"/>
          </a:solidFill>
          <a:ln>
            <a:solidFill>
              <a:srgbClr val="0D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18872"/>
            <a:ext cx="3108960" cy="164592"/>
          </a:xfrm>
          <a:prstGeom prst="rect">
            <a:avLst/>
          </a:prstGeom>
          <a:noFill/>
        </p:spPr>
        <p:txBody>
          <a:bodyPr wrap="square">
            <a:spAutoFit/>
          </a:bodyPr>
          <a:lstStyle/>
          <a:p>
            <a:pPr algn="l"/>
            <a:r>
              <a:rPr sz="1000" b="1">
                <a:solidFill>
                  <a:srgbClr val="20C997"/>
                </a:solidFill>
                <a:latin typeface="Aptos"/>
              </a:rPr>
              <a:t>How to get productive fast</a:t>
            </a:r>
          </a:p>
        </p:txBody>
      </p:sp>
      <p:sp>
        <p:nvSpPr>
          <p:cNvPr id="5" name="TextBox 4"/>
          <p:cNvSpPr txBox="1"/>
          <p:nvPr/>
        </p:nvSpPr>
        <p:spPr>
          <a:xfrm>
            <a:off x="411480" y="228600"/>
            <a:ext cx="8686800" cy="329184"/>
          </a:xfrm>
          <a:prstGeom prst="rect">
            <a:avLst/>
          </a:prstGeom>
          <a:noFill/>
        </p:spPr>
        <p:txBody>
          <a:bodyPr wrap="square">
            <a:spAutoFit/>
          </a:bodyPr>
          <a:lstStyle/>
          <a:p>
            <a:pPr algn="l"/>
            <a:r>
              <a:rPr sz="2400" b="1">
                <a:solidFill>
                  <a:srgbClr val="FFFFFF"/>
                </a:solidFill>
                <a:latin typeface="Aptos Display"/>
              </a:rPr>
              <a:t>Practical Learning Path</a:t>
            </a:r>
          </a:p>
        </p:txBody>
      </p:sp>
      <p:sp>
        <p:nvSpPr>
          <p:cNvPr id="6" name="TextBox 5"/>
          <p:cNvSpPr txBox="1"/>
          <p:nvPr/>
        </p:nvSpPr>
        <p:spPr>
          <a:xfrm>
            <a:off x="320040" y="6510528"/>
            <a:ext cx="7772400" cy="201168"/>
          </a:xfrm>
          <a:prstGeom prst="rect">
            <a:avLst/>
          </a:prstGeom>
          <a:noFill/>
        </p:spPr>
        <p:txBody>
          <a:bodyPr wrap="square">
            <a:spAutoFit/>
          </a:bodyPr>
          <a:lstStyle/>
          <a:p>
            <a:pPr algn="l"/>
            <a:r>
              <a:rPr sz="900" b="0">
                <a:solidFill>
                  <a:srgbClr val="475569"/>
                </a:solidFill>
                <a:latin typeface="Aptos"/>
              </a:rPr>
              <a:t>Backed by README.md, CLAUDE.md, create_new_agent.md, create_new_mcp.md</a:t>
            </a:r>
          </a:p>
        </p:txBody>
      </p:sp>
      <p:sp>
        <p:nvSpPr>
          <p:cNvPr id="7" name="TextBox 6"/>
          <p:cNvSpPr txBox="1"/>
          <p:nvPr/>
        </p:nvSpPr>
        <p:spPr>
          <a:xfrm>
            <a:off x="11292840" y="6455664"/>
            <a:ext cx="457200" cy="228600"/>
          </a:xfrm>
          <a:prstGeom prst="rect">
            <a:avLst/>
          </a:prstGeom>
          <a:noFill/>
        </p:spPr>
        <p:txBody>
          <a:bodyPr wrap="square">
            <a:spAutoFit/>
          </a:bodyPr>
          <a:lstStyle/>
          <a:p>
            <a:pPr algn="r"/>
            <a:r>
              <a:rPr sz="1000" b="1">
                <a:solidFill>
                  <a:srgbClr val="475569"/>
                </a:solidFill>
                <a:latin typeface="Aptos"/>
              </a:rPr>
              <a:t>24</a:t>
            </a:r>
          </a:p>
        </p:txBody>
      </p:sp>
      <p:sp>
        <p:nvSpPr>
          <p:cNvPr id="8" name="TextBox 7"/>
          <p:cNvSpPr txBox="1"/>
          <p:nvPr/>
        </p:nvSpPr>
        <p:spPr>
          <a:xfrm>
            <a:off x="731520" y="1325880"/>
            <a:ext cx="10241280" cy="4480560"/>
          </a:xfrm>
          <a:prstGeom prst="rect">
            <a:avLst/>
          </a:prstGeom>
          <a:noFill/>
        </p:spPr>
        <p:txBody>
          <a:bodyPr wrap="square">
            <a:spAutoFit/>
          </a:bodyPr>
          <a:lstStyle/>
          <a:p>
            <a:pPr>
              <a:spcAft>
                <a:spcPts val="800"/>
              </a:spcAft>
            </a:pPr>
            <a:r>
              <a:rPr sz="1800">
                <a:solidFill>
                  <a:srgbClr val="111827"/>
                </a:solidFill>
                <a:latin typeface="Aptos"/>
              </a:rPr>
              <a:t>1. Run Tlamatini from source first. Do not start by building installers.</a:t>
            </a:r>
          </a:p>
          <a:p>
            <a:pPr>
              <a:spcAft>
                <a:spcPts val="800"/>
              </a:spcAft>
            </a:pPr>
            <a:r>
              <a:rPr sz="1800">
                <a:solidFill>
                  <a:srgbClr val="111827"/>
                </a:solidFill>
                <a:latin typeface="Aptos"/>
              </a:rPr>
              <a:t>2. Install or point to your LLM backend, then verify `config.json` matches the models you actually have.</a:t>
            </a:r>
          </a:p>
          <a:p>
            <a:pPr>
              <a:spcAft>
                <a:spcPts val="800"/>
              </a:spcAft>
            </a:pPr>
            <a:r>
              <a:rPr sz="1800">
                <a:solidFill>
                  <a:srgbClr val="111827"/>
                </a:solidFill>
                <a:latin typeface="Aptos"/>
              </a:rPr>
              <a:t>3. Learn the chat page with a loaded context before turning on Multi-Turn.</a:t>
            </a:r>
          </a:p>
          <a:p>
            <a:pPr>
              <a:spcAft>
                <a:spcPts val="800"/>
              </a:spcAft>
            </a:pPr>
            <a:r>
              <a:rPr sz="1800">
                <a:solidFill>
                  <a:srgbClr val="111827"/>
                </a:solidFill>
                <a:latin typeface="Aptos"/>
              </a:rPr>
              <a:t>4. Learn ACP with a small flow: Starter -&gt; action agent -&gt; Ender.</a:t>
            </a:r>
          </a:p>
          <a:p>
            <a:pPr>
              <a:spcAft>
                <a:spcPts val="800"/>
              </a:spcAft>
            </a:pPr>
            <a:r>
              <a:rPr sz="1800">
                <a:solidFill>
                  <a:srgbClr val="111827"/>
                </a:solidFill>
                <a:latin typeface="Aptos"/>
              </a:rPr>
              <a:t>5. Only after you understand source-mode behavior should you produce `pkg.zip`, `Uninstaller.exe`, and `dist/Tlamatini_Release/`.</a:t>
            </a:r>
          </a:p>
          <a:p>
            <a:pPr>
              <a:spcAft>
                <a:spcPts val="800"/>
              </a:spcAft>
            </a:pPr>
            <a:r>
              <a:rPr sz="1800">
                <a:solidFill>
                  <a:srgbClr val="111827"/>
                </a:solidFill>
                <a:latin typeface="Aptos"/>
              </a:rPr>
              <a:t>6. When extending the platform, pick the correct skill first: workflow-agent skill for canvas nodes, MCP/tool skill for chat/context infrastructure.</a:t>
            </a:r>
          </a:p>
        </p:txBody>
      </p:sp>
      <p:sp>
        <p:nvSpPr>
          <p:cNvPr id="9" name="Rectangle 8"/>
          <p:cNvSpPr/>
          <p:nvPr/>
        </p:nvSpPr>
        <p:spPr>
          <a:xfrm>
            <a:off x="731520" y="5074920"/>
            <a:ext cx="10195560" cy="45720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202936"/>
            <a:ext cx="9829800" cy="182880"/>
          </a:xfrm>
          <a:prstGeom prst="rect">
            <a:avLst/>
          </a:prstGeom>
          <a:noFill/>
        </p:spPr>
        <p:txBody>
          <a:bodyPr wrap="square">
            <a:spAutoFit/>
          </a:bodyPr>
          <a:lstStyle/>
          <a:p>
            <a:pPr algn="ctr"/>
            <a:r>
              <a:rPr sz="1300" b="1">
                <a:solidFill>
                  <a:srgbClr val="133B63"/>
                </a:solidFill>
                <a:latin typeface="Aptos"/>
              </a:rPr>
              <a:t>The most common mistake is mixing source-mode usage, packaged-release building, workflow-agent creation, and MCP/tool extension work into one mental model. Tlamatini keeps those concerns separate; this deck is structured that way on purpose.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