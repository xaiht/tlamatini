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ctrTitle"/>
          </p:nvPr>
        </p:nvSpPr>
        <p:spPr/>
        <p:txBody>
          <a:bodyPr/>
          <a:lstStyle/>
          <a:p>
            <a:pPr>
              <a:defRPr b="1" sz="2800">
                <a:solidFill>
                  <a:srgbClr val="0F172A"/>
                </a:solidFill>
                <a:latin typeface="Aptos Display"/>
              </a:defRPr>
            </a:pPr>
            <a:r>
              <a:t>Tlamatini: eXtended Artificial Intelligence Humanly Tempered</a:t>
            </a:r>
          </a:p>
        </p:txBody>
      </p:sp>
      <p:sp>
        <p:nvSpPr>
          <p:cNvPr id="3" name="Subtitle 2"/>
          <p:cNvSpPr>
            <a:spLocks noGrp="1"/>
          </p:cNvSpPr>
          <p:nvPr>
            <p:ph type="subTitle" idx="1"/>
          </p:nvPr>
        </p:nvSpPr>
        <p:spPr/>
        <p:txBody>
          <a:bodyPr/>
          <a:lstStyle/>
          <a:p>
            <a:pPr>
              <a:defRPr sz="1600">
                <a:solidFill>
                  <a:srgbClr val="475569"/>
                </a:solidFill>
                <a:latin typeface="Aptos"/>
              </a:defRPr>
            </a:pPr>
            <a:r>
              <a:t>Current workspace refresh for Multi-Turn orchestration and Parametrizer outcome preservation</a:t>
            </a:r>
          </a:p>
        </p:txBody>
      </p:sp>
      <p:sp>
        <p:nvSpPr>
          <p:cNvPr id="4" name="Rounded Rectangle 3"/>
          <p:cNvSpPr/>
          <p:nvPr/>
        </p:nvSpPr>
        <p:spPr>
          <a:xfrm>
            <a:off x="731520" y="201168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352</a:t>
            </a:r>
          </a:p>
          <a:p>
            <a:pPr>
              <a:defRPr sz="1100">
                <a:solidFill>
                  <a:srgbClr val="475569"/>
                </a:solidFill>
                <a:latin typeface="Aptos"/>
              </a:defRPr>
            </a:pPr>
            <a:r>
              <a:t>Tracked files</a:t>
            </a:r>
          </a:p>
        </p:txBody>
      </p:sp>
      <p:sp>
        <p:nvSpPr>
          <p:cNvPr id="5" name="Rectangle 4"/>
          <p:cNvSpPr/>
          <p:nvPr/>
        </p:nvSpPr>
        <p:spPr>
          <a:xfrm>
            <a:off x="731520" y="201168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43200" y="201168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57</a:t>
            </a:r>
          </a:p>
          <a:p>
            <a:pPr>
              <a:defRPr sz="1100">
                <a:solidFill>
                  <a:srgbClr val="475569"/>
                </a:solidFill>
                <a:latin typeface="Aptos"/>
              </a:defRPr>
            </a:pPr>
            <a:r>
              <a:t>Template-agent dirs</a:t>
            </a:r>
          </a:p>
        </p:txBody>
      </p:sp>
      <p:sp>
        <p:nvSpPr>
          <p:cNvPr id="7" name="Rectangle 6"/>
          <p:cNvSpPr/>
          <p:nvPr/>
        </p:nvSpPr>
        <p:spPr>
          <a:xfrm>
            <a:off x="2743200" y="201168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754880" y="201168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46</a:t>
            </a:r>
          </a:p>
          <a:p>
            <a:pPr>
              <a:defRPr sz="1100">
                <a:solidFill>
                  <a:srgbClr val="475569"/>
                </a:solidFill>
                <a:latin typeface="Aptos"/>
              </a:defRPr>
            </a:pPr>
            <a:r>
              <a:t>Tool surface</a:t>
            </a:r>
          </a:p>
        </p:txBody>
      </p:sp>
      <p:sp>
        <p:nvSpPr>
          <p:cNvPr id="9" name="Rectangle 8"/>
          <p:cNvSpPr/>
          <p:nvPr/>
        </p:nvSpPr>
        <p:spPr>
          <a:xfrm>
            <a:off x="4754880" y="201168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66560" y="201168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31</a:t>
            </a:r>
          </a:p>
          <a:p>
            <a:pPr>
              <a:defRPr sz="1100">
                <a:solidFill>
                  <a:srgbClr val="475569"/>
                </a:solidFill>
                <a:latin typeface="Aptos"/>
              </a:defRPr>
            </a:pPr>
            <a:r>
              <a:t>Wrapped launchers</a:t>
            </a:r>
          </a:p>
        </p:txBody>
      </p:sp>
      <p:sp>
        <p:nvSpPr>
          <p:cNvPr id="11" name="Rectangle 10"/>
          <p:cNvSpPr/>
          <p:nvPr/>
        </p:nvSpPr>
        <p:spPr>
          <a:xfrm>
            <a:off x="6766560" y="201168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20" y="324612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4</a:t>
            </a:r>
          </a:p>
          <a:p>
            <a:pPr>
              <a:defRPr sz="1100">
                <a:solidFill>
                  <a:srgbClr val="475569"/>
                </a:solidFill>
                <a:latin typeface="Aptos"/>
              </a:defRPr>
            </a:pPr>
            <a:r>
              <a:t>Long-running wrapped</a:t>
            </a:r>
          </a:p>
        </p:txBody>
      </p:sp>
      <p:sp>
        <p:nvSpPr>
          <p:cNvPr id="13" name="Rectangle 12"/>
          <p:cNvSpPr/>
          <p:nvPr/>
        </p:nvSpPr>
        <p:spPr>
          <a:xfrm>
            <a:off x="731520" y="324612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43200" y="324612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103 / 3</a:t>
            </a:r>
          </a:p>
          <a:p>
            <a:pPr>
              <a:defRPr sz="1100">
                <a:solidFill>
                  <a:srgbClr val="475569"/>
                </a:solidFill>
                <a:latin typeface="Aptos"/>
              </a:defRPr>
            </a:pPr>
            <a:r>
              <a:t>App / project routes</a:t>
            </a:r>
          </a:p>
        </p:txBody>
      </p:sp>
      <p:sp>
        <p:nvSpPr>
          <p:cNvPr id="15" name="Rectangle 14"/>
          <p:cNvSpPr/>
          <p:nvPr/>
        </p:nvSpPr>
        <p:spPr>
          <a:xfrm>
            <a:off x="2743200" y="324612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54880" y="324612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70/70 pass</a:t>
            </a:r>
          </a:p>
          <a:p>
            <a:pPr>
              <a:defRPr sz="1100">
                <a:solidFill>
                  <a:srgbClr val="475569"/>
                </a:solidFill>
                <a:latin typeface="Aptos"/>
              </a:defRPr>
            </a:pPr>
            <a:r>
              <a:t>agent.tests</a:t>
            </a:r>
          </a:p>
        </p:txBody>
      </p:sp>
      <p:sp>
        <p:nvSpPr>
          <p:cNvPr id="17" name="Rectangle 16"/>
          <p:cNvSpPr/>
          <p:nvPr/>
        </p:nvSpPr>
        <p:spPr>
          <a:xfrm>
            <a:off x="4754880" y="324612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766560" y="3246120"/>
            <a:ext cx="178308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clean</a:t>
            </a:r>
          </a:p>
          <a:p>
            <a:pPr>
              <a:defRPr sz="1100">
                <a:solidFill>
                  <a:srgbClr val="475569"/>
                </a:solidFill>
                <a:latin typeface="Aptos"/>
              </a:defRPr>
            </a:pPr>
            <a:r>
              <a:t>Ruff</a:t>
            </a:r>
          </a:p>
        </p:txBody>
      </p:sp>
      <p:sp>
        <p:nvSpPr>
          <p:cNvPr id="19" name="Rectangle 18"/>
          <p:cNvSpPr/>
          <p:nvPr/>
        </p:nvSpPr>
        <p:spPr>
          <a:xfrm>
            <a:off x="6766560" y="324612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22" name="TextBox 21"/>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Why the documentation set needed a rebuild</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earlier PDF and deck stopped at the April 6 reading and did not include the latest Parametrizer target-log preservation behavior or the current verified counts.</a:t>
            </a:r>
          </a:p>
        </p:txBody>
      </p:sp>
      <p:sp>
        <p:nvSpPr>
          <p:cNvPr id="4" name="Rounded Rectangle 3"/>
          <p:cNvSpPr/>
          <p:nvPr/>
        </p:nvSpPr>
        <p:spPr>
          <a:xfrm>
            <a:off x="640080" y="1554480"/>
            <a:ext cx="5212080" cy="347472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The old artifacts still carried stale counts such as 56 template-agent directories and 32 wrapped launchers.</a:t>
            </a:r>
          </a:p>
          <a:p>
            <a:pPr>
              <a:spcAft>
                <a:spcPts val="700"/>
              </a:spcAft>
              <a:defRPr sz="1600">
                <a:solidFill>
                  <a:srgbClr val="0F172A"/>
                </a:solidFill>
                <a:latin typeface="Aptos"/>
              </a:defRPr>
            </a:pPr>
            <a:r>
              <a:rPr sz="1400">
                <a:latin typeface="Aptos"/>
              </a:rPr>
              <a:t>- The current workspace now has 57 template-agent directories, 31 wrapped launchers, 70 test methods, and a clean Ruff run.</a:t>
            </a:r>
          </a:p>
          <a:p>
            <a:pPr>
              <a:spcAft>
                <a:spcPts val="700"/>
              </a:spcAft>
              <a:defRPr sz="1600">
                <a:solidFill>
                  <a:srgbClr val="0F172A"/>
                </a:solidFill>
                <a:latin typeface="Aptos"/>
              </a:defRPr>
            </a:pPr>
            <a:r>
              <a:rPr sz="1400">
                <a:latin typeface="Aptos"/>
              </a:rPr>
              <a:t>- The latest Parametrizer change preserves each finished target log by segment number, which materially changes the operational story.</a:t>
            </a:r>
          </a:p>
          <a:p>
            <a:pPr>
              <a:spcAft>
                <a:spcPts val="700"/>
              </a:spcAft>
              <a:defRPr sz="1600">
                <a:solidFill>
                  <a:srgbClr val="0F172A"/>
                </a:solidFill>
                <a:latin typeface="Aptos"/>
              </a:defRPr>
            </a:pPr>
            <a:r>
              <a:rPr sz="1400">
                <a:latin typeface="Aptos"/>
              </a:rPr>
              <a:t>- The refreshed artifacts therefore had to be regenerated from the current workspace instead of patched by hand.</a:t>
            </a:r>
          </a:p>
        </p:txBody>
      </p:sp>
      <p:sp>
        <p:nvSpPr>
          <p:cNvPr id="5" name="Rounded Rectangle 4"/>
          <p:cNvSpPr/>
          <p:nvPr/>
        </p:nvSpPr>
        <p:spPr>
          <a:xfrm>
            <a:off x="6126480" y="1554480"/>
            <a:ext cx="4846320" cy="3474720"/>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Checked Multi-Turn is still the request-scoped orchestration path.</a:t>
            </a:r>
          </a:p>
          <a:p>
            <a:pPr>
              <a:spcAft>
                <a:spcPts val="700"/>
              </a:spcAft>
              <a:defRPr sz="1600">
                <a:solidFill>
                  <a:srgbClr val="0F172A"/>
                </a:solidFill>
                <a:latin typeface="Aptos"/>
              </a:defRPr>
            </a:pPr>
            <a:r>
              <a:rPr sz="1400">
                <a:latin typeface="Aptos"/>
              </a:rPr>
              <a:t>- Unchecked Multi-Turn still preserves the legacy one-shot behavior by design.</a:t>
            </a:r>
          </a:p>
          <a:p>
            <a:pPr>
              <a:spcAft>
                <a:spcPts val="700"/>
              </a:spcAft>
              <a:defRPr sz="1600">
                <a:solidFill>
                  <a:srgbClr val="0F172A"/>
                </a:solidFill>
                <a:latin typeface="Aptos"/>
              </a:defRPr>
            </a:pPr>
            <a:r>
              <a:rPr sz="1400">
                <a:latin typeface="Aptos"/>
              </a:rPr>
              <a:t>- Parametrizer now preserves config state, cursor state, and target run logs per segment.</a:t>
            </a:r>
          </a:p>
          <a:p>
            <a:pPr>
              <a:spcAft>
                <a:spcPts val="700"/>
              </a:spcAft>
              <a:defRPr sz="1600">
                <a:solidFill>
                  <a:srgbClr val="0F172A"/>
                </a:solidFill>
                <a:latin typeface="Aptos"/>
              </a:defRPr>
            </a:pPr>
            <a:r>
              <a:rPr sz="1400">
                <a:latin typeface="Aptos"/>
              </a:rPr>
              <a:t>- The refreshed narrative is grounded in the current README, current tests, and current lint status.</a:t>
            </a:r>
          </a:p>
        </p:txBody>
      </p:sp>
      <p:sp>
        <p:nvSpPr>
          <p:cNvPr id="6" name="Rectangle 5"/>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8" name="TextBox 7"/>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Current chat execution model</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chat surface now exposes two explicit execution modes selected from the toolbar.</a:t>
            </a:r>
          </a:p>
        </p:txBody>
      </p:sp>
      <p:sp>
        <p:nvSpPr>
          <p:cNvPr id="4" name="Rectangle 3"/>
          <p:cNvSpPr/>
          <p:nvPr/>
        </p:nvSpPr>
        <p:spPr>
          <a:xfrm>
            <a:off x="640080" y="1508760"/>
            <a:ext cx="128016" cy="32918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490472"/>
            <a:ext cx="5303520" cy="365760"/>
          </a:xfrm>
          <a:prstGeom prst="rect">
            <a:avLst/>
          </a:prstGeom>
          <a:noFill/>
        </p:spPr>
        <p:txBody>
          <a:bodyPr wrap="none">
            <a:spAutoFit/>
          </a:bodyPr>
          <a:lstStyle/>
          <a:p>
            <a:pPr>
              <a:defRPr b="1" sz="1800">
                <a:solidFill>
                  <a:srgbClr val="0F172A"/>
                </a:solidFill>
                <a:latin typeface="Aptos Display"/>
              </a:defRPr>
            </a:pPr>
            <a:r>
              <a:t>Checked Multi-Turn</a:t>
            </a:r>
          </a:p>
        </p:txBody>
      </p:sp>
      <p:sp>
        <p:nvSpPr>
          <p:cNvPr id="6" name="Rounded Rectangle 5"/>
          <p:cNvSpPr/>
          <p:nvPr/>
        </p:nvSpPr>
        <p:spPr>
          <a:xfrm>
            <a:off x="640080" y="1828800"/>
            <a:ext cx="521208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Scores tools, wrapped agents, and MCP-backed contexts per request.</a:t>
            </a:r>
          </a:p>
          <a:p>
            <a:pPr>
              <a:spcAft>
                <a:spcPts val="700"/>
              </a:spcAft>
              <a:defRPr sz="1600">
                <a:solidFill>
                  <a:srgbClr val="0F172A"/>
                </a:solidFill>
                <a:latin typeface="Aptos"/>
              </a:defRPr>
            </a:pPr>
            <a:r>
              <a:rPr sz="1400">
                <a:latin typeface="Aptos"/>
              </a:rPr>
              <a:t>- Builds a request-scoped execution DAG with prefetch, execute, monitor, and answer stages.</a:t>
            </a:r>
          </a:p>
          <a:p>
            <a:pPr>
              <a:spcAft>
                <a:spcPts val="700"/>
              </a:spcAft>
              <a:defRPr sz="1600">
                <a:solidFill>
                  <a:srgbClr val="0F172A"/>
                </a:solidFill>
                <a:latin typeface="Aptos"/>
              </a:defRPr>
            </a:pPr>
            <a:r>
              <a:rPr sz="1400">
                <a:latin typeface="Aptos"/>
              </a:rPr>
              <a:t>- Can prefetch file and system context before tool execution.</a:t>
            </a:r>
          </a:p>
          <a:p>
            <a:pPr>
              <a:spcAft>
                <a:spcPts val="700"/>
              </a:spcAft>
              <a:defRPr sz="1600">
                <a:solidFill>
                  <a:srgbClr val="0F172A"/>
                </a:solidFill>
                <a:latin typeface="Aptos"/>
              </a:defRPr>
            </a:pPr>
            <a:r>
              <a:rPr sz="1400">
                <a:latin typeface="Aptos"/>
              </a:rPr>
              <a:t>- Uses runtime follow-up tools to inspect or stop wrapped runs when needed.</a:t>
            </a:r>
          </a:p>
        </p:txBody>
      </p:sp>
      <p:sp>
        <p:nvSpPr>
          <p:cNvPr id="7" name="Rectangle 6"/>
          <p:cNvSpPr/>
          <p:nvPr/>
        </p:nvSpPr>
        <p:spPr>
          <a:xfrm>
            <a:off x="6126480" y="1508760"/>
            <a:ext cx="128016" cy="3291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27648" y="1490472"/>
            <a:ext cx="5303520" cy="365760"/>
          </a:xfrm>
          <a:prstGeom prst="rect">
            <a:avLst/>
          </a:prstGeom>
          <a:noFill/>
        </p:spPr>
        <p:txBody>
          <a:bodyPr wrap="none">
            <a:spAutoFit/>
          </a:bodyPr>
          <a:lstStyle/>
          <a:p>
            <a:pPr>
              <a:defRPr b="1" sz="1800">
                <a:solidFill>
                  <a:srgbClr val="0F172A"/>
                </a:solidFill>
                <a:latin typeface="Aptos Display"/>
              </a:defRPr>
            </a:pPr>
            <a:r>
              <a:t>Unchecked path guarantee</a:t>
            </a:r>
          </a:p>
        </p:txBody>
      </p:sp>
      <p:sp>
        <p:nvSpPr>
          <p:cNvPr id="9" name="Rounded Rectangle 8"/>
          <p:cNvSpPr/>
          <p:nvPr/>
        </p:nvSpPr>
        <p:spPr>
          <a:xfrm>
            <a:off x="6126480" y="1828800"/>
            <a:ext cx="4846320" cy="29260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Keeps the original prompt-shape validation behavior.</a:t>
            </a:r>
          </a:p>
          <a:p>
            <a:pPr>
              <a:spcAft>
                <a:spcPts val="700"/>
              </a:spcAft>
              <a:defRPr sz="1600">
                <a:solidFill>
                  <a:srgbClr val="0F172A"/>
                </a:solidFill>
                <a:latin typeface="Aptos"/>
              </a:defRPr>
            </a:pPr>
            <a:r>
              <a:rPr sz="1400">
                <a:latin typeface="Aptos"/>
              </a:rPr>
              <a:t>- Keeps the legacy MCP prefetch behavior.</a:t>
            </a:r>
          </a:p>
          <a:p>
            <a:pPr>
              <a:spcAft>
                <a:spcPts val="700"/>
              </a:spcAft>
              <a:defRPr sz="1600">
                <a:solidFill>
                  <a:srgbClr val="0F172A"/>
                </a:solidFill>
                <a:latin typeface="Aptos"/>
              </a:defRPr>
            </a:pPr>
            <a:r>
              <a:rPr sz="1400">
                <a:latin typeface="Aptos"/>
              </a:rPr>
              <a:t>- Keeps the legacy broad tool-binding surface.</a:t>
            </a:r>
          </a:p>
          <a:p>
            <a:pPr>
              <a:spcAft>
                <a:spcPts val="700"/>
              </a:spcAft>
              <a:defRPr sz="1600">
                <a:solidFill>
                  <a:srgbClr val="0F172A"/>
                </a:solidFill>
                <a:latin typeface="Aptos"/>
              </a:defRPr>
            </a:pPr>
            <a:r>
              <a:rPr sz="1400">
                <a:latin typeface="Aptos"/>
              </a:rPr>
              <a:t>- Keeps the legacy visible-console launch behavior for wrapped runs.</a:t>
            </a:r>
          </a:p>
        </p:txBody>
      </p:sp>
      <p:sp>
        <p:nvSpPr>
          <p:cNvPr id="10" name="Rectangle 9"/>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12" name="TextBox 11"/>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Phase 1 to Phase 3 orchestration stack</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checked path is best read as three stacked layers rather than as one giant tool bundle.</a:t>
            </a:r>
          </a:p>
        </p:txBody>
      </p:sp>
      <p:sp>
        <p:nvSpPr>
          <p:cNvPr id="4" name="Rounded Rectangle 3"/>
          <p:cNvSpPr/>
          <p:nvPr/>
        </p:nvSpPr>
        <p:spPr>
          <a:xfrm>
            <a:off x="822960" y="1645920"/>
            <a:ext cx="3200400" cy="105156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Phase 1</a:t>
            </a:r>
          </a:p>
          <a:p>
            <a:pPr>
              <a:defRPr sz="1100">
                <a:solidFill>
                  <a:srgbClr val="475569"/>
                </a:solidFill>
                <a:latin typeface="Aptos"/>
              </a:defRPr>
            </a:pPr>
            <a:r>
              <a:t>Capability selection</a:t>
            </a:r>
          </a:p>
        </p:txBody>
      </p:sp>
      <p:sp>
        <p:nvSpPr>
          <p:cNvPr id="5" name="Rectangle 4"/>
          <p:cNvSpPr/>
          <p:nvPr/>
        </p:nvSpPr>
        <p:spPr>
          <a:xfrm>
            <a:off x="822960" y="1645920"/>
            <a:ext cx="109728" cy="10515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34840" y="1645920"/>
            <a:ext cx="3200400" cy="105156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Phase 2</a:t>
            </a:r>
          </a:p>
          <a:p>
            <a:pPr>
              <a:defRPr sz="1100">
                <a:solidFill>
                  <a:srgbClr val="475569"/>
                </a:solidFill>
                <a:latin typeface="Aptos"/>
              </a:defRPr>
            </a:pPr>
            <a:r>
              <a:t>Context selection</a:t>
            </a:r>
          </a:p>
        </p:txBody>
      </p:sp>
      <p:sp>
        <p:nvSpPr>
          <p:cNvPr id="7" name="Rectangle 6"/>
          <p:cNvSpPr/>
          <p:nvPr/>
        </p:nvSpPr>
        <p:spPr>
          <a:xfrm>
            <a:off x="4434840" y="1645920"/>
            <a:ext cx="109728" cy="105156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046720" y="1645920"/>
            <a:ext cx="2743200" cy="105156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Phase 3</a:t>
            </a:r>
          </a:p>
          <a:p>
            <a:pPr>
              <a:defRPr sz="1100">
                <a:solidFill>
                  <a:srgbClr val="475569"/>
                </a:solidFill>
                <a:latin typeface="Aptos"/>
              </a:defRPr>
            </a:pPr>
            <a:r>
              <a:t>Global execution planner</a:t>
            </a:r>
          </a:p>
        </p:txBody>
      </p:sp>
      <p:sp>
        <p:nvSpPr>
          <p:cNvPr id="9" name="Rectangle 8"/>
          <p:cNvSpPr/>
          <p:nvPr/>
        </p:nvSpPr>
        <p:spPr>
          <a:xfrm>
            <a:off x="8046720" y="1645920"/>
            <a:ext cx="109728" cy="105156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926080"/>
            <a:ext cx="9966960" cy="2057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Phase 1 narrows the request-specific capability surface across plain tools, wrapped launchers, and run-control helpers.</a:t>
            </a:r>
          </a:p>
          <a:p>
            <a:pPr>
              <a:spcAft>
                <a:spcPts val="700"/>
              </a:spcAft>
              <a:defRPr sz="1600">
                <a:solidFill>
                  <a:srgbClr val="0F172A"/>
                </a:solidFill>
                <a:latin typeface="Aptos"/>
              </a:defRPr>
            </a:pPr>
            <a:r>
              <a:rPr sz="1400">
                <a:latin typeface="Aptos"/>
              </a:rPr>
              <a:t>- Phase 2 narrows MCP-backed context prefetch instead of always fanning out to every context source.</a:t>
            </a:r>
          </a:p>
          <a:p>
            <a:pPr>
              <a:spcAft>
                <a:spcPts val="700"/>
              </a:spcAft>
              <a:defRPr sz="1600">
                <a:solidFill>
                  <a:srgbClr val="0F172A"/>
                </a:solidFill>
                <a:latin typeface="Aptos"/>
              </a:defRPr>
            </a:pPr>
            <a:r>
              <a:rPr sz="1400">
                <a:latin typeface="Aptos"/>
              </a:rPr>
              <a:t>- Phase 3 emits an explicit execution mode such as direct_model, context_only, or tool_augmented, then orders the prefetch, execute, monitor, and answer nodes.</a:t>
            </a:r>
          </a:p>
          <a:p>
            <a:pPr>
              <a:spcAft>
                <a:spcPts val="700"/>
              </a:spcAft>
              <a:defRPr sz="1600">
                <a:solidFill>
                  <a:srgbClr val="0F172A"/>
                </a:solidFill>
                <a:latin typeface="Aptos"/>
              </a:defRPr>
            </a:pPr>
            <a:r>
              <a:rPr sz="1400">
                <a:latin typeface="Aptos"/>
              </a:rPr>
              <a:t>- The executor follows the planner summary only when Multi-Turn is checked; unchecked mode does not switch into this orchestration stack.</a:t>
            </a:r>
          </a:p>
        </p:txBody>
      </p:sp>
      <p:sp>
        <p:nvSpPr>
          <p:cNvPr id="11" name="Rectangle 10"/>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13" name="TextBox 12"/>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Parametrizer is now a strict sequential queue</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One source, one target, one complete segment at a time, with no worker-thread fan-out.</a:t>
            </a:r>
          </a:p>
        </p:txBody>
      </p:sp>
      <p:sp>
        <p:nvSpPr>
          <p:cNvPr id="4" name="Rounded Rectangle 3"/>
          <p:cNvSpPr/>
          <p:nvPr/>
        </p:nvSpPr>
        <p:spPr>
          <a:xfrm>
            <a:off x="640080" y="1600200"/>
            <a:ext cx="10332720" cy="3611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The source log is the queue. Each complete structured output segment is one queue item.</a:t>
            </a:r>
          </a:p>
          <a:p>
            <a:pPr>
              <a:spcAft>
                <a:spcPts val="700"/>
              </a:spcAft>
              <a:defRPr sz="1600">
                <a:solidFill>
                  <a:srgbClr val="0F172A"/>
                </a:solidFill>
                <a:latin typeface="Aptos"/>
              </a:defRPr>
            </a:pPr>
            <a:r>
              <a:rPr sz="1400">
                <a:latin typeface="Aptos"/>
              </a:rPr>
              <a:t>- Parametrizer reads only the next unread complete segment, never the whole backlog as one batch.</a:t>
            </a:r>
          </a:p>
          <a:p>
            <a:pPr>
              <a:spcAft>
                <a:spcPts val="700"/>
              </a:spcAft>
              <a:defRPr sz="1600">
                <a:solidFill>
                  <a:srgbClr val="0F172A"/>
                </a:solidFill>
                <a:latin typeface="Aptos"/>
              </a:defRPr>
            </a:pPr>
            <a:r>
              <a:rPr sz="1400">
                <a:latin typeface="Aptos"/>
              </a:rPr>
              <a:t>- For each segment it waits the target stopped, backs up config.yaml, applies mappings, starts the target, waits for the target to finish, archives the target log, restores the config backup, and only then commits the source cursor.</a:t>
            </a:r>
          </a:p>
          <a:p>
            <a:pPr>
              <a:spcAft>
                <a:spcPts val="700"/>
              </a:spcAft>
              <a:defRPr sz="1600">
                <a:solidFill>
                  <a:srgbClr val="0F172A"/>
                </a:solidFill>
                <a:latin typeface="Aptos"/>
              </a:defRPr>
            </a:pPr>
            <a:r>
              <a:rPr sz="1400">
                <a:latin typeface="Aptos"/>
              </a:rPr>
              <a:t>- If the source emits A, B, C, and D very quickly, Parametrizer still processes A then B then C then D in strict order.</a:t>
            </a:r>
          </a:p>
          <a:p>
            <a:pPr>
              <a:spcAft>
                <a:spcPts val="700"/>
              </a:spcAft>
              <a:defRPr sz="1600">
                <a:solidFill>
                  <a:srgbClr val="0F172A"/>
                </a:solidFill>
                <a:latin typeface="Aptos"/>
              </a:defRPr>
            </a:pPr>
            <a:r>
              <a:rPr sz="1400">
                <a:latin typeface="Aptos"/>
              </a:rPr>
              <a:t>- This design avoids race conditions on the target config file and keeps the runtime easy to reason about during pause and resume.</a:t>
            </a:r>
          </a:p>
        </p:txBody>
      </p:sp>
      <p:sp>
        <p:nvSpPr>
          <p:cNvPr id="5" name="Rectangle 4"/>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7" name="TextBox 6"/>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Parametrizer now preserves each target outcome log</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latest improvement prevents later target runs from overwriting earlier segment results.</a:t>
            </a:r>
          </a:p>
        </p:txBody>
      </p:sp>
      <p:sp>
        <p:nvSpPr>
          <p:cNvPr id="4" name="Rectangle 3"/>
          <p:cNvSpPr/>
          <p:nvPr/>
        </p:nvSpPr>
        <p:spPr>
          <a:xfrm>
            <a:off x="640080" y="1536192"/>
            <a:ext cx="128016" cy="3291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517904"/>
            <a:ext cx="5303520" cy="365760"/>
          </a:xfrm>
          <a:prstGeom prst="rect">
            <a:avLst/>
          </a:prstGeom>
          <a:noFill/>
        </p:spPr>
        <p:txBody>
          <a:bodyPr wrap="none">
            <a:spAutoFit/>
          </a:bodyPr>
          <a:lstStyle/>
          <a:p>
            <a:pPr>
              <a:defRPr b="1" sz="1800">
                <a:solidFill>
                  <a:srgbClr val="0F172A"/>
                </a:solidFill>
                <a:latin typeface="Aptos Display"/>
              </a:defRPr>
            </a:pPr>
            <a:r>
              <a:t>Current preserved artifacts</a:t>
            </a:r>
          </a:p>
        </p:txBody>
      </p:sp>
      <p:sp>
        <p:nvSpPr>
          <p:cNvPr id="6" name="Rounded Rectangle 5"/>
          <p:cNvSpPr/>
          <p:nvPr/>
        </p:nvSpPr>
        <p:spPr>
          <a:xfrm>
            <a:off x="640080" y="1828800"/>
            <a:ext cx="4937760" cy="3154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config.yaml.bck - temporary target-config backup for the current segment.</a:t>
            </a:r>
          </a:p>
          <a:p>
            <a:pPr>
              <a:spcAft>
                <a:spcPts val="700"/>
              </a:spcAft>
              <a:defRPr sz="1600">
                <a:solidFill>
                  <a:srgbClr val="0F172A"/>
                </a:solidFill>
                <a:latin typeface="Aptos"/>
              </a:defRPr>
            </a:pPr>
            <a:r>
              <a:rPr sz="1400">
                <a:latin typeface="Aptos"/>
              </a:rPr>
              <a:t>- reanim_&lt;source&gt;.pos - committed byte offset, processed count, stage, and in-flight boundary.</a:t>
            </a:r>
          </a:p>
          <a:p>
            <a:pPr>
              <a:spcAft>
                <a:spcPts val="700"/>
              </a:spcAft>
              <a:defRPr sz="1600">
                <a:solidFill>
                  <a:srgbClr val="0F172A"/>
                </a:solidFill>
                <a:latin typeface="Aptos"/>
              </a:defRPr>
            </a:pPr>
            <a:r>
              <a:rPr sz="1400">
                <a:latin typeface="Aptos"/>
              </a:rPr>
              <a:t>- &lt;target_agent&gt;_segment_&lt;n&gt;.log - archived target log snapshot for each finished segment.</a:t>
            </a:r>
          </a:p>
        </p:txBody>
      </p:sp>
      <p:sp>
        <p:nvSpPr>
          <p:cNvPr id="7" name="Rectangle 6"/>
          <p:cNvSpPr/>
          <p:nvPr/>
        </p:nvSpPr>
        <p:spPr>
          <a:xfrm>
            <a:off x="5943600" y="1536192"/>
            <a:ext cx="128016" cy="329184"/>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44768" y="1517904"/>
            <a:ext cx="5303520" cy="365760"/>
          </a:xfrm>
          <a:prstGeom prst="rect">
            <a:avLst/>
          </a:prstGeom>
          <a:noFill/>
        </p:spPr>
        <p:txBody>
          <a:bodyPr wrap="none">
            <a:spAutoFit/>
          </a:bodyPr>
          <a:lstStyle/>
          <a:p>
            <a:pPr>
              <a:defRPr b="1" sz="1800">
                <a:solidFill>
                  <a:srgbClr val="0F172A"/>
                </a:solidFill>
                <a:latin typeface="Aptos Display"/>
              </a:defRPr>
            </a:pPr>
            <a:r>
              <a:t>Examples</a:t>
            </a:r>
          </a:p>
        </p:txBody>
      </p:sp>
      <p:sp>
        <p:nvSpPr>
          <p:cNvPr id="9" name="Rounded Rectangle 8"/>
          <p:cNvSpPr/>
          <p:nvPr/>
        </p:nvSpPr>
        <p:spPr>
          <a:xfrm>
            <a:off x="5943600" y="1828800"/>
            <a:ext cx="4937760" cy="3154680"/>
          </a:xfrm>
          <a:prstGeom prst="roundRect">
            <a:avLst/>
          </a:prstGeom>
          <a:solidFill>
            <a:srgbClr val="F1F5F9"/>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prompter_1_segment_1.log</a:t>
            </a:r>
          </a:p>
          <a:p>
            <a:pPr>
              <a:spcAft>
                <a:spcPts val="700"/>
              </a:spcAft>
              <a:defRPr sz="1600">
                <a:solidFill>
                  <a:srgbClr val="0F172A"/>
                </a:solidFill>
                <a:latin typeface="Aptos"/>
              </a:defRPr>
            </a:pPr>
            <a:r>
              <a:rPr sz="1400">
                <a:latin typeface="Aptos"/>
              </a:rPr>
              <a:t>- prompter_1_segment_2.log</a:t>
            </a:r>
          </a:p>
          <a:p>
            <a:pPr>
              <a:spcAft>
                <a:spcPts val="700"/>
              </a:spcAft>
              <a:defRPr sz="1600">
                <a:solidFill>
                  <a:srgbClr val="0F172A"/>
                </a:solidFill>
                <a:latin typeface="Aptos"/>
              </a:defRPr>
            </a:pPr>
            <a:r>
              <a:rPr sz="1400">
                <a:latin typeface="Aptos"/>
              </a:rPr>
              <a:t>- crawler_2_segment_1.log</a:t>
            </a:r>
          </a:p>
          <a:p>
            <a:pPr>
              <a:spcAft>
                <a:spcPts val="700"/>
              </a:spcAft>
              <a:defRPr sz="1600">
                <a:solidFill>
                  <a:srgbClr val="0F172A"/>
                </a:solidFill>
                <a:latin typeface="Aptos"/>
              </a:defRPr>
            </a:pPr>
            <a:r>
              <a:rPr sz="1400">
                <a:latin typeface="Aptos"/>
              </a:rPr>
              <a:t>- crawler_2_segment_2.log</a:t>
            </a:r>
          </a:p>
          <a:p>
            <a:pPr>
              <a:spcAft>
                <a:spcPts val="700"/>
              </a:spcAft>
              <a:defRPr sz="1600">
                <a:solidFill>
                  <a:srgbClr val="0F172A"/>
                </a:solidFill>
                <a:latin typeface="Aptos"/>
              </a:defRPr>
            </a:pPr>
            <a:r>
              <a:rPr sz="1400">
                <a:latin typeface="Aptos"/>
              </a:rPr>
              <a:t>- These files are copied from the target agent live log immediately after each finished segment.</a:t>
            </a:r>
          </a:p>
        </p:txBody>
      </p:sp>
      <p:sp>
        <p:nvSpPr>
          <p:cNvPr id="10" name="Rectangle 9"/>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12" name="TextBox 11"/>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Pause and resume semantics remain explicit</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current recovery contract is now documented together with the new segment-log archive step.</a:t>
            </a:r>
          </a:p>
        </p:txBody>
      </p:sp>
      <p:sp>
        <p:nvSpPr>
          <p:cNvPr id="4" name="Rounded Rectangle 3"/>
          <p:cNvSpPr/>
          <p:nvPr/>
        </p:nvSpPr>
        <p:spPr>
          <a:xfrm>
            <a:off x="640080" y="1645920"/>
            <a:ext cx="10241280" cy="356616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If pause happens before the target finishes, Parametrizer restores config.yaml.bck and retries that same segment from the last committed cursor.</a:t>
            </a:r>
          </a:p>
          <a:p>
            <a:pPr>
              <a:spcAft>
                <a:spcPts val="700"/>
              </a:spcAft>
              <a:defRPr sz="1600">
                <a:solidFill>
                  <a:srgbClr val="0F172A"/>
                </a:solidFill>
                <a:latin typeface="Aptos"/>
              </a:defRPr>
            </a:pPr>
            <a:r>
              <a:rPr sz="1400">
                <a:latin typeface="Aptos"/>
              </a:rPr>
              <a:t>- If pause happens after the target finished but before the source cursor commit, Parametrizer archives that finished target log, restores the backup, advances the cursor, and avoids replaying the already completed target run.</a:t>
            </a:r>
          </a:p>
          <a:p>
            <a:pPr>
              <a:spcAft>
                <a:spcPts val="700"/>
              </a:spcAft>
              <a:defRPr sz="1600">
                <a:solidFill>
                  <a:srgbClr val="0F172A"/>
                </a:solidFill>
                <a:latin typeface="Aptos"/>
              </a:defRPr>
            </a:pPr>
            <a:r>
              <a:rPr sz="1400">
                <a:latin typeface="Aptos"/>
              </a:rPr>
              <a:t>- Parametrizer stops itself only when the source agent is no longer running and the source log has no more complete unread segments after the last committed offset.</a:t>
            </a:r>
          </a:p>
          <a:p>
            <a:pPr>
              <a:spcAft>
                <a:spcPts val="700"/>
              </a:spcAft>
              <a:defRPr sz="1600">
                <a:solidFill>
                  <a:srgbClr val="0F172A"/>
                </a:solidFill>
                <a:latin typeface="Aptos"/>
              </a:defRPr>
            </a:pPr>
            <a:r>
              <a:rPr sz="1400">
                <a:latin typeface="Aptos"/>
              </a:rPr>
              <a:t>- The monitoring prompt now treats queue progress, recovery markers, and archived segment-log messages as normal Parametrizer behavior.</a:t>
            </a:r>
          </a:p>
        </p:txBody>
      </p:sp>
      <p:sp>
        <p:nvSpPr>
          <p:cNvPr id="5" name="Rectangle 4"/>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7" name="TextBox 6"/>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Current verified repository shape</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These values were recomputed from the current workspace before regenerating the artifacts.</a:t>
            </a:r>
          </a:p>
        </p:txBody>
      </p:sp>
      <p:sp>
        <p:nvSpPr>
          <p:cNvPr id="4" name="Rounded Rectangle 3"/>
          <p:cNvSpPr/>
          <p:nvPr/>
        </p:nvSpPr>
        <p:spPr>
          <a:xfrm>
            <a:off x="731520" y="164592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352</a:t>
            </a:r>
          </a:p>
          <a:p>
            <a:pPr>
              <a:defRPr sz="1100">
                <a:solidFill>
                  <a:srgbClr val="475569"/>
                </a:solidFill>
                <a:latin typeface="Aptos"/>
              </a:defRPr>
            </a:pPr>
            <a:r>
              <a:t>Tracked files</a:t>
            </a:r>
          </a:p>
        </p:txBody>
      </p:sp>
      <p:sp>
        <p:nvSpPr>
          <p:cNvPr id="5" name="Rectangle 4"/>
          <p:cNvSpPr/>
          <p:nvPr/>
        </p:nvSpPr>
        <p:spPr>
          <a:xfrm>
            <a:off x="731520" y="164592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834640" y="164592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57</a:t>
            </a:r>
          </a:p>
          <a:p>
            <a:pPr>
              <a:defRPr sz="1100">
                <a:solidFill>
                  <a:srgbClr val="475569"/>
                </a:solidFill>
                <a:latin typeface="Aptos"/>
              </a:defRPr>
            </a:pPr>
            <a:r>
              <a:t>Template-agent dirs</a:t>
            </a:r>
          </a:p>
        </p:txBody>
      </p:sp>
      <p:sp>
        <p:nvSpPr>
          <p:cNvPr id="7" name="Rectangle 6"/>
          <p:cNvSpPr/>
          <p:nvPr/>
        </p:nvSpPr>
        <p:spPr>
          <a:xfrm>
            <a:off x="2834640" y="164592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37760" y="164592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46</a:t>
            </a:r>
          </a:p>
          <a:p>
            <a:pPr>
              <a:defRPr sz="1100">
                <a:solidFill>
                  <a:srgbClr val="475569"/>
                </a:solidFill>
                <a:latin typeface="Aptos"/>
              </a:defRPr>
            </a:pPr>
            <a:r>
              <a:t>Tool surface</a:t>
            </a:r>
          </a:p>
        </p:txBody>
      </p:sp>
      <p:sp>
        <p:nvSpPr>
          <p:cNvPr id="9" name="Rectangle 8"/>
          <p:cNvSpPr/>
          <p:nvPr/>
        </p:nvSpPr>
        <p:spPr>
          <a:xfrm>
            <a:off x="4937760" y="164592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0" y="164592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31</a:t>
            </a:r>
          </a:p>
          <a:p>
            <a:pPr>
              <a:defRPr sz="1100">
                <a:solidFill>
                  <a:srgbClr val="475569"/>
                </a:solidFill>
                <a:latin typeface="Aptos"/>
              </a:defRPr>
            </a:pPr>
            <a:r>
              <a:t>Wrapped launchers</a:t>
            </a:r>
          </a:p>
        </p:txBody>
      </p:sp>
      <p:sp>
        <p:nvSpPr>
          <p:cNvPr id="11" name="Rectangle 10"/>
          <p:cNvSpPr/>
          <p:nvPr/>
        </p:nvSpPr>
        <p:spPr>
          <a:xfrm>
            <a:off x="7040880" y="164592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0" y="164592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4</a:t>
            </a:r>
          </a:p>
          <a:p>
            <a:pPr>
              <a:defRPr sz="1100">
                <a:solidFill>
                  <a:srgbClr val="475569"/>
                </a:solidFill>
                <a:latin typeface="Aptos"/>
              </a:defRPr>
            </a:pPr>
            <a:r>
              <a:t>Long-running wrapped</a:t>
            </a:r>
          </a:p>
        </p:txBody>
      </p:sp>
      <p:sp>
        <p:nvSpPr>
          <p:cNvPr id="13" name="Rectangle 12"/>
          <p:cNvSpPr/>
          <p:nvPr/>
        </p:nvSpPr>
        <p:spPr>
          <a:xfrm>
            <a:off x="9144000" y="1645920"/>
            <a:ext cx="109728" cy="914400"/>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92608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103 / 3</a:t>
            </a:r>
          </a:p>
          <a:p>
            <a:pPr>
              <a:defRPr sz="1100">
                <a:solidFill>
                  <a:srgbClr val="475569"/>
                </a:solidFill>
                <a:latin typeface="Aptos"/>
              </a:defRPr>
            </a:pPr>
            <a:r>
              <a:t>App / project routes</a:t>
            </a:r>
          </a:p>
        </p:txBody>
      </p:sp>
      <p:sp>
        <p:nvSpPr>
          <p:cNvPr id="15" name="Rectangle 14"/>
          <p:cNvSpPr/>
          <p:nvPr/>
        </p:nvSpPr>
        <p:spPr>
          <a:xfrm>
            <a:off x="731520" y="292608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834640" y="292608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70/70 pass</a:t>
            </a:r>
          </a:p>
          <a:p>
            <a:pPr>
              <a:defRPr sz="1100">
                <a:solidFill>
                  <a:srgbClr val="475569"/>
                </a:solidFill>
                <a:latin typeface="Aptos"/>
              </a:defRPr>
            </a:pPr>
            <a:r>
              <a:t>agent.tests</a:t>
            </a:r>
          </a:p>
        </p:txBody>
      </p:sp>
      <p:sp>
        <p:nvSpPr>
          <p:cNvPr id="17" name="Rectangle 16"/>
          <p:cNvSpPr/>
          <p:nvPr/>
        </p:nvSpPr>
        <p:spPr>
          <a:xfrm>
            <a:off x="2834640" y="292608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937760" y="2926080"/>
            <a:ext cx="18288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lIns="201168" tIns="109728"/>
          <a:lstStyle/>
          <a:p>
            <a:pPr algn="ctr">
              <a:defRPr b="1" sz="2000">
                <a:solidFill>
                  <a:srgbClr val="0F172A"/>
                </a:solidFill>
                <a:latin typeface="Aptos Display"/>
              </a:defRPr>
            </a:pPr>
            <a:r>
              <a:t>clean</a:t>
            </a:r>
          </a:p>
          <a:p>
            <a:pPr>
              <a:defRPr sz="1100">
                <a:solidFill>
                  <a:srgbClr val="475569"/>
                </a:solidFill>
                <a:latin typeface="Aptos"/>
              </a:defRPr>
            </a:pPr>
            <a:r>
              <a:t>Ruff</a:t>
            </a:r>
          </a:p>
        </p:txBody>
      </p:sp>
      <p:sp>
        <p:nvSpPr>
          <p:cNvPr id="19" name="Rectangle 18"/>
          <p:cNvSpPr/>
          <p:nvPr/>
        </p:nvSpPr>
        <p:spPr>
          <a:xfrm>
            <a:off x="4937760" y="2926080"/>
            <a:ext cx="109728" cy="9144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086600" y="2926080"/>
            <a:ext cx="3886200" cy="91440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lstStyle/>
          <a:p>
            <a:pPr algn="ctr">
              <a:spcAft>
                <a:spcPts val="700"/>
              </a:spcAft>
              <a:defRPr sz="1600">
                <a:solidFill>
                  <a:srgbClr val="0F172A"/>
                </a:solidFill>
                <a:latin typeface="Aptos"/>
              </a:defRPr>
            </a:pPr>
            <a:r>
              <a:t>- Test classes: 18</a:t>
            </a:r>
          </a:p>
          <a:p>
            <a:pPr>
              <a:spcAft>
                <a:spcPts val="700"/>
              </a:spcAft>
              <a:defRPr sz="1600">
                <a:solidFill>
                  <a:srgbClr val="0F172A"/>
                </a:solidFill>
                <a:latin typeface="Aptos"/>
              </a:defRPr>
            </a:pPr>
            <a:r>
              <a:t>- Route counts were recomputed from the current URL modules.</a:t>
            </a:r>
          </a:p>
        </p:txBody>
      </p:sp>
      <p:sp>
        <p:nvSpPr>
          <p:cNvPr id="21" name="Rectangle 20"/>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23" name="TextBox 22"/>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Files that define the current truth surface</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These files should be read together when auditing the current Multi-Turn and Parametrizer behavior.</a:t>
            </a:r>
          </a:p>
        </p:txBody>
      </p:sp>
      <p:sp>
        <p:nvSpPr>
          <p:cNvPr id="4" name="Rounded Rectangle 3"/>
          <p:cNvSpPr/>
          <p:nvPr/>
        </p:nvSpPr>
        <p:spPr>
          <a:xfrm>
            <a:off x="640080" y="1645920"/>
            <a:ext cx="10241280" cy="36118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README.md - current public contract, including the updated Parametrizer section.</a:t>
            </a:r>
          </a:p>
          <a:p>
            <a:pPr>
              <a:spcAft>
                <a:spcPts val="700"/>
              </a:spcAft>
              <a:defRPr sz="1600">
                <a:solidFill>
                  <a:srgbClr val="0F172A"/>
                </a:solidFill>
                <a:latin typeface="Aptos"/>
              </a:defRPr>
            </a:pPr>
            <a:r>
              <a:rPr sz="1400">
                <a:latin typeface="Aptos"/>
              </a:rPr>
              <a:t>- agent/global_execution_planner.py - checked-mode request DAG and execution modes.</a:t>
            </a:r>
          </a:p>
          <a:p>
            <a:pPr>
              <a:spcAft>
                <a:spcPts val="700"/>
              </a:spcAft>
              <a:defRPr sz="1600">
                <a:solidFill>
                  <a:srgbClr val="0F172A"/>
                </a:solidFill>
                <a:latin typeface="Aptos"/>
              </a:defRPr>
            </a:pPr>
            <a:r>
              <a:rPr sz="1400">
                <a:latin typeface="Aptos"/>
              </a:rPr>
              <a:t>- agent/capability_registry.py - capability and context selection layer.</a:t>
            </a:r>
          </a:p>
          <a:p>
            <a:pPr>
              <a:spcAft>
                <a:spcPts val="700"/>
              </a:spcAft>
              <a:defRPr sz="1600">
                <a:solidFill>
                  <a:srgbClr val="0F172A"/>
                </a:solidFill>
                <a:latin typeface="Aptos"/>
              </a:defRPr>
            </a:pPr>
            <a:r>
              <a:rPr sz="1400">
                <a:latin typeface="Aptos"/>
              </a:rPr>
              <a:t>- agent/mcp_agent.py - planner-aware executor and unchecked legacy fallback.</a:t>
            </a:r>
          </a:p>
          <a:p>
            <a:pPr>
              <a:spcAft>
                <a:spcPts val="700"/>
              </a:spcAft>
              <a:defRPr sz="1600">
                <a:solidFill>
                  <a:srgbClr val="0F172A"/>
                </a:solidFill>
                <a:latin typeface="Aptos"/>
              </a:defRPr>
            </a:pPr>
            <a:r>
              <a:rPr sz="1400">
                <a:latin typeface="Aptos"/>
              </a:rPr>
              <a:t>- agent/agents/parametrizer/parametrizer.py - sequential queue, reanimation recovery, and target segment-log archiving.</a:t>
            </a:r>
          </a:p>
          <a:p>
            <a:pPr>
              <a:spcAft>
                <a:spcPts val="700"/>
              </a:spcAft>
              <a:defRPr sz="1600">
                <a:solidFill>
                  <a:srgbClr val="0F172A"/>
                </a:solidFill>
                <a:latin typeface="Aptos"/>
              </a:defRPr>
            </a:pPr>
            <a:r>
              <a:rPr sz="1400">
                <a:latin typeface="Aptos"/>
              </a:rPr>
              <a:t>- agent/agents/flowcreator/agentic_skill.md and agent/agents/flowhypervisor/monitoring-prompt.pmt - current design and monitoring interpretation of Parametrizer.</a:t>
            </a:r>
          </a:p>
        </p:txBody>
      </p:sp>
      <p:sp>
        <p:nvSpPr>
          <p:cNvPr id="5" name="Rectangle 4"/>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7" name="TextBox 6"/>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title"/>
          </p:nvPr>
        </p:nvSpPr>
        <p:spPr/>
        <p:txBody>
          <a:bodyPr/>
          <a:lstStyle/>
          <a:p>
            <a:pPr>
              <a:defRPr b="1" sz="2600">
                <a:solidFill>
                  <a:srgbClr val="0F172A"/>
                </a:solidFill>
                <a:latin typeface="Aptos Display"/>
              </a:defRPr>
            </a:pPr>
            <a:r>
              <a:t>Verification status in this workspace</a:t>
            </a:r>
          </a:p>
        </p:txBody>
      </p:sp>
      <p:sp>
        <p:nvSpPr>
          <p:cNvPr id="3" name="TextBox 2"/>
          <p:cNvSpPr txBox="1"/>
          <p:nvPr/>
        </p:nvSpPr>
        <p:spPr>
          <a:xfrm>
            <a:off x="640080" y="960120"/>
            <a:ext cx="10789920" cy="502920"/>
          </a:xfrm>
          <a:prstGeom prst="rect">
            <a:avLst/>
          </a:prstGeom>
          <a:noFill/>
        </p:spPr>
        <p:txBody>
          <a:bodyPr wrap="square">
            <a:spAutoFit/>
          </a:bodyPr>
          <a:lstStyle/>
          <a:p>
            <a:pPr>
              <a:defRPr sz="1400">
                <a:solidFill>
                  <a:srgbClr val="475569"/>
                </a:solidFill>
                <a:latin typeface="Aptos"/>
              </a:defRPr>
            </a:pPr>
            <a:r>
              <a:t>The refreshed PDF and deck are backed by current checks, not by stale slide text.</a:t>
            </a:r>
          </a:p>
        </p:txBody>
      </p:sp>
      <p:sp>
        <p:nvSpPr>
          <p:cNvPr id="4" name="Rounded Rectangle 3"/>
          <p:cNvSpPr/>
          <p:nvPr/>
        </p:nvSpPr>
        <p:spPr>
          <a:xfrm>
            <a:off x="640080" y="1737360"/>
            <a:ext cx="10241280" cy="265176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64592" rIns="128016" tIns="91440" bIns="73152">
            <a:normAutofit/>
          </a:bodyPr>
          <a:lstStyle/>
          <a:p>
            <a:pPr algn="ctr">
              <a:spcAft>
                <a:spcPts val="700"/>
              </a:spcAft>
              <a:defRPr sz="1600">
                <a:solidFill>
                  <a:srgbClr val="0F172A"/>
                </a:solidFill>
                <a:latin typeface="Aptos"/>
              </a:defRPr>
            </a:pPr>
            <a:r>
              <a:rPr sz="1400">
                <a:latin typeface="Aptos"/>
              </a:rPr>
              <a:t>- python Tlamatini/manage.py test agent.tests --verbosity 1 completed with 70 passing tests.</a:t>
            </a:r>
          </a:p>
          <a:p>
            <a:pPr>
              <a:spcAft>
                <a:spcPts val="700"/>
              </a:spcAft>
              <a:defRPr sz="1600">
                <a:solidFill>
                  <a:srgbClr val="0F172A"/>
                </a:solidFill>
                <a:latin typeface="Aptos"/>
              </a:defRPr>
            </a:pPr>
            <a:r>
              <a:rPr sz="1400">
                <a:latin typeface="Aptos"/>
              </a:rPr>
              <a:t>- The current test tree contains 18 test classes and 70 test methods.</a:t>
            </a:r>
          </a:p>
          <a:p>
            <a:pPr>
              <a:spcAft>
                <a:spcPts val="700"/>
              </a:spcAft>
              <a:defRPr sz="1600">
                <a:solidFill>
                  <a:srgbClr val="0F172A"/>
                </a:solidFill>
                <a:latin typeface="Aptos"/>
              </a:defRPr>
            </a:pPr>
            <a:r>
              <a:rPr sz="1400">
                <a:latin typeface="Aptos"/>
              </a:rPr>
              <a:t>- python -m ruff check completed cleanly after the latest Parametrizer changes.</a:t>
            </a:r>
          </a:p>
          <a:p>
            <a:pPr>
              <a:spcAft>
                <a:spcPts val="700"/>
              </a:spcAft>
              <a:defRPr sz="1600">
                <a:solidFill>
                  <a:srgbClr val="0F172A"/>
                </a:solidFill>
                <a:latin typeface="Aptos"/>
              </a:defRPr>
            </a:pPr>
            <a:r>
              <a:rPr sz="1400">
                <a:latin typeface="Aptos"/>
              </a:rPr>
              <a:t>- The PDF and PPTX were regenerated from the same current fact set so the documentation artifacts now agree with the current README.</a:t>
            </a:r>
          </a:p>
        </p:txBody>
      </p:sp>
      <p:sp>
        <p:nvSpPr>
          <p:cNvPr id="5" name="TextBox 4"/>
          <p:cNvSpPr txBox="1"/>
          <p:nvPr/>
        </p:nvSpPr>
        <p:spPr>
          <a:xfrm>
            <a:off x="868680" y="4663440"/>
            <a:ext cx="9966960" cy="777240"/>
          </a:xfrm>
          <a:prstGeom prst="rect">
            <a:avLst/>
          </a:prstGeom>
          <a:noFill/>
        </p:spPr>
        <p:txBody>
          <a:bodyPr wrap="square">
            <a:spAutoFit/>
          </a:bodyPr>
          <a:lstStyle/>
          <a:p>
            <a:pPr>
              <a:defRPr sz="1800" b="1">
                <a:solidFill>
                  <a:srgbClr val="0F172A"/>
                </a:solidFill>
                <a:latin typeface="Aptos Display"/>
              </a:defRPr>
            </a:pPr>
            <a:r>
              <a:t>Current reading: checked Multi-Turn is the request-scoped orchestration path; unchecked Multi-Turn is still intentionally legacy; Parametrizer now preserves each finished target outcome as a numbered segment log.</a:t>
            </a:r>
          </a:p>
        </p:txBody>
      </p:sp>
      <p:sp>
        <p:nvSpPr>
          <p:cNvPr id="6" name="Rectangle 5"/>
          <p:cNvSpPr/>
          <p:nvPr/>
        </p:nvSpPr>
        <p:spPr>
          <a:xfrm>
            <a:off x="411480" y="6309360"/>
            <a:ext cx="11384280"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355080"/>
            <a:ext cx="6400800" cy="228600"/>
          </a:xfrm>
          <a:prstGeom prst="rect">
            <a:avLst/>
          </a:prstGeom>
          <a:noFill/>
        </p:spPr>
        <p:txBody>
          <a:bodyPr wrap="none">
            <a:spAutoFit/>
          </a:bodyPr>
          <a:lstStyle/>
          <a:p>
            <a:pPr>
              <a:defRPr sz="900">
                <a:solidFill>
                  <a:srgbClr val="475569"/>
                </a:solidFill>
                <a:latin typeface="Aptos"/>
              </a:defRPr>
            </a:pPr>
            <a:r>
              <a:t>Current workspace snapshot | April 8, 2026</a:t>
            </a:r>
          </a:p>
        </p:txBody>
      </p:sp>
      <p:sp>
        <p:nvSpPr>
          <p:cNvPr id="8" name="TextBox 7"/>
          <p:cNvSpPr txBox="1"/>
          <p:nvPr/>
        </p:nvSpPr>
        <p:spPr>
          <a:xfrm>
            <a:off x="10972800" y="6327648"/>
            <a:ext cx="548640" cy="228600"/>
          </a:xfrm>
          <a:prstGeom prst="rect">
            <a:avLst/>
          </a:prstGeom>
          <a:noFill/>
        </p:spPr>
        <p:txBody>
          <a:bodyPr wrap="none">
            <a:spAutoFit/>
          </a:bodyPr>
          <a:lstStyle/>
          <a:p>
            <a:pPr algn="r">
              <a:defRPr sz="900">
                <a:solidFill>
                  <a:srgbClr val="475569"/>
                </a:solidFill>
                <a:latin typeface="Aptos"/>
              </a:defRPr>
            </a:pPr>
            <a: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