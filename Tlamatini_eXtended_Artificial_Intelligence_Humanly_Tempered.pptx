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PROJECT DOSSIER: WHAT SHE DOES, HOW SHE WORKS, HOW TO USE TLAMATINI</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TLAMATINI</a:t>
            </a:r>
          </a:p>
        </p:txBody>
      </p:sp>
      <p:sp>
        <p:nvSpPr>
          <p:cNvPr id="9" name="TextBox 8"/>
          <p:cNvSpPr txBox="1"/>
          <p:nvPr/>
        </p:nvSpPr>
        <p:spPr>
          <a:xfrm>
            <a:off x="822960" y="1828800"/>
            <a:ext cx="5029200" cy="548640"/>
          </a:xfrm>
          <a:prstGeom prst="rect">
            <a:avLst/>
          </a:prstGeom>
          <a:noFill/>
        </p:spPr>
        <p:txBody>
          <a:bodyPr wrap="square" anchor="t" lIns="12700" rIns="76200" tIns="12700" bIns="12700">
            <a:normAutofit/>
          </a:bodyPr>
          <a:lstStyle/>
          <a:p>
            <a:pPr algn="l"/>
            <a:r>
              <a:rPr sz="2400" b="0">
                <a:solidFill>
                  <a:srgbClr val="E8E8DE"/>
                </a:solidFill>
                <a:latin typeface="Aptos Display"/>
              </a:rPr>
              <a:t>El Saber Cosmico del Desarrollo</a:t>
            </a:r>
          </a:p>
        </p:txBody>
      </p:sp>
      <p:sp>
        <p:nvSpPr>
          <p:cNvPr id="10" name="TextBox 9"/>
          <p:cNvSpPr txBox="1"/>
          <p:nvPr/>
        </p:nvSpPr>
        <p:spPr>
          <a:xfrm>
            <a:off x="822960" y="2523744"/>
            <a:ext cx="5760720" cy="1097280"/>
          </a:xfrm>
          <a:prstGeom prst="rect">
            <a:avLst/>
          </a:prstGeom>
          <a:noFill/>
        </p:spPr>
        <p:txBody>
          <a:bodyPr wrap="square" anchor="t" lIns="12700" rIns="76200" tIns="12700" bIns="12700">
            <a:normAutofit/>
          </a:bodyPr>
          <a:lstStyle/>
          <a:p>
            <a:pPr algn="l"/>
            <a:r>
              <a:rPr sz="1700" b="0">
                <a:solidFill>
                  <a:srgbClr val="B4BAAE"/>
                </a:solidFill>
                <a:latin typeface="Aptos"/>
              </a:rPr>
              <a:t>Self-hosted AI developer assistant (cloud LLMs by default) with RAG, Multi-Turn orchestration, 89 agents, ACPX delegation, visual workflows, self-knowledge, and Windows packaging.</a:t>
            </a:r>
          </a:p>
        </p:txBody>
      </p:sp>
      <p:sp>
        <p:nvSpPr>
          <p:cNvPr id="11" name="Rounded Rectangle 10"/>
          <p:cNvSpPr/>
          <p:nvPr/>
        </p:nvSpPr>
        <p:spPr>
          <a:xfrm>
            <a:off x="822960" y="3886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4023360"/>
            <a:ext cx="1307592" cy="219456"/>
          </a:xfrm>
          <a:prstGeom prst="rect">
            <a:avLst/>
          </a:prstGeom>
          <a:noFill/>
        </p:spPr>
        <p:txBody>
          <a:bodyPr wrap="square" anchor="t" lIns="12700" rIns="76200" tIns="12700" bIns="12700">
            <a:normAutofit/>
          </a:bodyPr>
          <a:lstStyle/>
          <a:p>
            <a:pPr algn="l"/>
            <a:r>
              <a:rPr sz="800" b="1">
                <a:solidFill>
                  <a:srgbClr val="48BF8F"/>
                </a:solidFill>
                <a:latin typeface="Aptos"/>
              </a:rPr>
              <a:t>FILES</a:t>
            </a:r>
          </a:p>
        </p:txBody>
      </p:sp>
      <p:sp>
        <p:nvSpPr>
          <p:cNvPr id="13" name="TextBox 12"/>
          <p:cNvSpPr txBox="1"/>
          <p:nvPr/>
        </p:nvSpPr>
        <p:spPr>
          <a:xfrm>
            <a:off x="969264" y="4270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1148</a:t>
            </a:r>
          </a:p>
        </p:txBody>
      </p:sp>
      <p:sp>
        <p:nvSpPr>
          <p:cNvPr id="14" name="Rounded Rectangle 13"/>
          <p:cNvSpPr/>
          <p:nvPr/>
        </p:nvSpPr>
        <p:spPr>
          <a:xfrm>
            <a:off x="2606040" y="3886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52344" y="4023360"/>
            <a:ext cx="1307592" cy="219456"/>
          </a:xfrm>
          <a:prstGeom prst="rect">
            <a:avLst/>
          </a:prstGeom>
          <a:noFill/>
        </p:spPr>
        <p:txBody>
          <a:bodyPr wrap="square" anchor="t" lIns="12700" rIns="76200" tIns="12700" bIns="12700">
            <a:normAutofit/>
          </a:bodyPr>
          <a:lstStyle/>
          <a:p>
            <a:pPr algn="l"/>
            <a:r>
              <a:rPr sz="800" b="1">
                <a:solidFill>
                  <a:srgbClr val="C48052"/>
                </a:solidFill>
                <a:latin typeface="Aptos"/>
              </a:rPr>
              <a:t>AGENTS</a:t>
            </a:r>
          </a:p>
        </p:txBody>
      </p:sp>
      <p:sp>
        <p:nvSpPr>
          <p:cNvPr id="16" name="TextBox 15"/>
          <p:cNvSpPr txBox="1"/>
          <p:nvPr/>
        </p:nvSpPr>
        <p:spPr>
          <a:xfrm>
            <a:off x="2752344" y="4270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89</a:t>
            </a:r>
          </a:p>
        </p:txBody>
      </p:sp>
      <p:sp>
        <p:nvSpPr>
          <p:cNvPr id="17" name="Rounded Rectangle 16"/>
          <p:cNvSpPr/>
          <p:nvPr/>
        </p:nvSpPr>
        <p:spPr>
          <a:xfrm>
            <a:off x="4389120" y="3886200"/>
            <a:ext cx="178308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023360"/>
            <a:ext cx="1490472" cy="219456"/>
          </a:xfrm>
          <a:prstGeom prst="rect">
            <a:avLst/>
          </a:prstGeom>
          <a:noFill/>
        </p:spPr>
        <p:txBody>
          <a:bodyPr wrap="square" anchor="t" lIns="12700" rIns="76200" tIns="12700" bIns="12700">
            <a:normAutofit/>
          </a:bodyPr>
          <a:lstStyle/>
          <a:p>
            <a:pPr algn="l"/>
            <a:r>
              <a:rPr sz="800" b="1">
                <a:solidFill>
                  <a:srgbClr val="E0AB5D"/>
                </a:solidFill>
                <a:latin typeface="Aptos"/>
              </a:rPr>
              <a:t>EFFECTIVE</a:t>
            </a:r>
          </a:p>
        </p:txBody>
      </p:sp>
      <p:sp>
        <p:nvSpPr>
          <p:cNvPr id="19" name="TextBox 18"/>
          <p:cNvSpPr txBox="1"/>
          <p:nvPr/>
        </p:nvSpPr>
        <p:spPr>
          <a:xfrm>
            <a:off x="4535424" y="4270248"/>
            <a:ext cx="1490472" cy="347472"/>
          </a:xfrm>
          <a:prstGeom prst="rect">
            <a:avLst/>
          </a:prstGeom>
          <a:noFill/>
        </p:spPr>
        <p:txBody>
          <a:bodyPr wrap="square" anchor="t" lIns="12700" rIns="76200" tIns="12700" bIns="12700">
            <a:normAutofit/>
          </a:bodyPr>
          <a:lstStyle/>
          <a:p>
            <a:pPr algn="l"/>
            <a:r>
              <a:rPr sz="2000" b="1">
                <a:solidFill>
                  <a:srgbClr val="E8E8DE"/>
                </a:solidFill>
                <a:latin typeface="Aptos"/>
              </a:rPr>
              <a:t>266,325</a:t>
            </a:r>
          </a:p>
        </p:txBody>
      </p:sp>
      <p:sp>
        <p:nvSpPr>
          <p:cNvPr id="20" name="TextBox 19"/>
          <p:cNvSpPr txBox="1"/>
          <p:nvPr/>
        </p:nvSpPr>
        <p:spPr>
          <a:xfrm>
            <a:off x="822960" y="5138928"/>
            <a:ext cx="5669280" cy="292608"/>
          </a:xfrm>
          <a:prstGeom prst="rect">
            <a:avLst/>
          </a:prstGeom>
          <a:noFill/>
        </p:spPr>
        <p:txBody>
          <a:bodyPr wrap="square" anchor="t" lIns="12700" rIns="76200" tIns="12700" bIns="12700">
            <a:normAutofit/>
          </a:bodyPr>
          <a:lstStyle/>
          <a:p>
            <a:pPr algn="l"/>
            <a:r>
              <a:rPr sz="1000" b="1">
                <a:solidFill>
                  <a:srgbClr val="C48052"/>
                </a:solidFill>
                <a:latin typeface="Aptos"/>
              </a:rPr>
              <a:t>Created by Angela López Mendoza · @angelahack1</a:t>
            </a:r>
          </a:p>
        </p:txBody>
      </p:sp>
      <p:sp>
        <p:nvSpPr>
          <p:cNvPr id="21" name="TextBox 20"/>
          <p:cNvSpPr txBox="1"/>
          <p:nvPr/>
        </p:nvSpPr>
        <p:spPr>
          <a:xfrm>
            <a:off x="822960" y="5806440"/>
            <a:ext cx="5669280" cy="292608"/>
          </a:xfrm>
          <a:prstGeom prst="rect">
            <a:avLst/>
          </a:prstGeom>
          <a:noFill/>
        </p:spPr>
        <p:txBody>
          <a:bodyPr wrap="square" anchor="t" lIns="12700" rIns="76200" tIns="12700" bIns="12700">
            <a:normAutofit/>
          </a:bodyPr>
          <a:lstStyle/>
          <a:p>
            <a:pPr algn="l"/>
            <a:r>
              <a:rPr sz="900" b="0">
                <a:solidFill>
                  <a:srgbClr val="B4BAAE"/>
                </a:solidFill>
                <a:latin typeface="Aptos"/>
              </a:rPr>
              <a:t>Generated September 15, 2026 09:28 PM UTC-0600 at HEAD c4daacc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SYSTEM IDENTITY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Tlamatini Is</a:t>
            </a:r>
          </a:p>
        </p:txBody>
      </p:sp>
      <p:sp>
        <p:nvSpPr>
          <p:cNvPr id="9" name="Rounded Rectangle 8"/>
          <p:cNvSpPr/>
          <p:nvPr/>
        </p:nvSpPr>
        <p:spPr>
          <a:xfrm>
            <a:off x="713232" y="150876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0876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709928"/>
            <a:ext cx="4946903" cy="310896"/>
          </a:xfrm>
          <a:prstGeom prst="rect">
            <a:avLst/>
          </a:prstGeom>
          <a:noFill/>
        </p:spPr>
        <p:txBody>
          <a:bodyPr wrap="square" anchor="t" lIns="12700" rIns="76200" tIns="12700" bIns="12700">
            <a:normAutofit/>
          </a:bodyPr>
          <a:lstStyle/>
          <a:p>
            <a:pPr algn="l"/>
            <a:r>
              <a:rPr sz="1400" b="1">
                <a:solidFill>
                  <a:srgbClr val="48BF8F"/>
                </a:solidFill>
                <a:latin typeface="Aptos"/>
              </a:rPr>
              <a:t>Definition</a:t>
            </a:r>
          </a:p>
        </p:txBody>
      </p:sp>
      <p:sp>
        <p:nvSpPr>
          <p:cNvPr id="12" name="TextBox 11"/>
          <p:cNvSpPr txBox="1"/>
          <p:nvPr/>
        </p:nvSpPr>
        <p:spPr>
          <a:xfrm>
            <a:off x="914400" y="2167128"/>
            <a:ext cx="494690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Tlamatini is a self-hosted AI developer assistant (cloud LLMs by default; the app and RAG run locally) built with Django, Django Channels, LangChain, LangGraph, FAISS/BM25 retrieval, and a large in-repository agent application.</a:t>
            </a:r>
          </a:p>
          <a:p>
            <a:pPr>
              <a:spcAft>
                <a:spcPts val="400"/>
              </a:spcAft>
              <a:defRPr sz="1100">
                <a:solidFill>
                  <a:srgbClr val="B4BAAE"/>
                </a:solidFill>
                <a:latin typeface="Aptos"/>
              </a:defRPr>
            </a:pPr>
            <a:r>
              <a:t>She combines a browser chat surface, a Retrieval-Augmented Generation stack, a Multi-Turn tool executor, MCP-backed context providers, wrapped chat-agent runtimes, and a visual Agentic Control Panel for workflow design.</a:t>
            </a:r>
          </a:p>
          <a:p>
            <a:pPr>
              <a:spcAft>
                <a:spcPts val="400"/>
              </a:spcAft>
              <a:defRPr sz="1100">
                <a:solidFill>
                  <a:srgbClr val="B4BAAE"/>
                </a:solidFill>
                <a:latin typeface="Aptos"/>
              </a:defRPr>
            </a:pPr>
            <a:r>
              <a:t>She is designed for development operations: codebase analysis, file and directory context, deterministic file discovery/search/editing, command execution, Python execution, screenshots, web/search helpers, notifications and attention routing, DevOps tools, authorized cyber-security assessment, local model operation, Windows packaging and uninstall registration, first-person self-knowledge about her own runtime, and embedded-firmware control for STM32, ESP32-class, Arduino-class, and ESPHome smart-home boards.</a:t>
            </a:r>
          </a:p>
        </p:txBody>
      </p:sp>
      <p:sp>
        <p:nvSpPr>
          <p:cNvPr id="13" name="Rounded Rectangle 12"/>
          <p:cNvSpPr/>
          <p:nvPr/>
        </p:nvSpPr>
        <p:spPr>
          <a:xfrm>
            <a:off x="6327648" y="150876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50876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70992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Core interfaces</a:t>
            </a:r>
          </a:p>
        </p:txBody>
      </p:sp>
      <p:sp>
        <p:nvSpPr>
          <p:cNvPr id="16" name="TextBox 15"/>
          <p:cNvSpPr txBox="1"/>
          <p:nvPr/>
        </p:nvSpPr>
        <p:spPr>
          <a:xfrm>
            <a:off x="6528816" y="2167128"/>
            <a:ext cx="4672583" cy="372160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Chat page at `/agent/` for context-grounded Q&amp;A, code generation, tool calls, and Multi-Turn execution.</a:t>
            </a:r>
          </a:p>
          <a:p>
            <a:pPr>
              <a:spcAft>
                <a:spcPts val="400"/>
              </a:spcAft>
              <a:defRPr sz="1600">
                <a:solidFill>
                  <a:srgbClr val="B4BAAE"/>
                </a:solidFill>
                <a:latin typeface="Aptos"/>
              </a:defRPr>
            </a:pPr>
            <a:r>
              <a:t>Agentic Control Panel at `/agentic_control_panel/` for visual workflow design.</a:t>
            </a:r>
          </a:p>
          <a:p>
            <a:pPr>
              <a:spcAft>
                <a:spcPts val="400"/>
              </a:spcAft>
              <a:defRPr sz="1600">
                <a:solidFill>
                  <a:srgbClr val="B4BAAE"/>
                </a:solidFill>
                <a:latin typeface="Aptos"/>
              </a:defRPr>
            </a:pPr>
            <a:r>
              <a:t>Django admin and config dialogs for MCPs, tools, agents, users, and persistent settings.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PLAIN-PYTHON AGENTS ARE USER-JURISDICTION CODE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Agent Directory Disclaimer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User jurisdiction</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Every agent in `Tlamatini/agent/agents/` is intentionally plain Python so the user can read, audit, edit, restrict, or disable its operating code. This transparency is a user-control mechanism, not a warranty that an agent is secure or suitable for a particular environment.</a:t>
            </a:r>
          </a:p>
          <a:p>
            <a:pPr>
              <a:spcAft>
                <a:spcPts val="400"/>
              </a:spcAft>
              <a:defRPr sz="1200">
                <a:solidFill>
                  <a:srgbClr val="B4BAAE"/>
                </a:solidFill>
                <a:latin typeface="Aptos"/>
              </a:defRPr>
            </a:pPr>
            <a:r>
              <a:t>Agents have no independent authority or jurisdiction. The user alone decides whether, where, how, and with which permissions an agent runs; enabling, configuring, modifying, chaining, or executing it places that execution under the user's control and jurisdiction.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Responsibility boundary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user is responsible for code/config review, least-privilege secrets and credentials, authorized files and targets, browsers, shells, APIs, external MCPs, machines, hardware, downstream systems, supervision, and compliance with applicable law, policy, license, contract, and authorization.</a:t>
            </a:r>
          </a:p>
          <a:p>
            <a:pPr>
              <a:spcAft>
                <a:spcPts val="400"/>
              </a:spcAft>
              <a:defRPr sz="1200">
                <a:solidFill>
                  <a:srgbClr val="B4BAAE"/>
                </a:solidFill>
                <a:latin typeface="Aptos"/>
              </a:defRPr>
            </a:pPr>
            <a:r>
              <a:t>By running an agent, the user accepts responsibility for its actions and consequences. To the fullest extent permitted by applicable law, security breaches, data exposure or loss, unauthorized actions, credential leaks, unsafe automation, violations, compromise, device damage, financial loss, or other harm arising from use are the responsibility of the user who runs it.</a:t>
            </a:r>
          </a:p>
          <a:p>
            <a:pPr>
              <a:spcAft>
                <a:spcPts val="400"/>
              </a:spcAft>
              <a:defRPr sz="1200">
                <a:solidFill>
                  <a:srgbClr val="B4BAAE"/>
                </a:solidFill>
                <a:latin typeface="Aptos"/>
              </a:defRPr>
            </a:pPr>
            <a:r>
              <a:t>Tlamatini's orchestration, documentation, examples, and guardrails do not authorize third-party access and cannot replace the user's security review, permission controls, monitoring, or legal compliance.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OPERATOR-CONTROLLED WINDOWS DEFENSE, NOT AN AUTONOMOUS AGENT ROW</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Blue-hat Security Toolkit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Purpose and assets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`security/` directory is an administrator-operated Windows defensive toolkit, not a new chat tool or database-backed workflow Agent row. Tlamatini helps collect and respond to signals only on systems the operator owns or is explicitly authorized to defend.</a:t>
            </a:r>
          </a:p>
          <a:p>
            <a:pPr>
              <a:spcAft>
                <a:spcPts val="400"/>
              </a:spcAft>
              <a:defRPr sz="1100">
                <a:solidFill>
                  <a:srgbClr val="B4BAAE"/>
                </a:solidFill>
                <a:latin typeface="Aptos"/>
              </a:defRPr>
            </a:pPr>
            <a:r>
              <a:t>The six shipped assets are `README.md`, `enable_tlamatini_v2.bat`, `tlamatini_whitelist_v2.ps1`, `run_defender.bat`, `tlamatini_defender.ps1`, and `automated_tests_of_security_assets.py`; runtime evidence is written under git-ignored `security_logs/`.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Safe enablement path</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Use the safe sequence validate -&gt; record a Windows baseline -&gt; enable -&gt; restart -&gt; run detect-only -&gt; investigate -&gt; arm only when justified. There is no bundled rollback script, so Defender, ASR, CFA, firewall, execution-policy, audit-policy, and Security-log state must be recorded before elevation.</a:t>
            </a:r>
          </a:p>
          <a:p>
            <a:pPr>
              <a:spcAft>
                <a:spcPts val="400"/>
              </a:spcAft>
              <a:defRPr sz="1100">
                <a:solidFill>
                  <a:srgbClr val="B4BAAE"/>
                </a:solidFill>
                <a:latin typeface="Aptos"/>
              </a:defRPr>
            </a:pPr>
            <a:r>
              <a:t>The visible non-destructive harness parses both PowerShell files, exercises the self-safe classifier, validates official ASR/audit GUIDs, watch timing, UAC path handling, launcher failure propagation, Shoter capture, and headed-browser proof. The audited run passed 40/40 checks, but it does not apply Windows policy or execute an armed sweep.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PERSISTENT HOST CHANGES PLUS TEN EVIDENCE FAMILIES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Blue-hat Controls And Monitoring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Enablement and audit controls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Enablement keeps core Defender/firewall services running but deliberately adds the Tlamatini root and selected executables to Defender exclusions, allows `Tlamatini.exe` through Controlled Folder Access, moves six selected ASR rules to action 6 (Audit), sets current-user PowerShell to RemoteSigned, and creates broad outbound application rules.</a:t>
            </a:r>
          </a:p>
          <a:p>
            <a:pPr>
              <a:spcAft>
                <a:spcPts val="400"/>
              </a:spcAft>
              <a:defRPr sz="1000">
                <a:solidFill>
                  <a:srgbClr val="B4BAAE"/>
                </a:solidFill>
                <a:latin typeface="Aptos"/>
              </a:defRPr>
            </a:pPr>
            <a:r>
              <a:t>The ASR rules cover Office child processes, LSASS credential stealing, WMI event-subscription persistence, email/webmail executables, untrusted or unsigned USB processes, and PSExec/WMI child processes. The script uses Microsoft's published IDs and reads Defender's effective ID/action arrays back before reporting success.</a:t>
            </a:r>
          </a:p>
          <a:p>
            <a:pPr>
              <a:spcAft>
                <a:spcPts val="400"/>
              </a:spcAft>
              <a:defRPr sz="1000">
                <a:solidFill>
                  <a:srgbClr val="B4BAAE"/>
                </a:solidFill>
                <a:latin typeface="Aptos"/>
              </a:defRPr>
            </a:pPr>
            <a:r>
              <a:t>Audit setup uses stable subcategory GUIDs for Logon, Credential Validation, Process Creation, Sensitive Privilege Use, and User Account Management, and checks every `auditpol` exit code. Command-line event 4688 and PowerShell Script Block Logging improve evidence but can record sensitive arguments.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What the defender examines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ten monitor families are Defender health, logons, established TCP/listeners, processes, scheduled tasks, services, registry persistence, recently changed critical files, ransomware/recovery tampering, and account/administrator-group events.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DETECT FIRST; INVESTIGATE BEFORE CONTAINMENT OR ATTRIBUTION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Blue-hat Response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Armed behavior and self protection</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Detect-only logs `WOULD BLOCK` and `WOULD KILL`. Default armed mode may add persistent inbound/outbound firewall blocks after repeated non-local failed logons and may force-stop known attacker-tool process-name matches; most other findings alert only.</a:t>
            </a:r>
          </a:p>
          <a:p>
            <a:pPr>
              <a:spcAft>
                <a:spcPts val="400"/>
              </a:spcAft>
              <a:defRPr sz="1000">
                <a:solidFill>
                  <a:srgbClr val="B4BAAE"/>
                </a:solidFill>
                <a:latin typeface="Aptos"/>
              </a:defRPr>
            </a:pPr>
            <a:r>
              <a:t>Dual-use names alert unless `-Aggressive` is supplied. Recognized Tlamatini paths are protected from auto-kill, but that is only a path-prefix check, not signature or provenance proof; malicious content inside an excluded/self path can inherit a blind spot.</a:t>
            </a:r>
          </a:p>
          <a:p>
            <a:pPr>
              <a:spcAft>
                <a:spcPts val="400"/>
              </a:spcAft>
              <a:defRPr sz="1000">
                <a:solidFill>
                  <a:srgbClr val="B4BAAE"/>
                </a:solidFill>
                <a:latin typeface="Aptos"/>
              </a:defRPr>
            </a:pPr>
            <a:r>
              <a:t>Watch mode is a foreground loop with `-IntervalSeconds` constrained to 5..86400. It is not a service or scheduled task, and `run_defender.bat` deliberately selects one default armed sweep, so baseline runs should invoke the PowerShell script directly with `-DetectOnly`.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Evidence, privacy, and packaging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`alerts.log` and `monitor.log` append sensitive usernames, IP addresses, paths, command lines, task/registry details, and response records without built-in rotation, deduplication, automatic unblock, or SIEM forwarding. Treat every severity as triage priority, not certainty.</a:t>
            </a:r>
          </a:p>
          <a:p>
            <a:pPr>
              <a:spcAft>
                <a:spcPts val="400"/>
              </a:spcAft>
              <a:defRPr sz="1000">
                <a:solidFill>
                  <a:srgbClr val="B4BAAE"/>
                </a:solidFill>
                <a:latin typeface="Aptos"/>
              </a:defRPr>
            </a:pPr>
            <a:r>
              <a:t>The batch launchers preserve paths containing spaces through UAC and propagate PowerShell failures. `build.py` ships the security source while excluding logs; self-modify snapshots likewise prune `security_logs/` so screenshots and host telemetry are not published.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(1/9)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762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Answers codebase questions with loaded file or directory context.</a:t>
            </a:r>
          </a:p>
          <a:p>
            <a:pPr>
              <a:spcAft>
                <a:spcPts val="400"/>
              </a:spcAft>
              <a:defRPr sz="1300">
                <a:solidFill>
                  <a:srgbClr val="B4BAAE"/>
                </a:solidFill>
                <a:latin typeface="Aptos"/>
              </a:defRPr>
            </a:pPr>
            <a:r>
              <a:t>Uses hybrid retrieval to extract metadata, split content, rank source chunks, and respect context budgets.</a:t>
            </a:r>
          </a:p>
          <a:p>
            <a:pPr>
              <a:spcAft>
                <a:spcPts val="400"/>
              </a:spcAft>
              <a:defRPr sz="1300">
                <a:solidFill>
                  <a:srgbClr val="B4BAAE"/>
                </a:solidFill>
                <a:latin typeface="Aptos"/>
              </a:defRPr>
            </a:pPr>
            <a:r>
              <a:t>Can discover files by glob pattern, search their contents by regex through Grepper's BOM-first UTF-8/16/32 and cp1252/Latin-1 decoder while skipping genuine binary data, and make surgical in-place replacements through Editor.</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762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Makes those SQLite operations WAL-safe: online backup reads through committed WAL pages, creates a self-contained destination, verifies it with `quick_check`, and keeps sidecars attached to the database they belong to.</a:t>
            </a:r>
          </a:p>
          <a:p>
            <a:pPr>
              <a:spcAft>
                <a:spcPts val="400"/>
              </a:spcAft>
              <a:defRPr sz="1100">
                <a:solidFill>
                  <a:srgbClr val="B4BAAE"/>
                </a:solidFill>
                <a:latin typeface="Aptos"/>
              </a:defRPr>
            </a:pPr>
            <a:r>
              <a:t>Can measure this machine's Internet connection through NetSpeed-Calculator, reporting throughput with confidence intervals, latency, jitter, loss, bufferbloat grade, and provider heterogeneity instead of trusting one speed-test endpoint.</a:t>
            </a:r>
          </a:p>
          <a:p>
            <a:pPr>
              <a:spcAft>
                <a:spcPts val="400"/>
              </a:spcAft>
              <a:defRPr sz="1100">
                <a:solidFill>
                  <a:srgbClr val="B4BAAE"/>
                </a:solidFill>
                <a:latin typeface="Aptos"/>
              </a:defRPr>
            </a:pPr>
            <a:r>
              <a:t>Lets operators manage provider secrets from the browser through the Config -&gt; Access Keys Wizard instead of hand-editing `config.json`.</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Registers packaged installs in Windows `Installed apps` / `Programs and Features` with a real uninstall entry, so the release behaves like a normal installed application instead of only a shortcut bundle.</a:t>
            </a:r>
          </a:p>
          <a:p>
            <a:pPr>
              <a:spcAft>
                <a:spcPts val="400"/>
              </a:spcAft>
              <a:defRPr sz="1100">
                <a:solidFill>
                  <a:srgbClr val="B4BAAE"/>
                </a:solidFill>
                <a:latin typeface="Aptos"/>
              </a:defRPr>
            </a:pPr>
            <a:r>
              <a:t>Can update packaged installs in place through About -&gt; Check for updates: she checks the latest GitHub release, stages the download, swaps locked files externally, and preserves operator state such as `config.json`, the database, and content.</a:t>
            </a:r>
          </a:p>
          <a:p>
            <a:pPr>
              <a:spcAft>
                <a:spcPts val="400"/>
              </a:spcAft>
              <a:defRPr sz="1100">
                <a:solidFill>
                  <a:srgbClr val="B4BAAE"/>
                </a:solidFill>
                <a:latin typeface="Aptos"/>
              </a:defRPr>
            </a:pPr>
            <a:r>
              <a:t>Hardens generated files: File-Creator’s bulk-write path now preserves long content byte-complete even when it contains heavy quoting or semicolon-rich source text.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(2/9)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762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Can connect to external MCP servers declared in `external_mcps.json`, expose their remote tools to Multi-Turn under the `ext__&lt;server&gt;__&lt;tool&gt;` naming convention, and supervise those connections through ten status / reconnect / doctor / runtime / import / list / call / activate / wait helpers.</a:t>
            </a:r>
          </a:p>
          <a:p>
            <a:pPr>
              <a:spcAft>
                <a:spcPts val="400"/>
              </a:spcAft>
              <a:defRPr sz="1000">
                <a:solidFill>
                  <a:srgbClr val="B4BAAE"/>
                </a:solidFill>
                <a:latin typeface="Aptos"/>
              </a:defRPr>
            </a:pPr>
            <a:r>
              <a:t>Ships official Memory and Sequential-Thinking MCP catalog defaults in every install, both inactive, and can provision a private per-user Node/npm/npx/pnpm or uv/uvx runtime without admin access or system-PATH changes.</a:t>
            </a:r>
          </a:p>
          <a:p>
            <a:pPr>
              <a:spcAft>
                <a:spcPts val="400"/>
              </a:spcAft>
              <a:defRPr sz="1000">
                <a:solidFill>
                  <a:srgbClr val="B4BAAE"/>
                </a:solidFill>
                <a:latin typeface="Aptos"/>
              </a:defRPr>
            </a:pPr>
            <a:r>
              <a:t>Gives operators GUI-first database maintenance through the new DB dropdown for backup and staged database replacement.</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762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Can drive Blender through the Blenderer agent, using the official Blender MCP add-on socket to inspect scenes, mutate objects and materials, run raw code, and automate renders from chat or the workflow canvas.</a:t>
            </a:r>
          </a:p>
          <a:p>
            <a:pPr>
              <a:spcAft>
                <a:spcPts val="400"/>
              </a:spcAft>
              <a:defRPr sz="1100">
                <a:solidFill>
                  <a:srgbClr val="B4BAAE"/>
                </a:solidFill>
                <a:latin typeface="Aptos"/>
              </a:defRPr>
            </a:pPr>
            <a:r>
              <a:t>Can pause before every state-changing Multi-Turn execution and ask the operator to approve or deny that exact step through the Ask Execs checkbox.</a:t>
            </a:r>
          </a:p>
          <a:p>
            <a:pPr>
              <a:spcAft>
                <a:spcPts val="400"/>
              </a:spcAft>
              <a:defRPr sz="1100">
                <a:solidFill>
                  <a:srgbClr val="B4BAAE"/>
                </a:solidFill>
                <a:latin typeface="Aptos"/>
              </a:defRPr>
            </a:pPr>
            <a:r>
              <a:t>Can raise a Windows attention signal when the browser needs the operator: Ask Execs prompts and Notifier events can flash Tlamatini’s own taskbar presence and leave an uppercase banner in `tlamatini.log`.</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Warns GPU-host operators before a directory-context load is likely to saturate VRAM and degrade embedding throughput.</a:t>
            </a:r>
          </a:p>
          <a:p>
            <a:pPr>
              <a:spcAft>
                <a:spcPts val="400"/>
              </a:spcAft>
              <a:defRPr sz="1300">
                <a:solidFill>
                  <a:srgbClr val="B4BAAE"/>
                </a:solidFill>
                <a:latin typeface="Aptos"/>
              </a:defRPr>
            </a:pPr>
            <a:r>
              <a:t>Exposes a coherent versioning surface across builds, runtime UI, logs, and an open health-check endpoint.</a:t>
            </a:r>
          </a:p>
          <a:p>
            <a:pPr>
              <a:spcAft>
                <a:spcPts val="400"/>
              </a:spcAft>
              <a:defRPr sz="1300">
                <a:solidFill>
                  <a:srgbClr val="B4BAAE"/>
                </a:solidFill>
                <a:latin typeface="Aptos"/>
              </a:defRPr>
            </a:pPr>
            <a:r>
              <a:t>Carries a first-person self-knowledge map so she can answer more accurately about her own architecture, ports, runtime modes, pages, and capabilities.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(3/9)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Can command Kali Linux offensive-security tooling through MCP-Kali-Server for authorized recon, enumeration, web scanning, and assessment workflows.</a:t>
            </a:r>
          </a:p>
          <a:p>
            <a:pPr>
              <a:spcAft>
                <a:spcPts val="400"/>
              </a:spcAft>
              <a:defRPr sz="1400">
                <a:solidFill>
                  <a:srgbClr val="B4BAAE"/>
                </a:solidFill>
                <a:latin typeface="Aptos"/>
              </a:defRPr>
            </a:pPr>
            <a:r>
              <a:t>Can run local authorized nmap reconnaissance through Nmapper, a use-only bridge that resolves a user-installed nmap, defaults to unprivileged TCP connect scanning, refuses unsafe/missing prerequisites gracefully, and never bundles or redistributes nmap.</a:t>
            </a:r>
          </a:p>
          <a:p>
            <a:pPr>
              <a:spcAft>
                <a:spcPts val="400"/>
              </a:spcAft>
              <a:defRPr sz="1400">
                <a:solidFill>
                  <a:srgbClr val="B4BAAE"/>
                </a:solidFill>
                <a:latin typeface="Aptos"/>
              </a:defRPr>
            </a:pPr>
            <a:r>
              <a:t>Can support operator-controlled Windows Blue-hat monitoring through the host-side `security/` toolkit, with persistent enablement tradeoffs, detect-only baselining, ten signal families, bounded armed response, and explicit evidence/privacy limits.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(4/9)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Can diagnose an external MCP before the first live connection through the MCP Doctor agent and wrapped `chat_agent_mcp_doctor` tool, checking transport, runtime requirements, PATH availability, placeholder secrets, and the next operator step.</a:t>
            </a:r>
          </a:p>
          <a:p>
            <a:pPr>
              <a:spcAft>
                <a:spcPts val="400"/>
              </a:spcAft>
              <a:defRPr sz="1400">
                <a:solidFill>
                  <a:srgbClr val="B4BAAE"/>
                </a:solidFill>
                <a:latin typeface="Aptos"/>
              </a:defRPr>
            </a:pPr>
            <a:r>
              <a:t>Can scaffold, author, build, flash, reset, and observe STM32 firmware through STM32er: the template-MCP path remains for STM32F407, while released `v1.42.0` adds a PlatformIO path for supported boards from Blue Pill/F1 through mainstream F/G/L/H7/U5/WB families, with fail-safe preflight before hardware mutation.</a:t>
            </a:r>
          </a:p>
          <a:p>
            <a:pPr>
              <a:spcAft>
                <a:spcPts val="400"/>
              </a:spcAft>
              <a:defRPr sz="1400">
                <a:solidFill>
                  <a:srgbClr val="B4BAAE"/>
                </a:solidFill>
                <a:latin typeface="Aptos"/>
              </a:defRPr>
            </a:pPr>
            <a:r>
              <a:t>Can scaffold, author, build, upload, and monitor ESP32-class firmware through ESP32er and PlatformIO Core, with zero-config bootstrap and a serial-aware preflight before hardware mutation.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(5/9)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Can author YAML-based smart-home firmware through ESPHomer and ESPHome, including zero-config bootstrap, device-config generation, validation, compile, USB/OTA upload, and bounded log observation for ESP32 / ESP8266 / RP2040 / BK72xx devices.</a:t>
            </a:r>
          </a:p>
          <a:p>
            <a:pPr>
              <a:spcAft>
                <a:spcPts val="400"/>
              </a:spcAft>
              <a:defRPr sz="1400">
                <a:solidFill>
                  <a:srgbClr val="B4BAAE"/>
                </a:solidFill>
                <a:latin typeface="Aptos"/>
              </a:defRPr>
            </a:pPr>
            <a:r>
              <a:t>Can play media on the operator's machine: an audio file to the speakers through AudioPlayer (soundfile + sounddevice — volume in percent and a time-played budget that truncates a longer file or loops a shorter one), or a video file with audio on a chosen display through VideoPlayer (ffpyplayer, whose wheel bundles ffmpeg + SDL, plus an OpenCV window — display, volume, the same truncate/loop time budget, window size, and fullscreen); both are observational/output and ship on the canvas and as wrapped chat tools.</a:t>
            </a:r>
          </a:p>
          <a:p>
            <a:pPr>
              <a:spcAft>
                <a:spcPts val="400"/>
              </a:spcAft>
              <a:defRPr sz="1400">
                <a:solidFill>
                  <a:srgbClr val="B4BAAE"/>
                </a:solidFill>
                <a:latin typeface="Aptos"/>
              </a:defRPr>
            </a:pPr>
            <a:r>
              <a:t>Can SPEAK and LISTEN: Talker (text-to-speech) renders input_text to a 24 kHz WAV through an Ollama neural TTS model (default Orpheus-3b-FT) and is female-voice-only by design, while Whisperer (speech-to-text) records the microphone itself or transcribes a file via faster-whisper locally (NVIDIA-GPU auto-detect with an always-present CPU fallback) or a cloud Whisper API; both light a zero-latency console REC indicator driven by the live audio stream and are observational/output, on the canvas and as wrapped chat tools.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(6/9)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Can manage real desktop windows by title: focus them, tile them, resize them, list them, and close them deterministically through Win32 calls.</a:t>
            </a:r>
          </a:p>
          <a:p>
            <a:pPr>
              <a:spcAft>
                <a:spcPts val="400"/>
              </a:spcAft>
              <a:defRPr sz="1400">
                <a:solidFill>
                  <a:srgbClr val="B4BAAE"/>
                </a:solidFill>
                <a:latin typeface="Aptos"/>
              </a:defRPr>
            </a:pPr>
            <a:r>
              <a:t>Can search with Googler through four plain-HTTP server-rendered routes first and, if empty, visible installed Chrome/bundled Chromium across seven browser routes, using bounded retries, manual query operators or a visual/pool structured dork builder, and URL-only output for indexed-file workflows.</a:t>
            </a:r>
          </a:p>
          <a:p>
            <a:pPr>
              <a:spcAft>
                <a:spcPts val="400"/>
              </a:spcAft>
              <a:defRPr sz="1400">
                <a:solidFill>
                  <a:srgbClr val="B4BAAE"/>
                </a:solidFill>
                <a:latin typeface="Aptos"/>
              </a:defRPr>
            </a:pPr>
            <a:r>
              <a:t>Can drive a real Playwright browser through scripted interactive steps for logins, forms, assertions, downloads, extraction, and end-to-end UI checks.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(7/9)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Can drive a live Unreal Engine 5 editor through the Unreal MCP plugin, from either Multi-Turn chat or the visual workflow canvas.</a:t>
            </a:r>
          </a:p>
          <a:p>
            <a:pPr>
              <a:spcAft>
                <a:spcPts val="400"/>
              </a:spcAft>
              <a:defRPr sz="1400">
                <a:solidFill>
                  <a:srgbClr val="B4BAAE"/>
                </a:solidFill>
                <a:latin typeface="Aptos"/>
              </a:defRPr>
            </a:pPr>
            <a:r>
              <a:t>Actively reaps orphaned Windows console-host and pool-child processes so long Multi-Turn or ACPX sessions do not leave misleading Tlamatini-icon ghosts in Task Manager.</a:t>
            </a:r>
          </a:p>
          <a:p>
            <a:pPr>
              <a:spcAft>
                <a:spcPts val="400"/>
              </a:spcAft>
              <a:defRPr sz="1400">
                <a:solidFill>
                  <a:srgbClr val="B4BAAE"/>
                </a:solidFill>
                <a:latin typeface="Aptos"/>
              </a:defRPr>
            </a:pPr>
            <a:r>
              <a:t>Can autonomously kill only genuinely hung shell-wrapper subtrees through a boot-time command watchdog that measures CPU and I/O progress instead of guessing from elapsed 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(8/9)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Runs checked Multi-Turn requests through request-scoped planning, capability selection, tool calls, observations, monitoring, and final synthesis.</a:t>
            </a:r>
          </a:p>
          <a:p>
            <a:pPr>
              <a:spcAft>
                <a:spcPts val="400"/>
              </a:spcAft>
              <a:defRPr sz="1400">
                <a:solidFill>
                  <a:srgbClr val="B4BAAE"/>
                </a:solidFill>
                <a:latin typeface="Aptos"/>
              </a:defRPr>
            </a:pPr>
            <a:r>
              <a:t>Can optionally inspect and modify her own bundled source tree in self-modify builds after verifying that `TlamatiniSourceCode/` is actually present.</a:t>
            </a:r>
          </a:p>
          <a:p>
            <a:pPr>
              <a:spcAft>
                <a:spcPts val="400"/>
              </a:spcAft>
              <a:defRPr sz="1400">
                <a:solidFill>
                  <a:srgbClr val="B4BAAE"/>
                </a:solidFill>
                <a:latin typeface="Aptos"/>
              </a:defRPr>
            </a:pPr>
            <a:r>
              <a:t>Launches wrapped copies of selected workflow agents in isolated runtime folders without mutating templates.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(9/9)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Lets users design, validate, save, pause, resume, and stop visual workflows through the Agentic Control Panel.</a:t>
            </a:r>
          </a:p>
          <a:p>
            <a:pPr>
              <a:spcAft>
                <a:spcPts val="400"/>
              </a:spcAft>
              <a:defRPr sz="1400">
                <a:solidFill>
                  <a:srgbClr val="B4BAAE"/>
                </a:solidFill>
                <a:latin typeface="Aptos"/>
              </a:defRPr>
            </a:pPr>
            <a:r>
              <a:t>Turns successful Multi-Turn tool executions into starter `.flw` workflows that can be inspected and validated in ACP.</a:t>
            </a:r>
          </a:p>
          <a:p>
            <a:pPr>
              <a:spcAft>
                <a:spcPts val="400"/>
              </a:spcAft>
              <a:defRPr sz="1400">
                <a:solidFill>
                  <a:srgbClr val="B4BAAE"/>
                </a:solidFill>
                <a:latin typeface="Aptos"/>
              </a:defRPr>
            </a:pPr>
            <a:r>
              <a:t>Packages the project into a distributable Windows release with installer and uninstaller tooling.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It Works</a:t>
            </a:r>
          </a:p>
        </p:txBody>
      </p:sp>
      <p:sp>
        <p:nvSpPr>
          <p:cNvPr id="9" name="Rounded Rectangle 8"/>
          <p:cNvSpPr/>
          <p:nvPr/>
        </p:nvSpPr>
        <p:spPr>
          <a:xfrm>
            <a:off x="868680"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54203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Browser</a:t>
            </a:r>
          </a:p>
        </p:txBody>
      </p:sp>
      <p:sp>
        <p:nvSpPr>
          <p:cNvPr id="11" name="TextBox 10"/>
          <p:cNvSpPr txBox="1"/>
          <p:nvPr/>
        </p:nvSpPr>
        <p:spPr>
          <a:xfrm>
            <a:off x="2459736" y="2551176"/>
            <a:ext cx="246888" cy="256032"/>
          </a:xfrm>
          <a:prstGeom prst="rect">
            <a:avLst/>
          </a:prstGeom>
          <a:noFill/>
        </p:spPr>
        <p:txBody>
          <a:bodyPr wrap="square" anchor="t" lIns="12700" rIns="76200" tIns="12700" bIns="12700">
            <a:normAutofit/>
          </a:bodyPr>
          <a:lstStyle/>
          <a:p>
            <a:pPr algn="ctr"/>
            <a:r>
              <a:rPr sz="1200" b="1">
                <a:solidFill>
                  <a:srgbClr val="48BF8F"/>
                </a:solidFill>
                <a:latin typeface="Aptos"/>
              </a:rPr>
              <a:t>&gt;</a:t>
            </a:r>
          </a:p>
        </p:txBody>
      </p:sp>
      <p:sp>
        <p:nvSpPr>
          <p:cNvPr id="12" name="Rounded Rectangle 11"/>
          <p:cNvSpPr/>
          <p:nvPr/>
        </p:nvSpPr>
        <p:spPr>
          <a:xfrm>
            <a:off x="2706624"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9776" y="254203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Channels</a:t>
            </a:r>
          </a:p>
        </p:txBody>
      </p:sp>
      <p:sp>
        <p:nvSpPr>
          <p:cNvPr id="14" name="TextBox 13"/>
          <p:cNvSpPr txBox="1"/>
          <p:nvPr/>
        </p:nvSpPr>
        <p:spPr>
          <a:xfrm>
            <a:off x="4297680" y="2551176"/>
            <a:ext cx="246888" cy="256032"/>
          </a:xfrm>
          <a:prstGeom prst="rect">
            <a:avLst/>
          </a:prstGeom>
          <a:noFill/>
        </p:spPr>
        <p:txBody>
          <a:bodyPr wrap="square" anchor="t" lIns="12700" rIns="76200" tIns="12700" bIns="12700">
            <a:normAutofit/>
          </a:bodyPr>
          <a:lstStyle/>
          <a:p>
            <a:pPr algn="ctr"/>
            <a:r>
              <a:rPr sz="1200" b="1">
                <a:solidFill>
                  <a:srgbClr val="48BF8F"/>
                </a:solidFill>
                <a:latin typeface="Aptos"/>
              </a:rPr>
              <a:t>&gt;</a:t>
            </a:r>
          </a:p>
        </p:txBody>
      </p:sp>
      <p:sp>
        <p:nvSpPr>
          <p:cNvPr id="15" name="Rounded Rectangle 14"/>
          <p:cNvSpPr/>
          <p:nvPr/>
        </p:nvSpPr>
        <p:spPr>
          <a:xfrm>
            <a:off x="4544568"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54203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RAG</a:t>
            </a:r>
          </a:p>
        </p:txBody>
      </p:sp>
      <p:sp>
        <p:nvSpPr>
          <p:cNvPr id="17" name="TextBox 16"/>
          <p:cNvSpPr txBox="1"/>
          <p:nvPr/>
        </p:nvSpPr>
        <p:spPr>
          <a:xfrm>
            <a:off x="6135624" y="2551176"/>
            <a:ext cx="246888" cy="256032"/>
          </a:xfrm>
          <a:prstGeom prst="rect">
            <a:avLst/>
          </a:prstGeom>
          <a:noFill/>
        </p:spPr>
        <p:txBody>
          <a:bodyPr wrap="square" anchor="t" lIns="12700" rIns="76200" tIns="12700" bIns="12700">
            <a:normAutofit/>
          </a:bodyPr>
          <a:lstStyle/>
          <a:p>
            <a:pPr algn="ctr"/>
            <a:r>
              <a:rPr sz="1200" b="1">
                <a:solidFill>
                  <a:srgbClr val="48BF8F"/>
                </a:solidFill>
                <a:latin typeface="Aptos"/>
              </a:rPr>
              <a:t>&gt;</a:t>
            </a:r>
          </a:p>
        </p:txBody>
      </p:sp>
      <p:sp>
        <p:nvSpPr>
          <p:cNvPr id="18" name="Rounded Rectangle 17"/>
          <p:cNvSpPr/>
          <p:nvPr/>
        </p:nvSpPr>
        <p:spPr>
          <a:xfrm>
            <a:off x="6382512"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254203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Planner</a:t>
            </a:r>
          </a:p>
        </p:txBody>
      </p:sp>
      <p:sp>
        <p:nvSpPr>
          <p:cNvPr id="20" name="TextBox 19"/>
          <p:cNvSpPr txBox="1"/>
          <p:nvPr/>
        </p:nvSpPr>
        <p:spPr>
          <a:xfrm>
            <a:off x="7973567" y="2551176"/>
            <a:ext cx="246888" cy="256032"/>
          </a:xfrm>
          <a:prstGeom prst="rect">
            <a:avLst/>
          </a:prstGeom>
          <a:noFill/>
        </p:spPr>
        <p:txBody>
          <a:bodyPr wrap="square" anchor="t" lIns="12700" rIns="76200" tIns="12700" bIns="12700">
            <a:normAutofit/>
          </a:bodyPr>
          <a:lstStyle/>
          <a:p>
            <a:pPr algn="ctr"/>
            <a:r>
              <a:rPr sz="1200" b="1">
                <a:solidFill>
                  <a:srgbClr val="48BF8F"/>
                </a:solidFill>
                <a:latin typeface="Aptos"/>
              </a:rPr>
              <a:t>&gt;</a:t>
            </a:r>
          </a:p>
        </p:txBody>
      </p:sp>
      <p:sp>
        <p:nvSpPr>
          <p:cNvPr id="21" name="Rounded Rectangle 20"/>
          <p:cNvSpPr/>
          <p:nvPr/>
        </p:nvSpPr>
        <p:spPr>
          <a:xfrm>
            <a:off x="8220455"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7" y="254203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Tools</a:t>
            </a:r>
          </a:p>
        </p:txBody>
      </p:sp>
      <p:sp>
        <p:nvSpPr>
          <p:cNvPr id="23" name="TextBox 22"/>
          <p:cNvSpPr txBox="1"/>
          <p:nvPr/>
        </p:nvSpPr>
        <p:spPr>
          <a:xfrm>
            <a:off x="9811511" y="2551176"/>
            <a:ext cx="246888" cy="256032"/>
          </a:xfrm>
          <a:prstGeom prst="rect">
            <a:avLst/>
          </a:prstGeom>
          <a:noFill/>
        </p:spPr>
        <p:txBody>
          <a:bodyPr wrap="square" anchor="t" lIns="12700" rIns="76200" tIns="12700" bIns="12700">
            <a:normAutofit/>
          </a:bodyPr>
          <a:lstStyle/>
          <a:p>
            <a:pPr algn="ctr"/>
            <a:r>
              <a:rPr sz="1200" b="1">
                <a:solidFill>
                  <a:srgbClr val="48BF8F"/>
                </a:solidFill>
                <a:latin typeface="Aptos"/>
              </a:rPr>
              <a:t>&gt;</a:t>
            </a:r>
          </a:p>
        </p:txBody>
      </p:sp>
      <p:sp>
        <p:nvSpPr>
          <p:cNvPr id="24" name="Rounded Rectangle 23"/>
          <p:cNvSpPr/>
          <p:nvPr/>
        </p:nvSpPr>
        <p:spPr>
          <a:xfrm>
            <a:off x="10058399"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31551" y="254203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Answer</a:t>
            </a:r>
          </a:p>
        </p:txBody>
      </p:sp>
      <p:sp>
        <p:nvSpPr>
          <p:cNvPr id="26" name="Rounded Rectangle 25"/>
          <p:cNvSpPr/>
          <p:nvPr/>
        </p:nvSpPr>
        <p:spPr>
          <a:xfrm>
            <a:off x="749808" y="3657600"/>
            <a:ext cx="10561320" cy="2240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8" y="3657600"/>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0976" y="3858768"/>
            <a:ext cx="10158984" cy="310896"/>
          </a:xfrm>
          <a:prstGeom prst="rect">
            <a:avLst/>
          </a:prstGeom>
          <a:noFill/>
        </p:spPr>
        <p:txBody>
          <a:bodyPr wrap="square" anchor="t" lIns="12700" rIns="76200" tIns="12700" bIns="12700">
            <a:normAutofit/>
          </a:bodyPr>
          <a:lstStyle/>
          <a:p>
            <a:pPr algn="l"/>
            <a:r>
              <a:rPr sz="1400" b="1">
                <a:solidFill>
                  <a:srgbClr val="48BF8F"/>
                </a:solidFill>
                <a:latin typeface="Aptos"/>
              </a:rPr>
              <a:t>Request-to-answer flow</a:t>
            </a:r>
          </a:p>
        </p:txBody>
      </p:sp>
      <p:sp>
        <p:nvSpPr>
          <p:cNvPr id="29" name="TextBox 28"/>
          <p:cNvSpPr txBox="1"/>
          <p:nvPr/>
        </p:nvSpPr>
        <p:spPr>
          <a:xfrm>
            <a:off x="950976" y="4315968"/>
            <a:ext cx="10158984" cy="1435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A browser request flows through Django Channels into the RAG/context layer, the Multi-Turn planner, the tool executor, and back as a synthesized answer.</a:t>
            </a:r>
          </a:p>
          <a:p>
            <a:pPr>
              <a:spcAft>
                <a:spcPts val="400"/>
              </a:spcAft>
              <a:defRPr sz="1500">
                <a:solidFill>
                  <a:srgbClr val="B4BAAE"/>
                </a:solidFill>
                <a:latin typeface="Aptos"/>
              </a:defRPr>
            </a:pPr>
            <a:r>
              <a:t>The next two pages detail the request path (intake, retrieval, permission gating) and the runtime path (planning, tool execution, agent bridges, packaging).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It Works — Detail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Browser UI sends chat and workflow requests through Django views and Channels WebSockets.</a:t>
            </a:r>
          </a:p>
          <a:p>
            <a:pPr>
              <a:spcAft>
                <a:spcPts val="400"/>
              </a:spcAft>
              <a:defRPr sz="900">
                <a:solidFill>
                  <a:srgbClr val="B4BAAE"/>
                </a:solidFill>
                <a:latin typeface="Aptos"/>
              </a:defRPr>
            </a:pPr>
            <a:r>
              <a:t>RAG chains load selected file/directory context, retrieve relevant chunks, and build answer prompts.</a:t>
            </a:r>
          </a:p>
          <a:p>
            <a:pPr>
              <a:spcAft>
                <a:spcPts val="400"/>
              </a:spcAft>
              <a:defRPr sz="900">
                <a:solidFill>
                  <a:srgbClr val="B4BAAE"/>
                </a:solidFill>
                <a:latin typeface="Aptos"/>
              </a:defRPr>
            </a:pPr>
            <a:r>
              <a:t>DB-menu actions validate directories or SQLite files in the browser, then call Django views that use `sqlite_copy.consistent_copy()` to read through WAL, create a self-contained checked destination, and either back it up or stage it under `DB/ToLoad/db.sqlite3`.</a:t>
            </a:r>
          </a:p>
          <a:p>
            <a:pPr>
              <a:spcAft>
                <a:spcPts val="400"/>
              </a:spcAft>
              <a:defRPr sz="900">
                <a:solidFill>
                  <a:srgbClr val="B4BAAE"/>
                </a:solidFill>
                <a:latin typeface="Aptos"/>
              </a:defRPr>
            </a:pPr>
            <a:r>
              <a:t>Config -&gt; Access Keys Wizard reads masked provider-key status from the backend and persists only the edited secrets, keeping the browser flow honest without dumping live values back to the page.</a:t>
            </a:r>
          </a:p>
          <a:p>
            <a:pPr>
              <a:spcAft>
                <a:spcPts val="400"/>
              </a:spcAft>
              <a:defRPr sz="900">
                <a:solidFill>
                  <a:srgbClr val="B4BAAE"/>
                </a:solidFill>
                <a:latin typeface="Aptos"/>
              </a:defRPr>
            </a:pPr>
            <a:r>
              <a:t>The file-navigation and file-edit trio sits above raw shell execution: Globber enumerates matching files, Grepper decodes BOM-marked UTF-8/16/32 before cp1252/Latin-1 fallbacks while pruning genuine binary/noisy trees, and Editor performs byte-exact in-place replacements without rewriting an entire file.</a:t>
            </a:r>
          </a:p>
          <a:p>
            <a:pPr>
              <a:spcAft>
                <a:spcPts val="400"/>
              </a:spcAft>
              <a:defRPr sz="900">
                <a:solidFill>
                  <a:srgbClr val="B4BAAE"/>
                </a:solidFill>
                <a:latin typeface="Aptos"/>
              </a:defRPr>
            </a:pPr>
            <a:r>
              <a:t>External MCP connectivity is catalog-driven: `external_mcps.json` stores preserved Claude-style `mcpServers` state, `external_mcp_defaults.py` seeds inactive Memory/Sequential-Thinking defaults with edit/tombstone semantics, `runtime_provisioner.py` resolves or privately provisions npx/uvx managers, and `external_mcp_manager.py` negotiates stdio / streamable-HTTP / SSE / WebSocket before healthy remote tools become `ext__&lt;server&gt;__&lt;tool&gt;` planner entries.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Installer-time registration writes a per-user HKCU Add/Remove Programs entry pointing at `Uninstaller.exe`, and frozen startup re-checks that entry through `windows_app_registration.self_heal_for_frozen()` so older installs retroactively appear in Windows' uninstall surfaces.</a:t>
            </a:r>
          </a:p>
          <a:p>
            <a:pPr>
              <a:spcAft>
                <a:spcPts val="400"/>
              </a:spcAft>
              <a:defRPr sz="900">
                <a:solidFill>
                  <a:srgbClr val="B4BAAE"/>
                </a:solidFill>
                <a:latin typeface="Aptos"/>
              </a:defRPr>
            </a:pPr>
            <a:r>
              <a:t>In-app self-update uses Django views plus `self_update.py` to check GitHub releases, download and stage the selected package, then hand off the locked-file swap to `apply_update.ps1`; the preserve contract retains operator state and `Uninstaller.exe` before relaunch.</a:t>
            </a:r>
          </a:p>
          <a:p>
            <a:pPr>
              <a:spcAft>
                <a:spcPts val="400"/>
              </a:spcAft>
              <a:defRPr sz="900">
                <a:solidFill>
                  <a:srgbClr val="B4BAAE"/>
                </a:solidFill>
                <a:latin typeface="Aptos"/>
              </a:defRPr>
            </a:pPr>
            <a:r>
              <a:t>Frozen-build hardening now verifies media dependencies during packaging too: `build.py` embeds numpy and OpenCV in both shipped Python runtimes and refuses to produce a release if those imports are missing.</a:t>
            </a:r>
          </a:p>
          <a:p>
            <a:pPr>
              <a:spcAft>
                <a:spcPts val="400"/>
              </a:spcAft>
              <a:defRPr sz="900">
                <a:solidFill>
                  <a:srgbClr val="B4BAAE"/>
                </a:solidFill>
                <a:latin typeface="Aptos"/>
              </a:defRPr>
            </a:pPr>
            <a:r>
              <a:t>Before a heavy directory embedding run on supported NVIDIA hosts, a fail-open pre-flight guard can estimate VRAM pressure and surface a non-blocking warning in chat.</a:t>
            </a:r>
          </a:p>
          <a:p>
            <a:pPr>
              <a:spcAft>
                <a:spcPts val="400"/>
              </a:spcAft>
              <a:defRPr sz="900">
                <a:solidFill>
                  <a:srgbClr val="B4BAAE"/>
                </a:solidFill>
                <a:latin typeface="Aptos"/>
              </a:defRPr>
            </a:pPr>
            <a:r>
              <a:t>Version resolution now flows through git tags, a runtime resolver module, generated build artefacts, and an open `/agent/version/` endpoint.</a:t>
            </a:r>
          </a:p>
          <a:p>
            <a:pPr>
              <a:spcAft>
                <a:spcPts val="400"/>
              </a:spcAft>
              <a:defRPr sz="900">
                <a:solidFill>
                  <a:srgbClr val="B4BAAE"/>
                </a:solidFill>
                <a:latin typeface="Aptos"/>
              </a:defRPr>
            </a:pPr>
            <a:r>
              <a:t>A first-person self-knowledge file (`Tlamatini.md`) is injected into prompt construction for all chains, but loaded user context still outranks that self-reference when the request is a generic summary of the provided project.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It Works — Detail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The `adding-external-mcp` skill applies that machinery in one guarded sequence: classify transport, import secret-separated configuration, diagnose, activate only on intent, wait for healthy tools, inspect status/list output, then call.</a:t>
            </a:r>
          </a:p>
          <a:p>
            <a:pPr>
              <a:spcAft>
                <a:spcPts val="400"/>
              </a:spcAft>
              <a:defRPr sz="900">
                <a:solidFill>
                  <a:srgbClr val="B4BAAE"/>
                </a:solidFill>
                <a:latin typeface="Aptos"/>
              </a:defRPr>
            </a:pPr>
            <a:r>
              <a:t>The MCP Doctor path is intentionally safer than a live connect: it reads the configured server entry, validates transport shape, runtime commands, PATH/toolchain presence, placeholder secrets, and docs/source URLs, then returns an onboarding diagnosis without consuming the server's real tool surface.</a:t>
            </a:r>
          </a:p>
          <a:p>
            <a:pPr>
              <a:spcAft>
                <a:spcPts val="400"/>
              </a:spcAft>
              <a:defRPr sz="900">
                <a:solidFill>
                  <a:srgbClr val="B4BAAE"/>
                </a:solidFill>
                <a:latin typeface="Aptos"/>
              </a:defRPr>
            </a:pPr>
            <a:r>
              <a:t>Blenderer opens the official Blender MCP add-on TCP socket (default `localhost:9876`), sends one action payload or raw code-execution request, and returns the structured result through the same wrapped-tool / canvas contract used by the rest of the agent catalog.</a:t>
            </a:r>
          </a:p>
          <a:p>
            <a:pPr>
              <a:spcAft>
                <a:spcPts val="400"/>
              </a:spcAft>
              <a:defRPr sz="900">
                <a:solidFill>
                  <a:srgbClr val="B4BAAE"/>
                </a:solidFill>
                <a:latin typeface="Aptos"/>
              </a:defRPr>
            </a:pPr>
            <a:r>
              <a:t>When Ask Execs is enabled, the synchronous Multi-Turn executor stops before each state-changing tool call, emits an `exec_permission_request`, and waits on `ExecPermissionBroker` until the browser sends Proceed or Deny.</a:t>
            </a:r>
          </a:p>
          <a:p>
            <a:pPr>
              <a:spcAft>
                <a:spcPts val="400"/>
              </a:spcAft>
              <a:defRPr sz="900">
                <a:solidFill>
                  <a:srgbClr val="B4BAAE"/>
                </a:solidFill>
                <a:latin typeface="Aptos"/>
              </a:defRPr>
            </a:pPr>
            <a:r>
              <a:t>When the browser surfaces an Ask Execs prompt or a Notifier event, JavaScript can POST to `/agent/flash_window/`; the backend then best-effort flashes the `Tlamatini.exe` console/taskbar window through `window_flash.py` and prints an uppercase attention banner for the log.</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When Multi-Turn is enabled, the global planner selects context and tool stages before the executor binds only the relevant tools, including wrapped deterministic agents such as De-Compresser.</a:t>
            </a:r>
          </a:p>
          <a:p>
            <a:pPr>
              <a:spcAft>
                <a:spcPts val="400"/>
              </a:spcAft>
              <a:defRPr sz="900">
                <a:solidFill>
                  <a:srgbClr val="B4BAAE"/>
                </a:solidFill>
                <a:latin typeface="Aptos"/>
              </a:defRPr>
            </a:pPr>
            <a:r>
              <a:t>Optional self-modify builds bundle `TlamatiniSourceCode/`; `copy_source_assets.py` generates that snapshot with rebuild instructions and redacted secrets, and prompt rules require her to verify that directory exists before claiming she can inspect or change her own code.</a:t>
            </a:r>
          </a:p>
          <a:p>
            <a:pPr>
              <a:spcAft>
                <a:spcPts val="400"/>
              </a:spcAft>
              <a:defRPr sz="900">
                <a:solidFill>
                  <a:srgbClr val="B4BAAE"/>
                </a:solidFill>
                <a:latin typeface="Aptos"/>
              </a:defRPr>
            </a:pPr>
            <a:r>
              <a:t>The Kalier path talks directly to the MCP-Kali-Server Flask API over HTTP with Python-stdlib `urllib`, auto-seeding the default box from `kali_server_url` in Config -&gt; URLs before any one-off per-call override is applied, and captures one atomic `INI_SECTION_KALIER` block per run.</a:t>
            </a:r>
          </a:p>
          <a:p>
            <a:pPr>
              <a:spcAft>
                <a:spcPts val="400"/>
              </a:spcAft>
              <a:defRPr sz="900">
                <a:solidFill>
                  <a:srgbClr val="B4BAAE"/>
                </a:solidFill>
                <a:latin typeface="Aptos"/>
              </a:defRPr>
            </a:pPr>
            <a:r>
              <a:t>The Nmapper path resolves a user-installed `nmap` from explicit config, PATH, Program Files, or `%LOCALAPPDATA%`, constructs one safe scan action, captures XML plus normal output, parses hosts/open ports with the standard library, and emits one atomic `INI_SECTION_NMAPPER` block for Parametrizer/Forker routing.</a:t>
            </a:r>
          </a:p>
          <a:p>
            <a:pPr>
              <a:spcAft>
                <a:spcPts val="400"/>
              </a:spcAft>
              <a:defRPr sz="900">
                <a:solidFill>
                  <a:srgbClr val="B4BAAE"/>
                </a:solidFill>
                <a:latin typeface="Aptos"/>
              </a:defRPr>
            </a:pPr>
            <a:r>
              <a:t>The NetSpeed-Calculator path opens parallel keyless-provider streams, drops the slow-start warmup, samples byte derivatives, rejects outliers, computes Student-t intervals, and pools provider estimates with inverse-variance or DerSimonian-Laird random effects; `validate` and `providers` are read-only, while throughput actions are metered tier-D work.</a:t>
            </a:r>
          </a:p>
          <a:p>
            <a:pPr>
              <a:spcAft>
                <a:spcPts val="400"/>
              </a:spcAft>
              <a:defRPr sz="900">
                <a:solidFill>
                  <a:srgbClr val="B4BAAE"/>
                </a:solidFill>
                <a:latin typeface="Aptos"/>
              </a:defRPr>
            </a:pPr>
            <a:r>
              <a:t>The STM32er path spawns the STM32 Template Project MCP stdio server, performs the MCP initialize handshake, runs exactly one requested tool or composite action, and emits one atomic `INI_SECTION_STM32ER` block with the result, project directory, and stage metadata.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It Works — Detail (3/4)</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C48052"/>
                </a:solidFill>
                <a:latin typeface="Aptos"/>
              </a:rPr>
              <a:t>Runtime path</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Before any flash-capable STM32er action, a critical-mission preflight validates the arm-none-eabi toolchain, STM32CubeIDE, programmer path, ST-LINK presence, and STM32F-family match; compile-only steps can run boardless, but unsafe hardware mutations are refused fail-safe.</a:t>
            </a:r>
          </a:p>
          <a:p>
            <a:pPr>
              <a:spcAft>
                <a:spcPts val="400"/>
              </a:spcAft>
              <a:defRPr sz="1300">
                <a:solidFill>
                  <a:srgbClr val="B4BAAE"/>
                </a:solidFill>
                <a:latin typeface="Aptos"/>
              </a:defRPr>
            </a:pPr>
            <a:r>
              <a:t>The ESP32er path resolves or bootstraps PlatformIO Core, invokes `pio` subcommands directly with Python-stdlib process control, validates project and serial-port readiness, and emits one atomic `INI_SECTION_ESP32ER` block with stage, project, port, and stdout/stderr payloads.</a:t>
            </a:r>
          </a:p>
          <a:p>
            <a:pPr>
              <a:spcAft>
                <a:spcPts val="400"/>
              </a:spcAft>
              <a:defRPr sz="1300">
                <a:solidFill>
                  <a:srgbClr val="B4BAAE"/>
                </a:solidFill>
                <a:latin typeface="Aptos"/>
              </a:defRPr>
            </a:pPr>
            <a:r>
              <a:t>The ESPHomer path resolves or bootstraps the `esphome` CLI, can generate a minimal valid YAML device config headlessly, validates either a serial board or OTA host before upload/log actions, and emits one atomic `INI_SECTION_ESPHOMER` block with action, config path, stage, and captured CLI output.</a:t>
            </a:r>
          </a:p>
          <a:p>
            <a:pPr>
              <a:spcAft>
                <a:spcPts val="400"/>
              </a:spcAft>
              <a:defRPr sz="1300">
                <a:solidFill>
                  <a:srgbClr val="B4BAAE"/>
                </a:solidFill>
                <a:latin typeface="Aptos"/>
              </a:defRPr>
            </a:pPr>
            <a:r>
              <a:t>The Windower path uses Win32 APIs plus the cross-process `AttachThreadInput` focus-transfer dance to locate windows by title and apply one lifecycle action while still returning structured geometry/state fields.</a:t>
            </a:r>
          </a:p>
          <a:p>
            <a:pPr>
              <a:spcAft>
                <a:spcPts val="400"/>
              </a:spcAft>
              <a:defRPr sz="1300">
                <a:solidFill>
                  <a:srgbClr val="B4BAAE"/>
                </a:solidFill>
                <a:latin typeface="Aptos"/>
              </a:defRPr>
            </a:pPr>
            <a:r>
              <a:t>The Playwrighter path loads a declarative step list, drives Playwright against Chromium/Firefox/WebKit, and emits one atomic `INI_SECTION_PLAYWRIGHTER` block with status, assertions, extracted values, and the final URL.</a:t>
            </a:r>
          </a:p>
          <a:p>
            <a:pPr>
              <a:spcAft>
                <a:spcPts val="400"/>
              </a:spcAft>
              <a:defRPr sz="1300">
                <a:solidFill>
                  <a:srgbClr val="B4BAAE"/>
                </a:solidFill>
                <a:latin typeface="Aptos"/>
              </a:defRPr>
            </a:pPr>
            <a:r>
              <a:t>The Unrealer path opens a TCP socket to the Unreal MCP plugin, sends one `{"type": command, "params": {...}}` payload, captures the JSON reply, and emits one `INI_SECTION_UNREALER` block for downstream logic.</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It Works — Detail (4/4)</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C48052"/>
                </a:solidFill>
                <a:latin typeface="Aptos"/>
              </a:rPr>
              <a:t>Runtime path</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A boot-time command watchdog samples CPU time and I/O bytes across shell-interpreter subtrees and reaps only the ones that stay idle past the grace-and-streak window, protecting healthy long-running commands while rescuing wedged prompt waits.</a:t>
            </a:r>
          </a:p>
          <a:p>
            <a:pPr>
              <a:spcAft>
                <a:spcPts val="400"/>
              </a:spcAft>
              <a:defRPr sz="1200">
                <a:solidFill>
                  <a:srgbClr val="B4BAAE"/>
                </a:solidFill>
                <a:latin typeface="Aptos"/>
              </a:defRPr>
            </a:pPr>
            <a:r>
              <a:t>After spawn-capable tool calls and again after the final answer, the orphan reaper can sweep dead descendants, orphaned `conhost.exe` companions, and stale pool-linked processes without ever raising into the chat path.</a:t>
            </a:r>
          </a:p>
          <a:p>
            <a:pPr>
              <a:spcAft>
                <a:spcPts val="400"/>
              </a:spcAft>
              <a:defRPr sz="1200">
                <a:solidFill>
                  <a:srgbClr val="B4BAAE"/>
                </a:solidFill>
                <a:latin typeface="Aptos"/>
              </a:defRPr>
            </a:pPr>
            <a:r>
              <a:t>Tool calls execute in the backend, append observations, and may create wrapped runtime copies under `agent/agents/pools/_chat_runs_/`.</a:t>
            </a:r>
          </a:p>
          <a:p>
            <a:pPr>
              <a:spcAft>
                <a:spcPts val="400"/>
              </a:spcAft>
              <a:defRPr sz="1200">
                <a:solidFill>
                  <a:srgbClr val="B4BAAE"/>
                </a:solidFill>
                <a:latin typeface="Aptos"/>
              </a:defRPr>
            </a:pPr>
            <a:r>
              <a:t>On the next full start-up, `manage.py` archives the previous database with its WAL/SHM/journal sidecars under `DB/Older/&lt;timestamp&gt;/`, clears stale destination sidecars, and only then promotes the verified staged database before Django imports.</a:t>
            </a:r>
          </a:p>
          <a:p>
            <a:pPr>
              <a:spcAft>
                <a:spcPts val="400"/>
              </a:spcAft>
              <a:defRPr sz="1200">
                <a:solidFill>
                  <a:srgbClr val="B4BAAE"/>
                </a:solidFill>
                <a:latin typeface="Aptos"/>
              </a:defRPr>
            </a:pPr>
            <a:r>
              <a:t>ACP flows deploy session-scoped pool instances, wire config values, validate NxN graph rules, and execute through Starter-driven flow semantics.</a:t>
            </a:r>
          </a:p>
          <a:p>
            <a:pPr>
              <a:spcAft>
                <a:spcPts val="400"/>
              </a:spcAft>
              <a:defRPr sz="1200">
                <a:solidFill>
                  <a:srgbClr val="B4BAAE"/>
                </a:solidFill>
                <a:latin typeface="Aptos"/>
              </a:defRPr>
            </a:pPr>
            <a:r>
              <a:t>Build scripts collect static assets, bundle Django/Python resources, add agent templates, and assemble `pkg.zip`, `Uninstaller.exe`, and `dist/Tlamatini_Release/`; `build.py --self-modify` additionally injects the generated source snapshot, while the explicit private builder can synchronize same-machine contacts into gitignored private staging without exposing them in public output.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HOW THE SOFTWARE IS SHAPED</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Design Principles</a:t>
            </a:r>
          </a:p>
        </p:txBody>
      </p:sp>
      <p:sp>
        <p:nvSpPr>
          <p:cNvPr id="9" name="Rounded Rectangle 8"/>
          <p:cNvSpPr/>
          <p:nvPr/>
        </p:nvSpPr>
        <p:spPr>
          <a:xfrm>
            <a:off x="749808" y="1572768"/>
            <a:ext cx="10561320" cy="43434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7276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73936"/>
            <a:ext cx="10158984" cy="310896"/>
          </a:xfrm>
          <a:prstGeom prst="rect">
            <a:avLst/>
          </a:prstGeom>
          <a:noFill/>
        </p:spPr>
        <p:txBody>
          <a:bodyPr wrap="square" anchor="t" lIns="12700" rIns="76200" tIns="12700" bIns="12700">
            <a:normAutofit/>
          </a:bodyPr>
          <a:lstStyle/>
          <a:p>
            <a:pPr algn="l"/>
            <a:r>
              <a:rPr sz="1400" b="1">
                <a:solidFill>
                  <a:srgbClr val="E0AB5D"/>
                </a:solidFill>
                <a:latin typeface="Aptos"/>
              </a:rPr>
              <a:t>Core design choices</a:t>
            </a:r>
          </a:p>
        </p:txBody>
      </p:sp>
      <p:sp>
        <p:nvSpPr>
          <p:cNvPr id="12" name="TextBox 11"/>
          <p:cNvSpPr txBox="1"/>
          <p:nvPr/>
        </p:nvSpPr>
        <p:spPr>
          <a:xfrm>
            <a:off x="950976" y="2231136"/>
            <a:ext cx="10158984" cy="35387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Evidence-first answers: Tlamatini grounds responses in selected project context and hybrid retrieval rather than freeform model memory.</a:t>
            </a:r>
          </a:p>
          <a:p>
            <a:pPr>
              <a:spcAft>
                <a:spcPts val="400"/>
              </a:spcAft>
              <a:defRPr sz="1300">
                <a:solidFill>
                  <a:srgbClr val="B4BAAE"/>
                </a:solidFill>
                <a:latin typeface="Aptos"/>
              </a:defRPr>
            </a:pPr>
            <a:r>
              <a:t>Explicit orchestration: checked Multi-Turn uses a visible tool loop, capability scoring, and staged planning instead of a single opaque call.</a:t>
            </a:r>
          </a:p>
          <a:p>
            <a:pPr>
              <a:spcAft>
                <a:spcPts val="400"/>
              </a:spcAft>
              <a:defRPr sz="1300">
                <a:solidFill>
                  <a:srgbClr val="B4BAAE"/>
                </a:solidFill>
                <a:latin typeface="Aptos"/>
              </a:defRPr>
            </a:pPr>
            <a:r>
              <a:t>Operational reversibility: risky changes such as database replacement are staged, archived, and delayed to the only safe window instead of hot-swapped mid-session.</a:t>
            </a:r>
          </a:p>
          <a:p>
            <a:pPr>
              <a:spcAft>
                <a:spcPts val="400"/>
              </a:spcAft>
              <a:defRPr sz="1300">
                <a:solidFill>
                  <a:srgbClr val="B4BAAE"/>
                </a:solidFill>
                <a:latin typeface="Aptos"/>
              </a:defRPr>
            </a:pPr>
            <a:r>
              <a:t>Fail-open diagnostics: GPU pressure probes and session-restore safeguards warn early without breaking CPU-only or degraded environments.</a:t>
            </a:r>
          </a:p>
          <a:p>
            <a:pPr>
              <a:spcAft>
                <a:spcPts val="400"/>
              </a:spcAft>
              <a:defRPr sz="1300">
                <a:solidFill>
                  <a:srgbClr val="B4BAAE"/>
                </a:solidFill>
                <a:latin typeface="Aptos"/>
              </a:defRPr>
            </a:pPr>
            <a:r>
              <a:t>Runtime isolation: wrapped chat-agent copies run in session-scoped folders so template agents remain pristine while live runs stay inspectable.</a:t>
            </a:r>
          </a:p>
          <a:p>
            <a:pPr>
              <a:spcAft>
                <a:spcPts val="400"/>
              </a:spcAft>
              <a:defRPr sz="1300">
                <a:solidFill>
                  <a:srgbClr val="B4BAAE"/>
                </a:solidFill>
                <a:latin typeface="Aptos"/>
              </a:defRPr>
            </a:pPr>
            <a:r>
              <a:t>Self-knowledge with scope discipline: she can talk accurately about herself without letting self-reference override a user-loaded project context.</a:t>
            </a:r>
          </a:p>
          <a:p>
            <a:pPr>
              <a:spcAft>
                <a:spcPts val="400"/>
              </a:spcAft>
              <a:defRPr sz="1300">
                <a:solidFill>
                  <a:srgbClr val="B4BAAE"/>
                </a:solidFill>
                <a:latin typeface="Aptos"/>
              </a:defRPr>
            </a:pPr>
            <a:r>
              <a:t>Operator truth over vibes: Exec Report tables, tlamatini.log, skill audits, and ACPX transcripts make the system auditable after execution.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RETRIEVAL CORE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RAG And Context Engine</a:t>
            </a:r>
          </a:p>
        </p:txBody>
      </p:sp>
      <p:sp>
        <p:nvSpPr>
          <p:cNvPr id="9" name="Rounded Rectangle 8"/>
          <p:cNvSpPr/>
          <p:nvPr/>
        </p:nvSpPr>
        <p:spPr>
          <a:xfrm>
            <a:off x="713232" y="1463040"/>
            <a:ext cx="53035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035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01183" cy="310896"/>
          </a:xfrm>
          <a:prstGeom prst="rect">
            <a:avLst/>
          </a:prstGeom>
          <a:noFill/>
        </p:spPr>
        <p:txBody>
          <a:bodyPr wrap="square" anchor="t" lIns="12700" rIns="76200" tIns="12700" bIns="12700">
            <a:normAutofit/>
          </a:bodyPr>
          <a:lstStyle/>
          <a:p>
            <a:pPr algn="l"/>
            <a:r>
              <a:rPr sz="1400" b="1">
                <a:solidFill>
                  <a:srgbClr val="E0AB5D"/>
                </a:solidFill>
                <a:latin typeface="Aptos"/>
              </a:rPr>
              <a:t>RAG responsibilities</a:t>
            </a:r>
          </a:p>
        </p:txBody>
      </p:sp>
      <p:sp>
        <p:nvSpPr>
          <p:cNvPr id="12" name="TextBox 11"/>
          <p:cNvSpPr txBox="1"/>
          <p:nvPr/>
        </p:nvSpPr>
        <p:spPr>
          <a:xfrm>
            <a:off x="914400" y="2121408"/>
            <a:ext cx="4901183"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Load selected file or directory context from the chat interface.</a:t>
            </a:r>
          </a:p>
          <a:p>
            <a:pPr>
              <a:spcAft>
                <a:spcPts val="400"/>
              </a:spcAft>
              <a:defRPr sz="1500">
                <a:solidFill>
                  <a:srgbClr val="B4BAAE"/>
                </a:solidFill>
                <a:latin typeface="Aptos"/>
              </a:defRPr>
            </a:pPr>
            <a:r>
              <a:t>Extract metadata, split text, rank chunks with hybrid retrieval, and respect context budgets.</a:t>
            </a:r>
          </a:p>
          <a:p>
            <a:pPr>
              <a:spcAft>
                <a:spcPts val="400"/>
              </a:spcAft>
              <a:defRPr sz="1500">
                <a:solidFill>
                  <a:srgbClr val="B4BAAE"/>
                </a:solidFill>
                <a:latin typeface="Aptos"/>
              </a:defRPr>
            </a:pPr>
            <a:r>
              <a:t>Fallback to explicit loaded files when retrieval cannot provide enough memory.</a:t>
            </a:r>
          </a:p>
          <a:p>
            <a:pPr>
              <a:spcAft>
                <a:spcPts val="400"/>
              </a:spcAft>
              <a:defRPr sz="1500">
                <a:solidFill>
                  <a:srgbClr val="B4BAAE"/>
                </a:solidFill>
                <a:latin typeface="Aptos"/>
              </a:defRPr>
            </a:pPr>
            <a:r>
              <a:t>Preserve the difference between direct one-shot chat and checked Multi-Turn orchestration.</a:t>
            </a:r>
          </a:p>
        </p:txBody>
      </p:sp>
      <p:sp>
        <p:nvSpPr>
          <p:cNvPr id="13" name="Rounded Rectangle 12"/>
          <p:cNvSpPr/>
          <p:nvPr/>
        </p:nvSpPr>
        <p:spPr>
          <a:xfrm>
            <a:off x="6309360" y="1463040"/>
            <a:ext cx="51206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463040"/>
            <a:ext cx="51206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1664208"/>
            <a:ext cx="4718303" cy="310896"/>
          </a:xfrm>
          <a:prstGeom prst="rect">
            <a:avLst/>
          </a:prstGeom>
          <a:noFill/>
        </p:spPr>
        <p:txBody>
          <a:bodyPr wrap="square" anchor="t" lIns="12700" rIns="76200" tIns="12700" bIns="12700">
            <a:normAutofit/>
          </a:bodyPr>
          <a:lstStyle/>
          <a:p>
            <a:pPr algn="l"/>
            <a:r>
              <a:rPr sz="1400" b="1">
                <a:solidFill>
                  <a:srgbClr val="48BF8F"/>
                </a:solidFill>
                <a:latin typeface="Aptos"/>
              </a:rPr>
              <a:t>Why it matters</a:t>
            </a:r>
          </a:p>
        </p:txBody>
      </p:sp>
      <p:sp>
        <p:nvSpPr>
          <p:cNvPr id="16" name="TextBox 15"/>
          <p:cNvSpPr txBox="1"/>
          <p:nvPr/>
        </p:nvSpPr>
        <p:spPr>
          <a:xfrm>
            <a:off x="6510528" y="2121408"/>
            <a:ext cx="4718303" cy="372160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The assistant answers from project evidence instead of generic memory.</a:t>
            </a:r>
          </a:p>
          <a:p>
            <a:pPr>
              <a:spcAft>
                <a:spcPts val="400"/>
              </a:spcAft>
              <a:defRPr sz="1600">
                <a:solidFill>
                  <a:srgbClr val="B4BAAE"/>
                </a:solidFill>
                <a:latin typeface="Aptos"/>
              </a:defRPr>
            </a:pPr>
            <a:r>
              <a:t>Large codebases remain navigable without injecting the whole repository into every prompt.</a:t>
            </a:r>
          </a:p>
          <a:p>
            <a:pPr>
              <a:spcAft>
                <a:spcPts val="400"/>
              </a:spcAft>
              <a:defRPr sz="1600">
                <a:solidFill>
                  <a:srgbClr val="B4BAAE"/>
                </a:solidFill>
                <a:latin typeface="Aptos"/>
              </a:defRPr>
            </a:pPr>
            <a:r>
              <a:t>Multi-Turn can prefetch only the contexts required by the current execution plan.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AGENTIC EXECUTION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Multi-Turn Oracle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Checked mode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Capability registry scores context providers, tools, and wrapped agents for the current request.</a:t>
            </a:r>
          </a:p>
          <a:p>
            <a:pPr>
              <a:spcAft>
                <a:spcPts val="400"/>
              </a:spcAft>
              <a:defRPr sz="1500">
                <a:solidFill>
                  <a:srgbClr val="B4BAAE"/>
                </a:solidFill>
                <a:latin typeface="Aptos"/>
              </a:defRPr>
            </a:pPr>
            <a:r>
              <a:t>Global planner builds prefetch, execute, monitor, and answer stages.</a:t>
            </a:r>
          </a:p>
          <a:p>
            <a:pPr>
              <a:spcAft>
                <a:spcPts val="400"/>
              </a:spcAft>
              <a:defRPr sz="1500">
                <a:solidFill>
                  <a:srgbClr val="B4BAAE"/>
                </a:solidFill>
                <a:latin typeface="Aptos"/>
              </a:defRPr>
            </a:pPr>
            <a:r>
              <a:t>Explicit tool loop runs tool calls, appends observations, and asks again until final answer or the 4096-turn limit.</a:t>
            </a:r>
          </a:p>
          <a:p>
            <a:pPr>
              <a:spcAft>
                <a:spcPts val="400"/>
              </a:spcAft>
              <a:defRPr sz="1500">
                <a:solidFill>
                  <a:srgbClr val="B4BAAE"/>
                </a:solidFill>
                <a:latin typeface="Aptos"/>
              </a:defRPr>
            </a:pPr>
            <a:r>
              <a:t>Create Flow no longer uses the removed answer classifier; it appears when Multi-Turn has at least one successful agent call.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Unchecked mode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Keeps the original prompt validation and legacy prefetch behavior.</a:t>
            </a:r>
          </a:p>
          <a:p>
            <a:pPr>
              <a:spcAft>
                <a:spcPts val="400"/>
              </a:spcAft>
              <a:defRPr sz="1600">
                <a:solidFill>
                  <a:srgbClr val="B4BAAE"/>
                </a:solidFill>
                <a:latin typeface="Aptos"/>
              </a:defRPr>
            </a:pPr>
            <a:r>
              <a:t>Maintains compatibility for fast Q&amp;A and simple context-grounded answers.</a:t>
            </a:r>
          </a:p>
          <a:p>
            <a:pPr>
              <a:spcAft>
                <a:spcPts val="400"/>
              </a:spcAft>
              <a:defRPr sz="1600">
                <a:solidFill>
                  <a:srgbClr val="B4BAAE"/>
                </a:solidFill>
                <a:latin typeface="Aptos"/>
              </a:defRPr>
            </a:pPr>
            <a:r>
              <a:t>Avoids forcing every chat request into agentic execution.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V1.10.0 SAFETY MODIFIER RETAINED IN THE CURRENT RELEASE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Ask Execs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Introduced in `v1.10.0` and still part of the current release, `Ask Execs` is the Multi-Turn-only safety modifier that makes Tlamatini ask before each state-changing Tool, MCP, wrapped agent, or skill-backed execution instead of running it immediately.</a:t>
            </a:r>
          </a:p>
          <a:p>
            <a:pPr>
              <a:spcAft>
                <a:spcPts val="400"/>
              </a:spcAft>
              <a:defRPr sz="1300">
                <a:solidFill>
                  <a:srgbClr val="B4BAAE"/>
                </a:solidFill>
                <a:latin typeface="Aptos"/>
              </a:defRPr>
            </a:pPr>
            <a:r>
              <a:t>The permission dialog is explicit and auditable: it names the Tool or Agent family, the underlying raw tool name, the full parameters, the program or command to be executed, and the shell or execution surface involved.</a:t>
            </a:r>
          </a:p>
          <a:p>
            <a:pPr>
              <a:spcAft>
                <a:spcPts val="400"/>
              </a:spcAft>
              <a:defRPr sz="1300">
                <a:solidFill>
                  <a:srgbClr val="B4BAAE"/>
                </a:solidFill>
                <a:latin typeface="Aptos"/>
              </a:defRPr>
            </a:pPr>
            <a:r>
              <a:t>Proceed runs that one step and then prompts again at the next state-changing step; Deny halts the entire chain immediately and appends a red `Execution interrupted` banner even when Exec Report itself is off.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Runtime mechanics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Under the hood, `agent/exec_permission.py` provides `ExecPermissionBroker`, which lets the synchronous worker-thread executor emit a permission request onto the WebSocket event loop and then block on a `threading.Event` until the browser replies.</a:t>
            </a:r>
          </a:p>
          <a:p>
            <a:pPr>
              <a:spcAft>
                <a:spcPts val="400"/>
              </a:spcAft>
              <a:defRPr sz="1300">
                <a:solidFill>
                  <a:srgbClr val="B4BAAE"/>
                </a:solidFill>
                <a:latin typeface="Aptos"/>
              </a:defRPr>
            </a:pPr>
            <a:r>
              <a:t>The gate sits after deduplication and quota checks, so skipped calls never prompt and denied calls never appear as executed rows; only work that truly ran lands in Exec Report.</a:t>
            </a:r>
          </a:p>
          <a:p>
            <a:pPr>
              <a:spcAft>
                <a:spcPts val="400"/>
              </a:spcAft>
              <a:defRPr sz="1300">
                <a:solidFill>
                  <a:srgbClr val="B4BAAE"/>
                </a:solidFill>
                <a:latin typeface="Aptos"/>
              </a:defRPr>
            </a:pPr>
            <a:r>
              <a:t>The round-trip is fail-safe: browser disconnect, emit failure, cancel, or broker shutdown all resolve to Deny, so an unconfirmed state-changing action never slips through just because the UI vanished at the wrong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TASKBAR FLASH AND UPPERCASE LOG BANNER WHEN SHE NEEDS YOU</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Windows Attention Issuing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Current mechanism</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current Windows attention path is explicit and local: the browser calls `POST /agent/flash_window/`, and the backend routes that request through `agent/window_flash.py`.</a:t>
            </a:r>
          </a:p>
          <a:p>
            <a:pPr>
              <a:spcAft>
                <a:spcPts val="400"/>
              </a:spcAft>
              <a:defRPr sz="1200">
                <a:solidFill>
                  <a:srgbClr val="B4BAAE"/>
                </a:solidFill>
                <a:latin typeface="Aptos"/>
              </a:defRPr>
            </a:pPr>
            <a:r>
              <a:t>That helper can flash the `Tlamatini.exe` console/taskbar window with `FlashWindowEx` and always prints an uppercase attention banner, so the signal survives in `tlamatini.log` even when the browser is minimized.</a:t>
            </a:r>
          </a:p>
          <a:p>
            <a:pPr>
              <a:spcAft>
                <a:spcPts val="400"/>
              </a:spcAft>
              <a:defRPr sz="1200">
                <a:solidFill>
                  <a:srgbClr val="B4BAAE"/>
                </a:solidFill>
                <a:latin typeface="Aptos"/>
              </a:defRPr>
            </a:pPr>
            <a:r>
              <a:t>Two concrete reasons are wired today: Ask Execs execution approval prompts and Notifier notifications. The path is best-effort and fail-safe, degrading cleanly on non-Windows or windowless launches.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If the browser is buried, Tlamatini still has a local way to pull the operator back at the exact moment an approval prompt or notification matters.</a:t>
            </a:r>
          </a:p>
          <a:p>
            <a:pPr>
              <a:spcAft>
                <a:spcPts val="400"/>
              </a:spcAft>
              <a:defRPr sz="1200">
                <a:solidFill>
                  <a:srgbClr val="B4BAAE"/>
                </a:solidFill>
                <a:latin typeface="Aptos"/>
              </a:defRPr>
            </a:pPr>
            <a:r>
              <a:t>The path is concrete and auditable: `POST /agent/flash_window/`, `window_flash.py`, `FlashWindowEx`, and the matching uppercase banner in `tlamatini.log`.</a:t>
            </a:r>
          </a:p>
          <a:p>
            <a:pPr>
              <a:spcAft>
                <a:spcPts val="400"/>
              </a:spcAft>
              <a:defRPr sz="1200">
                <a:solidFill>
                  <a:srgbClr val="B4BAAE"/>
                </a:solidFill>
                <a:latin typeface="Aptos"/>
              </a:defRPr>
            </a:pPr>
            <a:r>
              <a:t>Because the helper is best-effort and fail-safe, a missed flash never breaks the request path or blocks the surrounding workflow.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V1.11.0 UNINSTALL INTEGRATION RETAINED IN THE CURRENT RELEASE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Windows Installed-App Registration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Introduced in `v1.11.0` and still carried by the current release, the frozen install behaves like a Windows application: `install.py` writes a per-user HKCU Add/Remove Programs entry so Tlamatini appears in Settings -&gt; Apps -&gt; Installed apps and in the legacy Programs and Features list.</a:t>
            </a:r>
          </a:p>
          <a:p>
            <a:pPr>
              <a:spcAft>
                <a:spcPts val="400"/>
              </a:spcAft>
              <a:defRPr sz="1200">
                <a:solidFill>
                  <a:srgbClr val="B4BAAE"/>
                </a:solidFill>
                <a:latin typeface="Aptos"/>
              </a:defRPr>
            </a:pPr>
            <a:r>
              <a:t>The entry carries `DisplayName`, `DisplayVersion`, `InstallLocation`, `DisplayIcon`, `UninstallString`, `QuietUninstallString`, `NoModify`, `NoRepair`, and best-effort `EstimatedSize`, all pointing at the bundled `Uninstaller.exe` without requiring administrator rights.</a:t>
            </a:r>
          </a:p>
          <a:p>
            <a:pPr>
              <a:spcAft>
                <a:spcPts val="400"/>
              </a:spcAft>
              <a:defRPr sz="1200">
                <a:solidFill>
                  <a:srgbClr val="B4BAAE"/>
                </a:solidFill>
                <a:latin typeface="Aptos"/>
              </a:defRPr>
            </a:pPr>
            <a:r>
              <a:t>The matching runtime self-heal in `agent/apps.py` calls `windows_app_registration.self_heal_for_frozen()` on every frozen launch, so installs created before this feature existed can appear in Windows' uninstall UI after the next normal app start.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Packaged installs now show up in normal Windows uninstall surfaces instead of only leaving behind shortcuts and a loose `Uninstaller.exe` in the install folder.</a:t>
            </a:r>
          </a:p>
          <a:p>
            <a:pPr>
              <a:spcAft>
                <a:spcPts val="400"/>
              </a:spcAft>
              <a:defRPr sz="1200">
                <a:solidFill>
                  <a:srgbClr val="B4BAAE"/>
                </a:solidFill>
                <a:latin typeface="Aptos"/>
              </a:defRPr>
            </a:pPr>
            <a:r>
              <a:t>The registration is HKCU-only and non-elevated, matching the installer’s per-user design on Windows 10 and Windows 11.</a:t>
            </a:r>
          </a:p>
          <a:p>
            <a:pPr>
              <a:spcAft>
                <a:spcPts val="400"/>
              </a:spcAft>
              <a:defRPr sz="1200">
                <a:solidFill>
                  <a:srgbClr val="B4BAAE"/>
                </a:solidFill>
                <a:latin typeface="Aptos"/>
              </a:defRPr>
            </a:pPr>
            <a:r>
              <a:t>Because frozen startup self-heals the entry, even older installs can gain the uninstall surface after a later app launch without a reinstall.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V1.60.0-1-GC4DAACC</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Release Identity and Runtime Foundations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Release line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reachable release tag v1.60.0 resolves to cef3995. Current source HEAD is c4daacc, 1 commits beyond that tag. Fetched origin/main resolves to c4daacc. Runtime version resolution remains Git/build-derived. A source revision beyond the tag is not a new tagged release.</a:t>
            </a:r>
          </a:p>
          <a:p>
            <a:pPr>
              <a:spcAft>
                <a:spcPts val="400"/>
              </a:spcAft>
              <a:defRPr sz="1000">
                <a:solidFill>
                  <a:srgbClr val="B4BAAE"/>
                </a:solidFill>
                <a:latin typeface="Aptos"/>
              </a:defRPr>
            </a:pPr>
            <a:r>
              <a:t>Commit `c8cf369` makes console output non-blocking. `manage.py::_ConsoleWriter` drains a bounded 10,000-chunk queue on one daemon thread, while `_TeeStream` writes `tlamatini.log` first on the caller thread. Frozen builds ship `console_quick_edit: false`; source runs leave the developer's terminal mode untouched. Ctrl+C is forced on, verified after the mode change, and the original mode is restored if that bit does not survive. The 600-line `agent/test_console_shield.py` contains 28 focused tests.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MCP, research, service, and privacy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same commit adds the 92-line `welcome_enter_default.js`: the existing Go to Chat link receives focus after login, while a guarded document fallback handles plain Enter only when no button, link, input, or editable element already owns it. Modifier chords, IME composition, claimed events, missing links, and failed focus all fail open. The earlier `00ecdc9` shim still centralizes correct `.exe`, Python, `.cmd`, and `.bat` startup across ACPX and runtime provisioning.</a:t>
            </a:r>
          </a:p>
          <a:p>
            <a:pPr>
              <a:spcAft>
                <a:spcPts val="400"/>
              </a:spcAft>
              <a:defRPr sz="1000">
                <a:solidFill>
                  <a:srgbClr val="B4BAAE"/>
                </a:solidFill>
                <a:latin typeface="Aptos"/>
              </a:defRPr>
            </a:pPr>
            <a:r>
              <a:t>The shared v1.51.2/v1.51.3 tag commit adds `agent/acpx/child_health.py`, live readiness probes, named non-delivery verdicts, and transport overrides. PDFer's upgrade and v1.51.1 program/snippet collision repair remain carried. The repository facts section derives current agent, tool, frontend and migration counts directly from source.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AGENT 88 - MEASURED THROUGHPUT WITH UNCERTAINTY, NOT A SINGLE FLATTERING NUMBER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NetSpeed-Calculator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Measurement method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Actions are `full`, `download`, `upload`, `latency`, `validate`, and `providers`. `validate` checks reachability and `providers` lists the catalog; neither runs a throughput transfer.</a:t>
            </a:r>
          </a:p>
          <a:p>
            <a:pPr>
              <a:spcAft>
                <a:spcPts val="400"/>
              </a:spcAft>
              <a:defRPr sz="1000">
                <a:solidFill>
                  <a:srgbClr val="B4BAAE"/>
                </a:solidFill>
                <a:latin typeface="Aptos"/>
              </a:defRPr>
            </a:pPr>
            <a:r>
              <a:t>Each throughput direction uses parallel TCP flows, discards the configured warmup/slow-start interval, and samples d(bytes)/dt so the excluded ramp cannot contaminate the estimate.</a:t>
            </a:r>
          </a:p>
          <a:p>
            <a:pPr>
              <a:spcAft>
                <a:spcPts val="400"/>
              </a:spcAft>
              <a:defRPr sz="1000">
                <a:solidFill>
                  <a:srgbClr val="B4BAAE"/>
                </a:solidFill>
                <a:latin typeface="Aptos"/>
              </a:defRPr>
            </a:pPr>
            <a:r>
              <a:t>Per-provider samples are cleaned with Tukey-IQR or MAD rejection, summarized with a trimmed mean, and assigned a small-sample Student-t confidence interval.</a:t>
            </a:r>
          </a:p>
          <a:p>
            <a:pPr>
              <a:spcAft>
                <a:spcPts val="400"/>
              </a:spcAft>
              <a:defRPr sz="1000">
                <a:solidFill>
                  <a:srgbClr val="B4BAAE"/>
                </a:solidFill>
                <a:latin typeface="Aptos"/>
              </a:defRPr>
            </a:pPr>
            <a:r>
              <a:t>Cross-provider fusion starts with inverse-variance weighting and switches to DerSimonian-Laird random effects when Cochran's Q shows genuine disagreement; I-squared quantifies heterogeneity.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Safety, evidence, and operation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Bufferbloat is the RTT increase while the link is saturated, graded A+ through F. A fast idle Mbps number does not excuse poor latency under load.</a:t>
            </a:r>
          </a:p>
          <a:p>
            <a:pPr>
              <a:spcAft>
                <a:spcPts val="400"/>
              </a:spcAft>
              <a:defRPr sz="1000">
                <a:solidFill>
                  <a:srgbClr val="B4BAAE"/>
                </a:solidFill>
                <a:latin typeface="Aptos"/>
              </a:defRPr>
            </a:pPr>
            <a:r>
              <a:t>A zero-byte transfer records and reports its endpoint/network cause instead of masquerading as a measured 0.00 Mbps connection.</a:t>
            </a:r>
          </a:p>
          <a:p>
            <a:pPr>
              <a:spcAft>
                <a:spcPts val="400"/>
              </a:spcAft>
              <a:defRPr sz="1000">
                <a:solidFill>
                  <a:srgbClr val="B4BAAE"/>
                </a:solidFill>
                <a:latin typeface="Aptos"/>
              </a:defRPr>
            </a:pPr>
            <a:r>
              <a:t>Full runs commonly transfer 100-200 MB and deliberately saturate the link. The agent is Ask-Execs tier D; run once with explicit operator awareness and do not repeat only to seek a prettier result.</a:t>
            </a:r>
          </a:p>
          <a:p>
            <a:pPr>
              <a:spcAft>
                <a:spcPts val="400"/>
              </a:spcAft>
              <a:defRPr sz="1000">
                <a:solidFill>
                  <a:srgbClr val="B4BAAE"/>
                </a:solidFill>
                <a:latin typeface="Aptos"/>
              </a:defRPr>
            </a:pPr>
            <a:r>
              <a:t>The network/measurement stack uses Python's standard library; existing PyYAML reads `config.yaml`. JSON evidence lands under `&lt;app&gt;/Temp/NetSpeedCalculator`, and `INI_SECTION_NETSPEED_CALCULATOR` feeds Parametrizer/Forker and Exec Report.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VALID DORK SYNTAX, INDEXED-FILE WORKFLOWS, AND A CLEAR RESPONSIBILITY BOUNDARY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Googler Structured Discovery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Builder, presets, and operators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visual/pool Googler compiles structured fields into valid Google syntax: operator colons have no following space, exact phrases are double-quoted, alternatives use uppercase OR inside parentheses, and exclusions use `-term` without a gap.</a:t>
            </a:r>
          </a:p>
          <a:p>
            <a:pPr>
              <a:spcAft>
                <a:spcPts val="400"/>
              </a:spcAft>
              <a:defRPr sz="1000">
                <a:solidFill>
                  <a:srgbClr val="B4BAAE"/>
                </a:solidFill>
                <a:latin typeface="Aptos"/>
              </a:defRPr>
            </a:pPr>
            <a:r>
              <a:t>Presets are `book`, `book_public`, `paper`, `manual`, `docs`, `slides`, `sheets`, and `directory`. A preset fills only empty fields, so an explicit user value always wins.</a:t>
            </a:r>
          </a:p>
          <a:p>
            <a:pPr>
              <a:spcAft>
                <a:spcPts val="400"/>
              </a:spcAft>
              <a:defRPr sz="1000">
                <a:solidFill>
                  <a:srgbClr val="B4BAAE"/>
                </a:solidFill>
                <a:latin typeface="Aptos"/>
              </a:defRPr>
            </a:pPr>
            <a:r>
              <a:t>File aliases expand `ebook`, `book`, `docs`, `slides`, `sheets`, `text`, `code`, and `data`; multiple file types or sites become grouped OR clauses, while excluded sites become `-site:` filters.</a:t>
            </a:r>
          </a:p>
          <a:p>
            <a:pPr>
              <a:spcAft>
                <a:spcPts val="400"/>
              </a:spcAft>
              <a:defRPr sz="1000">
                <a:solidFill>
                  <a:srgbClr val="B4BAAE"/>
                </a:solidFill>
                <a:latin typeface="Aptos"/>
              </a:defRPr>
            </a:pPr>
            <a:r>
              <a:t>The remaining fields cover exact/author phrases; title, URL, text, and anchor operators; alternatives; AROUND proximity; numeric ranges; before/after dates; related/cache/define/source discovery; and term exclusions.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File workflow and responsible use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For PDF, EPUB, document, slide, sheet, code, or data hunts, `content_mode: links_only` is the correct success path: Googler returns URL/title records without trying to extract text from a binary response.</a:t>
            </a:r>
          </a:p>
          <a:p>
            <a:pPr>
              <a:spcAft>
                <a:spcPts val="400"/>
              </a:spcAft>
              <a:defRPr sz="1000">
                <a:solidFill>
                  <a:srgbClr val="B4BAAE"/>
                </a:solidFill>
                <a:latin typeface="Aptos"/>
              </a:defRPr>
            </a:pPr>
            <a:r>
              <a:t>A typical downstream flow is Googler (`links_only`) -&gt; Parametrizer -&gt; Apirer (authorized download) -&gt; File-Extractor or File-Interpreter -&gt; Summarizer. Crawler remains appropriate when the target is an already-known web page.</a:t>
            </a:r>
          </a:p>
          <a:p>
            <a:pPr>
              <a:spcAft>
                <a:spcPts val="400"/>
              </a:spcAft>
              <a:defRPr sz="1000">
                <a:solidFill>
                  <a:srgbClr val="B4BAAE"/>
                </a:solidFill>
                <a:latin typeface="Aptos"/>
              </a:defRPr>
            </a:pPr>
            <a:r>
              <a:t>The direct Multi-Turn `googler` tool accepts equivalent hand-written operators inside `query`; the structured fields and presets belong to the visual/pool agent and must not be advertised as direct-tool parameters.</a:t>
            </a:r>
          </a:p>
          <a:p>
            <a:pPr>
              <a:spcAft>
                <a:spcPts val="400"/>
              </a:spcAft>
              <a:defRPr sz="1000">
                <a:solidFill>
                  <a:srgbClr val="B4BAAE"/>
                </a:solidFill>
                <a:latin typeface="Aptos"/>
              </a:defRPr>
            </a:pPr>
            <a:r>
              <a:t>Googler locates publicly indexed URLs only and does not bypass access controls. Indexing is not permission: copyright, licensing, authorization, downloading, and use remain the operator's responsibility.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PLAIN HTTP FIRST, SEVEN BROWSER ROUTES SECOND, BOUNDED RETRIES, AND HONEST ATTRIBUTION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Googler Search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Measured failure and browser policy</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 measured failure drove the redesign: bundled headless Chromium returned zero results even for a plain control query, and the old single DuckDuckGo fallback returned an error page, while the same dork in visible installed Chrome returned real EPUB URLs.</a:t>
            </a:r>
          </a:p>
          <a:p>
            <a:pPr>
              <a:spcAft>
                <a:spcPts val="400"/>
              </a:spcAft>
              <a:defRPr sz="1000">
                <a:solidFill>
                  <a:srgbClr val="B4BAAE"/>
                </a:solidFill>
                <a:latin typeface="Aptos"/>
              </a:defRPr>
            </a:pPr>
            <a:r>
              <a:t>Tier 0 uses plain `urllib` before any browser: DuckDuckGo HTML, Bing, DuckDuckGo Lite, and Mojeek provide server-rendered pages without browser fingerprints or CSS-selector dependence. v1.50.3 unescapes HTML entities, decodes Bing `ck/a` Base64URL targets, and filters Mojeek's own promotional links before the first non-empty result set wins.</a:t>
            </a:r>
          </a:p>
          <a:p>
            <a:pPr>
              <a:spcAft>
                <a:spcPts val="400"/>
              </a:spcAft>
              <a:defRPr sz="1000">
                <a:solidFill>
                  <a:srgbClr val="B4BAAE"/>
                </a:solidFill>
                <a:latin typeface="Aptos"/>
              </a:defRPr>
            </a:pPr>
            <a:r>
              <a:t>If Tier 0 is empty, Tier 1 defaults to visible installed Chrome, falls back to bundled Chromium, and walks seven direct-result browser routes: DuckDuckGo HTML/Lite, Mojeek, Bing, Google, Brave, Startpage. Headless remains opt-in and more refusal-prone.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Fallback, semantics, and proof</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Each browser route receives `attempts_per_engine` bounded attempts with polite jittered backoff. The log names the route that actually answered instead of implying every result came from Google.</a:t>
            </a:r>
          </a:p>
          <a:p>
            <a:pPr>
              <a:spcAft>
                <a:spcPts val="400"/>
              </a:spcAft>
              <a:defRPr sz="1000">
                <a:solidFill>
                  <a:srgbClr val="B4BAAE"/>
                </a:solidFill>
                <a:latin typeface="Aptos"/>
              </a:defRPr>
            </a:pPr>
            <a:r>
              <a:t>`engines` can pin a browser route such as `[google]` and deliberately skips Tier 0. Empty selection enables both documented tiers; tolerant booleans keep wrapped string `false` from silently becoming true.</a:t>
            </a:r>
          </a:p>
          <a:p>
            <a:pPr>
              <a:spcAft>
                <a:spcPts val="400"/>
              </a:spcAft>
              <a:defRPr sz="1000">
                <a:solidFill>
                  <a:srgbClr val="B4BAAE"/>
                </a:solidFill>
                <a:latin typeface="Aptos"/>
              </a:defRPr>
            </a:pPr>
            <a:r>
              <a:t>`site:` and `filetype:` work broadly, but `before:`, `after:`, `AROUND()`, and numeric-range semantics are Google-specific. A fallback engine may return broader candidates, so exact full-vocabulary work should pin Google and reports must preserve the answering-engine truth.</a:t>
            </a:r>
          </a:p>
          <a:p>
            <a:pPr>
              <a:spcAft>
                <a:spcPts val="400"/>
              </a:spcAft>
              <a:defRPr sz="1000">
                <a:solidFill>
                  <a:srgbClr val="B4BAAE"/>
                </a:solidFill>
                <a:latin typeface="Aptos"/>
              </a:defRPr>
            </a:pPr>
            <a:r>
              <a:t>The 73-test deterministic suite covers query compilation, config defaults, HTTP-before-browser order, seven-route browser order, retry/fallback stopping, pinned-engine Tier-0 bypass, tolerant booleans, and redirect unwrapping. The optional headed dork-hunt harness stores public/open-source proof under Tlamatini `Temp`; the v1.50.3 tag records the first paired-Tlamatinis Googler improvement phase.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BACKUP DB, SET DB, AND STARTUP PROMOTION NOW PRESERVE COMMITTED SQLITE TRUTH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WAL-Safe Database Movement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Consistent copy</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SQLite WAL mode can hold committed pages in `db.sqlite3-wal`, so copying only the main file can silently produce an old backup while claiming success.</a:t>
            </a:r>
          </a:p>
          <a:p>
            <a:pPr>
              <a:spcAft>
                <a:spcPts val="400"/>
              </a:spcAft>
              <a:defRPr sz="1100">
                <a:solidFill>
                  <a:srgbClr val="B4BAAE"/>
                </a:solidFill>
                <a:latin typeface="Aptos"/>
              </a:defRPr>
            </a:pPr>
            <a:r>
              <a:t>`sqlite_copy.consistent_copy()` uses SQLite's online backup API to read through WAL, converts the destination to DELETE journal mode, and requires `PRAGMA quick_check` before success.</a:t>
            </a:r>
          </a:p>
          <a:p>
            <a:pPr>
              <a:spcAft>
                <a:spcPts val="400"/>
              </a:spcAft>
              <a:defRPr sz="1100">
                <a:solidFill>
                  <a:srgbClr val="B4BAAE"/>
                </a:solidFill>
                <a:latin typeface="Aptos"/>
              </a:defRPr>
            </a:pPr>
            <a:r>
              <a:t>Backup DB writes that verified self-contained copy to the selected directory. Set DB writes the same safe form into `DB/ToLoad/db.sqlite3` without touching Django's open live connection.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Sidecar-safe promotion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Before Django imports, `manage.py::_apply_pending_db_swap()` archives the outgoing main database plus WAL/SHM/journal sidecars under `DB/Older/&lt;timestamp&gt;/`.</a:t>
            </a:r>
          </a:p>
          <a:p>
            <a:pPr>
              <a:spcAft>
                <a:spcPts val="400"/>
              </a:spcAft>
              <a:defRPr sz="1100">
                <a:solidFill>
                  <a:srgbClr val="B4BAAE"/>
                </a:solidFill>
                <a:latin typeface="Aptos"/>
              </a:defRPr>
            </a:pPr>
            <a:r>
              <a:t>The swap removes stale sidecars beside the destination before promotion, preventing SQLite from replaying pages belonging to the previous database over the selected replacement.</a:t>
            </a:r>
          </a:p>
          <a:p>
            <a:pPr>
              <a:spcAft>
                <a:spcPts val="400"/>
              </a:spcAft>
              <a:defRPr sz="1100">
                <a:solidFill>
                  <a:srgbClr val="B4BAAE"/>
                </a:solidFill>
                <a:latin typeface="Aptos"/>
              </a:defRPr>
            </a:pPr>
            <a:r>
              <a:t>Database copy truth is fail-safe: unreadable, inconsistent, or unchecked output is failure. The previous live database remains available if promotion cannot finish safely.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GUIDED ONBOARDING, A DEEP-RESEARCH STARTER, AND STRICT PII BOUNDARIES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MCP, Research, And Private Builds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MCP and research lifecycle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External MCP Adder skill's eight-step lifecycle is transport classification, secret-separated configuration, import, Doctor, intentional activation, healthy wait, status/list inspection, and remote call.</a:t>
            </a:r>
          </a:p>
          <a:p>
            <a:pPr>
              <a:spcAft>
                <a:spcPts val="400"/>
              </a:spcAft>
              <a:defRPr sz="1100">
                <a:solidFill>
                  <a:srgbClr val="B4BAAE"/>
                </a:solidFill>
                <a:latin typeface="Aptos"/>
              </a:defRPr>
            </a:pPr>
            <a:r>
              <a:t>Memory and Sequential Thinking remain inactive shipped defaults; deletion tombstones and persistent per-user state are respected, and at most five catalog servers are active at once.</a:t>
            </a:r>
          </a:p>
          <a:p>
            <a:pPr>
              <a:spcAft>
                <a:spcPts val="400"/>
              </a:spcAft>
              <a:defRPr sz="1100">
                <a:solidFill>
                  <a:srgbClr val="B4BAAE"/>
                </a:solidFill>
                <a:latin typeface="Aptos"/>
              </a:defRPr>
            </a:pPr>
            <a:r>
              <a:t>Deep Internet Research is append-only prompt 118 (`getting_started`, `sort_rank=100`). It requests Multi-Turn plus Exec Report for a long, link-rich search and may use authorized MCPs/agents without making them hidden requirements.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Service and privacy boundary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Ollama Pro or higher is the documented minimum tier for complete intended cloud-model operation. This is not sponsorship, and plan pricing/limits must be checked with Ollama.</a:t>
            </a:r>
          </a:p>
          <a:p>
            <a:pPr>
              <a:spcAft>
                <a:spcPts val="400"/>
              </a:spcAft>
              <a:defRPr sz="1100">
                <a:solidFill>
                  <a:srgbClr val="B4BAAE"/>
                </a:solidFill>
                <a:latin typeface="Aptos"/>
              </a:defRPr>
            </a:pPr>
            <a:r>
              <a:t>The explicit private builder merges same-machine contact sources into gitignored `contacts.private.json` using normalized names, alias union, and non-empty-value preservation.</a:t>
            </a:r>
          </a:p>
          <a:p>
            <a:pPr>
              <a:spcAft>
                <a:spcPts val="400"/>
              </a:spcAft>
              <a:defRPr sz="1100">
                <a:solidFill>
                  <a:srgbClr val="B4BAAE"/>
                </a:solidFill>
                <a:latin typeface="Aptos"/>
              </a:defRPr>
            </a:pPr>
            <a:r>
              <a:t>Public builds ship an empty contacts book; self-modify snapshots contain no contact files; generated dossiers never reproduce contact values, credentials, or live catalog secrets.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CLOSED STATUS VOCABULARY, CANONICAL RESULT FIELDS, AND RUNTIME SAFEGUARDS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Execution Truth And Runtime Reliability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Deterministic execution truth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`agent/agent_verdict.py` now owns the CLOSED `KNOWN_STATUSES` union of five disjoint sets: `DIAGNOSTIC_COMPLETED_STATUSES`, `WORK_COMPLETED_STATUSES`, `WORK_DEGRADED_STATUSES`, `WORK_NOT_DONE_STATUSES`, and `AGENT_ERROR_STATUSES`. The first two are green; the last three are red. R8b remains fail-open for unknown runtime input, while `agent/test_status_vocabulary.py` rejects unknown literals before release.</a:t>
            </a:r>
          </a:p>
          <a:p>
            <a:pPr>
              <a:spcAft>
                <a:spcPts val="400"/>
              </a:spcAft>
              <a:defRPr sz="1000">
                <a:solidFill>
                  <a:srgbClr val="B4BAAE"/>
                </a:solidFill>
                <a:latin typeface="Aptos"/>
              </a:defRPr>
            </a:pPr>
            <a:r>
              <a:t>Grepper detects BOM-marked UTF-8/16/32 before cp1252/Latin-1 fallbacks and before the NUL-byte binary test. The self-report outranks process exit code; Kuberneter emits `returncode`, `success`, and semantic `status: ok|failed`. Source-derived tests stop status, supervisor, prompt, and catalog drift.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Database startup safeguard</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`agent/sqlite_copy.py` routes Backup DB, Set DB, and pre-Django hot-swap through SQLite's online backup API. Destinations become self-contained DELETE-journal files, must pass `PRAGMA quick_check`, and keep or clear WAL/SHM/journal sidecars in the correct order before promotion.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V1.48.16 - V1.48.17 SAFETY LINEAGE RETAINED IN THE CURRENT RELEASE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Dialog And Bundle Proof</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Uniform dismissal and themed pop-ups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Frontend dialogs now share one visual language through `dialog_theme.css` and one fail-open dismissal contract through `dialog_policy.js`: an outside click never dismisses, while Escape finds the topmost open dialog and invokes that dialog's own X/Cancel path so permission denials, confirmation-false results, and scroll-lock cleanup remain intact. A sealed downloading updater is the single exception and refuses Escape/reload shortcuts. `tlmAlert` / `tlmConfirm` replace the remaining native pop-ups inside Contacts and External MCP dialogs, while `release_notes_renderer.js` safely renders update notes.</a:t>
            </a:r>
          </a:p>
          <a:p>
            <a:pPr>
              <a:spcAft>
                <a:spcPts val="400"/>
              </a:spcAft>
              <a:defRPr sz="1000">
                <a:solidFill>
                  <a:srgbClr val="B4BAAE"/>
                </a:solidFill>
                <a:latin typeface="Aptos"/>
              </a:defRPr>
            </a:pPr>
            <a:r>
              <a:t>The bubble-phase dispatcher closes only the topmost layer through its own dismiss control; no affirmative action is selected and one Escape cannot close two stacked dialogs.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Frozen payload proof</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`v1.48.16` build proof names fail-open imports explicitly with hidden-import flags, opens the PyInstaller archive it just produced, and aborts if any of seven required `agent.*` modules is genuinely absent. Unreadable archive formats warn rather than fabricate failure, but a readable archive missing a required module cannot ship.</a:t>
            </a:r>
          </a:p>
          <a:p>
            <a:pPr>
              <a:spcAft>
                <a:spcPts val="400"/>
              </a:spcAft>
              <a:defRPr sz="1000">
                <a:solidFill>
                  <a:srgbClr val="B4BAAE"/>
                </a:solidFill>
                <a:latin typeface="Aptos"/>
              </a:defRPr>
            </a:pPr>
            <a:r>
              <a:t>Evidence: 35 focused dismissal-policy tests, a visible headed-Chrome proof runner, the tree-wide `closeOnEscape: false` guard, and build tests for CArchive/PYZ inspection.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CAPTURE, PDF LANGUAGE, AND EXTERNAL-MCP CATALOG BEHAVIOR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Operator Refinements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Menus, logging, and whole-desktop capture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Long operations use `LONG_OPERATION_DISABLED_MENU_BUTTONS` as the single Open/Save/Context/MCPs/Skills/External/Config/DB/Reconnect lock list; disable/restore paths preserve `data-bs-toggle`, while only Check for Updates and Configure Agents receive the targeted extra lock. Application logging now attributes output by user, request, stream, and source line.</a:t>
            </a:r>
          </a:p>
          <a:p>
            <a:pPr>
              <a:spcAft>
                <a:spcPts val="400"/>
              </a:spcAft>
              <a:defRPr sz="1000">
                <a:solidFill>
                  <a:srgbClr val="B4BAAE"/>
                </a:solidFill>
                <a:latin typeface="Aptos"/>
              </a:defRPr>
            </a:pPr>
            <a:r>
              <a:t>Shoter captures the whole desktop by default, supports an exact basename, and emits physical capture bounds, analyzed-image dimensions, monitor geometry and capture time. Unproven geometry is marked unknown. Mouser maps explicit physical/window/screenshot coordinates and rejects ambiguous targets; Keyboarder binds checked Unicode SendInput to a window and stops on focus loss. Input delivery is distinct from verified application success.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Document and MCP refinements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FlowCreator selects from all 89 installed agents, then uses selected guide sections and current configuration/connection contracts. It validates references, branch slots, singleton wiring and Parametrizer mappings, supports bounded repair, and reports failure if the .flw cannot be written. The generated catalog exports field types rather than local configuration values, and deployment refreshes runtime knowledge.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NEW SOURCE, TESTS, MIGRATIONS, HARNESSES, AND INVENTORY EFFECTS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Recent Implementation Assets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Published inventory</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Since the last committed dossier revision, the inspected checkout adds 58 files including 0 untracked working additions. The delta removes 63 paths, including 62 under output/. The current tracked output inventory has 0 files. Local leftovers never establish publication.</a:t>
            </a:r>
          </a:p>
          <a:p>
            <a:pPr>
              <a:spcAft>
                <a:spcPts val="400"/>
              </a:spcAft>
              <a:defRPr sz="1200">
                <a:solidFill>
                  <a:srgbClr val="B4BAAE"/>
                </a:solidFill>
                <a:latin typeface="Aptos"/>
              </a:defRPr>
            </a:pPr>
            <a:r>
              <a:t>New assets include PPTXer's implementation and three migrations, style guides/helpers, desktop input helpers, flow schemas, firmware templates and reusable verifier sources. image.png is a small terminal screenshot, not runtime artwork. Binary files have no line count.</a:t>
            </a:r>
          </a:p>
          <a:p>
            <a:pPr>
              <a:spcAft>
                <a:spcPts val="400"/>
              </a:spcAft>
              <a:defRPr sz="1200">
                <a:solidFill>
                  <a:srgbClr val="B4BAAE"/>
                </a:solidFill>
                <a:latin typeface="Aptos"/>
              </a:defRPr>
            </a:pPr>
            <a:r>
              <a:t>Current inventory: 1,148 tracked files, 374,306 physical text lines, 266,325 effective lines, and 65 binary assets. Counts include source and authored documentation. Ignored galleries, caches and local runtime state are excluded.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Source and evidence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Changes after dossier commit 97b5bac are listed in the Git appendix. PPTXer and document styles join the whole-system coverage. Desktop and flow contracts now distinguish input delivery from application success. Runtime avatar JPGs remain under Tlamatini/agent/static/ despite the removal of the old output corpus.</a:t>
            </a:r>
          </a:p>
          <a:p>
            <a:pPr>
              <a:spcAft>
                <a:spcPts val="400"/>
              </a:spcAft>
              <a:defRPr sz="1000">
                <a:solidFill>
                  <a:srgbClr val="B4BAAE"/>
                </a:solidFill>
                <a:latin typeface="Aptos"/>
              </a:defRPr>
            </a:pPr>
            <a:r>
              <a:t>Git history at 46a18c8 retains the older atomic-renderer report: 313 transitions, 10,609 paints, minimum coverage 100%, reported clean=True. It describes that earlier renderer, not a fresh canvas verification. No automated tests were executed for this refresh, as requested. Document rendering and layout inspection are the only new visual evidence.</a:t>
            </a:r>
          </a:p>
          <a:p>
            <a:pPr>
              <a:spcAft>
                <a:spcPts val="400"/>
              </a:spcAft>
              <a:defRPr sz="1000">
                <a:solidFill>
                  <a:srgbClr val="B4BAAE"/>
                </a:solidFill>
                <a:latin typeface="Aptos"/>
              </a:defRPr>
            </a:pPr>
            <a:r>
              <a:t>Handbook reconciliation: active 108-tool/66-wrapper labels lag the 109/67 source counts. README's clean-tag wording, old totals and output links are stale. It lists Django 5.2.4 versus requirements 5.2.15. Avatar/reduced-motion prose predates the canvas renderer. Book section 50 omits uninstall guards and its ESP32 chapter contradicts the bundled template. This dossier follows inspected source and Git history.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PPTXer Presentations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PPTXer creates editable PowerPoint from text, Markdown, outlines or JSON. Actions: create, outline, render, audit, info, fonts and validate. It supports 16:9, 4:3 and vertical decks with native tables/charts, diagrams and embedded media.</a:t>
            </a:r>
          </a:p>
          <a:p>
            <a:pPr>
              <a:spcAft>
                <a:spcPts val="400"/>
              </a:spcAft>
              <a:defRPr sz="1300">
                <a:solidFill>
                  <a:srgbClr val="B4BAAE"/>
                </a:solidFill>
                <a:latin typeface="Aptos"/>
              </a:defRPr>
            </a:pPr>
            <a:r>
              <a:t>The registry has 36 treatments: 24 content treatments plus 12 explicit visual styles. Empty nuance retains automatic classification. nuance=blueprint or nuance=botanical selects a preset. Color, background, density and font overrides remain available.</a:t>
            </a:r>
          </a:p>
          <a:p>
            <a:pPr>
              <a:spcAft>
                <a:spcPts val="400"/>
              </a:spcAft>
              <a:defRPr sz="1300">
                <a:solidFill>
                  <a:srgbClr val="B4BAAE"/>
                </a:solidFill>
                <a:latin typeface="Aptos"/>
              </a:defRPr>
            </a:pPr>
            <a:r>
              <a:t>Seventeen font pairings resolve against installed fonts. Measurements account for face, tracking, line spacing and text insets. Dense content continues onto additional slides. The 256-character fixtures describe a tested length, not an input limit.</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Read status, layout_clean, ground_truth and report confidence together. created_with_findings requires review. Disabled audits leave the verdict unavailable. Native PowerPoint evidence, LibreOffice and geometric previews have different scopes.</a:t>
            </a:r>
          </a:p>
          <a:p>
            <a:pPr>
              <a:spcAft>
                <a:spcPts val="400"/>
              </a:spcAft>
              <a:defRPr sz="1300">
                <a:solidFill>
                  <a:srgbClr val="B4BAAE"/>
                </a:solidFill>
                <a:latin typeface="Aptos"/>
              </a:defRPr>
            </a:pPr>
            <a:r>
              <a:t>Migrations 0202/0203 register the agent and chat_agent_pptxer. Migration 0204 adds Documents prompts 123/124 at ranks 56/58, between PDFer and LaTeXer. Native rendering needs PowerPoint for its strongest evidence, although writing the deck does not.</a:t>
            </a:r>
          </a:p>
          <a:p>
            <a:pPr>
              <a:spcAft>
                <a:spcPts val="400"/>
              </a:spcAft>
              <a:defRPr sz="1300">
                <a:solidFill>
                  <a:srgbClr val="B4BAAE"/>
                </a:solidFill>
                <a:latin typeface="Aptos"/>
              </a:defRPr>
            </a:pPr>
            <a:r>
              <a:t>Source: agents/pptxer/ and its STYLES.md. The guide records 126 implementation tests and a 151-slide native run for the twelve new 16:9 styles. Those runs were not repeated here. scripts/verify_pptxer_styles.py regenerates the ignored gallery.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PDFer Signature Styles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PDFer adds 24 explicit visual identities across playful, cyberpunk, cosmic, electronics and Tlamatini families. The original 20 semantic themes remain. mode=styles lists IDs and aliases without creating a PDF.</a:t>
            </a:r>
          </a:p>
          <a:p>
            <a:pPr>
              <a:spcAft>
                <a:spcPts val="400"/>
              </a:spcAft>
              <a:defRPr sz="1300">
                <a:solidFill>
                  <a:srgbClr val="B4BAAE"/>
                </a:solidFill>
                <a:latin typeface="Aptos"/>
              </a:defRPr>
            </a:pPr>
            <a:r>
              <a:t>style selects appearance while nuance describes document purpose. For example, style=tlamatini_celestial with nuance=marketing selects a celestial brochure. Legal, clinical and financial semantics keep their no-ornament ceiling.</a:t>
            </a:r>
          </a:p>
          <a:p>
            <a:pPr>
              <a:spcAft>
                <a:spcPts val="400"/>
              </a:spcAft>
              <a:defRPr sz="1300">
                <a:solidFill>
                  <a:srgbClr val="B4BAAE"/>
                </a:solidFill>
                <a:latin typeface="Aptos"/>
              </a:defRPr>
            </a:pPr>
            <a:r>
              <a:t>predominant_color recolors the palette. Explicit role colors, typography and page settings override defaults before contrast repair. Host font availability affects the resolved face. Unknown style names retain the semantic theme with a diagnostic.</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Styles apply to the atelier renderer. Custom-CSS legacy rendering, image-only composition and merged PDFs keep their own layouts. Deterministic vector artwork adds no external image service or font download.</a:t>
            </a:r>
          </a:p>
          <a:p>
            <a:pPr>
              <a:spcAft>
                <a:spcPts val="400"/>
              </a:spcAft>
              <a:defRPr sz="1300">
                <a:solidFill>
                  <a:srgbClr val="B4BAAE"/>
                </a:solidFill>
                <a:latin typeface="Aptos"/>
              </a:defRPr>
            </a:pPr>
            <a:r>
              <a:t>The new helpers measure covers and reserve footer/page-number space. Complete titles can continue across pages. Check layout_clean and the detailed audit, including off-page ink and contrast. status=created alone establishes only file creation.</a:t>
            </a:r>
          </a:p>
          <a:p>
            <a:pPr>
              <a:spcAft>
                <a:spcPts val="400"/>
              </a:spcAft>
              <a:defRPr sz="1300">
                <a:solidFill>
                  <a:srgbClr val="B4BAAE"/>
                </a:solidFill>
                <a:latin typeface="Aptos"/>
              </a:defRPr>
            </a:pPr>
            <a:r>
              <a:t>Source: pdfer_styles.py, pdfer_artwork.py and STYLES.md. The guide records 130 implementation tests and 24 two-page style samples with clean audits. scripts/verify_pdfer_styles.py can regenerate the ignored gallery. No such run occurred here.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LaTeXer Signature Styles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LaTeXer adds 30 explicit styles in six families, independent of its eight document templates. action=list_styles returns IDs, aliases, motifs and style_count=30 without probing or requiring a TeX engine.</a:t>
            </a:r>
          </a:p>
          <a:p>
            <a:pPr>
              <a:spcAft>
                <a:spcPts val="400"/>
              </a:spcAft>
              <a:defRPr sz="1300">
                <a:solidFill>
                  <a:srgbClr val="B4BAAE"/>
                </a:solidFill>
                <a:latin typeface="Aptos"/>
              </a:defRPr>
            </a:pPr>
            <a:r>
              <a:t>Select template=report and style=tlamatini_celestial for a styled report. screen retains the preset ground. print uses white paper. style_decoration accepts none/restrained/rich. style_cover=false gives a compact document title.</a:t>
            </a:r>
          </a:p>
          <a:p>
            <a:pPr>
              <a:spcAft>
                <a:spcPts val="400"/>
              </a:spcAft>
              <a:defRPr sz="1300">
                <a:solidFill>
                  <a:srgbClr val="B4BAAE"/>
                </a:solidFill>
                <a:latin typeface="Aptos"/>
              </a:defRPr>
            </a:pPr>
            <a:r>
              <a:t>Article, report, book, beamer, letter, cv, homework and spanish-article remain distinct structures. Beamer uses a separate frame recipe and retains its title frame when cover art is disabled. Metadata and body remain LaTeX, so escape special characters.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Styles work on scaffolds and fragment compile with auto_preamble=true. Complete TeX sources own their preamble, so an explicit style is refused on that route. Empty/none/plain/default preserves legacy generation. Unknown names fail clearly.</a:t>
            </a:r>
          </a:p>
          <a:p>
            <a:pPr>
              <a:spcAft>
                <a:spcPts val="400"/>
              </a:spcAft>
              <a:defRPr sz="1300">
                <a:solidFill>
                  <a:srgbClr val="B4BAAE"/>
                </a:solidFill>
                <a:latin typeface="Aptos"/>
              </a:defRPr>
            </a:pPr>
            <a:r>
              <a:t>Original TikZ geometry and Latin Modern fonts travel with editable TeX. Assigned text palettes target 4.5:1 contrast. Custom content still needs review. Check status/success before output_path. The runtime has no layout_clean field.</a:t>
            </a:r>
          </a:p>
          <a:p>
            <a:pPr>
              <a:spcAft>
                <a:spcPts val="400"/>
              </a:spcAft>
              <a:defRPr sz="1300">
                <a:solidFill>
                  <a:srgbClr val="B4BAAE"/>
                </a:solidFill>
                <a:latin typeface="Aptos"/>
              </a:defRPr>
            </a:pPr>
            <a:r>
              <a:t>Source: latexer_styles.py, latexer_design.py, latexer_artwork.py and STYLES.md. The guide records 483 tests and 132 fresh real-engine builds at implementation time. scripts/verify_latexer_styles.py regenerates the ignored gallery. No engines ran here.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Desktop Input Contracts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Mouser declares coordinate_space: screen, desktop, normalized, window, window_normalized or screenshot. Physical screen coordinates support negative monitor origins. Monitor gaps and ambiguous targets produce explicit failures.</a:t>
            </a:r>
          </a:p>
          <a:p>
            <a:pPr>
              <a:spcAft>
                <a:spcPts val="400"/>
              </a:spcAft>
              <a:defRPr sz="1300">
                <a:solidFill>
                  <a:srgbClr val="B4BAAE"/>
                </a:solidFill>
                <a:latin typeface="Aptos"/>
              </a:defRPr>
            </a:pPr>
            <a:r>
              <a:t>Shoter reports image dimensions, the physical capture rectangle, monitor geometry and capture time. Screenshot targets require all six geometry fields and Mouser's screenshot space. Cropping/resizing must update the corresponding geometry.</a:t>
            </a:r>
          </a:p>
          <a:p>
            <a:pPr>
              <a:spcAft>
                <a:spcPts val="400"/>
              </a:spcAft>
              <a:defRPr sz="1300">
                <a:solidFill>
                  <a:srgbClr val="B4BAAE"/>
                </a:solidFill>
                <a:latin typeface="Aptos"/>
              </a:defRPr>
            </a:pPr>
            <a:r>
              <a:t>The screenshot transform scales image coordinates into the captured desktop rectangle. It cannot establish which button occupies a point or repair a stale image. Reobserve after movement. inspect reads geometry without sending input.</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Keyboarder binds an HWND/PID, verifies foreground ownership during delivery and stops on focus loss. input_mode=text sends literal Unicode through checked SendInput. sequence keeps key/chord grammar. The clipboard remains untouched.</a:t>
            </a:r>
          </a:p>
          <a:p>
            <a:pPr>
              <a:spcAft>
                <a:spcPts val="400"/>
              </a:spcAft>
              <a:defRPr sz="1300">
                <a:solidFill>
                  <a:srgbClr val="B4BAAE"/>
                </a:solidFill>
                <a:latin typeface="Aptos"/>
              </a:defRPr>
            </a:pPr>
            <a:r>
              <a:t>input_sent proves delivery only. It does not prove editing, saving or application acceptance. Inspect partial-delivery counts and error receipts before replay. Target agents still receive failure notifications, so branch deliberately.</a:t>
            </a:r>
          </a:p>
          <a:p>
            <a:pPr>
              <a:spcAft>
                <a:spcPts val="400"/>
              </a:spcAft>
              <a:defRPr sz="1300">
                <a:solidFill>
                  <a:srgbClr val="B4BAAE"/>
                </a:solidFill>
                <a:latin typeface="Aptos"/>
              </a:defRPr>
            </a:pPr>
            <a:r>
              <a:t>Source: mouser_coordinates.py, keyboarder_input.py and shoter.py. Pool/chat refresh copies the helpers. Serialize desktop control within one interactive session. docs/GUI-Manager-design.md is a proposal, not an installed agent or global broker.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Flow Planning Contracts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FlowCreator first selects from all 89 installed types, then receives relevant guide sections and current schemas. Starter, Ender and Parametrizer remain available. Unknown or unselected types fail validation before publication.</a:t>
            </a:r>
          </a:p>
          <a:p>
            <a:pPr>
              <a:spcAft>
                <a:spcPts val="400"/>
              </a:spcAft>
              <a:defRPr sz="1300">
                <a:solidFill>
                  <a:srgbClr val="B4BAAE"/>
                </a:solidFill>
                <a:latin typeface="Aptos"/>
              </a:defRPr>
            </a:pPr>
            <a:r>
              <a:t>The validator checks references, branch slots, configuration types, singleton wiring and mapping fields. Counter's two branches are explicit. Ender's target_agents is a kill list and output_agents is its execution output.</a:t>
            </a:r>
          </a:p>
          <a:p>
            <a:pPr>
              <a:spcAft>
                <a:spcPts val="400"/>
              </a:spcAft>
              <a:defRPr sz="1300">
                <a:solidFill>
                  <a:srgbClr val="B4BAAE"/>
                </a:solidFill>
                <a:latin typeface="Aptos"/>
              </a:defRPr>
            </a:pPr>
            <a:r>
              <a:t>Bounded requests use llm.num_ctx=65536, max_prompt_chars=180000 and two repair attempts by default. These requests depend on provider support. Graph validation does not establish valid credentials or successful live application behavior.</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Parametrizer registers 53 declared structured-output producers. It preserves CRLF and empty values, converts typed scalar mappings and requires every mapping to succeed before writing or launching the target.</a:t>
            </a:r>
          </a:p>
          <a:p>
            <a:pPr>
              <a:spcAft>
                <a:spcPts val="400"/>
              </a:spcAft>
              <a:defRPr sz="1300">
                <a:solidFill>
                  <a:srgbClr val="B4BAAE"/>
                </a:solidFill>
                <a:latin typeface="Aptos"/>
              </a:defRPr>
            </a:pPr>
            <a:r>
              <a:t>Interrupted desktop segments at config_applied or waiting_target stop for inspection instead of replaying input. FlowHypervisor separates execution, kill and observation relationships and retains current desktop receipts and timing.</a:t>
            </a:r>
          </a:p>
          <a:p>
            <a:pPr>
              <a:spcAft>
                <a:spcPts val="400"/>
              </a:spcAft>
              <a:defRPr sz="1300">
                <a:solidFill>
                  <a:srgbClr val="B4BAAE"/>
                </a:solidFill>
                <a:latin typeface="Aptos"/>
              </a:defRPr>
            </a:pPr>
            <a:r>
              <a:t>services/flow_knowledge.py exports field names/types without local values. Deployment refreshes the shipped catalog and guides. docs/agent-coverage.md records discoverability, not successful execution of every workflow. Catalog and regression scripts were not run here.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Canvas Avatar Presence</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Four opaque 1024x1024 RGB JPGs combine open/closed eyes with neutral/smiling mouth. They share one square viewport. Existing non-rigid expression differences remain.</a:t>
            </a:r>
          </a:p>
          <a:p>
            <a:pPr>
              <a:spcAft>
                <a:spcPts val="400"/>
              </a:spcAft>
              <a:defRPr sz="1300">
                <a:solidFill>
                  <a:srgbClr val="B4BAAE"/>
                </a:solidFill>
                <a:latin typeface="Aptos"/>
              </a:defRPr>
            </a:pPr>
            <a:r>
              <a:t>The former 90 ms full-image opacity transition exposed the dark background. At two half-opaque frames, combined coverage is 75%. The recorded reproduction measured approximately 75.3%. Django collectstatic copied the JPG bytes correctly.</a:t>
            </a:r>
          </a:p>
          <a:p>
            <a:pPr>
              <a:spcAft>
                <a:spcPts val="400"/>
              </a:spcAft>
              <a:defRPr sz="1300">
                <a:solidFill>
                  <a:srgbClr val="B4BAAE"/>
                </a:solidFill>
                <a:latin typeface="Aptos"/>
              </a:defRPr>
            </a:pPr>
            <a:r>
              <a:t>avatar_presence.js now draws four decoded portraits on one 2D canvas. Eye/mouth weights form a convex blend with full coverage. Each corner is pre-scaled on resize. The old opaque image stack remains a fail-open fallback if canvas startup fails.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Native speechSynthesis boundary events anchor a text-derived mouth track. Vowels open it, m/b/p close it, and punctuation introduces rests. Timing falls back to an estimated speaking rate when the voice exposes no word boundaries. There is no audio-amplitude analyzer, video stream, neural lip model or dedicated-GPU requirement.</a:t>
            </a:r>
          </a:p>
          <a:p>
            <a:pPr>
              <a:spcAft>
                <a:spcPts val="400"/>
              </a:spcAft>
              <a:defRPr sz="1200">
                <a:solidFill>
                  <a:srgbClr val="B4BAAE"/>
                </a:solidFill>
                <a:latin typeface="Aptos"/>
              </a:defRPr>
            </a:pPr>
            <a:r>
              <a:t>Blink timing uses 55 ms closing, 25 ms hold and 130 ms opening, with randomized intervals. Adaptive 12/20/30/60 FPS tiers respond to drawing cost. Portrait translation was removed, so the head/body coordinate system remains fixed.</a:t>
            </a:r>
          </a:p>
          <a:p>
            <a:pPr>
              <a:spcAft>
                <a:spcPts val="400"/>
              </a:spcAft>
              <a:defRPr sz="1200">
                <a:solidFill>
                  <a:srgbClr val="B4BAAE"/>
                </a:solidFill>
                <a:latin typeface="Aptos"/>
              </a:defRPr>
            </a:pPr>
            <a:r>
              <a:t>The current presence renderer intentionally keeps animating when the system requests reduced motion. This differs from the earlier atomic renderer. Resize by dragging the corner handle, arrow keys, or double-click presets. The chosen size persists in localStorage. Handle clicks do not trigger the greeting/stop control.</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Visible Avatar Test Runner</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Current canvas regression: .\python\python.exe Tests\run_avatar_tests.py --presence-only --auto-close</a:t>
            </a:r>
          </a:p>
          <a:p>
            <a:pPr>
              <a:spcAft>
                <a:spcPts val="400"/>
              </a:spcAft>
              <a:defRPr sz="1500">
                <a:solidFill>
                  <a:srgbClr val="B4BAAE"/>
                </a:solidFill>
                <a:latin typeface="Aptos"/>
              </a:defRPr>
            </a:pPr>
            <a:r>
              <a:t>Use --check for dependency validation, --prepare-only for database/static preparation, or --auto-close to close the visible browser and its server after passing.</a:t>
            </a:r>
          </a:p>
          <a:p>
            <a:pPr>
              <a:spcAft>
                <a:spcPts val="400"/>
              </a:spcAft>
              <a:defRPr sz="1500">
                <a:solidFill>
                  <a:srgbClr val="B4BAAE"/>
                </a:solidFill>
                <a:latin typeface="Aptos"/>
              </a:defRPr>
            </a:pPr>
            <a:r>
              <a:t>The launcher prepares the isolated Temp/avatar_flash_fix database, applies migrations, creates the ordinary user/changeme test account, runs collectstatic, and starts real Django on 127.0.0.1:8001. It leaves the frozen app and normal database untouched.</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presence suite uses Python Playwright, headed Chrome/Edge/Chromium and disabled GPU acceleration. It checks real canvas pixels, mouth-track correlation, native speech instrumentation, reduced-motion behavior, resizing and a 6x CPU throttle. No Node.js is needed for --presence-only. Simulated speech proves rendering, not microphone ASR.</a:t>
            </a:r>
          </a:p>
          <a:p>
            <a:pPr>
              <a:spcAft>
                <a:spcPts val="400"/>
              </a:spcAft>
              <a:defRPr sz="1100">
                <a:solidFill>
                  <a:srgbClr val="B4BAAE"/>
                </a:solidFill>
                <a:latin typeface="Aptos"/>
              </a:defRPr>
            </a:pPr>
            <a:r>
              <a:t>Current reports and whole-desktop Shoter photographs land in Temp/avatar_presence. Tests/run_presence_tests.ps1 is an alternative launcher. The older default suite uses Node.js and writes output/avatar_flash_fix/visible-test. Its atomic-state assumptions are historical. Use the presence-only command for the current renderer. The generic test credential must not become a production password.</a:t>
            </a:r>
          </a:p>
          <a:p>
            <a:pPr>
              <a:spcAft>
                <a:spcPts val="400"/>
              </a:spcAft>
              <a:defRPr sz="1100">
                <a:solidFill>
                  <a:srgbClr val="B4BAAE"/>
                </a:solidFill>
                <a:latin typeface="Aptos"/>
              </a:defRPr>
            </a:pPr>
            <a:r>
              <a:t>Recorded verification from 2026-09-12: all 74 presence checks passed in a visible browser. The separate Django run passed 110 Whisperer, voice-catalog and Gitter tests. These historical runs were not repeated for this refresh. They do not prove real microphone transcription, audible voice synchronization on every host, or a rebuilt frozen installation.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Whisperer Silence Gate</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Whisperer captures microphone audio itself or accepts an audio file. Local faster-whisper uses GPU when available and falls back to CPU. Cloud Whisper is an alternative engine. Ollama is optional transcript cleanup, never audio ASR.</a:t>
            </a:r>
          </a:p>
          <a:p>
            <a:pPr>
              <a:spcAft>
                <a:spcPts val="400"/>
              </a:spcAft>
              <a:defRPr sz="1200">
                <a:solidFill>
                  <a:srgbClr val="B4BAAE"/>
                </a:solidFill>
                <a:latin typeface="Aptos"/>
              </a:defRPr>
            </a:pPr>
            <a:r>
              <a:t>record_seconds=0 now selects the silence gate. Default trailing silence is 10 s and the hard ceiling is 300 s. A positive record_seconds selects fixed duration in auto mode. Explicit silence_gate=on forces gating, while off uses fixed capture.</a:t>
            </a:r>
          </a:p>
          <a:p>
            <a:pPr>
              <a:spcAft>
                <a:spcPts val="400"/>
              </a:spcAft>
              <a:defRPr sz="1200">
                <a:solidFill>
                  <a:srgbClr val="B4BAAE"/>
                </a:solidFill>
                <a:latin typeface="Aptos"/>
              </a:defRPr>
            </a:pPr>
            <a:r>
              <a:t>A 20 ms RMS callback tracks noise with a 9 dB margin, two-block attack and 3 dB hysteresis. The floor starts at -50 dBFS to retain immediate speech. A 15 s sustained sound rebase handles steady noise. A negative threshold overrides automatic calibration. The console VU includes a silence countdown and stop reason.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The result reports actual duration_seconds and appends capture_mode, stop_reason, silence_timeout_seconds and speech_seconds. A device backend without InputStream uses explicitly labeled fixed_fallback. Parametrizer's generic KV parser accepts the appended fields without a special parser rewrite.</a:t>
            </a:r>
          </a:p>
          <a:p>
            <a:pPr>
              <a:spcAft>
                <a:spcPts val="400"/>
              </a:spcAft>
              <a:defRPr sz="1400">
                <a:solidFill>
                  <a:srgbClr val="B4BAAE"/>
                </a:solidFill>
                <a:latin typeface="Aptos"/>
              </a:defRPr>
            </a:pPr>
            <a:r>
              <a:t>Migration 0200 updates prompt 74, TLAMATINI LISTENS, without changing its identity or ordering. Registry instructions omit duration unless the user requests one. FlowHypervisor tolerates the bounded gate wait and no longer calls it stuck. Existing workflows with positive durations deliberately keep fixed recording.</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Voice Commands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Migration 0201 appends prompts 121 and 122. views.PROMPT_CATEGORY_ORDER places voice_commands first. This is an explicit record-and-transcribe command, not an always-listening assistant or wake-word service.</a:t>
            </a:r>
          </a:p>
          <a:p>
            <a:pPr>
              <a:spcAft>
                <a:spcPts val="400"/>
              </a:spcAft>
              <a:defRPr sz="1300">
                <a:solidFill>
                  <a:srgbClr val="B4BAAE"/>
                </a:solidFill>
                <a:latin typeface="Aptos"/>
              </a:defRPr>
            </a:pPr>
            <a:r>
              <a:t>YOUR FIRST VOICE COMMAND (121) is a read-only rehearsal with Multi-Turn, Step-by-Step and Exec Report, without ACPX. SPEAK YOUR PROMPT (122) enables Multi-Turn, Exec Report and ACPX, with Step-by-Step off. The existing JS classifier derives these modes from prompt text. No frontend asset bump was required for this catalog change.</a:t>
            </a:r>
          </a:p>
          <a:p>
            <a:pPr>
              <a:spcAft>
                <a:spcPts val="400"/>
              </a:spcAft>
              <a:defRPr sz="1300">
                <a:solidFill>
                  <a:srgbClr val="B4BAAE"/>
                </a:solidFill>
                <a:latin typeface="Aptos"/>
              </a:defRPr>
            </a:pPr>
            <a:r>
              <a:t>The second card preserves the author's requested sentence verbatim. Whisperer records until the silence gate closes, then the transcript becomes the next prompt through the existing planner and tools. Omit duration unless the user specifies it.</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Display or read back the transcript verbatim before execution. Stop on empty or engine_unavailable results rather than inventing instructions. Irreversible or external actions require typed confirmation under the voice-command contract.</a:t>
            </a:r>
          </a:p>
          <a:p>
            <a:pPr>
              <a:spcAft>
                <a:spcPts val="400"/>
              </a:spcAft>
              <a:defRPr sz="1500">
                <a:solidFill>
                  <a:srgbClr val="B4BAAE"/>
                </a:solidFill>
                <a:latin typeface="Aptos"/>
              </a:defRPr>
            </a:pPr>
            <a:r>
              <a:t>Coverage spans prompt rule 18e, self-knowledge, FlowCreator, FlowHypervisor and agent-creation guidance. test_voice_commands_catalog.py checks ordering, sentence fidelity and classifier parity. The headed catalog harness checks browser cards and toggles, but does not prove real microphone recognition or spoken task execution.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Grepper Line Reading</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After the v1.51.9 tag, commit 4ae6da6 adds output_mode=lines to Grepper. It reads one text file without a regex. Existing content/files/count search modes remain available. Globber can select the file before the read.</a:t>
            </a:r>
          </a:p>
          <a:p>
            <a:pPr>
              <a:spcAft>
                <a:spcPts val="400"/>
              </a:spcAft>
              <a:defRPr sz="1200">
                <a:solidFill>
                  <a:srgbClr val="B4BAAE"/>
                </a:solidFill>
                <a:latin typeface="Aptos"/>
              </a:defRPr>
            </a:pPr>
            <a:r>
              <a:t>start_line/end_line are 1-based inclusive. Zero means first/last. The implementation clamps endpoints into the file and caps the slice at max_results (default 200). lines_returned, total_lines and truncated describe the returned slice. Directories and binary files are refused.</a:t>
            </a:r>
          </a:p>
          <a:p>
            <a:pPr>
              <a:spcAft>
                <a:spcPts val="400"/>
              </a:spcAft>
              <a:defRPr sz="1200">
                <a:solidFill>
                  <a:srgbClr val="B4BAAE"/>
                </a:solidFill>
                <a:latin typeface="Aptos"/>
              </a:defRPr>
            </a:pPr>
            <a:r>
              <a:t>line_numbers=true prefixes each displayed line with N:. With false, content_b64 carries base64 of the decoded slice encoded as UTF-8, retaining its line endings. Windows text-mode logging can rewrite the readable body. Use the encoded channel when constructing an Editor old_string.</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shared reader checks UTF-8/16/32 BOMs before the NUL-byte binary rule, then uses UTF-8, cp1252 or Latin-1. content_b64 is not a byte-for-byte copy of a UTF-16/cp1252 source file. Editor itself reads/writes UTF-8, so this read capability does not make editing every supported source encoding safe.</a:t>
            </a:r>
          </a:p>
          <a:p>
            <a:pPr>
              <a:spcAft>
                <a:spcPts val="400"/>
              </a:spcAft>
              <a:defRPr sz="1200">
                <a:solidFill>
                  <a:srgbClr val="B4BAAE"/>
                </a:solidFill>
                <a:latin typeface="Aptos"/>
              </a:defRPr>
            </a:pPr>
            <a:r>
              <a:t>The wrapped chat_agent_grepper description and Parametrizer field map include the new contract. Success is listed, while missing paths give not_found. Self-knowledge and FlowCreator describe the read step. TLAMATINI_VERSION: 1.60.0 is now an offline fallback behind live metadata.</a:t>
            </a:r>
          </a:p>
          <a:p>
            <a:pPr>
              <a:spcAft>
                <a:spcPts val="400"/>
              </a:spcAft>
              <a:defRPr sz="1200">
                <a:solidFill>
                  <a:srgbClr val="B4BAAE"/>
                </a:solidFill>
                <a:latin typeface="Aptos"/>
              </a:defRPr>
            </a:pPr>
            <a:r>
              <a:t>Three new assets: test_grepper_lines_mode.py, grepper_lines_visible.py and grepper_login_probe.py. The commit reports 505 passing cases and a headed chat search/read demonstration. Those are historical claims, not results from this refresh. No test, browser harness or app was executed.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Ollama Sampler Defaults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Commits f6404a3 and cb30edf align prompt-only and retrieval defaults: ollama_repeat_penalty=1.2, ollama_repeat_last_n=256 and ollama_num_ctx=1048576. Explicit configuration overrides these factory fallbacks.</a:t>
            </a:r>
          </a:p>
          <a:p>
            <a:pPr>
              <a:spcAft>
                <a:spcPts val="400"/>
              </a:spcAft>
              <a:defRPr sz="1300">
                <a:solidFill>
                  <a:srgbClr val="B4BAAE"/>
                </a:solidFill>
                <a:latin typeface="Aptos"/>
              </a:defRPr>
            </a:pPr>
            <a:r>
              <a:t>Both chains in rag/factory.py pass all three values. mcp_agent.py forwards repeat_last_n when adapting to ChatOllama and includes it in the LLM-PARAMS banner. Previously, setting that config key could not reach this adapter.</a:t>
            </a:r>
          </a:p>
          <a:p>
            <a:pPr>
              <a:spcAft>
                <a:spcPts val="400"/>
              </a:spcAft>
              <a:defRPr sz="1300">
                <a:solidFill>
                  <a:srgbClr val="B4BAAE"/>
                </a:solidFill>
                <a:latin typeface="Aptos"/>
              </a:defRPr>
            </a:pPr>
            <a:r>
              <a:t>Commit f6404a3 reports eight trials per setting on a roughly 78k-token, 117-bound-tool workload. For glm-5.3:cloud, failures fell from 7/8 at penalty 1.9 to 1/8 at 1.2. The historical workload's bound-tool count differs from today's registry total.</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Commit cb30edf isolates lookback with penalty 1.2: glm failures were 5/8 at 64 versus 2/8 at 256, with reported medians 154.0s and 26.3s. Kimi-k3 moved from 0/8 to 1/8 failures and 50.5s to 97.5s. The tradeoff is model-specific.</a:t>
            </a:r>
          </a:p>
          <a:p>
            <a:pPr>
              <a:spcAft>
                <a:spcPts val="400"/>
              </a:spcAft>
              <a:defRPr sz="1200">
                <a:solidFill>
                  <a:srgbClr val="B4BAAE"/>
                </a:solidFill>
                <a:latin typeface="Aptos"/>
              </a:defRPr>
            </a:pPr>
            <a:r>
              <a:t>The commit reports cloud requests exceeding a smaller num_ctx and a server rejection above 1,048,576 tokens for its tested model. This is recorded evidence, not a universal cloud limit. Local models use num_ctx for context allocation, so a 1M setting can demand substantial memory.</a:t>
            </a:r>
          </a:p>
          <a:p>
            <a:pPr>
              <a:spcAft>
                <a:spcPts val="400"/>
              </a:spcAft>
              <a:defRPr sz="1200">
                <a:solidFill>
                  <a:srgbClr val="B4BAAE"/>
                </a:solidFill>
                <a:latin typeface="Aptos"/>
              </a:defRPr>
            </a:pPr>
            <a:r>
              <a:t>README and Book now describe these changes. Performance and context results are attributed to the September 13 commit records, not new validation. No model requests or automated tests ran for this refresh. Lower failure counts do not guarantee every request completes.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Uninstaller Safety</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Commit b07f9d5 adds a gate before confirmation or deletion. The Windows process scan checks executable paths inside the selected installation, with top-level executable-name fallback when an image path is unreadable.</a:t>
            </a:r>
          </a:p>
          <a:p>
            <a:pPr>
              <a:spcAft>
                <a:spcPts val="400"/>
              </a:spcAft>
              <a:defRPr sz="1300">
                <a:solidFill>
                  <a:srgbClr val="B4BAAE"/>
                </a:solidFill>
                <a:latin typeface="Aptos"/>
              </a:defRPr>
            </a:pPr>
            <a:r>
              <a:t>Detected processes appear with PID and evidence in a modal Retry/Exit dialog. Retry rescans and stays blocked while matches remain. Exit and the window close button leave the uninstaller. There is no continue-anyway button.</a:t>
            </a:r>
          </a:p>
          <a:p>
            <a:pPr>
              <a:spcAft>
                <a:spcPts val="400"/>
              </a:spcAft>
              <a:defRPr sz="1300">
                <a:solidFill>
                  <a:srgbClr val="B4BAAE"/>
                </a:solidFill>
                <a:latin typeface="Aptos"/>
              </a:defRPr>
            </a:pPr>
            <a:r>
              <a:t>The detector excludes this uninstaller and the same executable image. Detection errors allow progress by design, so this is best-effort protection. Close Tlamatini cleanly with Ctrl+C in its console before retrying.</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Top-level agents/ always survives. application/, applications/, content_generated/, context_files/ and Temp/ survive when they contain a file at any depth. Unreadable directories count as having content. Empty scaffolding may be removed; arbitrary folders outside this list are not protected.</a:t>
            </a:r>
          </a:p>
          <a:p>
            <a:pPr>
              <a:spcAft>
                <a:spcPts val="400"/>
              </a:spcAft>
              <a:defRPr sz="1200">
                <a:solidFill>
                  <a:srgbClr val="B4BAAE"/>
                </a:solidFill>
                <a:latin typeface="Aptos"/>
              </a:defRPr>
            </a:pPr>
            <a:r>
              <a:t>The final dialog names only the content directories actually preserved. Companion-agent discovery markers remain supported. The window body now builds independently of version-badge resolution, avoiding an empty card when the version is unavailable.</a:t>
            </a:r>
          </a:p>
          <a:p>
            <a:pPr>
              <a:spcAft>
                <a:spcPts val="400"/>
              </a:spcAft>
              <a:defRPr sz="1200">
                <a:solidFill>
                  <a:srgbClr val="B4BAAE"/>
                </a:solidFill>
                <a:latin typeface="Aptos"/>
              </a:defRPr>
            </a:pPr>
            <a:r>
              <a:t>Source assets: agent/test_uninstaller_mechanics.py and the Claude-skill harness uninstaller_visible.py. The commit records 49 mechanics cases and 19/19 disk checks from a visible run with registry/Explorer actions stubbed. These are historical results. Neither runner nor the uninstaller ran here.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Wrapped-Agent Wait Completion</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Commit ac72b6c fixes chat_agent_run_wait in agent/tools.py. The previous loop reread the ChatAgentRun row, but no writer kept that row current during the child's execution. A finished child could therefore consume the full wait budget.</a:t>
            </a:r>
          </a:p>
          <a:p>
            <a:pPr>
              <a:spcAft>
                <a:spcPts val="400"/>
              </a:spcAft>
              <a:defRPr sz="1300">
                <a:solidFill>
                  <a:srgbClr val="B4BAAE"/>
                </a:solidFill>
                <a:latin typeface="Aptos"/>
              </a:defRPr>
            </a:pPr>
            <a:r>
              <a:t>Each poll now calls reconcile_chat_agent_run. That runtime helper checks process liveness, consults the process handle when available, persists the resulting status and stamps finishedAt when it first observes completion.</a:t>
            </a:r>
          </a:p>
          <a:p>
            <a:pPr>
              <a:spcAft>
                <a:spcPts val="400"/>
              </a:spcAft>
              <a:defRPr sz="1300">
                <a:solidFill>
                  <a:srgbClr val="B4BAAE"/>
                </a:solidFill>
                <a:latin typeface="Aptos"/>
              </a:defRPr>
            </a:pPr>
            <a:r>
              <a:t>The loop breaks only outside RUNNING_STATUSES, which includes created and running. It no longer treats a created status alone as completion. This applies to wrapped agents generally, including Whisperer after transcription.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max_seconds defaults to 120 and is clamped to 1-600. Poll cadence defaults to 2 seconds with a 1-second minimum. Expiry returns a status envelope and log excerpt without stopping the child. The caller may wait again or request stop.</a:t>
            </a:r>
          </a:p>
          <a:p>
            <a:pPr>
              <a:spcAft>
                <a:spcPts val="400"/>
              </a:spcAft>
              <a:defRPr sz="1300">
                <a:solidFill>
                  <a:srgbClr val="B4BAAE"/>
                </a:solidFill>
                <a:latin typeface="Aptos"/>
              </a:defRPr>
            </a:pPr>
            <a:r>
              <a:t>waited_seconds counts scheduled sleeps rather than exact wall-clock time. A full final poll sleep can exceed the nominal budget, plus reconciliation overhead. finishedAt remains an observation timestamp, not the OS exit instant.</a:t>
            </a:r>
          </a:p>
          <a:p>
            <a:pPr>
              <a:spcAft>
                <a:spcPts val="400"/>
              </a:spcAft>
              <a:defRPr sz="1300">
                <a:solidFill>
                  <a:srgbClr val="B4BAAE"/>
                </a:solidFill>
                <a:latin typeface="Aptos"/>
              </a:defRPr>
            </a:pPr>
            <a:r>
              <a:t>agent/test_chat_agent_run_wait.py adds five cases covering stale-row avoidance, process reconciliation, unfinished states, early return and timeout behavior. Source reviewed only in this refresh; the cases were not executed.</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Ollama Account-Usage Utility</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ollama_credits.py is a standalone account-usage utility added by commit 36c0139. It does not add a workflow agent, a wrapped tool, a migration or a chat UI. The source uses only Python's standard library.</a:t>
            </a:r>
          </a:p>
          <a:p>
            <a:pPr>
              <a:spcAft>
                <a:spcPts val="400"/>
              </a:spcAft>
              <a:defRPr sz="1300">
                <a:solidFill>
                  <a:srgbClr val="B4BAAE"/>
                </a:solidFill>
                <a:latin typeface="Aptos"/>
              </a:defRPr>
            </a:pPr>
            <a:r>
              <a:t>It reads the operator's local .ollama/id_ed25519 OpenSSH key and constructs timestamped Ed25519 signatures. The key parser accepts an unencrypted ssh-ed25519 key. Keep the key private and review the utility before running it.</a:t>
            </a:r>
          </a:p>
          <a:p>
            <a:pPr>
              <a:spcAft>
                <a:spcPts val="400"/>
              </a:spcAft>
              <a:defRPr sz="1300">
                <a:solidFill>
                  <a:srgbClr val="B4BAAE"/>
                </a:solidFill>
                <a:latin typeface="Aptos"/>
              </a:defRPr>
            </a:pPr>
            <a:r>
              <a:t>The implemented account requests are GET /api/usage and POST /api/me at ollama.com, each with a 20-second timeout. This describes the checked-in implementation; endpoint availability and account responses were not exercised.</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Manual use from the repository root: .\python\python.exe ollama_credits.py. Add --json for the returned account and usage payloads. The console report shows monthly use, model request counts and four-week activity. It pauses for Enter on an interactive terminal.</a:t>
            </a:r>
          </a:p>
          <a:p>
            <a:pPr>
              <a:spcAft>
                <a:spcPts val="400"/>
              </a:spcAft>
              <a:defRPr sz="1200">
                <a:solidFill>
                  <a:srgbClr val="B4BAAE"/>
                </a:solidFill>
                <a:latin typeface="Aptos"/>
              </a:defRPr>
            </a:pPr>
            <a:r>
              <a:t>The card hardcodes a $300 monthly denominator and infers reset day 3 by default. These assumptions may not match the account. --reset-day 0 hides the caption, and --json avoids the derived dollar card. Colored model segments reflect request shares, not measured per-model cost shares.</a:t>
            </a:r>
          </a:p>
          <a:p>
            <a:pPr>
              <a:spcAft>
                <a:spcPts val="400"/>
              </a:spcAft>
              <a:defRPr sz="1200">
                <a:solidFill>
                  <a:srgbClr val="B4BAAE"/>
                </a:solidFill>
                <a:latin typeface="Aptos"/>
              </a:defRPr>
            </a:pPr>
            <a:r>
              <a:t>This documentation refresh did not execute the utility or read account keys. Account email and usage can appear in its output. Redact reports before sharing. The script queries usage; it does not buy, grant or reset credits.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Gitter Windows Paths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Commit 590cb8b repairs Gitter custom_command tokenization on Windows. POSIX shlex treated backslashes as escapes and turned C:\Dev\msg.txt into C:Devmsg.txt.</a:t>
            </a:r>
          </a:p>
          <a:p>
            <a:pPr>
              <a:spcAft>
                <a:spcPts val="400"/>
              </a:spcAft>
              <a:defRPr sz="1300">
                <a:solidFill>
                  <a:srgbClr val="B4BAAE"/>
                </a:solidFill>
                <a:latin typeface="Aptos"/>
              </a:defRPr>
            </a:pPr>
            <a:r>
              <a:t>Windows now uses shlex.split(..., posix=False) plus one matching outer-quote removal. Backslashes survive and quoted multi-word arguments remain single tokens. POSIX hosts retain posix=True. Malformed quotes retain the existing split fallback.</a:t>
            </a:r>
          </a:p>
          <a:p>
            <a:pPr>
              <a:spcAft>
                <a:spcPts val="400"/>
              </a:spcAft>
              <a:defRPr sz="1300">
                <a:solidFill>
                  <a:srgbClr val="B4BAAE"/>
                </a:solidFill>
                <a:latin typeface="Aptos"/>
              </a:defRPr>
            </a:pPr>
            <a:r>
              <a:t>agent/test_gitter_custom_command.py adds 23 tests. The tests AST-load only the two helpers so they do not start a pool agent or write PID/log state. They cover Windows paths, quoted arguments, malformed input, POSIX behavior and source contracts.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Source: agent/agents/gitter/gitter.py. Maintainer record: docs/claude/recent-fixes.md, 2026-09-11 entry. The public handbooks describe Gitter generally but do not yet explain this tokenizer repair. It is committed in the current release ancestry.</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OLDER WAVES STILL CARRIED BY THE CURRENT DOSSIER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Release Continuity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Carried product story</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Parametrizer derives parser membership from 53 structured-output contracts, preserves CRLF/empty fields, checks numeric/Boolean conversions, requires all mappings before writing/launching and blocks automatic replay of interrupted desktop input. FlowHypervisor separates execution branches from kill/observation dependencies and includes current timing and persistent desktop receipts. GUI-Manager remains design only. See docs/desktop-input-and-flow-contracts.md and docs/agent-coverage.md for verification scope and maintenance.</a:t>
            </a:r>
          </a:p>
          <a:p>
            <a:pPr>
              <a:spcAft>
                <a:spcPts val="400"/>
              </a:spcAft>
              <a:defRPr sz="900">
                <a:solidFill>
                  <a:srgbClr val="B4BAAE"/>
                </a:solidFill>
                <a:latin typeface="Aptos"/>
              </a:defRPr>
            </a:pPr>
            <a:r>
              <a:t>PDFer now localizes its own footer/fallback-title labels through `document_language` and forces optional Ollama polish to preserve the source language. External-MCP catalog refinements pin active services first, keep them alphabetized, add active/catalog headings, and preserve focus after rerendering.</a:t>
            </a:r>
          </a:p>
          <a:p>
            <a:pPr>
              <a:spcAft>
                <a:spcPts val="400"/>
              </a:spcAft>
              <a:defRPr sz="900">
                <a:solidFill>
                  <a:srgbClr val="B4BAAE"/>
                </a:solidFill>
                <a:latin typeface="Aptos"/>
              </a:defRPr>
            </a:pPr>
            <a:r>
              <a:t>The binary-content guard, PDFer, LaTeXer repair ladder, FlowCreator, prompt grammar, recon free-run, STM32er PlatformIO/camera demos, and External-MCP structured-result delivery remain carried behavior rather than disappearing behind the latest changes.</a:t>
            </a:r>
          </a:p>
          <a:p>
            <a:pPr>
              <a:spcAft>
                <a:spcPts val="400"/>
              </a:spcAft>
              <a:defRPr sz="900">
                <a:solidFill>
                  <a:srgbClr val="B4BAAE"/>
                </a:solidFill>
                <a:latin typeface="Aptos"/>
              </a:defRPr>
            </a:pPr>
            <a:r>
              <a:t>The private External-MCP runtime, inactive Memory/Sequential-Thinking defaults, tombstones, persistent Memory state, secret-separated catalogs, nested-diagram restoration, Mover/Deleter placement guard, and updater preservation remain carried from the v1.48.14-v1.48.17 lineage.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Documentation contract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The categorized prompt catalog, per-user Hard Cancel epochs, path-native screenshot paste/drop, configurable port, FlowPills discovery, Unreal scaffold, self-healing, robotic loop, firmware/media agents, External MCPs, ACPX skills, and deterministic file tools remain part of the complete product rather than being reduced to a latest-changes summary.</a:t>
            </a:r>
          </a:p>
          <a:p>
            <a:pPr>
              <a:spcAft>
                <a:spcPts val="400"/>
              </a:spcAft>
              <a:defRPr sz="900">
                <a:solidFill>
                  <a:srgbClr val="B4BAAE"/>
                </a:solidFill>
                <a:latin typeface="Aptos"/>
              </a:defRPr>
            </a:pPr>
            <a:r>
              <a:t>README.md and BookOfTlamatini.md retain the complete MIT-licensed installation, Ollama setup, architecture, everyday-use, agent, and responsibility narrative. The plain-Python agent disclaimer is explicit: transparency enables user control but is not a security warranty, and authorization, review, permissions, and consequences remain the operator's responsibility.</a:t>
            </a:r>
          </a:p>
          <a:p>
            <a:pPr>
              <a:spcAft>
                <a:spcPts val="400"/>
              </a:spcAft>
              <a:defRPr sz="900">
                <a:solidFill>
                  <a:srgbClr val="B4BAAE"/>
                </a:solidFill>
                <a:latin typeface="Aptos"/>
              </a:defRPr>
            </a:pPr>
            <a:r>
              <a:t>The reachable release tag v1.60.0 resolves to cef3995. Current source HEAD is c4daacc, 1 commits beyond that tag. Fetched origin/main resolves to c4daacc. Runtime version resolution remains Git/build-derived. A source revision beyond the tag is not a new tagged release.</a:t>
            </a:r>
          </a:p>
          <a:p>
            <a:pPr>
              <a:spcAft>
                <a:spcPts val="400"/>
              </a:spcAft>
              <a:defRPr sz="900">
                <a:solidFill>
                  <a:srgbClr val="B4BAAE"/>
                </a:solidFill>
                <a:latin typeface="Aptos"/>
              </a:defRPr>
            </a:pPr>
            <a:r>
              <a:t>The inventory is rebuilt from Git-tracked plus Git-unignored files without reproducing credentials, endpoints, private values, or machine-specific configuration. This generation pass does not stage, commit, or push anything.</a:t>
            </a:r>
          </a:p>
          <a:p>
            <a:pPr>
              <a:spcAft>
                <a:spcPts val="400"/>
              </a:spcAft>
              <a:defRPr sz="900">
                <a:solidFill>
                  <a:srgbClr val="B4BAAE"/>
                </a:solidFill>
                <a:latin typeface="Aptos"/>
              </a:defRPr>
            </a:pPr>
            <a:r>
              <a:t>The regenerated PDF/PPTX preserve the whole system, architecture, installation/use guidance, recent Git history, complete file tree, effective-line inventory, and validation evidence; target behavior and tagged historical predecessors are described separately.</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V1.41.4 - SUCCESSFUL SERVER DATA REACHES THE MODEL</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External MCP Structured Results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Failure mechanism</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Modern MCP servers may return a short human-readable pointer in `content` while placing the actual result in `structuredContent`; the old parser discarded that machine-readable payload.</a:t>
            </a:r>
          </a:p>
          <a:p>
            <a:pPr>
              <a:spcAft>
                <a:spcPts val="400"/>
              </a:spcAft>
              <a:defRPr sz="1100">
                <a:solidFill>
                  <a:srgbClr val="B4BAAE"/>
                </a:solidFill>
                <a:latin typeface="Aptos"/>
              </a:defRPr>
            </a:pPr>
            <a:r>
              <a:t>Without the actual data, the model could repeat the same valid tool call until Tlamatini's repetition breaker force-stopped the run, making a successful external server appear to auto-cancel.</a:t>
            </a:r>
          </a:p>
          <a:p>
            <a:pPr>
              <a:spcAft>
                <a:spcPts val="400"/>
              </a:spcAft>
              <a:defRPr sz="1100">
                <a:solidFill>
                  <a:srgbClr val="B4BAAE"/>
                </a:solidFill>
                <a:latin typeface="Aptos"/>
              </a:defRPr>
            </a:pPr>
            <a:r>
              <a:t>`_format_mcp_tool_result` is now the single formatter used by both `_StdioMcpClient.call_tool` and `_NetworkMcpClientBase.call_tool`, so transport choice no longer changes result fidelity.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Unified transport path</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Text blocks and non-text content are retained, while a sole `{"result": ...}` structured envelope is unwrapped before JSON serialization.</a:t>
            </a:r>
          </a:p>
          <a:p>
            <a:pPr>
              <a:spcAft>
                <a:spcPts val="400"/>
              </a:spcAft>
              <a:defRPr sz="1100">
                <a:solidFill>
                  <a:srgbClr val="B4BAAE"/>
                </a:solidFill>
                <a:latin typeface="Aptos"/>
              </a:defRPr>
            </a:pPr>
            <a:r>
              <a:t>`isError` still returns an explicit error and can now include structured-only error details; non-dict results are stringified safely.</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CONTEXT PROTECTION, ERRORS, AND REGRESSION PROOF</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Structured Output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Payload safety</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Structured payloads are capped at 24,000 characters by default with an explicit truncation marker, protecting the model context from unexpectedly huge tool responses.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Coverage and release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Seven tests cover pointer-plus-data, unchanged plain text, envelope unwrapping, text and structured-only errors, payload capping, and non-dict input.</a:t>
            </a:r>
          </a:p>
          <a:p>
            <a:pPr>
              <a:spcAft>
                <a:spcPts val="400"/>
              </a:spcAft>
              <a:defRPr sz="1100">
                <a:solidFill>
                  <a:srgbClr val="B4BAAE"/>
                </a:solidFill>
                <a:latin typeface="Aptos"/>
              </a:defRPr>
            </a:pPr>
            <a:r>
              <a:t>The fix is released as `v1.41.4` at `cec16594` and is present on `origin/main`.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PUBLISHED IN TAGGED V1.42.0</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STM32er PlatformIO Release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Routing and coverage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Release status: STM32er PlatformIO Phase 1 was published in tagged `v1.42.0` at `c58b01ad`.</a:t>
            </a:r>
          </a:p>
          <a:p>
            <a:pPr>
              <a:spcAft>
                <a:spcPts val="400"/>
              </a:spcAft>
              <a:defRPr sz="1000">
                <a:solidFill>
                  <a:srgbClr val="B4BAAE"/>
                </a:solidFill>
                <a:latin typeface="Aptos"/>
              </a:defRPr>
            </a:pPr>
            <a:r>
              <a:t>`stm32_backend=auto` keeps the legacy Template-MCP path for blank/STM32F4 requests, but a board, a non-F4 device, or a PlatformIO-only action routes to the new direct PlatformIO backend.</a:t>
            </a:r>
          </a:p>
          <a:p>
            <a:pPr>
              <a:spcAft>
                <a:spcPts val="400"/>
              </a:spcAft>
              <a:defRPr sz="1000">
                <a:solidFill>
                  <a:srgbClr val="B4BAAE"/>
                </a:solidFill>
                <a:latin typeface="Aptos"/>
              </a:defRPr>
            </a:pPr>
            <a:r>
              <a:t>Friendly board aliases and device-to-board mappings include the STM32F103 Blue Pill, while raw PlatformIO board ids remain accepted for broader `ststm32` coverage.</a:t>
            </a:r>
          </a:p>
          <a:p>
            <a:pPr>
              <a:spcAft>
                <a:spcPts val="400"/>
              </a:spcAft>
              <a:defRPr sz="1000">
                <a:solidFill>
                  <a:srgbClr val="B4BAAE"/>
                </a:solidFill>
                <a:latin typeface="Aptos"/>
              </a:defRPr>
            </a:pPr>
            <a:r>
              <a:t>The backend mirrors ESP32er's zero-config bootstrap and shared per-user PlatformIO core, then supports environment, board, project, source, package, build, upload, monitor, QA, and artifact actions.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Preflight and safe composite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 preflight resolves the board/family, validates `platformio.ini`, probes PlatformIO and ST-LINK readiness, and requires hardware only for upload/monitor operations; compile-only actions remain boardless-safe.</a:t>
            </a:r>
          </a:p>
          <a:p>
            <a:pPr>
              <a:spcAft>
                <a:spcPts val="400"/>
              </a:spcAft>
              <a:defRPr sz="1000">
                <a:solidFill>
                  <a:srgbClr val="B4BAAE"/>
                </a:solidFill>
                <a:latin typeface="Aptos"/>
              </a:defRPr>
            </a:pPr>
            <a:r>
              <a:t>`scaffold_build_flash` creates or reuses a project, writes source, builds, and flashes only when ST-LINK is confidently detected; otherwise a successful build is reported with a clear connect-and-flash next step.</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WHAT STM32ER PHASE 1 IMPLEMENTS AND WHAT REMAINS PLANNED</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PlatformIO Coverage Boundary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Deliberate refusal</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broad family parser recognizes the full ST line, but PlatformIO-incompatible newest families C0/H5/U0/WBA/N6 are deliberately refused instead of risking an incorrect linker or target.</a:t>
            </a:r>
          </a:p>
          <a:p>
            <a:pPr>
              <a:spcAft>
                <a:spcPts val="400"/>
              </a:spcAft>
              <a:defRPr sz="1100">
                <a:solidFill>
                  <a:srgbClr val="B4BAAE"/>
                </a:solidFill>
                <a:latin typeface="Aptos"/>
              </a:defRPr>
            </a:pPr>
            <a:r>
              <a:t>The planned CubeCLT/CubeMX backend remains proposal-only for those newest devices, especially STM32N6 signing and external-flash requirements.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New assets and tests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New assets include the all-families proposal and migrations `0177`-`0179`: one-call Blue Pill build/conditional flash, two stepwise camera-verified board walkthroughs, then a deliberate category-grouped no-gap catalog renumber.</a:t>
            </a:r>
          </a:p>
          <a:p>
            <a:pPr>
              <a:spcAft>
                <a:spcPts val="400"/>
              </a:spcAft>
              <a:defRPr sz="1000">
                <a:solidFill>
                  <a:srgbClr val="B4BAAE"/>
                </a:solidFill>
                <a:latin typeface="Aptos"/>
              </a:defRPr>
            </a:pPr>
            <a:r>
              <a:t>Registry, contracts, wrapped-tool defaults, config, agent code, descriptions, and tests move together; focused coverage pins family/routing safety plus catalog contiguity, prompt-name identity, category ordering, and demo presence.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BLUE PILL AND F407 DISCOVERY FROM DRIVER TO CAMERA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STM32 Stepwise Proof Demos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Migration `0178_add_stm32_stepwise_blink_camera_prompts.py` adds two `firmware_iot` walkthroughs: STM32F103 Blue Pill over an external ST-LINK V2 and STM32F407G-DISC1 over its embedded ST-LINK/V2.</a:t>
            </a:r>
          </a:p>
          <a:p>
            <a:pPr>
              <a:spcAft>
                <a:spcPts val="400"/>
              </a:spcAft>
              <a:defRPr sz="1000">
                <a:solidFill>
                  <a:srgbClr val="B4BAAE"/>
                </a:solidFill>
                <a:latin typeface="Aptos"/>
              </a:defRPr>
            </a:pPr>
            <a:r>
              <a:t>Both prompts require Multi-Turn, Exec Report, and Step-by-Step mode, execute exactly one stage per turn, wait for the operator's `READY`, and verify each prerequisite before moving forward.</a:t>
            </a:r>
          </a:p>
          <a:p>
            <a:pPr>
              <a:spcAft>
                <a:spcPts val="400"/>
              </a:spcAft>
              <a:defRPr sz="1000">
                <a:solidFill>
                  <a:srgbClr val="B4BAAE"/>
                </a:solidFill>
                <a:latin typeface="Aptos"/>
              </a:defRPr>
            </a:pPr>
            <a:r>
              <a:t>The six-stage Blue Pill path covers driver/CLI readiness, four-wire SWD wiring and probe detection, PlatformIO bootstrap, project/source/build, ST-LINK flash, and camera proof of the PC13 LED.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Hardware and evidence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five-stage Discovery path uses the board's ST-LINK USB port, then bootstrap, project/source/build, embedded-probe flash, and camera proof of the green PD12 LED.</a:t>
            </a:r>
          </a:p>
          <a:p>
            <a:pPr>
              <a:spcAft>
                <a:spcPts val="400"/>
              </a:spcAft>
              <a:defRPr sz="1000">
                <a:solidFill>
                  <a:srgbClr val="B4BAAE"/>
                </a:solidFill>
                <a:latin typeface="Aptos"/>
              </a:defRPr>
            </a:pPr>
            <a:r>
              <a:t>Final evidence comes from `chat_agent_camcorder`; the prompt may pass the clip to Video-Analyzer or Image-Interpreter and must return a clear PASS or FAIL with the saved file path.</a:t>
            </a:r>
          </a:p>
          <a:p>
            <a:pPr>
              <a:spcAft>
                <a:spcPts val="400"/>
              </a:spcAft>
              <a:defRPr sz="1000">
                <a:solidFill>
                  <a:srgbClr val="B4BAAE"/>
                </a:solidFill>
                <a:latin typeface="Aptos"/>
              </a:defRPr>
            </a:pPr>
            <a:r>
              <a:t>These are seeded demonstrations and operator procedures, not a claim that hardware verification occurred during dossier generation.</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V1.42.0 - DELIBERATE ONE-TIME PRIMARY-KEY MIGRATION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Prompt Catalog No-Gap Renumber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Migration mechanics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Released migration `0179_regroup_resort_prompts_no_gaps.py` is a one-time deliberate override of the earlier no-renumber convention; it runs after the two new STM32 walkthroughs are appended.</a:t>
            </a:r>
          </a:p>
          <a:p>
            <a:pPr>
              <a:spcAft>
                <a:spcPts val="400"/>
              </a:spcAft>
              <a:defRPr sz="1000">
                <a:solidFill>
                  <a:srgbClr val="B4BAAE"/>
                </a:solidFill>
                <a:latin typeface="Aptos"/>
              </a:defRPr>
            </a:pPr>
            <a:r>
              <a:t>Every Prompt is sorted by the same category-display rank used by the UI and then by its prior id, so each category becomes one contiguous block from beginner workflows through specialized surfaces and the `other` fallback.</a:t>
            </a:r>
          </a:p>
          <a:p>
            <a:pPr>
              <a:spcAft>
                <a:spcPts val="400"/>
              </a:spcAft>
              <a:defRPr sz="1000">
                <a:solidFill>
                  <a:srgbClr val="B4BAAE"/>
                </a:solidFill>
                <a:latin typeface="Aptos"/>
              </a:defRPr>
            </a:pPr>
            <a:r>
              <a:t>Because `idPrompt` is the primary key, the migration first parks rows above 1,000,000 and then assigns final ids 1..N, avoiding collisions while rewriting `promptName` to `prompt-&lt;id&gt;`.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Boundaries and proof</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migration is intentionally one-way: reverse is a no-op because original ids are not stored; the source documents that no runtime foreign key references fixed prompt numbers.</a:t>
            </a:r>
          </a:p>
          <a:p>
            <a:pPr>
              <a:spcAft>
                <a:spcPts val="400"/>
              </a:spcAft>
              <a:defRPr sz="1000">
                <a:solidFill>
                  <a:srgbClr val="B4BAAE"/>
                </a:solidFill>
                <a:latin typeface="Aptos"/>
              </a:defRPr>
            </a:pPr>
            <a:r>
              <a:t>Future additions still append at max(idPrompt)+1, preserving contiguity until another deletion; the frontend's gap-tolerant fallback remains a defensive compatibility path.</a:t>
            </a:r>
          </a:p>
          <a:p>
            <a:pPr>
              <a:spcAft>
                <a:spcPts val="400"/>
              </a:spcAft>
              <a:defRPr sz="1000">
                <a:solidFill>
                  <a:srgbClr val="B4BAAE"/>
                </a:solidFill>
                <a:latin typeface="Aptos"/>
              </a:defRPr>
            </a:pPr>
            <a:r>
              <a:t>`test_prompt_catalog_contiguous.py` adds four database tests for no gaps, promptName/id agreement, nondecreasing category rank, and presence of both STM32 board demos plus Camcorder evidence.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V1.41.3 - 13 CATEGORIES AND DUPLICATE REMOVAL</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Prompt Catalog Reorganized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Migration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Migration `0175_prompt_category_and_dedup.py` classifies the 106 historical prompt rows into 13 named operator categories, from Getting Started and Files/Search through ACPX, firmware, security, messaging, media, and a fail-safe More bucket.</a:t>
            </a:r>
          </a:p>
          <a:p>
            <a:pPr>
              <a:spcAft>
                <a:spcPts val="400"/>
              </a:spcAft>
              <a:defRPr sz="1000">
                <a:solidFill>
                  <a:srgbClr val="B4BAAE"/>
                </a:solidFill>
                <a:latin typeface="Aptos"/>
              </a:defRPr>
            </a:pPr>
            <a:r>
              <a:t>Migration `0176_delete_duplicate_acpx_prompts.py` physically deletes ids 40-52: 13 banner/Gemini variants that duplicate the seven portable ACPX demos retained at ids 33-39; surviving ids are never renumbered.</a:t>
            </a:r>
          </a:p>
          <a:p>
            <a:pPr>
              <a:spcAft>
                <a:spcPts val="400"/>
              </a:spcAft>
              <a:defRPr sz="1000">
                <a:solidFill>
                  <a:srgbClr val="B4BAAE"/>
                </a:solidFill>
                <a:latin typeface="Aptos"/>
              </a:defRPr>
            </a:pPr>
            <a:r>
              <a:t>Gaps are now valid. `/agent/list_prompts/` returns all visible rows regardless of id continuity, and the offline `prompt-N` fallback skips a missing id instead of terminating the catalog at the first gap.</a:t>
            </a:r>
          </a:p>
          <a:p>
            <a:pPr>
              <a:spcAft>
                <a:spcPts val="400"/>
              </a:spcAft>
              <a:defRPr sz="1000">
                <a:solidFill>
                  <a:srgbClr val="B4BAAE"/>
                </a:solidFill>
                <a:latin typeface="Aptos"/>
              </a:defRPr>
            </a:pPr>
            <a:r>
              <a:t>`Prompt.category` and `Prompt.hidden` remain schema-level controls, while `PROMPT_CATEGORY_ORDER` gives every known category a stable display rank and routes unknown or future values into `other` rather than dropping them.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Stable identity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modal renders explicit category headers and counts, then restores that grouped basic-to-advanced order whenever the search query clears.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GROUPED AT REST, RANKED AND FLATTENED WHILE SEARCHING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Prompt Catalog Search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Search behavior</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Live search accepts a prompt number, title words, mode labels, acronym, contiguous text, or fuzzy subsequence; it requires every query token, ranks best-first, highlights matched characters, and exposes Enter-to-open plus Escape/clear behavior.</a:t>
            </a:r>
          </a:p>
          <a:p>
            <a:pPr>
              <a:spcAft>
                <a:spcPts val="400"/>
              </a:spcAft>
              <a:defRPr sz="1100">
                <a:solidFill>
                  <a:srgbClr val="B4BAAE"/>
                </a:solidFill>
                <a:latin typeface="Aptos"/>
              </a:defRPr>
            </a:pPr>
            <a:r>
              <a:t>Prompt cards retain their One-Shot, Multi-Turn, ACPX, Exec Report, and Step-by-Step mode badges and continue to set the matching toolbar toggles when selected.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Viewport contract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catalog stays viewport-pinned and bounded in CSS so its header and search bar remain reachable independently of the chat input height, with no JavaScript geometry coupling reintroduced.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V1.41.2 - CANCELLED RUNS STAY CANCELLED</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Hard Cancel Run Latch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Per-user epoch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`agent/cancellation.py` mints a monotonically increasing run epoch per user and permanently latches the highest cancelled epoch; clearing the legacy setup boolean can no longer resurrect that run.</a:t>
            </a:r>
          </a:p>
          <a:p>
            <a:pPr>
              <a:spcAft>
                <a:spcPts val="400"/>
              </a:spcAft>
              <a:defRPr sz="1000">
                <a:solidFill>
                  <a:srgbClr val="B4BAAE"/>
                </a:solidFill>
                <a:latin typeface="Aptos"/>
              </a:defRPr>
            </a:pPr>
            <a:r>
              <a:t>Cancellation is isolated per user, so a browser tab cannot kill another user's TeleTlamatini or concurrent browser run; a missing epoch is deliberately fail-open so a dropped payload field cannot poison all future requests.</a:t>
            </a:r>
          </a:p>
          <a:p>
            <a:pPr>
              <a:spcAft>
                <a:spcPts val="400"/>
              </a:spcAft>
              <a:defRPr sz="1000">
                <a:solidFill>
                  <a:srgbClr val="B4BAAE"/>
                </a:solidFill>
                <a:latin typeface="Aptos"/>
              </a:defRPr>
            </a:pPr>
            <a:r>
              <a:t>`ask_rag`, both unified-chain payload rebuilds, and `CapabilityAwareToolAgentExecutor` carry and check `run_epoch`, closing the prior gap where model retries or tool loops could continue after Cancel.</a:t>
            </a:r>
          </a:p>
          <a:p>
            <a:pPr>
              <a:spcAft>
                <a:spcPts val="400"/>
              </a:spcAft>
              <a:defRPr sz="1000">
                <a:solidFill>
                  <a:srgbClr val="B4BAAE"/>
                </a:solidFill>
                <a:latin typeface="Aptos"/>
              </a:defRPr>
            </a:pPr>
            <a:r>
              <a:t>The executor returns a structured cancelled result instead of raising, preserving already-completed tool evidence, Exec Report data, and Create Flow inputs without triggering a fabricated transient-error fallback.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Self-healing consults the same latch before retries, after watchdog waits, and before tactic announcements, so no new recovery tactic can be emitted once the operator cancels.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APPROVAL, RECOVERY, FRONTEND, AND REGRESSION COVERAGE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Hard Cancel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No resurrection</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Ask Execs polls the run latch and resolves a blocked Proceed/Deny request as deny; consumer teardown revokes the exact status emitter so a dying run cannot re-arm the UI.</a:t>
            </a:r>
          </a:p>
          <a:p>
            <a:pPr>
              <a:spcAft>
                <a:spcPts val="400"/>
              </a:spcAft>
              <a:defRPr sz="1100">
                <a:solidFill>
                  <a:srgbClr val="B4BAAE"/>
                </a:solidFill>
                <a:latin typeface="Aptos"/>
              </a:defRPr>
            </a:pPr>
            <a:r>
              <a:t>Frontend `userCancelledRun` is mutable per-session state: late tactic frames become strict no-ops until the next submit/reconnect, preventing the Send button from flipping back to Cancel.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Coverage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Coverage includes 24 cancellation contract tests, focused Ask-Execs/self-healing tests, and visible browser regression harnesses for long tool chains, model steps, repeated cancels, next-request recovery, and approval-modal cancellation.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V1.41.0 - PASTE OR DROP AN IMAGE PATH INTO THE PROMPT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Screenshot To Chat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Ingestion path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chat accepts clipboard bitmaps through document-level Ctrl+V handling and image files dropped only onto the main chat column, avoiding conflict with the External-MCP dialog's document-level JSON drop surface.</a:t>
            </a:r>
          </a:p>
          <a:p>
            <a:pPr>
              <a:spcAft>
                <a:spcPts val="400"/>
              </a:spcAft>
              <a:defRPr sz="1000">
                <a:solidFill>
                  <a:srgbClr val="B4BAAE"/>
                </a:solidFill>
                <a:latin typeface="Aptos"/>
              </a:defRPr>
            </a:pPr>
            <a:r>
              <a:t>`POST /agent/paste_image/` validates the request, enforces a 25 MB ceiling, uses Pillow to flatten transparency onto white, re-encodes to JPEG, and writes a collision-safe `image_&lt;timestamp&gt;.jpg` under Tlamatini's guarded Temp directory.</a:t>
            </a:r>
          </a:p>
          <a:p>
            <a:pPr>
              <a:spcAft>
                <a:spcPts val="400"/>
              </a:spcAft>
              <a:defRPr sz="1000">
                <a:solidFill>
                  <a:srgbClr val="B4BAAE"/>
                </a:solidFill>
                <a:latin typeface="Aptos"/>
              </a:defRPr>
            </a:pPr>
            <a:r>
              <a:t>The browser inserts the saved absolute path at the remembered caret, including after focus moves to the page body during Alt+Tab, then renders one removable thumbnail chip per image.</a:t>
            </a:r>
          </a:p>
          <a:p>
            <a:pPr>
              <a:spcAft>
                <a:spcPts val="400"/>
              </a:spcAft>
              <a:defRPr sz="1000">
                <a:solidFill>
                  <a:srgbClr val="B4BAAE"/>
                </a:solidFill>
                <a:latin typeface="Aptos"/>
              </a:defRPr>
            </a:pPr>
            <a:r>
              <a:t>Removing a chip removes both its thumbnail and its exact path from the message, so an accidental paste can be reversed before submission.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Reversible input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path is the integration contract: Image-Interpreter reads local files, and `prompt.pmt` teaches Tlamatini to treat a fresh Temp image path as the user's supplied screenshot instead of asking for another attachment.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VISION HANDOFF, LAYOUT SAFETY, AND IMPLEMENTATION ASSETS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Image Ingestion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Vision and layout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`computeFormMinHeight()` measures the chips row and a ResizeObserver watches it, preventing the new row from pushing the textarea or Send button beyond the viewport.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Concrete assets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Implementation assets include `chat_image_paste.js`, the paste view/URL, template chip/drop-overlay nodes, `.chat-img-*` CSS, layout integration, self-knowledge/prompt guidance, and Temp-policy regression coverage.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V1.40.1 — ESCAPE RESERVED PORT 8000 WITHOUT REBUILDING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Configurable Web 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Why and where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`django_port` moves the web UI and chat WebSocket bind away from a hardcoded 8000: edit the integer in `config.json`, restart Tlamatini, and no rebuild or source edit is required.</a:t>
            </a:r>
          </a:p>
          <a:p>
            <a:pPr>
              <a:spcAft>
                <a:spcPts val="400"/>
              </a:spcAft>
              <a:defRPr sz="1000">
                <a:solidFill>
                  <a:srgbClr val="B4BAAE"/>
                </a:solidFill>
                <a:latin typeface="Aptos"/>
              </a:defRPr>
            </a:pPr>
            <a:r>
              <a:t>The motivating failure is Windows `WinError 10013`: Hyper-V, WSL, or Docker can reserve port 8000 inside a dynamic exclusion range, making a frozen build unable to bind until the port is changed.</a:t>
            </a:r>
          </a:p>
          <a:p>
            <a:pPr>
              <a:spcAft>
                <a:spcPts val="400"/>
              </a:spcAft>
              <a:defRPr sz="1000">
                <a:solidFill>
                  <a:srgbClr val="B4BAAE"/>
                </a:solidFill>
                <a:latin typeface="Aptos"/>
              </a:defRPr>
            </a:pPr>
            <a:r>
              <a:t>Three stdlib-only helpers run before Django imports: `_resolve_config_path()` chooses `CONFIG_PATH`, the frozen executable's neighbor, or source `agent/config.json`; `_resolve_django_port()` validates `1..65535`; `_apply_configured_port()` injects the result.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Every manage.py launch path</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completion pass calls `_apply_configured_port(sys.argv)` once from `main()`, outside the frozen branch, so frozen double-click, `.flw` association, browser auto-open, source `runserver`, and `startserver` all agree.</a:t>
            </a:r>
          </a:p>
          <a:p>
            <a:pPr>
              <a:spcAft>
                <a:spcPts val="400"/>
              </a:spcAft>
              <a:defRPr sz="1100">
                <a:solidFill>
                  <a:srgbClr val="B4BAAE"/>
                </a:solidFill>
                <a:latin typeface="Aptos"/>
              </a:defRPr>
            </a:pPr>
            <a:r>
              <a:t>Resolution is fail-open to 8000 for missing, unreadable, malformed, non-numeric, or out-of-range values, while an explicit CLI port such as `runserver 9100` always wins and is never double-appended.</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FAIL-OPEN RESOLUTION, CLI PRECEDENCE, AND FOCUSED COVERAGE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Web Port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Deliberate boundaries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injected source-mode value is a bare port so Django keeps its loopback host; direct Daphne/Uvicorn bypasses `manage.py`, MCP listeners `8765`/`50051` use their own settings, and TeleTlamatini keeps its own base URL.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Regression contract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24-test `agent/test_django_port_config.py` suite AST-lifts the pre-Django helpers and pins path resolution, validation, fail-open behavior, CLI precedence, frozen/source wiring, and `startserver` forwarding without importing side-effectful `manage.py`.</a:t>
            </a:r>
          </a:p>
          <a:p>
            <a:pPr>
              <a:spcAft>
                <a:spcPts val="400"/>
              </a:spcAft>
              <a:defRPr sz="1200">
                <a:solidFill>
                  <a:srgbClr val="B4BAAE"/>
                </a:solidFill>
                <a:latin typeface="Aptos"/>
              </a:defRPr>
            </a:pPr>
            <a:r>
              <a:t>`freeingport8000.ps1` is a separate elevated Windows repair helper that resets dynamic TCP/UDP ranges, restarts WinNAT, reports excluded ranges, and performs a loopback bind test; changing `django_port` remains the safer normal remedy, and generated docs never reproduce the script's machine-specific log path.</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V1.40.0 — FIND AGENT TEMPLATES WITHOUT PYTHON OR DRIVE SCANS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FlowPills Companion Discovery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Lookup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Tlamatini-FlowPills reads `HKCU\Software\XAIHT\Tlamatini` first, especially the exact `AgentsRoot`, before falling back to Installed Apps, `.flw` association data, executable-relative roots, or source/preserved probes.</a:t>
            </a:r>
          </a:p>
          <a:p>
            <a:pPr>
              <a:spcAft>
                <a:spcPts val="400"/>
              </a:spcAft>
              <a:defRPr sz="1000">
                <a:solidFill>
                  <a:srgbClr val="B4BAAE"/>
                </a:solidFill>
                <a:latin typeface="Aptos"/>
              </a:defRPr>
            </a:pPr>
            <a:r>
              <a:t>The registry contract always rewrites six REG_SZ values — `InstallLocation`, `AgentsRoot`, `SourceAgentsRoot`, `AgentManifestPath`, `Version`, and `AgentCatalogVersion` — using an empty value when something is unknown so stale metadata cannot survive across source and frozen runs.</a:t>
            </a:r>
          </a:p>
          <a:p>
            <a:pPr>
              <a:spcAft>
                <a:spcPts val="400"/>
              </a:spcAft>
              <a:defRPr sz="1000">
                <a:solidFill>
                  <a:srgbClr val="B4BAAE"/>
                </a:solidFill>
                <a:latin typeface="Aptos"/>
              </a:defRPr>
            </a:pPr>
            <a:r>
              <a:t>`agent_manifest.py` discovers only complete templates, excludes `pools` and `__pycache__`, hashes script/config contents, computes a name-set catalog id, and writes atomically only when meaningful data changed.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Publication and preservation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Launch publication runs first in `AgentConfig.ready()` on a daemon thread with its own idempotency gate, so optional MCP, model, ACPX, or skill import failures cannot suppress companion discovery.</a:t>
            </a:r>
          </a:p>
          <a:p>
            <a:pPr>
              <a:spcAft>
                <a:spcPts val="400"/>
              </a:spcAft>
              <a:defRPr sz="1000">
                <a:solidFill>
                  <a:srgbClr val="B4BAAE"/>
                </a:solidFill>
                <a:latin typeface="Aptos"/>
              </a:defRPr>
            </a:pPr>
            <a:r>
              <a:t>An agents-preserving uninstall restamps the manifest as `preserved`, writes `.tlamatini-preserved-agents.json` with the manifest SHA-256, and keeps the discovery key pointing to the preserved catalog.</a:t>
            </a:r>
          </a:p>
          <a:p>
            <a:pPr>
              <a:spcAft>
                <a:spcPts val="400"/>
              </a:spcAft>
              <a:defRPr sz="1000">
                <a:solidFill>
                  <a:srgbClr val="B4BAAE"/>
                </a:solidFill>
                <a:latin typeface="Aptos"/>
              </a:defRPr>
            </a:pPr>
            <a:r>
              <a:t>The contract is HKCU-only, no-admin, fail-open, and read-only with respect to agent templates; the filesystem remains the final validity authority for companion applications.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V1.39.5 — TWO PROMPT FIELDS TO A READY-TO-BUILD C++ PROJECT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Unreal 5.8 Project Scaffold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Deterministic scaffold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new Unreal scaffold prompt asks for only project name and destination, locates or obtains `XaihtUnrealEngineMCP`, and invokes its deterministic `scaffold_unreal_project.py` helper.</a:t>
            </a:r>
          </a:p>
          <a:p>
            <a:pPr>
              <a:spcAft>
                <a:spcPts val="400"/>
              </a:spcAft>
              <a:defRPr sz="1000">
                <a:solidFill>
                  <a:srgbClr val="B4BAAE"/>
                </a:solidFill>
                <a:latin typeface="Aptos"/>
              </a:defRPr>
            </a:pPr>
            <a:r>
              <a:t>The scaffold copies and renames `MCPGameProject`, sets EngineAssociation 5.8, finds an installed UE 5.8 even when it is not registered, bundles UnrealMCP, and generates the Visual Studio 2026 solution.</a:t>
            </a:r>
          </a:p>
          <a:p>
            <a:pPr>
              <a:spcAft>
                <a:spcPts val="400"/>
              </a:spcAft>
              <a:defRPr sz="1000">
                <a:solidFill>
                  <a:srgbClr val="B4BAAE"/>
                </a:solidFill>
                <a:latin typeface="Aptos"/>
              </a:defRPr>
            </a:pPr>
            <a:r>
              <a:t>UE 5.8 build compatibility is explicit: V7 build settings, `Unreal5_8` include order, a `Directory.Build.targets` mitigation for the Windows environment-length limit, and a pre-fixed Visual Studio Tools plugin.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Build and editor handoff</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prompt instructs operators to build the project target rather than the entire solution, then open the editor; UnrealMCP starts its TCP listener at `127.0.0.1:55557` for Unrealer.</a:t>
            </a:r>
          </a:p>
          <a:p>
            <a:pPr>
              <a:spcAft>
                <a:spcPts val="400"/>
              </a:spcAft>
              <a:defRPr sz="1000">
                <a:solidFill>
                  <a:srgbClr val="B4BAAE"/>
                </a:solidFill>
                <a:latin typeface="Aptos"/>
              </a:defRPr>
            </a:pPr>
            <a:r>
              <a:t>Unrealer normalizes disk-style `/Content` references to `/Game`, maps the friendly material `slot` input to `slot_index`, and forwards one command per TCP connection into the live editor.</a:t>
            </a:r>
          </a:p>
          <a:p>
            <a:pPr>
              <a:spcAft>
                <a:spcPts val="400"/>
              </a:spcAft>
              <a:defRPr sz="1000">
                <a:solidFill>
                  <a:srgbClr val="B4BAAE"/>
                </a:solidFill>
                <a:latin typeface="Aptos"/>
              </a:defRPr>
            </a:pPr>
            <a:r>
              <a:t>Migrations `0173` and `0174`, Unrealer code/config comments, README/Book entries, and the current release metadata carry the scaffold workflow across source, catalog, and operator documentation.</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BOUNDED WAITS, ACCURATE PARTIAL RESULTS, AND REQUEST ISOLATION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v1.39.5 Runtime Hardening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Responsiveness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`v1.39.5` smoothness wave focuses on bounded waits, concurrency isolation, accurate partial-result reporting, and lossless final answers rather than a new agent count.</a:t>
            </a:r>
          </a:p>
          <a:p>
            <a:pPr>
              <a:spcAft>
                <a:spcPts val="400"/>
              </a:spcAft>
              <a:defRPr sz="1000">
                <a:solidFill>
                  <a:srgbClr val="B4BAAE"/>
                </a:solidFill>
                <a:latin typeface="Aptos"/>
              </a:defRPr>
            </a:pPr>
            <a:r>
              <a:t>Image-Interpreter now bounds Ollama connect/read gaps; the System-Metrics WebSocket bounds receive time; External MCP warm-connect/supervisor gates recover if thread start fails; and command/ACPX output decoding is UTF-8-safe.</a:t>
            </a:r>
          </a:p>
          <a:p>
            <a:pPr>
              <a:spcAft>
                <a:spcPts val="400"/>
              </a:spcAft>
              <a:defRPr sz="1000">
                <a:solidFill>
                  <a:srgbClr val="B4BAAE"/>
                </a:solidFill>
                <a:latin typeface="Aptos"/>
              </a:defRPr>
            </a:pPr>
            <a:r>
              <a:t>Nmapper assigns per-host budgets to slow actions, keeps the outer kill budget above them, preserves partial output, uses collision-proof filenames for parallel scans, and labels hard timeouts honestly.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Safety and result integrity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Multi-Turn folds deferred completion deliverables into every exit path, while orphan-survivor state is keyed by conversation user so simultaneous requests cannot consume or clear each other's evidence.</a:t>
            </a:r>
          </a:p>
          <a:p>
            <a:pPr>
              <a:spcAft>
                <a:spcPts val="400"/>
              </a:spcAft>
              <a:defRPr sz="1000">
                <a:solidFill>
                  <a:srgbClr val="B4BAAE"/>
                </a:solidFill>
                <a:latin typeface="Aptos"/>
              </a:defRPr>
            </a:pPr>
            <a:r>
              <a:t>`.flw` export redaction covers ordinary secret paths and URI userinfo, and the command parser distinguishes Windows trailing backslashes from escaped inner quotes at assignment boundaries.</a:t>
            </a:r>
          </a:p>
          <a:p>
            <a:pPr>
              <a:spcAft>
                <a:spcPts val="400"/>
              </a:spcAft>
              <a:defRPr sz="1000">
                <a:solidFill>
                  <a:srgbClr val="B4BAAE"/>
                </a:solidFill>
                <a:latin typeface="Aptos"/>
              </a:defRPr>
            </a:pPr>
            <a:r>
              <a:t>These changes are now committed release behavior; the user's pre-refresh uncommitted configuration values remain private and are not quoted in this dossier.</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USE-ONLY NMAP BRIDGE FOR AUTHORIZED TARGETS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Nmapper Local Recon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Nmapper is the `v1.39.3` local nmap bridge for authorized pentesting and CTF recon: it is a use-only integration, not a bundled scanner.</a:t>
            </a:r>
          </a:p>
          <a:p>
            <a:pPr>
              <a:spcAft>
                <a:spcPts val="400"/>
              </a:spcAft>
              <a:defRPr sz="1000">
                <a:solidFill>
                  <a:srgbClr val="B4BAAE"/>
                </a:solidFill>
                <a:latin typeface="Aptos"/>
              </a:defRPr>
            </a:pPr>
            <a:r>
              <a:t>The agent never ships or redistributes nmap; it resolves a user-installed `nmap` from explicit config, PATH, Program Files, or `%LOCALAPPDATA%`, and its `install` action launches the official free installer path.</a:t>
            </a:r>
          </a:p>
          <a:p>
            <a:pPr>
              <a:spcAft>
                <a:spcPts val="400"/>
              </a:spcAft>
              <a:defRPr sz="1000">
                <a:solidFill>
                  <a:srgbClr val="B4BAAE"/>
                </a:solidFill>
                <a:latin typeface="Aptos"/>
              </a:defRPr>
            </a:pPr>
            <a:r>
              <a:t>The default scan path is an unprivileged TCP connect scan (`-sT`), while raw-packet features such as SYN/OS/UDP are downgraded or refused safely when Npcap or elevated packet capture is unavailable.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Actions and assets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Supported actions include `quick`, `full`, `top_ports`, `version`, `scripts`, `host_discovery`, `udp`, `custom`, `validate`, and `install`, always for targets the operator owns or is explicitly authorized to assess.</a:t>
            </a:r>
          </a:p>
          <a:p>
            <a:pPr>
              <a:spcAft>
                <a:spcPts val="400"/>
              </a:spcAft>
              <a:defRPr sz="1000">
                <a:solidFill>
                  <a:srgbClr val="B4BAAE"/>
                </a:solidFill>
                <a:latin typeface="Aptos"/>
              </a:defRPr>
            </a:pPr>
            <a:r>
              <a:t>Each run emits one atomic `INI_SECTION_NMAPPER` block with action, target, scan technique, ports, return code, success state, hosts-up/open-port summaries, Npcap state, XML path/content, normal output, and stage.</a:t>
            </a:r>
          </a:p>
          <a:p>
            <a:pPr>
              <a:spcAft>
                <a:spcPts val="400"/>
              </a:spcAft>
              <a:defRPr sz="1000">
                <a:solidFill>
                  <a:srgbClr val="B4BAAE"/>
                </a:solidFill>
                <a:latin typeface="Aptos"/>
              </a:defRPr>
            </a:pPr>
            <a:r>
              <a:t>Implementation assets include `agent/agents/nmapper/`, migrations `0170`-`0172`, `test_nmapper_agent.py`, `chat_agent_nmapper`, `update_nmapper_connection`, contracts/Parametrizer fields, ACP connector assets, FlowCreator/FlowHypervisor entries, and handbook/docs updates.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V1.39.4 CLOSEABILITY PLUS CURRENT PROMPT LOCALIZATION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Startup And Prompt Polish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Startup dialog</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`v1.39.4` restored first-run/startup dialog closeability so a fresh launch can no longer be trapped behind an unclosable overlay.</a:t>
            </a:r>
          </a:p>
          <a:p>
            <a:pPr>
              <a:spcAft>
                <a:spcPts val="400"/>
              </a:spcAft>
              <a:defRPr sz="1200">
                <a:solidFill>
                  <a:srgbClr val="B4BAAE"/>
                </a:solidFill>
                <a:latin typeface="Aptos"/>
              </a:defRPr>
            </a:pPr>
            <a:r>
              <a:t>Commit `a45fe0e0` followed the public `v1.39.4` tag with Catalog-of-Prompts localization cleanup; that historical polish remains carried by the `v1.60.0` release line.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Prompt catalog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prompt catalog path stays centralized through the secure one-call `/agent/list_prompts/` endpoint ordered by category rank and stable surviving id, while the gap-tolerant probe loop remains only as an offline fallback.</a:t>
            </a:r>
          </a:p>
          <a:p>
            <a:pPr>
              <a:spcAft>
                <a:spcPts val="400"/>
              </a:spcAft>
              <a:defRPr sz="1200">
                <a:solidFill>
                  <a:srgbClr val="B4BAAE"/>
                </a:solidFill>
                <a:latin typeface="Aptos"/>
              </a:defRPr>
            </a:pPr>
            <a:r>
              <a:t>Frontend mutable-state tests and dialog templates continue to guard the chat/startup/overlay surfaces so future cleanup passes do not reintroduce const-poison or close-button regressions.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V1.38.0 — FROM BLANK PAGE TO OBSERVED HARDWARE BEHAVIOR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Robotic Loop Closed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Closed-loop chain</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`v1.38.0` is the milestone where the Robotic-Loop-Training story became concrete: Tlamatini demonstrated a closed hardware loop by programming a robotic arm from a blank page and two cameras.</a:t>
            </a:r>
          </a:p>
          <a:p>
            <a:pPr>
              <a:spcAft>
                <a:spcPts val="400"/>
              </a:spcAft>
              <a:defRPr sz="1200">
                <a:solidFill>
                  <a:srgbClr val="B4BAAE"/>
                </a:solidFill>
                <a:latin typeface="Aptos"/>
              </a:defRPr>
            </a:pPr>
            <a:r>
              <a:t>The loop is intentionally composable rather than one monolith: STM32er writes/builds/flashes firmware, Camcorder records the physical attempt, Video-Analyzer judges the captured motion, and Forker routes the next branch.</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Verdict safety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Video-Analyzer keeps the loop conservative: a deterministic OpenCV gate rejects no-motion clips before model spending, then two independent Ollama cloud vision interpreters must agree before `PASS_OK` is emitted.</a:t>
            </a:r>
          </a:p>
          <a:p>
            <a:pPr>
              <a:spcAft>
                <a:spcPts val="400"/>
              </a:spcAft>
              <a:defRPr sz="1100">
                <a:solidFill>
                  <a:srgbClr val="B4BAAE"/>
                </a:solidFill>
                <a:latin typeface="Aptos"/>
              </a:defRPr>
            </a:pPr>
            <a:r>
              <a:t>Forker branches on substring-safe `TLM_VERDICT::&lt;TOKEN&gt;` markers, so `FAIL_NO_MOTION`, `FAIL_WRONG_MOTION`, `UNCLEAR`, or `ANALYSIS_ERROR` can never accidentally match the success route.</a:t>
            </a:r>
          </a:p>
          <a:p>
            <a:pPr>
              <a:spcAft>
                <a:spcPts val="400"/>
              </a:spcAft>
              <a:defRPr sz="1100">
                <a:solidFill>
                  <a:srgbClr val="B4BAAE"/>
                </a:solidFill>
                <a:latin typeface="Aptos"/>
              </a:defRPr>
            </a:pPr>
            <a:r>
              <a:t>The PDF and PPTX now describe that loop as a system capability, not merely a release-note flourish, because it explains how Tlamatini can iteratively improve real hardware with observed evidence.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MUTABLE-STATE RECOVERY AND ONE-CALL PROMPT CATALOG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v1.38.1 Frontend Hotfix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Const-poison recovery</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`v1.38.1` was the same-week frontend-state-recovery hotfix: `package.json` was aligned at the tagged commit `08efa1d2`, while the functional fix landed in `af356c31` after the `85ee4e6c` const-poison incident.</a:t>
            </a:r>
          </a:p>
          <a:p>
            <a:pPr>
              <a:spcAft>
                <a:spcPts val="400"/>
              </a:spcAft>
              <a:defRPr sz="1100">
                <a:solidFill>
                  <a:srgbClr val="B4BAAE"/>
                </a:solidFill>
                <a:latin typeface="Aptos"/>
              </a:defRPr>
            </a:pPr>
            <a:r>
              <a:t>The core contract is explicit: cross-file runtime globals in `agent_page_state.js` and `acp-globals.js` that other modules reassign must remain `let`, because per-file ESLint cannot see those cross-file writes.</a:t>
            </a:r>
          </a:p>
          <a:p>
            <a:pPr>
              <a:spcAft>
                <a:spcPts val="400"/>
              </a:spcAft>
              <a:defRPr sz="1100">
                <a:solidFill>
                  <a:srgbClr val="B4BAAE"/>
                </a:solidFill>
                <a:latin typeface="Aptos"/>
              </a:defRPr>
            </a:pPr>
            <a:r>
              <a:t>`agent/test_frontend_mutable_state.py` now guards both source files and collected staticfiles so an automated cleanup cannot silently turn chat state, ACP state, tools, agents, skills, history, or busy flags back into `const`.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Prompt catalog path</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Catalog of Prompts now loads through one secure `GET /agent/list_prompts/` endpoint ordered by `idPrompt`, eliminating expected-404 console spam and preventing an `idPrompt` gap from hiding later prompts.</a:t>
            </a:r>
          </a:p>
          <a:p>
            <a:pPr>
              <a:spcAft>
                <a:spcPts val="400"/>
              </a:spcAft>
              <a:defRPr sz="1200">
                <a:solidFill>
                  <a:srgbClr val="B4BAAE"/>
                </a:solidFill>
                <a:latin typeface="Aptos"/>
              </a:defRPr>
            </a:pPr>
            <a:r>
              <a:t>The legacy prompt probe loop remains as an offline fallback, and the same fix also hardened dialogs: Configure-Mcps probe loops exit cleanly, About-video `play()` promises are guarded, and Esc closes About/Update overlays.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WATCHDOG-BOUNDED MODEL STEPS AND TRUTHFUL RECOVERY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Self-Healing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Recovery loop</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Every Multi-Turn model step now goes through `agent/self_healing.py::SelfHealingInvoker`, so model calls are bounded by `unified_agent_llm_step_timeout_seconds` and retried with distinct tactics instead of hanging silently.</a:t>
            </a:r>
          </a:p>
          <a:p>
            <a:pPr>
              <a:spcAft>
                <a:spcPts val="400"/>
              </a:spcAft>
              <a:defRPr sz="1200">
                <a:solidFill>
                  <a:srgbClr val="B4BAAE"/>
                </a:solidFill>
                <a:latin typeface="Aptos"/>
              </a:defRPr>
            </a:pPr>
            <a:r>
              <a:t>Recovery tactics include plain retry, short back-off, trimming oldest messages with `trim_messages`, and a tool-less summary fallback; the ladder can run up to `unified_agent_llm_step_max_tactics` unless the user presses Cancel.</a:t>
            </a:r>
          </a:p>
          <a:p>
            <a:pPr>
              <a:spcAft>
                <a:spcPts val="400"/>
              </a:spcAft>
              <a:defRPr sz="1200">
                <a:solidFill>
                  <a:srgbClr val="B4BAAE"/>
                </a:solidFill>
                <a:latin typeface="Aptos"/>
              </a:defRPr>
            </a:pPr>
            <a:r>
              <a:t>A status broadcaster registered by `consumers.py` sends live first-person recovery messages to the user's chat while the executor works in a worker thread.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If recovery is exhausted after agents already ran, `mcp_agent.py` builds a degraded but truthful answer from real `ToolMessage` results, preserves Exec Report/Create Flow evidence, and prepends `recovery_preamble(...)` instead of claiming no tools ran.</a:t>
            </a:r>
          </a:p>
          <a:p>
            <a:pPr>
              <a:spcAft>
                <a:spcPts val="400"/>
              </a:spcAft>
              <a:defRPr sz="1200">
                <a:solidFill>
                  <a:srgbClr val="B4BAAE"/>
                </a:solidFill>
                <a:latin typeface="Aptos"/>
              </a:defRPr>
            </a:pPr>
            <a:r>
              <a:t>Coverage includes `agent/test_self_healing.py`, `agent/tests.py`, `Tlamatini/tests_e2e/test_self_healing_visual.py`, and `Tlamatini/tests_e2e/test_create_flow_visual.py` for visible browser validation.</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SUCCESSFUL-ONLY FLOWS WITHOUT ANSWER_SUCCESS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Create Flow Gate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whole-answer SUCCESS/FAILURE classifier `agent/services/answer_analizer.py` was removed on 2026-07-06, so no extra LLM round trip computes `answer_success`.</a:t>
            </a:r>
          </a:p>
          <a:p>
            <a:pPr>
              <a:spcAft>
                <a:spcPts val="400"/>
              </a:spcAft>
              <a:defRPr sz="1300">
                <a:solidFill>
                  <a:srgbClr val="B4BAAE"/>
                </a:solidFill>
                <a:latin typeface="Aptos"/>
              </a:defRPr>
            </a:pPr>
            <a:r>
              <a:t>The browser now shows Create Flow when Multi-Turn ran, at least one successful tool call resolves to a registered canvas agent, and the user is not anonymous.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Successful tool calls are resolved through a punctuation/space/case-insensitive registry key, so display names such as `File Creator`, `File-Creator`, and `filecreator` converge to the live Agents sidebar entry.</a:t>
            </a:r>
          </a:p>
          <a:p>
            <a:pPr>
              <a:spcAft>
                <a:spcPts val="400"/>
              </a:spcAft>
              <a:defRPr sz="1100">
                <a:solidFill>
                  <a:srgbClr val="B4BAAE"/>
                </a:solidFill>
                <a:latin typeface="Aptos"/>
              </a:defRPr>
            </a:pPr>
            <a:r>
              <a:t>Generated `.flw` downloads keep only successful, resolvable tool-call entries, post a successful-only `tool_calls_log` to `/agent/flow_from_tool_calls/`, and drop failed or unregistered executions rather than turning them into broken workflow nodes.</a:t>
            </a:r>
          </a:p>
          <a:p>
            <a:pPr>
              <a:spcAft>
                <a:spcPts val="400"/>
              </a:spcAft>
              <a:defRPr sz="1100">
                <a:solidFill>
                  <a:srgbClr val="B4BAAE"/>
                </a:solidFill>
                <a:latin typeface="Aptos"/>
              </a:defRPr>
            </a:pPr>
            <a:r>
              <a:t>If the registry cannot load, the frontend fails open: the button stays available and the backend flow normalizer remains the final validation layer.</a:t>
            </a:r>
          </a:p>
          <a:p>
            <a:pPr>
              <a:spcAft>
                <a:spcPts val="400"/>
              </a:spcAft>
              <a:defRPr sz="1100">
                <a:solidFill>
                  <a:srgbClr val="B4BAAE"/>
                </a:solidFill>
                <a:latin typeface="Aptos"/>
              </a:defRPr>
            </a:pPr>
            <a:r>
              <a:t>Exec Report remains per-tool evidence, not a whole-answer verdict; the checkbox is disabled/greyed unless Multi-Turn is checked.</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STATUS FRAMES STAY BUSY UNTIL THE REAL FINAL ANSWER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Frontend Recovery Controls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Self-healing status frames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`agent_page_chat.js::appendChatMessage()` now has a self-healing status branch before the final-answer branch, so status frames render without calling `enableControlsAfterOperation()`.</a:t>
            </a:r>
          </a:p>
          <a:p>
            <a:pPr>
              <a:spcAft>
                <a:spcPts val="400"/>
              </a:spcAft>
              <a:defRPr sz="1000">
                <a:solidFill>
                  <a:srgbClr val="B4BAAE"/>
                </a:solidFill>
                <a:latin typeface="Aptos"/>
              </a:defRPr>
            </a:pPr>
            <a:r>
              <a:t>`disableControlsDuringOperation()` is re-applied idempotently for each live tactic status line, preserving the user's Cancel button while the worker thread continues.</a:t>
            </a:r>
          </a:p>
          <a:p>
            <a:pPr>
              <a:spcAft>
                <a:spcPts val="400"/>
              </a:spcAft>
              <a:defRPr sz="1000">
                <a:solidFill>
                  <a:srgbClr val="B4BAAE"/>
                </a:solidFill>
                <a:latin typeface="Aptos"/>
              </a:defRPr>
            </a:pPr>
            <a:r>
              <a:t>`agent_page_ui.js::isSelfHealingStatusMessage()` strips leading icons/symbols and then anchors on `Tactic #` / `Tactic '`, matching standalone status frames but not the final recovery summary.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Create Flow name resolution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Create Flow validation now uses `_resolveSuccessfulAgents()`, `_agentNameKey()`, and `_buildRegistryKeyMap()` to normalize display names against the live registry and skip only unresolved successful entries.</a:t>
            </a:r>
          </a:p>
          <a:p>
            <a:pPr>
              <a:spcAft>
                <a:spcPts val="400"/>
              </a:spcAft>
              <a:defRPr sz="1000">
                <a:solidFill>
                  <a:srgbClr val="B4BAAE"/>
                </a:solidFill>
                <a:latin typeface="Aptos"/>
              </a:defRPr>
            </a:pPr>
            <a:r>
              <a:t>`eslint.config.mjs` declares `isSelfHealingStatusMessage` as a global, while `docs/claude/frontend.md`, `docs/claude/multi-turn.md`, and `docs/claude/recent-fixes.md` document the gotcha and the no-substring rule.</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PROJECTDISCOVERY KEY WITHOUT PROMPT-PASTED SECRETS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Discoverer PDCP Wiring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Configuration path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Discoverer now has an optional ProjectDiscovery Cloud Platform key (`pdcp_api_key` / `PDCP_API_KEY`) for cvemap/vulnx rate limits and nuclei `-ai` or cloud upload features.</a:t>
            </a:r>
          </a:p>
          <a:p>
            <a:pPr>
              <a:spcAft>
                <a:spcPts val="400"/>
              </a:spcAft>
              <a:defRPr sz="1100">
                <a:solidFill>
                  <a:srgbClr val="B4BAAE"/>
                </a:solidFill>
                <a:latin typeface="Aptos"/>
              </a:defRPr>
            </a:pPr>
            <a:r>
              <a:t>Config -&gt; Access Keys Wizard exposes `Security Recon (ProjectDiscovery)`, writes the key to `config.json`, `data.keys`, and `agent/agents/discoverer/config.yaml`, and blank fields preserve existing values.</a:t>
            </a:r>
          </a:p>
          <a:p>
            <a:pPr>
              <a:spcAft>
                <a:spcPts val="400"/>
              </a:spcAft>
              <a:defRPr sz="1100">
                <a:solidFill>
                  <a:srgbClr val="B4BAAE"/>
                </a:solidFill>
                <a:latin typeface="Aptos"/>
              </a:defRPr>
            </a:pPr>
            <a:r>
              <a:t>`tools._seed_global_agent_defaults` auto-injects the configured key into every `chat_agent_discoverer` run so prompts never paste the credential.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Redaction and prompt seed</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`agent_contracts.py` redacts `pdcp_api_key` from `.flw` exports, and `regen_secrets.py` scrubs it back to `PDCP_API_KEY` before a push-able tree.</a:t>
            </a:r>
          </a:p>
          <a:p>
            <a:pPr>
              <a:spcAft>
                <a:spcPts val="400"/>
              </a:spcAft>
              <a:defRPr sz="1100">
                <a:solidFill>
                  <a:srgbClr val="B4BAAE"/>
                </a:solidFill>
                <a:latin typeface="Aptos"/>
              </a:defRPr>
            </a:pPr>
            <a:r>
              <a:t>The new `0169_add_discoverer_cvemap_latest_demo_prompt.py` migration seeds a passive latest-CVE briefing prompt that uses cvemap/vulnx and reports whether `pdcp_used` was active.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CURRENT CVE SEARCH PLUS SOURCE-CONTROL PROTECTION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Discoverer Vulnx And Go Guard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vulnx CVE lane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ProjectDiscovery retired cvemap's CVE API in August 2025, so Tlamatini keeps the operator-facing `cvemap` tool key but installs and runs ProjectDiscovery's successor binary, `vulnx`.</a:t>
            </a:r>
          </a:p>
          <a:p>
            <a:pPr>
              <a:spcAft>
                <a:spcPts val="400"/>
              </a:spcAft>
              <a:defRPr sz="1000">
                <a:solidFill>
                  <a:srgbClr val="B4BAAE"/>
                </a:solidFill>
                <a:latin typeface="Aptos"/>
              </a:defRPr>
            </a:pPr>
            <a:r>
              <a:t>`discoverer.py` now maps `cvemap` to `github.com/projectdiscovery/cvemap/cmd/vulnx@latest`, resolves the installed binary as `vulnx`, and builds `vulnx id &lt;CVE&gt;` or `vulnx search --severity ... --product ... --limit ...` arguments.</a:t>
            </a:r>
          </a:p>
          <a:p>
            <a:pPr>
              <a:spcAft>
                <a:spcPts val="400"/>
              </a:spcAft>
              <a:defRPr sz="1000">
                <a:solidFill>
                  <a:srgbClr val="B4BAAE"/>
                </a:solidFill>
                <a:latin typeface="Aptos"/>
              </a:defRPr>
            </a:pPr>
            <a:r>
              <a:t>The findings counter now understands vulnx object JSON such as `{"count": N, "results": [...]}`, so Exec Report and Forker routing see the real result count instead of a misleading one-line object.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Go-deny guard</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private Go compiler and ProjectDiscovery tool binaries still install under `&lt;install_dir&gt;/Go` / `&lt;install_dir&gt;/Go/bin-tools`, keeping the runtime self-contained and avoiding any system Go or PATH mutation.</a:t>
            </a:r>
          </a:p>
          <a:p>
            <a:pPr>
              <a:spcAft>
                <a:spcPts val="400"/>
              </a:spcAft>
              <a:defRPr sz="1000">
                <a:solidFill>
                  <a:srgbClr val="B4BAAE"/>
                </a:solidFill>
                <a:latin typeface="Aptos"/>
              </a:defRPr>
            </a:pPr>
            <a:r>
              <a:t>The `.gitignore` Go-deny block, tracked `git_deny_go.py`, and its managed pre-commit hook prevent `Go/`, `bin-tools/`, `go-build/`, `pkg/mod/`, and downloaded Go archives from entering source control; ignored `Go/` content is not counted as project code.</a:t>
            </a:r>
          </a:p>
          <a:p>
            <a:pPr>
              <a:spcAft>
                <a:spcPts val="400"/>
              </a:spcAft>
              <a:defRPr sz="1000">
                <a:solidFill>
                  <a:srgbClr val="B4BAAE"/>
                </a:solidFill>
                <a:latin typeface="Aptos"/>
              </a:defRPr>
            </a:pPr>
            <a:r>
              <a:t>The committed asset wave also includes `0169_add_discoverer_cvemap_latest_demo_prompt.py`, `.claude/skills/tlamatini-daily-chat-test/harness/discoverer_1000.py`, and `Tlamatini/agent/test_discoverer_thousand.py` for latest-CVE and high-volume Discoverer validation.</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VIDEO-ANALYZER, PROMPTS, AND GENERATED WORKFLOW LAYOUT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v1.36.0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reachable release tag v1.60.0 resolves to cef3995. Current source HEAD is c4daacc, 1 commits beyond that tag. Fetched origin/main resolves to c4daacc. Runtime version resolution remains Git/build-derived. A source revision beyond the tag is not a new tagged release.</a:t>
            </a:r>
          </a:p>
          <a:p>
            <a:pPr>
              <a:spcAft>
                <a:spcPts val="400"/>
              </a:spcAft>
              <a:defRPr sz="1100">
                <a:solidFill>
                  <a:srgbClr val="B4BAAE"/>
                </a:solidFill>
                <a:latin typeface="Aptos"/>
              </a:defRPr>
            </a:pPr>
            <a:r>
              <a:t>New agent: Video-Analyzer becomes the current media-verdict workflow agent and wrapped `chat_agent_video_analyzer`, complementing Image-Interpreter with video-specific motion analysis.</a:t>
            </a:r>
          </a:p>
          <a:p>
            <a:pPr>
              <a:spcAft>
                <a:spcPts val="400"/>
              </a:spcAft>
              <a:defRPr sz="1100">
                <a:solidFill>
                  <a:srgbClr val="B4BAAE"/>
                </a:solidFill>
                <a:latin typeface="Aptos"/>
              </a:defRPr>
            </a:pPr>
            <a:r>
              <a:t>Implementation assets: `agent/agents/video_analyzer/`, migrations `0166_add_video_analyzer.py`, `0167_add_chat_agent_video_analyzer_tool.py`, `0168_add_video_analyzer_demo_prompt.py`, `test_video_analyzer_agent.py`, `chat_agent_registry.py`, `mcp_agent.py`, and `services/agent_contracts.py` all move together.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Runtime contract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Model strategy: `interpreter_model_1` defaults to `qwen3-vl:235b-cloud`, `interpreter_model_2` defaults to `qwen3.5:cloud`, and `merging_model` defaults to `glm-5.3:cloud`, with independent calls merged only after both interpreters report.</a:t>
            </a:r>
          </a:p>
          <a:p>
            <a:pPr>
              <a:spcAft>
                <a:spcPts val="400"/>
              </a:spcAft>
              <a:defRPr sz="1100">
                <a:solidFill>
                  <a:srgbClr val="B4BAAE"/>
                </a:solidFill>
                <a:latin typeface="Aptos"/>
              </a:defRPr>
            </a:pPr>
            <a:r>
              <a:t>Routing contract: every run emits `INI_SECTION_VIDEO_ANALYZER` plus `TLM_VERDICT::&lt;TOKEN&gt;` markers such as `PASS_OK`, `FAIL_NO_MOTION`, `FAIL_WRONG_MOTION`, `UNCLEAR`, and `ANALYSIS_ERROR` for Forker and Parametrizer.</a:t>
            </a:r>
          </a:p>
          <a:p>
            <a:pPr>
              <a:spcAft>
                <a:spcPts val="400"/>
              </a:spcAft>
              <a:defRPr sz="1100">
                <a:solidFill>
                  <a:srgbClr val="B4BAAE"/>
                </a:solidFill>
                <a:latin typeface="Aptos"/>
              </a:defRPr>
            </a:pPr>
            <a:r>
              <a:t>Adjacent UI work: prompt search moved from exact-title hunting to substring, word-start, and fuzzy matching, and generated `.flw` files now use a serpentine layout to reduce visual congestion.</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MOTION-VERDICT AGENT FOR ROBOTIC-LOOP TRAINING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Video-Analyzer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Video-Analyzer is Tlamatini's video-verdict agent: she receives `video_pathfilenames` as a direct file, wildcard, folder-newest rule, or Camcorder pool name and resolves the video before model calls begin.</a:t>
            </a:r>
          </a:p>
          <a:p>
            <a:pPr>
              <a:spcAft>
                <a:spcPts val="400"/>
              </a:spcAft>
              <a:defRPr sz="1100">
                <a:solidFill>
                  <a:srgbClr val="B4BAAE"/>
                </a:solidFill>
                <a:latin typeface="Aptos"/>
              </a:defRPr>
            </a:pPr>
            <a:r>
              <a:t>The first gate is deterministic and cheap: OpenCV/numpy frame sampling computes a motion score and returns `FAIL_NO_MOTION` without spending LLM calls when the recording clearly shows no movement.</a:t>
            </a:r>
          </a:p>
          <a:p>
            <a:pPr>
              <a:spcAft>
                <a:spcPts val="400"/>
              </a:spcAft>
              <a:defRPr sz="1100">
                <a:solidFill>
                  <a:srgbClr val="B4BAAE"/>
                </a:solidFill>
                <a:latin typeface="Aptos"/>
              </a:defRPr>
            </a:pPr>
            <a:r>
              <a:t>When motion exists, two Ollama cloud vision models run in parallel. One specializes in temporal/action evidence, the other provides an independent holistic judgement, and a merger model produces the final report.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Verdicts and routing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final answer is intentionally conservative: PASS requires both interpreters to agree; disagreement or weak evidence becomes `UNCLEAR`, and wrong movement becomes `FAIL_WRONG_MOTION` rather than a false pass.</a:t>
            </a:r>
          </a:p>
          <a:p>
            <a:pPr>
              <a:spcAft>
                <a:spcPts val="400"/>
              </a:spcAft>
              <a:defRPr sz="1100">
                <a:solidFill>
                  <a:srgbClr val="B4BAAE"/>
                </a:solidFill>
                <a:latin typeface="Aptos"/>
              </a:defRPr>
            </a:pPr>
            <a:r>
              <a:t>Structured output is `INI_SECTION_VIDEO_ANALYZER` with `video_path`, `verdict`, `verdict_token`, `confidence`, `motion_score`, `frames_analyzed`, model names, `status`, and the body report.</a:t>
            </a:r>
          </a:p>
          <a:p>
            <a:pPr>
              <a:spcAft>
                <a:spcPts val="400"/>
              </a:spcAft>
              <a:defRPr sz="1100">
                <a:solidFill>
                  <a:srgbClr val="B4BAAE"/>
                </a:solidFill>
                <a:latin typeface="Aptos"/>
              </a:defRPr>
            </a:pPr>
            <a:r>
              <a:t>The robotics loop is now explicit: STM32er can flash firmware, Camcorder can record the board, Video-Analyzer can judge the recorded motion, and Forker can branch on the `TLM_VERDICT::` token to retry or finish.</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OPERATOR USABILITY AFTER THE CATALOG GREW</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Prompt Search And .flw Layout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Prompt search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Prompt search now behaves like an operator tool instead of a static dropdown: category grouping, numeric/acronym/substring/word-start/subsequence matching, best-first ranking, highlighted hits, and mode badges make the deduplicated catalog navigable.</a:t>
            </a:r>
          </a:p>
          <a:p>
            <a:pPr>
              <a:spcAft>
                <a:spcPts val="400"/>
              </a:spcAft>
              <a:defRPr sz="1300">
                <a:solidFill>
                  <a:srgbClr val="B4BAAE"/>
                </a:solidFill>
                <a:latin typeface="Aptos"/>
              </a:defRPr>
            </a:pPr>
            <a:r>
              <a:t>The prompt-card rendering keeps One-Shot, Multi-Turn, ACPX, Exec Report, and Step-by-Step families distinguishable while migrations `0175`-`0176` remove redundant ACPX variants without renumbering surviving prompt ids.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Generated flows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Generated `.flw` workflows now use a serpentine canvas layout with row capacity and alternating direction, preserving the logical Starter -&gt; Agent -&gt; ... -&gt; Ender order without pushing large chains into an unreadable line.</a:t>
            </a:r>
          </a:p>
          <a:p>
            <a:pPr>
              <a:spcAft>
                <a:spcPts val="400"/>
              </a:spcAft>
              <a:defRPr sz="1300">
                <a:solidFill>
                  <a:srgbClr val="B4BAAE"/>
                </a:solidFill>
                <a:latin typeface="Aptos"/>
              </a:defRPr>
            </a:pPr>
            <a:r>
              <a:t>This matters for documentation because the PDF and deck must describe not only new agents, but also the operator usability improvements that make the larger system actually usable.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ZAVUERER, MODEL DEFAULTS, CLEANUP, AND SAFETY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v1.33.2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Release identity: latest reachable public tag `v1.33.2`; the generated artifacts now describe the Zavuerer release family plus post-release cleanup while preserving the v1.32.0 quality-and-identity background.</a:t>
            </a:r>
          </a:p>
          <a:p>
            <a:pPr>
              <a:spcAft>
                <a:spcPts val="400"/>
              </a:spcAft>
              <a:defRPr sz="900">
                <a:solidFill>
                  <a:srgbClr val="B4BAAE"/>
                </a:solidFill>
                <a:latin typeface="Aptos"/>
              </a:defRPr>
            </a:pPr>
            <a:r>
              <a:t>New agent: Zavuerer becomes the 83rd workflow-agent type and the 60th wrapped chat-agent, adding `chat_agent_zavuerer` for Zavu unified messaging across SMS, WhatsApp, Telegram, Email, and Voice.</a:t>
            </a:r>
          </a:p>
          <a:p>
            <a:pPr>
              <a:spcAft>
                <a:spcPts val="400"/>
              </a:spcAft>
              <a:defRPr sz="900">
                <a:solidFill>
                  <a:srgbClr val="B4BAAE"/>
                </a:solidFill>
                <a:latin typeface="Aptos"/>
              </a:defRPr>
            </a:pPr>
            <a:r>
              <a:t>Configuration: Config -&gt; Access Keys Wizard now includes `Unified Messaging (Zavu)` and persists `zavu_api_key`, which the wrapped runtime seeds into Zavuerer without exposing the secret in prompts.</a:t>
            </a:r>
          </a:p>
          <a:p>
            <a:pPr>
              <a:spcAft>
                <a:spcPts val="400"/>
              </a:spcAft>
              <a:defRPr sz="900">
                <a:solidFill>
                  <a:srgbClr val="B4BAAE"/>
                </a:solidFill>
                <a:latin typeface="Aptos"/>
              </a:defRPr>
            </a:pPr>
            <a:r>
              <a:t>Canvas/runtime support: `agent_contracts.py`, `views.py`, `capability_registry.py`, `chat_agent_registry.py`, `tools.py`, frontend ACP JS/CSS, and migrations `0159`-`0164` all move together to make Zavuerer usable from both surfaces.</a:t>
            </a:r>
          </a:p>
          <a:p>
            <a:pPr>
              <a:spcAft>
                <a:spcPts val="400"/>
              </a:spcAft>
              <a:defRPr sz="900">
                <a:solidFill>
                  <a:srgbClr val="B4BAAE"/>
                </a:solidFill>
                <a:latin typeface="Aptos"/>
              </a:defRPr>
            </a:pPr>
            <a:r>
              <a:t>Follow-up defaults: `config.json` now favors `glm-5.3:cloud` across the primary chat/model slots, and the latest commits also adjust runtime parsing/middleware/settings surfaces around the release.</a:t>
            </a:r>
          </a:p>
          <a:p>
            <a:pPr>
              <a:spcAft>
                <a:spcPts val="400"/>
              </a:spcAft>
              <a:defRPr sz="900">
                <a:solidFill>
                  <a:srgbClr val="B4BAAE"/>
                </a:solidFill>
                <a:latin typeface="Aptos"/>
              </a:defRPr>
            </a:pPr>
            <a:r>
              <a:t>Cost and safety wording: sign-up for Zavu is free, but sends are pay-as-you-go per message; the docs keep the authorized, opted-in recipient boundary explicit for A2P, WhatsApp-window, consent, and GDPR-style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Recent implementation assets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`agent/agents/zavuerer/` carries the stdlib-only Zavu REST client and config template.</a:t>
            </a:r>
          </a:p>
          <a:p>
            <a:pPr>
              <a:spcAft>
                <a:spcPts val="400"/>
              </a:spcAft>
              <a:defRPr sz="1100">
                <a:solidFill>
                  <a:srgbClr val="B4BAAE"/>
                </a:solidFill>
                <a:latin typeface="Aptos"/>
              </a:defRPr>
            </a:pPr>
            <a:r>
              <a:t>`0159`-`0164` seed the Agent, Tool, prompts, and setup-wizard dedupe.</a:t>
            </a:r>
          </a:p>
          <a:p>
            <a:pPr>
              <a:spcAft>
                <a:spcPts val="400"/>
              </a:spcAft>
              <a:defRPr sz="1100">
                <a:solidFill>
                  <a:srgbClr val="B4BAAE"/>
                </a:solidFill>
                <a:latin typeface="Aptos"/>
              </a:defRPr>
            </a:pPr>
            <a:r>
              <a:t>`access_key_wizard.py`, `tools.py`, and `config.json` wire the Zavu key path.</a:t>
            </a:r>
          </a:p>
          <a:p>
            <a:pPr>
              <a:spcAft>
                <a:spcPts val="400"/>
              </a:spcAft>
              <a:defRPr sz="1100">
                <a:solidFill>
                  <a:srgbClr val="B4BAAE"/>
                </a:solidFill>
                <a:latin typeface="Aptos"/>
              </a:defRPr>
            </a:pPr>
            <a:r>
              <a:t>`config.json` now favors `glm-5.3:cloud` for the shipped cloud model baseline.</a:t>
            </a:r>
          </a:p>
          <a:p>
            <a:pPr>
              <a:spcAft>
                <a:spcPts val="400"/>
              </a:spcAft>
              <a:defRPr sz="1100">
                <a:solidFill>
                  <a:srgbClr val="B4BAAE"/>
                </a:solidFill>
                <a:latin typeface="Aptos"/>
              </a:defRPr>
            </a:pPr>
            <a:r>
              <a:t>`views.py`, ACP JS/CSS, and `agent_contracts.py` make canvas wiring and redaction work.</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NEW UNIFIED MESSAGING AGENT FOR ZAVU</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Zavuerer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Zavuerer is Tlamatini's new Zavu unified-messaging agent: one workflow node and one wrapped `chat_agent_zavuerer` tool can send SMS, WhatsApp, Telegram, Email, or Voice messages through Zavu's `/v1/messages` API.</a:t>
            </a:r>
          </a:p>
          <a:p>
            <a:pPr>
              <a:spcAft>
                <a:spcPts val="400"/>
              </a:spcAft>
              <a:defRPr sz="1200">
                <a:solidFill>
                  <a:srgbClr val="B4BAAE"/>
                </a:solidFill>
                <a:latin typeface="Aptos"/>
              </a:defRPr>
            </a:pPr>
            <a:r>
              <a:t>The operator configures one `zavu_api_key` through Config -&gt; Access Keys Wizard -&gt; Unified Messaging (Zavu), and the runtime seeds that key into Zavuerer automatically so prompts never need to repeat or expose the secret.</a:t>
            </a:r>
          </a:p>
          <a:p>
            <a:pPr>
              <a:spcAft>
                <a:spcPts val="400"/>
              </a:spcAft>
              <a:defRPr sz="1200">
                <a:solidFill>
                  <a:srgbClr val="B4BAAE"/>
                </a:solidFill>
                <a:latin typeface="Aptos"/>
              </a:defRPr>
            </a:pPr>
            <a:r>
              <a:t>The agent speaks direct HTTP through the Python standard library, has a safe `health` action, refuses sends when the key/recipient/body/channel are invalid, and always emits `INI_SECTION_ZAVUERER` for Parametrizer/Forker branching.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Implementation and safety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Canvas integration is complete: `agent_contracts.py` redacts `zavu_api_key`, `views.py` handles Zavuerer connections, frontend CSS/JS gives the node a visible identity, and migrations `0159`-`0164` seed the Agent, Tool, demo/catalog prompts, and setup-wizard dedupe.</a:t>
            </a:r>
          </a:p>
          <a:p>
            <a:pPr>
              <a:spcAft>
                <a:spcPts val="400"/>
              </a:spcAft>
              <a:defRPr sz="1200">
                <a:solidFill>
                  <a:srgbClr val="B4BAAE"/>
                </a:solidFill>
                <a:latin typeface="Aptos"/>
              </a:defRPr>
            </a:pPr>
            <a:r>
              <a:t>Cost and safety boundary: Zavu sign-up is free, but sending is pay-as-you-go per message; Zavuerer must only message authorized, opted-in recipients, with A2P, WhatsApp 24-hour-window, consent, and GDPR-style responsibilities called out explicitly.</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TRIPLE-MODEL VISION ANALYSIS WITH FAIL-SAFE MERGING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Image-Interpreter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Parallel vision pipeline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Image-Interpreter is now a triple-model vision analyst, not a single generic image describer: each image goes through two parallel interpreter calls and one merger pass.</a:t>
            </a:r>
          </a:p>
          <a:p>
            <a:pPr>
              <a:spcAft>
                <a:spcPts val="400"/>
              </a:spcAft>
              <a:defRPr sz="1100">
                <a:solidFill>
                  <a:srgbClr val="B4BAAE"/>
                </a:solidFill>
                <a:latin typeface="Aptos"/>
              </a:defRPr>
            </a:pPr>
            <a:r>
              <a:t>`interpreter_model_1` defaults to `qwen3.5:cloud` and is tuned for forensic OCR, mockup/GUI element inventories, percent-based positions/sizes, colors, fonts, and verbatim text.</a:t>
            </a:r>
          </a:p>
          <a:p>
            <a:pPr>
              <a:spcAft>
                <a:spcPts val="400"/>
              </a:spcAft>
              <a:defRPr sz="1100">
                <a:solidFill>
                  <a:srgbClr val="B4BAAE"/>
                </a:solidFill>
                <a:latin typeface="Aptos"/>
              </a:defRPr>
            </a:pPr>
            <a:r>
              <a:t>`interpreter_model_2` defaults to `gemma4:cloud` and reads the image holistically: design intent, visual hierarchy, scene meaning, people, and reasoned identity hypotheses.</a:t>
            </a:r>
          </a:p>
          <a:p>
            <a:pPr>
              <a:spcAft>
                <a:spcPts val="400"/>
              </a:spcAft>
              <a:defRPr sz="1100">
                <a:solidFill>
                  <a:srgbClr val="B4BAAE"/>
                </a:solidFill>
                <a:latin typeface="Aptos"/>
              </a:defRPr>
            </a:pPr>
            <a:r>
              <a:t>`merging_model` defaults to `glm-5.3:cloud`; it waits behind a barrier until both interpretations arrive, then emits one definitive report with union-of-facts, conflict notes, and discrepancy handling.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Prompts, output, and config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All four prompt surfaces (`prompt_user`, `prompt_interpreter_model_1`, `prompt_interpreter_model_2`, and `prompt_merging_model`) receive the image file name as an identity clue, because a file named after a person often depicts that person.</a:t>
            </a:r>
          </a:p>
          <a:p>
            <a:pPr>
              <a:spcAft>
                <a:spcPts val="400"/>
              </a:spcAft>
              <a:defRPr sz="1100">
                <a:solidFill>
                  <a:srgbClr val="B4BAAE"/>
                </a:solidFill>
                <a:latin typeface="Aptos"/>
              </a:defRPr>
            </a:pPr>
            <a:r>
              <a:t>Fail-safe behavior is explicit: one failed interpreter still lets the merger work from the survivor; a failed merger returns both raw interpretations concatenated instead of losing the analysis.</a:t>
            </a:r>
          </a:p>
          <a:p>
            <a:pPr>
              <a:spcAft>
                <a:spcPts val="400"/>
              </a:spcAft>
              <a:defRPr sz="1100">
                <a:solidFill>
                  <a:srgbClr val="B4BAAE"/>
                </a:solidFill>
                <a:latin typeface="Aptos"/>
              </a:defRPr>
            </a:pPr>
            <a:r>
              <a:t>The structured output is now `INI_SECTION_IMAGE_INTERPRETER` with `file_path`, `interpreter_model_1`, `interpreter_model_2`, `merging_model`, `status`, and the merged report body for Parametrizer/Forker routing.</a:t>
            </a:r>
          </a:p>
          <a:p>
            <a:pPr>
              <a:spcAft>
                <a:spcPts val="400"/>
              </a:spcAft>
              <a:defRPr sz="1100">
                <a:solidFill>
                  <a:srgbClr val="B4BAAE"/>
                </a:solidFill>
                <a:latin typeface="Aptos"/>
              </a:defRPr>
            </a:pPr>
            <a:r>
              <a:t>Config -&gt; Models now exposes all three Image-Interpreter model slots (`image_interpreter_model`, `image_interpreter_model_2`, `image_merging_model`), and older preserved configs receive defaults so Save is not blocked by empty new fields.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HOW TLAMATINI NOW REACHES TOOLS OUTSIDE HER BUNDLED RUNTIME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External MCPs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Operator model</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`v1.26.0` headline feature is the External MCP universal client: Tlamatini can now consume any MCP server declared in `external_mcps.json` instead of depending only on bundled MCP integrations.</a:t>
            </a:r>
          </a:p>
          <a:p>
            <a:pPr>
              <a:spcAft>
                <a:spcPts val="400"/>
              </a:spcAft>
              <a:defRPr sz="1200">
                <a:solidFill>
                  <a:srgbClr val="B4BAAE"/>
                </a:solidFill>
                <a:latin typeface="Aptos"/>
              </a:defRPr>
            </a:pPr>
            <a:r>
              <a:t>Four transports are supported in the current implementation — stdio, streamable HTTP, legacy SSE, and WebSocket — and the active server set is intentionally bounded so operators can expose high-value remote tools without flooding the planner.</a:t>
            </a:r>
          </a:p>
          <a:p>
            <a:pPr>
              <a:spcAft>
                <a:spcPts val="400"/>
              </a:spcAft>
              <a:defRPr sz="1200">
                <a:solidFill>
                  <a:srgbClr val="B4BAAE"/>
                </a:solidFill>
                <a:latin typeface="Aptos"/>
              </a:defRPr>
            </a:pPr>
            <a:r>
              <a:t>Once connected, remote MCP tools are wrapped into the same Multi-Turn execution surface under `ext__&lt;server&gt;__&lt;tool&gt;`, so they participate in planning, execution reporting, Ask Execs, and the rest of the operator guardrails instead of becoming a parallel hidden subsystem.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Concrete implementation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release is backed by real tracked assets rather than markdown-only claims: `agent/external_mcp_manager.py`, `agent/external_mcps.json`, the `agent/agents/mcp_doctor/` tree, the `0141`-`0143` migrations, `static/agent/js/external_mcps_dialog.js`, and `static/agent/css/external_mcps_dialog.css` are the core implementation wave.</a:t>
            </a:r>
          </a:p>
          <a:p>
            <a:pPr>
              <a:spcAft>
                <a:spcPts val="400"/>
              </a:spcAft>
              <a:defRPr sz="1000">
                <a:solidFill>
                  <a:srgbClr val="B4BAAE"/>
                </a:solidFill>
                <a:latin typeface="Aptos"/>
              </a:defRPr>
            </a:pPr>
            <a:r>
              <a:t>The current test surface proves this is not a shallow UI feature: `test_external_mcp_universal.py`, `test_external_mcp_transports.py`, `test_external_mcp_e2e.py`, `test_external_mcp_add_flow.py`, and `test_parametrizer_mcp_doctor.py` exercise the universal-client path and the onboarding diagnosis path.</a:t>
            </a:r>
          </a:p>
          <a:p>
            <a:pPr>
              <a:spcAft>
                <a:spcPts val="400"/>
              </a:spcAft>
              <a:defRPr sz="1000">
                <a:solidFill>
                  <a:srgbClr val="B4BAAE"/>
                </a:solidFill>
                <a:latin typeface="Aptos"/>
              </a:defRPr>
            </a:pPr>
            <a:r>
              <a:t>Handbook evidence now exists alongside the code too: the README tutorial, Book sections, capability/planner wiring, and the dialog assets all moved together in the same release wave, with later cleanup removing obsolete draft documentation from the tracked tree.</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SAFE ONBOARDING AND DIAGNOSTICS BEFORE LIVE EXTERNAL MCP USE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MCP Doctor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MCP Doctor is the new onboarding and triage specialist added with the External MCP release: she inspects a configured server entry and tells the operator what is wrong before a live connection attempt wastes time.</a:t>
            </a:r>
          </a:p>
          <a:p>
            <a:pPr>
              <a:spcAft>
                <a:spcPts val="400"/>
              </a:spcAft>
              <a:defRPr sz="1200">
                <a:solidFill>
                  <a:srgbClr val="B4BAAE"/>
                </a:solidFill>
                <a:latin typeface="Aptos"/>
              </a:defRPr>
            </a:pPr>
            <a:r>
              <a:t>The diagnostic checks cover transport shape, runtime command availability on PATH, placeholder or missing secrets, endpoint/source/docs links, and the concrete next step the operator should take to make the server connectable.</a:t>
            </a:r>
          </a:p>
          <a:p>
            <a:pPr>
              <a:spcAft>
                <a:spcPts val="400"/>
              </a:spcAft>
              <a:defRPr sz="1200">
                <a:solidFill>
                  <a:srgbClr val="B4BAAE"/>
                </a:solidFill>
                <a:latin typeface="Aptos"/>
              </a:defRPr>
            </a:pPr>
            <a:r>
              <a:t>Operators can reach the same behavior from both surfaces that matter: the MCP Doctor workflow agent on the canvas and the wrapped `chat_agent_mcp_doctor` tool inside Multi-Turn.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How operators use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Open `External -&gt; MCPs` to add or import a server, then run MCP Doctor before the first real connect if the runtime, endpoint, or secret story is still uncertain.</a:t>
            </a:r>
          </a:p>
          <a:p>
            <a:pPr>
              <a:spcAft>
                <a:spcPts val="400"/>
              </a:spcAft>
              <a:defRPr sz="1100">
                <a:solidFill>
                  <a:srgbClr val="B4BAAE"/>
                </a:solidFill>
                <a:latin typeface="Aptos"/>
              </a:defRPr>
            </a:pPr>
            <a:r>
              <a:t>In Multi-Turn, call `chat_agent_mcp_doctor` when you want the LLM to triage a server declaratively instead of guessing from prose about PATH, env vars, or transport settings.</a:t>
            </a:r>
          </a:p>
          <a:p>
            <a:pPr>
              <a:spcAft>
                <a:spcPts val="400"/>
              </a:spcAft>
              <a:defRPr sz="1100">
                <a:solidFill>
                  <a:srgbClr val="B4BAAE"/>
                </a:solidFill>
                <a:latin typeface="Aptos"/>
              </a:defRPr>
            </a:pPr>
            <a:r>
              <a:t>Because the diagnosis path is static and fail-safe, it surfaces onboarding mistakes early without leaking into a half-connected remote-tool session.</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THE NEW EASY-FOLLOW ONBOARDING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Start Here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Five-step path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BookOfTlamatini now leads with a five-step onboarding path because the easiest way to succeed with Tlamatini is to treat setup as one guided sequence instead of reading the whole handbook first.</a:t>
            </a:r>
          </a:p>
          <a:p>
            <a:pPr>
              <a:spcAft>
                <a:spcPts val="400"/>
              </a:spcAft>
              <a:defRPr sz="900">
                <a:solidFill>
                  <a:srgbClr val="B4BAAE"/>
                </a:solidFill>
                <a:latin typeface="Aptos"/>
              </a:defRPr>
            </a:pPr>
            <a:r>
              <a:t>Recommended path for most operators: install the packaged release from GitHub Releases, launch the Start-menu shortcut, and let the bundled Python 3.12.10 plus dependencies carry the runtime without asking the user to install Python manually.</a:t>
            </a:r>
          </a:p>
          <a:p>
            <a:pPr>
              <a:spcAft>
                <a:spcPts val="400"/>
              </a:spcAft>
              <a:defRPr sz="900">
                <a:solidFill>
                  <a:srgbClr val="B4BAAE"/>
                </a:solidFill>
                <a:latin typeface="Aptos"/>
              </a:defRPr>
            </a:pPr>
            <a:r>
              <a:t>Developer path stays available: clone the repo, create a virtual environment, install `requirements.txt`, run migrations, and start Django with `python Tlamatini/manage.py runserver` (the `--noreload` flag is optional since 2026-07-11 — plain `runserver` now boots clean and auto-reloads).</a:t>
            </a:r>
          </a:p>
          <a:p>
            <a:pPr>
              <a:spcAft>
                <a:spcPts val="400"/>
              </a:spcAft>
              <a:defRPr sz="900">
                <a:solidFill>
                  <a:srgbClr val="B4BAAE"/>
                </a:solidFill>
                <a:latin typeface="Aptos"/>
              </a:defRPr>
            </a:pPr>
            <a:r>
              <a:t>Before pulling the shipped `:cloud` model tags, activate Ollama Pro or higher and run `ollama signin`; this is an operating requirement for the complete intended workload, not a sponsorship or affiliate relationship.</a:t>
            </a:r>
          </a:p>
          <a:p>
            <a:pPr>
              <a:spcAft>
                <a:spcPts val="400"/>
              </a:spcAft>
              <a:defRPr sz="900">
                <a:solidFill>
                  <a:srgbClr val="B4BAAE"/>
                </a:solidFill>
                <a:latin typeface="Aptos"/>
              </a:defRPr>
            </a:pPr>
            <a:r>
              <a:t>After the app opens, the first in-app surfaces that matter are `Config -&gt; Models`, `Config -&gt; URLs`, and `Config -&gt; Access Keys Wizard`; those now form the real beginner path, not manual JSON editing.</a:t>
            </a:r>
          </a:p>
          <a:p>
            <a:pPr>
              <a:spcAft>
                <a:spcPts val="400"/>
              </a:spcAft>
              <a:defRPr sz="900">
                <a:solidFill>
                  <a:srgbClr val="B4BAAE"/>
                </a:solidFill>
                <a:latin typeface="Aptos"/>
              </a:defRPr>
            </a:pPr>
            <a:r>
              <a:t>For ordinary question-answering keep Multi-Turn off; turn it on only when you want Tlamatini to execute tools, wrapped agents, or remote MCP capabilities instead of answering directly.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First configuration surfaces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Three new onboarding screenshots now anchor the first-run path: `Tlamatini/agent/images/MenuConfig.jpg`, `ConfigureModels.jpg`, and `ACPXKeysConfigureWizard.jpg`.</a:t>
            </a:r>
          </a:p>
          <a:p>
            <a:pPr>
              <a:spcAft>
                <a:spcPts val="400"/>
              </a:spcAft>
              <a:defRPr sz="1200">
                <a:solidFill>
                  <a:srgbClr val="B4BAAE"/>
                </a:solidFill>
                <a:latin typeface="Aptos"/>
              </a:defRPr>
            </a:pPr>
            <a:r>
              <a:t>`Config -&gt; Models` is the place where operators map embedding, chat, vision, and auxiliary model names to what Ollama actually exposes on the host machine.</a:t>
            </a:r>
          </a:p>
          <a:p>
            <a:pPr>
              <a:spcAft>
                <a:spcPts val="400"/>
              </a:spcAft>
              <a:defRPr sz="1200">
                <a:solidFill>
                  <a:srgbClr val="B4BAAE"/>
                </a:solidFill>
                <a:latin typeface="Aptos"/>
              </a:defRPr>
            </a:pPr>
            <a:r>
              <a:t>`Config -&gt; Access Keys Wizard` now carries an especially important rule: a localhost Ollama usually needs no Ollama token, while a remote Ollama endpoint may require one.</a:t>
            </a:r>
          </a:p>
          <a:p>
            <a:pPr>
              <a:spcAft>
                <a:spcPts val="400"/>
              </a:spcAft>
              <a:defRPr sz="1200">
                <a:solidFill>
                  <a:srgbClr val="B4BAAE"/>
                </a:solidFill>
                <a:latin typeface="Aptos"/>
              </a:defRPr>
            </a:pPr>
            <a:r>
              <a:t>Saved model, URL, or credential changes can invalidate the assumptions of the current session, so reconnecting after major Config edits is now part of the honest operator guidance.</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HOW TO USE THE NEWEST RELEASE SURFACES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Blenderer And Self-Update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Blenderer</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Blenderer was introduced in `v1.20.0` as the 77th workflow agent and remains the direct bridge to the official Blender MCP add-on, letting Tlamatini operate a live Blender session from either Multi-Turn chat or the visual workflow canvas.</a:t>
            </a:r>
          </a:p>
          <a:p>
            <a:pPr>
              <a:spcAft>
                <a:spcPts val="400"/>
              </a:spcAft>
              <a:defRPr sz="1200">
                <a:solidFill>
                  <a:srgbClr val="B4BAAE"/>
                </a:solidFill>
                <a:latin typeface="Aptos"/>
              </a:defRPr>
            </a:pPr>
            <a:r>
              <a:t>The bridge talks over a TCP socket (default `localhost:9876`) and supports both raw `execute_code` requests and higher-level scene/object/material/render actions, so operators can mix deterministic verbs with precise Python-driven 3D automation.</a:t>
            </a:r>
          </a:p>
          <a:p>
            <a:pPr>
              <a:spcAft>
                <a:spcPts val="400"/>
              </a:spcAft>
              <a:defRPr sz="1200">
                <a:solidFill>
                  <a:srgbClr val="B4BAAE"/>
                </a:solidFill>
                <a:latin typeface="Aptos"/>
              </a:defRPr>
            </a:pPr>
            <a:r>
              <a:t>This extends Tlamatini beyond code and firmware orchestration into DCC / 3D-production work: asset inspection, scene mutation, material changes, camera setup, and render-triggering now live inside the same operator surface as the rest of the 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Self-update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200">
                <a:solidFill>
                  <a:srgbClr val="B4BAAE"/>
                </a:solidFill>
                <a:latin typeface="Aptos"/>
              </a:defRPr>
            </a:pPr>
            <a:r>
              <a:t>The backend checks the latest GitHub release, downloads and stages the package, then hands off the locked-file swap to `apply_update.ps1`, which performs the replacement after the running executable exits and relaunches the updated app.</a:t>
            </a:r>
          </a:p>
          <a:p>
            <a:pPr>
              <a:spcAft>
                <a:spcPts val="400"/>
              </a:spcAft>
              <a:defRPr sz="1200">
                <a:solidFill>
                  <a:srgbClr val="B4BAAE"/>
                </a:solidFill>
                <a:latin typeface="Aptos"/>
              </a:defRPr>
            </a:pPr>
            <a:r>
              <a:t>The update path is state-preserving by design: it keeps `config.json`, user content, and one `agents_backup` generation, and it stages the user's database through `DB/ToLoad/` plus `post_update_migrate.flag` so the next launch restores and migrates that DB instead of wiping it.</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GENERATED `TLAMATINISOURCECODE/` AND REBUILD CONTRACT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Self-Modify Source Snapshot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Snapshot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Self-modify builds now rely on `copy_source_assets.py` to generate `TlamatiniSourceCode/` as a fresh rebuild-oriented snapshot of the repository.</a:t>
            </a:r>
          </a:p>
          <a:p>
            <a:pPr>
              <a:spcAft>
                <a:spcPts val="400"/>
              </a:spcAft>
              <a:defRPr sz="1200">
                <a:solidFill>
                  <a:srgbClr val="B4BAAE"/>
                </a:solidFill>
                <a:latin typeface="Aptos"/>
              </a:defRPr>
            </a:pPr>
            <a:r>
              <a:t>That snapshot includes source, build scripts, docs, skills, and small required binaries while deliberately omitting or redacting heavy media and secrets; `_REBUILD_INSTRUCTIONS.md` plus `_SOURCE_SNAPSHOT_MANIFEST.json` explain how to restore the missing payloads.</a:t>
            </a:r>
          </a:p>
          <a:p>
            <a:pPr>
              <a:spcAft>
                <a:spcPts val="400"/>
              </a:spcAft>
              <a:defRPr sz="1200">
                <a:solidFill>
                  <a:srgbClr val="B4BAAE"/>
                </a:solidFill>
                <a:latin typeface="Aptos"/>
              </a:defRPr>
            </a:pPr>
            <a:r>
              <a:t>Because the snapshot is optional, the runtime contract remains strict: Tlamatini must verify that `TlamatiniSourceCode/` exists before claiming she can inspect, modify, or rebuild herself.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Access Keys, Updates, And File Writes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Config now includes an Access Keys Wizard / API-Keys Wizard path so operators can manage provider credentials from the browser instead of editing `config.json` directly.</a:t>
            </a:r>
          </a:p>
          <a:p>
            <a:pPr>
              <a:spcAft>
                <a:spcPts val="400"/>
              </a:spcAft>
              <a:defRPr sz="1000">
                <a:solidFill>
                  <a:srgbClr val="B4BAAE"/>
                </a:solidFill>
                <a:latin typeface="Aptos"/>
              </a:defRPr>
            </a:pPr>
            <a:r>
              <a:t>The backend exposes masked status plus explicit save endpoints, which keeps the operator flow convenient without echoing raw secrets back into the page.</a:t>
            </a:r>
          </a:p>
          <a:p>
            <a:pPr>
              <a:spcAft>
                <a:spcPts val="400"/>
              </a:spcAft>
              <a:defRPr sz="10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000">
                <a:solidFill>
                  <a:srgbClr val="B4BAAE"/>
                </a:solidFill>
                <a:latin typeface="Aptos"/>
              </a:defRPr>
            </a:pPr>
            <a:r>
              <a:t>The `v1.19.5` File-Creator hardening pass fixes the wrong-symbol / wrong-escape corruption path that hit backslash-dense Java, JSON, CSS, and regex files during wrapped chat-agent execution.</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TALKER / WHISPERER FAMILY PLUS WATCHDOG HARDENING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Media, Voice, And Runtime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Media and voice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current media family spans capture, playback, and speech: Shoter (screen), Camcorder (camera-in), Recorder (mic-in), AudioPlayer (speakers-out), VideoPlayer (screen-out with audio), Talker (text-to-speech), and Whisperer (speech-to-text).</a:t>
            </a:r>
          </a:p>
          <a:p>
            <a:pPr>
              <a:spcAft>
                <a:spcPts val="400"/>
              </a:spcAft>
              <a:defRPr sz="1200">
                <a:solidFill>
                  <a:srgbClr val="B4BAAE"/>
                </a:solidFill>
                <a:latin typeface="Aptos"/>
              </a:defRPr>
            </a:pPr>
            <a:r>
              <a:t>Talker remains female-only by design and uses an Ollama neural TTS model with SNAC decoding, while Whisperer records the microphone itself or transcribes a file through faster-whisper locally or cloud Whisper APIs.</a:t>
            </a:r>
          </a:p>
          <a:p>
            <a:pPr>
              <a:spcAft>
                <a:spcPts val="400"/>
              </a:spcAft>
              <a:defRPr sz="1200">
                <a:solidFill>
                  <a:srgbClr val="B4BAAE"/>
                </a:solidFill>
                <a:latin typeface="Aptos"/>
              </a:defRPr>
            </a:pPr>
            <a:r>
              <a:t>Recent stability work matters here too: Talker now chunks long input by sentence for long-form speech, and media-output defaults were moved into the application `Temp` directory rather than user content folders.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Autonomous watchdog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A boot-time autonomous command watchdog now protects the chat against shell wrappers that stay alive while making zero CPU or I/O progress, the classic signature of a mangled prompt waiting forever on stdin.</a:t>
            </a:r>
          </a:p>
          <a:p>
            <a:pPr>
              <a:spcAft>
                <a:spcPts val="400"/>
              </a:spcAft>
              <a:defRPr sz="1200">
                <a:solidFill>
                  <a:srgbClr val="B4BAAE"/>
                </a:solidFill>
                <a:latin typeface="Aptos"/>
              </a:defRPr>
            </a:pPr>
            <a:r>
              <a:t>It never kills on elapsed time alone: the subtree must outlive the grace window and remain idle for a configured streak, so long builds, downloads, and compiles are preserved while only genuinely wedged interpreters are reaped.</a:t>
            </a:r>
          </a:p>
          <a:p>
            <a:pPr>
              <a:spcAft>
                <a:spcPts val="400"/>
              </a:spcAft>
              <a:defRPr sz="1200">
                <a:solidFill>
                  <a:srgbClr val="B4BAAE"/>
                </a:solidFill>
                <a:latin typeface="Aptos"/>
              </a:defRPr>
            </a:pPr>
            <a:r>
              <a:t>This watchdog complements rather than replaces the orphan reaper: the watchdog rescues blocked synchronous tool calls before they return, while the orphan reaper still handles post-return survivors and stale console companions.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BACKEND, FRONTEND, AND BUILD ASSETS RETAINED IN THE CURRENT TREE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Earlier Asset Waves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Named assets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tagged `v1.41.4` wave adds the shared `_format_mcp_tool_result` path in `external_mcp_manager.py` plus seven focused cases in `test_external_mcp_universal.py` for machine-readable MCP results.</a:t>
            </a:r>
          </a:p>
          <a:p>
            <a:pPr>
              <a:spcAft>
                <a:spcPts val="400"/>
              </a:spcAft>
              <a:defRPr sz="1000">
                <a:solidFill>
                  <a:srgbClr val="B4BAAE"/>
                </a:solidFill>
                <a:latin typeface="Aptos"/>
              </a:defRPr>
            </a:pPr>
            <a:r>
              <a:t>The tagged `v1.42.0` STM32er/prompt wave adds over one thousand lines to `stm32er.py`, expands config/registry/contracts/tools/tests/docs, and tracks the all-families proposal, migrations `0177`-`0179`, and `test_prompt_catalog_contiguous.py`.</a:t>
            </a:r>
          </a:p>
          <a:p>
            <a:pPr>
              <a:spcAft>
                <a:spcPts val="400"/>
              </a:spcAft>
              <a:defRPr sz="1000">
                <a:solidFill>
                  <a:srgbClr val="B4BAAE"/>
                </a:solidFill>
                <a:latin typeface="Aptos"/>
              </a:defRPr>
            </a:pPr>
            <a:r>
              <a:t>The clearer disclaimer commit for README.md and BookOfTlamatini.md is included in the `v1.42.0` ancestry; neither handbook is modified by this generation pass.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Hardening assets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`v1.41.0` image-ingestion wave adds `chat_image_paste.js`, paste view/URL wiring, chat chip/drop-overlay template nodes, image CSS, layout observation, Temp-policy coverage, and matching README/Book/self-knowledge guidance.</a:t>
            </a:r>
          </a:p>
          <a:p>
            <a:pPr>
              <a:spcAft>
                <a:spcPts val="400"/>
              </a:spcAft>
              <a:defRPr sz="1000">
                <a:solidFill>
                  <a:srgbClr val="B4BAAE"/>
                </a:solidFill>
                <a:latin typeface="Aptos"/>
              </a:defRPr>
            </a:pPr>
            <a:r>
              <a:t>The `v1.41.2` cancellation wave adds `agent/cancellation.py`, `test_cancellation.py`, `test_ask_execs_allowlist.py`, expanded self-healing/frontend tests, and coordinated changes across consumers, executor, RAG, retry, permission, settings, and chat-state surfaces.</a:t>
            </a:r>
          </a:p>
          <a:p>
            <a:pPr>
              <a:spcAft>
                <a:spcPts val="400"/>
              </a:spcAft>
              <a:defRPr sz="1000">
                <a:solidFill>
                  <a:srgbClr val="B4BAAE"/>
                </a:solidFill>
                <a:latin typeface="Aptos"/>
              </a:defRPr>
            </a:pPr>
            <a:r>
              <a:t>Two browser regression harnesses under `.claude/skills/tlamatini-daily-chat-test/harness/` exercise repeated cancels, next-request recovery, model/tool-chain cancellation, Ask-Execs cancellation, and the destructive/human-contacting/network allowlist contract.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RETAINED IMPLEMENTATION DELTAS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Earlier Assets Appendix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Discoverer and frontend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`v1.41.3` prompt-catalog wave adds migrations `0175`-`0176`, Prompt category/hidden fields, ordered category metadata in `views.py`, and grouped, gap-tolerant, fuzzy-searchable catalog behavior in `tools_dialog.js`/`.css`.</a:t>
            </a:r>
          </a:p>
          <a:p>
            <a:pPr>
              <a:spcAft>
                <a:spcPts val="400"/>
              </a:spcAft>
              <a:defRPr sz="1000">
                <a:solidFill>
                  <a:srgbClr val="B4BAAE"/>
                </a:solidFill>
                <a:latin typeface="Aptos"/>
              </a:defRPr>
            </a:pPr>
            <a:r>
              <a:t>The same prompt wave physically removes 13 duplicate ACPX rows while retaining seven portable originals and stable surviving ids; the primary endpoint and offline fallback both tolerate the resulting gap.</a:t>
            </a:r>
          </a:p>
          <a:p>
            <a:pPr>
              <a:spcAft>
                <a:spcPts val="400"/>
              </a:spcAft>
              <a:defRPr sz="1000">
                <a:solidFill>
                  <a:srgbClr val="B4BAAE"/>
                </a:solidFill>
                <a:latin typeface="Aptos"/>
              </a:defRPr>
            </a:pPr>
            <a:r>
              <a:t>`freeingport8000.ps1` is the new Windows repair asset for resetting dynamic ranges, restarting WinNAT, reporting exclusions, and bind-testing 8000; its machine-specific scratch path is deliberately excluded from generated prose.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Frontend, port, and agent assets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committed Discoverer PDCP assets include `access_key_wizard.py` Security Recon fields, `tools.py` default seeding, `agent_contracts.py` `.flw` redaction, `regen_secrets.py` scrubbing, and migration `0169_add_discoverer_cvemap_latest_demo_prompt.py` for the latest-CVE prompt.</a:t>
            </a:r>
          </a:p>
          <a:p>
            <a:pPr>
              <a:spcAft>
                <a:spcPts val="400"/>
              </a:spcAft>
              <a:defRPr sz="1000">
                <a:solidFill>
                  <a:srgbClr val="B4BAAE"/>
                </a:solidFill>
                <a:latin typeface="Aptos"/>
              </a:defRPr>
            </a:pPr>
            <a:r>
              <a:t>Discoverer hardening assets now include `discoverer.py` changes for `cvemap` -&gt; `vulnx`, `.gitignore` Go-deny patterns, tracked `git_deny_go.py` guard/pre-commit installer, `discoverer_1000.py`, and `test_discoverer_thousand.py` validation coverage.</a:t>
            </a:r>
          </a:p>
          <a:p>
            <a:pPr>
              <a:spcAft>
                <a:spcPts val="400"/>
              </a:spcAft>
              <a:defRPr sz="1000">
                <a:solidFill>
                  <a:srgbClr val="B4BAAE"/>
                </a:solidFill>
                <a:latin typeface="Aptos"/>
              </a:defRPr>
            </a:pPr>
            <a:r>
              <a:t>The project inventory is rebuilt from `git ls-files` plus `git ls-files --others --exclude-standard` on every run, so any git-unignored local assets are counted while ignored runtime caches such as `Go/` remain outside the dossier.</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RETAINED ASSETS BEHIND THE CURRENT INVENTORY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Earlier Assets Source Trail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Media and browser setup</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newest frontend assets include `agent_page_chat.js`, `agent_page_ui.js`, `eslint.config.mjs`, and the Claude frontend/Multi-Turn/recent-fixes notes that document self-healing status frames and Create Flow name resolution.</a:t>
            </a:r>
          </a:p>
          <a:p>
            <a:pPr>
              <a:spcAft>
                <a:spcPts val="400"/>
              </a:spcAft>
              <a:defRPr sz="1000">
                <a:solidFill>
                  <a:srgbClr val="B4BAAE"/>
                </a:solidFill>
                <a:latin typeface="Aptos"/>
              </a:defRPr>
            </a:pPr>
            <a:r>
              <a:t>The `v1.40.1` port assets span committed `manage.py`/`config.json`, source/startserver integration, the committed 24-test `agent/test_django_port_config.py` suite, version surfaces in `package.json`/`VERSIONING.md`, and operator contracts across README, Book, self-knowledge, prompt guidance, and `docs/claude`.</a:t>
            </a:r>
          </a:p>
          <a:p>
            <a:pPr>
              <a:spcAft>
                <a:spcPts val="400"/>
              </a:spcAft>
              <a:defRPr sz="1000">
                <a:solidFill>
                  <a:srgbClr val="B4BAAE"/>
                </a:solidFill>
                <a:latin typeface="Aptos"/>
              </a:defRPr>
            </a:pPr>
            <a:r>
              <a:t>The newest agent assets are concrete: `agent/agents/zavuerer/`, migrations `0159_add_zavuerer.py` through `0164_dedup_zavuerer_setup_wizards.py`, `test_zavuerer_agent.py`, Access Keys Wizard Zavu fields, planner capability hints, wrapped-tool registration, and ACP canvas styling/connection support.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Inventory meaning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The latest cleanup/assets span also includes `GEMINI.md`, `FirstFinalPlanToSpeedUp.md`, `docs/claude/recent-fixes.md`, response-parser/runtime/settings/middleware touch-ups, and removal of the stale `Tlamatini/db.sqlite3.bak-prereseat` backup from the tracked surface.</a:t>
            </a:r>
          </a:p>
          <a:p>
            <a:pPr>
              <a:spcAft>
                <a:spcPts val="400"/>
              </a:spcAft>
              <a:defRPr sz="900">
                <a:solidFill>
                  <a:srgbClr val="B4BAAE"/>
                </a:solidFill>
                <a:latin typeface="Aptos"/>
              </a:defRPr>
            </a:pPr>
            <a:r>
              <a:t>The same wave preserves evidence-oriented tests and build guards such as `test_private_data_guard.py`, performance/visual checks, About-window authorship tests, and public-release verification rules that distinguish sensitive PII from valid creator names.</a:t>
            </a:r>
          </a:p>
          <a:p>
            <a:pPr>
              <a:spcAft>
                <a:spcPts val="400"/>
              </a:spcAft>
              <a:defRPr sz="900">
                <a:solidFill>
                  <a:srgbClr val="B4BAAE"/>
                </a:solidFill>
                <a:latin typeface="Aptos"/>
              </a:defRPr>
            </a:pPr>
            <a:r>
              <a:t>The same span refreshes shipped visual/media assets: `TlamatiniAbout.png` replaces the old `TlamatiniAbout.jpg`, and `agent/images/TlamatiniAndKyber.mp4` is part of the repository asset set described by the dossier.</a:t>
            </a:r>
          </a:p>
          <a:p>
            <a:pPr>
              <a:spcAft>
                <a:spcPts val="400"/>
              </a:spcAft>
              <a:defRPr sz="900">
                <a:solidFill>
                  <a:srgbClr val="B4BAAE"/>
                </a:solidFill>
                <a:latin typeface="Aptos"/>
              </a:defRPr>
            </a:pPr>
            <a:r>
              <a:t>The same recent window also retains the earlier self-modify/browser-setup asset wave — `copy_source_assets.py`, `agent/access_key_wizard.py`, `static/agent/js/access_keys_wizard.js`, `static/agent/css/access_keys_wizard.css`, and the Blender control surface in `agent/agents/blenderer/`.</a:t>
            </a:r>
          </a:p>
          <a:p>
            <a:pPr>
              <a:spcAft>
                <a:spcPts val="400"/>
              </a:spcAft>
              <a:defRPr sz="900">
                <a:solidFill>
                  <a:srgbClr val="B4BAAE"/>
                </a:solidFill>
                <a:latin typeface="Aptos"/>
              </a:defRPr>
            </a:pPr>
            <a:r>
              <a:t>Key operator/runtime files such as `prompt.pmt`, `chat_agent_registry.py`, `tools.py`, `views.py`, `urls.py`, `manage.py`, `file_extractor.py`, and the File-Creator/File-Extractor templates also changed, so the visible features are backed by concrete implementation assets rather than documentation-only promises.</a:t>
            </a:r>
          </a:p>
          <a:p>
            <a:pPr>
              <a:spcAft>
                <a:spcPts val="400"/>
              </a:spcAft>
              <a:defRPr sz="900">
                <a:solidFill>
                  <a:srgbClr val="B4BAAE"/>
                </a:solidFill>
                <a:latin typeface="Aptos"/>
              </a:defRPr>
            </a:pPr>
            <a:r>
              <a:t>Because the dossier already includes the full repository inventory (git-tracked files plus git-unignored working-tree additions) and the full line-count inventory, these named assets serve as the human-readable shortlist of what changed most materially in the latest release wave.</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VISUAL WORKFLOW TEMPLE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Agentic Control Panel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ACP workflow</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Drag prebuilt agents onto the canvas and connect them visually.</a:t>
            </a:r>
          </a:p>
          <a:p>
            <a:pPr>
              <a:spcAft>
                <a:spcPts val="400"/>
              </a:spcAft>
              <a:defRPr sz="1500">
                <a:solidFill>
                  <a:srgbClr val="B4BAAE"/>
                </a:solidFill>
                <a:latin typeface="Aptos"/>
              </a:defRPr>
            </a:pPr>
            <a:r>
              <a:t>Configure deployed pool instances, not only static template folders.</a:t>
            </a:r>
          </a:p>
          <a:p>
            <a:pPr>
              <a:spcAft>
                <a:spcPts val="400"/>
              </a:spcAft>
              <a:defRPr sz="1500">
                <a:solidFill>
                  <a:srgbClr val="B4BAAE"/>
                </a:solidFill>
                <a:latin typeface="Aptos"/>
              </a:defRPr>
            </a:pPr>
            <a:r>
              <a:t>Validate structural rules before execution.</a:t>
            </a:r>
          </a:p>
          <a:p>
            <a:pPr>
              <a:spcAft>
                <a:spcPts val="400"/>
              </a:spcAft>
              <a:defRPr sz="1500">
                <a:solidFill>
                  <a:srgbClr val="B4BAAE"/>
                </a:solidFill>
                <a:latin typeface="Aptos"/>
              </a:defRPr>
            </a:pPr>
            <a:r>
              <a:t>Start through Starter, pause/resume through reanimation state, and stop through Ender semantics.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Flow files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Workflows save and load as `.flw` files.</a:t>
            </a:r>
          </a:p>
          <a:p>
            <a:pPr>
              <a:spcAft>
                <a:spcPts val="400"/>
              </a:spcAft>
              <a:defRPr sz="1600">
                <a:solidFill>
                  <a:srgbClr val="B4BAAE"/>
                </a:solidFill>
                <a:latin typeface="Aptos"/>
              </a:defRPr>
            </a:pPr>
            <a:r>
              <a:t>Generated flows from chat are starter drafts, not a replacement for ACP validation.</a:t>
            </a:r>
          </a:p>
          <a:p>
            <a:pPr>
              <a:spcAft>
                <a:spcPts val="400"/>
              </a:spcAft>
              <a:defRPr sz="1600">
                <a:solidFill>
                  <a:srgbClr val="B4BAAE"/>
                </a:solidFill>
                <a:latin typeface="Aptos"/>
              </a:defRPr>
            </a:pPr>
            <a:r>
              <a:t>LED indicators and logs show runtime health across the session pool.</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WORKFLOW AGENT CATALOG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The 89 Guardians</a:t>
            </a:r>
          </a:p>
        </p:txBody>
      </p:sp>
      <p:sp>
        <p:nvSpPr>
          <p:cNvPr id="9" name="Rounded Rectangle 8"/>
          <p:cNvSpPr/>
          <p:nvPr/>
        </p:nvSpPr>
        <p:spPr>
          <a:xfrm>
            <a:off x="658368" y="1426464"/>
            <a:ext cx="544068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26464"/>
            <a:ext cx="544068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27632"/>
            <a:ext cx="5038344" cy="310896"/>
          </a:xfrm>
          <a:prstGeom prst="rect">
            <a:avLst/>
          </a:prstGeom>
          <a:noFill/>
        </p:spPr>
        <p:txBody>
          <a:bodyPr wrap="square" anchor="t" lIns="12700" rIns="76200" tIns="12700" bIns="12700">
            <a:normAutofit/>
          </a:bodyPr>
          <a:lstStyle/>
          <a:p>
            <a:pPr algn="l"/>
            <a:r>
              <a:rPr sz="1400" b="1">
                <a:solidFill>
                  <a:srgbClr val="C48052"/>
                </a:solidFill>
                <a:latin typeface="Aptos"/>
              </a:rPr>
              <a:t>Agent families</a:t>
            </a:r>
          </a:p>
        </p:txBody>
      </p:sp>
      <p:sp>
        <p:nvSpPr>
          <p:cNvPr id="12" name="TextBox 11"/>
          <p:cNvSpPr txBox="1"/>
          <p:nvPr/>
        </p:nvSpPr>
        <p:spPr>
          <a:xfrm>
            <a:off x="859536" y="2084832"/>
            <a:ext cx="5038344" cy="385876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Control: starter, ender, stopper, cleaner, barrier, flowbacker</a:t>
            </a:r>
          </a:p>
          <a:p>
            <a:pPr>
              <a:spcAft>
                <a:spcPts val="400"/>
              </a:spcAft>
              <a:defRPr sz="1300">
                <a:solidFill>
                  <a:srgbClr val="B4BAAE"/>
                </a:solidFill>
                <a:latin typeface="Aptos"/>
              </a:defRPr>
            </a:pPr>
            <a:r>
              <a:t>Execution and files: executer, pythonxer, pser, file_creator, file_extractor, file_interpreter, de_compresser, playwrighter, windower, unrealer, kalier, stm32er, esp32er, esphomer, arduiner, mover, deleter</a:t>
            </a:r>
          </a:p>
          <a:p>
            <a:pPr>
              <a:spcAft>
                <a:spcPts val="400"/>
              </a:spcAft>
              <a:defRPr sz="1300">
                <a:solidFill>
                  <a:srgbClr val="B4BAAE"/>
                </a:solidFill>
                <a:latin typeface="Aptos"/>
              </a:defRPr>
            </a:pPr>
            <a:r>
              <a:t>DevOps and infra: gitter, dockerer, kuberneter, jenkinser, ssher, scper</a:t>
            </a:r>
          </a:p>
          <a:p>
            <a:pPr>
              <a:spcAft>
                <a:spcPts val="400"/>
              </a:spcAft>
              <a:defRPr sz="1300">
                <a:solidFill>
                  <a:srgbClr val="B4BAAE"/>
                </a:solidFill>
                <a:latin typeface="Aptos"/>
              </a:defRPr>
            </a:pPr>
            <a:r>
              <a:t>Data and APIs: sqler, mongoxer, apirer, crawler, googler</a:t>
            </a:r>
          </a:p>
        </p:txBody>
      </p:sp>
      <p:sp>
        <p:nvSpPr>
          <p:cNvPr id="13" name="Rounded Rectangle 12"/>
          <p:cNvSpPr/>
          <p:nvPr/>
        </p:nvSpPr>
        <p:spPr>
          <a:xfrm>
            <a:off x="6327648" y="1426464"/>
            <a:ext cx="516636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26464"/>
            <a:ext cx="51663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27632"/>
            <a:ext cx="4764024" cy="310896"/>
          </a:xfrm>
          <a:prstGeom prst="rect">
            <a:avLst/>
          </a:prstGeom>
          <a:noFill/>
        </p:spPr>
        <p:txBody>
          <a:bodyPr wrap="square" anchor="t" lIns="12700" rIns="76200" tIns="12700" bIns="12700">
            <a:normAutofit/>
          </a:bodyPr>
          <a:lstStyle/>
          <a:p>
            <a:pPr algn="l"/>
            <a:r>
              <a:rPr sz="1400" b="1">
                <a:solidFill>
                  <a:srgbClr val="48BF8F"/>
                </a:solidFill>
                <a:latin typeface="Aptos"/>
              </a:rPr>
              <a:t>More guardians</a:t>
            </a:r>
          </a:p>
        </p:txBody>
      </p:sp>
      <p:sp>
        <p:nvSpPr>
          <p:cNvPr id="16" name="TextBox 15"/>
          <p:cNvSpPr txBox="1"/>
          <p:nvPr/>
        </p:nvSpPr>
        <p:spPr>
          <a:xfrm>
            <a:off x="6528816" y="2084832"/>
            <a:ext cx="4764024" cy="385876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Monitoring and routing: monitor_log, monitor_netstat, flowhypervisor, forker, asker, counter, and, or</a:t>
            </a:r>
          </a:p>
          <a:p>
            <a:pPr>
              <a:spcAft>
                <a:spcPts val="400"/>
              </a:spcAft>
              <a:defRPr sz="1300">
                <a:solidFill>
                  <a:srgbClr val="B4BAAE"/>
                </a:solidFill>
                <a:latin typeface="Aptos"/>
              </a:defRPr>
            </a:pPr>
            <a:r>
              <a:t>Communication: notifier, emailer, recmailer, telegrammer, teletlamatini, whatsapper</a:t>
            </a:r>
          </a:p>
          <a:p>
            <a:pPr>
              <a:spcAft>
                <a:spcPts val="400"/>
              </a:spcAft>
              <a:defRPr sz="1300">
                <a:solidFill>
                  <a:srgbClr val="B4BAAE"/>
                </a:solidFill>
                <a:latin typeface="Aptos"/>
              </a:defRPr>
            </a:pPr>
            <a:r>
              <a:t>Security and media: kyber_keygen, kyber_cipher, kyber_decipher, image_interpreter, video_analyzer, shoter, camcorder, recorder, audioplayer, videoplayer, j_decompiler</a:t>
            </a:r>
          </a:p>
          <a:p>
            <a:pPr>
              <a:spcAft>
                <a:spcPts val="400"/>
              </a:spcAft>
              <a:defRPr sz="1300">
                <a:solidFill>
                  <a:srgbClr val="B4BAAE"/>
                </a:solidFill>
                <a:latin typeface="Aptos"/>
              </a:defRPr>
            </a:pPr>
            <a:r>
              <a:t>Workflow intelligence: flowcreator, gatewayer, gateway_relayer, node_manager, parametrizer, prompter, summarizer, acpxer</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COUNT AND DESCRIPTION SOURCE OF TRUTH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Agent Catalog Integrity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Count alignment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Templates on disk with config.yaml: 89</a:t>
            </a:r>
          </a:p>
          <a:p>
            <a:pPr>
              <a:spcAft>
                <a:spcPts val="400"/>
              </a:spcAft>
              <a:defRPr sz="1500">
                <a:solidFill>
                  <a:srgbClr val="B4BAAE"/>
                </a:solidFill>
                <a:latin typeface="Aptos"/>
              </a:defRPr>
            </a:pPr>
            <a:r>
              <a:t>Description rows in `agents_descriptions.md`: 89</a:t>
            </a:r>
          </a:p>
          <a:p>
            <a:pPr>
              <a:spcAft>
                <a:spcPts val="400"/>
              </a:spcAft>
              <a:defRPr sz="1500">
                <a:solidFill>
                  <a:srgbClr val="B4BAAE"/>
                </a:solidFill>
                <a:latin typeface="Aptos"/>
              </a:defRPr>
            </a:pPr>
            <a:r>
              <a:t>This dossier reconciles README and Book wording back to the same 89-agent inventory when older badges or legacy prose lines lag behind the live tree.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Description source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The authoritative human-readable source for workflow-agent descriptions is `agents_descriptions.md` at the repo root, not an embedded JavaScript map or a hard-coded Django list.</a:t>
            </a:r>
          </a:p>
          <a:p>
            <a:pPr>
              <a:spcAft>
                <a:spcPts val="400"/>
              </a:spcAft>
              <a:defRPr sz="1400">
                <a:solidFill>
                  <a:srgbClr val="B4BAAE"/>
                </a:solidFill>
                <a:latin typeface="Aptos"/>
              </a:defRPr>
            </a:pPr>
            <a:r>
              <a:t>Current validation compares live template directories, `agents_descriptions.md` rows, and the README / Book bestiary counts so the generated dossier stays aligned with the running product.</a:t>
            </a:r>
          </a:p>
          <a:p>
            <a:pPr>
              <a:spcAft>
                <a:spcPts val="400"/>
              </a:spcAft>
              <a:defRPr sz="1400">
                <a:solidFill>
                  <a:srgbClr val="B4BAAE"/>
                </a:solidFill>
                <a:latin typeface="Aptos"/>
              </a:defRPr>
            </a:pPr>
            <a:r>
              <a:t>The ACP sidebar hover tooltip and the right-click Description dialog both resolve through that markdown file first; `README.md` is only a legacy fallback when the dedicated description file is absent.</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NEW REVIEW AND SECURITY SURFACES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Reviewer And 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What they do</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workflow catalog now includes two new high-value specialists: Reviewer and Analyzer, lifting the canvas inventory to 64 agents and the seed-skill catalog to 23 SKILL.md packages.</a:t>
            </a:r>
          </a:p>
          <a:p>
            <a:pPr>
              <a:spcAft>
                <a:spcPts val="400"/>
              </a:spcAft>
              <a:defRPr sz="1300">
                <a:solidFill>
                  <a:srgbClr val="B4BAAE"/>
                </a:solidFill>
                <a:latin typeface="Aptos"/>
              </a:defRPr>
            </a:pPr>
            <a:r>
              <a:t>Reviewer is LLM-powered: it resolves a git diff for `repo_path`, reviews it with a senior-engineer prompt, and emits an `INI_SECTION_REVIEWER` block whose first routable field is `verdict = APPROVE | REQUEST_CHANGES | COMMENT`.</a:t>
            </a:r>
          </a:p>
          <a:p>
            <a:pPr>
              <a:spcAft>
                <a:spcPts val="400"/>
              </a:spcAft>
              <a:defRPr sz="1300">
                <a:solidFill>
                  <a:srgbClr val="B4BAAE"/>
                </a:solidFill>
                <a:latin typeface="Aptos"/>
              </a:defRPr>
            </a:pPr>
            <a:r>
              <a:t>Analyzer is deterministic and scanner-driven: it runs whichever of `bandit`, `semgrep`, `ruff`, `eslint`, `gitleaks`, and `pip-audit` are installed on PATH over `target_path`, then emits an `INI_SECTION_ANALYZER` block with `status` and `total_findings` for downstream routing.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How operators reach them</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Both agents always trigger `target_agents`, so a downstream Forker can branch on `{verdict}`, `{status}`, or `{total_findings}` instead of scraping prose.</a:t>
            </a:r>
          </a:p>
          <a:p>
            <a:pPr>
              <a:spcAft>
                <a:spcPts val="400"/>
              </a:spcAft>
              <a:defRPr sz="1300">
                <a:solidFill>
                  <a:srgbClr val="B4BAAE"/>
                </a:solidFill>
                <a:latin typeface="Aptos"/>
              </a:defRPr>
            </a:pPr>
            <a:r>
              <a:t>They are intentionally canvas-only workflow agents: there is no wrapped `chat_agent_reviewer` or `chat_agent_analyzer`, and therefore no duplicate Exec Report row family for those names.</a:t>
            </a:r>
          </a:p>
          <a:p>
            <a:pPr>
              <a:spcAft>
                <a:spcPts val="400"/>
              </a:spcAft>
              <a:defRPr sz="1300">
                <a:solidFill>
                  <a:srgbClr val="B4BAAE"/>
                </a:solidFill>
                <a:latin typeface="Aptos"/>
              </a:defRPr>
            </a:pPr>
            <a:r>
              <a:t>The chat-side counterparts live in the ACPX skill catalog instead: `code-review` exposes senior-engineer git-diff review, while `security-audit` exposes the deterministic multi-scanner sweep.</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README HEADER AND PLANNER-FACING INVENTORY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Operator Surface Counts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Current counts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live operator surface now stands at 89 workflow agents, 109 Multi-Turn tools, 12 ACPX tools, and 29 skills.</a:t>
            </a:r>
          </a:p>
          <a:p>
            <a:pPr>
              <a:spcAft>
                <a:spcPts val="400"/>
              </a:spcAft>
              <a:defRPr sz="1100">
                <a:solidFill>
                  <a:srgbClr val="B4BAAE"/>
                </a:solidFill>
                <a:latin typeface="Aptos"/>
              </a:defRPr>
            </a:pPr>
            <a:r>
              <a:t>Source inspection confirms the total: 20 core Python tools + 67 wrapped chat-agent tools + 12 ACPX/Skill tools + 10 External-MCP supervisors = 109 built-in Multi-Turn tools; healthy active servers add dynamic `ext__*` remotes separately.</a:t>
            </a:r>
          </a:p>
          <a:p>
            <a:pPr>
              <a:spcAft>
                <a:spcPts val="400"/>
              </a:spcAft>
              <a:defRPr sz="1100">
                <a:solidFill>
                  <a:srgbClr val="B4BAAE"/>
                </a:solidFill>
                <a:latin typeface="Aptos"/>
              </a:defRPr>
            </a:pPr>
            <a:r>
              <a:t>The count growth over older public badges comes from stacked waves: the deterministic file trio, ESPHomer, MCP Doctor, Zavuerer, Video-Analyzer, Nmapper, NetSpeed-Calculator, and the `adding-external-mcp` skill.</a:t>
            </a:r>
          </a:p>
          <a:p>
            <a:pPr>
              <a:spcAft>
                <a:spcPts val="400"/>
              </a:spcAft>
              <a:defRPr sz="1100">
                <a:solidFill>
                  <a:srgbClr val="B4BAAE"/>
                </a:solidFill>
                <a:latin typeface="Aptos"/>
              </a:defRPr>
            </a:pPr>
            <a:r>
              <a:t>The workflow-agent and wrapped-tool totals are validated from the live tree even when some handbook badges or older prose lines lag behind the newest release wave, so the dossier stays tied to source truth instead of stale summaries.</a:t>
            </a:r>
          </a:p>
          <a:p>
            <a:pPr>
              <a:spcAft>
                <a:spcPts val="400"/>
              </a:spcAft>
              <a:defRPr sz="1100">
                <a:solidFill>
                  <a:srgbClr val="B4BAAE"/>
                </a:solidFill>
                <a:latin typeface="Aptos"/>
              </a:defRPr>
            </a:pPr>
            <a:r>
              <a:t>This matters operationally because the planner never binds everything at once: the documented default `max_selected_tools` cap stays at 20, so breadth of capability does not mean uncontrolled tool sprawl per 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Why the counts matter</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README now surfaces the same operator picture the app exposes in practice: broad capability, selective planner binding, and a capped tool budget per request.</a:t>
            </a:r>
          </a:p>
          <a:p>
            <a:pPr>
              <a:spcAft>
                <a:spcPts val="400"/>
              </a:spcAft>
              <a:defRPr sz="1300">
                <a:solidFill>
                  <a:srgbClr val="B4BAAE"/>
                </a:solidFill>
                <a:latin typeface="Aptos"/>
              </a:defRPr>
            </a:pPr>
            <a:r>
              <a:t>Those counts complement the 89-agent bestiary instead of replacing it: skills, wrapped tools, and ACPX tools are different layers of the same operating surface.</a:t>
            </a:r>
          </a:p>
          <a:p>
            <a:pPr>
              <a:spcAft>
                <a:spcPts val="400"/>
              </a:spcAft>
              <a:defRPr sz="1300">
                <a:solidFill>
                  <a:srgbClr val="B4BAAE"/>
                </a:solidFill>
                <a:latin typeface="Aptos"/>
              </a:defRPr>
            </a:pPr>
            <a:r>
              <a:t>For dossier readers, this closes a gap between the capability narrative and the quick-glance repo badges at the top of the handbook.</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EMBEDDED-CLIENT KALI LINUX CONTROL FOR CHAT AND CANVAS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Kalier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Kalier is Tlamatini’s current Kali Linux bridge: a direct client for MCP-Kali-Server that lets her drive authorized recon, enumeration, web scanning, and offensive-security workflows from chat or canvas.</a:t>
            </a:r>
          </a:p>
          <a:p>
            <a:pPr>
              <a:spcAft>
                <a:spcPts val="400"/>
              </a:spcAft>
              <a:defRPr sz="1200">
                <a:solidFill>
                  <a:srgbClr val="B4BAAE"/>
                </a:solidFill>
                <a:latin typeface="Aptos"/>
              </a:defRPr>
            </a:pPr>
            <a:r>
              <a:t>It can issue one capability per run, including `nmap`, `gobuster`, `dirb`, `nikto`, `sqlmap`, `metasploit`, `hydra`, `john`, `wpscan`, `enum4linux`, arbitrary `command`, or a safe `health` probe of the remote server.</a:t>
            </a:r>
          </a:p>
          <a:p>
            <a:pPr>
              <a:spcAft>
                <a:spcPts val="400"/>
              </a:spcAft>
              <a:defRPr sz="1200">
                <a:solidFill>
                  <a:srgbClr val="B4BAAE"/>
                </a:solidFill>
                <a:latin typeface="Aptos"/>
              </a:defRPr>
            </a:pPr>
            <a:r>
              <a:t>The agent emits `INI_SECTION_KALIER` with `action`, `endpoint`, `subject`, `return_code`, `success`, `timed_out`, and `server_url`, so downstream Forker or Parametrizer logic can branch on results without scraping prose.</a:t>
            </a:r>
          </a:p>
          <a:p>
            <a:pPr>
              <a:spcAft>
                <a:spcPts val="400"/>
              </a:spcAft>
              <a:defRPr sz="1200">
                <a:solidFill>
                  <a:srgbClr val="B4BAAE"/>
                </a:solidFill>
                <a:latin typeface="Aptos"/>
              </a:defRPr>
            </a:pPr>
            <a:r>
              <a:t>The practical operator result is simpler prompts: after the Kali box URL is configured once, normal Multi-Turn requests no longer repeat `server_url` unless you intentionally override it for a one-off 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Two operator surfaces ship in lock-step: the wrapped Multi-Turn tool `chat_agent_kalier` now auto-injects the configured `kali_server_url`, while the visual Kalier canvas node still stores `server_url` explicitly in YAML per node.</a:t>
            </a:r>
          </a:p>
          <a:p>
            <a:pPr>
              <a:spcAft>
                <a:spcPts val="400"/>
              </a:spcAft>
              <a:defRPr sz="1200">
                <a:solidFill>
                  <a:srgbClr val="B4BAAE"/>
                </a:solidFill>
                <a:latin typeface="Aptos"/>
              </a:defRPr>
            </a:pPr>
            <a:r>
              <a:t>Kalier talks straight to the Kali-side Flask API over HTTP using Python-stdlib `urllib`, so it stays self-contained in the pool subprocess and works the same in source or frozen builds; the embedded-client injection fails open if the config value is blank or unreadable.</a:t>
            </a:r>
          </a:p>
          <a:p>
            <a:pPr>
              <a:spcAft>
                <a:spcPts val="400"/>
              </a:spcAft>
              <a:defRPr sz="1200">
                <a:solidFill>
                  <a:srgbClr val="B4BAAE"/>
                </a:solidFill>
                <a:latin typeface="Aptos"/>
              </a:defRPr>
            </a:pPr>
            <a:r>
              <a:t>Authorized use only: the intended operator flow is an in-scope lab, CTF, or permitted engagement, often with `ssh -L 5000:localhost:5000 user@KALI_IP` tunneling a remote Kali box back to `http://127.0.0.1:5000`, and the repo now includes `Tlamatini-Kali-Setup.md` for the zero-client walkthrough.</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CRITICAL-MISSION STM32 FIRMWARE CONTROL WITH DUAL BACKENDS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STM32er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STM32er is Tlamatini's critical-mission STM32 bridge. The established route talks to the `STM32 Template Project MCP` for STM32F407, while released `v1.42.0` adds a direct PlatformIO route for supported mainstream STM32 boards without removing that flow.</a:t>
            </a:r>
          </a:p>
          <a:p>
            <a:pPr>
              <a:spcAft>
                <a:spcPts val="400"/>
              </a:spcAft>
              <a:defRPr sz="1200">
                <a:solidFill>
                  <a:srgbClr val="B4BAAE"/>
                </a:solidFill>
                <a:latin typeface="Aptos"/>
              </a:defRPr>
            </a:pPr>
            <a:r>
              <a:t>Both backends keep zero-config intent: the template route bootstraps its MCP dependencies, and the new route resolves or installs PlatformIO Core in the same shared per-user location used by ESP32er.</a:t>
            </a:r>
          </a:p>
          <a:p>
            <a:pPr>
              <a:spcAft>
                <a:spcPts val="400"/>
              </a:spcAft>
              <a:defRPr sz="1200">
                <a:solidFill>
                  <a:srgbClr val="B4BAAE"/>
                </a:solidFill>
                <a:latin typeface="Aptos"/>
              </a:defRPr>
            </a:pPr>
            <a:r>
              <a:t>Backend-specific preflight preserves target safety: compile-only work may proceed without attached hardware, but upload, reset, serial, and live operations are refused when the required toolchain, project, board mapping, programmer, or ST-LINK evidence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Two operator surfaces ship in lock-step: the wrapped Multi-Turn tool `chat_agent_stm32er` takes one `action` per call, while the visual STM32er canvas node stores the same fields in YAML and triggers downstream agents on both success and failure.</a:t>
            </a:r>
          </a:p>
          <a:p>
            <a:pPr>
              <a:spcAft>
                <a:spcPts val="400"/>
              </a:spcAft>
              <a:defRPr sz="1200">
                <a:solidFill>
                  <a:srgbClr val="B4BAAE"/>
                </a:solidFill>
                <a:latin typeface="Aptos"/>
              </a:defRPr>
            </a:pPr>
            <a:r>
              <a:t>The tool surface retains the 23 MCP verbs and locally adds PlatformIO environment, board, project, source, build, flash, monitor, package, QA, artifact, and safe scaffold composites; every run still emits one `INI_SECTION_STM32ER` block for routing.</a:t>
            </a:r>
          </a:p>
          <a:p>
            <a:pPr>
              <a:spcAft>
                <a:spcPts val="400"/>
              </a:spcAft>
              <a:defRPr sz="1200">
                <a:solidFill>
                  <a:srgbClr val="B4BAAE"/>
                </a:solidFill>
                <a:latin typeface="Aptos"/>
              </a:defRPr>
            </a:pPr>
            <a:r>
              <a:t>Config seeding supplies both MCP and PlatformIO defaults, while `stm32_backend=auto`, `board`, and `device` keep the normal prompt focused on firmware intent. Newest-silicon CubeCLT/N6 handling remains proposal-only and is not advertised as implemented.</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PLATFORMIO-DRIVEN ESP32 FIRMWARE CONTROL</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ESP32er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ESP32er is Tlamatini’s current PlatformIO Core bridge: she can scaffold, author, build, upload, and monitor ESP32-class firmware without relying on an external MCP server or IDE.</a:t>
            </a:r>
          </a:p>
          <a:p>
            <a:pPr>
              <a:spcAft>
                <a:spcPts val="400"/>
              </a:spcAft>
              <a:defRPr sz="1200">
                <a:solidFill>
                  <a:srgbClr val="B4BAAE"/>
                </a:solidFill>
                <a:latin typeface="Aptos"/>
              </a:defRPr>
            </a:pPr>
            <a:r>
              <a:t>The operator promise is zero-config bootstrap: leave `pio_executable` blank and ESP32er downloads or pip-falls-back to PlatformIO Core on first use, validates it, and caches it under a per-user directory so the user installs only the board USB driver plus Tlamatini.</a:t>
            </a:r>
          </a:p>
          <a:p>
            <a:pPr>
              <a:spcAft>
                <a:spcPts val="400"/>
              </a:spcAft>
              <a:defRPr sz="1200">
                <a:solidFill>
                  <a:srgbClr val="B4BAAE"/>
                </a:solidFill>
                <a:latin typeface="Aptos"/>
              </a:defRPr>
            </a:pPr>
            <a:r>
              <a:t>Before any build-or-upload action, ESP32er runs a serial-aware preflight over `pio` resolution, project shape, and connected ports; upload and monitor require a real serial device, while non-espressif32 targets are warned about rather than hard-refused because PlatformIO is intentionally multi-target.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Two operator surfaces ship in lock-step: the wrapped Multi-Turn tool `chat_agent_esp32er` takes one `action` per call, while the visual ESP32er canvas node stores the same fields in YAML and triggers downstream agents on both success and failure.</a:t>
            </a:r>
          </a:p>
          <a:p>
            <a:pPr>
              <a:spcAft>
                <a:spcPts val="400"/>
              </a:spcAft>
              <a:defRPr sz="1100">
                <a:solidFill>
                  <a:srgbClr val="B4BAAE"/>
                </a:solidFill>
                <a:latin typeface="Aptos"/>
              </a:defRPr>
            </a:pPr>
            <a:r>
              <a:t>The tool surface covers environment/meta (`bootstrap`, `validate`, `system_info`, `boards`), project lifecycle (`create_project`, `write_source`, `read_source`, `list_sources`, `clean`), build and flash (`build`, `upload`, `build_and_upload`, `list_artifacts`), serial HIL (`device_list`, `monitor`, `monitor_session`), and package / QA paths (`pkg_install`, `pkg_list`, `pkg_update`, `check`, `test`), with every run emitting an `INI_SECTION_ESP32ER` block for Forker or Parametrizer routing.</a:t>
            </a:r>
          </a:p>
          <a:p>
            <a:pPr>
              <a:spcAft>
                <a:spcPts val="400"/>
              </a:spcAft>
              <a:defRPr sz="1100">
                <a:solidFill>
                  <a:srgbClr val="B4BAAE"/>
                </a:solidFill>
                <a:latin typeface="Aptos"/>
              </a:defRPr>
            </a:pPr>
            <a:r>
              <a:t>Config -&gt; URLs now seeds the chat path with `pio_executable` and `pio_core_dir`, so firmware prompts usually describe only the board, project, and task while the wrapped tool auto-injects the PlatformIO runtime plumbing.</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KNOWN-GOOD PLATFORMIO BASELINE FOR ESP32ER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ESP32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ESP32er now ships ESP32TemplateProject inside its agent directory. create_project copies its PlatformIO project and stamps the requested board/framework. The blink-and-print main.cpp supplies setup/loop for an Arduino build.</a:t>
            </a:r>
          </a:p>
          <a:p>
            <a:pPr>
              <a:spcAft>
                <a:spcPts val="400"/>
              </a:spcAft>
              <a:defRPr sz="1300">
                <a:solidFill>
                  <a:srgbClr val="B4BAAE"/>
                </a:solidFill>
                <a:latin typeface="Aptos"/>
              </a:defRPr>
            </a:pPr>
            <a:r>
              <a:t>Six tracked files include platformio.ini, src/main.cpp and README files for the root/include/lib/test directories. The narrow Git exception retains lib/README.md. No standalone GitHub repository or CI publication is implied by this bundled tree.</a:t>
            </a:r>
          </a:p>
          <a:p>
            <a:pPr>
              <a:spcAft>
                <a:spcPts val="400"/>
              </a:spcAft>
              <a:defRPr sz="1300">
                <a:solidFill>
                  <a:srgbClr val="B4BAAE"/>
                </a:solidFill>
                <a:latin typeface="Aptos"/>
              </a:defRPr>
            </a:pPr>
            <a:r>
              <a:t>Use a new project_dir, then build and inspect the result before upload/monitor. The copy merges with an existing destination and may overwrite matching template files. If the bundle is unavailable, pio project init falls back to minimal source when appropriate.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reference project gives Tlamatini a stable build/upload/monitor proving ground before a user asks her to generate larger ESP32 firmware.</a:t>
            </a:r>
          </a:p>
          <a:p>
            <a:pPr>
              <a:spcAft>
                <a:spcPts val="400"/>
              </a:spcAft>
              <a:defRPr sz="1300">
                <a:solidFill>
                  <a:srgbClr val="B4BAAE"/>
                </a:solidFill>
                <a:latin typeface="Aptos"/>
              </a:defRPr>
            </a:pPr>
            <a:r>
              <a:t>Because it is a plain PlatformIO repo, it matches the exact grain of `chat_agent_esp32er` and the visual ESP32er node instead of introducing another sidecar protocol.</a:t>
            </a:r>
          </a:p>
          <a:p>
            <a:pPr>
              <a:spcAft>
                <a:spcPts val="400"/>
              </a:spcAft>
              <a:defRPr sz="1300">
                <a:solidFill>
                  <a:srgbClr val="B4BAAE"/>
                </a:solidFill>
                <a:latin typeface="Aptos"/>
              </a:defRPr>
            </a:pPr>
            <a:r>
              <a:t>This closes the gap between the new agent and a practical first project a user can build, flash, and watch over serial on real silicon.</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ESPHOME-DRIVEN SMART-HOME FIRMWARE CONTROL</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ESPHomer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ESPHomer is Tlamatini’s ESPHome bridge: she can author YAML-based smart-home device configs, validate them, compile firmware, upload over USB or OTA, and observe logs without introducing an extra MCP server or IDE.</a:t>
            </a:r>
          </a:p>
          <a:p>
            <a:pPr>
              <a:spcAft>
                <a:spcPts val="400"/>
              </a:spcAft>
              <a:defRPr sz="1200">
                <a:solidFill>
                  <a:srgbClr val="B4BAAE"/>
                </a:solidFill>
                <a:latin typeface="Aptos"/>
              </a:defRPr>
            </a:pPr>
            <a:r>
              <a:t>The operator promise is zero-config bootstrap: leave `esphome_executable` blank and ESPHomer installs or resolves ESPHome on first use, so the user installs only the board USB driver plus Tlamatini.</a:t>
            </a:r>
          </a:p>
          <a:p>
            <a:pPr>
              <a:spcAft>
                <a:spcPts val="400"/>
              </a:spcAft>
              <a:defRPr sz="1200">
                <a:solidFill>
                  <a:srgbClr val="B4BAAE"/>
                </a:solidFill>
                <a:latin typeface="Aptos"/>
              </a:defRPr>
            </a:pPr>
            <a:r>
              <a:t>Before any compile-or-upload action, ESPHomer runs a fail-safe preflight over `esphome` resolution, YAML existence, and serial-or-OTA readiness; upload, run, and logs require a real serial board or an OTA host because the first flash is always USB.</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Two operator surfaces ship in lock-step: the wrapped Multi-Turn tool `chat_agent_esphomer` takes one `action` per call, while the visual ESPHomer canvas node stores the same fields in YAML and triggers downstream agents on both success and failure.</a:t>
            </a:r>
          </a:p>
          <a:p>
            <a:pPr>
              <a:spcAft>
                <a:spcPts val="400"/>
              </a:spcAft>
              <a:defRPr sz="1200">
                <a:solidFill>
                  <a:srgbClr val="B4BAAE"/>
                </a:solidFill>
                <a:latin typeface="Aptos"/>
              </a:defRPr>
            </a:pPr>
            <a:r>
              <a:t>The tool surface covers environment/meta (`bootstrap`, `validate`, `version`), device-YAML lifecycle (`new_config`, `write_config`, `read_config`, `config`, `clean`), build and flash (`compile`, `upload`, `run`, `list_artifacts`), bounded observation (`logs`), and the one-shot `scaffold_compile_upload` lifecycle.</a:t>
            </a:r>
          </a:p>
          <a:p>
            <a:pPr>
              <a:spcAft>
                <a:spcPts val="400"/>
              </a:spcAft>
              <a:defRPr sz="1200">
                <a:solidFill>
                  <a:srgbClr val="B4BAAE"/>
                </a:solidFill>
                <a:latin typeface="Aptos"/>
              </a:defRPr>
            </a:pPr>
            <a:r>
              <a:t>Config -&gt; URLs now seeds the chat path with `esphome_executable`, so smart-home firmware prompts usually describe only the device, board, and task while the wrapped tool auto-injects the ESPHome runtime plumbing.</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KNOWN-GOOD YAML BASELINE FOR ESPHOMER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ESPHome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ESPHomer's scaffold_template now copies the complete bundled ESPHomeTemplateProject into project_dir. It contains the light, a sensor example, common/base.yaml, placeholder secrets.yaml.example and a project .gitignore.</a:t>
            </a:r>
          </a:p>
          <a:p>
            <a:pPr>
              <a:spcAft>
                <a:spcPts val="400"/>
              </a:spcAft>
              <a:defRPr sz="1200">
                <a:solidFill>
                  <a:srgbClr val="B4BAAE"/>
                </a:solidFill>
                <a:latin typeface="Aptos"/>
              </a:defRPr>
            </a:pPr>
            <a:r>
              <a:t>new_config remains a separate single-device generator. use_secrets=true emits !secret references and creates a sibling secrets.yaml only when one does not already exist. Keep actual credentials outside Git and inspect the generated device YAML before compilation.</a:t>
            </a:r>
          </a:p>
          <a:p>
            <a:pPr>
              <a:spcAft>
                <a:spcPts val="400"/>
              </a:spcAft>
              <a:defRPr sz="1200">
                <a:solidFill>
                  <a:srgbClr val="B4BAAE"/>
                </a:solidFill>
                <a:latin typeface="Aptos"/>
              </a:defRPr>
            </a:pPr>
            <a:r>
              <a:t>Use a new destination for scaffold_template because its merge can replace matching template files. Validate configuration before compile/upload. A real board, USB driver and later OTA setup remain necessary for hardware verification, which was not performed in this refresh.</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bundled sample gives Tlamatini a stable validate/compile/upload proving ground before a user asks her to generate a custom ESPHome device.</a:t>
            </a:r>
          </a:p>
          <a:p>
            <a:pPr>
              <a:spcAft>
                <a:spcPts val="400"/>
              </a:spcAft>
              <a:defRPr sz="1300">
                <a:solidFill>
                  <a:srgbClr val="B4BAAE"/>
                </a:solidFill>
                <a:latin typeface="Aptos"/>
              </a:defRPr>
            </a:pPr>
            <a:r>
              <a:t>Because the source-of-truth is a single YAML file, it matches the exact grain of `chat_agent_esphomer` and the visual ESPHomer node instead of introducing a separate project-server protocol.</a:t>
            </a:r>
          </a:p>
          <a:p>
            <a:pPr>
              <a:spcAft>
                <a:spcPts val="400"/>
              </a:spcAft>
              <a:defRPr sz="1300">
                <a:solidFill>
                  <a:srgbClr val="B4BAAE"/>
                </a:solidFill>
                <a:latin typeface="Aptos"/>
              </a:defRPr>
            </a:pPr>
            <a:r>
              <a:t>This closes the gap between the new agent and a practical first device a user can build, flash, and then control from a smart-home hub.</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WHO SHE IS AND HOW SHE CAN IMPROVE HERSELF</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Self-Knowledge And Self-Modify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Version `1.8.0` gives Tlamatini a first-person self-knowledge map in `Tlamatini/agent/Tlamatini.md`, so she can answer more accurately about her own architecture, runtime modes, open ports, pages, and internal capability surface.</a:t>
            </a:r>
          </a:p>
          <a:p>
            <a:pPr>
              <a:spcAft>
                <a:spcPts val="400"/>
              </a:spcAft>
              <a:defRPr sz="1300">
                <a:solidFill>
                  <a:srgbClr val="B4BAAE"/>
                </a:solidFill>
                <a:latin typeface="Aptos"/>
              </a:defRPr>
            </a:pPr>
            <a:r>
              <a:t>That self-reference is injected into all prompt chains through `prompt.pmt` and `agent/rag/config.py`, but it fails open if the file is missing or unreadable and it never overrides a user-loaded project when the request is a generic summary of the provided context.</a:t>
            </a:r>
          </a:p>
          <a:p>
            <a:pPr>
              <a:spcAft>
                <a:spcPts val="400"/>
              </a:spcAft>
              <a:defRPr sz="1300">
                <a:solidFill>
                  <a:srgbClr val="B4BAAE"/>
                </a:solidFill>
                <a:latin typeface="Aptos"/>
              </a:defRPr>
            </a:pPr>
            <a:r>
              <a:t>The language contract matters too: when a pronoun is used for Tlamatini in the documentation or prompt guidance, she is referred to as `she` / `her`, matching the updated handbook identity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Self-modify and autonomy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Self-modification is a separate capability axis from frozen-vs-source runtime: only builds created with `python build.py --self-modify` bundle `TlamatiniSourceCode/` next to the application.</a:t>
            </a:r>
          </a:p>
          <a:p>
            <a:pPr>
              <a:spcAft>
                <a:spcPts val="400"/>
              </a:spcAft>
              <a:defRPr sz="1100">
                <a:solidFill>
                  <a:srgbClr val="B4BAAE"/>
                </a:solidFill>
                <a:latin typeface="Aptos"/>
              </a:defRPr>
            </a:pPr>
            <a:r>
              <a:t>When that directory is present, she can inspect and modify her own shipped source tree; when it is absent, she must say so plainly and fall back to her injected self-knowledge plus the surrounding docs.</a:t>
            </a:r>
          </a:p>
          <a:p>
            <a:pPr>
              <a:spcAft>
                <a:spcPts val="400"/>
              </a:spcAft>
              <a:defRPr sz="1100">
                <a:solidFill>
                  <a:srgbClr val="B4BAAE"/>
                </a:solidFill>
                <a:latin typeface="Aptos"/>
              </a:defRPr>
            </a:pPr>
            <a:r>
              <a:t>The build pipeline now announces that choice explicitly, so operators can tell whether a release is self-modify-capable before asking her to work on herself.</a:t>
            </a:r>
          </a:p>
          <a:p>
            <a:pPr>
              <a:spcAft>
                <a:spcPts val="400"/>
              </a:spcAft>
              <a:defRPr sz="1100">
                <a:solidFill>
                  <a:srgbClr val="B4BAAE"/>
                </a:solidFill>
                <a:latin typeface="Aptos"/>
              </a:defRPr>
            </a:pPr>
            <a:r>
              <a:t>The unified-agent loop now defaults to 4096 iterations instead of 256, giving long autonomous operator runs much more room before they exhaust the turn budget.</a:t>
            </a:r>
          </a:p>
          <a:p>
            <a:pPr>
              <a:spcAft>
                <a:spcPts val="400"/>
              </a:spcAft>
              <a:defRPr sz="1100">
                <a:solidFill>
                  <a:srgbClr val="B4BAAE"/>
                </a:solidFill>
                <a:latin typeface="Aptos"/>
              </a:defRPr>
            </a:pPr>
            <a:r>
              <a:t>That expansion is about conversational/tool-loop depth, not about blindly firing more tools at once: the planner’s selected-tool cap still keeps the tool surface bounded per request.</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DESKTOP WINDOW MANAGEMENT FOR CHAT AND CANVAS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Windower In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Windower is the new 66th workflow agent: a deterministic Win32 window manager that finds an application window by title and performs one lifecycle operation on the window itself instead of clicking inside it.</a:t>
            </a:r>
          </a:p>
          <a:p>
            <a:pPr>
              <a:spcAft>
                <a:spcPts val="400"/>
              </a:spcAft>
              <a:defRPr sz="1300">
                <a:solidFill>
                  <a:srgbClr val="B4BAAE"/>
                </a:solidFill>
                <a:latin typeface="Aptos"/>
              </a:defRPr>
            </a:pPr>
            <a:r>
              <a:t>It supports `focus`, `minimize`, `maximize`, `restore`, `move`, `resize`, `move_resize`, `close`, `topmost`, `untopmost`, `arrange`, and `list`, with `substring`, `exact`, or `regex` title matching plus `match_index` for duplicate titles.</a:t>
            </a:r>
          </a:p>
          <a:p>
            <a:pPr>
              <a:spcAft>
                <a:spcPts val="400"/>
              </a:spcAft>
              <a:defRPr sz="1300">
                <a:solidFill>
                  <a:srgbClr val="B4BAAE"/>
                </a:solidFill>
                <a:latin typeface="Aptos"/>
              </a:defRPr>
            </a:pPr>
            <a:r>
              <a:t>The agent emits `INI_SECTION_WINDOWER` with `action`, `window_title`, `matched`, `match_count`, `state`, `left`, `top`, `width`, and `height`, so downstream Forker or Parametrizer logic can branch on presence, state, or geometry.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Two operator surfaces ship in lock-step: the wrapped Multi-Turn tool `chat_agent_windower` accepts free-form key=value requests, while the visual Windower canvas node stores the same operation fields in YAML.</a:t>
            </a:r>
          </a:p>
          <a:p>
            <a:pPr>
              <a:spcAft>
                <a:spcPts val="400"/>
              </a:spcAft>
              <a:defRPr sz="1300">
                <a:solidFill>
                  <a:srgbClr val="B4BAAE"/>
                </a:solidFill>
                <a:latin typeface="Aptos"/>
              </a:defRPr>
            </a:pPr>
            <a:r>
              <a:t>Windower is the desktop-window sibling of Mouser and Keyboarder: use Windower when the goal is the window as a whole, Mouser for controls inside it, and Keyboarder for text entry into it.</a:t>
            </a:r>
          </a:p>
          <a:p>
            <a:pPr>
              <a:spcAft>
                <a:spcPts val="400"/>
              </a:spcAft>
              <a:defRPr sz="1300">
                <a:solidFill>
                  <a:srgbClr val="B4BAAE"/>
                </a:solidFill>
                <a:latin typeface="Aptos"/>
              </a:defRPr>
            </a:pPr>
            <a:r>
              <a:t>Because Windower changes real window state, its executions appear in Exec Report and it always triggers `target_agents` whether the action succeeds or fails.</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REAL-BROWSER AUTOMATION FOR CHAT AND CANVAS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Playwrighter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Playwrighter is the new 65th workflow agent in `v1.5.0`: a deterministic Playwright-powered browser automator for Chromium, Firefox, or WebKit that executes ordered interactive steps instead of static fetches.</a:t>
            </a:r>
          </a:p>
          <a:p>
            <a:pPr>
              <a:spcAft>
                <a:spcPts val="400"/>
              </a:spcAft>
              <a:defRPr sz="1300">
                <a:solidFill>
                  <a:srgbClr val="B4BAAE"/>
                </a:solidFill>
                <a:latin typeface="Aptos"/>
              </a:defRPr>
            </a:pPr>
            <a:r>
              <a:t>It covers the gap between Crawler and Googler: logins, multi-step forms, wizard clicks, JS-rendered SPA scraping, screenshots after interaction, assertions, downloads, and authenticated end-to-end UI checks.</a:t>
            </a:r>
          </a:p>
          <a:p>
            <a:pPr>
              <a:spcAft>
                <a:spcPts val="400"/>
              </a:spcAft>
              <a:defRPr sz="1300">
                <a:solidFill>
                  <a:srgbClr val="B4BAAE"/>
                </a:solidFill>
                <a:latin typeface="Aptos"/>
              </a:defRPr>
            </a:pPr>
            <a:r>
              <a:t>The agent emits `INI_SECTION_PLAYWRIGHTER` with `start_url`, `final_url`, `status`, `steps_run`, `assert_result`, and extracted values so downstream Forker or Parametrizer logic can branch on pass/fail or reuse scraped data.</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Two operator surfaces ship in lock-step: the wrapped Multi-Turn tool `chat_agent_playwrighter` takes the whole script as `steps_json`, while the visual Playwrighter canvas node stores the same declarative step list in YAML.</a:t>
            </a:r>
          </a:p>
          <a:p>
            <a:pPr>
              <a:spcAft>
                <a:spcPts val="400"/>
              </a:spcAft>
              <a:defRPr sz="1300">
                <a:solidFill>
                  <a:srgbClr val="B4BAAE"/>
                </a:solidFill>
                <a:latin typeface="Aptos"/>
              </a:defRPr>
            </a:pPr>
            <a:r>
              <a:t>Session continuity is built in: `headless: false` lets operators watch it drive, and `storage_state_in` / `storage_state_out` carry login state across runs without forcing a manual browser setup each time.</a:t>
            </a:r>
          </a:p>
          <a:p>
            <a:pPr>
              <a:spcAft>
                <a:spcPts val="400"/>
              </a:spcAft>
              <a:defRPr sz="1300">
                <a:solidFill>
                  <a:srgbClr val="B4BAAE"/>
                </a:solidFill>
                <a:latin typeface="Aptos"/>
              </a:defRPr>
            </a:pPr>
            <a:r>
              <a:t>Because Playwrighter is state-changing, its executions appear in Exec Report and it always triggers `target_agents` whether the run succeeds or fails.</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COMMIT-STATE AND SECRET-HANDLING REFINEMENT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Reviewer Precision In v1.4.1</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Behavioral accuracy patch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`v1.4.1` Reviewer refinement tightened accuracy rather than adding a new surface: when `diff_ref` is empty, the review prompt labels the diff as the uncommitted working tree plus staged area, so the model must not describe those findings as already committed or pushed.</a:t>
            </a:r>
          </a:p>
          <a:p>
            <a:pPr>
              <a:spcAft>
                <a:spcPts val="400"/>
              </a:spcAft>
              <a:defRPr sz="1200">
                <a:solidFill>
                  <a:srgbClr val="B4BAAE"/>
                </a:solidFill>
                <a:latin typeface="Aptos"/>
              </a:defRPr>
            </a:pPr>
            <a:r>
              <a:t>The same patch teaches the model Tlamatini’s managed-secret convention: `agent/config.json` and selected `agent/agents/*/config.yaml` files can hold live local credentials in a keyed working copy, while `regen_secrets.py --mode push-able` scrubs them back to placeholders before commit.</a:t>
            </a:r>
          </a:p>
          <a:p>
            <a:pPr>
              <a:spcAft>
                <a:spcPts val="400"/>
              </a:spcAft>
              <a:defRPr sz="1200">
                <a:solidFill>
                  <a:srgbClr val="B4BAAE"/>
                </a:solidFill>
                <a:latin typeface="Aptos"/>
              </a:defRPr>
            </a:pPr>
            <a:r>
              <a:t>That guidance is mirrored into the `code-review` SKILL.md package too, keeping the chat-surface review behavior and the canvas Reviewer agent aligned on commit-state wording and secret-severity expectations.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Local working-copy credentials in managed config files are no longer described as already committed when the diff is still uncommitted or only staged.</a:t>
            </a:r>
          </a:p>
          <a:p>
            <a:pPr>
              <a:spcAft>
                <a:spcPts val="400"/>
              </a:spcAft>
              <a:defRPr sz="1300">
                <a:solidFill>
                  <a:srgbClr val="B4BAAE"/>
                </a:solidFill>
                <a:latin typeface="Aptos"/>
              </a:defRPr>
            </a:pPr>
            <a:r>
              <a:t>Review findings stay stricter on true secrets in source code or outside the managed scrub-path set, so the patch reduces noise without weakening real security findings.</a:t>
            </a:r>
          </a:p>
          <a:p>
            <a:pPr>
              <a:spcAft>
                <a:spcPts val="400"/>
              </a:spcAft>
              <a:defRPr sz="1300">
                <a:solidFill>
                  <a:srgbClr val="B4BAAE"/>
                </a:solidFill>
                <a:latin typeface="Aptos"/>
              </a:defRPr>
            </a:pPr>
            <a:r>
              <a:t>The same rules apply in both the canvas Reviewer agent and the `code-review` skill, keeping the two review surfaces behaviorally aligned.</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TKINTER REMOVED FROM THE UNSTABLE RUNTIME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Native Dialogs In v1.4.2</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current tagged release `v1.4.2` removes Tkinter from the unstable runtime-facing dialog path and replaces it with `Tlamatini/agent/native_dialogs.py`, a native Windows dialog bridge used by browser-triggered pickers.</a:t>
            </a:r>
          </a:p>
          <a:p>
            <a:pPr>
              <a:spcAft>
                <a:spcPts val="400"/>
              </a:spcAft>
              <a:defRPr sz="1300">
                <a:solidFill>
                  <a:srgbClr val="B4BAAE"/>
                </a:solidFill>
                <a:latin typeface="Aptos"/>
              </a:defRPr>
            </a:pPr>
            <a:r>
              <a:t>This change pairs with the existing DB and operator dialogs: file and folder selection still feels local and GUI-first, but the fragile Tkinter dependency is no longer part of the interactive runtime path that users trigger from chat or ACP surfaces.</a:t>
            </a:r>
          </a:p>
          <a:p>
            <a:pPr>
              <a:spcAft>
                <a:spcPts val="400"/>
              </a:spcAft>
              <a:defRPr sz="1300">
                <a:solidFill>
                  <a:srgbClr val="B4BAAE"/>
                </a:solidFill>
                <a:latin typeface="Aptos"/>
              </a:defRPr>
            </a:pPr>
            <a:r>
              <a:t>The patch arrived with dedicated tests (`test_native_dialogs.py`) and with follow-up orphan-reaper/runtime adjustments, so the release reads as a stability pass rather than a cosmetic refactor.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Release meaning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This stability-focused patch sits immediately before the current `v1.5.0` Playwrighter release and remains part of the current operator/runtime story.</a:t>
            </a:r>
          </a:p>
          <a:p>
            <a:pPr>
              <a:spcAft>
                <a:spcPts val="400"/>
              </a:spcAft>
              <a:defRPr sz="1300">
                <a:solidFill>
                  <a:srgbClr val="B4BAAE"/>
                </a:solidFill>
                <a:latin typeface="Aptos"/>
              </a:defRPr>
            </a:pPr>
            <a:r>
              <a:t>It preserves the operator experience of Browse-driven file and folder picking while removing a UI technology that was destabilizing the application.</a:t>
            </a:r>
          </a:p>
          <a:p>
            <a:pPr>
              <a:spcAft>
                <a:spcPts val="400"/>
              </a:spcAft>
              <a:defRPr sz="1300">
                <a:solidFill>
                  <a:srgbClr val="B4BAAE"/>
                </a:solidFill>
                <a:latin typeface="Aptos"/>
              </a:defRPr>
            </a:pPr>
            <a:r>
              <a:t>Because the fix landed with tests and runtime cleanup updates, it belongs in the technical dossier even though the markdown handbook has not yet been fully rewritten around it.</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INBOUND AUTOMATION BOUNDARY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Gatewayer And External Signals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Ingress role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Receives HTTP webhook events or optional folder-drop files.</a:t>
            </a:r>
          </a:p>
          <a:p>
            <a:pPr>
              <a:spcAft>
                <a:spcPts val="400"/>
              </a:spcAft>
              <a:defRPr sz="1500">
                <a:solidFill>
                  <a:srgbClr val="B4BAAE"/>
                </a:solidFill>
                <a:latin typeface="Aptos"/>
              </a:defRPr>
            </a:pPr>
            <a:r>
              <a:t>Normalizes, persists, queues, and dispatches events into downstream workflow agents.</a:t>
            </a:r>
          </a:p>
          <a:p>
            <a:pPr>
              <a:spcAft>
                <a:spcPts val="400"/>
              </a:spcAft>
              <a:defRPr sz="1500">
                <a:solidFill>
                  <a:srgbClr val="B4BAAE"/>
                </a:solidFill>
                <a:latin typeface="Aptos"/>
              </a:defRPr>
            </a:pPr>
            <a:r>
              <a:t>Supports bearer/HMAC-style auth patterns, IP allowlists, dedup files, and crash recovery state.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Operating note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Gatewayer is a workflow trigger, not a chat-router clone.</a:t>
            </a:r>
          </a:p>
          <a:p>
            <a:pPr>
              <a:spcAft>
                <a:spcPts val="400"/>
              </a:spcAft>
              <a:defRPr sz="1600">
                <a:solidFill>
                  <a:srgbClr val="B4BAAE"/>
                </a:solidFill>
                <a:latin typeface="Aptos"/>
              </a:defRPr>
            </a:pPr>
            <a:r>
              <a:t>Declared config fields are now documented with clear caveats where enforcement is not complete.</a:t>
            </a:r>
          </a:p>
          <a:p>
            <a:pPr>
              <a:spcAft>
                <a:spcPts val="400"/>
              </a:spcAft>
              <a:defRPr sz="1600">
                <a:solidFill>
                  <a:srgbClr val="B4BAAE"/>
                </a:solidFill>
                <a:latin typeface="Aptos"/>
              </a:defRPr>
            </a:pPr>
            <a:r>
              <a:t>Stable log markers let Monitor Log and Summarizer watch gateway health.</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To Use Tlamatini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Run from source: create a virtual environment, install requirements, migrate, create a superuser, collect static files, and start Django.</a:t>
            </a:r>
          </a:p>
          <a:p>
            <a:pPr>
              <a:spcAft>
                <a:spcPts val="400"/>
              </a:spcAft>
              <a:defRPr sz="1100">
                <a:solidFill>
                  <a:srgbClr val="B4BAAE"/>
                </a:solidFill>
                <a:latin typeface="Aptos"/>
              </a:defRPr>
            </a:pPr>
            <a:r>
              <a:t>Open `/agent/` for chat. Load a file or directory context before asking codebase-specific questions.</a:t>
            </a:r>
          </a:p>
          <a:p>
            <a:pPr>
              <a:spcAft>
                <a:spcPts val="400"/>
              </a:spcAft>
              <a:defRPr sz="1100">
                <a:solidFill>
                  <a:srgbClr val="B4BAAE"/>
                </a:solidFill>
                <a:latin typeface="Aptos"/>
              </a:defRPr>
            </a:pPr>
            <a:r>
              <a:t>Keep Multi-Turn unchecked for direct Q&amp;A; enable Multi-Turn for tasks that need tools, wrapped agents, monitoring, or workflow seeding.</a:t>
            </a:r>
          </a:p>
          <a:p>
            <a:pPr>
              <a:spcAft>
                <a:spcPts val="400"/>
              </a:spcAft>
              <a:defRPr sz="1100">
                <a:solidFill>
                  <a:srgbClr val="B4BAAE"/>
                </a:solidFill>
                <a:latin typeface="Aptos"/>
              </a:defRPr>
            </a:pPr>
            <a:r>
              <a:t>Use `chat_agent_globber` to find files, `chat_agent_grepper` to search or read a range with output_mode=lines, and `chat_agent_editor` for an exact in-place change. Use content_b64 for line-ending-safe text transport and observe Editor's UTF-8 scope.</a:t>
            </a:r>
          </a:p>
          <a:p>
            <a:pPr>
              <a:spcAft>
                <a:spcPts val="400"/>
              </a:spcAft>
              <a:defRPr sz="1100">
                <a:solidFill>
                  <a:srgbClr val="B4BAAE"/>
                </a:solidFill>
                <a:latin typeface="Aptos"/>
              </a:defRPr>
            </a:pPr>
            <a:r>
              <a:t>To use the External MCP capability, open `External -&gt; MCPs`, register or import a server into `external_mcps.json`, choose the transport/runtime fields, and let the dialog connect it before expecting its `ext__&lt;server&gt;__&lt;tool&gt;` tools to appear in Multi-Turn.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Tick `Ask Execs` when you want human approval before each state-changing Multi-Turn step; it is disabled until Multi-Turn is on, and a single Deny stops the whole chain with an explicit red interruption banner.</a:t>
            </a:r>
          </a:p>
          <a:p>
            <a:pPr>
              <a:spcAft>
                <a:spcPts val="400"/>
              </a:spcAft>
              <a:defRPr sz="1000">
                <a:solidFill>
                  <a:srgbClr val="B4BAAE"/>
                </a:solidFill>
                <a:latin typeface="Aptos"/>
              </a:defRPr>
            </a:pPr>
            <a:r>
              <a:t>When you are using a packaged install on Windows 10 or Windows 11, uninstall it through Settings -&gt; Apps -&gt; Installed apps or the legacy Programs and Features entry, not by manually deleting the folder.</a:t>
            </a:r>
          </a:p>
          <a:p>
            <a:pPr>
              <a:spcAft>
                <a:spcPts val="400"/>
              </a:spcAft>
              <a:defRPr sz="1000">
                <a:solidFill>
                  <a:srgbClr val="B4BAAE"/>
                </a:solidFill>
                <a:latin typeface="Aptos"/>
              </a:defRPr>
            </a:pPr>
            <a:r>
              <a:t>If an Ask Execs approval dialog or a Notifier event needs you while the browser is buried, watch for Tlamatini’s taskbar-attention flash and the matching uppercase banner in `tlamatini.log`.</a:t>
            </a:r>
          </a:p>
          <a:p>
            <a:pPr>
              <a:spcAft>
                <a:spcPts val="400"/>
              </a:spcAft>
              <a:defRPr sz="1000">
                <a:solidFill>
                  <a:srgbClr val="B4BAAE"/>
                </a:solidFill>
                <a:latin typeface="Aptos"/>
              </a:defRPr>
            </a:pPr>
            <a:r>
              <a:t>If you want her to inspect or modify herself, verify that `TlamatiniSourceCode/` exists in the current build first; self-modify is optional and absent builds must be treated honestly as read-only about their own code tree.</a:t>
            </a:r>
          </a:p>
          <a:p>
            <a:pPr>
              <a:spcAft>
                <a:spcPts val="400"/>
              </a:spcAft>
              <a:defRPr sz="1000">
                <a:solidFill>
                  <a:srgbClr val="B4BAAE"/>
                </a:solidFill>
                <a:latin typeface="Aptos"/>
              </a:defRPr>
            </a:pPr>
            <a:r>
              <a:t>For authorized Kali Linux assessments, run MCP-Kali-Server on the Kali box, set `Config -&gt; URLs -&gt; Kali server (Kalier)` once, and then call `chat_agent_kalier` from Multi-Turn with the desired `action` and `target` without repeating the box URL each turn.</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To Use Tlamatini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When you are onboarding or debugging an external MCP, call `chat_agent_mcp_doctor` first or use the MCP Doctor workflow node; it can tell you whether the issue is transport selection, a missing runtime on PATH, placeholder secrets, or a bad endpoint before you spend time on a live connect attempt.</a:t>
            </a:r>
          </a:p>
          <a:p>
            <a:pPr>
              <a:spcAft>
                <a:spcPts val="400"/>
              </a:spcAft>
              <a:defRPr sz="1000">
                <a:solidFill>
                  <a:srgbClr val="B4BAAE"/>
                </a:solidFill>
                <a:latin typeface="Aptos"/>
              </a:defRPr>
            </a:pPr>
            <a:r>
              <a:t>If you want a guided external-MCP onboarding flow, use the Step-by-Step mode in the External MCP dialog so each required field is introduced progressively instead of dumping the whole connection contract at once.</a:t>
            </a:r>
          </a:p>
          <a:p>
            <a:pPr>
              <a:spcAft>
                <a:spcPts val="400"/>
              </a:spcAft>
              <a:defRPr sz="1000">
                <a:solidFill>
                  <a:srgbClr val="B4BAAE"/>
                </a:solidFill>
                <a:latin typeface="Aptos"/>
              </a:defRPr>
            </a:pPr>
            <a:r>
              <a:t>For a deterministic MCP setup, invoke the `adding-external-mcp` skill and follow classify -&gt; import -&gt; doctor -&gt; activate -&gt; wait -&gt; status/list -&gt; call; do not treat a saved catalog row as a connected server.</a:t>
            </a:r>
          </a:p>
          <a:p>
            <a:pPr>
              <a:spcAft>
                <a:spcPts val="400"/>
              </a:spcAft>
              <a:defRPr sz="1000">
                <a:solidFill>
                  <a:srgbClr val="B4BAAE"/>
                </a:solidFill>
                <a:latin typeface="Aptos"/>
              </a:defRPr>
            </a:pPr>
            <a:r>
              <a:t>Use Config -&gt; Access Keys Wizard when you need to wire or update provider credentials without editing `config.json` manually.</a:t>
            </a:r>
          </a:p>
          <a:p>
            <a:pPr>
              <a:spcAft>
                <a:spcPts val="400"/>
              </a:spcAft>
              <a:defRPr sz="1000">
                <a:solidFill>
                  <a:srgbClr val="B4BAAE"/>
                </a:solidFill>
                <a:latin typeface="Aptos"/>
              </a:defRPr>
            </a:pPr>
            <a:r>
              <a:t>Use About -&gt; Check for updates on packaged installs when you want Tlamatini to fetch and stage the latest release without manually replacing the install folder.</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For local nmap reconnaissance, install nmap yourself or call `chat_agent_nmapper` with `action='install'` to launch the official free installer; then use `quick`, `full`, `top_ports`, `version`, `scripts`, `host_discovery`, `udp`, `custom`, or `validate` only against hosts you own or are explicitly authorized to test.</a:t>
            </a:r>
          </a:p>
          <a:p>
            <a:pPr>
              <a:spcAft>
                <a:spcPts val="400"/>
              </a:spcAft>
              <a:defRPr sz="900">
                <a:solidFill>
                  <a:srgbClr val="B4BAAE"/>
                </a:solidFill>
                <a:latin typeface="Aptos"/>
              </a:defRPr>
            </a:pPr>
            <a:r>
              <a:t>For Internet measurement, call `chat_agent_netspeed_calculator` once with `latency` or `validate` for low-bandwidth diagnosis, or explicitly approve `full` / `download` / `upload` knowing a full run commonly transfers 100-200 MB; report the confidence interval and provider disagreement, not only one Mbps number.</a:t>
            </a:r>
          </a:p>
          <a:p>
            <a:pPr>
              <a:spcAft>
                <a:spcPts val="400"/>
              </a:spcAft>
              <a:defRPr sz="900">
                <a:solidFill>
                  <a:srgbClr val="B4BAAE"/>
                </a:solidFill>
                <a:latin typeface="Aptos"/>
              </a:defRPr>
            </a:pPr>
            <a:r>
              <a:t>For STM32 firmware work, install STM32CubeIDE, leave `Config -&gt; URLs -&gt; STM32 MCP server script` blank for zero-config bootstrap, and then call `chat_agent_stm32er` from Multi-Turn with one `action` at a time such as `validate`, `create_project`, `write_source`, `build`, `build_and_flash`, `serial_session`, or `live_monitor`.</a:t>
            </a:r>
          </a:p>
          <a:p>
            <a:pPr>
              <a:spcAft>
                <a:spcPts val="400"/>
              </a:spcAft>
              <a:defRPr sz="900">
                <a:solidFill>
                  <a:srgbClr val="B4BAAE"/>
                </a:solidFill>
                <a:latin typeface="Aptos"/>
              </a:defRPr>
            </a:pPr>
            <a:r>
              <a:t>For ESP32 firmware work, leave `Config -&gt; URLs -&gt; pio_executable` blank for zero-config PlatformIO bootstrap, then call `chat_agent_esp32er` from Multi-Turn with actions like `bootstrap`, `validate`, `create_project`, `write_source`, `build`, `upload`, `build_and_upload`, `monitor`, or `monitor_session`.</a:t>
            </a:r>
          </a:p>
          <a:p>
            <a:pPr>
              <a:spcAft>
                <a:spcPts val="400"/>
              </a:spcAft>
              <a:defRPr sz="900">
                <a:solidFill>
                  <a:srgbClr val="B4BAAE"/>
                </a:solidFill>
                <a:latin typeface="Aptos"/>
              </a:defRPr>
            </a:pPr>
            <a:r>
              <a:t>For ESPHome smart-home firmware work, leave `Config -&gt; URLs -&gt; esphome_executable` blank for zero-config bootstrap, then call `chat_agent_esphomer` from Multi-Turn with actions like `bootstrap`, `validate`, `new_config`, `config`, `compile`, `upload`, `logs`, or the one-shot `scaffold_compile_upload` flow.</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To Use Tlamatini (3/4)</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C48052"/>
                </a:solidFill>
                <a:latin typeface="Aptos"/>
              </a:rPr>
              <a:t>Workflows and releases</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For desktop-window control, call `chat_agent_windower` from Multi-Turn to focus, tile, resize, list, or close a window by title, or model the same action in ACP with the Windower node.</a:t>
            </a:r>
          </a:p>
          <a:p>
            <a:pPr>
              <a:spcAft>
                <a:spcPts val="400"/>
              </a:spcAft>
              <a:defRPr sz="1400">
                <a:solidFill>
                  <a:srgbClr val="B4BAAE"/>
                </a:solidFill>
                <a:latin typeface="Aptos"/>
              </a:defRPr>
            </a:pPr>
            <a:r>
              <a:t>For interactive web automation, call `chat_agent_playwrighter` from Multi-Turn with a `steps_json` script, or author the same step list visually with the Playwrighter node on the canvas.</a:t>
            </a:r>
          </a:p>
          <a:p>
            <a:pPr>
              <a:spcAft>
                <a:spcPts val="400"/>
              </a:spcAft>
              <a:defRPr sz="1400">
                <a:solidFill>
                  <a:srgbClr val="B4BAAE"/>
                </a:solidFill>
                <a:latin typeface="Aptos"/>
              </a:defRPr>
            </a:pPr>
            <a:r>
              <a:t>For Blender work, enable the official Blender MCP add-on in Blender, make sure its TCP listener is reachable (default `localhost:9876`), then call `chat_agent_blenderer` from Multi-Turn or use the Blenderer node on the canvas.</a:t>
            </a:r>
          </a:p>
          <a:p>
            <a:pPr>
              <a:spcAft>
                <a:spcPts val="400"/>
              </a:spcAft>
              <a:defRPr sz="1400">
                <a:solidFill>
                  <a:srgbClr val="B4BAAE"/>
                </a:solidFill>
                <a:latin typeface="Aptos"/>
              </a:defRPr>
            </a:pPr>
            <a:r>
              <a:t>For Unreal Engine work, enable the Unreal MCP plugin inside a live UE5 project first, then call `chat_agent_unrealer` from Multi-Turn or use the visual Unrealer node on the canvas.</a:t>
            </a:r>
          </a:p>
          <a:p>
            <a:pPr>
              <a:spcAft>
                <a:spcPts val="400"/>
              </a:spcAft>
              <a:defRPr sz="1400">
                <a:solidFill>
                  <a:srgbClr val="B4BAAE"/>
                </a:solidFill>
                <a:latin typeface="Aptos"/>
              </a:defRPr>
            </a:pPr>
            <a:r>
              <a:t>Archive jobs can now be described directly in Multi-Turn or modeled visually in ACP: De-Compresser infers compress vs decompress from the `input` or `output` extension.</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To Use Tlamatini (4/4)</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C48052"/>
                </a:solidFill>
                <a:latin typeface="Aptos"/>
              </a:rPr>
              <a:t>Workflows and releases</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If a second post-answer warning bubble ever lists surviving `name + PID` entries, treat it as an honest cleanup report and end the listed processes manually from Task Manager if needed.</a:t>
            </a:r>
          </a:p>
          <a:p>
            <a:pPr>
              <a:spcAft>
                <a:spcPts val="400"/>
              </a:spcAft>
              <a:defRPr sz="1400">
                <a:solidFill>
                  <a:srgbClr val="B4BAAE"/>
                </a:solidFill>
                <a:latin typeface="Aptos"/>
              </a:defRPr>
            </a:pPr>
            <a:r>
              <a:t>Use the `ACPX-Skills` navbar menu when you need to browse, enable/disable, diagnose, or reload the shipped SKILL.md catalog without asking the LLM to be your admin surface.</a:t>
            </a:r>
          </a:p>
          <a:p>
            <a:pPr>
              <a:spcAft>
                <a:spcPts val="400"/>
              </a:spcAft>
              <a:defRPr sz="1400">
                <a:solidFill>
                  <a:srgbClr val="B4BAAE"/>
                </a:solidFill>
                <a:latin typeface="Aptos"/>
              </a:defRPr>
            </a:pPr>
            <a:r>
              <a:t>Use the DB dropdown when you need a safe database snapshot or want to stage a different `db.sqlite3` for the next start-up without hot-swapping the live SQLite file.</a:t>
            </a:r>
          </a:p>
          <a:p>
            <a:pPr>
              <a:spcAft>
                <a:spcPts val="400"/>
              </a:spcAft>
              <a:defRPr sz="1400">
                <a:solidFill>
                  <a:srgbClr val="B4BAAE"/>
                </a:solidFill>
                <a:latin typeface="Aptos"/>
              </a:defRPr>
            </a:pPr>
            <a:r>
              <a:t>Open `/agentic_control_panel/` to drag agents, connect them, configure each node, validate, start, pause/resume, stop, and save `.flw` workflows.</a:t>
            </a:r>
          </a:p>
          <a:p>
            <a:pPr>
              <a:spcAft>
                <a:spcPts val="400"/>
              </a:spcAft>
              <a:defRPr sz="1400">
                <a:solidFill>
                  <a:srgbClr val="B4BAAE"/>
                </a:solidFill>
                <a:latin typeface="Aptos"/>
              </a:defRPr>
            </a:pPr>
            <a:r>
              <a:t>Use `python build.py`, `python build_uninstaller.py`, and `python build_installer.py` only when producing a packaged Windows release.</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COMMANDS THAT MATTER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Source Mode Bootstrap</a:t>
            </a:r>
          </a:p>
        </p:txBody>
      </p:sp>
      <p:sp>
        <p:nvSpPr>
          <p:cNvPr id="9" name="TextBox 8"/>
          <p:cNvSpPr txBox="1"/>
          <p:nvPr/>
        </p:nvSpPr>
        <p:spPr>
          <a:xfrm>
            <a:off x="841248" y="1600200"/>
            <a:ext cx="10378440" cy="2743200"/>
          </a:xfrm>
          <a:prstGeom prst="rect">
            <a:avLst/>
          </a:prstGeom>
          <a:noFill/>
        </p:spPr>
        <p:txBody>
          <a:bodyPr wrap="square" anchor="t" lIns="12700" rIns="76200" tIns="12700" bIns="12700">
            <a:normAutofit/>
          </a:bodyPr>
          <a:lstStyle/>
          <a:p>
            <a:pPr algn="l"/>
            <a:r>
              <a:rPr sz="1800" b="0">
                <a:solidFill>
                  <a:srgbClr val="E8E8DE"/>
                </a:solidFill>
                <a:latin typeface="Cascadia Mono"/>
              </a:rPr>
              <a:t>python -m venv venv
venv\Scripts\activate
pip install -r requirements.txt
python Tlamatini/manage.py migrate
python Tlamatini/manage.py createsuperuser
python Tlamatini/manage.py collectstatic --noinput
python Tlamatini/manage.py runserver --noreload</a:t>
            </a:r>
          </a:p>
        </p:txBody>
      </p:sp>
      <p:sp>
        <p:nvSpPr>
          <p:cNvPr id="10" name="Rounded Rectangle 9"/>
          <p:cNvSpPr/>
          <p:nvPr/>
        </p:nvSpPr>
        <p:spPr>
          <a:xfrm>
            <a:off x="841248" y="4663440"/>
            <a:ext cx="10378440" cy="107899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1248" y="4663440"/>
            <a:ext cx="103784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6" y="4864607"/>
            <a:ext cx="9976104" cy="310896"/>
          </a:xfrm>
          <a:prstGeom prst="rect">
            <a:avLst/>
          </a:prstGeom>
          <a:noFill/>
        </p:spPr>
        <p:txBody>
          <a:bodyPr wrap="square" anchor="t" lIns="12700" rIns="76200" tIns="12700" bIns="12700">
            <a:normAutofit/>
          </a:bodyPr>
          <a:lstStyle/>
          <a:p>
            <a:pPr algn="l"/>
            <a:r>
              <a:rPr sz="1400" b="1">
                <a:solidFill>
                  <a:srgbClr val="48BF8F"/>
                </a:solidFill>
                <a:latin typeface="Aptos"/>
              </a:rPr>
              <a:t>First run checklist</a:t>
            </a:r>
          </a:p>
        </p:txBody>
      </p:sp>
      <p:sp>
        <p:nvSpPr>
          <p:cNvPr id="13" name="TextBox 12"/>
          <p:cNvSpPr txBox="1"/>
          <p:nvPr/>
        </p:nvSpPr>
        <p:spPr>
          <a:xfrm>
            <a:off x="1042416" y="5321807"/>
            <a:ext cx="9976104" cy="274319"/>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Open the browser, log in with your source-mode superuser, load a context path, and decide whether the task needs Multi-Turn.</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Installation And Configuration</a:t>
            </a:r>
          </a:p>
        </p:txBody>
      </p:sp>
      <p:sp>
        <p:nvSpPr>
          <p:cNvPr id="9" name="Rounded Rectangle 8"/>
          <p:cNvSpPr/>
          <p:nvPr/>
        </p:nvSpPr>
        <p:spPr>
          <a:xfrm>
            <a:off x="713232" y="146304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46903" cy="310896"/>
          </a:xfrm>
          <a:prstGeom prst="rect">
            <a:avLst/>
          </a:prstGeom>
          <a:noFill/>
        </p:spPr>
        <p:txBody>
          <a:bodyPr wrap="square" anchor="t" lIns="12700" rIns="76200" tIns="12700" bIns="12700">
            <a:normAutofit/>
          </a:bodyPr>
          <a:lstStyle/>
          <a:p>
            <a:pPr algn="l"/>
            <a:r>
              <a:rPr sz="1400" b="1">
                <a:solidFill>
                  <a:srgbClr val="48BF8F"/>
                </a:solidFill>
                <a:latin typeface="Aptos"/>
              </a:rPr>
              <a:t>Install essentials</a:t>
            </a:r>
          </a:p>
        </p:txBody>
      </p:sp>
      <p:sp>
        <p:nvSpPr>
          <p:cNvPr id="12" name="TextBox 11"/>
          <p:cNvSpPr txBox="1"/>
          <p:nvPr/>
        </p:nvSpPr>
        <p:spPr>
          <a:xfrm>
            <a:off x="914400" y="2121408"/>
            <a:ext cx="4946903"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The easiest path for most users is the packaged installer from GitHub Releases: no manual Python install is required because the release already carries Python 3.12.10 and the project dependencies.</a:t>
            </a:r>
          </a:p>
          <a:p>
            <a:pPr>
              <a:spcAft>
                <a:spcPts val="400"/>
              </a:spcAft>
              <a:defRPr sz="900">
                <a:solidFill>
                  <a:srgbClr val="B4BAAE"/>
                </a:solidFill>
                <a:latin typeface="Aptos"/>
              </a:defRPr>
            </a:pPr>
            <a:r>
              <a:t>For Tlamatini's complete intended cloud-model workload, activate Ollama Pro or a higher plan such as Max and sign in with the Ollama CLI. Free/local-only operation is a limited compatibility path, not the documented full-workload baseline; verify current plan pricing and limits on Ollama's official site.</a:t>
            </a:r>
          </a:p>
          <a:p>
            <a:pPr>
              <a:spcAft>
                <a:spcPts val="400"/>
              </a:spcAft>
              <a:defRPr sz="900">
                <a:solidFill>
                  <a:srgbClr val="B4BAAE"/>
                </a:solidFill>
                <a:latin typeface="Aptos"/>
              </a:defRPr>
            </a:pPr>
            <a:r>
              <a:t>Source mode remains the developer path: clone the repo, create a virtual environment, install `requirements.txt`, run migrations, create a superuser, collect static files, and then launch Django.</a:t>
            </a:r>
          </a:p>
          <a:p>
            <a:pPr>
              <a:spcAft>
                <a:spcPts val="400"/>
              </a:spcAft>
              <a:defRPr sz="900">
                <a:solidFill>
                  <a:srgbClr val="B4BAAE"/>
                </a:solidFill>
                <a:latin typeface="Aptos"/>
              </a:defRPr>
            </a:pPr>
            <a:r>
              <a:t>Packaged Windows installs open the browser at `http://127.0.0.1:8000/` and create the default `user / changeme` login; manual source installs use your own `createsuperuser` account instead.</a:t>
            </a:r>
          </a:p>
          <a:p>
            <a:pPr>
              <a:spcAft>
                <a:spcPts val="400"/>
              </a:spcAft>
              <a:defRPr sz="900">
                <a:solidFill>
                  <a:srgbClr val="B4BAAE"/>
                </a:solidFill>
                <a:latin typeface="Aptos"/>
              </a:defRPr>
            </a:pPr>
            <a:r>
              <a:t>Port 8000 is only the default: `config.json`'s `django_port` moves the web UI to any free port on every launch path, which is the fix when Windows or Hyper-V has RESERVED port 8000 and startup fails with `WinError 10013`.</a:t>
            </a:r>
          </a:p>
          <a:p>
            <a:pPr>
              <a:spcAft>
                <a:spcPts val="400"/>
              </a:spcAft>
              <a:defRPr sz="900">
                <a:solidFill>
                  <a:srgbClr val="B4BAAE"/>
                </a:solidFill>
                <a:latin typeface="Aptos"/>
              </a:defRPr>
            </a:pPr>
            <a:r>
              <a:t>When a newer packaged release exists, the intended upgrade path is in-app: `About -&gt; Check for updates`, not manual folder replacement.</a:t>
            </a:r>
          </a:p>
          <a:p>
            <a:pPr>
              <a:spcAft>
                <a:spcPts val="400"/>
              </a:spcAft>
              <a:defRPr sz="900">
                <a:solidFill>
                  <a:srgbClr val="B4BAAE"/>
                </a:solidFill>
                <a:latin typeface="Aptos"/>
              </a:defRPr>
            </a:pPr>
            <a:r>
              <a:t>You can run either the checked-in cloud/back-end defaults from `Tlamatini/agent/config.json` or a local/remote Ollama-backed configuration with matching model names.</a:t>
            </a:r>
          </a:p>
        </p:txBody>
      </p:sp>
      <p:sp>
        <p:nvSpPr>
          <p:cNvPr id="13" name="Rounded Rectangle 12"/>
          <p:cNvSpPr/>
          <p:nvPr/>
        </p:nvSpPr>
        <p:spPr>
          <a:xfrm>
            <a:off x="6327648"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Config essentials</a:t>
            </a:r>
          </a:p>
        </p:txBody>
      </p:sp>
      <p:sp>
        <p:nvSpPr>
          <p:cNvPr id="16" name="TextBox 15"/>
          <p:cNvSpPr txBox="1"/>
          <p:nvPr/>
        </p:nvSpPr>
        <p:spPr>
          <a:xfrm>
            <a:off x="6528816"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Source mode resolves `Tlamatini/agent/config.json`; frozen builds resolve `config.json` next to the executable; `CONFIG_PATH` overrides both.</a:t>
            </a:r>
          </a:p>
          <a:p>
            <a:pPr>
              <a:spcAft>
                <a:spcPts val="400"/>
              </a:spcAft>
              <a:defRPr sz="1100">
                <a:solidFill>
                  <a:srgbClr val="B4BAAE"/>
                </a:solidFill>
                <a:latin typeface="Aptos"/>
              </a:defRPr>
            </a:pPr>
            <a:r>
              <a:t>Core keys include `embeding-model`, `chained-model`, `ollama_base_url`, `ollama_token`, `enable_unified_agent`, `unified_agent_model`, and `unified_agent_max_iterations`.</a:t>
            </a:r>
          </a:p>
          <a:p>
            <a:pPr>
              <a:spcAft>
                <a:spcPts val="400"/>
              </a:spcAft>
              <a:defRPr sz="1100">
                <a:solidFill>
                  <a:srgbClr val="B4BAAE"/>
                </a:solidFill>
                <a:latin typeface="Aptos"/>
              </a:defRPr>
            </a:pPr>
            <a:r>
              <a:t>Ollama defaults are `ollama_repeat_penalty=1.2`, `ollama_repeat_last_n=256` and `ollama_num_ctx=1048576`. Both factory chains and the ChatOllama adapter carry them. The dedicated sampler section separates source behavior from the September 13 commit measurements and explains the local-model memory caveat. Keep new sampler keys aligned across both chains, adapter forwarding and the `[LLM-PARAMS]` banner.</a:t>
            </a:r>
          </a:p>
          <a:p>
            <a:pPr>
              <a:spcAft>
                <a:spcPts val="400"/>
              </a:spcAft>
              <a:defRPr sz="1100">
                <a:solidFill>
                  <a:srgbClr val="B4BAAE"/>
                </a:solidFill>
                <a:latin typeface="Aptos"/>
              </a:defRPr>
            </a:pPr>
            <a:r>
              <a:t>The checked-in default model baseline moved again in the recent Git window: the shared config now favors `glm-5.3:cloud`, so source or frozen installs that keep the shipped config should be documented as cloud-first unless the operator intentionally swaps models.</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Configuration Essentials (continued)</a:t>
            </a:r>
          </a:p>
        </p:txBody>
      </p:sp>
      <p:sp>
        <p:nvSpPr>
          <p:cNvPr id="9" name="Rounded Rectangle 8"/>
          <p:cNvSpPr/>
          <p:nvPr/>
        </p:nvSpPr>
        <p:spPr>
          <a:xfrm>
            <a:off x="749808" y="1463040"/>
            <a:ext cx="105613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46304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10158984" cy="310896"/>
          </a:xfrm>
          <a:prstGeom prst="rect">
            <a:avLst/>
          </a:prstGeom>
          <a:noFill/>
        </p:spPr>
        <p:txBody>
          <a:bodyPr wrap="square" anchor="t" lIns="12700" rIns="76200" tIns="12700" bIns="12700">
            <a:normAutofit/>
          </a:bodyPr>
          <a:lstStyle/>
          <a:p>
            <a:pPr algn="l"/>
            <a:r>
              <a:rPr sz="1400" b="1">
                <a:solidFill>
                  <a:srgbClr val="C48052"/>
                </a:solidFill>
                <a:latin typeface="Aptos"/>
              </a:rPr>
              <a:t>Config essentials</a:t>
            </a:r>
          </a:p>
        </p:txBody>
      </p:sp>
      <p:sp>
        <p:nvSpPr>
          <p:cNvPr id="12" name="TextBox 11"/>
          <p:cNvSpPr txBox="1"/>
          <p:nvPr/>
        </p:nvSpPr>
        <p:spPr>
          <a:xfrm>
            <a:off x="950976" y="2121408"/>
            <a:ext cx="1015898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URL configuration now also includes `kali_server_url`, the STM32er bootstrap fields `stm32_mcp_server_script`, `stm32_mcp_python`, `stm32_template_dir`, `stm32_ide_root`, `stm32_mcp_repo_url`, and `stm32_mcp_install_dir`, plus ESP32er’s `pio_executable` and `pio_core_dir`, all edited from `Config -&gt; URLs` and inherited automatically by the chat-side wrapped tools.</a:t>
            </a:r>
          </a:p>
          <a:p>
            <a:pPr>
              <a:spcAft>
                <a:spcPts val="400"/>
              </a:spcAft>
              <a:defRPr sz="1200">
                <a:solidFill>
                  <a:srgbClr val="B4BAAE"/>
                </a:solidFill>
                <a:latin typeface="Aptos"/>
              </a:defRPr>
            </a:pPr>
            <a:r>
              <a:t>Credential configuration is no longer hand-edit-only: Config -&gt; Access Keys Wizard provides a browser-side path for ACPX, provider secrets, unified messaging, and Security Recon (ProjectDiscovery) keys such as `pdcp_api_key` while preserving masked status in the UI.</a:t>
            </a:r>
          </a:p>
          <a:p>
            <a:pPr>
              <a:spcAft>
                <a:spcPts val="400"/>
              </a:spcAft>
              <a:defRPr sz="1200">
                <a:solidFill>
                  <a:srgbClr val="B4BAAE"/>
                </a:solidFill>
                <a:latin typeface="Aptos"/>
              </a:defRPr>
            </a:pPr>
            <a:r>
              <a:t>The chat-side Config -&gt; Models and Config -&gt; URLs dialogs are now first-class configuration surfaces, and they can explicitly ask the operator to reconnect when saved values change live-session assumptions.</a:t>
            </a:r>
          </a:p>
          <a:p>
            <a:pPr>
              <a:spcAft>
                <a:spcPts val="400"/>
              </a:spcAft>
              <a:defRPr sz="1200">
                <a:solidFill>
                  <a:srgbClr val="B4BAAE"/>
                </a:solidFill>
                <a:latin typeface="Aptos"/>
              </a:defRPr>
            </a:pPr>
            <a:r>
              <a:t>The separate DB dropdown is not a config editor: it is a maintenance surface for copying the live SQLite database out or staging a replacement for the next full start-up.</a:t>
            </a:r>
          </a:p>
          <a:p>
            <a:pPr>
              <a:spcAft>
                <a:spcPts val="400"/>
              </a:spcAft>
              <a:defRPr sz="1200">
                <a:solidFill>
                  <a:srgbClr val="B4BAAE"/>
                </a:solidFill>
                <a:latin typeface="Aptos"/>
              </a:defRPr>
            </a:pPr>
            <a:r>
              <a:t>Multi-Turn is toggled from the chat toolbar, but it depends on the unified-agent configuration and the selected model/base-url pairing being valid; the current default iteration ceiling is 4096, and Ask Execs only becomes available when Multi-Turn itself is on.</a:t>
            </a:r>
          </a:p>
          <a:p>
            <a:pPr>
              <a:spcAft>
                <a:spcPts val="400"/>
              </a:spcAft>
              <a:defRPr sz="1200">
                <a:solidFill>
                  <a:srgbClr val="B4BAAE"/>
                </a:solidFill>
                <a:latin typeface="Aptos"/>
              </a:defRPr>
            </a:pPr>
            <a:r>
              <a:t>Image-Interpreter now uses three model slots from Config -&gt; Models: `image_interpreter_model` for the first forensic interpreter, `image_interpreter_model_2` for the second holistic interpreter, and `image_merging_model` for the final report merger.</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RECENT OPERATOR-SURFACE DOCUMENTATION UPDATES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ACPX-Skills And Prompts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ACPX-Skills menu</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new `ACPX-Skills` navbar menu gives operators four direct actions over the skill catalog: Browse Skills, Configure Skills, Diagnostics, and Reload Registry.</a:t>
            </a:r>
          </a:p>
          <a:p>
            <a:pPr>
              <a:spcAft>
                <a:spcPts val="400"/>
              </a:spcAft>
              <a:defRPr sz="1300">
                <a:solidFill>
                  <a:srgbClr val="B4BAAE"/>
                </a:solidFill>
                <a:latin typeface="Aptos"/>
              </a:defRPr>
            </a:pPr>
            <a:r>
              <a:t>`Configure Skills` flips `Skill.enabled` exactly the way MCPs and Tools are toggled, so disabled skills disappear from `list_skills` and reject `invoke_skill` with `SKILL_DISABLED` instead of silently half-working.</a:t>
            </a:r>
          </a:p>
          <a:p>
            <a:pPr>
              <a:spcAft>
                <a:spcPts val="400"/>
              </a:spcAft>
              <a:defRPr sz="1300">
                <a:solidFill>
                  <a:srgbClr val="B4BAAE"/>
                </a:solidFill>
                <a:latin typeface="Aptos"/>
              </a:defRPr>
            </a:pPr>
            <a:r>
              <a:t>The diagnostics view cross-checks skill dependencies against disabled tools, disabled MCPs, missing ACPX agents, and orphan database rows whose SKILL.md disappeared from disk.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Prompt catalog and readability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Version `1.3.2` tightened the HTML answer contract with a Prime Directive on visual readability: explicit background and text color, no grey-on-dark body text, and safer table-body defaults.</a:t>
            </a:r>
          </a:p>
          <a:p>
            <a:pPr>
              <a:spcAft>
                <a:spcPts val="400"/>
              </a:spcAft>
              <a:defRPr sz="1000">
                <a:solidFill>
                  <a:srgbClr val="B4BAAE"/>
                </a:solidFill>
                <a:latin typeface="Aptos"/>
              </a:defRPr>
            </a:pPr>
            <a:r>
              <a:t>The seeded `Prompts` dropdown was also re-sorted into a learner path: context-only Q&amp;A first, then metrics, files search, shell, code generation, vision, specialized single-tool actions, agent control, Unrealer, and heavier Multi-Turn/ACPX demos last.</a:t>
            </a:r>
          </a:p>
          <a:p>
            <a:pPr>
              <a:spcAft>
                <a:spcPts val="400"/>
              </a:spcAft>
              <a:defRPr sz="1000">
                <a:solidFill>
                  <a:srgbClr val="B4BAAE"/>
                </a:solidFill>
                <a:latin typeface="Aptos"/>
              </a:defRPr>
            </a:pPr>
            <a:r>
              <a:t>The `v1.35.0` prompt-search pass then makes that larger catalog easier to operate: prompt cards support substring, word-start, and fuzzy matching, with mode badges that keep one-shot, Multi-Turn, ACPX, Exec Report, and Step-by-Step demos visually distinct.</a:t>
            </a:r>
          </a:p>
          <a:p>
            <a:pPr>
              <a:spcAft>
                <a:spcPts val="400"/>
              </a:spcAft>
              <a:defRPr sz="1000">
                <a:solidFill>
                  <a:srgbClr val="B4BAAE"/>
                </a:solidFill>
                <a:latin typeface="Aptos"/>
              </a:defRPr>
            </a:pPr>
            <a:r>
              <a:t>Those readability rules remain in force in the `v1.60.0` release documentation set; it carries measured networking, WAL-safe database movement, structured and resilient Googler discovery, guided MCP onboarding, and current counts while retaining encoding-safe search, guarded execution truth, private MCP runtime/defaults, diagram hardening, LaTeXer, the binary guard, PDFer, FlowCreator, prompt standardization, category grouping, and ranked fuzzy search.</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OPERATOR-FACING DATABASE MAINTENANCE SURFACE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DB Menu And Startup Swap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Backup and Set DB</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The DB dropdown gives operators two GUI-first maintenance paths: `Backup database` creates a WAL-consistent verified snapshot, and `Set DB` stages a WAL-consistent chosen database for the next full start-up.</a:t>
            </a:r>
          </a:p>
          <a:p>
            <a:pPr>
              <a:spcAft>
                <a:spcPts val="400"/>
              </a:spcAft>
              <a:defRPr sz="1400">
                <a:solidFill>
                  <a:srgbClr val="B4BAAE"/>
                </a:solidFill>
                <a:latin typeface="Aptos"/>
              </a:defRPr>
            </a:pPr>
            <a:r>
              <a:t>Both dialogs are live-validated in the browser and now expose Browse buttons that open native host-side pickers for folders or `db.sqlite3` files.</a:t>
            </a:r>
          </a:p>
          <a:p>
            <a:pPr>
              <a:spcAft>
                <a:spcPts val="400"/>
              </a:spcAft>
              <a:defRPr sz="1400">
                <a:solidFill>
                  <a:srgbClr val="B4BAAE"/>
                </a:solidFill>
                <a:latin typeface="Aptos"/>
              </a:defRPr>
            </a:pPr>
            <a:r>
              <a:t>Both paths use `sqlite_copy.consistent_copy()`: SQLite's online backup API reads through committed WAL pages, the destination switches to DELETE journal mode, and `PRAGMA quick_check` must pass before success. Set DB never hot-swaps mid-session because Django already holds SQLite open.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What happens on next start-up</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Set DB writes a verified self-contained copy to `DB/ToLoad/db.sqlite3`; the real swap happens only at the top of `manage.py` before Django imports anything.</a:t>
            </a:r>
          </a:p>
          <a:p>
            <a:pPr>
              <a:spcAft>
                <a:spcPts val="400"/>
              </a:spcAft>
              <a:defRPr sz="1100">
                <a:solidFill>
                  <a:srgbClr val="B4BAAE"/>
                </a:solidFill>
                <a:latin typeface="Aptos"/>
              </a:defRPr>
            </a:pPr>
            <a:r>
              <a:t>When that swap runs, the previous live database and its `-wal`/`-shm`/`-journal` family move into `DB/Older/&lt;timestamp&gt;/`, creating a rollback trail instead of overwriting history.</a:t>
            </a:r>
          </a:p>
          <a:p>
            <a:pPr>
              <a:spcAft>
                <a:spcPts val="400"/>
              </a:spcAft>
              <a:defRPr sz="1100">
                <a:solidFill>
                  <a:srgbClr val="B4BAAE"/>
                </a:solidFill>
                <a:latin typeface="Aptos"/>
              </a:defRPr>
            </a:pPr>
            <a:r>
              <a:t>Stale sidecars beside the destination are removed before promotion so SQLite can never replay pages belonging to the previous database over the newly selected file.</a:t>
            </a:r>
          </a:p>
          <a:p>
            <a:pPr>
              <a:spcAft>
                <a:spcPts val="400"/>
              </a:spcAft>
              <a:defRPr sz="1100">
                <a:solidFill>
                  <a:srgbClr val="B4BAAE"/>
                </a:solidFill>
                <a:latin typeface="Aptos"/>
              </a:defRPr>
            </a:pPr>
            <a:r>
              <a:t>Reconnect is not enough for this path: the operator must fully restart Tlamatini so the pre-Django swap window opens again.</a:t>
            </a:r>
          </a:p>
          <a:p>
            <a:pPr>
              <a:spcAft>
                <a:spcPts val="400"/>
              </a:spcAft>
              <a:defRPr sz="1100">
                <a:solidFill>
                  <a:srgbClr val="B4BAAE"/>
                </a:solidFill>
                <a:latin typeface="Aptos"/>
              </a:defRPr>
            </a:pPr>
            <a:r>
              <a:t>Copy verification is fail-safe: an unreadable, inconsistent, or unchecked result is reported as failure rather than called a backup. Startup preserves the previous live database if promotion cannot complete safely.</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RELEASE-IDENTITY WORK ACROSS RUNTIME AND BUILDS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Versioning System</a:t>
            </a:r>
          </a:p>
        </p:txBody>
      </p:sp>
      <p:sp>
        <p:nvSpPr>
          <p:cNvPr id="9" name="Rounded Rectangle 8"/>
          <p:cNvSpPr/>
          <p:nvPr/>
        </p:nvSpPr>
        <p:spPr>
          <a:xfrm>
            <a:off x="713232" y="1463040"/>
            <a:ext cx="539496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SemVer and resolver</a:t>
            </a:r>
          </a:p>
        </p:txBody>
      </p:sp>
      <p:sp>
        <p:nvSpPr>
          <p:cNvPr id="12" name="TextBox 11"/>
          <p:cNvSpPr txBox="1"/>
          <p:nvPr/>
        </p:nvSpPr>
        <p:spPr>
          <a:xfrm>
            <a:off x="914400" y="2121408"/>
            <a:ext cx="4992624" cy="3383280"/>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Tlamatini now follows Semantic Versioning 2.0.0 with git tags as the single source of truth: you tag, then you build, instead of hand-editing version strings across files.</a:t>
            </a:r>
          </a:p>
          <a:p>
            <a:pPr>
              <a:spcAft>
                <a:spcPts val="400"/>
              </a:spcAft>
              <a:defRPr sz="1300">
                <a:solidFill>
                  <a:srgbClr val="B4BAAE"/>
                </a:solidFill>
                <a:latin typeface="Aptos"/>
              </a:defRPr>
            </a:pPr>
            <a:r>
              <a:t>The build path resolves a version once and propagates it into generated runtime metadata, Win32 VERSIONINFO resources, and the release-folder naming convention.</a:t>
            </a:r>
          </a:p>
          <a:p>
            <a:pPr>
              <a:spcAft>
                <a:spcPts val="400"/>
              </a:spcAft>
              <a:defRPr sz="1300">
                <a:solidFill>
                  <a:srgbClr val="B4BAAE"/>
                </a:solidFill>
                <a:latin typeface="Aptos"/>
              </a:defRPr>
            </a:pPr>
            <a:r>
              <a:t>The reachable release tag v1.60.0 resolves to cef3995. Current source HEAD is c4daacc, 1 commits beyond that tag. Fetched origin/main resolves to c4daacc. Runtime version resolution remains Git/build-derived. A source revision beyond the tag is not a new tagged release.</a:t>
            </a:r>
          </a:p>
        </p:txBody>
      </p:sp>
      <p:sp>
        <p:nvSpPr>
          <p:cNvPr id="13" name="Rounded Rectangle 12"/>
          <p:cNvSpPr/>
          <p:nvPr/>
        </p:nvSpPr>
        <p:spPr>
          <a:xfrm>
            <a:off x="6355080" y="1463040"/>
            <a:ext cx="507492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Where version appears</a:t>
            </a:r>
          </a:p>
        </p:txBody>
      </p:sp>
      <p:sp>
        <p:nvSpPr>
          <p:cNvPr id="16" name="TextBox 15"/>
          <p:cNvSpPr txBox="1"/>
          <p:nvPr/>
        </p:nvSpPr>
        <p:spPr>
          <a:xfrm>
            <a:off x="6556248" y="2121408"/>
            <a:ext cx="4672583" cy="3383280"/>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Operators can now see the running version in the About dialog, the startup banner, the open `GET /agent/version/` health-check endpoint, and Windows file properties on the built executables.</a:t>
            </a:r>
          </a:p>
          <a:p>
            <a:pPr>
              <a:spcAft>
                <a:spcPts val="400"/>
              </a:spcAft>
              <a:defRPr sz="1200">
                <a:solidFill>
                  <a:srgbClr val="B4BAAE"/>
                </a:solidFill>
                <a:latin typeface="Aptos"/>
              </a:defRPr>
            </a:pPr>
            <a:r>
              <a:t>Packaged installs also project the same release identity into Windows' Installed-apps metadata through the ARP `DisplayVersion` field, so the uninstall surface and the binaries agree on the version being removed.</a:t>
            </a:r>
          </a:p>
          <a:p>
            <a:pPr>
              <a:spcAft>
                <a:spcPts val="400"/>
              </a:spcAft>
              <a:defRPr sz="1200">
                <a:solidFill>
                  <a:srgbClr val="B4BAAE"/>
                </a:solidFill>
                <a:latin typeface="Aptos"/>
              </a:defRPr>
            </a:pPr>
            <a:r>
              <a:t>The runtime resolver lives in `Tlamatini/agent/version.py`, while the build-oriented coordination logic lives in the repo-root `versioning.py` and the longer policy notes live in `VERSIONING.md`.</a:t>
            </a:r>
          </a:p>
          <a:p>
            <a:pPr>
              <a:spcAft>
                <a:spcPts val="400"/>
              </a:spcAft>
              <a:defRPr sz="1200">
                <a:solidFill>
                  <a:srgbClr val="B4BAAE"/>
                </a:solidFill>
                <a:latin typeface="Aptos"/>
              </a:defRPr>
            </a:pPr>
            <a:r>
              <a:t>Build overrides are supported in a predictable order: CLI `--version`, then `TLAMATINI_VERSION`, then git describe, then the sentinel `0.0.0+unknown`.</a:t>
            </a:r>
          </a:p>
        </p:txBody>
      </p:sp>
      <p:sp>
        <p:nvSpPr>
          <p:cNvPr id="17" name="TextBox 16"/>
          <p:cNvSpPr txBox="1"/>
          <p:nvPr/>
        </p:nvSpPr>
        <p:spPr>
          <a:xfrm>
            <a:off x="841248" y="5797296"/>
            <a:ext cx="10149840" cy="201168"/>
          </a:xfrm>
          <a:prstGeom prst="rect">
            <a:avLst/>
          </a:prstGeom>
          <a:noFill/>
        </p:spPr>
        <p:txBody>
          <a:bodyPr wrap="square" anchor="t" lIns="12700" rIns="76200" tIns="12700" bIns="12700">
            <a:normAutofit/>
          </a:bodyPr>
          <a:lstStyle/>
          <a:p>
            <a:pPr algn="l"/>
            <a:r>
              <a:rPr sz="900" b="0">
                <a:solidFill>
                  <a:srgbClr val="B4BAAE"/>
                </a:solidFill>
                <a:latin typeface="Cascadia Mono"/>
              </a:rPr>
              <a:t>Resolved current version: 1.60.0 | build: 1.60.0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ARCHIVE COMPRESSION AND DECOMPRESSION WORKER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De-Compresser Agent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De-Compresser is the deterministic archive worker for compression and decompression tasks, deciding direction from whichever side exposes a recognized archive extension.</a:t>
            </a:r>
          </a:p>
          <a:p>
            <a:pPr>
              <a:spcAft>
                <a:spcPts val="400"/>
              </a:spcAft>
              <a:defRPr sz="1500">
                <a:solidFill>
                  <a:srgbClr val="B4BAAE"/>
                </a:solidFill>
                <a:latin typeface="Aptos"/>
              </a:defRPr>
            </a:pPr>
            <a:r>
              <a:t>Supported archive families are `.gz`, `.zip`, `.7z`, `.tar.gz`, and `.gz.tar`; file-to-folder extraction and file-or-directory packing are both documented in the README and Book.</a:t>
            </a:r>
          </a:p>
          <a:p>
            <a:pPr>
              <a:spcAft>
                <a:spcPts val="400"/>
              </a:spcAft>
              <a:defRPr sz="1500">
                <a:solidFill>
                  <a:srgbClr val="B4BAAE"/>
                </a:solidFill>
                <a:latin typeface="Aptos"/>
              </a:defRPr>
            </a:pPr>
            <a:r>
              <a:t>Password handling is explicit: `passwordless=true` skips it, while `passwordless=false` requires the `DE_COMPRESSER_PWD` environment variable and fails fast if the secret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Integration and fallbacks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agent is reachable from both operator surfaces: ACP canvas nodes wire through dedicated connection-update views, and checked Multi-Turn can invoke it through `chat_agent_de_compresser`.</a:t>
            </a:r>
          </a:p>
          <a:p>
            <a:pPr>
              <a:spcAft>
                <a:spcPts val="400"/>
              </a:spcAft>
              <a:defRPr sz="1300">
                <a:solidFill>
                  <a:srgbClr val="B4BAAE"/>
                </a:solidFill>
                <a:latin typeface="Aptos"/>
              </a:defRPr>
            </a:pPr>
            <a:r>
              <a:t>Format engines are practical rather than magical: stdlib `gzip` and `zipfile` cover core cases, `7z` is preferred for encrypted `7z` or `zip`, and `py7zr` was added to `requirements.txt` as the Python fallback.</a:t>
            </a:r>
          </a:p>
          <a:p>
            <a:pPr>
              <a:spcAft>
                <a:spcPts val="400"/>
              </a:spcAft>
              <a:defRPr sz="1300">
                <a:solidFill>
                  <a:srgbClr val="B4BAAE"/>
                </a:solidFill>
                <a:latin typeface="Aptos"/>
              </a:defRPr>
            </a:pPr>
            <a:r>
              <a:t>Every run emits an `INI_SECTION_DE_COMPRESSER&lt;&lt;&lt; ... &gt;&gt;&gt;END_SECTION_DE_COMPRESSER` block and still triggers `target_agents`, so downstream Parametrizer or Raiser logic can branch on `success=true|false` instead of guessing from prose.</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UE5 EDITOR BRIDGE FOR CHAT AND CANVAS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Unreal MCP And Unrealer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Unreal MCP is a UE5 plugin that runs inside the editor and listens on `127.0.0.1:55557` for one JSON command per TCP connection; Tlamatini is the client side of that link, not the plugin host.</a:t>
            </a:r>
          </a:p>
          <a:p>
            <a:pPr>
              <a:spcAft>
                <a:spcPts val="400"/>
              </a:spcAft>
              <a:defRPr sz="1200">
                <a:solidFill>
                  <a:srgbClr val="B4BAAE"/>
                </a:solidFill>
                <a:latin typeface="Aptos"/>
              </a:defRPr>
            </a:pPr>
            <a:r>
              <a:t>The Unrealer workflow agent forwards any command the connected plugin build exposes, up to a 53-command surface across nine categories: actor manipulation (incl. viewport screenshots), Blueprint authoring and node wiring, input mappings, UMG widget building, in-editor Python/console execution, level I/O, asset import, and material authoring. Headless build/cook/test is out of scope (it needs UnrealEditor-Cmd, not the editor socket).</a:t>
            </a:r>
          </a:p>
          <a:p>
            <a:pPr>
              <a:spcAft>
                <a:spcPts val="400"/>
              </a:spcAft>
              <a:defRPr sz="1200">
                <a:solidFill>
                  <a:srgbClr val="B4BAAE"/>
                </a:solidFill>
                <a:latin typeface="Aptos"/>
              </a:defRPr>
            </a:pPr>
            <a:r>
              <a:t>The same integration is available in both operator surfaces: checked Multi-Turn via `chat_agent_unrealer`, and ACP canvas flows via the visual Unrealer node plus Parametrizer chaining.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Install and runtime path</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Install the upstream plugin into `&lt;YourProject&gt;/Plugins/UnrealMCP/`, enable it from `Edit -&gt; Plugins`, restart UE5, and confirm the Output Log says `UnrealMCP listening on 127.0.0.1:55557`.</a:t>
            </a:r>
          </a:p>
          <a:p>
            <a:pPr>
              <a:spcAft>
                <a:spcPts val="400"/>
              </a:spcAft>
              <a:defRPr sz="1200">
                <a:solidFill>
                  <a:srgbClr val="B4BAAE"/>
                </a:solidFill>
                <a:latin typeface="Aptos"/>
              </a:defRPr>
            </a:pPr>
            <a:r>
              <a:t>Tlamatini does not compile or embed the plugin; the Unreal editor must already be running with the listener bound before any Unrealer call can succeed.</a:t>
            </a:r>
          </a:p>
          <a:p>
            <a:pPr>
              <a:spcAft>
                <a:spcPts val="400"/>
              </a:spcAft>
              <a:defRPr sz="1200">
                <a:solidFill>
                  <a:srgbClr val="B4BAAE"/>
                </a:solidFill>
                <a:latin typeface="Aptos"/>
              </a:defRPr>
            </a:pPr>
            <a:r>
              <a:t>A seeded smoke test ships in the Prompts table: `Unreal MCP End-to-End Editor Drive` walks through sanity-check, actor spawn, Blueprint creation/compile, and UMG widget assembly.</a:t>
            </a:r>
          </a:p>
          <a:p>
            <a:pPr>
              <a:spcAft>
                <a:spcPts val="400"/>
              </a:spcAft>
              <a:defRPr sz="1200">
                <a:solidFill>
                  <a:srgbClr val="B4BAAE"/>
                </a:solidFill>
                <a:latin typeface="Aptos"/>
              </a:defRPr>
            </a:pPr>
            <a:r>
              <a:t>Each Unrealer run is one command: load `config.yaml`, open a fresh TCP socket, send `{"type": command, "params": params}`, read until valid JSON arrives, and log one atomic `INI_SECTION_UNREALER&lt;&lt;&lt; ... &gt;&gt;&gt;END_SECTION_UNREALER` block.</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THE 53-COMMAND FORK AND WHY IT MATTERS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Extended Unrealer Surface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Extended fork</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Unrealer’s documentation now points at the public `XAIHT/XaihtUnrealEngineMCP` fork, the Unreal Engine MCP variant developed specifically for Tlamatini.</a:t>
            </a:r>
          </a:p>
          <a:p>
            <a:pPr>
              <a:spcAft>
                <a:spcPts val="400"/>
              </a:spcAft>
              <a:defRPr sz="1300">
                <a:solidFill>
                  <a:srgbClr val="B4BAAE"/>
                </a:solidFill>
                <a:latin typeface="Aptos"/>
              </a:defRPr>
            </a:pPr>
            <a:r>
              <a:t>That fork exposes the extended 53-command, nine-category surface documented in README and Book: not only the base editor/Blueprint/UMG verbs, but also system, level, asset, material, screenshot, viewport, and in-editor Python paths.</a:t>
            </a:r>
          </a:p>
          <a:p>
            <a:pPr>
              <a:spcAft>
                <a:spcPts val="400"/>
              </a:spcAft>
              <a:defRPr sz="1300">
                <a:solidFill>
                  <a:srgbClr val="B4BAAE"/>
                </a:solidFill>
                <a:latin typeface="Aptos"/>
              </a:defRPr>
            </a:pPr>
            <a:r>
              <a:t>The practical message for operators is simple: Unrealer forwards the connected plugin’s verb surface directly, so Tlamatini’s client does not need a new release every time the plugin adds another supported command.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Runtime consequences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wrapped-tool path stores chat runs under `agent/agents/pools/_chat_runs_/unrealer_&lt;seq&gt;_&lt;id&gt;/`, while visual flows use normal `unrealer_&lt;n&gt;` pool folders and can chain response fields through Parametrizer mappings.</a:t>
            </a:r>
          </a:p>
          <a:p>
            <a:pPr>
              <a:spcAft>
                <a:spcPts val="400"/>
              </a:spcAft>
              <a:defRPr sz="1200">
                <a:solidFill>
                  <a:srgbClr val="B4BAAE"/>
                </a:solidFill>
                <a:latin typeface="Aptos"/>
              </a:defRPr>
            </a:pPr>
            <a:r>
              <a:t>Exec Report treats Unrealer as its own row family, and troubleshooting stays concrete: connection-refused means the plugin is not listening, while read-timeout usually means UE5's game thread is busy.</a:t>
            </a:r>
          </a:p>
          <a:p>
            <a:pPr>
              <a:spcAft>
                <a:spcPts val="400"/>
              </a:spcAft>
              <a:defRPr sz="1200">
                <a:solidFill>
                  <a:srgbClr val="B4BAAE"/>
                </a:solidFill>
                <a:latin typeface="Aptos"/>
              </a:defRPr>
            </a:pPr>
            <a:r>
              <a:t>The seeded Unreal demo prompts now cover screenshots, scene-building, and in-editor Python/introspection paths on top of the original blueprint flow.</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WINDOWS PROCESS-HYGIENE AND SURVIVOR REPORTING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Orphan-Process Cleanup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Three-tier reaper</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Tlamatini now ships a three-tier orphan reaper in `Tlamatini/agent/orphan_reaper.py` focused on Windows console-host leftovers such as `conhost.exe` and `openconsole.exe`.</a:t>
            </a:r>
          </a:p>
          <a:p>
            <a:pPr>
              <a:spcAft>
                <a:spcPts val="400"/>
              </a:spcAft>
              <a:defRPr sz="1300">
                <a:solidFill>
                  <a:srgbClr val="B4BAAE"/>
                </a:solidFill>
                <a:latin typeface="Aptos"/>
              </a:defRPr>
            </a:pPr>
            <a:r>
              <a:t>Tier 1 runs after spawn-capable Multi-Turn tool calls, Tier 2 runs once after the final answer in a background thread, and Tier 3 runs again during application shutdown through the same cleanup path that already tears down pools.</a:t>
            </a:r>
          </a:p>
          <a:p>
            <a:pPr>
              <a:spcAft>
                <a:spcPts val="400"/>
              </a:spcAft>
              <a:defRPr sz="1300">
                <a:solidFill>
                  <a:srgbClr val="B4BAAE"/>
                </a:solidFill>
                <a:latin typeface="Aptos"/>
              </a:defRPr>
            </a:pPr>
            <a:r>
              <a:t>The candidate set stays narrow on purpose: dead descendants of the current process tree, orphaned console hosts tied to that tree, and pool-linked processes whose `cmdline` still points into `agents/pools/...` even though tracking records are gone.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Prevention and survivor reporting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Prevention landed alongside cleanup: Windows spawn sites now use `CREATE_NO_WINDOW | DETACHED_PROCESS | CREATE_NEW_PROCESS_GROUP` with stdio piped to `DEVNULL`, so the console host is usually never allocated in the first place.</a:t>
            </a:r>
          </a:p>
          <a:p>
            <a:pPr>
              <a:spcAft>
                <a:spcPts val="400"/>
              </a:spcAft>
              <a:defRPr sz="1300">
                <a:solidFill>
                  <a:srgbClr val="B4BAAE"/>
                </a:solidFill>
                <a:latin typeface="Aptos"/>
              </a:defRPr>
            </a:pPr>
            <a:r>
              <a:t>The ACPX runtime now kills full process trees instead of only top-level wrappers, and pool-agent scripts gained a conservative `subprocess.Popen` guard so forgotten descendants still inherit `CREATE_NO_WINDOW`.</a:t>
            </a:r>
          </a:p>
          <a:p>
            <a:pPr>
              <a:spcAft>
                <a:spcPts val="400"/>
              </a:spcAft>
              <a:defRPr sz="1300">
                <a:solidFill>
                  <a:srgbClr val="B4BAAE"/>
                </a:solidFill>
                <a:latin typeface="Aptos"/>
              </a:defRPr>
            </a:pPr>
            <a:r>
              <a:t>If something survives both cleanup tiers, Tlamatini sends a second chat bubble listing each surviving `name + PID`; the reaper never raises into the user path because a cleanup crash would be worse than the leftovers it tried to remove.</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LOCAL MODEL SETUP ON WINDOWS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Ollama Without Admin Rights</a:t>
            </a:r>
          </a:p>
        </p:txBody>
      </p:sp>
      <p:sp>
        <p:nvSpPr>
          <p:cNvPr id="9" name="TextBox 8"/>
          <p:cNvSpPr txBox="1"/>
          <p:nvPr/>
        </p:nvSpPr>
        <p:spPr>
          <a:xfrm>
            <a:off x="777240" y="1572768"/>
            <a:ext cx="10561320" cy="2926080"/>
          </a:xfrm>
          <a:prstGeom prst="rect">
            <a:avLst/>
          </a:prstGeom>
          <a:noFill/>
        </p:spPr>
        <p:txBody>
          <a:bodyPr wrap="square" anchor="t" lIns="12700" rIns="76200" tIns="12700" bIns="12700">
            <a:normAutofit/>
          </a:bodyPr>
          <a:lstStyle/>
          <a:p>
            <a:pPr algn="l"/>
            <a:r>
              <a:rPr sz="900" b="0">
                <a:solidFill>
                  <a:srgbClr val="E8E8DE"/>
                </a:solidFill>
                <a:latin typeface="Cascadia Mono"/>
              </a:rPr>
              <a:t>$env:OLLAMA_INSTALL_DIR = "$env:LOCALAPPDATA\Programs\Ollama"
irm https://ollama.com/install.ps1 | iex
ollama --version
ollama signin
ollama serve
Invoke-WebRequest http://127.0.0.1:11434/api/tags -UseBasicParsing
ollama pull Nomic-Embed-Text:latest
ollama pull glm-5.3:cloud
ollama pull qwen3.5:cloud
ollama pull gemma4:cloud
ollama pull qwen3-vl:235b-cloud</a:t>
            </a:r>
          </a:p>
        </p:txBody>
      </p:sp>
      <p:sp>
        <p:nvSpPr>
          <p:cNvPr id="10" name="Rounded Rectangle 9"/>
          <p:cNvSpPr/>
          <p:nvPr/>
        </p:nvSpPr>
        <p:spPr>
          <a:xfrm>
            <a:off x="777240" y="4590288"/>
            <a:ext cx="10561320" cy="17373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59028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4791455"/>
            <a:ext cx="10158984" cy="310896"/>
          </a:xfrm>
          <a:prstGeom prst="rect">
            <a:avLst/>
          </a:prstGeom>
          <a:noFill/>
        </p:spPr>
        <p:txBody>
          <a:bodyPr wrap="square" anchor="t" lIns="12700" rIns="76200" tIns="12700" bIns="12700">
            <a:normAutofit/>
          </a:bodyPr>
          <a:lstStyle/>
          <a:p>
            <a:pPr algn="l"/>
            <a:r>
              <a:rPr sz="1400" b="1">
                <a:solidFill>
                  <a:srgbClr val="E0AB5D"/>
                </a:solidFill>
                <a:latin typeface="Aptos"/>
              </a:rPr>
              <a:t>Checklist</a:t>
            </a:r>
          </a:p>
        </p:txBody>
      </p:sp>
      <p:sp>
        <p:nvSpPr>
          <p:cNvPr id="13" name="TextBox 12"/>
          <p:cNvSpPr txBox="1"/>
          <p:nvPr/>
        </p:nvSpPr>
        <p:spPr>
          <a:xfrm>
            <a:off x="978408" y="5248655"/>
            <a:ext cx="10158984" cy="93268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Open a normal PowerShell window, not an elevated one, for the safest no-admin Windows installation path.</a:t>
            </a:r>
          </a:p>
          <a:p>
            <a:pPr>
              <a:spcAft>
                <a:spcPts val="400"/>
              </a:spcAft>
              <a:defRPr sz="1400">
                <a:solidFill>
                  <a:srgbClr val="B4BAAE"/>
                </a:solidFill>
                <a:latin typeface="Aptos"/>
              </a:defRPr>
            </a:pPr>
            <a:r>
              <a:t>Install into `%LOCALAPPDATA%\Programs\Ollama` with the official PowerShell installer script and then reopen PowerShell so PATH updates are visible.</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SERVICE, API, AND MODEL PULLS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Ollama Readiness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Service and API</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Activate Ollama Pro or a higher plan such as Max for Tlamatini's complete intended functionality, then run `ollama signin` so the host is linked before using the shipped `:cloud` defaults. This requirement is not a sponsorship; verify current plan details directly with Ollama.</a:t>
            </a:r>
          </a:p>
          <a:p>
            <a:pPr>
              <a:spcAft>
                <a:spcPts val="400"/>
              </a:spcAft>
              <a:defRPr sz="1200">
                <a:solidFill>
                  <a:srgbClr val="B4BAAE"/>
                </a:solidFill>
                <a:latin typeface="Aptos"/>
              </a:defRPr>
            </a:pPr>
            <a:r>
              <a:t>Verify the CLI with `ollama --version`, start `ollama serve` if the background service is not already active, and confirm `http://127.0.0.1:11434/api/tags` responds.</a:t>
            </a:r>
          </a:p>
          <a:p>
            <a:pPr>
              <a:spcAft>
                <a:spcPts val="400"/>
              </a:spcAft>
              <a:defRPr sz="1200">
                <a:solidFill>
                  <a:srgbClr val="B4BAAE"/>
                </a:solidFill>
                <a:latin typeface="Aptos"/>
              </a:defRPr>
            </a:pPr>
            <a:r>
              <a:t>Pull the default repository model tags exactly as written if you want the shipped config and agent templates to work unchanged.</a:t>
            </a:r>
          </a:p>
          <a:p>
            <a:pPr>
              <a:spcAft>
                <a:spcPts val="400"/>
              </a:spcAft>
              <a:defRPr sz="1200">
                <a:solidFill>
                  <a:srgbClr val="B4BAAE"/>
                </a:solidFill>
                <a:latin typeface="Aptos"/>
              </a:defRPr>
            </a:pPr>
            <a:r>
              <a:t>The Book now clarifies the token rule: a localhost Ollama usually needs no Ollama bearer token in Tlamatini, while a remote Ollama endpoint may require one in `Config -&gt; Access Keys Wizard` or the matching config key.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Default pull set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Nomic-Embed-Text:latest</a:t>
            </a:r>
          </a:p>
          <a:p>
            <a:pPr>
              <a:spcAft>
                <a:spcPts val="400"/>
              </a:spcAft>
              <a:defRPr sz="1500">
                <a:solidFill>
                  <a:srgbClr val="B4BAAE"/>
                </a:solidFill>
                <a:latin typeface="Aptos"/>
              </a:defRPr>
            </a:pPr>
            <a:r>
              <a:t>glm-5.3:cloud</a:t>
            </a:r>
          </a:p>
          <a:p>
            <a:pPr>
              <a:spcAft>
                <a:spcPts val="400"/>
              </a:spcAft>
              <a:defRPr sz="1500">
                <a:solidFill>
                  <a:srgbClr val="B4BAAE"/>
                </a:solidFill>
                <a:latin typeface="Aptos"/>
              </a:defRPr>
            </a:pPr>
            <a:r>
              <a:t>qwen3.5:cloud</a:t>
            </a:r>
          </a:p>
          <a:p>
            <a:pPr>
              <a:spcAft>
                <a:spcPts val="400"/>
              </a:spcAft>
              <a:defRPr sz="1500">
                <a:solidFill>
                  <a:srgbClr val="B4BAAE"/>
                </a:solidFill>
                <a:latin typeface="Aptos"/>
              </a:defRPr>
            </a:pPr>
            <a:r>
              <a:t>gemma4:cloud</a:t>
            </a:r>
          </a:p>
          <a:p>
            <a:pPr>
              <a:spcAft>
                <a:spcPts val="400"/>
              </a:spcAft>
              <a:defRPr sz="1500">
                <a:solidFill>
                  <a:srgbClr val="B4BAAE"/>
                </a:solidFill>
                <a:latin typeface="Aptos"/>
              </a:defRPr>
            </a:pPr>
            <a:r>
              <a:t>qwen3-vl:235b-cloud</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README AND BOOK DRIVEN OPERATOR SAFEGUARDS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GPU Guard And Reconnect UX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Embedding-memory pre-flight guard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README and BookOfTlamatini now document an embedding-memory pre-flight guard for GPU hosts before a directory-context load starts its FAISS embedding burst.</a:t>
            </a:r>
          </a:p>
          <a:p>
            <a:pPr>
              <a:spcAft>
                <a:spcPts val="400"/>
              </a:spcAft>
              <a:defRPr sz="1300">
                <a:solidFill>
                  <a:srgbClr val="B4BAAE"/>
                </a:solidFill>
                <a:latin typeface="Aptos"/>
              </a:defRPr>
            </a:pPr>
            <a:r>
              <a:t>On supported NVIDIA hosts it estimates embedding-model VRAM pressure, and when the projected load is too high it emits a non-blocking warning chat bubble instead of silently letting RAM&lt;-&gt;VRAM thrash surprise the operator.</a:t>
            </a:r>
          </a:p>
          <a:p>
            <a:pPr>
              <a:spcAft>
                <a:spcPts val="400"/>
              </a:spcAft>
              <a:defRPr sz="1300">
                <a:solidFill>
                  <a:srgbClr val="B4BAAE"/>
                </a:solidFill>
                <a:latin typeface="Aptos"/>
              </a:defRPr>
            </a:pPr>
            <a:r>
              <a:t>CPU-only, AMD, and Apple-Silicon hosts stay fail-open: the guard becomes a no-op when the NVIDIA probe does not apply.</a:t>
            </a:r>
          </a:p>
          <a:p>
            <a:pPr>
              <a:spcAft>
                <a:spcPts val="400"/>
              </a:spcAft>
              <a:defRPr sz="1300">
                <a:solidFill>
                  <a:srgbClr val="B4BAAE"/>
                </a:solidFill>
                <a:latin typeface="Aptos"/>
              </a:defRPr>
            </a:pPr>
            <a:r>
              <a:t>The practical operator response is straightforward: switch to a smaller embedding model, reconnect if needed, or proceed knowingly with the heavier model.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Reconnect and restart safeguards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Config -&gt; Models and Config -&gt; URLs dialogs now track their pre-edit baseline and can show a reconnect-required dialog when the saved values change what the live chat session should trust.</a:t>
            </a:r>
          </a:p>
          <a:p>
            <a:pPr>
              <a:spcAft>
                <a:spcPts val="400"/>
              </a:spcAft>
              <a:defRPr sz="900">
                <a:solidFill>
                  <a:srgbClr val="B4BAAE"/>
                </a:solidFill>
                <a:latin typeface="Aptos"/>
              </a:defRPr>
            </a:pPr>
            <a:r>
              <a:t>The restored-session autoload path now buffers early WebSocket frames so context-loading spinners and disabled-input state are not lost during automatic reconnect/restore flows.</a:t>
            </a:r>
          </a:p>
          <a:p>
            <a:pPr>
              <a:spcAft>
                <a:spcPts val="400"/>
              </a:spcAft>
              <a:defRPr sz="900">
                <a:solidFill>
                  <a:srgbClr val="B4BAAE"/>
                </a:solidFill>
                <a:latin typeface="Aptos"/>
              </a:defRPr>
            </a:pPr>
            <a:r>
              <a:t>Startup and restart behavior now also re-apply GPU performance and Ollama keep-alive hooks in the background on supported NVIDIA Windows hosts, improving warm-model readiness without blocking Django boot.</a:t>
            </a:r>
          </a:p>
          <a:p>
            <a:pPr>
              <a:spcAft>
                <a:spcPts val="400"/>
              </a:spcAft>
              <a:defRPr sz="900">
                <a:solidFill>
                  <a:srgbClr val="B4BAAE"/>
                </a:solidFill>
                <a:latin typeface="Aptos"/>
              </a:defRPr>
            </a:pPr>
            <a:r>
              <a:t>Browser-driven attention routing is now part of that operator-safety layer too: Ask Execs prompts and Notifier events can raise a taskbar flash plus a log banner without relying on the browser window already being visible.</a:t>
            </a:r>
          </a:p>
          <a:p>
            <a:pPr>
              <a:spcAft>
                <a:spcPts val="400"/>
              </a:spcAft>
              <a:defRPr sz="900">
                <a:solidFill>
                  <a:srgbClr val="B4BAAE"/>
                </a:solidFill>
                <a:latin typeface="Aptos"/>
              </a:defRPr>
            </a:pPr>
            <a:r>
              <a:t>Windows process hygiene is now part of that safety story too: detached no-window spawns and the three-tier orphan reaper reduce the chance that Task Manager shows stale Tlamatini-icon console helpers after long runs.</a:t>
            </a:r>
          </a:p>
          <a:p>
            <a:pPr>
              <a:spcAft>
                <a:spcPts val="400"/>
              </a:spcAft>
              <a:defRPr sz="900">
                <a:solidFill>
                  <a:srgbClr val="B4BAAE"/>
                </a:solidFill>
                <a:latin typeface="Aptos"/>
              </a:defRPr>
            </a:pPr>
            <a:r>
              <a:t>Ask Execs extends that safety story into execution approval itself: the operator can now stop a destructive chain before the next mutation instead of only auditing it after the fact in Exec Report.</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DEVELOPMENT, MCP BOOTSTRAP, AND ASGI</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Running Modes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How to run</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Development server: `python Tlamatini/manage.py runserver` — the `--noreload` flag is now OPTIONAL (plain `runserver` boots clean and auto-reloads since the 2026-07-11 `agent/apps.py` reloader-aware fix; it used to double-start the MCP helper ports :8765 / :50051 and crash with WinError 10048).</a:t>
            </a:r>
          </a:p>
          <a:p>
            <a:pPr>
              <a:spcAft>
                <a:spcPts val="400"/>
              </a:spcAft>
              <a:defRPr sz="900">
                <a:solidFill>
                  <a:srgbClr val="B4BAAE"/>
                </a:solidFill>
                <a:latin typeface="Aptos"/>
              </a:defRPr>
            </a:pPr>
            <a:r>
              <a:t>Preferred async/dev bootstrap: `python Tlamatini/manage.py startserver`, which starts MCP services before the Django server.</a:t>
            </a:r>
          </a:p>
          <a:p>
            <a:pPr>
              <a:spcAft>
                <a:spcPts val="400"/>
              </a:spcAft>
              <a:defRPr sz="900">
                <a:solidFill>
                  <a:srgbClr val="B4BAAE"/>
                </a:solidFill>
                <a:latin typeface="Aptos"/>
              </a:defRPr>
            </a:pPr>
            <a:r>
              <a:t>Production-style ASGI entrypoint: `daphne -b 127.0.0.1 -p 8000 tlamatini.asgi:application` — this path bypasses `manage.py`, so it does not read `django_port` and the port must be passed on the command line.</a:t>
            </a:r>
          </a:p>
          <a:p>
            <a:pPr>
              <a:spcAft>
                <a:spcPts val="400"/>
              </a:spcAft>
              <a:defRPr sz="900">
                <a:solidFill>
                  <a:srgbClr val="B4BAAE"/>
                </a:solidFill>
                <a:latin typeface="Aptos"/>
              </a:defRPr>
            </a:pPr>
            <a:r>
              <a:t>Current startup also re-applies GPU-performance / Ollama-pinning hooks in the background on supported NVIDIA Windows hosts, so restart-time behavior stays closer to the tuned development baseline.</a:t>
            </a:r>
          </a:p>
          <a:p>
            <a:pPr>
              <a:spcAft>
                <a:spcPts val="400"/>
              </a:spcAft>
              <a:defRPr sz="900">
                <a:solidFill>
                  <a:srgbClr val="B4BAAE"/>
                </a:solidFill>
                <a:latin typeface="Aptos"/>
              </a:defRPr>
            </a:pPr>
            <a:r>
              <a:t>That same early startup window is also where a staged `DB/ToLoad/db.sqlite3` file is promoted into the live database path, before Django opens SQLite.</a:t>
            </a:r>
          </a:p>
          <a:p>
            <a:pPr>
              <a:spcAft>
                <a:spcPts val="400"/>
              </a:spcAft>
              <a:defRPr sz="900">
                <a:solidFill>
                  <a:srgbClr val="B4BAAE"/>
                </a:solidFill>
                <a:latin typeface="Aptos"/>
              </a:defRPr>
            </a:pPr>
            <a:r>
              <a:t>In frozen mode, startup now also self-heals the per-user Windows Installed-apps entry when `Uninstaller.exe` is present beside `Tlamatini.exe`, so old installs can gain a standard uninstall surface without a reinstall.</a:t>
            </a:r>
          </a:p>
          <a:p>
            <a:pPr>
              <a:spcAft>
                <a:spcPts val="400"/>
              </a:spcAft>
              <a:defRPr sz="900">
                <a:solidFill>
                  <a:srgbClr val="B4BAAE"/>
                </a:solidFill>
                <a:latin typeface="Aptos"/>
              </a:defRPr>
            </a:pPr>
            <a:r>
              <a:t>Startup now also prints a `--- [VERSION] Tlamatini ...` banner, making the running build visible in both the console and `tlamatini.log` without an HTTP call.</a:t>
            </a:r>
          </a:p>
          <a:p>
            <a:pPr>
              <a:spcAft>
                <a:spcPts val="400"/>
              </a:spcAft>
              <a:defRPr sz="900">
                <a:solidFill>
                  <a:srgbClr val="B4BAAE"/>
                </a:solidFill>
                <a:latin typeface="Aptos"/>
              </a:defRPr>
            </a:pPr>
            <a:r>
              <a:t>Startup cleans pool state, repopulates the agent registry, launches MCP metrics/file-search servers, and then serves HTTP plus WebSocket traffic.</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What startup does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Initializes Django and runtime guards in manage.py.</a:t>
            </a:r>
          </a:p>
          <a:p>
            <a:pPr>
              <a:spcAft>
                <a:spcPts val="400"/>
              </a:spcAft>
              <a:defRPr sz="1500">
                <a:solidFill>
                  <a:srgbClr val="B4BAAE"/>
                </a:solidFill>
                <a:latin typeface="Aptos"/>
              </a:defRPr>
            </a:pPr>
            <a:r>
              <a:t>Cleans pool state and repopulates the Agent table from current disk templates.</a:t>
            </a:r>
          </a:p>
          <a:p>
            <a:pPr>
              <a:spcAft>
                <a:spcPts val="400"/>
              </a:spcAft>
              <a:defRPr sz="1500">
                <a:solidFill>
                  <a:srgbClr val="B4BAAE"/>
                </a:solidFill>
                <a:latin typeface="Aptos"/>
              </a:defRPr>
            </a:pPr>
            <a:r>
              <a:t>Launches MCP metrics and gRPC file-search servers before steady-state traffic.</a:t>
            </a:r>
          </a:p>
          <a:p>
            <a:pPr>
              <a:spcAft>
                <a:spcPts val="400"/>
              </a:spcAft>
              <a:defRPr sz="1500">
                <a:solidFill>
                  <a:srgbClr val="B4BAAE"/>
                </a:solidFill>
                <a:latin typeface="Aptos"/>
              </a:defRPr>
            </a:pPr>
            <a:r>
              <a:t>Self-heals the frozen Windows Installed-apps entry when `Uninstaller.exe` is present beside the executable.</a:t>
            </a:r>
          </a:p>
          <a:p>
            <a:pPr>
              <a:spcAft>
                <a:spcPts val="400"/>
              </a:spcAft>
              <a:defRPr sz="1500">
                <a:solidFill>
                  <a:srgbClr val="B4BAAE"/>
                </a:solidFill>
                <a:latin typeface="Aptos"/>
              </a:defRPr>
            </a:pPr>
            <a:r>
              <a:t>Handles shutdown by killing tracked/untracked agent processes and clearing pool artifacts.</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SOURCE USAGE IS SEPARATE FROM RELEASE BUILDING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Packaging Path</a:t>
            </a:r>
          </a:p>
        </p:txBody>
      </p:sp>
      <p:sp>
        <p:nvSpPr>
          <p:cNvPr id="9" name="Rounded Rectangle 8"/>
          <p:cNvSpPr/>
          <p:nvPr/>
        </p:nvSpPr>
        <p:spPr>
          <a:xfrm>
            <a:off x="105156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4712" y="199339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build.py</a:t>
            </a:r>
          </a:p>
        </p:txBody>
      </p:sp>
      <p:sp>
        <p:nvSpPr>
          <p:cNvPr id="11" name="TextBox 10"/>
          <p:cNvSpPr txBox="1"/>
          <p:nvPr/>
        </p:nvSpPr>
        <p:spPr>
          <a:xfrm>
            <a:off x="2642615" y="2002536"/>
            <a:ext cx="246888" cy="256032"/>
          </a:xfrm>
          <a:prstGeom prst="rect">
            <a:avLst/>
          </a:prstGeom>
          <a:noFill/>
        </p:spPr>
        <p:txBody>
          <a:bodyPr wrap="square" anchor="t" lIns="12700" rIns="76200" tIns="12700" bIns="12700">
            <a:normAutofit/>
          </a:bodyPr>
          <a:lstStyle/>
          <a:p>
            <a:pPr algn="ctr"/>
            <a:r>
              <a:rPr sz="1200" b="1">
                <a:solidFill>
                  <a:srgbClr val="E0AB5D"/>
                </a:solidFill>
                <a:latin typeface="Aptos"/>
              </a:rPr>
              <a:t>&gt;</a:t>
            </a:r>
          </a:p>
        </p:txBody>
      </p:sp>
      <p:sp>
        <p:nvSpPr>
          <p:cNvPr id="12" name="Rounded Rectangle 11"/>
          <p:cNvSpPr/>
          <p:nvPr/>
        </p:nvSpPr>
        <p:spPr>
          <a:xfrm>
            <a:off x="2889503"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62656" y="199339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pkg.zip</a:t>
            </a:r>
          </a:p>
        </p:txBody>
      </p:sp>
      <p:sp>
        <p:nvSpPr>
          <p:cNvPr id="14" name="TextBox 13"/>
          <p:cNvSpPr txBox="1"/>
          <p:nvPr/>
        </p:nvSpPr>
        <p:spPr>
          <a:xfrm>
            <a:off x="4480559" y="2002536"/>
            <a:ext cx="246888" cy="256032"/>
          </a:xfrm>
          <a:prstGeom prst="rect">
            <a:avLst/>
          </a:prstGeom>
          <a:noFill/>
        </p:spPr>
        <p:txBody>
          <a:bodyPr wrap="square" anchor="t" lIns="12700" rIns="76200" tIns="12700" bIns="12700">
            <a:normAutofit/>
          </a:bodyPr>
          <a:lstStyle/>
          <a:p>
            <a:pPr algn="ctr"/>
            <a:r>
              <a:rPr sz="1200" b="1">
                <a:solidFill>
                  <a:srgbClr val="E0AB5D"/>
                </a:solidFill>
                <a:latin typeface="Aptos"/>
              </a:rPr>
              <a:t>&gt;</a:t>
            </a:r>
          </a:p>
        </p:txBody>
      </p:sp>
      <p:sp>
        <p:nvSpPr>
          <p:cNvPr id="15" name="Rounded Rectangle 14"/>
          <p:cNvSpPr/>
          <p:nvPr/>
        </p:nvSpPr>
        <p:spPr>
          <a:xfrm>
            <a:off x="4727448"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99339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build_uninstaller</a:t>
            </a:r>
          </a:p>
        </p:txBody>
      </p:sp>
      <p:sp>
        <p:nvSpPr>
          <p:cNvPr id="17" name="TextBox 16"/>
          <p:cNvSpPr txBox="1"/>
          <p:nvPr/>
        </p:nvSpPr>
        <p:spPr>
          <a:xfrm>
            <a:off x="6318504" y="2002536"/>
            <a:ext cx="246888" cy="256032"/>
          </a:xfrm>
          <a:prstGeom prst="rect">
            <a:avLst/>
          </a:prstGeom>
          <a:noFill/>
        </p:spPr>
        <p:txBody>
          <a:bodyPr wrap="square" anchor="t" lIns="12700" rIns="76200" tIns="12700" bIns="12700">
            <a:normAutofit/>
          </a:bodyPr>
          <a:lstStyle/>
          <a:p>
            <a:pPr algn="ctr"/>
            <a:r>
              <a:rPr sz="1200" b="1">
                <a:solidFill>
                  <a:srgbClr val="E0AB5D"/>
                </a:solidFill>
                <a:latin typeface="Aptos"/>
              </a:rPr>
              <a:t>&gt;</a:t>
            </a:r>
          </a:p>
        </p:txBody>
      </p:sp>
      <p:sp>
        <p:nvSpPr>
          <p:cNvPr id="18" name="Rounded Rectangle 17"/>
          <p:cNvSpPr/>
          <p:nvPr/>
        </p:nvSpPr>
        <p:spPr>
          <a:xfrm>
            <a:off x="6565392"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199339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Uninstaller</a:t>
            </a:r>
          </a:p>
        </p:txBody>
      </p:sp>
      <p:sp>
        <p:nvSpPr>
          <p:cNvPr id="20" name="TextBox 19"/>
          <p:cNvSpPr txBox="1"/>
          <p:nvPr/>
        </p:nvSpPr>
        <p:spPr>
          <a:xfrm>
            <a:off x="8156448" y="2002536"/>
            <a:ext cx="246888" cy="256032"/>
          </a:xfrm>
          <a:prstGeom prst="rect">
            <a:avLst/>
          </a:prstGeom>
          <a:noFill/>
        </p:spPr>
        <p:txBody>
          <a:bodyPr wrap="square" anchor="t" lIns="12700" rIns="76200" tIns="12700" bIns="12700">
            <a:normAutofit/>
          </a:bodyPr>
          <a:lstStyle/>
          <a:p>
            <a:pPr algn="ctr"/>
            <a:r>
              <a:rPr sz="1200" b="1">
                <a:solidFill>
                  <a:srgbClr val="E0AB5D"/>
                </a:solidFill>
                <a:latin typeface="Aptos"/>
              </a:rPr>
              <a:t>&gt;</a:t>
            </a:r>
          </a:p>
        </p:txBody>
      </p:sp>
      <p:sp>
        <p:nvSpPr>
          <p:cNvPr id="21" name="Rounded Rectangle 20"/>
          <p:cNvSpPr/>
          <p:nvPr/>
        </p:nvSpPr>
        <p:spPr>
          <a:xfrm>
            <a:off x="8403336"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76488" y="199339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build_installer</a:t>
            </a:r>
          </a:p>
        </p:txBody>
      </p:sp>
      <p:sp>
        <p:nvSpPr>
          <p:cNvPr id="23" name="TextBox 22"/>
          <p:cNvSpPr txBox="1"/>
          <p:nvPr/>
        </p:nvSpPr>
        <p:spPr>
          <a:xfrm>
            <a:off x="9994392" y="2002536"/>
            <a:ext cx="246888" cy="256032"/>
          </a:xfrm>
          <a:prstGeom prst="rect">
            <a:avLst/>
          </a:prstGeom>
          <a:noFill/>
        </p:spPr>
        <p:txBody>
          <a:bodyPr wrap="square" anchor="t" lIns="12700" rIns="76200" tIns="12700" bIns="12700">
            <a:normAutofit/>
          </a:bodyPr>
          <a:lstStyle/>
          <a:p>
            <a:pPr algn="ctr"/>
            <a:r>
              <a:rPr sz="1200" b="1">
                <a:solidFill>
                  <a:srgbClr val="E0AB5D"/>
                </a:solidFill>
                <a:latin typeface="Aptos"/>
              </a:rPr>
              <a:t>&gt;</a:t>
            </a:r>
          </a:p>
        </p:txBody>
      </p:sp>
      <p:sp>
        <p:nvSpPr>
          <p:cNvPr id="24" name="Rounded Rectangle 23"/>
          <p:cNvSpPr/>
          <p:nvPr/>
        </p:nvSpPr>
        <p:spPr>
          <a:xfrm>
            <a:off x="1024128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14432" y="199339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Release</a:t>
            </a:r>
          </a:p>
        </p:txBody>
      </p:sp>
      <p:sp>
        <p:nvSpPr>
          <p:cNvPr id="26" name="Rounded Rectangle 25"/>
          <p:cNvSpPr/>
          <p:nvPr/>
        </p:nvSpPr>
        <p:spPr>
          <a:xfrm>
            <a:off x="841248" y="3063240"/>
            <a:ext cx="10378440" cy="233172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1248" y="3063240"/>
            <a:ext cx="103784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3264408"/>
            <a:ext cx="9976104" cy="310896"/>
          </a:xfrm>
          <a:prstGeom prst="rect">
            <a:avLst/>
          </a:prstGeom>
          <a:noFill/>
        </p:spPr>
        <p:txBody>
          <a:bodyPr wrap="square" anchor="t" lIns="12700" rIns="76200" tIns="12700" bIns="12700">
            <a:normAutofit/>
          </a:bodyPr>
          <a:lstStyle/>
          <a:p>
            <a:pPr algn="l"/>
            <a:r>
              <a:rPr sz="1400" b="1">
                <a:solidFill>
                  <a:srgbClr val="E0AB5D"/>
                </a:solidFill>
                <a:latin typeface="Aptos"/>
              </a:rPr>
              <a:t>Release rule</a:t>
            </a:r>
          </a:p>
        </p:txBody>
      </p:sp>
      <p:sp>
        <p:nvSpPr>
          <p:cNvPr id="29" name="TextBox 28"/>
          <p:cNvSpPr txBox="1"/>
          <p:nvPr/>
        </p:nvSpPr>
        <p:spPr>
          <a:xfrm>
            <a:off x="1042416" y="3721608"/>
            <a:ext cx="9976104" cy="152704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Run packaging only when preparing a Windows distribution.</a:t>
            </a:r>
          </a:p>
          <a:p>
            <a:pPr>
              <a:spcAft>
                <a:spcPts val="400"/>
              </a:spcAft>
              <a:defRPr sz="1500">
                <a:solidFill>
                  <a:srgbClr val="B4BAAE"/>
                </a:solidFill>
                <a:latin typeface="Aptos"/>
              </a:defRPr>
            </a:pPr>
            <a:r>
              <a:t>The final distributable is the full `dist/Tlamatini_Release_v&lt;version&gt;/` folder, not one executable copied out of context.</a:t>
            </a:r>
          </a:p>
          <a:p>
            <a:pPr>
              <a:spcAft>
                <a:spcPts val="400"/>
              </a:spcAft>
              <a:defRPr sz="1500">
                <a:solidFill>
                  <a:srgbClr val="B4BAAE"/>
                </a:solidFill>
                <a:latin typeface="Aptos"/>
              </a:defRPr>
            </a:pPr>
            <a:r>
              <a:t>Installer scripts register shortcuts, `.flw` file associations, the bundled uninstaller, and the per-user Installed-apps entry.</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SHOW-YOUR-WORK VISIBILITY FOR MULTI-TURN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Exec Report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Why it exists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Exec Report is a Multi-Turn-only transparency layer that appends operation tables for every wrapped agent family, including observational and read-only agents; `_EXEC_REPORT_TOOLS` only refines grouping and style.</a:t>
            </a:r>
          </a:p>
          <a:p>
            <a:pPr>
              <a:spcAft>
                <a:spcPts val="400"/>
              </a:spcAft>
              <a:defRPr sz="1100">
                <a:solidFill>
                  <a:srgbClr val="B4BAAE"/>
                </a:solidFill>
                <a:latin typeface="Aptos"/>
              </a:defRPr>
            </a:pPr>
            <a:r>
              <a:t>Rows are recorded from the live tool-call stream rather than guessed from the LLM prose, so the report is the operational ground truth.</a:t>
            </a:r>
          </a:p>
          <a:p>
            <a:pPr>
              <a:spcAft>
                <a:spcPts val="400"/>
              </a:spcAft>
              <a:defRPr sz="1100">
                <a:solidFill>
                  <a:srgbClr val="B4BAAE"/>
                </a:solidFill>
                <a:latin typeface="Aptos"/>
              </a:defRPr>
            </a:pPr>
            <a:r>
              <a:t>Each row receives a deterministic SUCCESS/FAILURE verdict from the agent's structured self-report: completed diagnostics and intact work are green, while degraded, not-done, and agent-error statuses are red under the guarded five-class vocabulary.</a:t>
            </a:r>
          </a:p>
          <a:p>
            <a:pPr>
              <a:spcAft>
                <a:spcPts val="400"/>
              </a:spcAft>
              <a:defRPr sz="1100">
                <a:solidFill>
                  <a:srgbClr val="B4BAAE"/>
                </a:solidFill>
                <a:latin typeface="Aptos"/>
              </a:defRPr>
            </a:pPr>
            <a:r>
              <a:t>When Ask Execs is enabled, Exec Report and the red denial banner complement each other: already-executed steps still render as tables, while the denied step stays out of the tables and is surfaced only through the interruption banner.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Operator effect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Tables appear only for state-changing agent families that actually fired.</a:t>
            </a:r>
          </a:p>
          <a:p>
            <a:pPr>
              <a:spcAft>
                <a:spcPts val="400"/>
              </a:spcAft>
              <a:defRPr sz="1500">
                <a:solidFill>
                  <a:srgbClr val="B4BAAE"/>
                </a:solidFill>
                <a:latin typeface="Aptos"/>
              </a:defRPr>
            </a:pPr>
            <a:r>
              <a:t>Verdicts are derived from real tool returns, not inferred from prose summaries.</a:t>
            </a:r>
          </a:p>
          <a:p>
            <a:pPr>
              <a:spcAft>
                <a:spcPts val="400"/>
              </a:spcAft>
              <a:defRPr sz="1500">
                <a:solidFill>
                  <a:srgbClr val="B4BAAE"/>
                </a:solidFill>
                <a:latin typeface="Aptos"/>
              </a:defRPr>
            </a:pPr>
            <a:r>
              <a:t>This is the audit surface that makes long jobs debuggable from the chat output itself.</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EXTERNAL CODING-AGENT RUNTIME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ACPX And Skills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What ACPX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ACPX lets Tlamatini spawn external coding-agent CLIs such as Codex, Claude Code, Cursor, Gemini, Qwen, and others as managed child processes.</a:t>
            </a:r>
          </a:p>
          <a:p>
            <a:pPr>
              <a:spcAft>
                <a:spcPts val="400"/>
              </a:spcAft>
              <a:defRPr sz="1400">
                <a:solidFill>
                  <a:srgbClr val="B4BAAE"/>
                </a:solidFill>
                <a:latin typeface="Aptos"/>
              </a:defRPr>
            </a:pPr>
            <a:r>
              <a:t>It pairs those agents with markdown-driven `SKILL.md` packages, validated I/O contracts, permission gating, and append-only audit logs.</a:t>
            </a:r>
          </a:p>
          <a:p>
            <a:pPr>
              <a:spcAft>
                <a:spcPts val="400"/>
              </a:spcAft>
              <a:defRPr sz="1400">
                <a:solidFill>
                  <a:srgbClr val="B4BAAE"/>
                </a:solidFill>
                <a:latin typeface="Aptos"/>
              </a:defRPr>
            </a:pPr>
            <a:r>
              <a:t>Transport-aware drain rules and bounded event bodies reduce latency while protecting the LLM context budget during external-agent relays.</a:t>
            </a:r>
          </a:p>
          <a:p>
            <a:pPr>
              <a:spcAft>
                <a:spcPts val="400"/>
              </a:spcAft>
              <a:defRPr sz="1400">
                <a:solidFill>
                  <a:srgbClr val="B4BAAE"/>
                </a:solidFill>
                <a:latin typeface="Aptos"/>
              </a:defRPr>
            </a:pPr>
            <a:r>
              <a:t>The operator-facing references are `README.md` and `ACPX.md`, while the implementation lives under `agent/acpx/`, `agent/skills/`, and `agent/skills_pkg/`.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Files and operator model</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`agent/acpx/` hosts the runtime, permission gate, registry, and tools.</a:t>
            </a:r>
          </a:p>
          <a:p>
            <a:pPr>
              <a:spcAft>
                <a:spcPts val="400"/>
              </a:spcAft>
              <a:defRPr sz="1500">
                <a:solidFill>
                  <a:srgbClr val="B4BAAE"/>
                </a:solidFill>
                <a:latin typeface="Aptos"/>
              </a:defRPr>
            </a:pPr>
            <a:r>
              <a:t>`agent/skills/` and `agent/skills_pkg/` host the in-process skill harness and markdown catalog.</a:t>
            </a:r>
          </a:p>
          <a:p>
            <a:pPr>
              <a:spcAft>
                <a:spcPts val="400"/>
              </a:spcAft>
              <a:defRPr sz="1500">
                <a:solidFill>
                  <a:srgbClr val="B4BAAE"/>
                </a:solidFill>
                <a:latin typeface="Aptos"/>
              </a:defRPr>
            </a:pPr>
            <a:r>
              <a:t>Transcripts and audit logs are persisted so external delegation stays replayable.</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TLAMATINI.LOG AS FORENSIC TRUTH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Application Log</a:t>
            </a:r>
          </a:p>
        </p:txBody>
      </p:sp>
      <p:sp>
        <p:nvSpPr>
          <p:cNvPr id="9" name="Rounded Rectangle 8"/>
          <p:cNvSpPr/>
          <p:nvPr/>
        </p:nvSpPr>
        <p:spPr>
          <a:xfrm>
            <a:off x="777240" y="1600200"/>
            <a:ext cx="1046988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46988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067544" cy="310896"/>
          </a:xfrm>
          <a:prstGeom prst="rect">
            <a:avLst/>
          </a:prstGeom>
          <a:noFill/>
        </p:spPr>
        <p:txBody>
          <a:bodyPr wrap="square" anchor="t" lIns="12700" rIns="76200" tIns="12700" bIns="12700">
            <a:normAutofit/>
          </a:bodyPr>
          <a:lstStyle/>
          <a:p>
            <a:pPr algn="l"/>
            <a:r>
              <a:rPr sz="1400" b="1">
                <a:solidFill>
                  <a:srgbClr val="E0AB5D"/>
                </a:solidFill>
                <a:latin typeface="Aptos"/>
              </a:rPr>
              <a:t>How the log works</a:t>
            </a:r>
          </a:p>
        </p:txBody>
      </p:sp>
      <p:sp>
        <p:nvSpPr>
          <p:cNvPr id="12" name="TextBox 11"/>
          <p:cNvSpPr txBox="1"/>
          <p:nvPr/>
        </p:nvSpPr>
        <p:spPr>
          <a:xfrm>
            <a:off x="978408" y="2258568"/>
            <a:ext cx="10067544" cy="3401568"/>
          </a:xfrm>
          <a:prstGeom prst="rect">
            <a:avLst/>
          </a:prstGeom>
          <a:noFill/>
        </p:spPr>
        <p:txBody>
          <a:bodyPr wrap="square" anchor="t" lIns="12700" rIns="76200" tIns="25400" bIns="25400">
            <a:normAutofit/>
          </a:bodyPr>
          <a:lstStyle/>
          <a:p>
            <a:pPr>
              <a:spcAft>
                <a:spcPts val="400"/>
              </a:spcAft>
              <a:defRPr sz="1700">
                <a:solidFill>
                  <a:srgbClr val="B4BAAE"/>
                </a:solidFill>
                <a:latin typeface="Aptos"/>
              </a:defRPr>
            </a:pPr>
            <a:r>
              <a:t>The built-in `tlamatini.log` file captures both stdout and stderr through a tee stream initialized in `manage.py` before Django starts.</a:t>
            </a:r>
          </a:p>
          <a:p>
            <a:pPr>
              <a:spcAft>
                <a:spcPts val="400"/>
              </a:spcAft>
              <a:defRPr sz="1700">
                <a:solidFill>
                  <a:srgbClr val="B4BAAE"/>
                </a:solidFill>
                <a:latin typeface="Aptos"/>
              </a:defRPr>
            </a:pPr>
            <a:r>
              <a:t>In source mode the log sits next to `manage.py`; in frozen mode it lives next to the executable.</a:t>
            </a:r>
          </a:p>
          <a:p>
            <a:pPr>
              <a:spcAft>
                <a:spcPts val="400"/>
              </a:spcAft>
              <a:defRPr sz="1700">
                <a:solidFill>
                  <a:srgbClr val="B4BAAE"/>
                </a:solidFill>
                <a:latin typeface="Aptos"/>
              </a:defRPr>
            </a:pPr>
            <a:r>
              <a:t>Immediate flush behavior makes the log the primary forensic artifact for startup problems, warnings, tracebacks, and runtime diagnostics.</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HEAD INVENTORY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Facts</a:t>
            </a:r>
          </a:p>
        </p:txBody>
      </p:sp>
      <p:sp>
        <p:nvSpPr>
          <p:cNvPr id="9" name="Rounded Rectangle 8"/>
          <p:cNvSpPr/>
          <p:nvPr/>
        </p:nvSpPr>
        <p:spPr>
          <a:xfrm>
            <a:off x="74980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737360"/>
            <a:ext cx="1307592" cy="219456"/>
          </a:xfrm>
          <a:prstGeom prst="rect">
            <a:avLst/>
          </a:prstGeom>
          <a:noFill/>
        </p:spPr>
        <p:txBody>
          <a:bodyPr wrap="square" anchor="t" lIns="12700" rIns="76200" tIns="12700" bIns="12700">
            <a:normAutofit/>
          </a:bodyPr>
          <a:lstStyle/>
          <a:p>
            <a:pPr algn="l"/>
            <a:r>
              <a:rPr sz="800" b="1">
                <a:solidFill>
                  <a:srgbClr val="48BF8F"/>
                </a:solidFill>
                <a:latin typeface="Aptos"/>
              </a:rPr>
              <a:t>REPO FILES</a:t>
            </a:r>
          </a:p>
        </p:txBody>
      </p:sp>
      <p:sp>
        <p:nvSpPr>
          <p:cNvPr id="11" name="TextBox 10"/>
          <p:cNvSpPr txBox="1"/>
          <p:nvPr/>
        </p:nvSpPr>
        <p:spPr>
          <a:xfrm>
            <a:off x="896112" y="1984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1148</a:t>
            </a:r>
          </a:p>
        </p:txBody>
      </p:sp>
      <p:sp>
        <p:nvSpPr>
          <p:cNvPr id="12" name="Rounded Rectangle 11"/>
          <p:cNvSpPr/>
          <p:nvPr/>
        </p:nvSpPr>
        <p:spPr>
          <a:xfrm>
            <a:off x="2624327"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0632" y="1737360"/>
            <a:ext cx="1307592" cy="219456"/>
          </a:xfrm>
          <a:prstGeom prst="rect">
            <a:avLst/>
          </a:prstGeom>
          <a:noFill/>
        </p:spPr>
        <p:txBody>
          <a:bodyPr wrap="square" anchor="t" lIns="12700" rIns="76200" tIns="12700" bIns="12700">
            <a:normAutofit/>
          </a:bodyPr>
          <a:lstStyle/>
          <a:p>
            <a:pPr algn="l"/>
            <a:r>
              <a:rPr sz="800" b="1">
                <a:solidFill>
                  <a:srgbClr val="C48052"/>
                </a:solidFill>
                <a:latin typeface="Aptos"/>
              </a:rPr>
              <a:t>AGENTS</a:t>
            </a:r>
          </a:p>
        </p:txBody>
      </p:sp>
      <p:sp>
        <p:nvSpPr>
          <p:cNvPr id="14" name="TextBox 13"/>
          <p:cNvSpPr txBox="1"/>
          <p:nvPr/>
        </p:nvSpPr>
        <p:spPr>
          <a:xfrm>
            <a:off x="2770632" y="1984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89</a:t>
            </a:r>
          </a:p>
        </p:txBody>
      </p:sp>
      <p:sp>
        <p:nvSpPr>
          <p:cNvPr id="15" name="Rounded Rectangle 14"/>
          <p:cNvSpPr/>
          <p:nvPr/>
        </p:nvSpPr>
        <p:spPr>
          <a:xfrm>
            <a:off x="449884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5152" y="1737360"/>
            <a:ext cx="1307592" cy="219456"/>
          </a:xfrm>
          <a:prstGeom prst="rect">
            <a:avLst/>
          </a:prstGeom>
          <a:noFill/>
        </p:spPr>
        <p:txBody>
          <a:bodyPr wrap="square" anchor="t" lIns="12700" rIns="76200" tIns="12700" bIns="12700">
            <a:normAutofit/>
          </a:bodyPr>
          <a:lstStyle/>
          <a:p>
            <a:pPr algn="l"/>
            <a:r>
              <a:rPr sz="800" b="1">
                <a:solidFill>
                  <a:srgbClr val="48BF8F"/>
                </a:solidFill>
                <a:latin typeface="Aptos"/>
              </a:rPr>
              <a:t>MIGRATIONS</a:t>
            </a:r>
          </a:p>
        </p:txBody>
      </p:sp>
      <p:sp>
        <p:nvSpPr>
          <p:cNvPr id="17" name="TextBox 16"/>
          <p:cNvSpPr txBox="1"/>
          <p:nvPr/>
        </p:nvSpPr>
        <p:spPr>
          <a:xfrm>
            <a:off x="4645152" y="1984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204</a:t>
            </a:r>
          </a:p>
        </p:txBody>
      </p:sp>
      <p:sp>
        <p:nvSpPr>
          <p:cNvPr id="18" name="Rounded Rectangle 17"/>
          <p:cNvSpPr/>
          <p:nvPr/>
        </p:nvSpPr>
        <p:spPr>
          <a:xfrm>
            <a:off x="637336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9672" y="1737360"/>
            <a:ext cx="1307592" cy="219456"/>
          </a:xfrm>
          <a:prstGeom prst="rect">
            <a:avLst/>
          </a:prstGeom>
          <a:noFill/>
        </p:spPr>
        <p:txBody>
          <a:bodyPr wrap="square" anchor="t" lIns="12700" rIns="76200" tIns="12700" bIns="12700">
            <a:normAutofit/>
          </a:bodyPr>
          <a:lstStyle/>
          <a:p>
            <a:pPr algn="l"/>
            <a:r>
              <a:rPr sz="800" b="1">
                <a:solidFill>
                  <a:srgbClr val="C48052"/>
                </a:solidFill>
                <a:latin typeface="Aptos"/>
              </a:rPr>
              <a:t>JS</a:t>
            </a:r>
          </a:p>
        </p:txBody>
      </p:sp>
      <p:sp>
        <p:nvSpPr>
          <p:cNvPr id="20" name="TextBox 19"/>
          <p:cNvSpPr txBox="1"/>
          <p:nvPr/>
        </p:nvSpPr>
        <p:spPr>
          <a:xfrm>
            <a:off x="6519672" y="1984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40</a:t>
            </a:r>
          </a:p>
        </p:txBody>
      </p:sp>
      <p:sp>
        <p:nvSpPr>
          <p:cNvPr id="21" name="Rounded Rectangle 20"/>
          <p:cNvSpPr/>
          <p:nvPr/>
        </p:nvSpPr>
        <p:spPr>
          <a:xfrm>
            <a:off x="824788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94192" y="1737360"/>
            <a:ext cx="1307592" cy="219456"/>
          </a:xfrm>
          <a:prstGeom prst="rect">
            <a:avLst/>
          </a:prstGeom>
          <a:noFill/>
        </p:spPr>
        <p:txBody>
          <a:bodyPr wrap="square" anchor="t" lIns="12700" rIns="76200" tIns="12700" bIns="12700">
            <a:normAutofit/>
          </a:bodyPr>
          <a:lstStyle/>
          <a:p>
            <a:pPr algn="l"/>
            <a:r>
              <a:rPr sz="800" b="1">
                <a:solidFill>
                  <a:srgbClr val="48BF8F"/>
                </a:solidFill>
                <a:latin typeface="Aptos"/>
              </a:rPr>
              <a:t>CSS</a:t>
            </a:r>
          </a:p>
        </p:txBody>
      </p:sp>
      <p:sp>
        <p:nvSpPr>
          <p:cNvPr id="23" name="TextBox 22"/>
          <p:cNvSpPr txBox="1"/>
          <p:nvPr/>
        </p:nvSpPr>
        <p:spPr>
          <a:xfrm>
            <a:off x="8394192" y="1984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11</a:t>
            </a:r>
          </a:p>
        </p:txBody>
      </p:sp>
      <p:sp>
        <p:nvSpPr>
          <p:cNvPr id="24" name="Rounded Rectangle 23"/>
          <p:cNvSpPr/>
          <p:nvPr/>
        </p:nvSpPr>
        <p:spPr>
          <a:xfrm>
            <a:off x="1012240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68712" y="1737360"/>
            <a:ext cx="1307592" cy="219456"/>
          </a:xfrm>
          <a:prstGeom prst="rect">
            <a:avLst/>
          </a:prstGeom>
          <a:noFill/>
        </p:spPr>
        <p:txBody>
          <a:bodyPr wrap="square" anchor="t" lIns="12700" rIns="76200" tIns="12700" bIns="12700">
            <a:normAutofit/>
          </a:bodyPr>
          <a:lstStyle/>
          <a:p>
            <a:pPr algn="l"/>
            <a:r>
              <a:rPr sz="800" b="1">
                <a:solidFill>
                  <a:srgbClr val="C48052"/>
                </a:solidFill>
                <a:latin typeface="Aptos"/>
              </a:rPr>
              <a:t>HTML</a:t>
            </a:r>
          </a:p>
        </p:txBody>
      </p:sp>
      <p:sp>
        <p:nvSpPr>
          <p:cNvPr id="26" name="TextBox 25"/>
          <p:cNvSpPr txBox="1"/>
          <p:nvPr/>
        </p:nvSpPr>
        <p:spPr>
          <a:xfrm>
            <a:off x="10268712" y="1984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4</a:t>
            </a:r>
          </a:p>
        </p:txBody>
      </p:sp>
      <p:sp>
        <p:nvSpPr>
          <p:cNvPr id="27" name="Rounded Rectangle 26"/>
          <p:cNvSpPr/>
          <p:nvPr/>
        </p:nvSpPr>
        <p:spPr>
          <a:xfrm>
            <a:off x="960120" y="2834640"/>
            <a:ext cx="9921240" cy="3063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60120" y="2834640"/>
            <a:ext cx="99212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61288" y="3035808"/>
            <a:ext cx="9518904" cy="310896"/>
          </a:xfrm>
          <a:prstGeom prst="rect">
            <a:avLst/>
          </a:prstGeom>
          <a:noFill/>
        </p:spPr>
        <p:txBody>
          <a:bodyPr wrap="square" anchor="t" lIns="12700" rIns="76200" tIns="12700" bIns="12700">
            <a:normAutofit/>
          </a:bodyPr>
          <a:lstStyle/>
          <a:p>
            <a:pPr algn="l"/>
            <a:r>
              <a:rPr sz="1400" b="1">
                <a:solidFill>
                  <a:srgbClr val="E0AB5D"/>
                </a:solidFill>
                <a:latin typeface="Aptos"/>
              </a:rPr>
              <a:t>Current HEAD</a:t>
            </a:r>
          </a:p>
        </p:txBody>
      </p:sp>
      <p:sp>
        <p:nvSpPr>
          <p:cNvPr id="30" name="TextBox 29"/>
          <p:cNvSpPr txBox="1"/>
          <p:nvPr/>
        </p:nvSpPr>
        <p:spPr>
          <a:xfrm>
            <a:off x="1161288" y="3493008"/>
            <a:ext cx="9518904" cy="225856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c4daacc - Bumping to version 1.60.0!, by angelahack1</a:t>
            </a:r>
          </a:p>
          <a:p>
            <a:pPr>
              <a:spcAft>
                <a:spcPts val="400"/>
              </a:spcAft>
              <a:defRPr sz="1500">
                <a:solidFill>
                  <a:srgbClr val="B4BAAE"/>
                </a:solidFill>
                <a:latin typeface="Aptos"/>
              </a:defRPr>
            </a:pPr>
            <a:r>
              <a:t>Resolved version: 1.60.0 (git)</a:t>
            </a:r>
          </a:p>
          <a:p>
            <a:pPr>
              <a:spcAft>
                <a:spcPts val="400"/>
              </a:spcAft>
              <a:defRPr sz="1500">
                <a:solidFill>
                  <a:srgbClr val="B4BAAE"/>
                </a:solidFill>
                <a:latin typeface="Aptos"/>
              </a:defRPr>
            </a:pPr>
            <a:r>
              <a:t>Generated on September 15, 2026 09:28 PM UTC-0600</a:t>
            </a:r>
          </a:p>
          <a:p>
            <a:pPr>
              <a:spcAft>
                <a:spcPts val="400"/>
              </a:spcAft>
              <a:defRPr sz="1500">
                <a:solidFill>
                  <a:srgbClr val="B4BAAE"/>
                </a:solidFill>
                <a:latin typeface="Aptos"/>
              </a:defRPr>
            </a:pPr>
            <a:r>
              <a:t>Inventory scope: 1148 files = 1148 tracked + 0 git-unignored working-tree additions</a:t>
            </a:r>
          </a:p>
          <a:p>
            <a:pPr>
              <a:spcAft>
                <a:spcPts val="400"/>
              </a:spcAft>
              <a:defRPr sz="1500">
                <a:solidFill>
                  <a:srgbClr val="B4BAAE"/>
                </a:solidFill>
                <a:latin typeface="Aptos"/>
              </a:defRPr>
            </a:pPr>
            <a:r>
              <a:t>Multi-Turn tools: 109; wrapped chat-agent tools: 67; skills: 29</a:t>
            </a:r>
          </a:p>
          <a:p>
            <a:pPr>
              <a:spcAft>
                <a:spcPts val="400"/>
              </a:spcAft>
              <a:defRPr sz="1500">
                <a:solidFill>
                  <a:srgbClr val="B4BAAE"/>
                </a:solidFill>
                <a:latin typeface="Aptos"/>
              </a:defRPr>
            </a:pPr>
            <a:r>
              <a:t>Python requirements: 81; authoritative agent-description rows: 89</a:t>
            </a:r>
          </a:p>
          <a:p>
            <a:pPr>
              <a:spcAft>
                <a:spcPts val="400"/>
              </a:spcAft>
              <a:defRPr sz="1500">
                <a:solidFill>
                  <a:srgbClr val="B4BAAE"/>
                </a:solidFill>
                <a:latin typeface="Aptos"/>
              </a:defRPr>
            </a:pPr>
            <a:r>
              <a:t>Binary or asset inventory files skipped from line count: 65</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ALL IMPORTANT CHANGES SINCE THE LAST COMMITTED PDF/PPTX UPDATE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Since Last Dossier Refresh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Baseline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97b5bac on 2026-09-14</a:t>
            </a:r>
          </a:p>
          <a:p>
            <a:pPr>
              <a:spcAft>
                <a:spcPts val="400"/>
              </a:spcAft>
              <a:defRPr sz="1300">
                <a:solidFill>
                  <a:srgbClr val="B4BAAE"/>
                </a:solidFill>
                <a:latin typeface="Aptos"/>
              </a:defRPr>
            </a:pPr>
            <a:r>
              <a:t>Updating visual documentation, by Tlamatini's-AutoBot.</a:t>
            </a:r>
          </a:p>
          <a:p>
            <a:pPr>
              <a:spcAft>
                <a:spcPts val="400"/>
              </a:spcAft>
              <a:defRPr sz="1300">
                <a:solidFill>
                  <a:srgbClr val="B4BAAE"/>
                </a:solidFill>
                <a:latin typeface="Aptos"/>
              </a:defRPr>
            </a:pPr>
            <a:r>
              <a:t>Commits since then: 5</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Key changes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Commit c4daacc: Updates release-facing handbooks, self-knowledge and package metadata to v1.60.0. The tag remains at cef3995, one commit before this documentation commit.</a:t>
            </a:r>
          </a:p>
          <a:p>
            <a:pPr>
              <a:spcAft>
                <a:spcPts val="400"/>
              </a:spcAft>
              <a:defRPr sz="1000">
                <a:solidFill>
                  <a:srgbClr val="B4BAAE"/>
                </a:solidFill>
                <a:latin typeface="Aptos"/>
              </a:defRPr>
            </a:pPr>
            <a:r>
              <a:t>Commit cef3995: Tightens Mouser/Keyboarder/Shoter input receipts, Parametrizer mappings, FlowCreator validation and FlowHypervisor monitoring. Bundles usable ESP32 and ESPHome starter projects. GUI-Manager remains a design. Pins fonttools.</a:t>
            </a:r>
          </a:p>
          <a:p>
            <a:pPr>
              <a:spcAft>
                <a:spcPts val="400"/>
              </a:spcAft>
              <a:defRPr sz="1000">
                <a:solidFill>
                  <a:srgbClr val="B4BAAE"/>
                </a:solidFill>
                <a:latin typeface="Aptos"/>
              </a:defRPr>
            </a:pPr>
            <a:r>
              <a:t>Commit 14647ab: Adds LaTeXer's 30 signature styles, independent template controls, original TikZ artwork and engine-free style discovery. Records implementation verification separately from this refresh.</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VERIFIED IMPLEMENTATION CHANGES 4-5</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Dossier Delta Continued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Runtime and UI</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Commit 1d22228: Adds PDFer's 24 signature styles and PPTXer's 12 explicit styles, with typography and layout repairs. Removes the 62 earlier output assets from the tracked tree. Reusable verifier sources remain.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Data and operator contract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Commit 5c6d47e: Introduces PPTXer, the 89th installed agent and 67th wrapped tool. Adds three migrations, document prompts 123/124, native rendering and reusable layout/visibility sources.</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TAGGED FOUNDATION AND SUBSEQUENT SOURCE CHANGES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Recent Platform Additions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Recent agents and execution surfaces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NetSpeed-Calculator: agent 88 / wrapped launcher 66, with multi-provider confidence intervals, I-squared heterogeneity, bufferbloat, named endpoint failures, and tier-D metered-bandwidth gating.</a:t>
            </a:r>
          </a:p>
          <a:p>
            <a:pPr>
              <a:spcAft>
                <a:spcPts val="400"/>
              </a:spcAft>
              <a:defRPr sz="1000">
                <a:solidFill>
                  <a:srgbClr val="B4BAAE"/>
                </a:solidFill>
                <a:latin typeface="Aptos"/>
              </a:defRPr>
            </a:pPr>
            <a:r>
              <a:t>Googler: four plain-HTTP server-rendered routes first, then visible Chrome/bundled Chromium across seven browser routes, with bounded retries, answer attribution, structured dork presets/aliases, URL-only file hunts, and a lawful-use boundary.</a:t>
            </a:r>
          </a:p>
          <a:p>
            <a:pPr>
              <a:spcAft>
                <a:spcPts val="400"/>
              </a:spcAft>
              <a:defRPr sz="1000">
                <a:solidFill>
                  <a:srgbClr val="B4BAAE"/>
                </a:solidFill>
                <a:latin typeface="Aptos"/>
              </a:defRPr>
            </a:pPr>
            <a:r>
              <a:t>WAL-safe SQLite: online backup API, self-contained DELETE-journal copies, quick_check proof, and sidecar-safe Backup DB / Set DB / startup promotion.</a:t>
            </a:r>
          </a:p>
          <a:p>
            <a:pPr>
              <a:spcAft>
                <a:spcPts val="400"/>
              </a:spcAft>
              <a:defRPr sz="1000">
                <a:solidFill>
                  <a:srgbClr val="B4BAAE"/>
                </a:solidFill>
                <a:latin typeface="Aptos"/>
              </a:defRPr>
            </a:pPr>
            <a:r>
              <a:t>External MCP Adder: the 29th skill codifies transport classification, secret-separated import, Doctor, activation, wait, status/list, and call.</a:t>
            </a:r>
          </a:p>
          <a:p>
            <a:pPr>
              <a:spcAft>
                <a:spcPts val="400"/>
              </a:spcAft>
              <a:defRPr sz="1000">
                <a:solidFill>
                  <a:srgbClr val="B4BAAE"/>
                </a:solidFill>
                <a:latin typeface="Aptos"/>
              </a:defRPr>
            </a:pPr>
            <a:r>
              <a:t>Deep Internet Research: append-only prompt 118 requests a long, link-rich Multi-Turn + Exec Report research run without hiding tool prerequisites.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Lifecycle, policy, and monitoring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reachable release tag v1.60.0 resolves to cef3995. Current source HEAD is c4daacc, 1 commits beyond that tag. Fetched origin/main resolves to c4daacc. Runtime version resolution remains Git/build-derived. A source revision beyond the tag is not a new tagged release.</a:t>
            </a:r>
          </a:p>
          <a:p>
            <a:pPr>
              <a:spcAft>
                <a:spcPts val="400"/>
              </a:spcAft>
              <a:defRPr sz="1000">
                <a:solidFill>
                  <a:srgbClr val="B4BAAE"/>
                </a:solidFill>
                <a:latin typeface="Aptos"/>
              </a:defRPr>
            </a:pPr>
            <a:r>
              <a:t>Complete cloud-model operation requires Ollama Pro or higher; this is an operating requirement, not sponsorship, and current plan details belong to Ollama's official site.</a:t>
            </a:r>
          </a:p>
          <a:p>
            <a:pPr>
              <a:spcAft>
                <a:spcPts val="400"/>
              </a:spcAft>
              <a:defRPr sz="1000">
                <a:solidFill>
                  <a:srgbClr val="B4BAAE"/>
                </a:solidFill>
                <a:latin typeface="Aptos"/>
              </a:defRPr>
            </a:pPr>
            <a:r>
              <a:t>Private contact synchronization merges same-machine sources only for the explicit keyed build; public output and source snapshots remain free of contact PII.</a:t>
            </a:r>
          </a:p>
          <a:p>
            <a:pPr>
              <a:spcAft>
                <a:spcPts val="400"/>
              </a:spcAft>
              <a:defRPr sz="1000">
                <a:solidFill>
                  <a:srgbClr val="B4BAAE"/>
                </a:solidFill>
                <a:latin typeface="Aptos"/>
              </a:defRPr>
            </a:pPr>
            <a:r>
              <a:t>The stronger disclaimer says plain-Python transparency enables user control but is not a security warranty; the operator owns authorization, permissions, review, and consequences.</a:t>
            </a:r>
          </a:p>
          <a:p>
            <a:pPr>
              <a:spcAft>
                <a:spcPts val="400"/>
              </a:spcAft>
              <a:defRPr sz="1000">
                <a:solidFill>
                  <a:srgbClr val="B4BAAE"/>
                </a:solidFill>
                <a:latin typeface="Aptos"/>
              </a:defRPr>
            </a:pPr>
            <a:r>
              <a:t>Catalog now stands at 89 workflow agents and 109 built-in Multi-Turn tools (20 core + 67 wrapped + 12 ACPX/Skill + 10 External-MCP supervisors), with 29 skills; dynamic ext__ remotes are separate.</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NO COMMENTS, NO BLANKS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Effective Lines By Language</a:t>
            </a:r>
          </a:p>
        </p:txBody>
      </p:sp>
      <p:sp>
        <p:nvSpPr>
          <p:cNvPr id="9" name="Rounded Rectangle 8"/>
          <p:cNvSpPr/>
          <p:nvPr/>
        </p:nvSpPr>
        <p:spPr>
          <a:xfrm>
            <a:off x="822960" y="1499616"/>
            <a:ext cx="214884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636775"/>
            <a:ext cx="1856232" cy="219456"/>
          </a:xfrm>
          <a:prstGeom prst="rect">
            <a:avLst/>
          </a:prstGeom>
          <a:noFill/>
        </p:spPr>
        <p:txBody>
          <a:bodyPr wrap="square" anchor="t" lIns="12700" rIns="76200" tIns="12700" bIns="12700">
            <a:normAutofit/>
          </a:bodyPr>
          <a:lstStyle/>
          <a:p>
            <a:pPr algn="l"/>
            <a:r>
              <a:rPr sz="800" b="1">
                <a:solidFill>
                  <a:srgbClr val="C48052"/>
                </a:solidFill>
                <a:latin typeface="Aptos"/>
              </a:rPr>
              <a:t>TOTAL EFFECTIVE</a:t>
            </a:r>
          </a:p>
        </p:txBody>
      </p:sp>
      <p:sp>
        <p:nvSpPr>
          <p:cNvPr id="11" name="TextBox 10"/>
          <p:cNvSpPr txBox="1"/>
          <p:nvPr/>
        </p:nvSpPr>
        <p:spPr>
          <a:xfrm>
            <a:off x="969264" y="1883664"/>
            <a:ext cx="1856232" cy="347472"/>
          </a:xfrm>
          <a:prstGeom prst="rect">
            <a:avLst/>
          </a:prstGeom>
          <a:noFill/>
        </p:spPr>
        <p:txBody>
          <a:bodyPr wrap="square" anchor="t" lIns="12700" rIns="76200" tIns="12700" bIns="12700">
            <a:normAutofit/>
          </a:bodyPr>
          <a:lstStyle/>
          <a:p>
            <a:pPr algn="l"/>
            <a:r>
              <a:rPr sz="2000" b="1">
                <a:solidFill>
                  <a:srgbClr val="E8E8DE"/>
                </a:solidFill>
                <a:latin typeface="Aptos"/>
              </a:rPr>
              <a:t>266,325</a:t>
            </a:r>
          </a:p>
        </p:txBody>
      </p:sp>
      <p:sp>
        <p:nvSpPr>
          <p:cNvPr id="12" name="Rounded Rectangle 11"/>
          <p:cNvSpPr/>
          <p:nvPr/>
        </p:nvSpPr>
        <p:spPr>
          <a:xfrm>
            <a:off x="3246120" y="1499616"/>
            <a:ext cx="214884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2424" y="1636775"/>
            <a:ext cx="1856232" cy="219456"/>
          </a:xfrm>
          <a:prstGeom prst="rect">
            <a:avLst/>
          </a:prstGeom>
          <a:noFill/>
        </p:spPr>
        <p:txBody>
          <a:bodyPr wrap="square" anchor="t" lIns="12700" rIns="76200" tIns="12700" bIns="12700">
            <a:normAutofit/>
          </a:bodyPr>
          <a:lstStyle/>
          <a:p>
            <a:pPr algn="l"/>
            <a:r>
              <a:rPr sz="800" b="1">
                <a:solidFill>
                  <a:srgbClr val="48BF8F"/>
                </a:solidFill>
                <a:latin typeface="Aptos"/>
              </a:rPr>
              <a:t>TOTAL PHYSICAL</a:t>
            </a:r>
          </a:p>
        </p:txBody>
      </p:sp>
      <p:sp>
        <p:nvSpPr>
          <p:cNvPr id="14" name="TextBox 13"/>
          <p:cNvSpPr txBox="1"/>
          <p:nvPr/>
        </p:nvSpPr>
        <p:spPr>
          <a:xfrm>
            <a:off x="3392424" y="1883664"/>
            <a:ext cx="1856232" cy="347472"/>
          </a:xfrm>
          <a:prstGeom prst="rect">
            <a:avLst/>
          </a:prstGeom>
          <a:noFill/>
        </p:spPr>
        <p:txBody>
          <a:bodyPr wrap="square" anchor="t" lIns="12700" rIns="76200" tIns="12700" bIns="12700">
            <a:normAutofit/>
          </a:bodyPr>
          <a:lstStyle/>
          <a:p>
            <a:pPr algn="l"/>
            <a:r>
              <a:rPr sz="2000" b="1">
                <a:solidFill>
                  <a:srgbClr val="E8E8DE"/>
                </a:solidFill>
                <a:latin typeface="Aptos"/>
              </a:rPr>
              <a:t>374,306</a:t>
            </a:r>
          </a:p>
        </p:txBody>
      </p:sp>
      <p:sp>
        <p:nvSpPr>
          <p:cNvPr id="15" name="Rounded Rectangle 14"/>
          <p:cNvSpPr/>
          <p:nvPr/>
        </p:nvSpPr>
        <p:spPr>
          <a:xfrm>
            <a:off x="5669280" y="1499616"/>
            <a:ext cx="214884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15584" y="1636775"/>
            <a:ext cx="1856232" cy="219456"/>
          </a:xfrm>
          <a:prstGeom prst="rect">
            <a:avLst/>
          </a:prstGeom>
          <a:noFill/>
        </p:spPr>
        <p:txBody>
          <a:bodyPr wrap="square" anchor="t" lIns="12700" rIns="76200" tIns="12700" bIns="12700">
            <a:normAutofit/>
          </a:bodyPr>
          <a:lstStyle/>
          <a:p>
            <a:pPr algn="l"/>
            <a:r>
              <a:rPr sz="800" b="1">
                <a:solidFill>
                  <a:srgbClr val="E0AB5D"/>
                </a:solidFill>
                <a:latin typeface="Aptos"/>
              </a:rPr>
              <a:t>TEXT LANGUAGES</a:t>
            </a:r>
          </a:p>
        </p:txBody>
      </p:sp>
      <p:sp>
        <p:nvSpPr>
          <p:cNvPr id="17" name="TextBox 16"/>
          <p:cNvSpPr txBox="1"/>
          <p:nvPr/>
        </p:nvSpPr>
        <p:spPr>
          <a:xfrm>
            <a:off x="5815584" y="1883664"/>
            <a:ext cx="1856232" cy="347472"/>
          </a:xfrm>
          <a:prstGeom prst="rect">
            <a:avLst/>
          </a:prstGeom>
          <a:noFill/>
        </p:spPr>
        <p:txBody>
          <a:bodyPr wrap="square" anchor="t" lIns="12700" rIns="76200" tIns="12700" bIns="12700">
            <a:normAutofit/>
          </a:bodyPr>
          <a:lstStyle/>
          <a:p>
            <a:pPr algn="l"/>
            <a:r>
              <a:rPr sz="2000" b="1">
                <a:solidFill>
                  <a:srgbClr val="E8E8DE"/>
                </a:solidFill>
                <a:latin typeface="Aptos"/>
              </a:rPr>
              <a:t>17</a:t>
            </a:r>
          </a:p>
        </p:txBody>
      </p:sp>
      <p:sp>
        <p:nvSpPr>
          <p:cNvPr id="18" name="TextBox 17"/>
          <p:cNvSpPr txBox="1"/>
          <p:nvPr/>
        </p:nvSpPr>
        <p:spPr>
          <a:xfrm>
            <a:off x="841248" y="2788920"/>
            <a:ext cx="10378440" cy="2926080"/>
          </a:xfrm>
          <a:prstGeom prst="rect">
            <a:avLst/>
          </a:prstGeom>
          <a:noFill/>
        </p:spPr>
        <p:txBody>
          <a:bodyPr wrap="square" anchor="t" lIns="12700" rIns="76200" tIns="12700" bIns="12700">
            <a:normAutofit/>
          </a:bodyPr>
          <a:lstStyle/>
          <a:p>
            <a:pPr algn="l"/>
            <a:r>
              <a:rPr sz="800" b="0">
                <a:solidFill>
                  <a:srgbClr val="E8E8DE"/>
                </a:solidFill>
                <a:latin typeface="Cascadia Mono"/>
              </a:rPr>
              <a:t>LANGUAGE                 FILES   EFFECTIVE      TOTAL   SHARE
Python                   673     191,749    276,054  72.0%
Markdown                 190      28,835     38,278  10.8%
JavaScript                42      19,114     25,041   7.2%
CSS                       11       6,605      8,773   2.5%
JSON                      12       5,948      5,948   2.2%
Other text                21       4,776      5,598   1.8%
YAML                      96       2,285      6,150   0.9%
PowerShell                11       1,741      2,394   0.7%
Prompt template            2       1,359      1,496   0.5%
Text                       7       1,150      1,462   0.4%
HTML                       4       1,126      1,172   0.4%
Tlamatini Flow             4         837        837   0.3%
JavaScript module          2         458        563   0.2%
Batch                      4         264        380   0.1%
C++                        2          50         87   0.0%
Protocol Buffers           1          20         33   0.0%
INI                        1           8         40   0.0%</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WHERE MOST AUTHORED TEXT LIVES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Largest Files By Effective Lines</a:t>
            </a:r>
          </a:p>
        </p:txBody>
      </p:sp>
      <p:sp>
        <p:nvSpPr>
          <p:cNvPr id="9" name="TextBox 8"/>
          <p:cNvSpPr txBox="1"/>
          <p:nvPr/>
        </p:nvSpPr>
        <p:spPr>
          <a:xfrm>
            <a:off x="777240" y="1572768"/>
            <a:ext cx="10698480" cy="4434840"/>
          </a:xfrm>
          <a:prstGeom prst="rect">
            <a:avLst/>
          </a:prstGeom>
          <a:noFill/>
        </p:spPr>
        <p:txBody>
          <a:bodyPr wrap="square" anchor="t" lIns="12700" rIns="76200" tIns="12700" bIns="12700">
            <a:normAutofit/>
          </a:bodyPr>
          <a:lstStyle/>
          <a:p>
            <a:pPr algn="l"/>
            <a:r>
              <a:rPr sz="800" b="0">
                <a:solidFill>
                  <a:srgbClr val="E8E8DE"/>
                </a:solidFill>
                <a:latin typeface="Cascadia Mono"/>
              </a:rPr>
              <a:t>PATH                                                     LANGUAGE     EFFECTIVE   TOTAL
Tlamatini/agent/views.py                                Python         8,717  12,769
Tlamatini/agent/tests.py                                Python         5,700   7,452
Tlamatini/agent/agents/flowcreator/flow_catalog.json    JSON           5,158   5,158
Tlamatini/agent/doc_generation/complete_project_docs.py Python         3,746   4,237
Tlamatini/agent/agents/latexer/latexer.py               Python         3,348   4,661
Tlamatini/agent/tools.py                                Python         3,277   4,960
BookOfTlamatini.md                                      Markdown       2,932   4,202
docs/claude/recent-fixes.md                             Markdown       2,512   3,314
Tlamatini/agent/agents/flowcreator/agentic_skill.md     Markdown       2,416   2,660
Tlamatini/agent/chat_agent_registry.py                  Python         2,126   2,201
...ini/agent/static/agent/css/agentic_control_panel.css CSS            2,094   2,922
Tlamatini/agent/external_mcp_manager.py                 Python         2,066   2,604
Tlamatini/agent/agents/stm32er/stm32er.py               Python         1,983   2,694
Tlamatini/agent/static/agent/css/agent_page.css         CSS            1,885   2,437</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REPRODUCIBLE SOURCE MEASUREMENTS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Line Inventory Method</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lIns="12700" rIns="76200" tIns="12700" bIns="12700">
            <a:normAutofit/>
          </a:bodyPr>
          <a:lstStyle/>
          <a:p>
            <a:pPr algn="l"/>
            <a:r>
              <a:rPr sz="1400" b="1">
                <a:solidFill>
                  <a:srgbClr val="C48052"/>
                </a:solidFill>
                <a:latin typeface="Aptos"/>
              </a:rPr>
              <a:t>Counting boundary</a:t>
            </a:r>
          </a:p>
        </p:txBody>
      </p:sp>
      <p:sp>
        <p:nvSpPr>
          <p:cNvPr id="12" name="TextBox 11"/>
          <p:cNvSpPr txBox="1"/>
          <p:nvPr/>
        </p:nvSpPr>
        <p:spPr>
          <a:xfrm>
            <a:off x="950976" y="2167128"/>
            <a:ext cx="10158984" cy="367588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The primary inventory uses git ls-files. Nonignored untracked additions, when present, are labeled separately. Ignored build output, caches and environments are excluded.</a:t>
            </a:r>
          </a:p>
          <a:p>
            <a:pPr>
              <a:spcAft>
                <a:spcPts val="400"/>
              </a:spcAft>
              <a:defRPr sz="1400">
                <a:solidFill>
                  <a:srgbClr val="B4BAAE"/>
                </a:solidFill>
                <a:latin typeface="Aptos"/>
              </a:defRPr>
            </a:pPr>
            <a:r>
              <a:t>Physical lines include blanks and comments in text files. Effective lines exclude blank and comment-only lines. Python also excludes module, class and function docstrings identified by AST parsing.</a:t>
            </a:r>
          </a:p>
          <a:p>
            <a:pPr>
              <a:spcAft>
                <a:spcPts val="400"/>
              </a:spcAft>
              <a:defRPr sz="1400">
                <a:solidFill>
                  <a:srgbClr val="B4BAAE"/>
                </a:solidFill>
                <a:latin typeface="Aptos"/>
              </a:defRPr>
            </a:pPr>
            <a:r>
              <a:t>Executable Python multiline strings count every nonblank occupied line. The 2026-09-12 correction replaced the token-start-only undercount. Comparisons with earlier dossiers require recounting them.</a:t>
            </a:r>
          </a:p>
          <a:p>
            <a:pPr>
              <a:spcAft>
                <a:spcPts val="400"/>
              </a:spcAft>
              <a:defRPr sz="1400">
                <a:solidFill>
                  <a:srgbClr val="B4BAAE"/>
                </a:solidFill>
                <a:latin typeface="Aptos"/>
              </a:defRPr>
            </a:pPr>
            <a:r>
              <a:t>Other languages use comment stripping rather than semantic execution analysis. Markdown counts authored nonblank documentation. Binary and media assets have no source-line count. Published historical source snapshots contribute text lines but do not increase runtime module or agent totals.</a:t>
            </a:r>
          </a:p>
          <a:p>
            <a:pPr>
              <a:spcAft>
                <a:spcPts val="400"/>
              </a:spcAft>
              <a:defRPr sz="1400">
                <a:solidFill>
                  <a:srgbClr val="B4BAAE"/>
                </a:solidFill>
                <a:latin typeface="Aptos"/>
              </a:defRPr>
            </a:pPr>
            <a:r>
              <a:t>The generated context JSON retains per-file physical/effective counts, per-language totals and all inventory paths. Both dossiers contain the complete repository tree and a separate new-asset appendix.</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Recent Git Window (1/3)</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lIns="12700" rIns="76200" tIns="12700" bIns="12700">
            <a:norm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Commit c4daacc: Updates release-facing handbooks, self-knowledge and package metadata to v1.60.0. The tag remains at cef3995, one commit before this documentation commit.</a:t>
            </a:r>
          </a:p>
          <a:p>
            <a:pPr>
              <a:spcAft>
                <a:spcPts val="400"/>
              </a:spcAft>
              <a:defRPr sz="1500">
                <a:solidFill>
                  <a:srgbClr val="B4BAAE"/>
                </a:solidFill>
                <a:latin typeface="Aptos"/>
              </a:defRPr>
            </a:pPr>
            <a:r>
              <a:t>Commit cef3995: Tightens Mouser/Keyboarder/Shoter input receipts, Parametrizer mappings, FlowCreator validation and FlowHypervisor monitoring. Bundles usable ESP32 and ESPHome starter projects. GUI-Manager remains a design. Pins fonttools.</a:t>
            </a:r>
          </a:p>
          <a:p>
            <a:pPr>
              <a:spcAft>
                <a:spcPts val="400"/>
              </a:spcAft>
              <a:defRPr sz="1500">
                <a:solidFill>
                  <a:srgbClr val="B4BAAE"/>
                </a:solidFill>
                <a:latin typeface="Aptos"/>
              </a:defRPr>
            </a:pPr>
            <a:r>
              <a:t>Commit 14647ab: Adds LaTeXer's 30 signature styles, independent template controls, original TikZ artwork and engine-free style discovery. Records implementation verification separately from this refresh.</a:t>
            </a:r>
          </a:p>
          <a:p>
            <a:pPr>
              <a:spcAft>
                <a:spcPts val="400"/>
              </a:spcAft>
              <a:defRPr sz="1500">
                <a:solidFill>
                  <a:srgbClr val="B4BAAE"/>
                </a:solidFill>
                <a:latin typeface="Aptos"/>
              </a:defRPr>
            </a:pPr>
            <a:r>
              <a:t>Commit 1d22228: Adds PDFer's 24 signature styles and PPTXer's 12 explicit styles, with typography and layout repairs. Removes the 62 earlier output assets from the tracked tree. Reusable verifier sources remain.</a:t>
            </a:r>
          </a:p>
          <a:p>
            <a:pPr>
              <a:spcAft>
                <a:spcPts val="400"/>
              </a:spcAft>
              <a:defRPr sz="1500">
                <a:solidFill>
                  <a:srgbClr val="B4BAAE"/>
                </a:solidFill>
                <a:latin typeface="Aptos"/>
              </a:defRPr>
            </a:pPr>
            <a:r>
              <a:t>Commit 5c6d47e: Introduces PPTXer, the 89th installed agent and 67th wrapped tool. Adds three migrations, document prompts 123/124, native rendering and reusable layout/visibility sources.</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Recent Git Window (2/3)</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lIns="12700" rIns="76200" tIns="12700" bIns="12700">
            <a:norm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Commit 97b5bac: Commits the preceding whole-project PDF/PPTX refresh for Grepper's line-reading contract and the earlier release boundary.</a:t>
            </a:r>
          </a:p>
          <a:p>
            <a:pPr>
              <a:spcAft>
                <a:spcPts val="400"/>
              </a:spcAft>
              <a:defRPr sz="1500">
                <a:solidFill>
                  <a:srgbClr val="B4BAAE"/>
                </a:solidFill>
                <a:latin typeface="Aptos"/>
              </a:defRPr>
            </a:pPr>
            <a:r>
              <a:t>Commit 7764353: Restores CRLF endings in eleven files changed by the Grepper feature commit, without changing their behavior.</a:t>
            </a:r>
          </a:p>
          <a:p>
            <a:pPr>
              <a:spcAft>
                <a:spcPts val="400"/>
              </a:spcAft>
              <a:defRPr sz="1500">
                <a:solidFill>
                  <a:srgbClr val="B4BAAE"/>
                </a:solidFill>
                <a:latin typeface="Aptos"/>
              </a:defRPr>
            </a:pPr>
            <a:r>
              <a:t>Commit 4ae6da6: Adds Grepper's single-file lines mode, inclusive ranges and content_b64 transport. Updates wrapped-tool and Parametrizer contracts, self-knowledge and handbooks. Adds three regression/visible-harness sources, not run here.</a:t>
            </a:r>
          </a:p>
          <a:p>
            <a:pPr>
              <a:spcAft>
                <a:spcPts val="400"/>
              </a:spcAft>
              <a:defRPr sz="1500">
                <a:solidFill>
                  <a:srgbClr val="B4BAAE"/>
                </a:solidFill>
                <a:latin typeface="Aptos"/>
              </a:defRPr>
            </a:pPr>
            <a:r>
              <a:t>Commit 1dcd805: Updates release-facing documentation and package metadata to v1.51.9. The annotated tag resolves to cb30edf, before the Grepper change.</a:t>
            </a:r>
          </a:p>
          <a:p>
            <a:pPr>
              <a:spcAft>
                <a:spcPts val="400"/>
              </a:spcAft>
              <a:defRPr sz="1500">
                <a:solidFill>
                  <a:srgbClr val="B4BAAE"/>
                </a:solidFill>
                <a:latin typeface="Aptos"/>
              </a:defRPr>
            </a:pPr>
            <a:r>
              <a:t>Commit 7800610: Commits the previous dossiers and expands sampler/uninstaller maintainer guidance. The mcp_agent.py change adds explanatory comments, not a new sampler path.</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Recent Git Window (3/3)</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lIns="12700" rIns="76200" tIns="12700" bIns="12700">
            <a:norm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Commit cb30edf: Forwards repeat_last_n through both Ollama chains and ChatOllama, adds it to the parameter banner, and aligns defaults at 256 / 1,048,576 for repeat_last_n / num_ctx. Commit measurements are historical and model-specific.</a:t>
            </a:r>
          </a:p>
          <a:p>
            <a:pPr>
              <a:spcAft>
                <a:spcPts val="400"/>
              </a:spcAft>
              <a:defRPr sz="1500">
                <a:solidFill>
                  <a:srgbClr val="B4BAAE"/>
                </a:solidFill>
                <a:latin typeface="Aptos"/>
              </a:defRPr>
            </a:pPr>
            <a:r>
              <a:t>Commit f6404a3: Aligns both Ollama repeat_penalty fallbacks and the shipped setting at 1.2. The commit reports fewer empty answers in its eight-trial workload. Those experiments were not rerun for this dossier.</a:t>
            </a:r>
          </a:p>
          <a:p>
            <a:pPr>
              <a:spcAft>
                <a:spcPts val="400"/>
              </a:spcAft>
              <a:defRPr sz="1500">
                <a:solidFill>
                  <a:srgbClr val="B4BAAE"/>
                </a:solidFill>
                <a:latin typeface="Aptos"/>
              </a:defRPr>
            </a:pPr>
            <a:r>
              <a:t>Commit a2287c9: Commits the previous dossier refresh and simplifies commit-specific recent-change summaries.</a:t>
            </a:r>
          </a:p>
          <a:p>
            <a:pPr>
              <a:spcAft>
                <a:spcPts val="400"/>
              </a:spcAft>
              <a:defRPr sz="1500">
                <a:solidFill>
                  <a:srgbClr val="B4BAAE"/>
                </a:solidFill>
                <a:latin typeface="Aptos"/>
              </a:defRPr>
            </a:pPr>
            <a:r>
              <a:t>Commit b07f9d5: Adds the uninstaller's Retry/Exit running-process gate and preserves five named content directories when populated or unreadable. Includes mechanics and visible-harness sources, inspected without execution.</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COMMITS SINCE THE LAST COMMITTED PDF/PPTX REFRESH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Visual Dossier Change Appendix 1/1</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76200" tIns="12700" bIns="12700">
            <a:norm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2026-09-15 | c4daacc | Bumping to version 1.60.0!, by angelahack1</a:t>
            </a:r>
          </a:p>
          <a:p>
            <a:pPr>
              <a:spcAft>
                <a:spcPts val="400"/>
              </a:spcAft>
              <a:defRPr sz="1200">
                <a:solidFill>
                  <a:srgbClr val="B4BAAE"/>
                </a:solidFill>
                <a:latin typeface="Aptos"/>
              </a:defRPr>
            </a:pPr>
            <a:r>
              <a:t>2026-09-15 | cef3995 | Entire chain of visual agents really enhanced!, by angelahack1</a:t>
            </a:r>
          </a:p>
          <a:p>
            <a:pPr>
              <a:spcAft>
                <a:spcPts val="400"/>
              </a:spcAft>
              <a:defRPr sz="1200">
                <a:solidFill>
                  <a:srgbClr val="B4BAAE"/>
                </a:solidFill>
                <a:latin typeface="Aptos"/>
              </a:defRPr>
            </a:pPr>
            <a:r>
              <a:t>2026-09-15 | 14647ab | Improving styles on LaTeXer powerful agent, by angelahack1</a:t>
            </a:r>
          </a:p>
          <a:p>
            <a:pPr>
              <a:spcAft>
                <a:spcPts val="400"/>
              </a:spcAft>
              <a:defRPr sz="1200">
                <a:solidFill>
                  <a:srgbClr val="B4BAAE"/>
                </a:solidFill>
                <a:latin typeface="Aptos"/>
              </a:defRPr>
            </a:pPr>
            <a:r>
              <a:t>2026-09-15 | 1d22228 | Improving styles on PDFer and PPTXer powerful agents, by angelahack1</a:t>
            </a:r>
          </a:p>
          <a:p>
            <a:pPr>
              <a:spcAft>
                <a:spcPts val="400"/>
              </a:spcAft>
              <a:defRPr sz="1200">
                <a:solidFill>
                  <a:srgbClr val="B4BAAE"/>
                </a:solidFill>
                <a:latin typeface="Aptos"/>
              </a:defRPr>
            </a:pPr>
            <a:r>
              <a:t>2026-09-14 | 5c6d47e | Implementing the brand new PPTXere agent!, by angelahack1</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3-Day Commit Appendix 1/3</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76200" tIns="12700" bIns="12700">
            <a:norm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2026-09-15 | c4daacc | Bumping to version 1.60.0!, by angelahack1</a:t>
            </a:r>
          </a:p>
          <a:p>
            <a:pPr>
              <a:spcAft>
                <a:spcPts val="400"/>
              </a:spcAft>
              <a:defRPr sz="1200">
                <a:solidFill>
                  <a:srgbClr val="B4BAAE"/>
                </a:solidFill>
                <a:latin typeface="Aptos"/>
              </a:defRPr>
            </a:pPr>
            <a:r>
              <a:t>2026-09-15 | cef3995 | Entire chain of visual agents really enhanced!, by angelahack1</a:t>
            </a:r>
          </a:p>
          <a:p>
            <a:pPr>
              <a:spcAft>
                <a:spcPts val="400"/>
              </a:spcAft>
              <a:defRPr sz="1200">
                <a:solidFill>
                  <a:srgbClr val="B4BAAE"/>
                </a:solidFill>
                <a:latin typeface="Aptos"/>
              </a:defRPr>
            </a:pPr>
            <a:r>
              <a:t>2026-09-15 | 14647ab | Improving styles on LaTeXer powerful agent, by angelahack1</a:t>
            </a:r>
          </a:p>
          <a:p>
            <a:pPr>
              <a:spcAft>
                <a:spcPts val="400"/>
              </a:spcAft>
              <a:defRPr sz="1200">
                <a:solidFill>
                  <a:srgbClr val="B4BAAE"/>
                </a:solidFill>
                <a:latin typeface="Aptos"/>
              </a:defRPr>
            </a:pPr>
            <a:r>
              <a:t>2026-09-15 | 1d22228 | Improving styles on PDFer and PPTXer powerful agents, by angelahack1</a:t>
            </a:r>
          </a:p>
          <a:p>
            <a:pPr>
              <a:spcAft>
                <a:spcPts val="400"/>
              </a:spcAft>
              <a:defRPr sz="1200">
                <a:solidFill>
                  <a:srgbClr val="B4BAAE"/>
                </a:solidFill>
                <a:latin typeface="Aptos"/>
              </a:defRPr>
            </a:pPr>
            <a:r>
              <a:t>2026-09-14 | 5c6d47e | Implementing the brand new PPTXere agent!, by angelahack1</a:t>
            </a:r>
          </a:p>
          <a:p>
            <a:pPr>
              <a:spcAft>
                <a:spcPts val="400"/>
              </a:spcAft>
              <a:defRPr sz="1200">
                <a:solidFill>
                  <a:srgbClr val="B4BAAE"/>
                </a:solidFill>
                <a:latin typeface="Aptos"/>
              </a:defRPr>
            </a:pPr>
            <a:r>
              <a:t>2026-09-14 | 97b5bac | Updating visual documentation, by Tlamatini's-AutoBot.</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3-Day Commit Appendix 2/3</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76200" tIns="12700" bIns="12700">
            <a:norm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2026-09-14 | 7764353 | Restore the CRLF line endings 4ae6da6 flattened in 11 files</a:t>
            </a:r>
          </a:p>
          <a:p>
            <a:pPr>
              <a:spcAft>
                <a:spcPts val="400"/>
              </a:spcAft>
              <a:defRPr sz="1200">
                <a:solidFill>
                  <a:srgbClr val="B4BAAE"/>
                </a:solidFill>
                <a:latin typeface="Aptos"/>
              </a:defRPr>
            </a:pPr>
            <a:r>
              <a:t>2026-09-14 | 4ae6da6 | Grepper learned to READ: output_mode 'lines', and the byte-exact channel it needed</a:t>
            </a:r>
          </a:p>
          <a:p>
            <a:pPr>
              <a:spcAft>
                <a:spcPts val="400"/>
              </a:spcAft>
              <a:defRPr sz="1200">
                <a:solidFill>
                  <a:srgbClr val="B4BAAE"/>
                </a:solidFill>
                <a:latin typeface="Aptos"/>
              </a:defRPr>
            </a:pPr>
            <a:r>
              <a:t>2026-09-14 | 1dcd805 | Docs: bump every current-release surface to v1.51.9</a:t>
            </a:r>
          </a:p>
          <a:p>
            <a:pPr>
              <a:spcAft>
                <a:spcPts val="400"/>
              </a:spcAft>
              <a:defRPr sz="1200">
                <a:solidFill>
                  <a:srgbClr val="B4BAAE"/>
                </a:solidFill>
                <a:latin typeface="Aptos"/>
              </a:defRPr>
            </a:pPr>
            <a:r>
              <a:t>2026-09-14 | 7800610 | Improved the Flow-chain parameters, some general fixes, and avoiding deletion of user-elements, by Tlamatini's-AutoBot.</a:t>
            </a:r>
          </a:p>
          <a:p>
            <a:pPr>
              <a:spcAft>
                <a:spcPts val="400"/>
              </a:spcAft>
              <a:defRPr sz="1200">
                <a:solidFill>
                  <a:srgbClr val="B4BAAE"/>
                </a:solidFill>
                <a:latin typeface="Aptos"/>
              </a:defRPr>
            </a:pPr>
            <a:r>
              <a:t>2026-09-13 | cb30edf | Wire repeat_last_n, set it to 256, and raise num_ctx to the real 1,048,576</a:t>
            </a:r>
          </a:p>
          <a:p>
            <a:pPr>
              <a:spcAft>
                <a:spcPts val="400"/>
              </a:spcAft>
              <a:defRPr sz="1200">
                <a:solidFill>
                  <a:srgbClr val="B4BAAE"/>
                </a:solidFill>
                <a:latin typeface="Aptos"/>
              </a:defRPr>
            </a:pPr>
            <a:r>
              <a:t>2026-09-13 | f6404a3 | Lower the default ollama_repeat_penalty from 1.9 to 1.2 (measured)</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3-Day Commit Appendix 3/3</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76200" tIns="12700" bIns="12700">
            <a:norm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2026-09-13 | a2287c9 | Carry the pending working-tree changes: visual docs regenerated, weekly_highlights simplified</a:t>
            </a:r>
          </a:p>
          <a:p>
            <a:pPr>
              <a:spcAft>
                <a:spcPts val="400"/>
              </a:spcAft>
              <a:defRPr sz="1200">
                <a:solidFill>
                  <a:srgbClr val="B4BAAE"/>
                </a:solidFill>
                <a:latin typeface="Aptos"/>
              </a:defRPr>
            </a:pPr>
            <a:r>
              <a:t>2026-09-13 | b07f9d5 | Uninstaller: refuse to run while Tlamatini is up, and never delete the user's own content</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 of 44</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Tlamatini/
|-- .gitattributes
|-- .gitignore
|-- .mcp.json
|-- 10000xRedesignOfUpdatingMechanicsOnTlamatini.md
|-- _acpx_pipeline_demo_report.md
|-- ACPX.md
|-- agents_descriptions.md
|-- apply_update.ps1
|-- audit_dependencies.py
|-- AvatarImprovementByClaude.md
|-- backup_db.py
|-- BookOfTlamatini.md
|-- build.py
|-- build_all.cmd
|-- build_complete_private_release.py
|-- build_complete_public_release.py
|-- build_installer.py
|-- build_uninstaller.py
|-- check_private_data.py
|-- Claude-Desktop-KALI-MCP-Session.md
|-- CLAUDE.md
|-- copy_source_assets.py
|-- CreateShortcut.json
|-- CreateShortcut.ps1
|-- DesignOfIncludingMemoryMCPS.txt
|-- Discoverier-new-agent.md
|-- eslint.config.mjs
|-- example_of_prompt_to_make_de-compresser_agent.txt
|-- FirstFinalPlanToSpeedUp.md
|-- freeingport8000.ps1</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 of 44</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GEMINI.md
|-- git_deny_go.py
|-- image.png
|-- install.py
|-- KIMI.md
|-- LICENSE
|-- MCPMemoriesFlowCreation.flw
|-- MessagingConnectorAssistant_Design.md
|-- ollama_credits.py
|-- OllamaPricing.png
|-- OOB_shift_reaper-and-NAMU-Design.pdf
|-- package.json
|-- PIVOT_CHANGES.md
|-- pnpm-lock.yaml
|-- preserved_user_state.json
|-- private_targets.example.json
|-- PromptDesigner.jpg
|-- README.md
|-- regen_secrets.py
|-- register_flw.ps1
|-- RemoveShortcut.ps1
|-- requirements.txt
|-- surgical_improving_speed_of_Tlamatini_by_a_factor_of_3X.md
|-- test_author_banner.py
|-- test_check_private_data.py
|-- test_perf_3x_visual.py
|-- test_private_data_guard.py
|-- Tlamatini-Kali-Setup.md
|-- Tlamatini.ico
|-- Tlamatini.jpg
|-- Tlamatini.ps1</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 of 44</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tlamatini_acpx.py
|-- tlamatini_app_summary.pdf
|-- Tlamatini_eXtended_Artificial_Intelligence_Humanly_Tempered.pptx
|-- TLAMATINI_MCP.md
|-- tlamatini_mcp_server.py
|-- TlamatiniConsoleShieldByClaude.md
|-- TlamatiniJudgementDay.md
|-- uncommit-keys.bat
|-- uninstall.py
|-- unregister_flw.ps1
|-- VERSIONING.md
|-- versioning.py
|-- .claude/
|   |-- settings.json
|   |-- hooks/
|   |   |-- announce_skills.py
|   |   `-- test_announce_skills.py
|   |-- memory/
|   |   |-- feedback_agent_naming_conventions.md
|   |   |-- feedback_dont_overbuild_exec_safety.md
|   |   |-- feedback_hard_real_scenario_tests.md
|   |   |-- feedback_main_branch_only.md
|   |   |-- feedback_package_json_version_bump.md
|   |   |-- feedback_run_tlamatini_agents_visible.md
|   |   |-- feedback_state_constraints_upfront.md
|   |   |-- feedback_track_changes_pivot_file.md
|   |   |-- feedback_update_agent_docs.md
|   |   |-- feedback_user_owns_git.md
|   |   |-- MEMORY.md
|   |   |-- project_acpx_oneshot_prompt.md
|   |   |-- project_acpx_skills_menu.md</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 of 44</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project_acpx_toggle_skills.md
|   |   |-- project_acpxer_added.md
|   |   |-- project_agent_table_wiped_on_boot.md
|   |   |-- project_arduiner_agent.md
|   |   |-- project_ask_execs_feature.md
|   |   |-- project_audioplayer_agent.md
|   |   |-- project_build_concurrency_guard.md
|   |   |-- project_build_tests_and_installer_enterkey.md
|   |   |-- project_camcorder_agent.md
|   |   |-- project_carried_python_for_agents.md
|   |   |-- project_conjunction_parser_fix.md
|   |   |-- project_daily_chat_test_skill.md
|   |   |-- project_desktop_ui_lifecycle.md
|   |   |-- project_director_virtuoso_demo_prompts.md
|   |   |-- project_doc_refresh_2026_05_06.md
|   |   |-- project_doc_refresh_2026_05_08.md
|   |   |-- project_doc_refresh_2026_05_09.md
|   |   |-- project_eight_fixes_2026_05_07.md
|   |   |-- project_emailer_recmailer_oneshot.md
|   |   |-- project_embedding_memory_guard.md
|   |   |-- project_esp32er_agent.md
|   |   |-- project_execute_command_bounded_fix.md
|   |   |-- project_execute_file_foreground_fix.md
|   |   |-- project_external_exec_safety_layer.md
|   |   |-- project_flow_compiler_dialog_wins.md
|   |   |-- project_ghost_distinfo_dependency_audit.md
|   |   |-- project_kalier_agent.md
|   |   |-- project_keyboarder_wrapped_2026_05_07.md
|   |   |-- project_latexer_agent.md
|   |   |-- project_living_canvas_dropped.md
|   |   |-- project_mouser_wrapped_2026_05_07.md</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- 5 of 44</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project_native_picker_tcltk_fix.md
|   |   |-- project_native_toast.md
|   |   |-- project_netspeed_calculator_agent.md
|   |   |-- project_numpy_pyinstaller.md
|   |   |-- project_ollama_source_build_breaks_embeddings.md
|   |   |-- project_pdfer_agent.md
|   |   |-- project_planner_followup.md
|   |   |-- project_playwrighter_agent.md
|   |   |-- project_playwrighter_hold_open.md
|   |   |-- project_prompt_catalog_mode_badges.md
|   |   |-- project_pythonxer_forkbomb_fix.md
|   |   |-- project_pythonxer_strict_ruff_gate.md
|   |   |-- project_quote_apostrophe_fix_2026_05_07.md
|   |   |-- project_reaper_console_window_fix.md
|   |   |-- project_recorder_agent.md
|   |   |-- project_reviewer_analyzer_agents.md
|   |   |-- project_reviewer_analyzer_demo_prompts.md
|   |   |-- project_reviewer_committed_secrets_falsepos.md
|   |   |-- project_secret_leak_recovery.md
|   |   |-- project_stm32er_agent.md
|   |   |-- project_stm32er_bootstrap_preflight.md
|   |   |-- project_stm32er_demo_prompts.md
|   |   |-- project_stm32er_docs_libs_parametrizer.md
|   |   |-- project_stm32er_hil_serial_proof_fix.md
|   |   |-- project_stm32er_tests.md
|   |   |-- project_summarizer_oneshot_mode.md
|   |   |-- project_taskbar_flash_attention.md
|   |   |-- project_teletlamatini_acpx.md
|   |   |-- project_temp_templates_policy.md
|   |   |-- project_unity_mcp_declined.md
|   |   |-- project_unrealer_expanded_surface.md</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- 6 of 44</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project_versioning_2026_05_15.md
|   |   |-- project_videoplayer_agent.md
|   |   |-- project_windower_agent.md
|   |   `-- user_profile.md
|   `-- skills/
|       |-- tlamatini-agent-creation/
|       |   `-- SKILL.md
|       |-- tlamatini-agent-naming/
|       |   `-- SKILL.md
|       |-- tlamatini-daily-chat-test/
|       |   |-- .gitignore
|       |   |-- SKILL.md
|       |   `-- harness/
|       |       |-- acp_backend_banner_test.py
|       |       |-- acp_backend_banner_test.py.antes_shoter
|       |       |-- acp_dialog_full_sweep.py
|       |       |-- acp_dialog_theme_visible.py
|       |       |-- ask_execs_regression.py
|       |       |-- ask_execs_regression.py.antes_shoter
|       |       |-- bulk_toggle_behaviour.py
|       |       |-- bulk_toggle_visible.py
|       |       |-- cancel_regression.py
|       |       |-- cancel_regression.py.antes_shoter
|       |       |-- config.py
|       |       |-- cyber_watchdog_test.py
|       |       |-- dialog_policy_visible.py
|       |       |-- dialog_theme_visible.py
|       |       |-- discoverer_1000.py
|       |       |-- discoverer_1000.py.antes_shoter
|       |       |-- flowcreator_wizard_e2e.py
|       |       |-- googler_dork_hunt.py</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- 7 of 44</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grepper_lines_visible.py
|       |       |-- grepper_login_probe.py
|       |       |-- latexer_openmp_e2e.py
|       |       |-- latexer_stepbystep_5.py
|       |       |-- mcp_playwright_suite.py
|       |       |-- pdfer_nuance_visible.py
|       |       |-- playwrighter_run.py
|       |       |-- pptxer_visible.py
|       |       |-- qualify.py
|       |       |-- questions.py
|       |       |-- README.md
|       |       |-- requirements.txt
|       |       |-- run_test.py
|       |       |-- shoter_shot.py
|       |       |-- step_by_step_catalog.py
|       |       |-- step_by_step_catalog.py.antes_shoter
|       |       |-- talk_test.py
|       |       |-- uninstaller_visible.py
|       |       |-- voice_commands_visible.py
|       |       `-- wrapped_questions.py
|       |-- tlamatini-self-modify-inclusion/
|       |   |-- SKILL.md
|       |   `-- scripts/
|       |       `-- sweep_self_modify.py
|       `-- tlamatini-self-update-inclusion/
|           |-- SKILL.md
|           `-- scripts/
|               `-- sweep_self_update.py
|-- .codex/
|   `-- skills/
|       |-- full-project-pdf-dossier/</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- 8 of 44</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SKILL.md
|       `-- overlap-safe-pptx-dossier/
|           `-- SKILL.md
|-- .gemini/
|   `-- skills/
|       |-- tlamatini-agent-creation/
|       |   `-- SKILL.md
|       |-- tlamatini-agent-naming/
|       |   `-- SKILL.md
|       |-- tlamatini-daily-chat-test/
|       |   |-- .gitignore
|       |   |-- SKILL.md
|       |   `-- harness/
|       |       |-- acp_backend_banner_test.py
|       |       |-- acp_backend_banner_test.py.antes_shoter
|       |       |-- acp_dialog_full_sweep.py
|       |       |-- acp_dialog_theme_visible.py
|       |       |-- ask_execs_regression.py
|       |       |-- ask_execs_regression.py.antes_shoter
|       |       |-- bulk_toggle_behaviour.py
|       |       |-- bulk_toggle_visible.py
|       |       |-- cancel_regression.py
|       |       |-- cancel_regression.py.antes_shoter
|       |       |-- config.py
|       |       |-- cyber_watchdog_test.py
|       |       |-- dialog_policy_visible.py
|       |       |-- dialog_theme_visible.py
|       |       |-- discoverer_1000.py
|       |       |-- discoverer_1000.py.antes_shoter
|       |       |-- flowcreator_wizard_e2e.py
|       |       |-- googler_dork_hunt.py</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- 9 of 44</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latexer_openmp_e2e.py
|       |       |-- latexer_stepbystep_5.py
|       |       |-- mcp_playwright_suite.py
|       |       |-- playwrighter_run.py
|       |       |-- qualify.py
|       |       |-- questions.py
|       |       |-- README.md
|       |       |-- requirements.txt
|       |       |-- run_test.py
|       |       |-- shoter_shot.py
|       |       |-- step_by_step_catalog.py
|       |       |-- step_by_step_catalog.py.antes_shoter
|       |       |-- talk_test.py
|       |       `-- wrapped_questions.py
|       |-- tlamatini-self-modify-inclusion/
|       |   |-- SKILL.md
|       |   `-- scripts/
|       |       `-- sweep_self_modify.py
|       `-- tlamatini-self-update-inclusion/
|           |-- SKILL.md
|           `-- scripts/
|               `-- sweep_self_update.py
|-- .github/
|   `-- workflows/
|       `-- name-guard.yml
|-- .scanning/
|   `-- finding-policy.json
|-- AuxTests/
|   `-- mypdf2.py
|-- demo_flows/
|   |-- demo1_globber_to_parametrizer_to_zavuerer.flw</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- 10 of 44</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demo2_apirer_to_parametrizer_to_zavuerer.flw
|   `-- demo3_zavuerer_health_to_parametrizer_to_filecreator.flw
|-- docs/
|   |-- agent-coverage.md
|   |-- companion-app-discovery.md
|   |-- desktop-input-and-flow-contracts.md
|   |-- external_mcp_bulletproof_architecture.md
|   |-- GUI-Manager-design.md
|   |-- stm32er_all_families_proposal.md
|   `-- claude/
|       |-- acpx.md
|       |-- agents.md
|       |-- architecture.md
|       |-- exec-report.md
|       |-- frontend.md
|       |-- gotchas.md
|       |-- INDEX.md
|       |-- mcp-tools.md
|       |-- multi-turn.md
|       `-- recent-fixes.md
|-- pyinstaller_hooks/
|   |-- hook-numpy.py
|   `-- hook-torch.py
|-- scripts/
|   |-- check_js_parse.mjs
|   |-- pptxer_visibility_gallery.py
|   |-- update_flow_catalog.py
|   |-- verify_latexer_styles.py
|   |-- verify_pdfer_styles.py
|   |-- verify_pptxer_layout.py
|   `-- verify_pptxer_styles.py</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- 11 of 44</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security/
|   |-- automated_tests_of_security_assets.py
|   |-- enable_tlamatini_v2.bat
|   |-- README.md
|   |-- run_defender.bat
|   |-- tlamatini_defender.ps1
|   `-- tlamatini_whitelist_v2.ps1
|-- Tests/
|   |-- run_avatar_tests.py
|   |-- run_presence_tests.ps1
|   |-- test_about_window_name_visible.py
|   |-- test_avatar_animation.cjs
|   |-- test_avatar_collectstatic.py
|   |-- test_avatar_presence_visible.py
|   |-- test_avatar_visible.cjs
|   `-- test_perf_3x_visual.py
`-- Tlamatini/
    |-- cat_art.py
    |-- manage.py
    |-- .agents/
    |   `-- workflows/
    |       `-- create_new_agent.md
    |-- .mcps/
    |   `-- create_new_mcp.md
    |-- .skills/
    |   `-- create_new_skill.md
    |-- agent/
    |   |-- __init__.py
    |   |-- access_key_wizard.py
    |   |-- admin.py
    |   |-- agent_manifest.py</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- 12 of 44</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agent_verdict.py
    |   |-- apps.py
    |   |-- cancellation.py
    |   |-- capability_registry.py
    |   |-- chain_files_search_lcel.py
    |   |-- chain_system_lcel.py
    |   |-- chat_agent_registry.py
    |   |-- chat_agent_runtime.py
    |   |-- chat_history_loader.py
    |   |-- command_togen_pb2.txt
    |   |-- command_watchdog.py
    |   |-- config.json
    |   |-- config_loader.py
    |   |-- constants.py
    |   |-- consumers.py
    |   |-- contacts.py
    |   |-- embedding_memory_guard.py
    |   |-- exec_permission.py
    |   |-- external_mcp_defaults.py
    |   |-- external_mcp_manager.py
    |   |-- external_mcps.json
    |   |-- filesearch.proto
    |   |-- filesearch_pb2.py
    |   |-- filesearch_pb2_grpc.py
    |   |-- global_execution_planner.py
    |   |-- global_state.py
    |   |-- gpu_perf.py
    |   |-- inet_determiner.py
    |   |-- llm_timing.py
    |   |-- local_toolcall_parser.py
    |   |-- log_identity.py</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- 13 of 44</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mcp_agent.py
    |   |-- mcp_files_search_client.py
    |   |-- mcp_files_search_server.py
    |   |-- mcp_system_client.py
    |   |-- mcp_system_server.py
    |   |-- models.py
    |   |-- native_dialogs.py
    |   |-- orphan_reaper.py
    |   |-- path_guard.py
    |   |-- prompt.pmt
    |   |-- rag_enhancements.py
    |   |-- routing.py
    |   |-- run_db_wal_tests.ps1
    |   |-- runtime_provisioner.py
    |   |-- self_healing.py
    |   |-- self_update.py
    |   |-- sqlite_copy.py
    |   |-- test_access_key_wizard.py
    |   |-- test_agent_display_names.py
    |   |-- test_agent_manifest.py
    |   |-- test_agent_verdict.py
    |   |-- test_agents_see_hidden_dirs.py
    |   |-- test_arduiner_agent.py
    |   |-- test_ask_execs_allowlist.py
    |   |-- test_audioplayer_agent.py
    |   |-- test_binary_guard.py
    |   |-- test_blenderer_agent.py
    |   |-- test_build_pip_quiet.py
    |   |-- test_build_scripts.py
    |   |-- test_camcorder_agent.py
    |   |-- test_cancellation.py</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- 14 of 44</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test_chain_readiness.py
    |   |-- test_chat_agent_run_wait.py
    |   |-- test_chat_bridge_bots.py
    |   |-- test_chat_history_window.py
    |   |-- test_checkbox_bulk_toggle.py
    |   |-- test_command_watchdog.py
    |   |-- test_console_shield.py
    |   |-- test_contacts.py
    |   |-- test_crawler_agent.py
    |   |-- test_createsuperuser_wizard.py
    |   |-- test_ctrl_c_shutdown.py
    |   |-- test_db_backup_restore_wal.py
    |   |-- test_db_backup_safety.py
    |   |-- test_de_compresser.py
    |   |-- test_deep_research_prompt.py
    |   |-- test_deleter_safety.py
    |   |-- test_desktop_input_agents.py
    |   |-- test_dialog_dismissal_policy.py
    |   |-- test_dialog_theme.py
    |   |-- test_discoverer_agent.py
    |   |-- test_discoverer_thousand.py
    |   |-- test_django_port_config.py
    |   |-- test_editor_agent.py
    |   |-- test_embedding_memory_guard.py
    |   |-- test_esp32er_agent.py
    |   |-- test_esphomer_agent.py
    |   |-- test_exec_report_verdict.py
    |   |-- test_execute_command_bounded.py
    |   |-- test_external_mcp_add_flow.py
    |   |-- test_external_mcp_e2e.py
    |   |-- test_external_mcp_transports.py</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- 15 of 44</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test_external_mcp_universal.py
    |   |-- test_file_extractor_reader.py
    |   |-- test_flow_contracts.py
    |   |-- test_flow_knowledge.py
    |   |-- test_frontend_mutable_state.py
    |   |-- test_gitter_custom_command.py
    |   |-- test_globber_agent.py
    |   |-- test_googler_agent.py
    |   |-- test_googler_dorks.py
    |   |-- test_grepper_agent.py
    |   |-- test_grepper_encodings.py
    |   |-- test_grepper_lines_mode.py
    |   |-- test_image_interpreter_agent.py
    |   |-- test_instant_messaging_doctor.py
    |   |-- test_j_decompiler_agent.py
    |   |-- test_js_gates.py
    |   |-- test_kalier_agent.py
    |   |-- test_latexer_agent.py
    |   |-- test_latexer_repair_ladder.py
    |   |-- test_latexer_styles.py
    |   |-- test_latexer_suite.py
    |   |-- test_latexer_verbatim_channel.py
    |   |-- test_log_identity.py
    |   |-- test_native_dialogs.py
    |   |-- test_netspeed_calculator_agent.py
    |   |-- test_nmapper_agent.py
    |   |-- test_no_audio_in_tests.py
    |   |-- test_orphan_reaper.py
    |   |-- test_parametrizer_mcp_doctor.py
    |   |-- test_password_quoting.py
    |   |-- test_pdfer_agent.py</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- 16 of 44</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test_pdfer_nuance_layout.py
    |   |-- test_pdfer_styles.py
    |   |-- test_playwrighter_agent.py
    |   |-- test_pptxer_agent.py
    |   |-- test_pptxer_styles.py
    |   |-- test_pptxer_visibility.py
    |   |-- test_preserved_user_state.py
    |   |-- test_program_name_collisions.py
    |   |-- test_prompt_catalog_contiguous.py
    |   |-- test_public_release_targets.py
    |   |-- test_recorder_agent.py
    |   |-- test_runtime_provisioner.py
    |   |-- test_security_assets_carriage.py
    |   |-- test_self_healing.py
    |   |-- test_self_knowledge_is_current.py
    |   |-- test_self_modify_gate.py
    |   |-- test_self_update.py
    |   |-- test_shoter_takes_screenshots.py
    |   |-- test_sqlite_wal_mode.py
    |   |-- test_status_vocabulary.py
    |   |-- test_step_by_step_mode.py
    |   |-- test_stm32er_agent.py
    |   |-- test_talker_agent.py
    |   |-- test_telegrammer_identity.py
    |   |-- test_temp_dir_policy.py
    |   |-- test_tool_failure_recovery.py
    |   |-- test_uninstaller_mechanics.py
    |   |-- test_unrealer_agent.py
    |   |-- test_version_guard.py
    |   |-- test_video_analyzer_agent.py
    |   |-- test_videoplayer_agent.py</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- 17 of 44</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test_voice_commands_catalog.py
    |   |-- test_watchdog_foreground_exemption.py
    |   |-- test_web_process_stays_lean.py
    |   |-- test_whatsapper_identity.py
    |   |-- test_whisperer_agent.py
    |   |-- test_win_shim.py
    |   |-- test_windower_agent.py
    |   |-- test_windows_app_registration.py
    |   |-- test_zavuerer_agent.py
    |   |-- tests.py
    |   |-- tests_perf_3x.py
    |   |-- Tlamatini.md
    |   |-- tools.py
    |   |-- urls.py
    |   |-- version.py
    |   |-- views.py
    |   |-- web_search_llm.py
    |   |-- win_shim.py
    |   |-- window_flash.py
    |   |-- windows_app_registration.py
    |   |-- acpx/
    |   |   |-- __init__.py
    |   |   |-- agent_registry.py
    |   |   |-- child_health.py
    |   |   |-- config.py
    |   |   |-- permissions.py
    |   |   |-- runtime.py
    |   |   |-- service.py
    |   |   |-- session_store.py
    |   |   |-- tests.py
    |   |   |-- tools.py</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- 18 of 44</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windows_spawn.py
    |   |-- agents/
    |   |   |-- acpxer/
    |   |   |   |-- acpxer.py
    |   |   |   `-- config.yaml
    |   |   |-- analyzer/
    |   |   |   |-- analyzer.py
    |   |   |   `-- config.yaml
    |   |   |-- and/
    |   |   |   |-- and.py
    |   |   |   `-- config.yaml
    |   |   |-- apirer/
    |   |   |   |-- apirer.py
    |   |   |   `-- config.yaml
    |   |   |-- arduiner/
    |   |   |   |-- arduiner.py
    |   |   |   |-- config.yaml
    |   |   |   `-- ArduinoTemplateProject/
    |   |   |       |-- ArduinoTemplateProject.ino
    |   |   |       |-- README.md
    |   |   |       |-- sketch.yaml
    |   |   |       `-- src/
    |   |   |           |-- Heartbeat.cpp
    |   |   |           `-- Heartbeat.h
    |   |   |-- asker/
    |   |   |   |-- asker.py
    |   |   |   `-- config.yaml
    |   |   |-- audioplayer/
    |   |   |   |-- audioplayer.py
    |   |   |   `-- config.yaml
    |   |   |-- barrier/</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- 19 of 44</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barrier.py
    |   |   |   |-- config.yaml
    |   |   |   `-- test_barrier.py
    |   |   |-- blenderer/
    |   |   |   |-- blenderer.py
    |   |   |   `-- config.yaml
    |   |   |-- camcorder/
    |   |   |   |-- camcorder.py
    |   |   |   `-- config.yaml
    |   |   |-- cleaner/
    |   |   |   |-- __init__.py
    |   |   |   |-- cleaner.py
    |   |   |   `-- config.yaml
    |   |   |-- counter/
    |   |   |   |-- config.yaml
    |   |   |   `-- counter.py
    |   |   |-- crawler/
    |   |   |   |-- config.yaml
    |   |   |   `-- crawler.py
    |   |   |-- croner/
    |   |   |   |-- config.yaml
    |   |   |   `-- croner.py
    |   |   |-- de_compresser/
    |   |   |   |-- config.yaml
    |   |   |   `-- de_compresser.py
    |   |   |-- deleter/
    |   |   |   |-- config.yaml
    |   |   |   `-- deleter.py
    |   |   |-- discoverer/
    |   |   |   |-- config.yaml
    |   |   |   `-- discoverer.py</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- 20 of 44</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dockerer/
    |   |   |   |-- config.yaml
    |   |   |   `-- dockerer.py
    |   |   |-- editor/
    |   |   |   |-- config.yaml
    |   |   |   `-- editor.py
    |   |   |-- emailer/
    |   |   |   |-- config.yaml
    |   |   |   `-- emailer.py
    |   |   |-- ender/
    |   |   |   |-- config.yaml
    |   |   |   `-- ender.py
    |   |   |-- esp32er/
    |   |   |   |-- config.yaml
    |   |   |   |-- esp32er.py
    |   |   |   `-- ESP32TemplateProject/
    |   |   |       |-- platformio.ini
    |   |   |       |-- README.md
    |   |   |       |-- include/
    |   |   |       |   `-- README.md
    |   |   |       |-- lib/
    |   |   |       |   `-- README.md
    |   |   |       |-- src/
    |   |   |       |   `-- main.cpp
    |   |   |       `-- test/
    |   |   |           `-- README.md
    |   |   |-- esphomer/
    |   |   |   |-- config.yaml
    |   |   |   |-- esphomer.py
    |   |   |   `-- ESPHomeTemplateProject/
    |   |   |       |-- .gitignore</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- 21 of 44</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README.md
    |   |   |       |-- secrets.yaml.example
    |   |   |       |-- tlamatini-light.yaml
    |   |   |       |-- tlamatini-sensor.yaml
    |   |   |       `-- common/
    |   |   |           `-- base.yaml
    |   |   |-- executer/
    |   |   |   |-- config.yaml
    |   |   |   `-- executer.py
    |   |   |-- file_creator/
    |   |   |   |-- config.yaml
    |   |   |   `-- file_creator.py
    |   |   |-- file_extractor/
    |   |   |   |-- config.yaml
    |   |   |   `-- file_extractor.py
    |   |   |-- file_interpreter/
    |   |   |   |-- config.yaml
    |   |   |   `-- file_interpreter.py
    |   |   |-- flowbacker/
    |   |   |   |-- config.yaml
    |   |   |   `-- flowbacker.py
    |   |   |-- flowcreator/
    |   |   |   |-- agentic_skill.md
    |   |   |   |-- config.yaml
    |   |   |   |-- flow_catalog.json
    |   |   |   |-- flow_knowledge.py
    |   |   |   |-- flowcreator.py
    |   |   |   `-- result_to_flw.py
    |   |   |-- flowhypervisor/
    |   |   |   |-- config.yaml
    |   |   |   |-- flowhypervisor.py</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- 22 of 44</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hypervisor_alert.wav
    |   |   |   `-- monitoring-prompt.pmt
    |   |   |-- forker/
    |   |   |   |-- config.yaml
    |   |   |   `-- forker.py
    |   |   |-- gateway_relayer/
    |   |   |   |-- config.yaml
    |   |   |   |-- gateway_relayer.md
    |   |   |   `-- gateway_relayer.py
    |   |   |-- gatewayer/
    |   |   |   |-- config.yaml
    |   |   |   |-- gatewayer.md
    |   |   |   |-- gatewayer.py
    |   |   |   `-- gatewayer_explanation.md
    |   |   |-- gitter/
    |   |   |   |-- config.yaml
    |   |   |   `-- gitter.py
    |   |   |-- globber/
    |   |   |   |-- config.yaml
    |   |   |   `-- globber.py
    |   |   |-- googler/
    |   |   |   |-- config.yaml
    |   |   |   `-- googler.py
    |   |   |-- grepper/
    |   |   |   |-- config.yaml
    |   |   |   `-- grepper.py
    |   |   |-- image_interpreter/
    |   |   |   |-- config.yaml
    |   |   |   `-- image_interpreter.py
    |   |   |-- instant_messaging_doctor/
    |   |   |   |-- config.yaml</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- 23 of 44</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instant_messaging_doctor.py
    |   |   |-- j_decompiler/
    |   |   |   |-- config.yaml
    |   |   |   `-- j_decompiler.py
    |   |   |-- jenkinser/
    |   |   |   |-- config.yaml
    |   |   |   `-- jenkinser.py
    |   |   |-- kalier/
    |   |   |   |-- config.yaml
    |   |   |   `-- kalier.py
    |   |   |-- keyboarder/
    |   |   |   |-- config.yaml
    |   |   |   |-- keyboarder.py
    |   |   |   `-- keyboarder_input.py
    |   |   |-- kuberneter/
    |   |   |   |-- config.yaml
    |   |   |   `-- kuberneter.py
    |   |   |-- kyber_cipher/
    |   |   |   |-- config.yaml
    |   |   |   `-- kyber_cipher.py
    |   |   |-- kyber_decipher/
    |   |   |   |-- config.yaml
    |   |   |   `-- kyber_decipher.py
    |   |   |-- kyber_keygen/
    |   |   |   |-- config.yaml
    |   |   |   `-- kyber_keygen.py
    |   |   |-- latexer/
    |   |   |   |-- config.yaml
    |   |   |   |-- latexer.py
    |   |   |   |-- latexer_artwork.py
    |   |   |   |-- latexer_design.py</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- 24 of 44</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latexer_styles.py
    |   |   |   `-- STYLES.md
    |   |   |-- mcp_doctor/
    |   |   |   |-- config.yaml
    |   |   |   `-- mcp_doctor.py
    |   |   |-- mongoxer/
    |   |   |   |-- config.yaml
    |   |   |   `-- mongoxer.py
    |   |   |-- monitor_log/
    |   |   |   |-- config.yaml
    |   |   |   `-- monitor_log.py
    |   |   |-- monitor_netstat/
    |   |   |   |-- config.yaml
    |   |   |   `-- monitor_netstat.py
    |   |   |-- mouser/
    |   |   |   |-- config.yaml
    |   |   |   |-- mouser.py
    |   |   |   `-- mouser_coordinates.py
    |   |   |-- mover/
    |   |   |   |-- config.yaml
    |   |   |   `-- mover.py
    |   |   |-- netspeed_calculator/
    |   |   |   |-- config.yaml
    |   |   |   `-- netspeed_calculator.py
    |   |   |-- nmapper/
    |   |   |   |-- config.yaml
    |   |   |   `-- nmapper.py
    |   |   |-- node_manager/
    |   |   |   |-- config.yaml
    |   |   |   |-- node_manager.md
    |   |   |   |-- node_manager.py</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- 25 of 44</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nodes_example.json
    |   |   |   `-- nodes_example.yaml
    |   |   |-- notifier/
    |   |   |   |-- config.yaml
    |   |   |   `-- notifier.py
    |   |   |-- or/
    |   |   |   |-- config.yaml
    |   |   |   `-- or.py
    |   |   |-- parametrizer/
    |   |   |   |-- config.yaml
    |   |   |   `-- parametrizer.py
    |   |   |-- pdfer/
    |   |   |   |-- config.yaml
    |   |   |   |-- pdfer.py
    |   |   |   |-- pdfer_artwork.py
    |   |   |   |-- pdfer_atelier.py
    |   |   |   |-- pdfer_audit.py
    |   |   |   |-- pdfer_color.py
    |   |   |   |-- pdfer_consult.py
    |   |   |   |-- pdfer_docmodel.py
    |   |   |   |-- pdfer_nuance.py
    |   |   |   |-- pdfer_ornament.py
    |   |   |   |-- pdfer_styles.py
    |   |   |   |-- pdfer_tables.py
    |   |   |   |-- pdfer_theme.py
    |   |   |   |-- pdfer_typography.py
    |   |   |   |-- STYLES.md
    |   |   |   `-- _art/
    |   |   |       `-- PDFer/
    |   |   |           |-- orn_circuit_trace_240x120_38BDF8_d953e4f7.png
    |   |   |           |-- orn_corner_wedge_240x120_38BDF8_d953e4f7.png</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- 26 of 44</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orn_diagonal_split_240x120_38BDF8_d953e4f7.png
    |   |   |           |-- orn_drop_cap_panel_240x120_38BDF8_d953e4f7.png
    |   |   |           |-- orn_gradient_wash_240x120_38BDF8_d953e4f7.png
    |   |   |           |-- orn_grid_mesh_240x120_38BDF8_d953e4f7.png
    |   |   |           |-- orn_hairline_rule_240x120_38BDF8_d953e4f7.png
    |   |   |           |-- orn_halftone_dots_240x120_38BDF8_d953e4f7.png
    |   |   |           |-- orn_orbital_arcs_240x120_38BDF8_d953e4f7.png
    |   |   |           |-- orn_organic_blob_240x120_38BDF8_d953e4f7.png
    |   |   |           |-- orn_particle_field_200x140_38BDF8_2638523b.png
    |   |   |           |-- orn_particle_field_240x120_38BDF8_d953e4f7.png
    |   |   |           |-- orn_scanline_240x120_38BDF8_d953e4f7.png
    |   |   |           |-- orn_sine_field_240x120_38BDF8_d953e4f7.png
    |   |   |           `-- orn_spectrum_bar_240x120_38BDF8_d953e4f7.png
    |   |   |-- playwrighter/
    |   |   |   |-- config.yaml
    |   |   |   `-- playwrighter.py
    |   |   |-- pptxer/
    |   |   |   |-- config.yaml
    |   |   |   |-- pptxer.py
    |   |   |   |-- pptxer_audit.py
    |   |   |   |-- pptxer_build.py
    |   |   |   |-- pptxer_color.py
    |   |   |   |-- pptxer_diagram.py
    |   |   |   |-- pptxer_docmodel.py
    |   |   |   |-- pptxer_draw.py
    |   |   |   |-- pptxer_fonts.py
    |   |   |   |-- pptxer_layout.py
    |   |   |   |-- pptxer_media.py
    |   |   |   |-- pptxer_nuance.py
    |   |   |   |-- pptxer_render.py
    |   |   |   |-- pptxer_theme.py</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- 27 of 44</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STYLES.md
    |   |   |-- prompter/
    |   |   |   |-- config.yaml
    |   |   |   `-- prompter.py
    |   |   |-- pser/
    |   |   |   |-- config.yaml
    |   |   |   `-- pser.py
    |   |   |-- pythonxer/
    |   |   |   |-- config.yaml
    |   |   |   `-- pythonxer.py
    |   |   |-- raiser/
    |   |   |   |-- config.yaml
    |   |   |   `-- raiser.py
    |   |   |-- recmailer/
    |   |   |   |-- config.yaml
    |   |   |   `-- recmailer.py
    |   |   |-- recorder/
    |   |   |   |-- config.yaml
    |   |   |   `-- recorder.py
    |   |   |-- reviewer/
    |   |   |   |-- config.yaml
    |   |   |   `-- reviewer.py
    |   |   |-- scper/
    |   |   |   |-- config.yaml
    |   |   |   `-- scper.py
    |   |   |-- shoter/
    |   |   |   |-- config.yaml
    |   |   |   `-- shoter.py
    |   |   |-- sleeper/
    |   |   |   |-- config.yaml
    |   |   |   `-- sleeper.py</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- 28 of 44</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sqler/
    |   |   |   |-- config.yaml
    |   |   |   `-- sqler.py
    |   |   |-- ssher/
    |   |   |   |-- config.yaml
    |   |   |   `-- ssher.py
    |   |   |-- starter/
    |   |   |   |-- config.yaml
    |   |   |   `-- starter.py
    |   |   |-- stm32er/
    |   |   |   |-- config.yaml
    |   |   |   `-- stm32er.py
    |   |   |-- stopper/
    |   |   |   |-- config.yaml
    |   |   |   `-- stopper.py
    |   |   |-- summarizer/
    |   |   |   |-- config.yaml
    |   |   |   `-- summarizer.py
    |   |   |-- talker/
    |   |   |   |-- config.yaml
    |   |   |   `-- talker.py
    |   |   |-- telegrammer/
    |   |   |   |-- config.yaml
    |   |   |   |-- HOW_TO_GET_YOUR_TELEGRAM_ASSETS.md
    |   |   |   |-- telegrammer.py
    |   |   |   `-- guide_assets/
    |   |   |       |-- telegram_01_botfather_search.jpg
    |   |   |       |-- telegram_02_newbot_token.jpg
    |   |   |       |-- telegram_03_start_bot_getupdates.jpg
    |   |   |       `-- telegram_04_tlamatini_contacts.jpg
    |   |   |-- teletlamatini/</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- 29 of 44</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config.yaml
    |   |   |   `-- teletlamatini.py
    |   |   |-- unrealer/
    |   |   |   |-- config.yaml
    |   |   |   `-- unrealer.py
    |   |   |-- video_analyzer/
    |   |   |   |-- config.yaml
    |   |   |   `-- video_analyzer.py
    |   |   |-- videoplayer/
    |   |   |   |-- config.yaml
    |   |   |   `-- videoplayer.py
    |   |   |-- whatsapper/
    |   |   |   |-- config.yaml
    |   |   |   |-- HOW_TO_GET_YOUR_WHATSAPP_ASSETS.md
    |   |   |   |-- whatsapper.py
    |   |   |   `-- guide_assets/
    |   |   |       |-- whatsapp_01_meta_create_app.jpg
    |   |   |       |-- whatsapp_02_api_setup_keys.jpg
    |   |   |       |-- whatsapp_03_test_recipient_send.jpg
    |   |   |       |-- whatsapp_04_system_user_token.jpg
    |   |   |       `-- whatsapp_05_tlamatini_contacts.jpg
    |   |   |-- whisperer/
    |   |   |   |-- config.yaml
    |   |   |   `-- whisperer.py
    |   |   |-- windower/
    |   |   |   |-- config.yaml
    |   |   |   `-- windower.py
    |   |   `-- zavuerer/
    |   |       |-- config.yaml
    |   |       `-- zavuerer.py
    |   |-- doc_generation/</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- 30 of 44</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complete_project_docs.py
    |   |   |-- mardown_to_pdf.py
    |   |   |-- refresh_project_docs.py
    |   |   `-- test_output.pdf
    |   |-- images/
    |   |   |-- ACPXKeysConfigureWizard.jpg
    |   |   |-- ConfigureModels.jpg
    |   |   |-- FlowPill.jpg
    |   |   |-- HiIamTlamatini.png
    |   |   |-- LabInEnglish.mp4
    |   |   |-- LabInSpanish.mp4
    |   |   |-- MenuConfig.jpg
    |   |   |-- mockup.jpg
    |   |   |-- Modify_the_last_video_keepi.mp4
    |   |   |-- RealisticTlamatini.png
    |   |   |-- ShouldersUoTlamatini.png
    |   |   |-- Tlamatini AI Agentic Advisor Video.mp4
    |   |   |-- TlamatiniAndKyber.mp4
    |   |   |-- TlamatiniClosedMouthClosedEyes.jpg
    |   |   |-- TlamatiniClosedMouthOpenedEyes.jpg
    |   |   |-- TlamatiniDrawings.png
    |   |   |-- TlamatiniOpenedMouthClosedEyes.jpg
    |   |   |-- TlamattiniOpenedMouthOpenedEyes.jpg
    |   |   |-- TlammatiniLetsMakeSomeMagic.mp4
    |   |   |-- TorsoTlamatini.png
    |   |   |-- versions.png
    |   |   `-- XAIHT-Tlamatini.mp4
    |   |-- imaging/
    |   |   |-- converter.py
    |   |   |-- image_interpreter.py
    |   |   `-- screenshot.py</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- 31 of 44</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management/
    |   |   |-- __init__.py
    |   |   `-- commands/
    |   |       |-- acpx_lint.py
    |   |       `-- startserver.py
    |   |-- migrations/
    |   |   |-- 0001_initial.py
    |   |   |-- 0002_populate_db.py
    |   |   |-- 0003_add_cleaner.py
    |   |   |-- 0004_add_deleter.py
    |   |   |-- 0005_add_executer.py
    |   |   |-- 0006_add_notifier.py
    |   |   |-- 0007_add_stopper.py
    |   |   |-- 0008_add_recmailer.py
    |   |   |-- 0009_add_whatsapper.py
    |   |   |-- 0010_add_pythonxer.py
    |   |   |-- 0011_add_asker.py
    |   |   |-- 0012_repopulate_all_agents.py
    |   |   |-- 0013_add_forker.py
    |   |   |-- 0014_repopulate_all_agents.py
    |   |   |-- 0015_add_shoter.py
    |   |   |-- 0016_repopulate_all_agents.py
    |   |   |-- 0017_add_ssher.py
    |   |   |-- 0018_repopulate_all_agents.py
    |   |   |-- 0019_add_scper.py
    |   |   |-- 0020_repopulate_all_agents.py
    |   |   |-- 0021_add_telegramrx.py
    |   |   |-- 0022_repopulate_all_agents.py
    |   |   |-- 0023_add_mongoxer.py
    |   |   |-- 0024_repopulate_all_agents.py
    |   |   |-- 0025_add_telegramer.py</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- 32 of 44</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|-- 0026_repopulate_all_agents.py
    |   |   |-- 0027_add_sqler.py
    |   |   |-- 0028_repopulate_all_agents.py
    |   |   |-- 0029_add_prompter.py
    |   |   |-- 0030_repopulate_all_agents.py
    |   |   |-- 0031_add_flowcreator.py
    |   |   |-- 0032_repopulate_all_agents.py
    |   |   |-- 0033_add_gitter.py
    |   |   |-- 0034_add_dockerer.py
    |   |   |-- 0035_add_pser.py
    |   |   |-- 0036_add_kuberneter.py
    |   |   |-- 0037_add_apirer.py
    |   |   |-- 0038_add_jenkinser.py
    |   |   |-- 0039_add_crawler.py
    |   |   |-- 0040_add_summarizer.py
    |   |   |-- 0041_add_flowhypervisor.py
    |   |   |-- 0042_add_mouser.py
    |   |   |-- 0043_agentmessage_conversation_user.py
    |   |   |-- 0044_add_counter.py
    |   |   |-- 0045_add_file_interpreter.py
    |   |   |-- 0046_add_image_interpreter.py
    |   |   |-- 0047_add_gatewayer.py
    |   |   |-- 0048_add_gateway_relayer.py
    |   |   |-- 0049_add_node_manager.py
    |   |   |-- 0050_add_file_creator.py
    |   |   |-- 0051_add_file_extractor.py
    |   |   |-- 0052_add_kyber_keygen.py
    |   |   |-- 0053_add_kyber_cipher.py
    |   |   |-- 0054_add_kyber_decipher.py
    |   |   |-- 0055_fix_kyber_cipher_names.py
    |   |   |-- 0056_add_parametrizer.py</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- 33 of 44</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|-- 0057_add_flowbacker.py
    |   |   |-- 0058_add_barrier.py
    |   |   |-- 0059_add_j_decompiler.py
    |   |   |-- 0060_add_agent_parametrizer_tool.py
    |   |   |-- 0061_add_agent_starter_tool.py
    |   |   |-- 0062_sync_agent_control_tools_and_prompts.py
    |   |   |-- 0063_add_agent_parametrizer_prompt.py
    |   |   |-- 0064_add_chat_agent_run_model.py
    |   |   |-- 0065_add_chat_wrapped_agent_tools.py
    |   |   |-- 0066_add_keyboarder.py
    |   |   |-- 0067_add_multi_turn_demo_prompts.py
    |   |   |-- 0068_add_googler_tool.py
    |   |   |-- 0069_add_googler_agent.py
    |   |   |-- 0070_add_teletlamatini.py
    |   |   |-- 0071_acpx_skills.py
    |   |   |-- 0072_add_acpx_demo_prompts.py
    |   |   |-- 0073_acpx_demo_gemini_uplift.py
    |   |   |-- 0074_simplify_demo_prompts.py
    |   |   |-- 0075_add_acpx_tool_surface.py
    |   |   |-- 0076_add_acpxer.py
    |   |   |-- 0077_add_whatstlamatini.py
    |   |   |-- 0078_add_chat_agent_keyboarder_tool.py
    |   |   |-- 0079_add_chat_agent_mouser_tool.py
    |   |   |-- 0080_add_chat_agent_sleeper_tool.py
    |   |   |-- 0081_add_window_present_and_run_wait_tools.py
    |   |   |-- 0082_add_chat_agent_j_decompiler_tool.py
    |   |   |-- 0083_add_de_compresser.py
    |   |   |-- 0084_add_chat_agent_de_compresser_tool.py
    |   |   |-- 0085_add_unrealer.py
    |   |   |-- 0086_add_chat_agent_unrealer_tool.py
    |   |   |-- 0087_add_unrealer_demo_prompt.py</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- 34 of 44</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|-- 0088_add_reviewer.py
    |   |   |-- 0089_add_analyzer.py
    |   |   |-- 0090_add_reviewer_analyzer_demo_prompts.py
    |   |   |-- 0091_add_playwrighter.py
    |   |   |-- 0092_add_chat_agent_playwrighter_tool.py
    |   |   |-- 0093_add_windower.py
    |   |   |-- 0094_add_chat_agent_windower_tool.py
    |   |   |-- 0095_add_windower_playwrighter_demo_prompts.py
    |   |   |-- 0096_add_director_virtuoso_demo_prompts.py
    |   |   |-- 0097_add_kalier.py
    |   |   |-- 0098_add_chat_agent_kalier_tool.py
    |   |   |-- 0099_add_kalier_demo_prompts.py
    |   |   |-- 0100_add_unrealer_extended_demo_prompts.py
    |   |   |-- 0101_add_stm32er.py
    |   |   |-- 0102_add_chat_agent_stm32er_tool.py
    |   |   |-- 0103_add_stm32er_demo_prompts.py
    |   |   |-- 0104_fix_stm32er_hil_serial_proof.py
    |   |   |-- 0105_add_esp32er.py
    |   |   |-- 0106_add_chat_agent_esp32er_tool.py
    |   |   |-- 0107_add_esp32er_demo_prompts.py
    |   |   |-- 0108_add_flow_making_demo_prompt.py
    |   |   |-- 0109_add_arduiner.py
    |   |   |-- 0110_add_chat_agent_arduiner_tool.py
    |   |   |-- 0111_add_arduiner_demo_prompts.py
    |   |   |-- 0112_add_camcorder.py
    |   |   |-- 0113_add_chat_agent_camcorder_tool.py
    |   |   |-- 0114_add_recorder.py
    |   |   |-- 0115_add_chat_agent_recorder_tool.py
    |   |   |-- 0116_add_audioplayer.py
    |   |   |-- 0117_add_chat_agent_audioplayer_tool.py
    |   |   |-- 0118_add_videoplayer.py</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- 35 of 44</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|-- 0119_add_chat_agent_videoplayer_tool.py
    |   |   |-- 0120_add_talker.py
    |   |   |-- 0121_add_chat_agent_talker_tool.py
    |   |   |-- 0122_add_talker_demo_prompt.py
    |   |   |-- 0123_add_whisperer.py
    |   |   |-- 0124_add_chat_agent_whisperer_tool.py
    |   |   |-- 0125_add_whisperer_demo_prompt.py
    |   |   |-- 0126_add_blenderer.py
    |   |   |-- 0127_add_chat_agent_blenderer_tool.py
    |   |   |-- 0128_add_blenderer_demo_prompts.py
    |   |   |-- 0129_add_editor.py
    |   |   |-- 0130_add_chat_agent_editor_tool.py
    |   |   |-- 0131_add_editor_demo_prompts.py
    |   |   |-- 0132_add_grepper.py
    |   |   |-- 0133_add_chat_agent_grepper_tool.py
    |   |   |-- 0134_add_grepper_demo_prompts.py
    |   |   |-- 0135_add_globber.py
    |   |   |-- 0136_add_chat_agent_globber_tool.py
    |   |   |-- 0137_add_globber_demo_prompts.py
    |   |   |-- 0138_add_esphomer.py
    |   |   |-- 0139_add_chat_agent_esphomer_tool.py
    |   |   |-- 0140_add_esphomer_demo_prompts.py
    |   |   |-- 0141_add_mcp_doctor.py
    |   |   |-- 0142_add_chat_agent_mcp_doctor_tool.py
    |   |   |-- 0143_add_mcp_doctor_demo_prompt.py
    |   |   |-- 0144_insert_java17_maven_demo_prompt_at_5.py
    |   |   |-- 0145_insert_createsuperuser_wizard_prompt_at_1.py
    |   |   |-- 0146_update_createsuperuser_wizard_continuation.py
    |   |   |-- 0147_add_unreal_game_demo_prompts.py
    |   |   |-- 0148_add_discoverer_demo_prompts.py
    |   |   |-- 0149_add_discoverer.py</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- 36 of 44</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|-- 0150_add_chat_agent_discoverer_tool.py
    |   |   |-- 0151_retire_old_messaging_add_telegrammer.py
    |   |   |-- 0152_add_instant_messaging_doctor.py
    |   |   |-- 0153_add_chat_agent_instant_messaging_doctor_tool.py
    |   |   |-- 0154_add_instant_messaging_doctor_demo_prompt.py
    |   |   |-- 0155_add_contact_scaffold_demo_prompt.py
    |   |   |-- 0156_add_telegrammer_identity_demo_prompts.py
    |   |   |-- 0157_add_whatsapper_identity_demo_prompt.py
    |   |   |-- 0158_redesign_messaging_demo_prompts.py
    |   |   |-- 0159_add_zavuerer.py
    |   |   |-- 0160_add_chat_agent_zavuerer_tool.py
    |   |   |-- 0161_add_zavuerer_demo_prompts.py
    |   |   |-- 0162_add_zavuerer_catalog_prompts.py
    |   |   |-- 0163_add_zavuerer_get_key_wizard_prompt.py
    |   |   |-- 0164_dedup_zavuerer_setup_wizards.py
    |   |   |-- 0165_add_image_interpreter_triple_model_demo_prompt.py
    |   |   |-- 0166_add_video_analyzer.py
    |   |   |-- 0167_add_chat_agent_video_analyzer_tool.py
    |   |   |-- 0168_add_video_analyzer_demo_prompt.py
    |   |   |-- 0169_add_discoverer_cvemap_latest_demo_prompt.py
    |   |   |-- 0170_add_nmapper.py
    |   |   |-- 0171_add_chat_agent_nmapper_tool.py
    |   |   |-- 0172_add_nmapper_demo_prompts.py
    |   |   |-- 0173_add_unreal_scaffold_demo_prompt.py
    |   |   |-- 0174_unreal_scaffold_build_project_tip.py
    |   |   |-- 0175_prompt_category_and_dedup.py
    |   |   |-- 0176_delete_duplicate_acpx_prompts.py
    |   |   |-- 0177_add_stm32er_platformio_demo_prompt.py
    |   |   |-- 0178_add_stm32_stepwise_blink_camera_prompts.py
    |   |   |-- 0179_regroup_resort_prompts_no_gaps.py
    |   |   |-- 0180_add_kalier_setup_wizard_prompt.py</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- 37 of 44</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|-- 0181_prompt_sort_rank.py
    |   |   |-- 0182_add_step_by_step_section_openers.py
    |   |   |-- 0183_standardize_security_recon_prompts.py
    |   |   |-- 0184_standardize_prompt_params_batch2.py
    |   |   |-- 0185_standardize_prompt_params_batch3.py
    |   |   |-- 0186_add_chat_agent_flowcreator.py
    |   |   |-- 0187_add_flowcreator_end_to_end_wizard_prompt.py
    |   |   |-- 0188_add_pdfer.py
    |   |   |-- 0189_add_chat_agent_pdfer_tool.py
    |   |   |-- 0190_add_pdfer_demo_prompts.py
    |   |   |-- 0191_add_latexer.py
    |   |   |-- 0192_add_chat_agent_latexer_tool.py
    |   |   |-- 0193_add_latexer_demo_prompts.py
    |   |   |-- 0194_add_deep_research_demo_prompt.py
    |   |   |-- 0195_add_netspeed_calculator.py
    |   |   |-- 0196_add_chat_agent_netspeed_calculator_tool.py
    |   |   |-- 0197_add_netspeed_calculator_demo_prompt.py
    |   |   |-- 0198_add_pdfer_nuance_demo_prompt.py
    |   |   |-- 0199_dedupe_llm_program_snippet_names.py
    |   |   |-- 0200_whisperer_demo_prompt_sound_gate.py
    |   |   |-- 0201_add_voice_commands_section.py
    |   |   |-- 0202_add_pptxer.py
    |   |   |-- 0203_add_chat_agent_pptxer_tool.py
    |   |   |-- 0204_add_pptxer_demo_prompts.py
    |   |   `-- __init__.py
    |   |-- monitors/
    |   |   `-- monitor_sql.py
    |   |-- opus_client/
    |   |   |-- claude_opus_client.py
    |   |   |-- examples.py
    |   |   `-- README.md</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- 38 of 44</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rag/
    |   |   |-- __init__.py
    |   |   |-- binary_guard.py
    |   |   |-- config.py
    |   |   |-- factory.py
    |   |   |-- interaction.py
    |   |   |-- interface.py
    |   |   |-- loaders.py
    |   |   |-- prompts.py
    |   |   |-- retrieval.py
    |   |   |-- splitters.py
    |   |   |-- utils.py
    |   |   `-- chains/
    |   |       |-- base.py
    |   |       |-- basic.py
    |   |       |-- history_aware.py
    |   |       `-- unified.py
    |   |-- services/
    |   |   |-- __init__.py
    |   |   |-- agent_contracts.py
    |   |   |-- agent_paths.py
    |   |   |-- filesystem.py
    |   |   |-- flow_compiler.py
    |   |   |-- flow_knowledge.py
    |   |   |-- flow_spec.py
    |   |   `-- response_parser.py
    |   |-- skills/
    |   |   |-- __init__.py
    |   |   |-- frontmatter.py
    |   |   |-- harness.py
    |   |   |-- io_contract.py</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- 39 of 44</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registry.py
    |   |-- skills_pkg/
    |   |   |-- _meta/
    |   |   |   |-- lint.py
    |   |   |   `-- schema.json
    |   |   |-- acp_router/
    |   |   |   `-- SKILL.md
    |   |   |-- adding_external_mcp/
    |   |   |   |-- SKILL.md
    |   |   |   `-- references/
    |   |   |       |-- external_mcp_catalog_format.md
    |   |   |       |-- llm_reflection_research.md
    |   |   |       |-- transport_guide.md
    |   |   |       `-- troubleshooting.md
    |   |   |-- code_review/
    |   |   |   `-- SKILL.md
    |   |   |-- create_new_agent/
    |   |   |   `-- SKILL.md
    |   |   |-- create_new_mcp/
    |   |   |   `-- SKILL.md
    |   |   |-- flow_making/
    |   |   |   |-- SKILL.md
    |   |   |   |-- references/
    |   |   |   |   `-- flw_schema.md
    |   |   |   `-- scripts/
    |   |   |       |-- make_flow.py
    |   |   |       `-- result_to_flw.py
    |   |   |-- github/
    |   |   |   `-- SKILL.md
    |   |   |-- gmail/
    |   |   |   `-- SKILL.md</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- 40 of 44</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hello_world/
    |   |   |   `-- SKILL.md
    |   |   |-- jira/
    |   |   |   `-- SKILL.md
    |   |   |-- kali_pentest/
    |   |   |   `-- SKILL.md
    |   |   |-- notion/
    |   |   |   `-- SKILL.md
    |   |   |-- roblox_studio/
    |   |   |   `-- SKILL.md
    |   |   |-- security_audit/
    |   |   |   `-- SKILL.md
    |   |   |-- setup_new_acpx_key/
    |   |   |   `-- SKILL.md
    |   |   |-- skill_creator/
    |   |   |   |-- SKILL.md
    |   |   |   `-- scripts/
    |   |   |       `-- quick_validate.py
    |   |   |-- slack/
    |   |   |   `-- SKILL.md
    |   |   |-- summarize/
    |   |   |   `-- SKILL.md
    |   |   |-- tlamatini_allowed_hosts_tighten/
    |   |   |   `-- SKILL.md
    |   |   |-- tlamatini_csrf_exempt_audit/
    |   |   |   `-- SKILL.md
    |   |   |-- tlamatini_exec_report_row_adder/
    |   |   |   `-- SKILL.md
    |   |   |-- tlamatini_flow_from_objective/
    |   |   |   `-- SKILL.md
    |   |   |-- tlamatini_flw_doctor/</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- 41 of 44</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SKILL.md
    |   |   |-- tlamatini_new_acp_agent/
    |   |   |   `-- SKILL.md
    |   |   |-- tlamatini_planner_trace_replay/
    |   |   |   `-- SKILL.md
    |   |   |-- tlamatini_static_version_bumper/
    |   |   |   `-- SKILL.md
    |   |   |-- todoist/
    |   |   |   `-- SKILL.md
    |   |   |-- trello/
    |   |   |   `-- SKILL.md
    |   |   `-- weather/
    |   |       `-- SKILL.md
    |   |-- static/
    |   |   `-- agent/
    |   |       |-- css/
    |   |       |   |-- access_keys_wizard.css
    |   |       |   |-- agent_page.css
    |   |       |   |-- agentic_control_panel.css
    |   |       |   |-- avatar.css
    |   |       |   |-- contacts_dialog.css
    |   |       |   |-- dialog_theme.css
    |   |       |   |-- external_mcps_dialog.css
    |   |       |   |-- login.css
    |   |       |   |-- skills_dialog.css
    |   |       |   |-- tools_dialog.css
    |   |       |   `-- welcome.css
    |   |       |-- img/
    |   |       |   |-- spinner.svg
    |   |       |   |-- Tlamatini.ico
    |   |       |   `-- avatar/</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- 42 of 44</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ec_mc.jpg
    |   |       |       |-- ec_mo.jpg
    |   |       |       |-- eo_mc.jpg
    |   |       |       `-- eo_mo.jpg
    |   |       |-- js/
    |   |       |   |-- access_keys_wizard.js
    |   |       |   |-- acp-agent-connectors.js
    |   |       |   |-- acp-canvas-core.js
    |   |       |   |-- acp-canvas-undo.js
    |   |       |   |-- acp-connection-status.js
    |   |       |   |-- acp-control-buttons.js
    |   |       |   |-- acp-file-io.js
    |   |       |   |-- acp-flow-snapshot.js
    |   |       |   |-- acp-globals.js
    |   |       |   |-- acp-layout.js
    |   |       |   |-- acp-parametrizer-dialog.js
    |   |       |   |-- acp-running-state.js
    |   |       |   |-- acp-session.js
    |   |       |   |-- acp-undo-manager.js
    |   |       |   |-- acp-validate.js
    |   |       |   |-- agent_page_canvas.js
    |   |       |   |-- agent_page_chat.js
    |   |       |   |-- agent_page_context.js
    |   |       |   |-- agent_page_dialogs.js
    |   |       |   |-- agent_page_init.js
    |   |       |   |-- agent_page_layout.js
    |   |       |   |-- agent_page_state.js
    |   |       |   |-- agent_page_ui.js
    |   |       |   |-- agentic_control_panel.js
    |   |       |   |-- avatar.js
    |   |       |   |-- avatar_presence.js</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- 43 of 44</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avatar_size.js
    |   |       |   |-- canvas_item_dialog.js
    |   |       |   |-- chat_image_paste.js
    |   |       |   |-- chat_page_runtime_poller.js
    |   |       |   |-- checkbox_bulk_toggle.js
    |   |       |   |-- contacts_dialog.js
    |   |       |   |-- contextual_menus.js
    |   |       |   |-- dialog_policy.js
    |   |       |   |-- external_mcps_dialog.js
    |   |       |   |-- release_notes_renderer.js
    |   |       |   |-- shared-runtime-dialogs.js
    |   |       |   |-- skills_dialog.js
    |   |       |   |-- tools_dialog.js
    |   |       |   `-- welcome_enter_default.js
    |   |       |-- sounds/
    |   |       |   |-- hypervisor_alert.wav
    |   |       |   `-- notification.wav
    |   |       `-- video/
    |   |           `-- XAIHT-Tlamatini.mp4
    |   |-- templates/
    |   |   `-- agent/
    |   |       |-- agent_page.html
    |   |       |-- agentic_control_panel.html
    |   |       |-- login.html
    |   |       `-- welcome.html
    |   |-- test_fixtures/
    |   |   `-- talker_orpheus_tokens.txt
    |   `-- TlamatiniSourceCode/
    |       `-- README.md
    |-- DB/
    |   |-- Older/</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- 44 of 44</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README.md
    |   `-- ToLoad/
    |       `-- README.md
    |-- jd-cli/
    |   |-- jd-cli.bat
    |   `-- jd-cli.jar
    |-- tests_e2e/
    |   |-- oob_child_helper.py
    |   |-- README.md
    |   |-- test_create_flow_visual.py
    |   |-- test_ctrl_c_quits_visible.py
    |   |-- test_db_backup_set_visible.py
    |   |-- test_oob_browser_visible.py
    |   |-- test_oob_namu_unit.py
    |   |-- test_prompts_catalog_visual.py
    |   |-- test_self_healing_visual.py
    |   |-- test_voice_visual.py
    |   |-- Tlamatini-Overnight-100.py
    |   `-- Tlamatini-Whatsapper-Daily-Tests.py
    `-- tlamatini/
        |-- __init__.py
        |-- asgi.py
        |-- context_processors.py
        |-- logging_filters.py
        |-- middleware.py
        |-- settings.py
        |-- urls.py
        `-- wsgi.py</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SINCE LAST COMMITTED DOSSIER, INCLUDING UNTRACKED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New Asset Inventory - 1</a:t>
            </a:r>
          </a:p>
        </p:txBody>
      </p:sp>
      <p:sp>
        <p:nvSpPr>
          <p:cNvPr id="9" name="TextBox 8"/>
          <p:cNvSpPr txBox="1"/>
          <p:nvPr/>
        </p:nvSpPr>
        <p:spPr>
          <a:xfrm>
            <a:off x="731520" y="150876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.claude/skills/tlamatini-daily-chat-test/harness/pptxer_visible.py</a:t>
            </a:r>
          </a:p>
        </p:txBody>
      </p:sp>
      <p:sp>
        <p:nvSpPr>
          <p:cNvPr id="10" name="TextBox 9"/>
          <p:cNvSpPr txBox="1"/>
          <p:nvPr/>
        </p:nvSpPr>
        <p:spPr>
          <a:xfrm>
            <a:off x="731520" y="170992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33,732 bytes; text; 780 physical / 528 effective lines</a:t>
            </a:r>
          </a:p>
        </p:txBody>
      </p:sp>
      <p:sp>
        <p:nvSpPr>
          <p:cNvPr id="11" name="TextBox 10"/>
          <p:cNvSpPr txBox="1"/>
          <p:nvPr/>
        </p:nvSpPr>
        <p:spPr>
          <a:xfrm>
            <a:off x="731520" y="198424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Tlamatini/agent/agents/esp32er/ESP32TemplateProject/README.md</a:t>
            </a:r>
          </a:p>
        </p:txBody>
      </p:sp>
      <p:sp>
        <p:nvSpPr>
          <p:cNvPr id="12" name="TextBox 11"/>
          <p:cNvSpPr txBox="1"/>
          <p:nvPr/>
        </p:nvSpPr>
        <p:spPr>
          <a:xfrm>
            <a:off x="731520" y="2185416"/>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5,236 bytes; text; 111 physical / 77 effective lines</a:t>
            </a:r>
          </a:p>
        </p:txBody>
      </p:sp>
      <p:sp>
        <p:nvSpPr>
          <p:cNvPr id="13" name="TextBox 12"/>
          <p:cNvSpPr txBox="1"/>
          <p:nvPr/>
        </p:nvSpPr>
        <p:spPr>
          <a:xfrm>
            <a:off x="731520" y="2459736"/>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Tlamatini/agent/agents/esp32er/ESP32TemplateProject/include/README.md</a:t>
            </a:r>
          </a:p>
        </p:txBody>
      </p:sp>
      <p:sp>
        <p:nvSpPr>
          <p:cNvPr id="14" name="TextBox 13"/>
          <p:cNvSpPr txBox="1"/>
          <p:nvPr/>
        </p:nvSpPr>
        <p:spPr>
          <a:xfrm>
            <a:off x="731520" y="2660904"/>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410 bytes; text; 13 physical / 9 effective lines</a:t>
            </a:r>
          </a:p>
        </p:txBody>
      </p:sp>
      <p:sp>
        <p:nvSpPr>
          <p:cNvPr id="15" name="TextBox 14"/>
          <p:cNvSpPr txBox="1"/>
          <p:nvPr/>
        </p:nvSpPr>
        <p:spPr>
          <a:xfrm>
            <a:off x="731520" y="2935224"/>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Tlamatini/agent/agents/esp32er/ESP32TemplateProject/lib/README.md</a:t>
            </a:r>
          </a:p>
        </p:txBody>
      </p:sp>
      <p:sp>
        <p:nvSpPr>
          <p:cNvPr id="16" name="TextBox 15"/>
          <p:cNvSpPr txBox="1"/>
          <p:nvPr/>
        </p:nvSpPr>
        <p:spPr>
          <a:xfrm>
            <a:off x="731520" y="3136392"/>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837 bytes; text; 32 physical / 24 effective lines</a:t>
            </a:r>
          </a:p>
        </p:txBody>
      </p:sp>
      <p:sp>
        <p:nvSpPr>
          <p:cNvPr id="17" name="TextBox 16"/>
          <p:cNvSpPr txBox="1"/>
          <p:nvPr/>
        </p:nvSpPr>
        <p:spPr>
          <a:xfrm>
            <a:off x="731520" y="3410712"/>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Tlamatini/agent/agents/esp32er/ESP32TemplateProject/platformio.ini</a:t>
            </a:r>
          </a:p>
        </p:txBody>
      </p:sp>
      <p:sp>
        <p:nvSpPr>
          <p:cNvPr id="18" name="TextBox 17"/>
          <p:cNvSpPr txBox="1"/>
          <p:nvPr/>
        </p:nvSpPr>
        <p:spPr>
          <a:xfrm>
            <a:off x="731520" y="3611880"/>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2,423 bytes; text; 40 physical / 8 effective lines</a:t>
            </a:r>
          </a:p>
        </p:txBody>
      </p:sp>
      <p:sp>
        <p:nvSpPr>
          <p:cNvPr id="19" name="TextBox 18"/>
          <p:cNvSpPr txBox="1"/>
          <p:nvPr/>
        </p:nvSpPr>
        <p:spPr>
          <a:xfrm>
            <a:off x="731520" y="388620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Tlamatini/agent/agents/esp32er/ESP32TemplateProject/src/main.cpp</a:t>
            </a:r>
          </a:p>
        </p:txBody>
      </p:sp>
      <p:sp>
        <p:nvSpPr>
          <p:cNvPr id="20" name="TextBox 19"/>
          <p:cNvSpPr txBox="1"/>
          <p:nvPr/>
        </p:nvSpPr>
        <p:spPr>
          <a:xfrm>
            <a:off x="731520" y="408736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2,496 bytes; text; 57 physical / 24 effective lines</a:t>
            </a:r>
          </a:p>
        </p:txBody>
      </p:sp>
      <p:sp>
        <p:nvSpPr>
          <p:cNvPr id="21" name="TextBox 20"/>
          <p:cNvSpPr txBox="1"/>
          <p:nvPr/>
        </p:nvSpPr>
        <p:spPr>
          <a:xfrm>
            <a:off x="731520" y="436168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Tlamatini/agent/agents/esp32er/ESP32TemplateProject/test/README.md</a:t>
            </a:r>
          </a:p>
        </p:txBody>
      </p:sp>
      <p:sp>
        <p:nvSpPr>
          <p:cNvPr id="22" name="TextBox 21"/>
          <p:cNvSpPr txBox="1"/>
          <p:nvPr/>
        </p:nvSpPr>
        <p:spPr>
          <a:xfrm>
            <a:off x="731520" y="4562855"/>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755 bytes; text; 29 physical / 21 effective lines</a:t>
            </a:r>
          </a:p>
        </p:txBody>
      </p:sp>
      <p:sp>
        <p:nvSpPr>
          <p:cNvPr id="23" name="TextBox 22"/>
          <p:cNvSpPr txBox="1"/>
          <p:nvPr/>
        </p:nvSpPr>
        <p:spPr>
          <a:xfrm>
            <a:off x="731520" y="4837175"/>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Tlamatini/agent/agents/esphomer/ESPHomeTemplateProject/.gitignore</a:t>
            </a:r>
          </a:p>
        </p:txBody>
      </p:sp>
      <p:sp>
        <p:nvSpPr>
          <p:cNvPr id="24" name="TextBox 23"/>
          <p:cNvSpPr txBox="1"/>
          <p:nvPr/>
        </p:nvSpPr>
        <p:spPr>
          <a:xfrm>
            <a:off x="731520" y="5038343"/>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277 bytes; text; 8 physical / 7 effective lines</a:t>
            </a:r>
          </a:p>
        </p:txBody>
      </p:sp>
      <p:sp>
        <p:nvSpPr>
          <p:cNvPr id="25" name="TextBox 24"/>
          <p:cNvSpPr txBox="1"/>
          <p:nvPr/>
        </p:nvSpPr>
        <p:spPr>
          <a:xfrm>
            <a:off x="731520" y="5312663"/>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Tlamatini/agent/agents/esphomer/ESPHomeTemplateProject/common/base.yaml</a:t>
            </a:r>
          </a:p>
        </p:txBody>
      </p:sp>
      <p:sp>
        <p:nvSpPr>
          <p:cNvPr id="26" name="TextBox 25"/>
          <p:cNvSpPr txBox="1"/>
          <p:nvPr/>
        </p:nvSpPr>
        <p:spPr>
          <a:xfrm>
            <a:off x="731520" y="5513831"/>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1,053 bytes; text; 32 physical / 11 effective lines</a:t>
            </a:r>
          </a:p>
        </p:txBody>
      </p:sp>
      <p:sp>
        <p:nvSpPr>
          <p:cNvPr id="27" name="TextBox 26"/>
          <p:cNvSpPr txBox="1"/>
          <p:nvPr/>
        </p:nvSpPr>
        <p:spPr>
          <a:xfrm>
            <a:off x="731520" y="5788151"/>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Tlamatini/agent/agents/esphomer/ESPHomeTemplateProject/secrets.yaml.example</a:t>
            </a:r>
          </a:p>
        </p:txBody>
      </p:sp>
      <p:sp>
        <p:nvSpPr>
          <p:cNvPr id="28" name="TextBox 27"/>
          <p:cNvSpPr txBox="1"/>
          <p:nvPr/>
        </p:nvSpPr>
        <p:spPr>
          <a:xfrm>
            <a:off x="731520" y="5989319"/>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1,028 bytes; text; 15 physical / 13 effective lines</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SINCE LAST COMMITTED DOSSIER, INCLUDING UNTRACKED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New Asset Inventory - 2</a:t>
            </a:r>
          </a:p>
        </p:txBody>
      </p:sp>
      <p:sp>
        <p:nvSpPr>
          <p:cNvPr id="9" name="TextBox 8"/>
          <p:cNvSpPr txBox="1"/>
          <p:nvPr/>
        </p:nvSpPr>
        <p:spPr>
          <a:xfrm>
            <a:off x="731520" y="150876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Tlamatini/agent/agents/esphomer/ESPHomeTemplateProject/tlamatini-sensor.yaml</a:t>
            </a:r>
          </a:p>
        </p:txBody>
      </p:sp>
      <p:sp>
        <p:nvSpPr>
          <p:cNvPr id="10" name="TextBox 9"/>
          <p:cNvSpPr txBox="1"/>
          <p:nvPr/>
        </p:nvSpPr>
        <p:spPr>
          <a:xfrm>
            <a:off x="731520" y="170992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2,499 bytes; text; 70 physical / 24 effective lines</a:t>
            </a:r>
          </a:p>
        </p:txBody>
      </p:sp>
      <p:sp>
        <p:nvSpPr>
          <p:cNvPr id="11" name="TextBox 10"/>
          <p:cNvSpPr txBox="1"/>
          <p:nvPr/>
        </p:nvSpPr>
        <p:spPr>
          <a:xfrm>
            <a:off x="731520" y="198424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Tlamatini/agent/agents/flowcreator/flow_catalog.json</a:t>
            </a:r>
          </a:p>
        </p:txBody>
      </p:sp>
      <p:sp>
        <p:nvSpPr>
          <p:cNvPr id="12" name="TextBox 11"/>
          <p:cNvSpPr txBox="1"/>
          <p:nvPr/>
        </p:nvSpPr>
        <p:spPr>
          <a:xfrm>
            <a:off x="731520" y="2185416"/>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225,489 bytes; text; 5158 physical / 5158 effective lines</a:t>
            </a:r>
          </a:p>
        </p:txBody>
      </p:sp>
      <p:sp>
        <p:nvSpPr>
          <p:cNvPr id="13" name="TextBox 12"/>
          <p:cNvSpPr txBox="1"/>
          <p:nvPr/>
        </p:nvSpPr>
        <p:spPr>
          <a:xfrm>
            <a:off x="731520" y="2459736"/>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Tlamatini/agent/agents/flowcreator/flow_knowledge.py</a:t>
            </a:r>
          </a:p>
        </p:txBody>
      </p:sp>
      <p:sp>
        <p:nvSpPr>
          <p:cNvPr id="14" name="TextBox 13"/>
          <p:cNvSpPr txBox="1"/>
          <p:nvPr/>
        </p:nvSpPr>
        <p:spPr>
          <a:xfrm>
            <a:off x="731520" y="2660904"/>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15,081 bytes; text; 293 physical / 251 effective lines</a:t>
            </a:r>
          </a:p>
        </p:txBody>
      </p:sp>
      <p:sp>
        <p:nvSpPr>
          <p:cNvPr id="15" name="TextBox 14"/>
          <p:cNvSpPr txBox="1"/>
          <p:nvPr/>
        </p:nvSpPr>
        <p:spPr>
          <a:xfrm>
            <a:off x="731520" y="2935224"/>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Tlamatini/agent/agents/keyboarder/keyboarder_input.py</a:t>
            </a:r>
          </a:p>
        </p:txBody>
      </p:sp>
      <p:sp>
        <p:nvSpPr>
          <p:cNvPr id="16" name="TextBox 15"/>
          <p:cNvSpPr txBox="1"/>
          <p:nvPr/>
        </p:nvSpPr>
        <p:spPr>
          <a:xfrm>
            <a:off x="731520" y="3136392"/>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6,932 bytes; text; 187 physical / 147 effective lines</a:t>
            </a:r>
          </a:p>
        </p:txBody>
      </p:sp>
      <p:sp>
        <p:nvSpPr>
          <p:cNvPr id="17" name="TextBox 16"/>
          <p:cNvSpPr txBox="1"/>
          <p:nvPr/>
        </p:nvSpPr>
        <p:spPr>
          <a:xfrm>
            <a:off x="731520" y="3410712"/>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Tlamatini/agent/agents/latexer/STYLES.md</a:t>
            </a:r>
          </a:p>
        </p:txBody>
      </p:sp>
      <p:sp>
        <p:nvSpPr>
          <p:cNvPr id="18" name="TextBox 17"/>
          <p:cNvSpPr txBox="1"/>
          <p:nvPr/>
        </p:nvSpPr>
        <p:spPr>
          <a:xfrm>
            <a:off x="731520" y="3611880"/>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11,788 bytes; text; 217 physical / 179 effective lines</a:t>
            </a:r>
          </a:p>
        </p:txBody>
      </p:sp>
      <p:sp>
        <p:nvSpPr>
          <p:cNvPr id="19" name="TextBox 18"/>
          <p:cNvSpPr txBox="1"/>
          <p:nvPr/>
        </p:nvSpPr>
        <p:spPr>
          <a:xfrm>
            <a:off x="731520" y="388620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Tlamatini/agent/agents/latexer/latexer_artwork.py</a:t>
            </a:r>
          </a:p>
        </p:txBody>
      </p:sp>
      <p:sp>
        <p:nvSpPr>
          <p:cNvPr id="20" name="TextBox 19"/>
          <p:cNvSpPr txBox="1"/>
          <p:nvPr/>
        </p:nvSpPr>
        <p:spPr>
          <a:xfrm>
            <a:off x="731520" y="408736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13,603 bytes; text; 273 physical / 249 effective lines</a:t>
            </a:r>
          </a:p>
        </p:txBody>
      </p:sp>
      <p:sp>
        <p:nvSpPr>
          <p:cNvPr id="21" name="TextBox 20"/>
          <p:cNvSpPr txBox="1"/>
          <p:nvPr/>
        </p:nvSpPr>
        <p:spPr>
          <a:xfrm>
            <a:off x="731520" y="436168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Tlamatini/agent/agents/latexer/latexer_design.py</a:t>
            </a:r>
          </a:p>
        </p:txBody>
      </p:sp>
      <p:sp>
        <p:nvSpPr>
          <p:cNvPr id="22" name="TextBox 21"/>
          <p:cNvSpPr txBox="1"/>
          <p:nvPr/>
        </p:nvSpPr>
        <p:spPr>
          <a:xfrm>
            <a:off x="731520" y="4562855"/>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12,559 bytes; text; 267 physical / 231 effective lines</a:t>
            </a:r>
          </a:p>
        </p:txBody>
      </p:sp>
      <p:sp>
        <p:nvSpPr>
          <p:cNvPr id="23" name="TextBox 22"/>
          <p:cNvSpPr txBox="1"/>
          <p:nvPr/>
        </p:nvSpPr>
        <p:spPr>
          <a:xfrm>
            <a:off x="731520" y="4837175"/>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Tlamatini/agent/agents/latexer/latexer_styles.py</a:t>
            </a:r>
          </a:p>
        </p:txBody>
      </p:sp>
      <p:sp>
        <p:nvSpPr>
          <p:cNvPr id="24" name="TextBox 23"/>
          <p:cNvSpPr txBox="1"/>
          <p:nvPr/>
        </p:nvSpPr>
        <p:spPr>
          <a:xfrm>
            <a:off x="731520" y="5038343"/>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9,140 bytes; text; 154 physical / 119 effective lines</a:t>
            </a:r>
          </a:p>
        </p:txBody>
      </p:sp>
      <p:sp>
        <p:nvSpPr>
          <p:cNvPr id="25" name="TextBox 24"/>
          <p:cNvSpPr txBox="1"/>
          <p:nvPr/>
        </p:nvSpPr>
        <p:spPr>
          <a:xfrm>
            <a:off x="731520" y="5312663"/>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Tlamatini/agent/agents/mouser/mouser_coordinates.py</a:t>
            </a:r>
          </a:p>
        </p:txBody>
      </p:sp>
      <p:sp>
        <p:nvSpPr>
          <p:cNvPr id="26" name="TextBox 25"/>
          <p:cNvSpPr txBox="1"/>
          <p:nvPr/>
        </p:nvSpPr>
        <p:spPr>
          <a:xfrm>
            <a:off x="731520" y="5513831"/>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7,303 bytes; text; 176 physical / 138 effective lines</a:t>
            </a:r>
          </a:p>
        </p:txBody>
      </p:sp>
      <p:sp>
        <p:nvSpPr>
          <p:cNvPr id="27" name="TextBox 26"/>
          <p:cNvSpPr txBox="1"/>
          <p:nvPr/>
        </p:nvSpPr>
        <p:spPr>
          <a:xfrm>
            <a:off x="731520" y="5788151"/>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Tlamatini/agent/agents/pdfer/STYLES.md</a:t>
            </a:r>
          </a:p>
        </p:txBody>
      </p:sp>
      <p:sp>
        <p:nvSpPr>
          <p:cNvPr id="28" name="TextBox 27"/>
          <p:cNvSpPr txBox="1"/>
          <p:nvPr/>
        </p:nvSpPr>
        <p:spPr>
          <a:xfrm>
            <a:off x="731520" y="5989319"/>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12,955 bytes; text; 236 physical / 189 effective lines</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SINCE LAST COMMITTED DOSSIER, INCLUDING UNTRACKED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New Asset Inventory - 3</a:t>
            </a:r>
          </a:p>
        </p:txBody>
      </p:sp>
      <p:sp>
        <p:nvSpPr>
          <p:cNvPr id="9" name="TextBox 8"/>
          <p:cNvSpPr txBox="1"/>
          <p:nvPr/>
        </p:nvSpPr>
        <p:spPr>
          <a:xfrm>
            <a:off x="731520" y="150876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Tlamatini/agent/agents/pdfer/pdfer_artwork.py</a:t>
            </a:r>
          </a:p>
        </p:txBody>
      </p:sp>
      <p:sp>
        <p:nvSpPr>
          <p:cNvPr id="10" name="TextBox 9"/>
          <p:cNvSpPr txBox="1"/>
          <p:nvPr/>
        </p:nvSpPr>
        <p:spPr>
          <a:xfrm>
            <a:off x="731520" y="170992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13,279 bytes; text; 261 physical / 242 effective lines</a:t>
            </a:r>
          </a:p>
        </p:txBody>
      </p:sp>
      <p:sp>
        <p:nvSpPr>
          <p:cNvPr id="11" name="TextBox 10"/>
          <p:cNvSpPr txBox="1"/>
          <p:nvPr/>
        </p:nvSpPr>
        <p:spPr>
          <a:xfrm>
            <a:off x="731520" y="198424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Tlamatini/agent/agents/pdfer/pdfer_styles.py</a:t>
            </a:r>
          </a:p>
        </p:txBody>
      </p:sp>
      <p:sp>
        <p:nvSpPr>
          <p:cNvPr id="12" name="TextBox 11"/>
          <p:cNvSpPr txBox="1"/>
          <p:nvPr/>
        </p:nvSpPr>
        <p:spPr>
          <a:xfrm>
            <a:off x="731520" y="2185416"/>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7,972 bytes; text; 104 physical / 77 effective lines</a:t>
            </a:r>
          </a:p>
        </p:txBody>
      </p:sp>
      <p:sp>
        <p:nvSpPr>
          <p:cNvPr id="13" name="TextBox 12"/>
          <p:cNvSpPr txBox="1"/>
          <p:nvPr/>
        </p:nvSpPr>
        <p:spPr>
          <a:xfrm>
            <a:off x="731520" y="2459736"/>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Tlamatini/agent/agents/pptxer/STYLES.md</a:t>
            </a:r>
          </a:p>
        </p:txBody>
      </p:sp>
      <p:sp>
        <p:nvSpPr>
          <p:cNvPr id="14" name="TextBox 13"/>
          <p:cNvSpPr txBox="1"/>
          <p:nvPr/>
        </p:nvSpPr>
        <p:spPr>
          <a:xfrm>
            <a:off x="731520" y="2660904"/>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8,404 bytes; text; 97 physical / 63 effective lines</a:t>
            </a:r>
          </a:p>
        </p:txBody>
      </p:sp>
      <p:sp>
        <p:nvSpPr>
          <p:cNvPr id="15" name="TextBox 14"/>
          <p:cNvSpPr txBox="1"/>
          <p:nvPr/>
        </p:nvSpPr>
        <p:spPr>
          <a:xfrm>
            <a:off x="731520" y="2935224"/>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Tlamatini/agent/agents/pptxer/config.yaml</a:t>
            </a:r>
          </a:p>
        </p:txBody>
      </p:sp>
      <p:sp>
        <p:nvSpPr>
          <p:cNvPr id="16" name="TextBox 15"/>
          <p:cNvSpPr txBox="1"/>
          <p:nvPr/>
        </p:nvSpPr>
        <p:spPr>
          <a:xfrm>
            <a:off x="731520" y="3136392"/>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10,590 bytes; text; 178 physical / 56 effective lines</a:t>
            </a:r>
          </a:p>
        </p:txBody>
      </p:sp>
      <p:sp>
        <p:nvSpPr>
          <p:cNvPr id="17" name="TextBox 16"/>
          <p:cNvSpPr txBox="1"/>
          <p:nvPr/>
        </p:nvSpPr>
        <p:spPr>
          <a:xfrm>
            <a:off x="731520" y="3410712"/>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Tlamatini/agent/agents/pptxer/pptxer.py</a:t>
            </a:r>
          </a:p>
        </p:txBody>
      </p:sp>
      <p:sp>
        <p:nvSpPr>
          <p:cNvPr id="18" name="TextBox 17"/>
          <p:cNvSpPr txBox="1"/>
          <p:nvPr/>
        </p:nvSpPr>
        <p:spPr>
          <a:xfrm>
            <a:off x="731520" y="3611880"/>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46,882 bytes; text; 1157 physical / 884 effective lines</a:t>
            </a:r>
          </a:p>
        </p:txBody>
      </p:sp>
      <p:sp>
        <p:nvSpPr>
          <p:cNvPr id="19" name="TextBox 18"/>
          <p:cNvSpPr txBox="1"/>
          <p:nvPr/>
        </p:nvSpPr>
        <p:spPr>
          <a:xfrm>
            <a:off x="731520" y="388620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Tlamatini/agent/agents/pptxer/pptxer_audit.py</a:t>
            </a:r>
          </a:p>
        </p:txBody>
      </p:sp>
      <p:sp>
        <p:nvSpPr>
          <p:cNvPr id="20" name="TextBox 19"/>
          <p:cNvSpPr txBox="1"/>
          <p:nvPr/>
        </p:nvSpPr>
        <p:spPr>
          <a:xfrm>
            <a:off x="731520" y="408736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33,099 bytes; text; 645 physical / 444 effective lines</a:t>
            </a:r>
          </a:p>
        </p:txBody>
      </p:sp>
      <p:sp>
        <p:nvSpPr>
          <p:cNvPr id="21" name="TextBox 20"/>
          <p:cNvSpPr txBox="1"/>
          <p:nvPr/>
        </p:nvSpPr>
        <p:spPr>
          <a:xfrm>
            <a:off x="731520" y="436168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Tlamatini/agent/agents/pptxer/pptxer_build.py</a:t>
            </a:r>
          </a:p>
        </p:txBody>
      </p:sp>
      <p:sp>
        <p:nvSpPr>
          <p:cNvPr id="22" name="TextBox 21"/>
          <p:cNvSpPr txBox="1"/>
          <p:nvPr/>
        </p:nvSpPr>
        <p:spPr>
          <a:xfrm>
            <a:off x="731520" y="4562855"/>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70,317 bytes; text; 1483 physical / 1200 effective lines</a:t>
            </a:r>
          </a:p>
        </p:txBody>
      </p:sp>
      <p:sp>
        <p:nvSpPr>
          <p:cNvPr id="23" name="TextBox 22"/>
          <p:cNvSpPr txBox="1"/>
          <p:nvPr/>
        </p:nvSpPr>
        <p:spPr>
          <a:xfrm>
            <a:off x="731520" y="4837175"/>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Tlamatini/agent/agents/pptxer/pptxer_color.py</a:t>
            </a:r>
          </a:p>
        </p:txBody>
      </p:sp>
      <p:sp>
        <p:nvSpPr>
          <p:cNvPr id="24" name="TextBox 23"/>
          <p:cNvSpPr txBox="1"/>
          <p:nvPr/>
        </p:nvSpPr>
        <p:spPr>
          <a:xfrm>
            <a:off x="731520" y="5038343"/>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31,837 bytes; text; 736 physical / 467 effective lines</a:t>
            </a:r>
          </a:p>
        </p:txBody>
      </p:sp>
      <p:sp>
        <p:nvSpPr>
          <p:cNvPr id="25" name="TextBox 24"/>
          <p:cNvSpPr txBox="1"/>
          <p:nvPr/>
        </p:nvSpPr>
        <p:spPr>
          <a:xfrm>
            <a:off x="731520" y="5312663"/>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Tlamatini/agent/agents/pptxer/pptxer_diagram.py</a:t>
            </a:r>
          </a:p>
        </p:txBody>
      </p:sp>
      <p:sp>
        <p:nvSpPr>
          <p:cNvPr id="26" name="TextBox 25"/>
          <p:cNvSpPr txBox="1"/>
          <p:nvPr/>
        </p:nvSpPr>
        <p:spPr>
          <a:xfrm>
            <a:off x="731520" y="5513831"/>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20,204 bytes; text; 433 physical / 301 effective lines</a:t>
            </a:r>
          </a:p>
        </p:txBody>
      </p:sp>
      <p:sp>
        <p:nvSpPr>
          <p:cNvPr id="27" name="TextBox 26"/>
          <p:cNvSpPr txBox="1"/>
          <p:nvPr/>
        </p:nvSpPr>
        <p:spPr>
          <a:xfrm>
            <a:off x="731520" y="5788151"/>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Tlamatini/agent/agents/pptxer/pptxer_docmodel.py</a:t>
            </a:r>
          </a:p>
        </p:txBody>
      </p:sp>
      <p:sp>
        <p:nvSpPr>
          <p:cNvPr id="28" name="TextBox 27"/>
          <p:cNvSpPr txBox="1"/>
          <p:nvPr/>
        </p:nvSpPr>
        <p:spPr>
          <a:xfrm>
            <a:off x="731520" y="5989319"/>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30,667 bytes; text; 731 physical / 521 effective lines</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SINCE LAST COMMITTED DOSSIER, INCLUDING UNTRACKED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New Asset Inventory - 4</a:t>
            </a:r>
          </a:p>
        </p:txBody>
      </p:sp>
      <p:sp>
        <p:nvSpPr>
          <p:cNvPr id="9" name="TextBox 8"/>
          <p:cNvSpPr txBox="1"/>
          <p:nvPr/>
        </p:nvSpPr>
        <p:spPr>
          <a:xfrm>
            <a:off x="731520" y="150876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Tlamatini/agent/agents/pptxer/pptxer_draw.py</a:t>
            </a:r>
          </a:p>
        </p:txBody>
      </p:sp>
      <p:sp>
        <p:nvSpPr>
          <p:cNvPr id="10" name="TextBox 9"/>
          <p:cNvSpPr txBox="1"/>
          <p:nvPr/>
        </p:nvSpPr>
        <p:spPr>
          <a:xfrm>
            <a:off x="731520" y="170992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36,025 bytes; text; 866 physical / 574 effective lines</a:t>
            </a:r>
          </a:p>
        </p:txBody>
      </p:sp>
      <p:sp>
        <p:nvSpPr>
          <p:cNvPr id="11" name="TextBox 10"/>
          <p:cNvSpPr txBox="1"/>
          <p:nvPr/>
        </p:nvSpPr>
        <p:spPr>
          <a:xfrm>
            <a:off x="731520" y="198424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Tlamatini/agent/agents/pptxer/pptxer_fonts.py</a:t>
            </a:r>
          </a:p>
        </p:txBody>
      </p:sp>
      <p:sp>
        <p:nvSpPr>
          <p:cNvPr id="12" name="TextBox 11"/>
          <p:cNvSpPr txBox="1"/>
          <p:nvPr/>
        </p:nvSpPr>
        <p:spPr>
          <a:xfrm>
            <a:off x="731520" y="2185416"/>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46,910 bytes; text; 1010 physical / 698 effective lines</a:t>
            </a:r>
          </a:p>
        </p:txBody>
      </p:sp>
      <p:sp>
        <p:nvSpPr>
          <p:cNvPr id="13" name="TextBox 12"/>
          <p:cNvSpPr txBox="1"/>
          <p:nvPr/>
        </p:nvSpPr>
        <p:spPr>
          <a:xfrm>
            <a:off x="731520" y="2459736"/>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Tlamatini/agent/agents/pptxer/pptxer_layout.py</a:t>
            </a:r>
          </a:p>
        </p:txBody>
      </p:sp>
      <p:sp>
        <p:nvSpPr>
          <p:cNvPr id="14" name="TextBox 13"/>
          <p:cNvSpPr txBox="1"/>
          <p:nvPr/>
        </p:nvSpPr>
        <p:spPr>
          <a:xfrm>
            <a:off x="731520" y="2660904"/>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37,775 bytes; text; 853 physical / 520 effective lines</a:t>
            </a:r>
          </a:p>
        </p:txBody>
      </p:sp>
      <p:sp>
        <p:nvSpPr>
          <p:cNvPr id="15" name="TextBox 14"/>
          <p:cNvSpPr txBox="1"/>
          <p:nvPr/>
        </p:nvSpPr>
        <p:spPr>
          <a:xfrm>
            <a:off x="731520" y="2935224"/>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Tlamatini/agent/agents/pptxer/pptxer_media.py</a:t>
            </a:r>
          </a:p>
        </p:txBody>
      </p:sp>
      <p:sp>
        <p:nvSpPr>
          <p:cNvPr id="16" name="TextBox 15"/>
          <p:cNvSpPr txBox="1"/>
          <p:nvPr/>
        </p:nvSpPr>
        <p:spPr>
          <a:xfrm>
            <a:off x="731520" y="3136392"/>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30,485 bytes; text; 693 physical / 461 effective lines</a:t>
            </a:r>
          </a:p>
        </p:txBody>
      </p:sp>
      <p:sp>
        <p:nvSpPr>
          <p:cNvPr id="17" name="TextBox 16"/>
          <p:cNvSpPr txBox="1"/>
          <p:nvPr/>
        </p:nvSpPr>
        <p:spPr>
          <a:xfrm>
            <a:off x="731520" y="3410712"/>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Tlamatini/agent/agents/pptxer/pptxer_nuance.py</a:t>
            </a:r>
          </a:p>
        </p:txBody>
      </p:sp>
      <p:sp>
        <p:nvSpPr>
          <p:cNvPr id="18" name="TextBox 17"/>
          <p:cNvSpPr txBox="1"/>
          <p:nvPr/>
        </p:nvSpPr>
        <p:spPr>
          <a:xfrm>
            <a:off x="731520" y="3611880"/>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46,364 bytes; text; 887 physical / 708 effective lines</a:t>
            </a:r>
          </a:p>
        </p:txBody>
      </p:sp>
      <p:sp>
        <p:nvSpPr>
          <p:cNvPr id="19" name="TextBox 18"/>
          <p:cNvSpPr txBox="1"/>
          <p:nvPr/>
        </p:nvSpPr>
        <p:spPr>
          <a:xfrm>
            <a:off x="731520" y="388620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Tlamatini/agent/agents/pptxer/pptxer_render.py</a:t>
            </a:r>
          </a:p>
        </p:txBody>
      </p:sp>
      <p:sp>
        <p:nvSpPr>
          <p:cNvPr id="20" name="TextBox 19"/>
          <p:cNvSpPr txBox="1"/>
          <p:nvPr/>
        </p:nvSpPr>
        <p:spPr>
          <a:xfrm>
            <a:off x="731520" y="408736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45,260 bytes; text; 944 physical / 678 effective lines</a:t>
            </a:r>
          </a:p>
        </p:txBody>
      </p:sp>
      <p:sp>
        <p:nvSpPr>
          <p:cNvPr id="21" name="TextBox 20"/>
          <p:cNvSpPr txBox="1"/>
          <p:nvPr/>
        </p:nvSpPr>
        <p:spPr>
          <a:xfrm>
            <a:off x="731520" y="436168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Tlamatini/agent/agents/pptxer/pptxer_theme.py</a:t>
            </a:r>
          </a:p>
        </p:txBody>
      </p:sp>
      <p:sp>
        <p:nvSpPr>
          <p:cNvPr id="22" name="TextBox 21"/>
          <p:cNvSpPr txBox="1"/>
          <p:nvPr/>
        </p:nvSpPr>
        <p:spPr>
          <a:xfrm>
            <a:off x="731520" y="4562855"/>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32,552 bytes; text; 621 physical / 428 effective lines</a:t>
            </a:r>
          </a:p>
        </p:txBody>
      </p:sp>
      <p:sp>
        <p:nvSpPr>
          <p:cNvPr id="23" name="TextBox 22"/>
          <p:cNvSpPr txBox="1"/>
          <p:nvPr/>
        </p:nvSpPr>
        <p:spPr>
          <a:xfrm>
            <a:off x="731520" y="4837175"/>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Tlamatini/agent/migrations/0202_add_pptxer.py</a:t>
            </a:r>
          </a:p>
        </p:txBody>
      </p:sp>
      <p:sp>
        <p:nvSpPr>
          <p:cNvPr id="24" name="TextBox 23"/>
          <p:cNvSpPr txBox="1"/>
          <p:nvPr/>
        </p:nvSpPr>
        <p:spPr>
          <a:xfrm>
            <a:off x="731520" y="5038343"/>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3,048 bytes; text; 64 physical / 24 effective lines</a:t>
            </a:r>
          </a:p>
        </p:txBody>
      </p:sp>
      <p:sp>
        <p:nvSpPr>
          <p:cNvPr id="25" name="TextBox 24"/>
          <p:cNvSpPr txBox="1"/>
          <p:nvPr/>
        </p:nvSpPr>
        <p:spPr>
          <a:xfrm>
            <a:off x="731520" y="5312663"/>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Tlamatini/agent/migrations/0203_add_chat_agent_pptxer_tool.py</a:t>
            </a:r>
          </a:p>
        </p:txBody>
      </p:sp>
      <p:sp>
        <p:nvSpPr>
          <p:cNvPr id="26" name="TextBox 25"/>
          <p:cNvSpPr txBox="1"/>
          <p:nvPr/>
        </p:nvSpPr>
        <p:spPr>
          <a:xfrm>
            <a:off x="731520" y="5513831"/>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2,321 bytes; text; 53 physical / 24 effective lines</a:t>
            </a:r>
          </a:p>
        </p:txBody>
      </p:sp>
      <p:sp>
        <p:nvSpPr>
          <p:cNvPr id="27" name="TextBox 26"/>
          <p:cNvSpPr txBox="1"/>
          <p:nvPr/>
        </p:nvSpPr>
        <p:spPr>
          <a:xfrm>
            <a:off x="731520" y="5788151"/>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Tlamatini/agent/migrations/0204_add_pptxer_demo_prompts.py</a:t>
            </a:r>
          </a:p>
        </p:txBody>
      </p:sp>
      <p:sp>
        <p:nvSpPr>
          <p:cNvPr id="28" name="TextBox 27"/>
          <p:cNvSpPr txBox="1"/>
          <p:nvPr/>
        </p:nvSpPr>
        <p:spPr>
          <a:xfrm>
            <a:off x="731520" y="5989319"/>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8,822 bytes; text; 169 physical / 98 effective lines</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SINCE LAST COMMITTED DOSSIER, INCLUDING UNTRACKED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New Asset Inventory - 5</a:t>
            </a:r>
          </a:p>
        </p:txBody>
      </p:sp>
      <p:sp>
        <p:nvSpPr>
          <p:cNvPr id="9" name="TextBox 8"/>
          <p:cNvSpPr txBox="1"/>
          <p:nvPr/>
        </p:nvSpPr>
        <p:spPr>
          <a:xfrm>
            <a:off x="731520" y="150876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Tlamatini/agent/services/flow_knowledge.py</a:t>
            </a:r>
          </a:p>
        </p:txBody>
      </p:sp>
      <p:sp>
        <p:nvSpPr>
          <p:cNvPr id="10" name="TextBox 9"/>
          <p:cNvSpPr txBox="1"/>
          <p:nvPr/>
        </p:nvSpPr>
        <p:spPr>
          <a:xfrm>
            <a:off x="731520" y="170992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5,097 bytes; text; 115 physical / 95 effective lines</a:t>
            </a:r>
          </a:p>
        </p:txBody>
      </p:sp>
      <p:sp>
        <p:nvSpPr>
          <p:cNvPr id="11" name="TextBox 10"/>
          <p:cNvSpPr txBox="1"/>
          <p:nvPr/>
        </p:nvSpPr>
        <p:spPr>
          <a:xfrm>
            <a:off x="731520" y="198424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Tlamatini/agent/test_desktop_input_agents.py</a:t>
            </a:r>
          </a:p>
        </p:txBody>
      </p:sp>
      <p:sp>
        <p:nvSpPr>
          <p:cNvPr id="12" name="TextBox 11"/>
          <p:cNvSpPr txBox="1"/>
          <p:nvPr/>
        </p:nvSpPr>
        <p:spPr>
          <a:xfrm>
            <a:off x="731520" y="2185416"/>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20,204 bytes; text; 365 physical / 305 effective lines</a:t>
            </a:r>
          </a:p>
        </p:txBody>
      </p:sp>
      <p:sp>
        <p:nvSpPr>
          <p:cNvPr id="13" name="TextBox 12"/>
          <p:cNvSpPr txBox="1"/>
          <p:nvPr/>
        </p:nvSpPr>
        <p:spPr>
          <a:xfrm>
            <a:off x="731520" y="2459736"/>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Tlamatini/agent/test_flow_knowledge.py</a:t>
            </a:r>
          </a:p>
        </p:txBody>
      </p:sp>
      <p:sp>
        <p:nvSpPr>
          <p:cNvPr id="14" name="TextBox 13"/>
          <p:cNvSpPr txBox="1"/>
          <p:nvPr/>
        </p:nvSpPr>
        <p:spPr>
          <a:xfrm>
            <a:off x="731520" y="2660904"/>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18,938 bytes; text; 335 physical / 282 effective lines</a:t>
            </a:r>
          </a:p>
        </p:txBody>
      </p:sp>
      <p:sp>
        <p:nvSpPr>
          <p:cNvPr id="15" name="TextBox 14"/>
          <p:cNvSpPr txBox="1"/>
          <p:nvPr/>
        </p:nvSpPr>
        <p:spPr>
          <a:xfrm>
            <a:off x="731520" y="2935224"/>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Tlamatini/agent/test_latexer_styles.py</a:t>
            </a:r>
          </a:p>
        </p:txBody>
      </p:sp>
      <p:sp>
        <p:nvSpPr>
          <p:cNvPr id="16" name="TextBox 15"/>
          <p:cNvSpPr txBox="1"/>
          <p:nvPr/>
        </p:nvSpPr>
        <p:spPr>
          <a:xfrm>
            <a:off x="731520" y="3136392"/>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10,511 bytes; text; 186 physical / 159 effective lines</a:t>
            </a:r>
          </a:p>
        </p:txBody>
      </p:sp>
      <p:sp>
        <p:nvSpPr>
          <p:cNvPr id="17" name="TextBox 16"/>
          <p:cNvSpPr txBox="1"/>
          <p:nvPr/>
        </p:nvSpPr>
        <p:spPr>
          <a:xfrm>
            <a:off x="731520" y="3410712"/>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Tlamatini/agent/test_pdfer_styles.py</a:t>
            </a:r>
          </a:p>
        </p:txBody>
      </p:sp>
      <p:sp>
        <p:nvSpPr>
          <p:cNvPr id="18" name="TextBox 17"/>
          <p:cNvSpPr txBox="1"/>
          <p:nvPr/>
        </p:nvSpPr>
        <p:spPr>
          <a:xfrm>
            <a:off x="731520" y="3611880"/>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10,076 bytes; text; 192 physical / 163 effective lines</a:t>
            </a:r>
          </a:p>
        </p:txBody>
      </p:sp>
      <p:sp>
        <p:nvSpPr>
          <p:cNvPr id="19" name="TextBox 18"/>
          <p:cNvSpPr txBox="1"/>
          <p:nvPr/>
        </p:nvSpPr>
        <p:spPr>
          <a:xfrm>
            <a:off x="731520" y="388620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Tlamatini/agent/test_pptxer_agent.py</a:t>
            </a:r>
          </a:p>
        </p:txBody>
      </p:sp>
      <p:sp>
        <p:nvSpPr>
          <p:cNvPr id="20" name="TextBox 19"/>
          <p:cNvSpPr txBox="1"/>
          <p:nvPr/>
        </p:nvSpPr>
        <p:spPr>
          <a:xfrm>
            <a:off x="731520" y="408736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66,483 bytes; text; 1342 physical / 915 effective lines</a:t>
            </a:r>
          </a:p>
        </p:txBody>
      </p:sp>
      <p:sp>
        <p:nvSpPr>
          <p:cNvPr id="21" name="TextBox 20"/>
          <p:cNvSpPr txBox="1"/>
          <p:nvPr/>
        </p:nvSpPr>
        <p:spPr>
          <a:xfrm>
            <a:off x="731520" y="436168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Tlamatini/agent/test_pptxer_styles.py</a:t>
            </a:r>
          </a:p>
        </p:txBody>
      </p:sp>
      <p:sp>
        <p:nvSpPr>
          <p:cNvPr id="22" name="TextBox 21"/>
          <p:cNvSpPr txBox="1"/>
          <p:nvPr/>
        </p:nvSpPr>
        <p:spPr>
          <a:xfrm>
            <a:off x="731520" y="4562855"/>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6,230 bytes; text; 112 physical / 98 effective lines</a:t>
            </a:r>
          </a:p>
        </p:txBody>
      </p:sp>
      <p:sp>
        <p:nvSpPr>
          <p:cNvPr id="23" name="TextBox 22"/>
          <p:cNvSpPr txBox="1"/>
          <p:nvPr/>
        </p:nvSpPr>
        <p:spPr>
          <a:xfrm>
            <a:off x="731520" y="4837175"/>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Tlamatini/agent/test_pptxer_visibility.py</a:t>
            </a:r>
          </a:p>
        </p:txBody>
      </p:sp>
      <p:sp>
        <p:nvSpPr>
          <p:cNvPr id="24" name="TextBox 23"/>
          <p:cNvSpPr txBox="1"/>
          <p:nvPr/>
        </p:nvSpPr>
        <p:spPr>
          <a:xfrm>
            <a:off x="731520" y="5038343"/>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16,330 bytes; text; 307 physical / 263 effective lines</a:t>
            </a:r>
          </a:p>
        </p:txBody>
      </p:sp>
      <p:sp>
        <p:nvSpPr>
          <p:cNvPr id="25" name="TextBox 24"/>
          <p:cNvSpPr txBox="1"/>
          <p:nvPr/>
        </p:nvSpPr>
        <p:spPr>
          <a:xfrm>
            <a:off x="731520" y="5312663"/>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docs/GUI-Manager-design.md</a:t>
            </a:r>
          </a:p>
        </p:txBody>
      </p:sp>
      <p:sp>
        <p:nvSpPr>
          <p:cNvPr id="26" name="TextBox 25"/>
          <p:cNvSpPr txBox="1"/>
          <p:nvPr/>
        </p:nvSpPr>
        <p:spPr>
          <a:xfrm>
            <a:off x="731520" y="5513831"/>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40,346 bytes; text; 341 physical / 245 effective lines</a:t>
            </a:r>
          </a:p>
        </p:txBody>
      </p:sp>
      <p:sp>
        <p:nvSpPr>
          <p:cNvPr id="27" name="TextBox 26"/>
          <p:cNvSpPr txBox="1"/>
          <p:nvPr/>
        </p:nvSpPr>
        <p:spPr>
          <a:xfrm>
            <a:off x="731520" y="5788151"/>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docs/agent-coverage.md</a:t>
            </a:r>
          </a:p>
        </p:txBody>
      </p:sp>
      <p:sp>
        <p:nvSpPr>
          <p:cNvPr id="28" name="TextBox 27"/>
          <p:cNvSpPr txBox="1"/>
          <p:nvPr/>
        </p:nvSpPr>
        <p:spPr>
          <a:xfrm>
            <a:off x="731520" y="5989319"/>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7,370 bytes; text; 99 physical / 95 effective lines</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SINCE LAST COMMITTED DOSSIER, INCLUDING UNTRACKED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New Asset Inventory - 6</a:t>
            </a:r>
          </a:p>
        </p:txBody>
      </p:sp>
      <p:sp>
        <p:nvSpPr>
          <p:cNvPr id="9" name="TextBox 8"/>
          <p:cNvSpPr txBox="1"/>
          <p:nvPr/>
        </p:nvSpPr>
        <p:spPr>
          <a:xfrm>
            <a:off x="731520" y="150876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docs/desktop-input-and-flow-contracts.md</a:t>
            </a:r>
          </a:p>
        </p:txBody>
      </p:sp>
      <p:sp>
        <p:nvSpPr>
          <p:cNvPr id="10" name="TextBox 9"/>
          <p:cNvSpPr txBox="1"/>
          <p:nvPr/>
        </p:nvSpPr>
        <p:spPr>
          <a:xfrm>
            <a:off x="731520" y="170992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12,780 bytes; text; 101 physical / 67 effective lines</a:t>
            </a:r>
          </a:p>
        </p:txBody>
      </p:sp>
      <p:sp>
        <p:nvSpPr>
          <p:cNvPr id="11" name="TextBox 10"/>
          <p:cNvSpPr txBox="1"/>
          <p:nvPr/>
        </p:nvSpPr>
        <p:spPr>
          <a:xfrm>
            <a:off x="731520" y="198424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image.png</a:t>
            </a:r>
          </a:p>
        </p:txBody>
      </p:sp>
      <p:sp>
        <p:nvSpPr>
          <p:cNvPr id="12" name="TextBox 11"/>
          <p:cNvSpPr txBox="1"/>
          <p:nvPr/>
        </p:nvSpPr>
        <p:spPr>
          <a:xfrm>
            <a:off x="731520" y="2185416"/>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11,849 bytes; 586x160 RGBA; binary: no lines</a:t>
            </a:r>
          </a:p>
        </p:txBody>
      </p:sp>
      <p:sp>
        <p:nvSpPr>
          <p:cNvPr id="13" name="TextBox 12"/>
          <p:cNvSpPr txBox="1"/>
          <p:nvPr/>
        </p:nvSpPr>
        <p:spPr>
          <a:xfrm>
            <a:off x="731520" y="2459736"/>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scripts/pptxer_visibility_gallery.py</a:t>
            </a:r>
          </a:p>
        </p:txBody>
      </p:sp>
      <p:sp>
        <p:nvSpPr>
          <p:cNvPr id="14" name="TextBox 13"/>
          <p:cNvSpPr txBox="1"/>
          <p:nvPr/>
        </p:nvSpPr>
        <p:spPr>
          <a:xfrm>
            <a:off x="731520" y="2660904"/>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10,671 bytes; text; 94 physical / 84 effective lines</a:t>
            </a:r>
          </a:p>
        </p:txBody>
      </p:sp>
      <p:sp>
        <p:nvSpPr>
          <p:cNvPr id="15" name="TextBox 14"/>
          <p:cNvSpPr txBox="1"/>
          <p:nvPr/>
        </p:nvSpPr>
        <p:spPr>
          <a:xfrm>
            <a:off x="731520" y="2935224"/>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scripts/update_flow_catalog.py</a:t>
            </a:r>
          </a:p>
        </p:txBody>
      </p:sp>
      <p:sp>
        <p:nvSpPr>
          <p:cNvPr id="16" name="TextBox 15"/>
          <p:cNvSpPr txBox="1"/>
          <p:nvPr/>
        </p:nvSpPr>
        <p:spPr>
          <a:xfrm>
            <a:off x="731520" y="3136392"/>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3,183 bytes; text; 65 physical / 50 effective lines</a:t>
            </a:r>
          </a:p>
        </p:txBody>
      </p:sp>
      <p:sp>
        <p:nvSpPr>
          <p:cNvPr id="17" name="TextBox 16"/>
          <p:cNvSpPr txBox="1"/>
          <p:nvPr/>
        </p:nvSpPr>
        <p:spPr>
          <a:xfrm>
            <a:off x="731520" y="3410712"/>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scripts/verify_latexer_styles.py</a:t>
            </a:r>
          </a:p>
        </p:txBody>
      </p:sp>
      <p:sp>
        <p:nvSpPr>
          <p:cNvPr id="18" name="TextBox 17"/>
          <p:cNvSpPr txBox="1"/>
          <p:nvPr/>
        </p:nvSpPr>
        <p:spPr>
          <a:xfrm>
            <a:off x="731520" y="3611880"/>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15,260 bytes; text; 246 physical / 205 effective lines</a:t>
            </a:r>
          </a:p>
        </p:txBody>
      </p:sp>
      <p:sp>
        <p:nvSpPr>
          <p:cNvPr id="19" name="TextBox 18"/>
          <p:cNvSpPr txBox="1"/>
          <p:nvPr/>
        </p:nvSpPr>
        <p:spPr>
          <a:xfrm>
            <a:off x="731520" y="388620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scripts/verify_pdfer_styles.py</a:t>
            </a:r>
          </a:p>
        </p:txBody>
      </p:sp>
      <p:sp>
        <p:nvSpPr>
          <p:cNvPr id="20" name="TextBox 19"/>
          <p:cNvSpPr txBox="1"/>
          <p:nvPr/>
        </p:nvSpPr>
        <p:spPr>
          <a:xfrm>
            <a:off x="731520" y="408736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11,218 bytes; text; 151 physical / 130 effective lines</a:t>
            </a:r>
          </a:p>
        </p:txBody>
      </p:sp>
      <p:sp>
        <p:nvSpPr>
          <p:cNvPr id="21" name="TextBox 20"/>
          <p:cNvSpPr txBox="1"/>
          <p:nvPr/>
        </p:nvSpPr>
        <p:spPr>
          <a:xfrm>
            <a:off x="731520" y="436168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scripts/verify_pptxer_layout.py</a:t>
            </a:r>
          </a:p>
        </p:txBody>
      </p:sp>
      <p:sp>
        <p:nvSpPr>
          <p:cNvPr id="22" name="TextBox 21"/>
          <p:cNvSpPr txBox="1"/>
          <p:nvPr/>
        </p:nvSpPr>
        <p:spPr>
          <a:xfrm>
            <a:off x="731520" y="4562855"/>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10,276 bytes; text; 163 physical / 138 effective lines</a:t>
            </a:r>
          </a:p>
        </p:txBody>
      </p:sp>
      <p:sp>
        <p:nvSpPr>
          <p:cNvPr id="23" name="TextBox 22"/>
          <p:cNvSpPr txBox="1"/>
          <p:nvPr/>
        </p:nvSpPr>
        <p:spPr>
          <a:xfrm>
            <a:off x="731520" y="4837175"/>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scripts/verify_pptxer_styles.py</a:t>
            </a:r>
          </a:p>
        </p:txBody>
      </p:sp>
      <p:sp>
        <p:nvSpPr>
          <p:cNvPr id="24" name="TextBox 23"/>
          <p:cNvSpPr txBox="1"/>
          <p:nvPr/>
        </p:nvSpPr>
        <p:spPr>
          <a:xfrm>
            <a:off x="731520" y="5038343"/>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8,012 bytes; text; 132 physical / 118 effective lines</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FUTURE REFRESH DISCIPLINE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To Keep Docs Excellent</a:t>
            </a:r>
          </a:p>
        </p:txBody>
      </p:sp>
      <p:sp>
        <p:nvSpPr>
          <p:cNvPr id="9" name="Rounded Rectangle 8"/>
          <p:cNvSpPr/>
          <p:nvPr/>
        </p:nvSpPr>
        <p:spPr>
          <a:xfrm>
            <a:off x="777240" y="1600200"/>
            <a:ext cx="1056132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158984" cy="310896"/>
          </a:xfrm>
          <a:prstGeom prst="rect">
            <a:avLst/>
          </a:prstGeom>
          <a:noFill/>
        </p:spPr>
        <p:txBody>
          <a:bodyPr wrap="square" anchor="t" lIns="12700" rIns="76200" tIns="12700" bIns="12700">
            <a:normAutofit/>
          </a:bodyPr>
          <a:lstStyle/>
          <a:p>
            <a:pPr algn="l"/>
            <a:r>
              <a:rPr sz="1400" b="1">
                <a:solidFill>
                  <a:srgbClr val="C48052"/>
                </a:solidFill>
                <a:latin typeface="Aptos"/>
              </a:rPr>
              <a:t>Recommended practice</a:t>
            </a:r>
          </a:p>
        </p:txBody>
      </p:sp>
      <p:sp>
        <p:nvSpPr>
          <p:cNvPr id="12" name="TextBox 11"/>
          <p:cNvSpPr txBox="1"/>
          <p:nvPr/>
        </p:nvSpPr>
        <p:spPr>
          <a:xfrm>
            <a:off x="978408" y="2258568"/>
            <a:ext cx="10158984" cy="3401568"/>
          </a:xfrm>
          <a:prstGeom prst="rect">
            <a:avLst/>
          </a:prstGeom>
          <a:noFill/>
        </p:spPr>
        <p:txBody>
          <a:bodyPr wrap="square" anchor="t" lIns="12700" rIns="76200" tIns="25400" bIns="25400">
            <a:normAutofit/>
          </a:bodyPr>
          <a:lstStyle/>
          <a:p>
            <a:pPr>
              <a:spcAft>
                <a:spcPts val="400"/>
              </a:spcAft>
              <a:defRPr sz="1700">
                <a:solidFill>
                  <a:srgbClr val="B4BAAE"/>
                </a:solidFill>
                <a:latin typeface="Aptos"/>
              </a:defRPr>
            </a:pPr>
            <a:r>
              <a:t>Regenerate the PDF and deck whenever README, architecture, agent catalog, line inventory, or packaging behavior changes.</a:t>
            </a:r>
          </a:p>
          <a:p>
            <a:pPr>
              <a:spcAft>
                <a:spcPts val="400"/>
              </a:spcAft>
              <a:defRPr sz="1700">
                <a:solidFill>
                  <a:srgbClr val="B4BAAE"/>
                </a:solidFill>
                <a:latin typeface="Aptos"/>
              </a:defRPr>
            </a:pPr>
            <a:r>
              <a:t>Keep the PDF exhaustive and evidence-heavy; keep the PPT visual, split dense appendices, and audit geometry before delivery.</a:t>
            </a:r>
          </a:p>
          <a:p>
            <a:pPr>
              <a:spcAft>
                <a:spcPts val="400"/>
              </a:spcAft>
              <a:defRPr sz="1700">
                <a:solidFill>
                  <a:srgbClr val="B4BAAE"/>
                </a:solidFill>
                <a:latin typeface="Aptos"/>
              </a:defRPr>
            </a:pPr>
            <a:r>
              <a:t>Use the new Skills in `.codex/skills/` so future refreshes follow the same no-overlap and full-dossier rules.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Tlamatini eXtended Artificial Intelligence Humanly Tempered</dc:title>
  <dc:subject>Complete technical project dossier</dc:subject>
  <dc:creator>Angela López Mendoza</dc:creator>
  <cp:keywords/>
  <dc:description>Generated from the Tlamatini repository by the deterministic project dossier workflow.</dc:description>
  <cp:lastModifiedBy>Angela López Mendoza</cp:lastModifiedBy>
  <cp:revision>1</cp:revision>
  <dcterms:created xsi:type="dcterms:W3CDTF">2013-01-27T09:14:16Z</dcterms:created>
  <dcterms:modified xsi:type="dcterms:W3CDTF">2013-01-27T09:15:58Z</dcterms:modified>
  <cp:category/>
</cp:coreProperties>
</file>