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029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99A3B"/>
                </a:solidFill>
                <a:latin typeface="Arial"/>
              </a:rPr>
              <a:t>XAIHT | eXtended Artificial Intelligence Humanly Tempered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AFAF8"/>
                </a:solidFill>
                <a:latin typeface="Arial"/>
              </a:rPr>
              <a:t>TLAMATINI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993392"/>
            <a:ext cx="10607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E1E7ED"/>
                </a:solidFill>
                <a:latin typeface="Arial"/>
              </a:rPr>
              <a:t>Plataforma local-first de asistencia técnica con RAG code-aware, tools y automatización visual auditada contra el árbol actual.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4480560"/>
            <a:ext cx="3520440" cy="822960"/>
          </a:xfrm>
          <a:prstGeom prst="roundRect">
            <a:avLst/>
          </a:prstGeom>
          <a:solidFill>
            <a:srgbClr val="224A7A"/>
          </a:solidFill>
          <a:ln>
            <a:solidFill>
              <a:srgbClr val="22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AFAF8"/>
                </a:solidFill>
                <a:latin typeface="Arial"/>
              </a:rPr>
              <a:t>HEAD actual
e3d77576b0c9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42232" y="4480560"/>
            <a:ext cx="3520440" cy="822960"/>
          </a:xfrm>
          <a:prstGeom prst="roundRect">
            <a:avLst/>
          </a:prstGeom>
          <a:solidFill>
            <a:srgbClr val="375C3F"/>
          </a:solidFill>
          <a:ln>
            <a:solidFill>
              <a:srgbClr val="375C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AFAF8"/>
                </a:solidFill>
                <a:latin typeface="Arial"/>
              </a:rPr>
              <a:t>54 plantillas de agente
101 rutas 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2984" y="4480560"/>
            <a:ext cx="3520440" cy="822960"/>
          </a:xfrm>
          <a:prstGeom prst="roundRect">
            <a:avLst/>
          </a:prstGeom>
          <a:solidFill>
            <a:srgbClr val="794A2A"/>
          </a:solidFill>
          <a:ln>
            <a:solidFill>
              <a:srgbClr val="794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AFAF8"/>
                </a:solidFill>
                <a:latin typeface="Arial"/>
              </a:rPr>
              <a:t>Código + README + PDF
Deck previo auditado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57784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E2E6EB"/>
                </a:solidFill>
                <a:latin typeface="Arial"/>
              </a:rPr>
              <a:t>Deck reconstruido desde el código fuente, README, PDF vigente y auditoría del deck anterior.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F5F6F8"/>
                </a:solidFill>
                <a:latin typeface="Arial"/>
              </a:rPr>
              <a:t>Tlamatini | 29 mar 2026 | e3d77576b0c9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MAPA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Agenda ejecutiva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La nueva narrativa se ordena por verdad de código, operación real y caveats actuales.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566160" cy="114300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01 Estado actual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Artefactos auditados, commit activo y snapshot verificado.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417320"/>
            <a:ext cx="3566160" cy="1143000"/>
          </a:xfrm>
          <a:prstGeom prst="roundRect">
            <a:avLst/>
          </a:prstGeom>
          <a:solidFill>
            <a:srgbClr val="F7F0E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02 Producto y arquitectura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Qué es Tlamatini, quién lo usa y cómo procesa una solicitud.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1417320"/>
            <a:ext cx="3566160" cy="1143000"/>
          </a:xfrm>
          <a:prstGeom prst="roundRect">
            <a:avLst/>
          </a:prstGeom>
          <a:solidFill>
            <a:srgbClr val="ECF5F0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03 ACP y agentes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Canvas, pausa, reanimación, validación y mapa de 54 agentes.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788920"/>
            <a:ext cx="3566160" cy="1143000"/>
          </a:xfrm>
          <a:prstGeom prst="roundRect">
            <a:avLst/>
          </a:prstGeom>
          <a:solidFill>
            <a:srgbClr val="ECF5F0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04 Operación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Seguridad, superficies HTTP/WS, persistencia y release.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788920"/>
            <a:ext cx="3566160" cy="114300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05 Documentación honesta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Qué ya coincide con el código y qué todavía deriva.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788920"/>
            <a:ext cx="3566160" cy="1143000"/>
          </a:xfrm>
          <a:prstGeom prst="roundRect">
            <a:avLst/>
          </a:prstGeom>
          <a:solidFill>
            <a:srgbClr val="F7F0E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06 Estado actual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Pruebas, fallos abiertos y lectura final de XAIHT.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ESTADO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Qué artefacto estaba desactualizado y cuál sigue vigente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Se auditó código fuente, PDF, README y deck anterior antes de reescribir la presentación.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1880" cy="201168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Fuente de verdad hoy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HEAD actual: e3d77576b0c9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311 archivos rastreados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54 agentes / 101 rutas 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417320"/>
            <a:ext cx="3611880" cy="2011680"/>
          </a:xfrm>
          <a:prstGeom prst="roundRect">
            <a:avLst/>
          </a:prstGeom>
          <a:solidFill>
            <a:srgbClr val="ECF5F0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PDF vigente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Anchor del PDF: 47e19f6f45d3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El PDF ya refleja 54 agentes, 101 rutas y Barrier.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Diff contra HEAD: solo cambia el PDF.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2011680"/>
          </a:xfrm>
          <a:prstGeom prst="roundRect">
            <a:avLst/>
          </a:prstGeom>
          <a:solidFill>
            <a:srgbClr val="F8EDEE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BF6635"/>
                </a:solidFill>
                <a:latin typeface="Arial"/>
              </a:rPr>
              <a:t>Deck anterior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Anchor detectado: 0b8c42d5f531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Seguía en 53 agentes y 100 rutas.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No cubría Barrier y mezclaba métricas ya superadas.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657600"/>
            <a:ext cx="11292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Conclusión de auditoría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El PDF actual ya era una buena base técnica; el documento realmente obsoleto era el PowerPoint. Esta versión lo reemplaza por completo con cifras, caveats y superficies verificadas al 29 de marzo de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Snapshot verificado del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Métricas recomputadas desde el árbol actual; no heredadas del deck ni del README.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1880" cy="141732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ctr"/>
            <a:r>
              <a:rPr sz="1250" b="1">
                <a:solidFill>
                  <a:srgbClr val="173B6C"/>
                </a:solidFill>
                <a:latin typeface="Arial"/>
              </a:rPr>
              <a:t>HEAD actual</a:t>
            </a:r>
          </a:p>
          <a:p>
            <a:pPr algn="ctr"/>
            <a:r>
              <a:rPr sz="1600">
                <a:solidFill>
                  <a:srgbClr val="222D39"/>
                </a:solidFill>
                <a:latin typeface="Arial"/>
              </a:rPr>
              <a:t>e3d77576b0c9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4528" y="1417320"/>
            <a:ext cx="36118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ctr"/>
            <a:r>
              <a:rPr sz="1250" b="1">
                <a:solidFill>
                  <a:srgbClr val="173B6C"/>
                </a:solidFill>
                <a:latin typeface="Arial"/>
              </a:rPr>
              <a:t>Archivos rastreados</a:t>
            </a:r>
          </a:p>
          <a:p>
            <a:pPr algn="ctr"/>
            <a:r>
              <a:rPr sz="1600">
                <a:solidFill>
                  <a:srgbClr val="222D39"/>
                </a:solidFill>
                <a:latin typeface="Arial"/>
              </a:rPr>
              <a:t>311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37576" y="1417320"/>
            <a:ext cx="3611880" cy="141732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ctr"/>
            <a:r>
              <a:rPr sz="1250" b="1">
                <a:solidFill>
                  <a:srgbClr val="173B6C"/>
                </a:solidFill>
                <a:latin typeface="Arial"/>
              </a:rPr>
              <a:t>Python / líneas</a:t>
            </a:r>
          </a:p>
          <a:p>
            <a:pPr algn="ctr"/>
            <a:r>
              <a:rPr sz="1600">
                <a:solidFill>
                  <a:srgbClr val="222D39"/>
                </a:solidFill>
                <a:latin typeface="Arial"/>
              </a:rPr>
              <a:t>183 / 53,059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063240"/>
            <a:ext cx="36118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ctr"/>
            <a:r>
              <a:rPr sz="1250" b="1">
                <a:solidFill>
                  <a:srgbClr val="173B6C"/>
                </a:solidFill>
                <a:latin typeface="Arial"/>
              </a:rPr>
              <a:t>JavaScript / líneas</a:t>
            </a:r>
          </a:p>
          <a:p>
            <a:pPr algn="ctr"/>
            <a:r>
              <a:rPr sz="1600">
                <a:solidFill>
                  <a:srgbClr val="222D39"/>
                </a:solidFill>
                <a:latin typeface="Arial"/>
              </a:rPr>
              <a:t>24 / 11,823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3063240"/>
            <a:ext cx="3611880" cy="141732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ctr"/>
            <a:r>
              <a:rPr sz="1250" b="1">
                <a:solidFill>
                  <a:srgbClr val="173B6C"/>
                </a:solidFill>
                <a:latin typeface="Arial"/>
              </a:rPr>
              <a:t>Plantillas de agente</a:t>
            </a:r>
          </a:p>
          <a:p>
            <a:pPr algn="ctr"/>
            <a:r>
              <a:rPr sz="1600">
                <a:solidFill>
                  <a:srgbClr val="222D39"/>
                </a:solidFill>
                <a:latin typeface="Arial"/>
              </a:rPr>
              <a:t>54 (sin pools)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3063240"/>
            <a:ext cx="36118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ctr"/>
            <a:r>
              <a:rPr sz="1250" b="1">
                <a:solidFill>
                  <a:srgbClr val="173B6C"/>
                </a:solidFill>
                <a:latin typeface="Arial"/>
              </a:rPr>
              <a:t>Rutas / modelos</a:t>
            </a:r>
          </a:p>
          <a:p>
            <a:pPr algn="ctr"/>
            <a:r>
              <a:rPr sz="1600">
                <a:solidFill>
                  <a:srgbClr val="222D39"/>
                </a:solidFill>
                <a:latin typeface="Arial"/>
              </a:rPr>
              <a:t>101 app + 3 proy + 1 ws | 12 modelos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572000"/>
            <a:ext cx="11292840" cy="868680"/>
          </a:xfrm>
          <a:prstGeom prst="roundRect">
            <a:avLst/>
          </a:prstGeom>
          <a:solidFill>
            <a:srgbClr val="F7F0E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Lectura rápida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El árbol actual mantiene la arquitectura grande y establecida, pero ya es claramente más amplio que el deck anterior: 54 agentes visuales, 101 rutas app y la nueva superficie Barrier integrada en frontend, backend, migraciones y documentación.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PRODUCTO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Qué es Tlamatini y para quién existe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La aplicación actual ya no es solo chat: es una plataforma técnica con control visual y operación empaquetable.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1880" cy="182880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Definición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Asistente técnico local-first construido sobre Django/Channels que combina chat WebSocket, RAG de código, tools y un panel agentico para automatización visual.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417320"/>
            <a:ext cx="3611880" cy="1828800"/>
          </a:xfrm>
          <a:prstGeom prst="roundRect">
            <a:avLst/>
          </a:prstGeom>
          <a:solidFill>
            <a:srgbClr val="F7F0E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Usuarios objetivo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Desarrollo, sistemas, bases de datos, analítica y operación. El producto está diseñado para usuarios técnicos que necesitan contexto local y ejecución controlada.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1828800"/>
          </a:xfrm>
          <a:prstGeom prst="roundRect">
            <a:avLst/>
          </a:prstGeom>
          <a:solidFill>
            <a:srgbClr val="ECF5F0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Valor real hoy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RAG consciente del código, surfaces de tools, 54 agentes visuales, pausa/reanudación, release empaquetado y una historia honesta de hardening y caveats.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474720"/>
            <a:ext cx="11292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Filosofía XAIHT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Humanly Tempered significa control explícito: contexto, tools, agentes, pausa, reanimación y reinicio se activan por superficie visible; no hay un relato legítimo de autonomía opaca escondida detrás del producto.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PRODUCTO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Superficies de usuario y modos de uso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Cinco superficies visibles concentran casi toda la experiencia operativa.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1880" cy="141732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Autenticación</a:t>
            </a:r>
          </a:p>
          <a:p>
            <a:pPr algn="l"/>
            <a:r>
              <a:rPr sz="1050">
                <a:solidFill>
                  <a:srgbClr val="222D39"/>
                </a:solidFill>
                <a:latin typeface="Arial"/>
              </a:rPr>
              <a:t>Login Django, welcome y aislamiento por usuario.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4528" y="1417320"/>
            <a:ext cx="3611880" cy="1417320"/>
          </a:xfrm>
          <a:prstGeom prst="roundRect">
            <a:avLst/>
          </a:prstGeom>
          <a:solidFill>
            <a:srgbClr val="F7F0E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Chat en tiempo real</a:t>
            </a:r>
          </a:p>
          <a:p>
            <a:pPr algn="l"/>
            <a:r>
              <a:rPr sz="1050">
                <a:solidFill>
                  <a:srgbClr val="222D39"/>
                </a:solidFill>
                <a:latin typeface="Arial"/>
              </a:rPr>
              <a:t>WebSocket autenticado, streaming, cancelación y restauración de sesión.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37576" y="1417320"/>
            <a:ext cx="3611880" cy="1417320"/>
          </a:xfrm>
          <a:prstGeom prst="roundRect">
            <a:avLst/>
          </a:prstGeom>
          <a:solidFill>
            <a:srgbClr val="ECF5F0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Canvas de código</a:t>
            </a:r>
          </a:p>
          <a:p>
            <a:pPr algn="l"/>
            <a:r>
              <a:rPr sz="1050">
                <a:solidFill>
                  <a:srgbClr val="222D39"/>
                </a:solidFill>
                <a:latin typeface="Arial"/>
              </a:rPr>
              <a:t>Ver, editar y persistir contenido SQLite desde la interfaz.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035808"/>
            <a:ext cx="3611880" cy="1417320"/>
          </a:xfrm>
          <a:prstGeom prst="roundRect">
            <a:avLst/>
          </a:prstGeom>
          <a:solidFill>
            <a:srgbClr val="F8EDEE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Agentic Control Panel</a:t>
            </a:r>
          </a:p>
          <a:p>
            <a:pPr algn="l"/>
            <a:r>
              <a:rPr sz="1050">
                <a:solidFill>
                  <a:srgbClr val="222D39"/>
                </a:solidFill>
                <a:latin typeface="Arial"/>
              </a:rPr>
              <a:t>Drag-and-drop, logs, validación, start/stop/pause y wiring automático.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3035808"/>
            <a:ext cx="36118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Open in...</a:t>
            </a:r>
          </a:p>
          <a:p>
            <a:pPr algn="l"/>
            <a:r>
              <a:rPr sz="1050">
                <a:solidFill>
                  <a:srgbClr val="222D39"/>
                </a:solidFill>
                <a:latin typeface="Arial"/>
              </a:rPr>
              <a:t>detect_installed_apps + open_in_app para VS Code, Antigravity y Explorer.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3035808"/>
            <a:ext cx="3611880" cy="1417320"/>
          </a:xfrm>
          <a:prstGeom prst="roundRect">
            <a:avLst/>
          </a:prstGeom>
          <a:solidFill>
            <a:srgbClr val="E9EFF5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Empaquetado Windows</a:t>
            </a:r>
          </a:p>
          <a:p>
            <a:pPr algn="l"/>
            <a:r>
              <a:rPr sz="1050">
                <a:solidFill>
                  <a:srgbClr val="222D39"/>
                </a:solidFill>
                <a:latin typeface="Arial"/>
              </a:rPr>
              <a:t>PyInstaller, instalador GUI y desinstalador para operación distribuible.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Capas del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El flujo completo une navegador, aplicación Django, RAG, herramientas, MCP y persistencia local.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5577840" cy="132588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Navegador</a:t>
            </a:r>
          </a:p>
          <a:p>
            <a:pPr algn="l"/>
            <a:r>
              <a:rPr sz="1060">
                <a:solidFill>
                  <a:srgbClr val="222D39"/>
                </a:solidFill>
                <a:latin typeface="Arial"/>
              </a:rPr>
              <a:t>Chat, canvas, ACP y “Open in...” en una interfaz web única.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17320"/>
            <a:ext cx="5577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Django + Channels</a:t>
            </a:r>
          </a:p>
          <a:p>
            <a:pPr algn="l"/>
            <a:r>
              <a:rPr sz="1060">
                <a:solidFill>
                  <a:srgbClr val="222D39"/>
                </a:solidFill>
                <a:latin typeface="Arial"/>
              </a:rPr>
              <a:t>views.py, AgentConsumer, rutas HTTP, WebSocket autenticado y SessionState.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944368"/>
            <a:ext cx="5577840" cy="132588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Subsistema RAG</a:t>
            </a:r>
          </a:p>
          <a:p>
            <a:pPr algn="l"/>
            <a:r>
              <a:rPr sz="1060">
                <a:solidFill>
                  <a:srgbClr val="222D39"/>
                </a:solidFill>
                <a:latin typeface="Arial"/>
              </a:rPr>
              <a:t>Loaders, embeddings, FAISS + BM25 + RRF, compresión y budgeting.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944368"/>
            <a:ext cx="5577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Agente unificado + tools</a:t>
            </a:r>
          </a:p>
          <a:p>
            <a:pPr algn="l"/>
            <a:r>
              <a:rPr sz="1060">
                <a:solidFill>
                  <a:srgbClr val="222D39"/>
                </a:solidFill>
                <a:latin typeface="Arial"/>
              </a:rPr>
              <a:t>LangGraph / cadenas, tool calling y control de agentes/archivos/comandos.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4471416"/>
            <a:ext cx="5577840" cy="132588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MCP e integraciones</a:t>
            </a:r>
          </a:p>
          <a:p>
            <a:pPr algn="l"/>
            <a:r>
              <a:rPr sz="1060">
                <a:solidFill>
                  <a:srgbClr val="222D39"/>
                </a:solidFill>
                <a:latin typeface="Arial"/>
              </a:rPr>
              <a:t>MCP system por WebSocket y file-search por gRPC, más web search y backends externos.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471416"/>
            <a:ext cx="5577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Persistencia y runtime</a:t>
            </a:r>
          </a:p>
          <a:p>
            <a:pPr algn="l"/>
            <a:r>
              <a:rPr sz="1060">
                <a:solidFill>
                  <a:srgbClr val="222D39"/>
                </a:solidFill>
                <a:latin typeface="Arial"/>
              </a:rPr>
              <a:t>SQLite, logs, PID files, reanim* state, pools por sesión y archivos de release.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Flujo de una solicitud y pipeline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El camino operativo real mezcla contexto persistente, recuperación híbrida y tools; no es solo un prompt directo.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1880" cy="182880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Ingreso y contexto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WebSocket autenticado y restauración opcional de sesión.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Contexto desde historial, directorios, archivos y canvas.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Cancelación y limpieza expuestas al usuario.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417320"/>
            <a:ext cx="3611880" cy="1828800"/>
          </a:xfrm>
          <a:prstGeom prst="roundRect">
            <a:avLst/>
          </a:prstGeom>
          <a:solidFill>
            <a:srgbClr val="F7F0E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RAG real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Embeddings + FAISS + BM25 + Reciprocal Rank Fusion.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Compresión y budgeting por bandas 60/20/15/5.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Clasificación de internet y filtros de contexto antes de invocar modelo.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1828800"/>
          </a:xfrm>
          <a:prstGeom prst="roundRect">
            <a:avLst/>
          </a:prstGeom>
          <a:solidFill>
            <a:srgbClr val="ECF5F0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Respuesta y ejecución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LangGraph/cadenas unificadas, tool calling y salida final.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Persistencia de archivos y acciones cuando la superficie lo permite.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El sistema prioriza control visible sobre automatización opaca.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474720"/>
            <a:ext cx="11292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Lectura operativa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La arquitectura conversa con contexto local, herramientas y recuperación antes de responder. Ese diseño explica por qué Tlamatini sirve como plataforma técnica y no únicamente como una UI de chat con un solo modelo detrás.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Modelos, tools, MCP e integraciones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La configuración actual del repo ya no coincide con varios ejemplos viejos del README; aquí se muestra lo que realmente está en config.json.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57600" cy="214884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Defaults actuales de modelo</a:t>
            </a:r>
          </a:p>
          <a:p>
            <a:pPr algn="l"/>
            <a:r>
              <a:rPr sz="1050">
                <a:solidFill>
                  <a:srgbClr val="222D39"/>
                </a:solidFill>
                <a:latin typeface="Arial"/>
              </a:rPr>
              <a:t>Embedding: qwen3-embedding:8b</a:t>
            </a:r>
          </a:p>
          <a:p>
            <a:pPr algn="l"/>
            <a:r>
              <a:rPr sz="1050">
                <a:solidFill>
                  <a:srgbClr val="222D39"/>
                </a:solidFill>
                <a:latin typeface="Arial"/>
              </a:rPr>
              <a:t>Chained: glm-5:cloud</a:t>
            </a:r>
          </a:p>
          <a:p>
            <a:pPr algn="l"/>
            <a:r>
              <a:rPr sz="1050">
                <a:solidFill>
                  <a:srgbClr val="222D39"/>
                </a:solidFill>
                <a:latin typeface="Arial"/>
              </a:rPr>
              <a:t>Unified agent: glm-5:cloud</a:t>
            </a:r>
          </a:p>
          <a:p>
            <a:pPr algn="l"/>
            <a:r>
              <a:rPr sz="1050">
                <a:solidFill>
                  <a:srgbClr val="222D39"/>
                </a:solidFill>
                <a:latin typeface="Arial"/>
              </a:rPr>
              <a:t>Image interpreter: qwen3.5:cloud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417320"/>
            <a:ext cx="3657600" cy="2148840"/>
          </a:xfrm>
          <a:prstGeom prst="roundRect">
            <a:avLst/>
          </a:prstGeom>
          <a:solidFill>
            <a:srgbClr val="F7F0E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Más configuración real</a:t>
            </a:r>
          </a:p>
          <a:p>
            <a:pPr algn="l"/>
            <a:r>
              <a:rPr sz="1050">
                <a:solidFill>
                  <a:srgbClr val="222D39"/>
                </a:solidFill>
                <a:latin typeface="Arial"/>
              </a:rPr>
              <a:t>Internet classifier: glm-5:cloud</a:t>
            </a:r>
          </a:p>
          <a:p>
            <a:pPr algn="l"/>
            <a:r>
              <a:rPr sz="1050">
                <a:solidFill>
                  <a:srgbClr val="222D39"/>
                </a:solidFill>
                <a:latin typeface="Arial"/>
              </a:rPr>
              <a:t>Web summarizer: glm-5:cloud</a:t>
            </a:r>
          </a:p>
          <a:p>
            <a:pPr algn="l"/>
            <a:r>
              <a:rPr sz="1050">
                <a:solidFill>
                  <a:srgbClr val="222D39"/>
                </a:solidFill>
                <a:latin typeface="Arial"/>
              </a:rPr>
              <a:t>MCP file search: glm-5:cloud</a:t>
            </a:r>
          </a:p>
          <a:p>
            <a:pPr algn="l"/>
            <a:r>
              <a:rPr sz="1050">
                <a:solidFill>
                  <a:srgbClr val="222D39"/>
                </a:solidFill>
                <a:latin typeface="Arial"/>
              </a:rPr>
              <a:t>Mensajes WebSocket explícitos: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2148840"/>
          </a:xfrm>
          <a:prstGeom prst="roundRect">
            <a:avLst/>
          </a:prstGeom>
          <a:solidFill>
            <a:srgbClr val="ECF5F0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Superficies externas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MCP system por WebSocket local y file-search por gRPC local.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Tool calling para archivos, shell, web, agentes y conectores.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La huella de integración es amplia, pero sigue mediada por configuración y 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794760"/>
            <a:ext cx="11292840" cy="914400"/>
          </a:xfrm>
          <a:prstGeom prst="roundRect">
            <a:avLst/>
          </a:prstGeom>
          <a:solidFill>
            <a:srgbClr val="F8EDEE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BF6635"/>
                </a:solidFill>
                <a:latin typeface="Arial"/>
              </a:rPr>
              <a:t>Caveat honesto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Los ejemplos del README que siguen mostrando bge-m3 o modelos deepseek ya no representan los defaults versionados hoy. El código checked-in apunta a una familia qwen/glm distinta.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ACP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Agentic Control Panel / Flow Designer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El archivo de entrada visible sigue siendo agentic_control_panel.html, respaldado por una gran capa JS y varias views dedicadas.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1880" cy="182880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Qué hace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Canvas drag-and-drop con agentes, wiring y guardado .flw.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Polling, logs, LEDs, restart, undo/redo y sesiones por pool.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Control de ejecución desde la interfaz, no desde consola.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417320"/>
            <a:ext cx="3611880" cy="1828800"/>
          </a:xfrm>
          <a:prstGeom prst="roundRect">
            <a:avLst/>
          </a:prstGeom>
          <a:solidFill>
            <a:srgbClr val="F7F0E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Superficie backend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101 rutas app en total.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51 rutas update_* para configuración del canvas.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Views específicas para pausa, reanimación, validación y limpieza de estado.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1828800"/>
          </a:xfrm>
          <a:prstGeom prst="roundRect">
            <a:avLst/>
          </a:prstGeom>
          <a:solidFill>
            <a:srgbClr val="ECF5F0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Persistencia de flujo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Los agentes se despliegan a pools por sesión.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Se guardan archivos de wiring, logs, pid y estado de reanimación.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El diseñador es una superficie operacional, no un mockup conceptual.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474720"/>
            <a:ext cx="11292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Interpretación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El ACP es la diferencia principal frente a asistentes locales más simples: permite describir flujos persistentes, visibles y controlables con agentes especializados y reglas de validación antes de ejecutar.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ACP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Pause, Stop, and Reanimation of 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El comportamiento correcto se deriva del código del ACP y no de versiones antiguas del README.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57600" cy="201168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Pause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Captura el conjunto vivo en paused_agents.reanim.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Detiene los procesos de la sesión sin perder el punto del flujo.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Sirve para flujos largos y para cortar consumo adicional de agentes no deterministas.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417320"/>
            <a:ext cx="3657600" cy="2011680"/>
          </a:xfrm>
          <a:prstGeom prst="roundRect">
            <a:avLst/>
          </a:prstGeom>
          <a:solidFill>
            <a:srgbClr val="ECF5F0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Resume / Reanimate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Start desde PAUSED reanima en vez de iniciar desde cero.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Pause pulsado otra vez en estado PAUSED también entra por resume.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Los agentes relanzados reciben AGENT_REANIMATED=1.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2011680"/>
          </a:xfrm>
          <a:prstGeom prst="roundRect">
            <a:avLst/>
          </a:prstGeom>
          <a:solidFill>
            <a:srgbClr val="F8EDEE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BF6635"/>
                </a:solidFill>
                <a:latin typeface="Arial"/>
              </a:rPr>
              <a:t>Stop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Stop corta la ejecución y cierra la ruta de reanimación.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El siguiente Start es un arranque fresco.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El ACP limpia archivos .pos y resetea el estado visible del flujo.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657600"/>
            <a:ext cx="112928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Semántica visual actual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Los LEDs del ACP distinguen ejecución real: verde en running, amarillo parpadeante en paused, gris en stopped y rojo cuando un nodo esperado como RUNNING no está corriendo. Esa semántica ya está adaptada en el README nuevo.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ACP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Validación, Barrier y FlowBacker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El diseñador actual ya incorpora reglas de topología y un nuevo nodo de sincronización real.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1880" cy="205740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Reglas de validación</a:t>
            </a:r>
          </a:p>
          <a:p>
            <a:pPr algn="l"/>
            <a:r>
              <a:rPr sz="1000">
                <a:solidFill>
                  <a:srgbClr val="222D39"/>
                </a:solidFill>
                <a:latin typeface="Arial"/>
              </a:rPr>
              <a:t>Ender solo puede descargar en Cleaner o FlowBacker.</a:t>
            </a:r>
          </a:p>
          <a:p>
            <a:pPr algn="l"/>
            <a:r>
              <a:rPr sz="1000">
                <a:solidFill>
                  <a:srgbClr val="222D39"/>
                </a:solidFill>
                <a:latin typeface="Arial"/>
              </a:rPr>
              <a:t>Cleaner solo admite Ender o FlowBacker como entrada y no permite mezclar ambos en una rama.</a:t>
            </a:r>
          </a:p>
          <a:p>
            <a:pPr algn="l"/>
            <a:r>
              <a:rPr sz="1000">
                <a:solidFill>
                  <a:srgbClr val="222D39"/>
                </a:solidFill>
                <a:latin typeface="Arial"/>
              </a:rPr>
              <a:t>FlowBacker acepta Starter, Ender, Forker y Asker; su única salida válida es Cleaner.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417320"/>
            <a:ext cx="3611880" cy="2057400"/>
          </a:xfrm>
          <a:prstGeom prst="roundRect">
            <a:avLst/>
          </a:prstGeom>
          <a:solidFill>
            <a:srgbClr val="F7F0E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Barrier</a:t>
            </a:r>
          </a:p>
          <a:p>
            <a:pPr algn="l"/>
            <a:r>
              <a:rPr sz="1000">
                <a:solidFill>
                  <a:srgbClr val="222D39"/>
                </a:solidFill>
                <a:latin typeface="Arial"/>
              </a:rPr>
              <a:t>Nuevo agente verificado en rutas, migración, template y backend.</a:t>
            </a:r>
          </a:p>
          <a:p>
            <a:pPr algn="l"/>
            <a:r>
              <a:rPr sz="1000">
                <a:solidFill>
                  <a:srgbClr val="222D39"/>
                </a:solidFill>
                <a:latin typeface="Arial"/>
              </a:rPr>
              <a:t>Cada source levanta un subprocess de entrada y el primero que llega se vuelve output.</a:t>
            </a:r>
          </a:p>
          <a:p>
            <a:pPr algn="l"/>
            <a:r>
              <a:rPr sz="1000">
                <a:solidFill>
                  <a:srgbClr val="222D39"/>
                </a:solidFill>
                <a:latin typeface="Arial"/>
              </a:rPr>
              <a:t>El release downstream ocurre solo cuando todas las fuentes reportan presencia.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2057400"/>
          </a:xfrm>
          <a:prstGeom prst="roundRect">
            <a:avLst/>
          </a:prstGeom>
          <a:solidFill>
            <a:srgbClr val="ECF5F0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Impacto</a:t>
            </a:r>
          </a:p>
          <a:p>
            <a:pPr algn="l"/>
            <a:r>
              <a:rPr sz="1000">
                <a:solidFill>
                  <a:srgbClr val="222D39"/>
                </a:solidFill>
                <a:latin typeface="Arial"/>
              </a:rPr>
              <a:t>El canvas ya no solo encadena pasos; también sincroniza ramas.</a:t>
            </a:r>
          </a:p>
          <a:p>
            <a:pPr algn="l"/>
            <a:r>
              <a:rPr sz="1000">
                <a:solidFill>
                  <a:srgbClr val="222D39"/>
                </a:solidFill>
                <a:latin typeface="Arial"/>
              </a:rPr>
              <a:t>FlowBacker aporta validación más estricta al cierre y reciclaje del flujo.</a:t>
            </a:r>
          </a:p>
          <a:p>
            <a:pPr algn="l"/>
            <a:r>
              <a:rPr sz="1000">
                <a:solidFill>
                  <a:srgbClr val="222D39"/>
                </a:solidFill>
                <a:latin typeface="Arial"/>
              </a:rPr>
              <a:t>Barrier vuelve explícita una necesidad real de coordinación entre agentes.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AGENTES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Mapa actual de agentes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Las categorías siguientes están compuestas solo por nombres presentes en el árbol actual.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57600" cy="224028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Control y ciclo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starter, ender, stopper, cleaner, counter, raiser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Nodos base para iniciar, cerrar, detener, limpiar y controlar ramas.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417320"/>
            <a:ext cx="3657600" cy="2240280"/>
          </a:xfrm>
          <a:prstGeom prst="roundRect">
            <a:avLst/>
          </a:prstGeom>
          <a:solidFill>
            <a:srgbClr val="F7F0E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Monitoreo y análisis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monitor_log, monitor_netstat, notifier, summarizer, flowhypervisor, pser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Visibilidad operativa, resumen y observación del runtime.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2240280"/>
          </a:xfrm>
          <a:prstGeom prst="roundRect">
            <a:avLst/>
          </a:prstGeom>
          <a:solidFill>
            <a:srgbClr val="ECF5F0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Mensajería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emailer, recmailer, whatsapper, telegramer, telegramrx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Salidas de notificación y recepción acopladas al flujo.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886200"/>
            <a:ext cx="112928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Acción y DevOps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executer, pythonxer, sqler, mongoxer, ssher, scper, gitter, dockerer, kuberneter, jenkinser y shoter cubren ejecución, repositorio, contenedores, redes, bases de datos y automatización de shell dentro del panel agentico.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AGENTES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Mapa actual de agentes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La segunda mitad del mapa explica por qué el ACP ya funciona como entorno de orquestación heterogéneo.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57600" cy="224028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Lógica y routing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and, or, forker, asker, croner, sleeper, barrier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Combinan compuertas, decisiones, forks, preguntas, temporización y sincronización.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417320"/>
            <a:ext cx="3657600" cy="2240280"/>
          </a:xfrm>
          <a:prstGeom prst="roundRect">
            <a:avLst/>
          </a:prstGeom>
          <a:solidFill>
            <a:srgbClr val="F7F0E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Contenido y movimiento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mover, deleter, prompter, crawler, apirer, mouser, flowcreator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Tocan archivos, UI, prompts, scraping, APIs y creación de nuevos flujos.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2240280"/>
          </a:xfrm>
          <a:prstGeom prst="roundRect">
            <a:avLst/>
          </a:prstGeom>
          <a:solidFill>
            <a:srgbClr val="ECF5F0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Infraestructura e ingress</a:t>
            </a:r>
          </a:p>
          <a:p>
            <a:pPr algn="l"/>
            <a:r>
              <a:rPr sz="1000">
                <a:solidFill>
                  <a:srgbClr val="222D39"/>
                </a:solidFill>
                <a:latin typeface="Arial"/>
              </a:rPr>
              <a:t>gatewayer, gateway_relayer, node_manager, flowbacker</a:t>
            </a:r>
          </a:p>
          <a:p>
            <a:pPr algn="l"/>
            <a:r>
              <a:rPr sz="1000">
                <a:solidFill>
                  <a:srgbClr val="222D39"/>
                </a:solidFill>
                <a:latin typeface="Arial"/>
              </a:rPr>
              <a:t>Interconexión, relé, gestión de nodos y reciclaje/retorno controlado del flujo.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886200"/>
            <a:ext cx="112928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Archivos, interpretación y crypto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file_creator, file_extractor, file_interpreter, image_interpreter, kyber_keygen, kyber_cipher, kyber_decipher y parametrizer amplían el ACP hacia generación de artefactos, interpretación multimodal y cifrado post-quantum.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AGENTES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Parametrizer y superficies especializadas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El README ya menciona Parametrizer, pero el código define el detalle real que importa para operación.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57600" cy="233172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Parametrizer real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Instancia un source y un target en relación 1:1.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Itera secuencialmente por bloques estructurados del output.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Parsers actuales: 15, no 13.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417320"/>
            <a:ext cx="3657600" cy="2331720"/>
          </a:xfrm>
          <a:prstGeom prst="roundRect">
            <a:avLst/>
          </a:prstGeom>
          <a:solidFill>
            <a:srgbClr val="F7F0E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Parsers verificados</a:t>
            </a:r>
          </a:p>
          <a:p>
            <a:pPr algn="l"/>
            <a:r>
              <a:rPr sz="910">
                <a:solidFill>
                  <a:srgbClr val="222D39"/>
                </a:solidFill>
                <a:latin typeface="Arial"/>
              </a:rPr>
              <a:t>apirer, gitter, kuberneter, crawler, summarizer, file_interpreter, image_interpreter, file_extractor</a:t>
            </a:r>
          </a:p>
          <a:p>
            <a:pPr algn="l"/>
            <a:r>
              <a:rPr sz="910">
                <a:solidFill>
                  <a:srgbClr val="222D39"/>
                </a:solidFill>
                <a:latin typeface="Arial"/>
              </a:rPr>
              <a:t>prompter, flowcreator, kyber_keygen, kyber_cipher, kyber_decipher, gatewayer, gateway_relayer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2331720"/>
          </a:xfrm>
          <a:prstGeom prst="roundRect">
            <a:avLst/>
          </a:prstGeom>
          <a:solidFill>
            <a:srgbClr val="F8EDEE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BF6635"/>
                </a:solidFill>
                <a:latin typeface="Arial"/>
              </a:rPr>
              <a:t>Caveat documental</a:t>
            </a:r>
          </a:p>
          <a:p>
            <a:pPr algn="l"/>
            <a:r>
              <a:rPr sz="980">
                <a:solidFill>
                  <a:srgbClr val="222D39"/>
                </a:solidFill>
                <a:latin typeface="Arial"/>
              </a:rPr>
              <a:t>El README todavía habla de 13 tipos estructurados.</a:t>
            </a:r>
          </a:p>
          <a:p>
            <a:pPr algn="l"/>
            <a:r>
              <a:rPr sz="980">
                <a:solidFill>
                  <a:srgbClr val="222D39"/>
                </a:solidFill>
                <a:latin typeface="Arial"/>
              </a:rPr>
              <a:t>También sugiere un interconnection-scheme.csv en la plantilla.</a:t>
            </a:r>
          </a:p>
          <a:p>
            <a:pPr algn="l"/>
            <a:r>
              <a:rPr sz="980">
                <a:solidFill>
                  <a:srgbClr val="222D39"/>
                </a:solidFill>
                <a:latin typeface="Arial"/>
              </a:rPr>
              <a:t>En realidad el CSV se guarda en el pool desplegado vía save_parametrizer_scheme_view.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977640"/>
            <a:ext cx="112928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Otras superficies especializadas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Gatewayer y Gateway Relayer cubren ingress e interconexión; Node Manager gestiona nodos; la familia Kyber agrega cifrado/descifrado y File Creator / File Extractor amplían la manipulación de artefactos desde el ACP.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OPERACIÓN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Seguridad, aislamiento y hardening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La historia correcta es una mezcla de controles reales y caveats todavía abiertos; no conviene venderlo como sistema totalmente cerrado.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1880" cy="210312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Controles existentes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secure_get / secure_post para varias views críticas.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WebSocket autenticado y SessionState persistente.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Guardas de path y validación de tool paths antes de ejecutar.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417320"/>
            <a:ext cx="3611880" cy="2103120"/>
          </a:xfrm>
          <a:prstGeom prst="roundRect">
            <a:avLst/>
          </a:prstGeom>
          <a:solidFill>
            <a:srgbClr val="F7F0E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Aislamiento operativo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Pools por sesión/usuario para flujos desplegados.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Archivos de log, pid y reanimación acotados al runtime del flujo.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El canvas no opera sobre un estado global único compartido.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2103120"/>
          </a:xfrm>
          <a:prstGeom prst="roundRect">
            <a:avLst/>
          </a:prstGeom>
          <a:solidFill>
            <a:srgbClr val="F8EDEE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BF6635"/>
                </a:solidFill>
                <a:latin typeface="Arial"/>
              </a:rPr>
              <a:t>Caveat actual</a:t>
            </a:r>
          </a:p>
          <a:p>
            <a:pPr algn="l"/>
            <a:r>
              <a:rPr sz="990">
                <a:solidFill>
                  <a:srgbClr val="222D39"/>
                </a:solidFill>
                <a:latin typeface="Arial"/>
              </a:rPr>
              <a:t>La batería de pruebas aún deja un fallo de event loop en WebSocket.</a:t>
            </a:r>
          </a:p>
          <a:p>
            <a:pPr algn="l"/>
            <a:r>
              <a:rPr sz="990">
                <a:solidFill>
                  <a:srgbClr val="222D39"/>
                </a:solidFill>
                <a:latin typeface="Arial"/>
              </a:rPr>
              <a:t>El modo consola default sigue tropezando con CP1252 al imprimir U+2192.</a:t>
            </a:r>
          </a:p>
          <a:p>
            <a:pPr algn="l"/>
            <a:r>
              <a:rPr sz="990">
                <a:solidFill>
                  <a:srgbClr val="222D39"/>
                </a:solidFill>
                <a:latin typeface="Arial"/>
              </a:rPr>
              <a:t>La postura correcta es 'endurecido en partes, no cerrado del todo'.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OPERACIÓN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Rutas, persistencia y superficies de estado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El producto expone una superficie HTTP/WS grande y muy orientada a configuración desde la UI.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57600" cy="214884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Conteos verificados</a:t>
            </a:r>
          </a:p>
          <a:p>
            <a:pPr algn="l"/>
            <a:r>
              <a:rPr sz="1060">
                <a:solidFill>
                  <a:srgbClr val="222D39"/>
                </a:solidFill>
                <a:latin typeface="Arial"/>
              </a:rPr>
              <a:t>Rutas app: 101</a:t>
            </a:r>
          </a:p>
          <a:p>
            <a:pPr algn="l"/>
            <a:r>
              <a:rPr sz="1060">
                <a:solidFill>
                  <a:srgbClr val="222D39"/>
                </a:solidFill>
                <a:latin typeface="Arial"/>
              </a:rPr>
              <a:t>Rutas proyecto: 3</a:t>
            </a:r>
          </a:p>
          <a:p>
            <a:pPr algn="l"/>
            <a:r>
              <a:rPr sz="1060">
                <a:solidFill>
                  <a:srgbClr val="222D39"/>
                </a:solidFill>
                <a:latin typeface="Arial"/>
              </a:rPr>
              <a:t>Rutas WebSocket: 1</a:t>
            </a:r>
          </a:p>
          <a:p>
            <a:pPr algn="l"/>
            <a:r>
              <a:rPr sz="1060">
                <a:solidFill>
                  <a:srgbClr val="222D39"/>
                </a:solidFill>
                <a:latin typeface="Arial"/>
              </a:rPr>
              <a:t>Modelos Django: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417320"/>
            <a:ext cx="3657600" cy="2148840"/>
          </a:xfrm>
          <a:prstGeom prst="roundRect">
            <a:avLst/>
          </a:prstGeom>
          <a:solidFill>
            <a:srgbClr val="F7F0E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Familias HTTP</a:t>
            </a:r>
          </a:p>
          <a:p>
            <a:pPr algn="l"/>
            <a:r>
              <a:rPr sz="1030">
                <a:solidFill>
                  <a:srgbClr val="222D39"/>
                </a:solidFill>
                <a:latin typeface="Arial"/>
              </a:rPr>
              <a:t>update 51 | load 9 | check 6</a:t>
            </a:r>
          </a:p>
          <a:p>
            <a:pPr algn="l"/>
            <a:r>
              <a:rPr sz="1030">
                <a:solidFill>
                  <a:srgbClr val="222D39"/>
                </a:solidFill>
                <a:latin typeface="Arial"/>
              </a:rPr>
              <a:t>execute 4 | save 4 | clear 4</a:t>
            </a:r>
          </a:p>
          <a:p>
            <a:pPr algn="l"/>
            <a:r>
              <a:rPr sz="1030">
                <a:solidFill>
                  <a:srgbClr val="222D39"/>
                </a:solidFill>
                <a:latin typeface="Arial"/>
              </a:rPr>
              <a:t>delete 2 | detect 1 | open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2148840"/>
          </a:xfrm>
          <a:prstGeom prst="roundRect">
            <a:avLst/>
          </a:prstGeom>
          <a:solidFill>
            <a:srgbClr val="ECF5F0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Artefactos de runtime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.log, .pid, reanim* y paused_agents.reanim.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Estados de ejecución y wiring guardados fuera del navegador.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Mensajes cliente explícitos en WS: 17.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794760"/>
            <a:ext cx="112928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Lectura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No es un backend mínimo: el diseño del producto depende de una superficie amplia de configuración y estado, lo que explica tanto su potencia como el costo documental de mantener README, PDF y deck sincronizados.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OPERACIÓN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Configuración, empaquetado y release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Tlamatini sí tiene superficie de distribución Windows; no es solo un repo para desarrollo interno.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1880" cy="205740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Configuración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config.json centraliza modelos, embeddings, herramientas y conectores.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El runtime puede hablar con MCP, file search, web y agentes visuales.</a:t>
            </a:r>
          </a:p>
          <a:p>
            <a:pPr algn="l"/>
            <a:r>
              <a:rPr sz="1010">
                <a:solidFill>
                  <a:srgbClr val="222D39"/>
                </a:solidFill>
                <a:latin typeface="Arial"/>
              </a:rPr>
              <a:t>La configuración checked-in define la postura real del producto.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417320"/>
            <a:ext cx="3611880" cy="2057400"/>
          </a:xfrm>
          <a:prstGeom prst="roundRect">
            <a:avLst/>
          </a:prstGeom>
          <a:solidFill>
            <a:srgbClr val="F7F0E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Release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build.py genera pkg.zip.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build_uninstaller.py produce Uninstaller.exe.</a:t>
            </a:r>
          </a:p>
          <a:p>
            <a:pPr algn="l"/>
            <a:r>
              <a:rPr sz="1019">
                <a:solidFill>
                  <a:srgbClr val="222D39"/>
                </a:solidFill>
                <a:latin typeface="Arial"/>
              </a:rPr>
              <a:t>build_installer.py arma dist/Tlamatini_Release para distribución.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2057400"/>
          </a:xfrm>
          <a:prstGeom prst="roundRect">
            <a:avLst/>
          </a:prstGeom>
          <a:solidFill>
            <a:srgbClr val="ECF5F0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Superficie de escritorio</a:t>
            </a:r>
          </a:p>
          <a:p>
            <a:pPr algn="l"/>
            <a:r>
              <a:rPr sz="1000">
                <a:solidFill>
                  <a:srgbClr val="222D39"/>
                </a:solidFill>
                <a:latin typeface="Arial"/>
              </a:rPr>
              <a:t>Open in... y detect_installed_apps forman parte real del producto.</a:t>
            </a:r>
          </a:p>
          <a:p>
            <a:pPr algn="l"/>
            <a:r>
              <a:rPr sz="1000">
                <a:solidFill>
                  <a:srgbClr val="222D39"/>
                </a:solidFill>
                <a:latin typeface="Arial"/>
              </a:rPr>
              <a:t>La historia correcta mezcla UI web, procesos locales y empaquetado Windows.</a:t>
            </a:r>
          </a:p>
          <a:p>
            <a:pPr algn="l"/>
            <a:r>
              <a:rPr sz="1000">
                <a:solidFill>
                  <a:srgbClr val="222D39"/>
                </a:solidFill>
                <a:latin typeface="Arial"/>
              </a:rPr>
              <a:t>Eso explica su énfasis en operación local-first.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ALINEACIÓN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Código, README, PDF y deck: qué coincide y qué aún deriva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Esta diapositiva evita vender sincronía total cuando todavía quedan desajustes documentales específicos.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57600" cy="214884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Ya alineado</a:t>
            </a:r>
          </a:p>
          <a:p>
            <a:pPr algn="l"/>
            <a:r>
              <a:rPr sz="1000">
                <a:solidFill>
                  <a:srgbClr val="222D39"/>
                </a:solidFill>
                <a:latin typeface="Arial"/>
              </a:rPr>
              <a:t>README ya incorpora Barrier y la sección unificada de pausa/reanimación.</a:t>
            </a:r>
          </a:p>
          <a:p>
            <a:pPr algn="l"/>
            <a:r>
              <a:rPr sz="1000">
                <a:solidFill>
                  <a:srgbClr val="222D39"/>
                </a:solidFill>
                <a:latin typeface="Arial"/>
              </a:rPr>
              <a:t>El PDF vigente ya refleja 54 agentes, 101 rutas y la superficie Barrier.</a:t>
            </a:r>
          </a:p>
          <a:p>
            <a:pPr algn="l"/>
            <a:r>
              <a:rPr sz="1000">
                <a:solidFill>
                  <a:srgbClr val="222D39"/>
                </a:solidFill>
                <a:latin typeface="Arial"/>
              </a:rPr>
              <a:t>Este deck reemplaza el snapshot viejo de 53 agentes / 100 rutas.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417320"/>
            <a:ext cx="3657600" cy="2148840"/>
          </a:xfrm>
          <a:prstGeom prst="roundRect">
            <a:avLst/>
          </a:prstGeom>
          <a:solidFill>
            <a:srgbClr val="F8EDEE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BF6635"/>
                </a:solidFill>
                <a:latin typeface="Arial"/>
              </a:rPr>
              <a:t>Derivas aún abiertas</a:t>
            </a:r>
          </a:p>
          <a:p>
            <a:pPr algn="l"/>
            <a:r>
              <a:rPr sz="990">
                <a:solidFill>
                  <a:srgbClr val="222D39"/>
                </a:solidFill>
                <a:latin typeface="Arial"/>
              </a:rPr>
              <a:t>README aún menciona 23 JS modules y 100 endpoints en views.py.</a:t>
            </a:r>
          </a:p>
          <a:p>
            <a:pPr algn="l"/>
            <a:r>
              <a:rPr sz="990">
                <a:solidFill>
                  <a:srgbClr val="222D39"/>
                </a:solidFill>
                <a:latin typeface="Arial"/>
              </a:rPr>
              <a:t>Flow Validation del README no refleja del todo las reglas con FlowBacker.</a:t>
            </a:r>
          </a:p>
          <a:p>
            <a:pPr algn="l"/>
            <a:r>
              <a:rPr sz="990">
                <a:solidFill>
                  <a:srgbClr val="222D39"/>
                </a:solidFill>
                <a:latin typeface="Arial"/>
              </a:rPr>
              <a:t>Parametrizer sigue documentado con 13 parsers y CSV de plantilla.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2148840"/>
          </a:xfrm>
          <a:prstGeom prst="roundRect">
            <a:avLst/>
          </a:prstGeom>
          <a:solidFill>
            <a:srgbClr val="F7F0E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Más desajustes</a:t>
            </a:r>
          </a:p>
          <a:p>
            <a:pPr algn="l"/>
            <a:r>
              <a:rPr sz="990">
                <a:solidFill>
                  <a:srgbClr val="222D39"/>
                </a:solidFill>
                <a:latin typeface="Arial"/>
              </a:rPr>
              <a:t>Ejemplos de configuración siguen mostrando modelos viejos.</a:t>
            </a:r>
          </a:p>
          <a:p>
            <a:pPr algn="l"/>
            <a:r>
              <a:rPr sz="990">
                <a:solidFill>
                  <a:srgbClr val="222D39"/>
                </a:solidFill>
                <a:latin typeface="Arial"/>
              </a:rPr>
              <a:t>README/LICENSE hablan de GPLv3 mientras package.json sigue en ISC.</a:t>
            </a:r>
          </a:p>
          <a:p>
            <a:pPr algn="l"/>
            <a:r>
              <a:rPr sz="990">
                <a:solidFill>
                  <a:srgbClr val="222D39"/>
                </a:solidFill>
                <a:latin typeface="Arial"/>
              </a:rPr>
              <a:t>La sincronización documental todavía requiere otra pasada focalizada.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794760"/>
            <a:ext cx="112928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Principio editorial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El valor de esta actualización no es sonar optimista; es dejar el deck en el mismo nivel de honestidad técnica que el PDF de auditoría y por encima del README donde éste todavía deriva.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F6635"/>
                </a:solidFill>
                <a:latin typeface="Arial"/>
              </a:rPr>
              <a:t>CALIDAD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3B6C"/>
                </a:solidFill>
                <a:latin typeface="Arial"/>
              </a:rPr>
              <a:t>Pruebas focalizadas y problemas abiertos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66474"/>
                </a:solidFill>
                <a:latin typeface="Arial"/>
              </a:rPr>
              <a:t>No se ocultan fallos conocidos: se reportan con el mismo nivel de precisión que en el PDF técnico.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66474"/>
                </a:solidFill>
                <a:latin typeface="Arial"/>
              </a:rPr>
              <a:t>Tlamatini | 29 mar 2026 | e3d77576b0c9 |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57600" cy="2194560"/>
          </a:xfrm>
          <a:prstGeom prst="roundRect">
            <a:avLst/>
          </a:prstGeom>
          <a:solidFill>
            <a:srgbClr val="EDF3F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Suite agent.tests en UTF-8</a:t>
            </a:r>
          </a:p>
          <a:p>
            <a:pPr algn="l"/>
            <a:r>
              <a:rPr sz="1070">
                <a:solidFill>
                  <a:srgbClr val="222D39"/>
                </a:solidFill>
                <a:latin typeface="Arial"/>
              </a:rPr>
              <a:t>26 pruebas, 25 OK, 1 error. Sigue fallando test_anonymous_websocket_connection_is_rejected por RuntimeError: no running event loop.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417320"/>
            <a:ext cx="3657600" cy="2194560"/>
          </a:xfrm>
          <a:prstGeom prst="roundRect">
            <a:avLst/>
          </a:prstGeom>
          <a:solidFill>
            <a:srgbClr val="F7F0E9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Suite agent.tests en consola default</a:t>
            </a:r>
          </a:p>
          <a:p>
            <a:pPr algn="l"/>
            <a:r>
              <a:rPr sz="1040">
                <a:solidFill>
                  <a:srgbClr val="222D39"/>
                </a:solidFill>
                <a:latin typeface="Arial"/>
              </a:rPr>
              <a:t>26 pruebas, 22 OK, 4 errores. Se mantiene el error del WebSocket y tres fallos CP1252 por U+2192 en rag/interface.py.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2194560"/>
          </a:xfrm>
          <a:prstGeom prst="roundRect">
            <a:avLst/>
          </a:prstGeom>
          <a:solidFill>
            <a:srgbClr val="ECF5F0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Lectura responsable</a:t>
            </a:r>
          </a:p>
          <a:p>
            <a:pPr algn="l"/>
            <a:r>
              <a:rPr sz="980">
                <a:solidFill>
                  <a:srgbClr val="222D39"/>
                </a:solidFill>
                <a:latin typeface="Arial"/>
              </a:rPr>
              <a:t>La base está funcional pero no completamente saneada.</a:t>
            </a:r>
          </a:p>
          <a:p>
            <a:pPr algn="l"/>
            <a:r>
              <a:rPr sz="980">
                <a:solidFill>
                  <a:srgbClr val="222D39"/>
                </a:solidFill>
                <a:latin typeface="Arial"/>
              </a:rPr>
              <a:t>El error WebSocket apunta a event loop en pruebas, no a ausencia total de ACP.</a:t>
            </a:r>
          </a:p>
          <a:p>
            <a:pPr algn="l"/>
            <a:r>
              <a:rPr sz="980">
                <a:solidFill>
                  <a:srgbClr val="222D39"/>
                </a:solidFill>
                <a:latin typeface="Arial"/>
              </a:rPr>
              <a:t>Los errores CP1252 son de salida de consola, no de lógica de negocio.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840480"/>
            <a:ext cx="112928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173B6C"/>
                </a:solidFill>
                <a:latin typeface="Arial"/>
              </a:rPr>
              <a:t>Recomendación</a:t>
            </a:r>
          </a:p>
          <a:p>
            <a:pPr algn="l"/>
            <a:r>
              <a:rPr sz="1100">
                <a:solidFill>
                  <a:srgbClr val="222D39"/>
                </a:solidFill>
                <a:latin typeface="Arial"/>
              </a:rPr>
              <a:t>Para futuras demos ejecutivas, conviene mantener este slide: deja claro que la plataforma es real y útil, pero todavía tiene fricción técnica observable y documentada.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2743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C99A3B"/>
                </a:solidFill>
                <a:latin typeface="Arial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AFAF8"/>
                </a:solidFill>
                <a:latin typeface="Arial"/>
              </a:rPr>
              <a:t>Lectura final de XAIHT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418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E0E6EC"/>
                </a:solidFill>
                <a:latin typeface="Arial"/>
              </a:rPr>
              <a:t>La identidad del producto se entiende mejor desde sus superficies de control que desde slogans.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155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F5F6F8"/>
                </a:solidFill>
                <a:latin typeface="Arial"/>
              </a:rPr>
              <a:t>Tlamatini | 29 mar 2026 | e3d77576b0c9 | 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1292840" cy="1417320"/>
          </a:xfrm>
          <a:prstGeom prst="roundRect">
            <a:avLst/>
          </a:prstGeom>
          <a:solidFill>
            <a:srgbClr val="224A7A"/>
          </a:solidFill>
          <a:ln w="12700">
            <a:solidFill>
              <a:srgbClr val="22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FAFAF8"/>
                </a:solidFill>
                <a:latin typeface="Arial"/>
              </a:rPr>
              <a:t>Síntesis</a:t>
            </a:r>
          </a:p>
          <a:p>
            <a:pPr algn="l"/>
            <a:r>
              <a:rPr sz="1130">
                <a:solidFill>
                  <a:srgbClr val="EBF0F5"/>
                </a:solidFill>
                <a:latin typeface="Arial"/>
              </a:rPr>
              <a:t>Tlamatini es una plataforma local-first de asistencia técnica y automatización visual donde la IA extendida queda temperada por superficies humanas explícitas: contexto, tools, canvas, validación, pausa, reanimación, restart y release.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3108960"/>
            <a:ext cx="3611880" cy="1508760"/>
          </a:xfrm>
          <a:prstGeom prst="roundRect">
            <a:avLst/>
          </a:prstGeom>
          <a:solidFill>
            <a:srgbClr val="2B5436"/>
          </a:solidFill>
          <a:ln w="12700">
            <a:solidFill>
              <a:srgbClr val="2B5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FAFAF8"/>
                </a:solidFill>
                <a:latin typeface="Arial"/>
              </a:rPr>
              <a:t>Lo que cambió</a:t>
            </a:r>
          </a:p>
          <a:p>
            <a:pPr algn="l"/>
            <a:r>
              <a:rPr sz="980">
                <a:solidFill>
                  <a:srgbClr val="E8F0E9"/>
                </a:solidFill>
                <a:latin typeface="Arial"/>
              </a:rPr>
              <a:t>Deck viejo: snapshot superado.</a:t>
            </a:r>
          </a:p>
          <a:p>
            <a:pPr algn="l"/>
            <a:r>
              <a:rPr sz="980">
                <a:solidFill>
                  <a:srgbClr val="E8F0E9"/>
                </a:solidFill>
                <a:latin typeface="Arial"/>
              </a:rPr>
              <a:t>Deck nuevo: commit actual, Barrier, FlowBacker y ACP vigente.</a:t>
            </a:r>
          </a:p>
          <a:p>
            <a:pPr algn="l"/>
            <a:r>
              <a:rPr sz="980">
                <a:solidFill>
                  <a:srgbClr val="E8F0E9"/>
                </a:solidFill>
                <a:latin typeface="Arial"/>
              </a:rPr>
              <a:t>Narrativa alineada al estado real del repo.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108960"/>
            <a:ext cx="3611880" cy="1508760"/>
          </a:xfrm>
          <a:prstGeom prst="roundRect">
            <a:avLst/>
          </a:prstGeom>
          <a:solidFill>
            <a:srgbClr val="62422B"/>
          </a:solidFill>
          <a:ln w="12700">
            <a:solidFill>
              <a:srgbClr val="624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FAFAF8"/>
                </a:solidFill>
                <a:latin typeface="Arial"/>
              </a:rPr>
              <a:t>Lo que sigue abierto</a:t>
            </a:r>
          </a:p>
          <a:p>
            <a:pPr algn="l"/>
            <a:r>
              <a:rPr sz="980">
                <a:solidFill>
                  <a:srgbClr val="F3EBE5"/>
                </a:solidFill>
                <a:latin typeface="Arial"/>
              </a:rPr>
              <a:t>README aún tiene drift puntual.</a:t>
            </a:r>
          </a:p>
          <a:p>
            <a:pPr algn="l"/>
            <a:r>
              <a:rPr sz="980">
                <a:solidFill>
                  <a:srgbClr val="F3EBE5"/>
                </a:solidFill>
                <a:latin typeface="Arial"/>
              </a:rPr>
              <a:t>Persisten fallos concretos en tests.</a:t>
            </a:r>
          </a:p>
          <a:p>
            <a:pPr algn="l"/>
            <a:r>
              <a:rPr sz="980">
                <a:solidFill>
                  <a:srgbClr val="F3EBE5"/>
                </a:solidFill>
                <a:latin typeface="Arial"/>
              </a:rPr>
              <a:t>La honestidad documental sigue siendo obligatoria.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3108960"/>
            <a:ext cx="3611880" cy="1508760"/>
          </a:xfrm>
          <a:prstGeom prst="roundRect">
            <a:avLst/>
          </a:prstGeom>
          <a:solidFill>
            <a:srgbClr val="603957"/>
          </a:solidFill>
          <a:ln w="12700">
            <a:solidFill>
              <a:srgbClr val="6039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l"/>
            <a:r>
              <a:rPr sz="1300" b="1">
                <a:solidFill>
                  <a:srgbClr val="FAFAF8"/>
                </a:solidFill>
                <a:latin typeface="Arial"/>
              </a:rPr>
              <a:t>Lectura XAIHT</a:t>
            </a:r>
          </a:p>
          <a:p>
            <a:pPr algn="l"/>
            <a:r>
              <a:rPr sz="969">
                <a:solidFill>
                  <a:srgbClr val="EFE9F2"/>
                </a:solidFill>
                <a:latin typeface="Arial"/>
              </a:rPr>
              <a:t>Extended AI: RAG, tools y agentes especializados.</a:t>
            </a:r>
          </a:p>
          <a:p>
            <a:pPr algn="l"/>
            <a:r>
              <a:rPr sz="969">
                <a:solidFill>
                  <a:srgbClr val="EFE9F2"/>
                </a:solidFill>
                <a:latin typeface="Arial"/>
              </a:rPr>
              <a:t>Humanly Tempered: control visible, pausa y criterio humano.</a:t>
            </a:r>
          </a:p>
          <a:p>
            <a:pPr algn="l"/>
            <a:r>
              <a:rPr sz="969">
                <a:solidFill>
                  <a:srgbClr val="EFE9F2"/>
                </a:solidFill>
                <a:latin typeface="Arial"/>
              </a:rPr>
              <a:t>Resultado: plataforma técnica, no ilusión autónoma.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