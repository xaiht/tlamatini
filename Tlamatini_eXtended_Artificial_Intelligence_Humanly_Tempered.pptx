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Tlamatini Flow</c:v>
                </c:pt>
                <c:pt idx="2">
                  <c:v>Text</c:v>
                </c:pt>
                <c:pt idx="3">
                  <c:v>HTML</c:v>
                </c:pt>
                <c:pt idx="4">
                  <c:v>Prompt template</c:v>
                </c:pt>
                <c:pt idx="5">
                  <c:v>PowerShell</c:v>
                </c:pt>
                <c:pt idx="6">
                  <c:v>YAML</c:v>
                </c:pt>
                <c:pt idx="7">
                  <c:v>Other text</c:v>
                </c:pt>
                <c:pt idx="8">
                  <c:v>JSON</c:v>
                </c:pt>
                <c:pt idx="9">
                  <c:v>CSS</c:v>
                </c:pt>
                <c:pt idx="10">
                  <c:v>JavaScript</c:v>
                </c:pt>
                <c:pt idx="11">
                  <c:v>Markdown</c:v>
                </c:pt>
                <c:pt idx="12">
                  <c:v>JavaScript module</c:v>
                </c:pt>
                <c:pt idx="13">
                  <c:v>Python</c:v>
                </c:pt>
              </c:strCache>
            </c:strRef>
          </c:cat>
          <c:val>
            <c:numRef>
              <c:f>Sheet1!$B$2:$B$15</c:f>
              <c:numCache>
                <c:formatCode>General</c:formatCode>
                <c:ptCount val="14"/>
                <c:pt idx="0">
                  <c:v>810</c:v>
                </c:pt>
                <c:pt idx="1">
                  <c:v>837</c:v>
                </c:pt>
                <c:pt idx="2">
                  <c:v>1229</c:v>
                </c:pt>
                <c:pt idx="3">
                  <c:v>1350</c:v>
                </c:pt>
                <c:pt idx="4">
                  <c:v>1382</c:v>
                </c:pt>
                <c:pt idx="5">
                  <c:v>1838</c:v>
                </c:pt>
                <c:pt idx="6">
                  <c:v>2303</c:v>
                </c:pt>
                <c:pt idx="7">
                  <c:v>5803</c:v>
                </c:pt>
                <c:pt idx="8">
                  <c:v>6259</c:v>
                </c:pt>
                <c:pt idx="9">
                  <c:v>12801</c:v>
                </c:pt>
                <c:pt idx="10">
                  <c:v>23650</c:v>
                </c:pt>
                <c:pt idx="11">
                  <c:v>32355</c:v>
                </c:pt>
                <c:pt idx="12">
                  <c:v>102470</c:v>
                </c:pt>
                <c:pt idx="13">
                  <c:v>207912</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with self-healing model steps.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50 JavaScript modules, 17 stylesheets and 5 page templates, 210 database migrations and 87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 no longer freeze the application.</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Six toolbar switches decide how each request runs.</a:t>
            </a:r>
          </a:p>
          <a:p/>
          <a:p>
            <a:r>
              <a:t>Beside the conversation sits a canvas that shows code, text and PDFs. Paste a screenshot with Ctrl+V or drop images on the chat: she saves them to her Temp folder and writes the full path into your message, ready for Image-Interpreter. A context ring between the toolbar and the message box shows how much of the model's window the real request uses, measured by the backend in bytes with tokens estimated.</a:t>
            </a:r>
          </a:p>
          <a:p/>
          <a:p>
            <a:r>
              <a:t>Her avatar speaks answers aloud when you ask, with a mouth that follows the spoken words. After login, pressing Enter on the welcome page takes you straight to the chat.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a:t>
            </a:r>
          </a:p>
          <a:p/>
          <a:p>
            <a:r>
              <a:t>Format: JSON tlamatini-prompting-flow, version 1.</a:t>
            </a:r>
          </a:p>
          <a:p/>
          <a:p>
            <a:r>
              <a:t>Limits: 5 MiB, 500 operations,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into one definitive report.</a:t>
            </a:r>
          </a:p>
          <a:p/>
          <a:p>
            <a:r>
              <a:t>Video-Analyzer · robotics: A deterministic motion gate plus two vision models; PASS only when both agree.</a:t>
            </a:r>
          </a:p>
          <a:p/>
          <a:p>
            <a:r>
              <a:t>Video-Analyzer · transcription: Timestamped speech from chosen audio tracks, locally.</a:t>
            </a:r>
          </a:p>
          <a:p/>
          <a:p>
            <a:r>
              <a:t>Video-Analyzer · summary: Speech plus sampled visual evidence: scenes, text, facts, decisions and limits.</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Googler keeps finding results when browsers are refused, and NetSpeed-Calculator publishes a speed with its confidence interval.</a:t>
            </a:r>
          </a:p>
          <a:p/>
          <a:p>
            <a:r>
              <a:t>Googler tries four plain-HTTP, server-rendered routes first, then a visible installed Chrome across seven browser routes with bounded retries, and always names the route that answered. Its structured dork builder writes valid operators, presets and grouped site or file-type filters, and links_only returns URLs for downloads handled downstream. Indexed is not permitted: licensing and authorization remain yours.</a:t>
            </a:r>
          </a:p>
          <a:p/>
          <a:p>
            <a:r>
              <a:t>NetSpeed-Calculator measures several keyless providers at once,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source audit covers all 89 agents, build helpers, optional imports and tests.</a:t>
            </a:r>
          </a:p>
          <a:p/>
          <a:p>
            <a:r>
              <a:t>The refreshed static guard scanned 744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Zero missing declarations; 10 guard tests and four build dependency checks passed.</a:t>
            </a:r>
          </a:p>
          <a:p/>
          <a:p>
            <a:r>
              <a:t>Resolution: Main and separate ESPHome dry runs passed; new dependencies passed temporary-environment smoke checks.</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a:t>
            </a:r>
          </a:p>
          <a:p/>
          <a:p>
            <a:r>
              <a:t>Direct dictation additionally uses a private ephemeral loopback listener for its worker handshake. It closes after authentication; it is not a fourth public service or fixed port.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1.71.0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Source and Release Status. Source tag v1.71.0; latest published release v1.70.0. Local changes are stated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are in the working tree; a source tag does not publish them.</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Neither this work nor the regenerated dossiers establishes that the published v1.70.0 installer contains the local microphone changes.</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Restart source runs; rebuild and validate an installer before distributing these changes.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v1.71.0 was created on 2026-09-27 and resolves to commit 512973fb, and the remote advertises it.</a:t>
            </a:r>
          </a:p>
          <a:p/>
          <a:p>
            <a:r>
              <a:t>The inspected source is 2 commit(s) beyond that tag (0cfe4d00, 445797f8). A build from this source reports version 1.71.0, because the version string always carries the base tag and never a distance suffix.</a:t>
            </a:r>
          </a:p>
          <a:p/>
          <a:p>
            <a:r>
              <a:t>The newest release published on GitHub is v1.70.0, published 2026-09-27. Self-update offers only published releases, so installations are offered v1.71.0 once it is published.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400,999 effective lines across 1,321 text files; 517,372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1,559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 Id="rId4" Type="http://schemas.openxmlformats.org/officeDocument/2006/relationships/chart" Target="../charts/char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2.xml"/><Relationship Id="rId4" Type="http://schemas.openxmlformats.org/officeDocument/2006/relationships/chart" Target="../charts/char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8.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v1.71.0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50" b="0" i="0" spc="110">
                <a:solidFill>
                  <a:srgbClr val="A7B2B0"/>
                </a:solidFill>
                <a:latin typeface="Segoe UI Semibold"/>
              </a:rPr>
              <a:t>SOURCE VERSION</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September 27,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Source and Release Status</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Source tag v1.71.0; latest published release v1.70.0. Local changes are stated separately.</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planner and a tool loop of up to 4,096 iterations over the full enabled surface of 109 built-in tools, with self-healing model steps.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210</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1,559</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400,999</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 no longer freeze the application.</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Six toolbar switches decide how each request runs.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3840480"/>
          </a:xfrm>
          <a:prstGeom prst="roundRect">
            <a:avLst>
              <a:gd name="adj" fmla="val 1904"/>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credits and Check for updates.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ular Callout 33"/>
          <p:cNvSpPr/>
          <p:nvPr/>
        </p:nvSpPr>
        <p:spPr>
          <a:xfrm>
            <a:off x="6388455" y="4434840"/>
            <a:ext cx="868680" cy="548640"/>
          </a:xfrm>
          <a:prstGeom prst="wedgeRoundRectCallout">
            <a:avLst/>
          </a:pr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51F23"/>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53499" y="4434840"/>
            <a:ext cx="2142667" cy="1581912"/>
          </a:xfrm>
          <a:prstGeom prst="rect">
            <a:avLst/>
          </a:prstGeom>
          <a:noFill/>
        </p:spPr>
        <p:txBody>
          <a:bodyPr wrap="square" lIns="45720" rIns="45720" tIns="27432" bIns="27432" anchor="t">
            <a:noAutofit/>
          </a:bodyPr>
          <a:lstStyle/>
          <a:p>
            <a:pPr algn="l">
              <a:lnSpc>
                <a:spcPct val="100000"/>
              </a:lnSpc>
            </a:pPr>
            <a:r>
              <a:rPr sz="2200" b="1" i="0">
                <a:solidFill>
                  <a:srgbClr val="E2B462"/>
                </a:solidFill>
                <a:latin typeface="Consolas"/>
              </a:rPr>
              <a:t>.fpmt</a:t>
            </a:r>
          </a:p>
          <a:p>
            <a:pPr algn="l">
              <a:lnSpc>
                <a:spcPct val="100000"/>
              </a:lnSpc>
              <a:spcBef>
                <a:spcPts val="800"/>
              </a:spcBef>
            </a:pPr>
            <a:r>
              <a:rPr sz="1300" b="0" i="0">
                <a:solidFill>
                  <a:srgbClr val="ECE7DC"/>
                </a:solidFill>
                <a:latin typeface="Segoe UI"/>
              </a:rPr>
              <a:t>A portable JSON diagram: </a:t>
            </a:r>
            <a:r>
              <a:rPr sz="1200" b="0" i="0">
                <a:solidFill>
                  <a:srgbClr val="E2B462"/>
                </a:solidFill>
                <a:latin typeface="Consolas"/>
              </a:rPr>
              <a:t>tlamatini-prompting-flow</a:t>
            </a:r>
            <a:r>
              <a:rPr sz="1300" b="0" i="0">
                <a:solidFill>
                  <a:srgbClr val="ECE7DC"/>
                </a:solidFill>
                <a:latin typeface="Segoe UI"/>
              </a:rPr>
              <a:t>, version 1. Opening a file never runs it; Validate, then Play.</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1.</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operations,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Preserves unrelated configuration; downloads nothing.</a:t>
            </a:r>
          </a:p>
        </p:txBody>
      </p:sp>
      <p:graphicFrame>
        <p:nvGraphicFramePr>
          <p:cNvPr id="24" name="Chart 23"/>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5" name="Connector 2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7" name="TextBox 2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2880360"/>
          </a:xfrm>
          <a:prstGeom prst="roundRect">
            <a:avLst>
              <a:gd name="adj" fmla="val 253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into one definitive report.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AND NETWORK</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Search that survives, measurement that shows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Googler keeps finding results when browsers are refused, and NetSpeed-Calculator publishes a speed with its confidence interval.</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Googler tiers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plain-HTTP routes, then visible Chrome across seven.</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builder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Valid operators, presets, grouped filters, links_only output.</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NetSpeed</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3758184"/>
          </a:xfrm>
          <a:prstGeom prst="roundRect">
            <a:avLst>
              <a:gd name="adj" fmla="val 194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Binary-content guard</a:t>
            </a:r>
          </a:p>
        </p:txBody>
      </p:sp>
      <p:sp>
        <p:nvSpPr>
          <p:cNvPr id="14" name="TextBox 13"/>
          <p:cNvSpPr txBox="1"/>
          <p:nvPr/>
        </p:nvSpPr>
        <p:spPr>
          <a:xfrm>
            <a:off x="3957431"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15" name="TextBox 14"/>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Dropping real context is worse than embedding one odd file.</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Verdict parsing</a:t>
            </a:r>
          </a:p>
        </p:txBody>
      </p:sp>
      <p:sp>
        <p:nvSpPr>
          <p:cNvPr id="18" name="TextBox 17"/>
          <p:cNvSpPr txBox="1"/>
          <p:nvPr/>
        </p:nvSpPr>
        <p:spPr>
          <a:xfrm>
            <a:off x="3957431" y="2880360"/>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19" name="TextBox 18"/>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parse error falls through to the next rule; it never raises.</a:t>
            </a:r>
          </a:p>
        </p:txBody>
      </p:sp>
      <p:sp>
        <p:nvSpPr>
          <p:cNvPr id="20" name="TextBox 19"/>
          <p:cNvSpPr txBox="1"/>
          <p:nvPr/>
        </p:nvSpPr>
        <p:spPr>
          <a:xfrm>
            <a:off x="640080" y="325526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Port and console settings</a:t>
            </a:r>
          </a:p>
        </p:txBody>
      </p:sp>
      <p:sp>
        <p:nvSpPr>
          <p:cNvPr id="21" name="TextBox 20"/>
          <p:cNvSpPr txBox="1"/>
          <p:nvPr/>
        </p:nvSpPr>
        <p:spPr>
          <a:xfrm>
            <a:off x="3957431" y="3255264"/>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22" name="TextBox 21"/>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typo must never stop the server from starting.</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 provisioner</a:t>
            </a:r>
          </a:p>
        </p:txBody>
      </p:sp>
      <p:sp>
        <p:nvSpPr>
          <p:cNvPr id="25" name="TextBox 24"/>
          <p:cNvSpPr txBox="1"/>
          <p:nvPr/>
        </p:nvSpPr>
        <p:spPr>
          <a:xfrm>
            <a:off x="3957431" y="3630168"/>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a:t>
            </a:r>
          </a:p>
        </p:txBody>
      </p:sp>
      <p:sp>
        <p:nvSpPr>
          <p:cNvPr id="26" name="TextBox 25"/>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failed download never blocks start-up.</a:t>
            </a:r>
          </a:p>
        </p:txBody>
      </p:sp>
      <p:sp>
        <p:nvSpPr>
          <p:cNvPr id="27" name="TextBox 26"/>
          <p:cNvSpPr txBox="1"/>
          <p:nvPr/>
        </p:nvSpPr>
        <p:spPr>
          <a:xfrm>
            <a:off x="640080" y="4005072"/>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8" name="TextBox 27"/>
          <p:cNvSpPr txBox="1"/>
          <p:nvPr/>
        </p:nvSpPr>
        <p:spPr>
          <a:xfrm>
            <a:off x="3957431" y="4005072"/>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29" name="TextBox 28"/>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Any doubt resolves to Deny.</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copies</a:t>
            </a:r>
          </a:p>
        </p:txBody>
      </p:sp>
      <p:sp>
        <p:nvSpPr>
          <p:cNvPr id="32" name="TextBox 31"/>
          <p:cNvSpPr txBox="1"/>
          <p:nvPr/>
        </p:nvSpPr>
        <p:spPr>
          <a:xfrm>
            <a:off x="3957431" y="437997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33" name="TextBox 32"/>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An unclear or unchecked copy is reported as a failure.</a:t>
            </a:r>
          </a:p>
        </p:txBody>
      </p:sp>
      <p:sp>
        <p:nvSpPr>
          <p:cNvPr id="34" name="TextBox 33"/>
          <p:cNvSpPr txBox="1"/>
          <p:nvPr/>
        </p:nvSpPr>
        <p:spPr>
          <a:xfrm>
            <a:off x="640080" y="475488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 bisect guard</a:t>
            </a:r>
          </a:p>
        </p:txBody>
      </p:sp>
      <p:sp>
        <p:nvSpPr>
          <p:cNvPr id="35" name="TextBox 34"/>
          <p:cNvSpPr txBox="1"/>
          <p:nvPr/>
        </p:nvSpPr>
        <p:spPr>
          <a:xfrm>
            <a:off x="3957431" y="4754880"/>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36" name="TextBox 35"/>
          <p:cNvSpPr txBox="1"/>
          <p:nvPr/>
        </p:nvSpPr>
        <p:spPr>
          <a:xfrm>
            <a:off x="5726686" y="475488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When in doubt, protect the author's content.</a:t>
            </a:r>
          </a:p>
        </p:txBody>
      </p:sp>
      <p:sp>
        <p:nvSpPr>
          <p:cNvPr id="37" name="Rectangle 36"/>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12978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Firmware preflights</a:t>
            </a:r>
          </a:p>
        </p:txBody>
      </p:sp>
      <p:sp>
        <p:nvSpPr>
          <p:cNvPr id="39" name="TextBox 38"/>
          <p:cNvSpPr txBox="1"/>
          <p:nvPr/>
        </p:nvSpPr>
        <p:spPr>
          <a:xfrm>
            <a:off x="3957431" y="5129784"/>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40" name="TextBox 39"/>
          <p:cNvSpPr txBox="1"/>
          <p:nvPr/>
        </p:nvSpPr>
        <p:spPr>
          <a:xfrm>
            <a:off x="5726686" y="512978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Refuse rather than build or flash the wrong target.</a:t>
            </a:r>
          </a:p>
        </p:txBody>
      </p:sp>
      <p:sp>
        <p:nvSpPr>
          <p:cNvPr id="41" name="TextBox 40"/>
          <p:cNvSpPr txBox="1"/>
          <p:nvPr/>
        </p:nvSpPr>
        <p:spPr>
          <a:xfrm>
            <a:off x="640080" y="550468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Deleter</a:t>
            </a:r>
          </a:p>
        </p:txBody>
      </p:sp>
      <p:sp>
        <p:nvSpPr>
          <p:cNvPr id="42" name="TextBox 41"/>
          <p:cNvSpPr txBox="1"/>
          <p:nvPr/>
        </p:nvSpPr>
        <p:spPr>
          <a:xfrm>
            <a:off x="3957431" y="5504688"/>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Safe</a:t>
            </a:r>
          </a:p>
        </p:txBody>
      </p:sp>
      <p:sp>
        <p:nvSpPr>
          <p:cNvPr id="43" name="TextBox 42"/>
          <p:cNvSpPr txBox="1"/>
          <p:nvPr/>
        </p:nvSpPr>
        <p:spPr>
          <a:xfrm>
            <a:off x="5726686" y="550468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Refuses protected folders, repository roots and drive roots.</a:t>
            </a:r>
          </a:p>
        </p:txBody>
      </p:sp>
      <p:cxnSp>
        <p:nvCxnSpPr>
          <p:cNvPr id="44" name="Connector 4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46" name="TextBox 4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release installer, which bundles Python 3.12.10,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source audit covers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Zero missing declarations; 10 guard tests and four build dependency checks passed.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Resolution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Main and separate ESPHome dry runs passed; new dependencies passed temporary-environment smoke checks.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Optional: her rebuildable source ships beside her.</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8000 (configurable), 8765 and 50051 on loopback.</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a:t>
            </a:r>
          </a:p>
        </p:txBody>
      </p:sp>
      <p:sp>
        <p:nvSpPr>
          <p:cNvPr id="34" name="TextBox 33"/>
          <p:cNvSpPr txBox="1"/>
          <p:nvPr/>
        </p:nvSpPr>
        <p:spPr>
          <a:xfrm>
            <a:off x="73139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context provider.</a:t>
            </a:r>
          </a:p>
        </p:txBody>
      </p:sp>
      <p:sp>
        <p:nvSpPr>
          <p:cNvPr id="36" name="TextBox 35"/>
          <p:cNvSpPr txBox="1"/>
          <p:nvPr/>
        </p:nvSpPr>
        <p:spPr>
          <a:xfrm>
            <a:off x="6217920" y="3346703"/>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a:t>
            </a:r>
          </a:p>
        </p:txBody>
      </p:sp>
      <p:sp>
        <p:nvSpPr>
          <p:cNvPr id="37" name="TextBox 36"/>
          <p:cNvSpPr txBox="1"/>
          <p:nvPr/>
        </p:nvSpPr>
        <p:spPr>
          <a:xfrm>
            <a:off x="73139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346703"/>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context provider.</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django_port</a:t>
            </a:r>
          </a:p>
        </p:txBody>
      </p:sp>
      <p:sp>
        <p:nvSpPr>
          <p:cNvPr id="14" name="TextBox 13"/>
          <p:cNvSpPr txBox="1"/>
          <p:nvPr/>
        </p:nvSpPr>
        <p:spPr>
          <a:xfrm>
            <a:off x="4731480"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8000</a:t>
            </a:r>
          </a:p>
        </p:txBody>
      </p:sp>
      <p:sp>
        <p:nvSpPr>
          <p:cNvPr id="15" name="TextBox 14"/>
          <p:cNvSpPr txBox="1"/>
          <p:nvPr/>
        </p:nvSpPr>
        <p:spPr>
          <a:xfrm>
            <a:off x="6500734" y="2505456"/>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Web port for every launch path; fails open to 8000.</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unified_agent_max_iterations</a:t>
            </a:r>
          </a:p>
        </p:txBody>
      </p:sp>
      <p:sp>
        <p:nvSpPr>
          <p:cNvPr id="18" name="TextBox 17"/>
          <p:cNvSpPr txBox="1"/>
          <p:nvPr/>
        </p:nvSpPr>
        <p:spPr>
          <a:xfrm>
            <a:off x="4731480"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4096</a:t>
            </a:r>
          </a:p>
        </p:txBody>
      </p:sp>
      <p:sp>
        <p:nvSpPr>
          <p:cNvPr id="19" name="TextBox 18"/>
          <p:cNvSpPr txBox="1"/>
          <p:nvPr/>
        </p:nvSpPr>
        <p:spPr>
          <a:xfrm>
            <a:off x="6500734" y="2872740"/>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Upper bound on Multi-Turn tool-loop turns.</a:t>
            </a:r>
          </a:p>
        </p:txBody>
      </p:sp>
      <p:sp>
        <p:nvSpPr>
          <p:cNvPr id="20" name="TextBox 19"/>
          <p:cNvSpPr txBox="1"/>
          <p:nvPr/>
        </p:nvSpPr>
        <p:spPr>
          <a:xfrm>
            <a:off x="640080" y="3240023"/>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unified_agent_llm_step_timeout_seconds</a:t>
            </a:r>
          </a:p>
        </p:txBody>
      </p:sp>
      <p:sp>
        <p:nvSpPr>
          <p:cNvPr id="21" name="TextBox 20"/>
          <p:cNvSpPr txBox="1"/>
          <p:nvPr/>
        </p:nvSpPr>
        <p:spPr>
          <a:xfrm>
            <a:off x="4731480"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900</a:t>
            </a:r>
          </a:p>
        </p:txBody>
      </p:sp>
      <p:sp>
        <p:nvSpPr>
          <p:cNvPr id="22" name="TextBox 21"/>
          <p:cNvSpPr txBox="1"/>
          <p:nvPr/>
        </p:nvSpPr>
        <p:spPr>
          <a:xfrm>
            <a:off x="6500734" y="3240023"/>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Watchdog for one model attempt.</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llm_client_timeout_seconds</a:t>
            </a:r>
          </a:p>
        </p:txBody>
      </p:sp>
      <p:sp>
        <p:nvSpPr>
          <p:cNvPr id="25" name="TextBox 24"/>
          <p:cNvSpPr txBox="1"/>
          <p:nvPr/>
        </p:nvSpPr>
        <p:spPr>
          <a:xfrm>
            <a:off x="4731480"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600</a:t>
            </a:r>
          </a:p>
        </p:txBody>
      </p:sp>
      <p:sp>
        <p:nvSpPr>
          <p:cNvPr id="26" name="TextBox 25"/>
          <p:cNvSpPr txBox="1"/>
          <p:nvPr/>
        </p:nvSpPr>
        <p:spPr>
          <a:xfrm>
            <a:off x="6500734" y="3607307"/>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How long one model call may take.</a:t>
            </a:r>
          </a:p>
        </p:txBody>
      </p:sp>
      <p:sp>
        <p:nvSpPr>
          <p:cNvPr id="27" name="TextBox 26"/>
          <p:cNvSpPr txBox="1"/>
          <p:nvPr/>
        </p:nvSpPr>
        <p:spPr>
          <a:xfrm>
            <a:off x="640080" y="3974591"/>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ollama_repeat_penalty</a:t>
            </a:r>
          </a:p>
        </p:txBody>
      </p:sp>
      <p:sp>
        <p:nvSpPr>
          <p:cNvPr id="28" name="TextBox 27"/>
          <p:cNvSpPr txBox="1"/>
          <p:nvPr/>
        </p:nvSpPr>
        <p:spPr>
          <a:xfrm>
            <a:off x="4731480"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1.2</a:t>
            </a:r>
          </a:p>
        </p:txBody>
      </p:sp>
      <p:sp>
        <p:nvSpPr>
          <p:cNvPr id="29" name="TextBox 28"/>
          <p:cNvSpPr txBox="1"/>
          <p:nvPr/>
        </p:nvSpPr>
        <p:spPr>
          <a:xfrm>
            <a:off x="6500734" y="3974591"/>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Repetition penalty; 1.9 emptied answers.</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ollama_repeat_last_n</a:t>
            </a:r>
          </a:p>
        </p:txBody>
      </p:sp>
      <p:sp>
        <p:nvSpPr>
          <p:cNvPr id="32" name="TextBox 31"/>
          <p:cNvSpPr txBox="1"/>
          <p:nvPr/>
        </p:nvSpPr>
        <p:spPr>
          <a:xfrm>
            <a:off x="4731480"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256</a:t>
            </a:r>
          </a:p>
        </p:txBody>
      </p:sp>
      <p:sp>
        <p:nvSpPr>
          <p:cNvPr id="33" name="TextBox 32"/>
          <p:cNvSpPr txBox="1"/>
          <p:nvPr/>
        </p:nvSpPr>
        <p:spPr>
          <a:xfrm>
            <a:off x="6500734" y="4341875"/>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How far back that penalty looks.</a:t>
            </a:r>
          </a:p>
        </p:txBody>
      </p:sp>
      <p:sp>
        <p:nvSpPr>
          <p:cNvPr id="34" name="TextBox 33"/>
          <p:cNvSpPr txBox="1"/>
          <p:nvPr/>
        </p:nvSpPr>
        <p:spPr>
          <a:xfrm>
            <a:off x="640080" y="4709159"/>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ollama_num_ctx</a:t>
            </a:r>
          </a:p>
        </p:txBody>
      </p:sp>
      <p:sp>
        <p:nvSpPr>
          <p:cNvPr id="35" name="TextBox 34"/>
          <p:cNvSpPr txBox="1"/>
          <p:nvPr/>
        </p:nvSpPr>
        <p:spPr>
          <a:xfrm>
            <a:off x="4731480"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1048576</a:t>
            </a:r>
          </a:p>
        </p:txBody>
      </p:sp>
      <p:sp>
        <p:nvSpPr>
          <p:cNvPr id="36" name="TextBox 35"/>
          <p:cNvSpPr txBox="1"/>
          <p:nvPr/>
        </p:nvSpPr>
        <p:spPr>
          <a:xfrm>
            <a:off x="6500734" y="4709159"/>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Requested context window.</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binary_context_detection</a:t>
            </a:r>
          </a:p>
        </p:txBody>
      </p:sp>
      <p:sp>
        <p:nvSpPr>
          <p:cNvPr id="39" name="TextBox 38"/>
          <p:cNvSpPr txBox="1"/>
          <p:nvPr/>
        </p:nvSpPr>
        <p:spPr>
          <a:xfrm>
            <a:off x="4731480"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true</a:t>
            </a:r>
          </a:p>
        </p:txBody>
      </p:sp>
      <p:sp>
        <p:nvSpPr>
          <p:cNvPr id="40" name="TextBox 39"/>
          <p:cNvSpPr txBox="1"/>
          <p:nvPr/>
        </p:nvSpPr>
        <p:spPr>
          <a:xfrm>
            <a:off x="6500734" y="5076443"/>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Screens files by content before embedding.</a:t>
            </a:r>
          </a:p>
        </p:txBody>
      </p:sp>
      <p:sp>
        <p:nvSpPr>
          <p:cNvPr id="41" name="TextBox 40"/>
          <p:cNvSpPr txBox="1"/>
          <p:nvPr/>
        </p:nvSpPr>
        <p:spPr>
          <a:xfrm>
            <a:off x="640080" y="5443727"/>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console_quick_edit</a:t>
            </a:r>
          </a:p>
        </p:txBody>
      </p:sp>
      <p:sp>
        <p:nvSpPr>
          <p:cNvPr id="42" name="TextBox 41"/>
          <p:cNvSpPr txBox="1"/>
          <p:nvPr/>
        </p:nvSpPr>
        <p:spPr>
          <a:xfrm>
            <a:off x="4731480"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false</a:t>
            </a:r>
          </a:p>
        </p:txBody>
      </p:sp>
      <p:sp>
        <p:nvSpPr>
          <p:cNvPr id="43" name="TextBox 42"/>
          <p:cNvSpPr txBox="1"/>
          <p:nvPr/>
        </p:nvSpPr>
        <p:spPr>
          <a:xfrm>
            <a:off x="6500734" y="5443727"/>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Keeps a click from pausing a frozen console.</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945096"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runtime_autoprovision</a:t>
            </a:r>
          </a:p>
        </p:txBody>
      </p:sp>
      <p:sp>
        <p:nvSpPr>
          <p:cNvPr id="46" name="TextBox 45"/>
          <p:cNvSpPr txBox="1"/>
          <p:nvPr/>
        </p:nvSpPr>
        <p:spPr>
          <a:xfrm>
            <a:off x="4731480"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true</a:t>
            </a:r>
          </a:p>
        </p:txBody>
      </p:sp>
      <p:sp>
        <p:nvSpPr>
          <p:cNvPr id="47" name="TextBox 46"/>
          <p:cNvSpPr txBox="1"/>
          <p:nvPr/>
        </p:nvSpPr>
        <p:spPr>
          <a:xfrm>
            <a:off x="6500734" y="5811011"/>
            <a:ext cx="505088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Lets MCP servers provision Node or uv privately.</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sampler values come from repeated trials on real workloads. That failure is heavy-tailed, so a single fast run is never a reason to change them.</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SHA-256 for every payload file, checked twice.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300" b="0" i="0">
                <a:solidFill>
                  <a:srgbClr val="F7F2E8"/>
                </a:solidFill>
                <a:latin typeface="Palatino Linotype"/>
              </a:rPr>
              <a:t>Source and Release Status</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Source tag v1.71.0; latest published release v1.70.0. Local changes are stated separately.</a:t>
            </a:r>
          </a:p>
        </p:txBody>
      </p:sp>
      <p:sp>
        <p:nvSpPr>
          <p:cNvPr id="8" name="Diamond 7"/>
          <p:cNvSpPr/>
          <p:nvPr/>
        </p:nvSpPr>
        <p:spPr>
          <a:xfrm>
            <a:off x="822960" y="534009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Direct dictation and dependency coverage</a:t>
            </a:r>
          </a:p>
        </p:txBody>
      </p:sp>
      <p:sp>
        <p:nvSpPr>
          <p:cNvPr id="10" name="Diamond 9"/>
          <p:cNvSpPr/>
          <p:nvPr/>
        </p:nvSpPr>
        <p:spPr>
          <a:xfrm>
            <a:off x="822960" y="561441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v1.70.0: the Prompt Flow Panel</a:t>
            </a:r>
          </a:p>
        </p:txBody>
      </p:sp>
      <p:sp>
        <p:nvSpPr>
          <p:cNvPr id="12" name="Diamond 11"/>
          <p:cNvSpPr/>
          <p:nvPr/>
        </p:nvSpPr>
        <p:spPr>
          <a:xfrm>
            <a:off x="822960" y="588873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How the line arrived here</a:t>
            </a:r>
          </a:p>
        </p:txBody>
      </p:sp>
      <p:sp>
        <p:nvSpPr>
          <p:cNvPr id="14" name="Diamond 13"/>
          <p:cNvSpPr/>
          <p:nvPr/>
        </p:nvSpPr>
        <p:spPr>
          <a:xfrm>
            <a:off x="4206240" y="5340096"/>
            <a:ext cx="91440" cy="91440"/>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Tag, commit and publication, stated plainly</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DEVELOPMENT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are in the working tree; a source tag does not publish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Restart source runs; rebuild and validate an installer before distributing these changes.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2026-09-16</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v1.61.0</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v1.61.0 Now PDF loading in main canvas is way too cool, and use it as context is even cooler!!.</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2026-09-16</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v1.62.0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v1.62.0 Now PDF loading in main canvas is way too cool, and use it as context is even cooler</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2026-09-19</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v1.62.2</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v1.62.2 Setting more comfortable value of sleep stop timer to 3.5s, and setting jcyhsiao/qwen3.5cloud:latest to replace the obsolete qwen3.5:cloud.</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2026-09-19</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v1.63.0</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v1.63.0 Empowering Video-Analyzer agent!.</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v1.64.0</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v1.64.0 Empowering general model selection in configuration!.</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v1.65.0</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v1.65.0 Context meter implemented!.</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v1.65.2</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v1.65.2 Context Governor improved: measure the real request, and never bind zero tools.</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2026-09-20</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v1.65.3</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Release v1.65.3 Improved LaTeXer: bracing a leading before a command eats it as an optional argument.</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2026-09-21</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v1.65.4</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v1.65.4 Improved gauge of context.</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2026-09-22</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v1.65.5</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v1.65.5 Fixing spinner state while initially re-loading context.</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2026-09-26</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v1.70.0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v1.70.0 A dozen of improvements based/towards on the Prompting Flow Panel and UX Standarization between both panels.</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v1.71.0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v1.71.0 Implementing a fancy fancy microphone to Whsperer in a cero latency direct impl. into Tlamatini's Chat.</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v1.71.0 resolves to </a:t>
            </a:r>
            <a:r>
              <a:rPr sz="1300" b="0" i="0">
                <a:solidFill>
                  <a:srgbClr val="E2B462"/>
                </a:solidFill>
                <a:latin typeface="Consolas"/>
              </a:rPr>
              <a:t>512973fb</a:t>
            </a:r>
            <a:r>
              <a:rPr sz="1400" b="0" i="0">
                <a:solidFill>
                  <a:srgbClr val="A7B2B0"/>
                </a:solidFill>
                <a:latin typeface="Segoe UI"/>
              </a:rPr>
              <a:t>, created 2026-09-27.</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Beyond it</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 newer commit(s); a build from them still reports 1.71.0.</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newest release on GitHub is v1.70.0.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Reported version</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1.71.0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v1.71.0 → 512973fb (2026-09-27)</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HEAD</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0cfe4d00 (2 commit(s) after the tag)</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v1.70.0</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0cfe4d00 · 2026-09-27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Reported 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1.71.0 (git)</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1,559</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1,321</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240</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517,372</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400,999</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210</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50 · 17 · 5</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87</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400,999 effective lines across 1,321 text files; 517,372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744</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296,794</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207,912</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51.8%</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103,847</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102,470</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25.6%</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204</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42,748</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32,355</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8.1%</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73</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29,902</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23,650</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15,969</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12,801</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6,259</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6,259</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38</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6,782</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5,803</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96</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6,202</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2,303</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0.6%</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2,520</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1,838</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1,524</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1,382</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1,407</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1,350</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1,556</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1,229</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380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264</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25</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25</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1,321</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517,372</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400,999</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1,190</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289,952</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111,047</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1,321</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400,999</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8,728</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5,963</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5,194</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3,427</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3,324</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3,158</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3,005</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2,429</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2,167</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Tlamatini/agent/static/agent/css/agentic_control_panel.css</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CSS</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2,133</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Tlamatini/agent/agents/stm32er/stm32er.py</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1,983</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1,930</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1,867</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Tlamatini/agent/mcp_agent.py</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1,857</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Tlamatini/agent/static/agent/js/acp-agent-connectors.js</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1,595</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Tlamatini/agent/static/agent/js/agent_page_init.js</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1,579</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1,489</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073652"/>
          </a:xfrm>
          <a:prstGeom prst="roundRect">
            <a:avLst>
              <a:gd name="adj" fmla="val 17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0cfe4d00</a:t>
            </a:r>
          </a:p>
        </p:txBody>
      </p:sp>
      <p:sp>
        <p:nvSpPr>
          <p:cNvPr id="14" name="TextBox 13"/>
          <p:cNvSpPr txBox="1"/>
          <p:nvPr/>
        </p:nvSpPr>
        <p:spPr>
          <a:xfrm>
            <a:off x="1967020" y="2505456"/>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2026-09-27</a:t>
            </a:r>
          </a:p>
        </p:txBody>
      </p:sp>
      <p:sp>
        <p:nvSpPr>
          <p:cNvPr id="15" name="TextBox 14"/>
          <p:cNvSpPr txBox="1"/>
          <p:nvPr/>
        </p:nvSpPr>
        <p:spPr>
          <a:xfrm>
            <a:off x="3515118" y="2505456"/>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Syncing the dev model configuration with the installed Tlamatini, by Claude</a:t>
            </a:r>
          </a:p>
        </p:txBody>
      </p:sp>
      <p:sp>
        <p:nvSpPr>
          <p:cNvPr id="16" name="Rectangle 15"/>
          <p:cNvSpPr/>
          <p:nvPr/>
        </p:nvSpPr>
        <p:spPr>
          <a:xfrm>
            <a:off x="585216" y="2775203"/>
            <a:ext cx="11021263" cy="4663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445797f8</a:t>
            </a:r>
          </a:p>
        </p:txBody>
      </p:sp>
      <p:sp>
        <p:nvSpPr>
          <p:cNvPr id="18" name="TextBox 17"/>
          <p:cNvSpPr txBox="1"/>
          <p:nvPr/>
        </p:nvSpPr>
        <p:spPr>
          <a:xfrm>
            <a:off x="1967020" y="2811779"/>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2026-09-27</a:t>
            </a:r>
          </a:p>
        </p:txBody>
      </p:sp>
      <p:sp>
        <p:nvSpPr>
          <p:cNvPr id="19" name="TextBox 18"/>
          <p:cNvSpPr txBox="1"/>
          <p:nvPr/>
        </p:nvSpPr>
        <p:spPr>
          <a:xfrm>
            <a:off x="3515118" y="2811779"/>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Implementing a very fancy microphone to Whsperer in a cero latency direct implementation into Tlamatini's Chat, by angelahack1</a:t>
            </a:r>
          </a:p>
        </p:txBody>
      </p:sp>
      <p:sp>
        <p:nvSpPr>
          <p:cNvPr id="20" name="TextBox 19"/>
          <p:cNvSpPr txBox="1"/>
          <p:nvPr/>
        </p:nvSpPr>
        <p:spPr>
          <a:xfrm>
            <a:off x="640080" y="3278124"/>
            <a:ext cx="1180636" cy="393192"/>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512973fb</a:t>
            </a:r>
          </a:p>
        </p:txBody>
      </p:sp>
      <p:sp>
        <p:nvSpPr>
          <p:cNvPr id="21" name="TextBox 20"/>
          <p:cNvSpPr txBox="1"/>
          <p:nvPr/>
        </p:nvSpPr>
        <p:spPr>
          <a:xfrm>
            <a:off x="1967020" y="3278124"/>
            <a:ext cx="1401793"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2026-09-27</a:t>
            </a:r>
          </a:p>
        </p:txBody>
      </p:sp>
      <p:sp>
        <p:nvSpPr>
          <p:cNvPr id="22" name="TextBox 21"/>
          <p:cNvSpPr txBox="1"/>
          <p:nvPr/>
        </p:nvSpPr>
        <p:spPr>
          <a:xfrm>
            <a:off x="3515118" y="3278124"/>
            <a:ext cx="8036497" cy="393192"/>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Image analizers improved with real error reports in fatal level instead of silently proceed on this delicate topic for Tlamatini: images, by angelahack1</a:t>
            </a:r>
          </a:p>
        </p:txBody>
      </p:sp>
      <p:sp>
        <p:nvSpPr>
          <p:cNvPr id="23" name="Rectangle 22"/>
          <p:cNvSpPr/>
          <p:nvPr/>
        </p:nvSpPr>
        <p:spPr>
          <a:xfrm>
            <a:off x="585216" y="370789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744468"/>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efc21e25</a:t>
            </a:r>
          </a:p>
        </p:txBody>
      </p:sp>
      <p:sp>
        <p:nvSpPr>
          <p:cNvPr id="25" name="TextBox 24"/>
          <p:cNvSpPr txBox="1"/>
          <p:nvPr/>
        </p:nvSpPr>
        <p:spPr>
          <a:xfrm>
            <a:off x="1967020" y="3744468"/>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2026-09-26</a:t>
            </a:r>
          </a:p>
        </p:txBody>
      </p:sp>
      <p:sp>
        <p:nvSpPr>
          <p:cNvPr id="26" name="TextBox 25"/>
          <p:cNvSpPr txBox="1"/>
          <p:nvPr/>
        </p:nvSpPr>
        <p:spPr>
          <a:xfrm>
            <a:off x="3515118" y="3744468"/>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Partial shit repaired by claude a iditot as claude are very often.</a:t>
            </a:r>
          </a:p>
        </p:txBody>
      </p:sp>
      <p:sp>
        <p:nvSpPr>
          <p:cNvPr id="27" name="TextBox 26"/>
          <p:cNvSpPr txBox="1"/>
          <p:nvPr/>
        </p:nvSpPr>
        <p:spPr>
          <a:xfrm>
            <a:off x="640080" y="4050791"/>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f8f6aa2d</a:t>
            </a:r>
          </a:p>
        </p:txBody>
      </p:sp>
      <p:sp>
        <p:nvSpPr>
          <p:cNvPr id="28" name="TextBox 27"/>
          <p:cNvSpPr txBox="1"/>
          <p:nvPr/>
        </p:nvSpPr>
        <p:spPr>
          <a:xfrm>
            <a:off x="1967020" y="4050791"/>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2026-09-26</a:t>
            </a:r>
          </a:p>
        </p:txBody>
      </p:sp>
      <p:sp>
        <p:nvSpPr>
          <p:cNvPr id="29" name="TextBox 28"/>
          <p:cNvSpPr txBox="1"/>
          <p:nvPr/>
        </p:nvSpPr>
        <p:spPr>
          <a:xfrm>
            <a:off x="3515118" y="4050791"/>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Replacing the retired qwen3.5 vision model with mistral-large-3:675b-cloud, by Claude</a:t>
            </a:r>
          </a:p>
        </p:txBody>
      </p:sp>
      <p:sp>
        <p:nvSpPr>
          <p:cNvPr id="30" name="Rectangle 29"/>
          <p:cNvSpPr/>
          <p:nvPr/>
        </p:nvSpPr>
        <p:spPr>
          <a:xfrm>
            <a:off x="585216" y="4320540"/>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57116"/>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426378ba</a:t>
            </a:r>
          </a:p>
        </p:txBody>
      </p:sp>
      <p:sp>
        <p:nvSpPr>
          <p:cNvPr id="32" name="TextBox 31"/>
          <p:cNvSpPr txBox="1"/>
          <p:nvPr/>
        </p:nvSpPr>
        <p:spPr>
          <a:xfrm>
            <a:off x="1967020" y="4357116"/>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2026-09-26</a:t>
            </a:r>
          </a:p>
        </p:txBody>
      </p:sp>
      <p:sp>
        <p:nvSpPr>
          <p:cNvPr id="33" name="TextBox 32"/>
          <p:cNvSpPr txBox="1"/>
          <p:nvPr/>
        </p:nvSpPr>
        <p:spPr>
          <a:xfrm>
            <a:off x="3515118" y="4357116"/>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Fixing PDF context image analysis sending "@config" as the model name, by Claude</a:t>
            </a:r>
          </a:p>
        </p:txBody>
      </p:sp>
      <p:sp>
        <p:nvSpPr>
          <p:cNvPr id="34" name="TextBox 33"/>
          <p:cNvSpPr txBox="1"/>
          <p:nvPr/>
        </p:nvSpPr>
        <p:spPr>
          <a:xfrm>
            <a:off x="640080" y="4663440"/>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d12646f2</a:t>
            </a:r>
          </a:p>
        </p:txBody>
      </p:sp>
      <p:sp>
        <p:nvSpPr>
          <p:cNvPr id="35" name="TextBox 34"/>
          <p:cNvSpPr txBox="1"/>
          <p:nvPr/>
        </p:nvSpPr>
        <p:spPr>
          <a:xfrm>
            <a:off x="1967020" y="4663440"/>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2026-09-26</a:t>
            </a:r>
          </a:p>
        </p:txBody>
      </p:sp>
      <p:sp>
        <p:nvSpPr>
          <p:cNvPr id="36" name="TextBox 35"/>
          <p:cNvSpPr txBox="1"/>
          <p:nvPr/>
        </p:nvSpPr>
        <p:spPr>
          <a:xfrm>
            <a:off x="3515118" y="4663440"/>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Self-update / self-modify inclusion sweep of this week's work, by Claude</a:t>
            </a:r>
          </a:p>
        </p:txBody>
      </p:sp>
      <p:sp>
        <p:nvSpPr>
          <p:cNvPr id="37" name="Rectangle 36"/>
          <p:cNvSpPr/>
          <p:nvPr/>
        </p:nvSpPr>
        <p:spPr>
          <a:xfrm>
            <a:off x="585216" y="4933188"/>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969764"/>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8a2e0054</a:t>
            </a:r>
          </a:p>
        </p:txBody>
      </p:sp>
      <p:sp>
        <p:nvSpPr>
          <p:cNvPr id="39" name="TextBox 38"/>
          <p:cNvSpPr txBox="1"/>
          <p:nvPr/>
        </p:nvSpPr>
        <p:spPr>
          <a:xfrm>
            <a:off x="1967020" y="4969764"/>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2026-09-26</a:t>
            </a:r>
          </a:p>
        </p:txBody>
      </p:sp>
      <p:sp>
        <p:nvSpPr>
          <p:cNvPr id="40" name="TextBox 39"/>
          <p:cNvSpPr txBox="1"/>
          <p:nvPr/>
        </p:nvSpPr>
        <p:spPr>
          <a:xfrm>
            <a:off x="3515118" y="4969764"/>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Fixing additional standarizations in both panels, by angelahack1</a:t>
            </a:r>
          </a:p>
        </p:txBody>
      </p:sp>
      <p:sp>
        <p:nvSpPr>
          <p:cNvPr id="41" name="TextBox 40"/>
          <p:cNvSpPr txBox="1"/>
          <p:nvPr/>
        </p:nvSpPr>
        <p:spPr>
          <a:xfrm>
            <a:off x="640080" y="5276088"/>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bbbd2197</a:t>
            </a:r>
          </a:p>
        </p:txBody>
      </p:sp>
      <p:sp>
        <p:nvSpPr>
          <p:cNvPr id="42" name="TextBox 41"/>
          <p:cNvSpPr txBox="1"/>
          <p:nvPr/>
        </p:nvSpPr>
        <p:spPr>
          <a:xfrm>
            <a:off x="1967020" y="5276088"/>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2026-09-26</a:t>
            </a:r>
          </a:p>
        </p:txBody>
      </p:sp>
      <p:sp>
        <p:nvSpPr>
          <p:cNvPr id="43" name="TextBox 42"/>
          <p:cNvSpPr txBox="1"/>
          <p:nvPr/>
        </p:nvSpPr>
        <p:spPr>
          <a:xfrm>
            <a:off x="3515118" y="5276088"/>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Regenerating the PDF and PPTX dossiers for v1.70.0, by Claude</a:t>
            </a:r>
          </a:p>
        </p:txBody>
      </p:sp>
      <p:sp>
        <p:nvSpPr>
          <p:cNvPr id="44" name="Rectangle 43"/>
          <p:cNvSpPr/>
          <p:nvPr/>
        </p:nvSpPr>
        <p:spPr>
          <a:xfrm>
            <a:off x="585216" y="5545836"/>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82412"/>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33c7485f</a:t>
            </a:r>
          </a:p>
        </p:txBody>
      </p:sp>
      <p:sp>
        <p:nvSpPr>
          <p:cNvPr id="46" name="TextBox 45"/>
          <p:cNvSpPr txBox="1"/>
          <p:nvPr/>
        </p:nvSpPr>
        <p:spPr>
          <a:xfrm>
            <a:off x="1967020" y="5582412"/>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2026-09-26</a:t>
            </a:r>
          </a:p>
        </p:txBody>
      </p:sp>
      <p:sp>
        <p:nvSpPr>
          <p:cNvPr id="47" name="TextBox 46"/>
          <p:cNvSpPr txBox="1"/>
          <p:nvPr/>
        </p:nvSpPr>
        <p:spPr>
          <a:xfrm>
            <a:off x="3515118" y="5582412"/>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Precious project dossier: a new generator for the PDF and the PPTX, by Claude</a:t>
            </a:r>
          </a:p>
        </p:txBody>
      </p:sp>
      <p:sp>
        <p:nvSpPr>
          <p:cNvPr id="48" name="TextBox 47"/>
          <p:cNvSpPr txBox="1"/>
          <p:nvPr/>
        </p:nvSpPr>
        <p:spPr>
          <a:xfrm>
            <a:off x="640080" y="5888736"/>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105956a1</a:t>
            </a:r>
          </a:p>
        </p:txBody>
      </p:sp>
      <p:sp>
        <p:nvSpPr>
          <p:cNvPr id="49" name="TextBox 48"/>
          <p:cNvSpPr txBox="1"/>
          <p:nvPr/>
        </p:nvSpPr>
        <p:spPr>
          <a:xfrm>
            <a:off x="1967020" y="5888736"/>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2026-09-26</a:t>
            </a:r>
          </a:p>
        </p:txBody>
      </p:sp>
      <p:sp>
        <p:nvSpPr>
          <p:cNvPr id="50" name="TextBox 49"/>
          <p:cNvSpPr txBox="1"/>
          <p:nvPr/>
        </p:nvSpPr>
        <p:spPr>
          <a:xfrm>
            <a:off x="3515118" y="5888736"/>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documentation to v1.70.0, by angelahack1</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987552"/>
          </a:xfrm>
          <a:prstGeom prst="roundRect">
            <a:avLst>
              <a:gd name="adj" fmla="val 74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ca667452</a:t>
            </a:r>
          </a:p>
        </p:txBody>
      </p:sp>
      <p:sp>
        <p:nvSpPr>
          <p:cNvPr id="14" name="TextBox 13"/>
          <p:cNvSpPr txBox="1"/>
          <p:nvPr/>
        </p:nvSpPr>
        <p:spPr>
          <a:xfrm>
            <a:off x="1967020" y="2505456"/>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2026-09-26</a:t>
            </a:r>
          </a:p>
        </p:txBody>
      </p:sp>
      <p:sp>
        <p:nvSpPr>
          <p:cNvPr id="15" name="TextBox 14"/>
          <p:cNvSpPr txBox="1"/>
          <p:nvPr/>
        </p:nvSpPr>
        <p:spPr>
          <a:xfrm>
            <a:off x="3515118" y="2505456"/>
            <a:ext cx="803649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 dozen of improvements based/towards on the Prompting Flow Panel and UX Standarization between both panels, by angelahack1</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1,559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1,559 tracked files at commit 0cfe4d00;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1,559 tracked files at commit 0cfe4d00;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1,559 tracked files at commit 0cfe4d00;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1,559 tracked files at commit 0cfe4d00;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1,559 tracked files at commit 0cfe4d00;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1,559 tracked files at commit 0cfe4d00;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1,559 tracked files at commit 0cfe4d00;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1,559 tracked files at commit 0cfe4d00;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1,559 tracked files at commit 0cfe4d00;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a:p>
            <a:pPr algn="l">
              <a:lnSpc>
                <a:spcPct val="100000"/>
              </a:lnSpc>
            </a:pPr>
            <a:r>
              <a:rPr sz="800" b="0" i="0">
                <a:solidFill>
                  <a:srgbClr val="ECE7DC"/>
                </a:solidFill>
                <a:latin typeface="Consolas"/>
              </a:rPr>
              <a:t>    │   │   ├── 0006_add_notifier.py</a:t>
            </a:r>
          </a:p>
          <a:p>
            <a:pPr algn="l">
              <a:lnSpc>
                <a:spcPct val="100000"/>
              </a:lnSpc>
            </a:pPr>
            <a:r>
              <a:rPr sz="800" b="0" i="0">
                <a:solidFill>
                  <a:srgbClr val="ECE7DC"/>
                </a:solidFill>
                <a:latin typeface="Consolas"/>
              </a:rPr>
              <a:t>    │   │   ├── 0007_add_stopper.py</a:t>
            </a:r>
          </a:p>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a:p>
            <a:pPr algn="l">
              <a:lnSpc>
                <a:spcPct val="100000"/>
              </a:lnSpc>
            </a:pPr>
            <a:r>
              <a:rPr sz="800" b="0" i="0">
                <a:solidFill>
                  <a:srgbClr val="ECE7DC"/>
                </a:solidFill>
                <a:latin typeface="Consolas"/>
              </a:rPr>
              <a:t>    │   │   ├── 0047_add_gatewayer.py</a:t>
            </a:r>
          </a:p>
          <a:p>
            <a:pPr algn="l">
              <a:lnSpc>
                <a:spcPct val="100000"/>
              </a:lnSpc>
            </a:pPr>
            <a:r>
              <a:rPr sz="800" b="0" i="0">
                <a:solidFill>
                  <a:srgbClr val="ECE7DC"/>
                </a:solidFill>
                <a:latin typeface="Consolas"/>
              </a:rPr>
              <a:t>    │   │   ├── 0048_add_gateway_relayer.py</a:t>
            </a:r>
          </a:p>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0085_add_unrealer.py</a:t>
            </a:r>
          </a:p>
          <a:p>
            <a:pPr algn="l">
              <a:lnSpc>
                <a:spcPct val="100000"/>
              </a:lnSpc>
            </a:pPr>
            <a:r>
              <a:rPr sz="800" b="0" i="0">
                <a:solidFill>
                  <a:srgbClr val="ECE7DC"/>
                </a:solidFill>
                <a:latin typeface="Consolas"/>
              </a:rPr>
              <a:t>    │   │   ├── 0086_add_chat_agent_unrealer_tool.py</a:t>
            </a:r>
          </a:p>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1,559 tracked files at commit 0cfe4d00;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a:p>
            <a:pPr algn="l">
              <a:lnSpc>
                <a:spcPct val="100000"/>
              </a:lnSpc>
            </a:pPr>
            <a:r>
              <a:rPr sz="800" b="0" i="0">
                <a:solidFill>
                  <a:srgbClr val="ECE7DC"/>
                </a:solidFill>
                <a:latin typeface="Consolas"/>
              </a:rPr>
              <a:t>    │   │   ├── 0122_add_talker_demo_prompt.py</a:t>
            </a:r>
          </a:p>
          <a:p>
            <a:pPr algn="l">
              <a:lnSpc>
                <a:spcPct val="100000"/>
              </a:lnSpc>
            </a:pPr>
            <a:r>
              <a:rPr sz="800" b="0" i="0">
                <a:solidFill>
                  <a:srgbClr val="ECE7DC"/>
                </a:solidFill>
                <a:latin typeface="Consolas"/>
              </a:rPr>
              <a:t>    │   │   ├── 0123_add_whisperer.py</a:t>
            </a:r>
          </a:p>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a:p>
            <a:pPr algn="l">
              <a:lnSpc>
                <a:spcPct val="100000"/>
              </a:lnSpc>
            </a:pPr>
            <a:r>
              <a:rPr sz="800" b="0" i="0">
                <a:solidFill>
                  <a:srgbClr val="ECE7DC"/>
                </a:solidFill>
                <a:latin typeface="Consolas"/>
              </a:rPr>
              <a:t>    │   │   │     » ts.py</a:t>
            </a:r>
          </a:p>
          <a:p>
            <a:pPr algn="l">
              <a:lnSpc>
                <a:spcPct val="100000"/>
              </a:lnSpc>
            </a:pPr>
            <a:r>
              <a:rPr sz="800" b="0" i="0">
                <a:solidFill>
                  <a:srgbClr val="ECE7DC"/>
                </a:solidFill>
                <a:latin typeface="Consolas"/>
              </a:rPr>
              <a:t>    │   │   ├── 0157_add_whatsapper_identity_demo_prompt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0188_add_pdfer.py</a:t>
            </a:r>
          </a:p>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a:p>
            <a:pPr algn="l">
              <a:lnSpc>
                <a:spcPct val="100000"/>
              </a:lnSpc>
            </a:pPr>
            <a:r>
              <a:rPr sz="800" b="0" i="0">
                <a:solidFill>
                  <a:srgbClr val="ECE7DC"/>
                </a:solidFill>
                <a:latin typeface="Consolas"/>
              </a:rPr>
              <a:t>    │   │   ├── 0210_strict_visual_analysis_prompt_contr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1,559 tracked files at commit 0cfe4d00;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act.py</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1,559 tracked files at commit 0cfe4d00;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nunito/</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1,559 tracked files at commit 0cfe4d00;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1,559 tracked files at commit 0cfe4d00;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1,559 tracked files at commit 0cfe4d00;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1,559 tracked files at commit 0cfe4d00;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v1.71.0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September 27, 2026  ·  commit 0cfe4d00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1.71.0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