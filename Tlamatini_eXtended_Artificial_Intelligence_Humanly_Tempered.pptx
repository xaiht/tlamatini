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Tlamatini Flow</c:v>
                </c:pt>
                <c:pt idx="2">
                  <c:v>Text</c:v>
                </c:pt>
                <c:pt idx="3">
                  <c:v>HTML</c:v>
                </c:pt>
                <c:pt idx="4">
                  <c:v>Prompt template</c:v>
                </c:pt>
                <c:pt idx="5">
                  <c:v>PowerShell</c:v>
                </c:pt>
                <c:pt idx="6">
                  <c:v>YAML</c:v>
                </c:pt>
                <c:pt idx="7">
                  <c:v>Other text</c:v>
                </c:pt>
                <c:pt idx="8">
                  <c:v>JSON</c:v>
                </c:pt>
                <c:pt idx="9">
                  <c:v>CSS</c:v>
                </c:pt>
                <c:pt idx="10">
                  <c:v>JavaScript</c:v>
                </c:pt>
                <c:pt idx="11">
                  <c:v>Markdown</c:v>
                </c:pt>
                <c:pt idx="12">
                  <c:v>JavaScript module</c:v>
                </c:pt>
                <c:pt idx="13">
                  <c:v>Python</c:v>
                </c:pt>
              </c:strCache>
            </c:strRef>
          </c:cat>
          <c:val>
            <c:numRef>
              <c:f>Sheet1!$B$2:$B$15</c:f>
              <c:numCache>
                <c:formatCode>General</c:formatCode>
                <c:ptCount val="14"/>
                <c:pt idx="0">
                  <c:v>810</c:v>
                </c:pt>
                <c:pt idx="1">
                  <c:v>837</c:v>
                </c:pt>
                <c:pt idx="2">
                  <c:v>1205</c:v>
                </c:pt>
                <c:pt idx="3">
                  <c:v>1270</c:v>
                </c:pt>
                <c:pt idx="4">
                  <c:v>1382</c:v>
                </c:pt>
                <c:pt idx="5">
                  <c:v>1838</c:v>
                </c:pt>
                <c:pt idx="6">
                  <c:v>2303</c:v>
                </c:pt>
                <c:pt idx="7">
                  <c:v>5803</c:v>
                </c:pt>
                <c:pt idx="8">
                  <c:v>6259</c:v>
                </c:pt>
                <c:pt idx="9">
                  <c:v>12664</c:v>
                </c:pt>
                <c:pt idx="10">
                  <c:v>23134</c:v>
                </c:pt>
                <c:pt idx="11">
                  <c:v>31199</c:v>
                </c:pt>
                <c:pt idx="12">
                  <c:v>102470</c:v>
                </c:pt>
                <c:pt idx="13">
                  <c:v>205340</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with self-healing model steps.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48 JavaScript modules, 16 stylesheets and 5 page templates, 208 database migrations and 82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 no longer freeze the application.</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Six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with tokens estimated.</a:t>
            </a:r>
          </a:p>
          <a:p/>
          <a:p>
            <a:r>
              <a:t>Her avatar speaks answers aloud when you ask, with a mouth that follows the spoken words. After login, pressing Enter on the welcome page takes you straight to the chat.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a:t>
            </a:r>
          </a:p>
          <a:p/>
          <a:p>
            <a:r>
              <a:t>Format: JSON tlamatini-prompting-flow, version 1.</a:t>
            </a:r>
          </a:p>
          <a:p/>
          <a:p>
            <a:r>
              <a:t>Limits: 5 MiB, 500 operations,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Whisperer, Talker and the Voice Commands section turn speech into a first-class way to work.</a:t>
            </a:r>
          </a:p>
          <a:p/>
          <a:p>
            <a:r>
              <a:t>With no duration given, Whisperer's sound gate keeps recording while you are talking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Googler keeps finding results when browsers are refused, and NetSpeed-Calculator publishes a speed with its confidence interval.</a:t>
            </a:r>
          </a:p>
          <a:p/>
          <a:p>
            <a:r>
              <a:t>Googler tries four plain-HTTP, server-rendered routes first, then a visible installed Chrome across seven browser routes with bounded retries, and always names the route that answered. Its structured dork builder writes valid operators, presets and grouped site or file-type filters, and links_only returns URLs for downloads handled downstream. Indexed is not permitted: licensing and authorization remain yours.</a:t>
            </a:r>
          </a:p>
          <a:p/>
          <a:p>
            <a:r>
              <a:t>NetSpeed-Calculator measures several keyless providers at once,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1.70.0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Release v1.70.0. The Prompt Flow Panel release: a new canvas for prompts, tidier menus and one shared set of canvas mechanics.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v1.70.0 was created on 2026-09-26 and resolves to commit cf62bd8, and the remote advertises it.</a:t>
            </a:r>
          </a:p>
          <a:p/>
          <a:p>
            <a:r>
              <a:t>The inspected source is 3 commit(s) beyond that tag (33c7485, 105956a, ca66745). A build from this source reports version 1.70.0, because the version string always carries the base tag and never a distance suffix.</a:t>
            </a:r>
          </a:p>
          <a:p/>
          <a:p>
            <a:r>
              <a:t>The Prompt Flow Panel itself first appears in commit ca66745, after the tag. The tagged tree therefore does not contain it, while a build from the current source does.</a:t>
            </a:r>
          </a:p>
          <a:p/>
          <a:p>
            <a:r>
              <a:t>The newest release published on GitHub is v1.65.4, published 2026-09-22. Self-update offers only published releases, so installations are offered v1.70.0 once it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396,514 effective lines across 1,298 text files; 512,062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1,538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 Id="rId4"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 Id="rId4" Type="http://schemas.openxmlformats.org/officeDocument/2006/relationships/chart" Target="../charts/char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2.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v1.70.0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RELEASE</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September 26,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 v1.70.0</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Prompt Flow Panel release: a new canvas for prompts, tidier menus and one shared set of canvas mechanics.</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planner and a tool loop of up to 4,096 iterations over the full enabled surface of 109 built-in tools, with self-healing model steps.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208</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1,538</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396,514</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 no longer freeze the application.</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Six toolbar switches decide how each request runs.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611880"/>
          </a:xfrm>
          <a:prstGeom prst="roundRect">
            <a:avLst>
              <a:gd name="adj" fmla="val 202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a:t>
            </a:r>
          </a:p>
        </p:txBody>
      </p:sp>
      <p:sp>
        <p:nvSpPr>
          <p:cNvPr id="27" name="TextBox 26"/>
          <p:cNvSpPr txBox="1"/>
          <p:nvPr/>
        </p:nvSpPr>
        <p:spPr>
          <a:xfrm>
            <a:off x="640080" y="49834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49834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3218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3583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3583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ular Callout 33"/>
          <p:cNvSpPr/>
          <p:nvPr/>
        </p:nvSpPr>
        <p:spPr>
          <a:xfrm>
            <a:off x="6388455" y="4434840"/>
            <a:ext cx="868680" cy="548640"/>
          </a:xfrm>
          <a:prstGeom prst="wedgeRoundRectCallout">
            <a:avLst/>
          </a:pr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51F23"/>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53499" y="4434840"/>
            <a:ext cx="2142667" cy="1581912"/>
          </a:xfrm>
          <a:prstGeom prst="rect">
            <a:avLst/>
          </a:prstGeom>
          <a:noFill/>
        </p:spPr>
        <p:txBody>
          <a:bodyPr wrap="square" lIns="45720" rIns="45720" tIns="27432" bIns="27432" anchor="t">
            <a:noAutofit/>
          </a:bodyPr>
          <a:lstStyle/>
          <a:p>
            <a:pPr algn="l">
              <a:lnSpc>
                <a:spcPct val="100000"/>
              </a:lnSpc>
            </a:pPr>
            <a:r>
              <a:rPr sz="2200" b="1" i="0">
                <a:solidFill>
                  <a:srgbClr val="E2B462"/>
                </a:solidFill>
                <a:latin typeface="Consolas"/>
              </a:rPr>
              <a:t>.fpmt</a:t>
            </a:r>
          </a:p>
          <a:p>
            <a:pPr algn="l">
              <a:lnSpc>
                <a:spcPct val="100000"/>
              </a:lnSpc>
              <a:spcBef>
                <a:spcPts val="800"/>
              </a:spcBef>
            </a:pPr>
            <a:r>
              <a:rPr sz="1300" b="0" i="0">
                <a:solidFill>
                  <a:srgbClr val="ECE7DC"/>
                </a:solidFill>
                <a:latin typeface="Segoe UI"/>
              </a:rPr>
              <a:t>A portable JSON diagram: </a:t>
            </a:r>
            <a:r>
              <a:rPr sz="1200" b="0" i="0">
                <a:solidFill>
                  <a:srgbClr val="E2B462"/>
                </a:solidFill>
                <a:latin typeface="Consolas"/>
              </a:rPr>
              <a:t>tlamatini-prompting-flow</a:t>
            </a:r>
            <a:r>
              <a:rPr sz="1300" b="0" i="0">
                <a:solidFill>
                  <a:srgbClr val="ECE7DC"/>
                </a:solidFill>
                <a:latin typeface="Segoe UI"/>
              </a:rPr>
              <a:t>, version 1. Opening a file never runs it; Validate, then Play.</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1.</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operations,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Preserves unrelated configuration; downloads nothing.</a:t>
            </a:r>
          </a:p>
        </p:txBody>
      </p:sp>
      <p:graphicFrame>
        <p:nvGraphicFramePr>
          <p:cNvPr id="24" name="Chart 23"/>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5" name="Connector 2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7" name="TextBox 2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2880360"/>
          </a:xfrm>
          <a:prstGeom prst="roundRect">
            <a:avLst>
              <a:gd name="adj" fmla="val 253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Whisperer, Talker and the Voice Commands section turn speech into a first-class way to work.</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Exact durations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Name a length and it is honoured to the sample.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Voice Commands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Speak a prompt; she reads it back before acting.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AND NETWORK</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Search that survives, measurement that shows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Googler keeps finding results when browsers are refused, and NetSpeed-Calculator publishes a speed with its confidence interval.</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Googler tiers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plain-HTTP routes, then visible Chrome across seven.</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builder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Valid operators, presets, grouped filters, links_only output.</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NetSpeed</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3758184"/>
          </a:xfrm>
          <a:prstGeom prst="roundRect">
            <a:avLst>
              <a:gd name="adj" fmla="val 194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Binary-content guard</a:t>
            </a:r>
          </a:p>
        </p:txBody>
      </p:sp>
      <p:sp>
        <p:nvSpPr>
          <p:cNvPr id="14" name="TextBox 13"/>
          <p:cNvSpPr txBox="1"/>
          <p:nvPr/>
        </p:nvSpPr>
        <p:spPr>
          <a:xfrm>
            <a:off x="3957431"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5" name="TextBox 14"/>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Dropping real context is worse than embedding one odd file.</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Verdict parsing</a:t>
            </a:r>
          </a:p>
        </p:txBody>
      </p:sp>
      <p:sp>
        <p:nvSpPr>
          <p:cNvPr id="18" name="TextBox 17"/>
          <p:cNvSpPr txBox="1"/>
          <p:nvPr/>
        </p:nvSpPr>
        <p:spPr>
          <a:xfrm>
            <a:off x="3957431" y="288036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9" name="TextBox 18"/>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parse error falls through to the next rule; it never raises.</a:t>
            </a:r>
          </a:p>
        </p:txBody>
      </p:sp>
      <p:sp>
        <p:nvSpPr>
          <p:cNvPr id="20" name="TextBox 19"/>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Port and console settings</a:t>
            </a:r>
          </a:p>
        </p:txBody>
      </p:sp>
      <p:sp>
        <p:nvSpPr>
          <p:cNvPr id="21" name="TextBox 20"/>
          <p:cNvSpPr txBox="1"/>
          <p:nvPr/>
        </p:nvSpPr>
        <p:spPr>
          <a:xfrm>
            <a:off x="3957431" y="325526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2" name="TextBox 21"/>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typo must never stop the server from starting.</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 provisioner</a:t>
            </a:r>
          </a:p>
        </p:txBody>
      </p:sp>
      <p:sp>
        <p:nvSpPr>
          <p:cNvPr id="25" name="TextBox 24"/>
          <p:cNvSpPr txBox="1"/>
          <p:nvPr/>
        </p:nvSpPr>
        <p:spPr>
          <a:xfrm>
            <a:off x="3957431" y="363016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6" name="TextBox 25"/>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failed download never blocks start-up.</a:t>
            </a:r>
          </a:p>
        </p:txBody>
      </p:sp>
      <p:sp>
        <p:nvSpPr>
          <p:cNvPr id="27" name="TextBox 26"/>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8" name="TextBox 27"/>
          <p:cNvSpPr txBox="1"/>
          <p:nvPr/>
        </p:nvSpPr>
        <p:spPr>
          <a:xfrm>
            <a:off x="3957431" y="4005072"/>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29" name="TextBox 28"/>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Any doubt resolves to Deny.</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copies</a:t>
            </a:r>
          </a:p>
        </p:txBody>
      </p:sp>
      <p:sp>
        <p:nvSpPr>
          <p:cNvPr id="32" name="TextBox 31"/>
          <p:cNvSpPr txBox="1"/>
          <p:nvPr/>
        </p:nvSpPr>
        <p:spPr>
          <a:xfrm>
            <a:off x="3957431" y="437997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3" name="TextBox 32"/>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 unclear or unchecked copy is reported as a failure.</a:t>
            </a:r>
          </a:p>
        </p:txBody>
      </p:sp>
      <p:sp>
        <p:nvSpPr>
          <p:cNvPr id="34" name="TextBox 33"/>
          <p:cNvSpPr txBox="1"/>
          <p:nvPr/>
        </p:nvSpPr>
        <p:spPr>
          <a:xfrm>
            <a:off x="640080" y="475488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 bisect guard</a:t>
            </a:r>
          </a:p>
        </p:txBody>
      </p:sp>
      <p:sp>
        <p:nvSpPr>
          <p:cNvPr id="35" name="TextBox 34"/>
          <p:cNvSpPr txBox="1"/>
          <p:nvPr/>
        </p:nvSpPr>
        <p:spPr>
          <a:xfrm>
            <a:off x="3957431" y="475488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6" name="TextBox 35"/>
          <p:cNvSpPr txBox="1"/>
          <p:nvPr/>
        </p:nvSpPr>
        <p:spPr>
          <a:xfrm>
            <a:off x="5726686" y="475488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When in doubt, protect the author's content.</a:t>
            </a:r>
          </a:p>
        </p:txBody>
      </p:sp>
      <p:sp>
        <p:nvSpPr>
          <p:cNvPr id="37" name="Rectangle 36"/>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12978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Firmware preflights</a:t>
            </a:r>
          </a:p>
        </p:txBody>
      </p:sp>
      <p:sp>
        <p:nvSpPr>
          <p:cNvPr id="39" name="TextBox 38"/>
          <p:cNvSpPr txBox="1"/>
          <p:nvPr/>
        </p:nvSpPr>
        <p:spPr>
          <a:xfrm>
            <a:off x="3957431" y="512978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0" name="TextBox 39"/>
          <p:cNvSpPr txBox="1"/>
          <p:nvPr/>
        </p:nvSpPr>
        <p:spPr>
          <a:xfrm>
            <a:off x="5726686" y="512978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 rather than build or flash the wrong target.</a:t>
            </a:r>
          </a:p>
        </p:txBody>
      </p:sp>
      <p:sp>
        <p:nvSpPr>
          <p:cNvPr id="41" name="TextBox 40"/>
          <p:cNvSpPr txBox="1"/>
          <p:nvPr/>
        </p:nvSpPr>
        <p:spPr>
          <a:xfrm>
            <a:off x="640080" y="550468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Deleter</a:t>
            </a:r>
          </a:p>
        </p:txBody>
      </p:sp>
      <p:sp>
        <p:nvSpPr>
          <p:cNvPr id="42" name="TextBox 41"/>
          <p:cNvSpPr txBox="1"/>
          <p:nvPr/>
        </p:nvSpPr>
        <p:spPr>
          <a:xfrm>
            <a:off x="3957431" y="550468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3" name="TextBox 42"/>
          <p:cNvSpPr txBox="1"/>
          <p:nvPr/>
        </p:nvSpPr>
        <p:spPr>
          <a:xfrm>
            <a:off x="5726686" y="550468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Refuses protected folders, repository roots and drive roots.</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Five steps to a working Tlamatini</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Two modes, three listeners</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settings that matter most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From source tree to installer</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Updating herself without losing you</a:t>
            </a:r>
          </a:p>
        </p:txBody>
      </p:sp>
      <p:sp>
        <p:nvSpPr>
          <p:cNvPr id="18" name="Diamond 17"/>
          <p:cNvSpPr/>
          <p:nvPr/>
        </p:nvSpPr>
        <p:spPr>
          <a:xfrm>
            <a:off x="420624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38912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One number, from one source</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three listeners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Optional: her rebuildable source ships beside her.</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8000 (configurable), 8765 and 50051 on loopback.</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a:t>
            </a:r>
          </a:p>
        </p:txBody>
      </p:sp>
      <p:sp>
        <p:nvSpPr>
          <p:cNvPr id="34" name="TextBox 33"/>
          <p:cNvSpPr txBox="1"/>
          <p:nvPr/>
        </p:nvSpPr>
        <p:spPr>
          <a:xfrm>
            <a:off x="73139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context provider.</a:t>
            </a:r>
          </a:p>
        </p:txBody>
      </p:sp>
      <p:sp>
        <p:nvSpPr>
          <p:cNvPr id="36" name="TextBox 35"/>
          <p:cNvSpPr txBox="1"/>
          <p:nvPr/>
        </p:nvSpPr>
        <p:spPr>
          <a:xfrm>
            <a:off x="6217920" y="3346703"/>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a:t>
            </a:r>
          </a:p>
        </p:txBody>
      </p:sp>
      <p:sp>
        <p:nvSpPr>
          <p:cNvPr id="37" name="TextBox 36"/>
          <p:cNvSpPr txBox="1"/>
          <p:nvPr/>
        </p:nvSpPr>
        <p:spPr>
          <a:xfrm>
            <a:off x="73139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346703"/>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context provider.</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django_port</a:t>
            </a:r>
          </a:p>
        </p:txBody>
      </p:sp>
      <p:sp>
        <p:nvSpPr>
          <p:cNvPr id="14" name="TextBox 13"/>
          <p:cNvSpPr txBox="1"/>
          <p:nvPr/>
        </p:nvSpPr>
        <p:spPr>
          <a:xfrm>
            <a:off x="4731480"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8000</a:t>
            </a:r>
          </a:p>
        </p:txBody>
      </p:sp>
      <p:sp>
        <p:nvSpPr>
          <p:cNvPr id="15" name="TextBox 14"/>
          <p:cNvSpPr txBox="1"/>
          <p:nvPr/>
        </p:nvSpPr>
        <p:spPr>
          <a:xfrm>
            <a:off x="6500734" y="2505456"/>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Web port for every launch path; fails open to 8000.</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unified_agent_max_iterations</a:t>
            </a:r>
          </a:p>
        </p:txBody>
      </p:sp>
      <p:sp>
        <p:nvSpPr>
          <p:cNvPr id="18" name="TextBox 17"/>
          <p:cNvSpPr txBox="1"/>
          <p:nvPr/>
        </p:nvSpPr>
        <p:spPr>
          <a:xfrm>
            <a:off x="4731480"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4096</a:t>
            </a:r>
          </a:p>
        </p:txBody>
      </p:sp>
      <p:sp>
        <p:nvSpPr>
          <p:cNvPr id="19" name="TextBox 18"/>
          <p:cNvSpPr txBox="1"/>
          <p:nvPr/>
        </p:nvSpPr>
        <p:spPr>
          <a:xfrm>
            <a:off x="6500734" y="2872740"/>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Upper bound on Multi-Turn tool-loop turns.</a:t>
            </a:r>
          </a:p>
        </p:txBody>
      </p:sp>
      <p:sp>
        <p:nvSpPr>
          <p:cNvPr id="20" name="TextBox 19"/>
          <p:cNvSpPr txBox="1"/>
          <p:nvPr/>
        </p:nvSpPr>
        <p:spPr>
          <a:xfrm>
            <a:off x="640080" y="324002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unified_agent_llm_step_timeout_seconds</a:t>
            </a:r>
          </a:p>
        </p:txBody>
      </p:sp>
      <p:sp>
        <p:nvSpPr>
          <p:cNvPr id="21" name="TextBox 20"/>
          <p:cNvSpPr txBox="1"/>
          <p:nvPr/>
        </p:nvSpPr>
        <p:spPr>
          <a:xfrm>
            <a:off x="4731480"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900</a:t>
            </a:r>
          </a:p>
        </p:txBody>
      </p:sp>
      <p:sp>
        <p:nvSpPr>
          <p:cNvPr id="22" name="TextBox 21"/>
          <p:cNvSpPr txBox="1"/>
          <p:nvPr/>
        </p:nvSpPr>
        <p:spPr>
          <a:xfrm>
            <a:off x="6500734" y="324002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Watchdog for one model attempt.</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llm_client_timeout_seconds</a:t>
            </a:r>
          </a:p>
        </p:txBody>
      </p:sp>
      <p:sp>
        <p:nvSpPr>
          <p:cNvPr id="25" name="TextBox 24"/>
          <p:cNvSpPr txBox="1"/>
          <p:nvPr/>
        </p:nvSpPr>
        <p:spPr>
          <a:xfrm>
            <a:off x="4731480"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600</a:t>
            </a:r>
          </a:p>
        </p:txBody>
      </p:sp>
      <p:sp>
        <p:nvSpPr>
          <p:cNvPr id="26" name="TextBox 25"/>
          <p:cNvSpPr txBox="1"/>
          <p:nvPr/>
        </p:nvSpPr>
        <p:spPr>
          <a:xfrm>
            <a:off x="6500734" y="360730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long one model call may take.</a:t>
            </a:r>
          </a:p>
        </p:txBody>
      </p:sp>
      <p:sp>
        <p:nvSpPr>
          <p:cNvPr id="27" name="TextBox 26"/>
          <p:cNvSpPr txBox="1"/>
          <p:nvPr/>
        </p:nvSpPr>
        <p:spPr>
          <a:xfrm>
            <a:off x="640080" y="397459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ollama_repeat_penalty</a:t>
            </a:r>
          </a:p>
        </p:txBody>
      </p:sp>
      <p:sp>
        <p:nvSpPr>
          <p:cNvPr id="28" name="TextBox 27"/>
          <p:cNvSpPr txBox="1"/>
          <p:nvPr/>
        </p:nvSpPr>
        <p:spPr>
          <a:xfrm>
            <a:off x="4731480"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1.2</a:t>
            </a:r>
          </a:p>
        </p:txBody>
      </p:sp>
      <p:sp>
        <p:nvSpPr>
          <p:cNvPr id="29" name="TextBox 28"/>
          <p:cNvSpPr txBox="1"/>
          <p:nvPr/>
        </p:nvSpPr>
        <p:spPr>
          <a:xfrm>
            <a:off x="6500734" y="397459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Repetition penalty; 1.9 emptied answers.</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ollama_repeat_last_n</a:t>
            </a:r>
          </a:p>
        </p:txBody>
      </p:sp>
      <p:sp>
        <p:nvSpPr>
          <p:cNvPr id="32" name="TextBox 31"/>
          <p:cNvSpPr txBox="1"/>
          <p:nvPr/>
        </p:nvSpPr>
        <p:spPr>
          <a:xfrm>
            <a:off x="4731480"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256</a:t>
            </a:r>
          </a:p>
        </p:txBody>
      </p:sp>
      <p:sp>
        <p:nvSpPr>
          <p:cNvPr id="33" name="TextBox 32"/>
          <p:cNvSpPr txBox="1"/>
          <p:nvPr/>
        </p:nvSpPr>
        <p:spPr>
          <a:xfrm>
            <a:off x="6500734" y="4341875"/>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far back that penalty looks.</a:t>
            </a:r>
          </a:p>
        </p:txBody>
      </p:sp>
      <p:sp>
        <p:nvSpPr>
          <p:cNvPr id="34" name="TextBox 33"/>
          <p:cNvSpPr txBox="1"/>
          <p:nvPr/>
        </p:nvSpPr>
        <p:spPr>
          <a:xfrm>
            <a:off x="640080" y="4709159"/>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ollama_num_ctx</a:t>
            </a:r>
          </a:p>
        </p:txBody>
      </p:sp>
      <p:sp>
        <p:nvSpPr>
          <p:cNvPr id="35" name="TextBox 34"/>
          <p:cNvSpPr txBox="1"/>
          <p:nvPr/>
        </p:nvSpPr>
        <p:spPr>
          <a:xfrm>
            <a:off x="4731480"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1048576</a:t>
            </a:r>
          </a:p>
        </p:txBody>
      </p:sp>
      <p:sp>
        <p:nvSpPr>
          <p:cNvPr id="36" name="TextBox 35"/>
          <p:cNvSpPr txBox="1"/>
          <p:nvPr/>
        </p:nvSpPr>
        <p:spPr>
          <a:xfrm>
            <a:off x="6500734" y="4709159"/>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Requested context window.</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binary_context_detection</a:t>
            </a:r>
          </a:p>
        </p:txBody>
      </p:sp>
      <p:sp>
        <p:nvSpPr>
          <p:cNvPr id="39" name="TextBox 38"/>
          <p:cNvSpPr txBox="1"/>
          <p:nvPr/>
        </p:nvSpPr>
        <p:spPr>
          <a:xfrm>
            <a:off x="4731480"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0" name="TextBox 39"/>
          <p:cNvSpPr txBox="1"/>
          <p:nvPr/>
        </p:nvSpPr>
        <p:spPr>
          <a:xfrm>
            <a:off x="6500734" y="507644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Screens files by content before embedding.</a:t>
            </a:r>
          </a:p>
        </p:txBody>
      </p:sp>
      <p:sp>
        <p:nvSpPr>
          <p:cNvPr id="41" name="TextBox 40"/>
          <p:cNvSpPr txBox="1"/>
          <p:nvPr/>
        </p:nvSpPr>
        <p:spPr>
          <a:xfrm>
            <a:off x="640080" y="544372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console_quick_edit</a:t>
            </a:r>
          </a:p>
        </p:txBody>
      </p:sp>
      <p:sp>
        <p:nvSpPr>
          <p:cNvPr id="42" name="TextBox 41"/>
          <p:cNvSpPr txBox="1"/>
          <p:nvPr/>
        </p:nvSpPr>
        <p:spPr>
          <a:xfrm>
            <a:off x="4731480"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false</a:t>
            </a:r>
          </a:p>
        </p:txBody>
      </p:sp>
      <p:sp>
        <p:nvSpPr>
          <p:cNvPr id="43" name="TextBox 42"/>
          <p:cNvSpPr txBox="1"/>
          <p:nvPr/>
        </p:nvSpPr>
        <p:spPr>
          <a:xfrm>
            <a:off x="6500734" y="544372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Keeps a click from pausing a frozen console.</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runtime_autoprovision</a:t>
            </a:r>
          </a:p>
        </p:txBody>
      </p:sp>
      <p:sp>
        <p:nvSpPr>
          <p:cNvPr id="46" name="TextBox 45"/>
          <p:cNvSpPr txBox="1"/>
          <p:nvPr/>
        </p:nvSpPr>
        <p:spPr>
          <a:xfrm>
            <a:off x="4731480"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7" name="TextBox 46"/>
          <p:cNvSpPr txBox="1"/>
          <p:nvPr/>
        </p:nvSpPr>
        <p:spPr>
          <a:xfrm>
            <a:off x="6500734" y="581101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Lets MCP servers provision Node or uv privately.</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sampler values come from repeated trials on real workloads. That failure is heavy-tailed, so a single fast run is never a reason to change them.</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SHA-256 for every payload file, checked twice.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Release v1.70.0</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Prompt Flow Panel release: a new canvas for prompts, tidier menus and one shared set of canvas mechanics.</a:t>
            </a:r>
          </a:p>
        </p:txBody>
      </p:sp>
      <p:sp>
        <p:nvSpPr>
          <p:cNvPr id="8" name="Diamond 7"/>
          <p:cNvSpPr/>
          <p:nvPr/>
        </p:nvSpPr>
        <p:spPr>
          <a:xfrm>
            <a:off x="822960" y="534009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Prompt Flow Panel release</a:t>
            </a:r>
          </a:p>
        </p:txBody>
      </p:sp>
      <p:sp>
        <p:nvSpPr>
          <p:cNvPr id="10" name="Diamond 9"/>
          <p:cNvSpPr/>
          <p:nvPr/>
        </p:nvSpPr>
        <p:spPr>
          <a:xfrm>
            <a:off x="822960" y="561441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How the line arrived here</a:t>
            </a:r>
          </a:p>
        </p:txBody>
      </p:sp>
      <p:sp>
        <p:nvSpPr>
          <p:cNvPr id="12" name="Diamond 11"/>
          <p:cNvSpPr/>
          <p:nvPr/>
        </p:nvSpPr>
        <p:spPr>
          <a:xfrm>
            <a:off x="822960" y="588873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Tag, commit and publication, stated plainly</a:t>
            </a:r>
          </a:p>
        </p:txBody>
      </p:sp>
      <p:cxnSp>
        <p:nvCxnSpPr>
          <p:cNvPr id="14" name="Connector 1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6" name="TextBox 1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IS NEW</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Prompt Flow Panel release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RELEASE V1.70.0</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2026-09-15</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v1.60.0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v1.60.0 Entire chain of visual agents really enhanced!.</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2026-09-16</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v1.61.0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v1.61.0 Now PDF loading in main canvas is way too cool, and use it as context is even cooler!!.</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2026-09-16</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v1.62.0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v1.62.0 Now PDF loading in main canvas is way too cool, and use it as context is even cooler</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2026-09-19</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v1.62.2</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v1.62.2 Setting more comfortable value of sleep stop timer to 3.5s, and setting jcyhsiao/qwen3.5cloud:latest to replace the obsolete qwen3.5:cloud.</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2026-09-19</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v1.63.0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v1.63.0 Empowering Video-Analyzer agent!.</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v1.64.0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v1.64.0 Empowering general model selection in configuration!.</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v1.65.0 Context meter implemented!.</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v1.65.2</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v1.65.2 Context Governor improved: measure the real request, and never bind zero tools.</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v1.65.3</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v1.65.3 Improved LaTeXer: bracing a leading before a command eats it as an optional argument.</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2026-09-21</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v1.65.4</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v1.65.4 Improved gauge of context.</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2026-09-22</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v1.65.5</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v1.65.5 Fixing spinner state while initially re-loading context.</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2026-09-26</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v1.70.0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v1.70.0 A dozen of improvements based/towards on the Prompting Flow Panel and UX Standarization between both panels.</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RELEASE V1.70.0</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v1.70.0 resolves to </a:t>
            </a:r>
            <a:r>
              <a:rPr sz="1300" b="0" i="0">
                <a:solidFill>
                  <a:srgbClr val="E2B462"/>
                </a:solidFill>
                <a:latin typeface="Consolas"/>
              </a:rPr>
              <a:t>cf62bd8</a:t>
            </a:r>
            <a:r>
              <a:rPr sz="1400" b="0" i="0">
                <a:solidFill>
                  <a:srgbClr val="A7B2B0"/>
                </a:solidFill>
                <a:latin typeface="Segoe UI"/>
              </a:rPr>
              <a:t>, created 2026-09-26.</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Beyond it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 newer commit(s); a build from them still reports 1.70.0.</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 Flow Panel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First appears in </a:t>
            </a:r>
            <a:r>
              <a:rPr sz="1300" b="0" i="0">
                <a:solidFill>
                  <a:srgbClr val="E2B462"/>
                </a:solidFill>
                <a:latin typeface="Consolas"/>
              </a:rPr>
              <a:t>ca66745</a:t>
            </a:r>
            <a:r>
              <a:rPr sz="1400" b="0" i="0">
                <a:solidFill>
                  <a:srgbClr val="A7B2B0"/>
                </a:solidFill>
                <a:latin typeface="Segoe UI"/>
              </a:rPr>
              <a:t>, after the tag.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v1.65.4.</a:t>
            </a:r>
          </a:p>
        </p:txBody>
      </p:sp>
      <p:sp>
        <p:nvSpPr>
          <p:cNvPr id="24" name="Rounded Rectangle 23"/>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7" name="TextBox 26"/>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8" name="TextBox 27"/>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9" name="TextBox 28"/>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1.70.0</a:t>
            </a:r>
          </a:p>
        </p:txBody>
      </p:sp>
      <p:sp>
        <p:nvSpPr>
          <p:cNvPr id="30" name="Rectangle 29"/>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32" name="TextBox 31"/>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v1.70.0 → cf62bd8 (2026-09-26)</a:t>
            </a:r>
          </a:p>
        </p:txBody>
      </p:sp>
      <p:sp>
        <p:nvSpPr>
          <p:cNvPr id="33" name="TextBox 32"/>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34" name="TextBox 33"/>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33c7485 (3 commit(s) after the tag)</a:t>
            </a:r>
          </a:p>
        </p:txBody>
      </p:sp>
      <p:sp>
        <p:nvSpPr>
          <p:cNvPr id="35" name="Rectangle 34"/>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7" name="TextBox 36"/>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8" name="TextBox 37"/>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9" name="TextBox 38"/>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v1.65.4</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RELEASE V1.70.0</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33c7485 · 2026-09-26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1.70.0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1,538</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1,298</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512,062</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396,514</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208</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48 · 16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82</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396,514 effective lines across 1,298 text files; 512,062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730</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293,764</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205,340</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51.8%</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25.8%</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199</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41,264</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31,199</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7.9%</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71</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29,357</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23,134</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15,824</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12,664</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6,259</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6,259</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38</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6,782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5,803</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96</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6,202</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2,303</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0.6%</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2,520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1,838</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1,524</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1,382</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1,326</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1,270</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1,531</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1,205</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380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1,298</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512,062</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396,514</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1,167</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285,467</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1,298</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396,514</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8,726</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5,963</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5,194</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3,427</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3,309</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3,107</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2,933</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2,419</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2,167</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Tlamatini/agent/agents/stm32er/stm32er.py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1,983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1,930</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1,863</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Tlamatini/agent/mcp_agent.py</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1,857</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Tlamatini/agent/static/agent/js/acp-agent-connectors.js</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1,595</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Tlamatini/agent/static/agent/js/agent_page_init.js</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1,576</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1,473</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05072"/>
          </a:xfrm>
          <a:prstGeom prst="roundRect">
            <a:avLst>
              <a:gd name="adj" fmla="val 182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33c7485</a:t>
            </a:r>
          </a:p>
        </p:txBody>
      </p:sp>
      <p:sp>
        <p:nvSpPr>
          <p:cNvPr id="14" name="TextBox 13"/>
          <p:cNvSpPr txBox="1"/>
          <p:nvPr/>
        </p:nvSpPr>
        <p:spPr>
          <a:xfrm>
            <a:off x="1967020" y="2505456"/>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2026-09-26</a:t>
            </a:r>
          </a:p>
        </p:txBody>
      </p:sp>
      <p:sp>
        <p:nvSpPr>
          <p:cNvPr id="15" name="TextBox 14"/>
          <p:cNvSpPr txBox="1"/>
          <p:nvPr/>
        </p:nvSpPr>
        <p:spPr>
          <a:xfrm>
            <a:off x="3515118" y="2505456"/>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Precious project dossier: a new generator for the PDF and the PPTX, by Claude</a:t>
            </a:r>
          </a:p>
        </p:txBody>
      </p:sp>
      <p:sp>
        <p:nvSpPr>
          <p:cNvPr id="16" name="Rectangle 15"/>
          <p:cNvSpPr/>
          <p:nvPr/>
        </p:nvSpPr>
        <p:spPr>
          <a:xfrm>
            <a:off x="585216" y="2782823"/>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9399"/>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105956a</a:t>
            </a:r>
          </a:p>
        </p:txBody>
      </p:sp>
      <p:sp>
        <p:nvSpPr>
          <p:cNvPr id="18" name="TextBox 17"/>
          <p:cNvSpPr txBox="1"/>
          <p:nvPr/>
        </p:nvSpPr>
        <p:spPr>
          <a:xfrm>
            <a:off x="1967020" y="2819399"/>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2026-09-26</a:t>
            </a:r>
          </a:p>
        </p:txBody>
      </p:sp>
      <p:sp>
        <p:nvSpPr>
          <p:cNvPr id="19" name="TextBox 18"/>
          <p:cNvSpPr txBox="1"/>
          <p:nvPr/>
        </p:nvSpPr>
        <p:spPr>
          <a:xfrm>
            <a:off x="3515118" y="2819399"/>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documentation to v1.70.0, by angelahack1</a:t>
            </a:r>
          </a:p>
        </p:txBody>
      </p:sp>
      <p:sp>
        <p:nvSpPr>
          <p:cNvPr id="20" name="TextBox 19"/>
          <p:cNvSpPr txBox="1"/>
          <p:nvPr/>
        </p:nvSpPr>
        <p:spPr>
          <a:xfrm>
            <a:off x="640080" y="3133343"/>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ca66745</a:t>
            </a:r>
          </a:p>
        </p:txBody>
      </p:sp>
      <p:sp>
        <p:nvSpPr>
          <p:cNvPr id="21" name="TextBox 20"/>
          <p:cNvSpPr txBox="1"/>
          <p:nvPr/>
        </p:nvSpPr>
        <p:spPr>
          <a:xfrm>
            <a:off x="1967020" y="3133343"/>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2026-09-26</a:t>
            </a:r>
          </a:p>
        </p:txBody>
      </p:sp>
      <p:sp>
        <p:nvSpPr>
          <p:cNvPr id="22" name="TextBox 21"/>
          <p:cNvSpPr txBox="1"/>
          <p:nvPr/>
        </p:nvSpPr>
        <p:spPr>
          <a:xfrm>
            <a:off x="3515118" y="3133343"/>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A dozen of improvements based/towards on the Prompting Flow Panel and UX Standarization between both panels, by angelahack1</a:t>
            </a:r>
          </a:p>
        </p:txBody>
      </p:sp>
      <p:sp>
        <p:nvSpPr>
          <p:cNvPr id="23" name="Rectangle 22"/>
          <p:cNvSpPr/>
          <p:nvPr/>
        </p:nvSpPr>
        <p:spPr>
          <a:xfrm>
            <a:off x="585216" y="3578352"/>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14928"/>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cf62bd8</a:t>
            </a:r>
          </a:p>
        </p:txBody>
      </p:sp>
      <p:sp>
        <p:nvSpPr>
          <p:cNvPr id="25" name="TextBox 24"/>
          <p:cNvSpPr txBox="1"/>
          <p:nvPr/>
        </p:nvSpPr>
        <p:spPr>
          <a:xfrm>
            <a:off x="1967020" y="3614928"/>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2026-09-23</a:t>
            </a:r>
          </a:p>
        </p:txBody>
      </p:sp>
      <p:sp>
        <p:nvSpPr>
          <p:cNvPr id="26" name="TextBox 25"/>
          <p:cNvSpPr txBox="1"/>
          <p:nvPr/>
        </p:nvSpPr>
        <p:spPr>
          <a:xfrm>
            <a:off x="3515118" y="3614928"/>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visual documentation to 1.65.4, by Tlamatini's-AutoBot.</a:t>
            </a:r>
          </a:p>
        </p:txBody>
      </p:sp>
      <p:sp>
        <p:nvSpPr>
          <p:cNvPr id="27" name="TextBox 26"/>
          <p:cNvSpPr txBox="1"/>
          <p:nvPr/>
        </p:nvSpPr>
        <p:spPr>
          <a:xfrm>
            <a:off x="640080" y="3928872"/>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335a881</a:t>
            </a:r>
          </a:p>
        </p:txBody>
      </p:sp>
      <p:sp>
        <p:nvSpPr>
          <p:cNvPr id="28" name="TextBox 27"/>
          <p:cNvSpPr txBox="1"/>
          <p:nvPr/>
        </p:nvSpPr>
        <p:spPr>
          <a:xfrm>
            <a:off x="1967020" y="3928872"/>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2026-09-23</a:t>
            </a:r>
          </a:p>
        </p:txBody>
      </p:sp>
      <p:sp>
        <p:nvSpPr>
          <p:cNvPr id="29" name="TextBox 28"/>
          <p:cNvSpPr txBox="1"/>
          <p:nvPr/>
        </p:nvSpPr>
        <p:spPr>
          <a:xfrm>
            <a:off x="3515118" y="3928872"/>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to 1.65.4, by Tlamatini's-AutoBot.</a:t>
            </a:r>
          </a:p>
        </p:txBody>
      </p:sp>
      <p:sp>
        <p:nvSpPr>
          <p:cNvPr id="30" name="Rectangle 29"/>
          <p:cNvSpPr/>
          <p:nvPr/>
        </p:nvSpPr>
        <p:spPr>
          <a:xfrm>
            <a:off x="585216" y="4206240"/>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242816"/>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337a1c9</a:t>
            </a:r>
          </a:p>
        </p:txBody>
      </p:sp>
      <p:sp>
        <p:nvSpPr>
          <p:cNvPr id="32" name="TextBox 31"/>
          <p:cNvSpPr txBox="1"/>
          <p:nvPr/>
        </p:nvSpPr>
        <p:spPr>
          <a:xfrm>
            <a:off x="1967020" y="4242816"/>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2026-09-23</a:t>
            </a:r>
          </a:p>
        </p:txBody>
      </p:sp>
      <p:sp>
        <p:nvSpPr>
          <p:cNvPr id="33" name="TextBox 32"/>
          <p:cNvSpPr txBox="1"/>
          <p:nvPr/>
        </p:nvSpPr>
        <p:spPr>
          <a:xfrm>
            <a:off x="3515118" y="4242816"/>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Enhanced VISIBLE EVERYTHING, NOTHING HEADLESS, by Tlamatini's-AutoBot by strong direct directive by angelahack1.</a:t>
            </a:r>
          </a:p>
        </p:txBody>
      </p:sp>
      <p:sp>
        <p:nvSpPr>
          <p:cNvPr id="34" name="TextBox 33"/>
          <p:cNvSpPr txBox="1"/>
          <p:nvPr/>
        </p:nvSpPr>
        <p:spPr>
          <a:xfrm>
            <a:off x="640080" y="4556760"/>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158971b</a:t>
            </a:r>
          </a:p>
        </p:txBody>
      </p:sp>
      <p:sp>
        <p:nvSpPr>
          <p:cNvPr id="35" name="TextBox 34"/>
          <p:cNvSpPr txBox="1"/>
          <p:nvPr/>
        </p:nvSpPr>
        <p:spPr>
          <a:xfrm>
            <a:off x="1967020" y="4556760"/>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2026-09-22</a:t>
            </a:r>
          </a:p>
        </p:txBody>
      </p:sp>
      <p:sp>
        <p:nvSpPr>
          <p:cNvPr id="36" name="TextBox 35"/>
          <p:cNvSpPr txBox="1"/>
          <p:nvPr/>
        </p:nvSpPr>
        <p:spPr>
          <a:xfrm>
            <a:off x="3515118" y="4556760"/>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Fixing spinner state while initially re-loading context, by Tlamatini's-AutoBot.</a:t>
            </a:r>
          </a:p>
        </p:txBody>
      </p:sp>
      <p:sp>
        <p:nvSpPr>
          <p:cNvPr id="37" name="Rectangle 36"/>
          <p:cNvSpPr/>
          <p:nvPr/>
        </p:nvSpPr>
        <p:spPr>
          <a:xfrm>
            <a:off x="585216" y="4834128"/>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70704"/>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b09c4ff</a:t>
            </a:r>
          </a:p>
        </p:txBody>
      </p:sp>
      <p:sp>
        <p:nvSpPr>
          <p:cNvPr id="39" name="TextBox 38"/>
          <p:cNvSpPr txBox="1"/>
          <p:nvPr/>
        </p:nvSpPr>
        <p:spPr>
          <a:xfrm>
            <a:off x="1967020" y="4870704"/>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2026-09-21</a:t>
            </a:r>
          </a:p>
        </p:txBody>
      </p:sp>
      <p:sp>
        <p:nvSpPr>
          <p:cNvPr id="40" name="TextBox 39"/>
          <p:cNvSpPr txBox="1"/>
          <p:nvPr/>
        </p:nvSpPr>
        <p:spPr>
          <a:xfrm>
            <a:off x="3515118" y="4870704"/>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The last sesion of tests</a:t>
            </a:r>
          </a:p>
        </p:txBody>
      </p:sp>
      <p:sp>
        <p:nvSpPr>
          <p:cNvPr id="41" name="TextBox 40"/>
          <p:cNvSpPr txBox="1"/>
          <p:nvPr/>
        </p:nvSpPr>
        <p:spPr>
          <a:xfrm>
            <a:off x="640080" y="5184648"/>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ef3278d</a:t>
            </a:r>
          </a:p>
        </p:txBody>
      </p:sp>
      <p:sp>
        <p:nvSpPr>
          <p:cNvPr id="42" name="TextBox 41"/>
          <p:cNvSpPr txBox="1"/>
          <p:nvPr/>
        </p:nvSpPr>
        <p:spPr>
          <a:xfrm>
            <a:off x="1967020" y="5184648"/>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2026-09-21</a:t>
            </a:r>
          </a:p>
        </p:txBody>
      </p:sp>
      <p:sp>
        <p:nvSpPr>
          <p:cNvPr id="43" name="TextBox 42"/>
          <p:cNvSpPr txBox="1"/>
          <p:nvPr/>
        </p:nvSpPr>
        <p:spPr>
          <a:xfrm>
            <a:off x="3515118" y="5184648"/>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Just erasing some trash, by angelahack1</a:t>
            </a:r>
          </a:p>
        </p:txBody>
      </p:sp>
      <p:sp>
        <p:nvSpPr>
          <p:cNvPr id="44" name="Rectangle 43"/>
          <p:cNvSpPr/>
          <p:nvPr/>
        </p:nvSpPr>
        <p:spPr>
          <a:xfrm>
            <a:off x="585216" y="5462016"/>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498592"/>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bda6eab</a:t>
            </a:r>
          </a:p>
        </p:txBody>
      </p:sp>
      <p:sp>
        <p:nvSpPr>
          <p:cNvPr id="46" name="TextBox 45"/>
          <p:cNvSpPr txBox="1"/>
          <p:nvPr/>
        </p:nvSpPr>
        <p:spPr>
          <a:xfrm>
            <a:off x="1967020" y="5498592"/>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2026-09-21</a:t>
            </a:r>
          </a:p>
        </p:txBody>
      </p:sp>
      <p:sp>
        <p:nvSpPr>
          <p:cNvPr id="47" name="TextBox 46"/>
          <p:cNvSpPr txBox="1"/>
          <p:nvPr/>
        </p:nvSpPr>
        <p:spPr>
          <a:xfrm>
            <a:off x="3515118" y="5498592"/>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Context gauge: always on screen, measured off the hot path, on EVERY model call</a:t>
            </a:r>
          </a:p>
        </p:txBody>
      </p:sp>
      <p:sp>
        <p:nvSpPr>
          <p:cNvPr id="48" name="TextBox 47"/>
          <p:cNvSpPr txBox="1"/>
          <p:nvPr/>
        </p:nvSpPr>
        <p:spPr>
          <a:xfrm>
            <a:off x="640080" y="5812536"/>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778973b</a:t>
            </a:r>
          </a:p>
        </p:txBody>
      </p:sp>
      <p:sp>
        <p:nvSpPr>
          <p:cNvPr id="49" name="TextBox 48"/>
          <p:cNvSpPr txBox="1"/>
          <p:nvPr/>
        </p:nvSpPr>
        <p:spPr>
          <a:xfrm>
            <a:off x="1967020" y="5812536"/>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2026-09-20</a:t>
            </a:r>
          </a:p>
        </p:txBody>
      </p:sp>
      <p:sp>
        <p:nvSpPr>
          <p:cNvPr id="50" name="TextBox 49"/>
          <p:cNvSpPr txBox="1"/>
          <p:nvPr/>
        </p:nvSpPr>
        <p:spPr>
          <a:xfrm>
            <a:off x="3515118" y="5812536"/>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LaTeXer: brace a leading "[" before a command eats it as an optional argument</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1bf0c60</a:t>
            </a:r>
          </a:p>
        </p:txBody>
      </p:sp>
      <p:sp>
        <p:nvSpPr>
          <p:cNvPr id="14" name="TextBox 13"/>
          <p:cNvSpPr txBox="1"/>
          <p:nvPr/>
        </p:nvSpPr>
        <p:spPr>
          <a:xfrm>
            <a:off x="1967020" y="2505456"/>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2026-09-20</a:t>
            </a:r>
          </a:p>
        </p:txBody>
      </p:sp>
      <p:sp>
        <p:nvSpPr>
          <p:cNvPr id="15" name="TextBox 14"/>
          <p:cNvSpPr txBox="1"/>
          <p:nvPr/>
        </p:nvSpPr>
        <p:spPr>
          <a:xfrm>
            <a:off x="3515118" y="2505456"/>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Context Governor: measure the real request, and never bind zero tools</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1,538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monitor.py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global_execution_planner.py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test_build_scripts.py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test_public_release_targets.py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1,538 tracked files at commit 33c7485;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7" name="Connector 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9" name="TextBox 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v1.70.0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September 26, 2026  ·  commit 33c7485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1.70.0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