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</a:rPr>
              <a:t>Update window: previous docs commit April 11, 2026 -&gt; current HEAD April 14,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Tlamatini Documentation Refresh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572768"/>
            <a:ext cx="589788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334155"/>
                </a:solidFill>
              </a:rPr>
              <a:t>This rebuilt deck summarizes the exact repository changes that landed after the previous PDF/PPT refresh and turns them into a concise operator briefing.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463040"/>
            <a:ext cx="1481328" cy="10058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8312" y="1591056"/>
            <a:ext cx="11521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</a:rPr>
              <a:t>Commits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8312" y="1847088"/>
            <a:ext cx="115214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1463040"/>
            <a:ext cx="1481328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14232" y="1591056"/>
            <a:ext cx="11521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14232" y="1847088"/>
            <a:ext cx="115214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</a:rPr>
              <a:t>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95560" y="1463040"/>
            <a:ext cx="1481328" cy="1005840"/>
          </a:xfrm>
          <a:prstGeom prst="round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60152" y="1591056"/>
            <a:ext cx="115214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E185D"/>
                </a:solidFill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0152" y="1847088"/>
            <a:ext cx="115214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</a:rPr>
              <a:t>57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788920"/>
            <a:ext cx="544068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2788920"/>
            <a:ext cx="5440680" cy="16459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59536" y="3044952"/>
            <a:ext cx="2606040" cy="402336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" y="3099815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</a:rPr>
              <a:t>What changed most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3538727"/>
            <a:ext cx="5038344" cy="1920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Checked Multi-Turn got loop, route, stop, and runtime-lifecycle hardening.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Successful answers can now become starter `.flw` workflows.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A new answer classifier gates flow generation more safely than regex checks.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Gatewayer documentation is now deep enough for serious operator use.</a:t>
            </a:r>
            <a:endParaRPr sz="1600" b="0" i="0">
              <a:latin typeface="Calibri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355080" y="2788920"/>
            <a:ext cx="516636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2788920"/>
            <a:ext cx="5166360" cy="16459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556248" y="3044952"/>
            <a:ext cx="2606040" cy="40233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7688" y="3099815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Refresh window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6248" y="3538727"/>
            <a:ext cx="4764024" cy="1920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Previous docs commit: 90eb2b0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Current HEAD: 8b40669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Insertions / deletions: +2287 / -131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Current tracked files: 343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Frontend modules: 24 JS, 5 CSS, 4 HTML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The 10 commits analyzed in this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Commit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44752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444752"/>
            <a:ext cx="5394960" cy="16459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9536" y="1700784"/>
            <a:ext cx="2606040" cy="40233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April 12 -&gt; April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94560"/>
            <a:ext cx="4992624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2026-04-12 | 174e6a0 | Fix Multi-Turn loop stability.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2026-04-12 | d66d749 | Fix frozen-mode routes for Multi-Turn.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2026-04-13 | 2a5965d | Tighten Multi-Turn stopping behavior.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2026-04-13 | 6316d91 | Preserve wrapped runtime history and expose more logs.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2026-04-13 | 325cc99 | Expand operator-facing docs.</a:t>
            </a:r>
            <a:endParaRPr sz="1400" b="0" i="0"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72200" y="1444752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72200" y="1444752"/>
            <a:ext cx="5394960" cy="16459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73368" y="1700784"/>
            <a:ext cx="2606040" cy="402336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</a:rPr>
              <a:t>April 13 -&gt; April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194560"/>
            <a:ext cx="4992624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2026-04-13 | 892670c | Add openpyxl dependency.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2026-04-13 | 78d40ff | Finalize Python recommendation documentation/testing.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2026-04-14 | 156287b | Turn successful answers into downloadable `.flw` workflows.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2026-04-14 | 060db0a | Remove temporary pivot flow artifact.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334155"/>
                </a:solidFill>
              </a:defRPr>
            </a:pPr>
            <a:r>
              <a:rPr sz="1400" b="0" i="0">
                <a:latin typeface="Calibri"/>
              </a:rPr>
              <a:t>2026-04-14 | 8b40669 | Add answer-success classification and README coverage.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EA5E9"/>
                </a:solidFill>
              </a:rPr>
              <a:t>Where the project stands after the refresh window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Current Repository Snapshot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508760"/>
            <a:ext cx="1965960" cy="1005840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636776"/>
            <a:ext cx="16367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EA5E9"/>
                </a:solidFill>
              </a:rPr>
              <a:t>Tracked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92807"/>
            <a:ext cx="163677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</a:rPr>
              <a:t>343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1508760"/>
            <a:ext cx="1965960" cy="1005840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1636776"/>
            <a:ext cx="16367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</a:rPr>
              <a:t>Workflow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1892807"/>
            <a:ext cx="163677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</a:rPr>
              <a:t>57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92624" y="1508760"/>
            <a:ext cx="1965960" cy="1005840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57216" y="1636776"/>
            <a:ext cx="16367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</a:rPr>
              <a:t>JS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216" y="1892807"/>
            <a:ext cx="163677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</a:rPr>
              <a:t>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1508760"/>
            <a:ext cx="1965960" cy="1005840"/>
          </a:xfrm>
          <a:prstGeom prst="round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6912" y="1636776"/>
            <a:ext cx="16367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BE185D"/>
                </a:solidFill>
              </a:rPr>
              <a:t>HTML templates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912" y="1892807"/>
            <a:ext cx="163677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72016" y="1508760"/>
            <a:ext cx="1965960" cy="100584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36608" y="1636776"/>
            <a:ext cx="16367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6A34A"/>
                </a:solidFill>
              </a:rPr>
              <a:t>Requirements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36608" y="1892807"/>
            <a:ext cx="1636776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</a:rPr>
              <a:t>62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2788920"/>
            <a:ext cx="5504688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232" y="2788920"/>
            <a:ext cx="5504688" cy="164592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14400" y="3044952"/>
            <a:ext cx="2606040" cy="40233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099815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A5E9"/>
                </a:solidFill>
              </a:rPr>
              <a:t>Why the snapshot matters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538727"/>
            <a:ext cx="5102351" cy="1783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repo is still centered on Django + Channels + an in-repo `agent` application, but the hot path has moved further toward agentic orchestration.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most changed files in this window are README, `agent_page_chat.js`, `mcp_agent.py`, `chat_agent_runtime.py`, and the new Gatewayer explanation.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refresh updates both summary artifacts so they match the current HEAD instead of the earlier April 11 picture.</a:t>
            </a:r>
            <a:endParaRPr sz="1600" b="0" i="0">
              <a:latin typeface="Calibri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400800" y="2788920"/>
            <a:ext cx="5074920" cy="26974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0" y="2788920"/>
            <a:ext cx="5074920" cy="16459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01968" y="3044952"/>
            <a:ext cx="2606040" cy="402336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3408" y="3099815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</a:rPr>
              <a:t>Largest themes by churn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3538727"/>
            <a:ext cx="4672583" cy="1783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README expansion and sync work.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Frontend chat logic for flow creation and safe rendering.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Multi-Turn backend orchestration in `mcp_agent.py`.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Runtime persistence and logging in `chat_agent_runtime.py`.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</a:rPr>
              <a:t>Stability, compatibility, and request-scoped execution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Multi-Turn Hardening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63040"/>
            <a:ext cx="54864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463040"/>
            <a:ext cx="5486400" cy="16459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719072"/>
            <a:ext cx="2606040" cy="402336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73936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</a:rPr>
              <a:t>Multi-Turn loop hardening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5084064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April 12 fixes targeted the breaking loop and the frozen-route path so the checked executor no longer stalls as easily.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April 13 refined the stopping scheme so Multi-Turn sessions can wind down without leaving the runtime in a confusing state.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planner plus capability registry continue to shape request-scoped context prefetch, execution, monitoring, and answer stages.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Unchecked chat still keeps the legacy validation and broad-tool behavior, which preserves backward compatibility.</a:t>
            </a:r>
            <a:endParaRPr sz="1600" b="0" i="0"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382512" y="1463040"/>
            <a:ext cx="50749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463040"/>
            <a:ext cx="5074920" cy="16459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1719072"/>
            <a:ext cx="2606040" cy="40233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773936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Files that moved this 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4672583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`mcp_agent.py` keeps the explicit tool loop and planner injection.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`global_execution_planner.py` keeps the request DAG and selected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`capability_registry.py` continues to shape which tools/context enter the turn.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`rag/interface.py` and `rag/chains/unified.py` keep the opt-in split between checked and unchecked modes.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Every wrapped run now leaves a more inspectable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Wrapped Runtime Persistence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63040"/>
            <a:ext cx="557784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463040"/>
            <a:ext cx="5577840" cy="16459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719072"/>
            <a:ext cx="2606040" cy="40233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73936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Wrapped runtime permanence and observability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12848"/>
            <a:ext cx="5175503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Each wrapped launch gets a unique sequenced directory under `agent/agents/pools/_chat_runs_/` so failed attempts are not overwritten.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Path discovery now distinguishes source mode from frozen mode and logs absolute resolution decisions for easier debugging.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Visible console windows are suppressed when checked Multi-Turn launches detached helper processes.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Django logging now exposes INFO-level runtime, planner, and tool-selection messages in the console.</a:t>
            </a:r>
            <a:endParaRPr sz="1600" b="0" i="0"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0" y="1463040"/>
            <a:ext cx="5056632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1463040"/>
            <a:ext cx="5056632" cy="164592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01968" y="1719072"/>
            <a:ext cx="2606040" cy="402336"/>
          </a:xfrm>
          <a:prstGeom prst="round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1773936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E185D"/>
                </a:solidFill>
              </a:rPr>
              <a:t>Operator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4654296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You can inspect failed runs without losing later successful ones.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Detached launches are less noisy in checked Multi-Turn mode.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Frozen-build path problems are easier to diagnose from logs alone.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Runtime, planner, and tool selection logs now appear in the Django console at INFO level.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EA5E9"/>
                </a:solidFill>
              </a:rPr>
              <a:t>Successful Multi-Turn executions can now seed ACP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Flow Creation From Answers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44752"/>
            <a:ext cx="10972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444752"/>
            <a:ext cx="10972800" cy="164592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700784"/>
            <a:ext cx="2606040" cy="40233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A5E9"/>
                </a:solidFill>
              </a:rPr>
              <a:t>Flow creation from successful answers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10570464" cy="1188719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Backend tool calls now carry success state plus ACP agent display-name mapping for flow generation.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frontend only renders `Create Flow` when the reply used Multi-Turn, at least one eligible tool succeeded, and the answer was classified as successful.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Generated `.flw` files are built as a simple `Starter -&gt; Agent(s) -&gt; Ender` chain, with tool arguments mapped into initial node configs.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Management tools like run-status, run-log, and stop helpers are intentionally excluded from generated flow nodes.</a:t>
            </a:r>
            <a:endParaRPr sz="1600" b="0" i="0"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3886200"/>
            <a:ext cx="1874519" cy="7498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7" y="4041648"/>
            <a:ext cx="165506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Checked Multi-Turn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014215"/>
            <a:ext cx="457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3886200"/>
            <a:ext cx="1874519" cy="749808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4041648"/>
            <a:ext cx="165506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tool_calls_log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4014215"/>
            <a:ext cx="457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3886200"/>
            <a:ext cx="1874519" cy="7498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41848" y="4041648"/>
            <a:ext cx="165506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answer_success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014215"/>
            <a:ext cx="457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3886200"/>
            <a:ext cx="1874519" cy="749808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73567" y="4041648"/>
            <a:ext cx="165506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Create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59" y="4014215"/>
            <a:ext cx="4572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95559" y="3886200"/>
            <a:ext cx="1874519" cy="749808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05287" y="4041648"/>
            <a:ext cx="165506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0F172A"/>
                </a:solidFill>
              </a:rPr>
              <a:t>download .flw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7320" y="4709160"/>
            <a:ext cx="960120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417320" y="4709160"/>
            <a:ext cx="9601200" cy="16459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618488" y="4965192"/>
            <a:ext cx="2606040" cy="402336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9928" y="5020056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</a:rPr>
              <a:t>Key guardrails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5458968"/>
            <a:ext cx="9198864" cy="182879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700" b="0" i="0">
                <a:latin typeface="Calibri"/>
              </a:rPr>
              <a:t>Only successful flow-eligible tools become nodes, and management-only runtime tools stay out of the generated workflow.</a:t>
            </a:r>
            <a:endParaRPr sz="7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700" b="0" i="0">
                <a:latin typeface="Calibri"/>
              </a:rPr>
              <a:t>The output is a starter chain, not a production-validated flow; ACP validation is still the next step.</a:t>
            </a:r>
            <a:endParaRPr sz="7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BE185D"/>
                </a:solidFill>
              </a:rPr>
              <a:t>Safer gating for the new Create Flow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Answer Analizer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44752"/>
            <a:ext cx="54864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444752"/>
            <a:ext cx="5486400" cy="164592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700784"/>
            <a:ext cx="2606040" cy="402336"/>
          </a:xfrm>
          <a:prstGeom prst="round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E185D"/>
                </a:solidFill>
              </a:rPr>
              <a:t>Answer Analizer based flow gating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5084064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A dedicated `answer_analizer.py` module sends the final answer through a strict `SUCCESS` or `FAILURE` classification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Partial but useful completion is treated as `SUCCESS`, while refusals and unrecoverable failures are treated as `FAILURE`.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On internal classifier failure the UI defaults to showing the flow button, which favors recoverability over silent hiding.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WebSocket payload now includes `answer_success` so the frontend can gate the button without inventing its own parser.</a:t>
            </a:r>
            <a:endParaRPr sz="1600" b="0" i="0"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382512" y="1444752"/>
            <a:ext cx="507492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444752"/>
            <a:ext cx="5074920" cy="16459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1700784"/>
            <a:ext cx="2606040" cy="40233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Why this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194560"/>
            <a:ext cx="4672583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UI no longer guesses success by scraping arbitrary wording from the answer.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Backend classification keeps the decision close to the actual execution result and final answer 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If classification itself fails, the system chooses the less frustrating fallback: show the button rather than hide it.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</a:rPr>
              <a:t>Operator-facing coverage is much deeper than before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Gatewayer And Docs Expansion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44752"/>
            <a:ext cx="5559552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444752"/>
            <a:ext cx="5559552" cy="16459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700784"/>
            <a:ext cx="2606040" cy="402336"/>
          </a:xfrm>
          <a:prstGeom prst="roundRect">
            <a:avLst/>
          </a:prstGeom>
          <a:solidFill>
            <a:srgbClr val="CCFB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F766E"/>
                </a:solidFill>
              </a:rPr>
              <a:t>Documentation expansion plus Gatewayer deep dive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5157216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README now includes a dedicated `Flow Creation from Multi-Turn Answers` section that walks through backend logging, frontend gating, and `.flw` output.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A new `gatewayer_explanation.md` file documents HTTP ingress, folder-drop mode, authentication, crash recovery, and observability.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Gatewayer docs now explain where the implementation is complete versus where config keys are declared but not yet enforced.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refreshed docs also clarify that Gatewayer is a workflow ingress boundary, not a chat-router equivalent.</a:t>
            </a:r>
            <a:endParaRPr sz="1600" b="0" i="0"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400800" y="1444752"/>
            <a:ext cx="5056632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1444752"/>
            <a:ext cx="5056632" cy="164592"/>
          </a:xfrm>
          <a:prstGeom prst="round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01968" y="1700784"/>
            <a:ext cx="2606040" cy="402336"/>
          </a:xfrm>
          <a:prstGeom prst="round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408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A5E9"/>
                </a:solidFill>
              </a:rPr>
              <a:t>Gatewayer themes now documented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2194560"/>
            <a:ext cx="4654296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HTTP ingress plus optional folder-drop ingestion.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Bearer and HMAC auth plus allowlist notes.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Crash recovery via persisted queue and dedup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Stable log markers for Monitor Log and Summarizer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rPr sz="1500" b="0" i="0">
                <a:latin typeface="Calibri"/>
              </a:rPr>
              <a:t>Clear caveats about config fields that exist before full enforcement.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D97706"/>
                </a:solidFill>
              </a:rPr>
              <a:t>What changed around the edges of the feature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Dependency And File Impact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44752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444752"/>
            <a:ext cx="5394960" cy="164592"/>
          </a:xfrm>
          <a:prstGeom prst="round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700784"/>
            <a:ext cx="2606040" cy="402336"/>
          </a:xfrm>
          <a:prstGeom prst="round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</a:rPr>
              <a:t>Dependency and workflow support updates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94560"/>
            <a:ext cx="4992624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`openpyxl` was added to `requirements.txt`, expanding the bundled Python toolchain for spreadsheet-oriented tasks.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The README updates on April 13 and April 14 align the public documentation with the latest Multi-Turn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334155"/>
                </a:solidFill>
              </a:defRPr>
            </a:pPr>
            <a:r>
              <a:rPr sz="1600" b="0" i="0">
                <a:latin typeface="Calibri"/>
              </a:rPr>
              <a:t>A temporary example `.flw` file was added during feature work and then removed, leaving the flow-generation feature in product code rather than shipping a scratch artifact.</a:t>
            </a:r>
            <a:endParaRPr sz="1600" b="0" i="0">
              <a:latin typeface="Calibr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327648" y="1444752"/>
            <a:ext cx="5129784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7648" y="1444752"/>
            <a:ext cx="5129784" cy="164592"/>
          </a:xfrm>
          <a:prstGeom prst="round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28816" y="1700784"/>
            <a:ext cx="2606040" cy="402336"/>
          </a:xfrm>
          <a:prstGeom prst="roundRect">
            <a:avLst/>
          </a:prstGeom>
          <a:solidFill>
            <a:srgbClr val="FCE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1755648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BE185D"/>
                </a:solidFill>
              </a:rPr>
              <a:t>Top files by churn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94560"/>
            <a:ext cx="4727448" cy="36118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rm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README.md | +624 / -19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Tlamatini/agent/agents/gatewayer/gatewayer_explanation.md | +453 / -0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Tlamatini/agent/static/agent/js/agent_page_chat.js | +321 / -2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Tlamatini/agent/mcp_agent.py | +219 / -10</a:t>
            </a:r>
          </a:p>
          <a:p>
            <a:pPr>
              <a:spcAft>
                <a:spcPts val="600"/>
              </a:spcAft>
              <a:defRPr sz="1500">
                <a:solidFill>
                  <a:srgbClr val="334155"/>
                </a:solidFill>
              </a:defRPr>
            </a:pPr>
            <a:r>
              <a:t>Tlamatini/agent/chat_agent_runtime.py | +160 / -11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11935663" cy="20116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43891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6A34A"/>
                </a:solidFill>
              </a:rPr>
              <a:t>How to use the refreshed capabilities safely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804672"/>
            <a:ext cx="1078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</a:rPr>
              <a:t>Recommendations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1600200"/>
            <a:ext cx="1069848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600200"/>
            <a:ext cx="10698480" cy="164592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42416" y="1856232"/>
            <a:ext cx="2606040" cy="402336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1911095"/>
            <a:ext cx="24231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6A34A"/>
                </a:solidFill>
              </a:rPr>
              <a:t>Recommended next-step 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2350008"/>
            <a:ext cx="10296144" cy="3429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rPr sz="1700" b="0" i="0">
                <a:latin typeface="Calibri"/>
              </a:rPr>
              <a:t>Keep unchecked chat as the default for direct analysis; switch to checked Multi-Turn when you want tool orchestration, monitoring, or flow seeding.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rPr sz="1700" b="0" i="0">
                <a:latin typeface="Calibri"/>
              </a:rPr>
              <a:t>Inspect generated `.flw` output in ACP and run validation before executing it in a real workflow.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rPr sz="1700" b="0" i="0">
                <a:latin typeface="Calibri"/>
              </a:rPr>
              <a:t>Use the new runtime directories and INFO logs whenever a wrapped agent behaves differently between source mode and a frozen desktop build.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rPr sz="1700" b="0" i="0">
                <a:latin typeface="Calibri"/>
              </a:rPr>
              <a:t>Treat Gatewayer as an ingress control point: pair it with explicit auth, monitoring, and downstream validation rather than assuming every declared config key is already enforced.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334155"/>
                </a:solidFill>
              </a:defRPr>
            </a:pPr>
            <a:r>
              <a:rPr sz="1700" b="0" i="0">
                <a:latin typeface="Calibri"/>
              </a:rPr>
              <a:t>Leverage `openpyxl` when generated Python or workflow scripts need to read or write `.xlsx` content.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