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1137</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246,877</a:t>
            </a:r>
          </a:p>
        </p:txBody>
      </p:sp>
      <p:sp>
        <p:nvSpPr>
          <p:cNvPr id="20" name="TextBox 19"/>
          <p:cNvSpPr txBox="1"/>
          <p:nvPr/>
        </p:nvSpPr>
        <p:spPr>
          <a:xfrm>
            <a:off x="822960" y="5138928"/>
            <a:ext cx="5669280" cy="292608"/>
          </a:xfrm>
          <a:prstGeom prst="rect">
            <a:avLst/>
          </a:prstGeom>
          <a:noFill/>
        </p:spPr>
        <p:txBody>
          <a:bodyPr wrap="square" anchor="t" lIns="12700" rIns="127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September 11, 2026 07:53 AM UTC-0600 at HEAD 2ea219a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manage real desktop windows by title: focus them, tile them, resize them, list them, and close them deterministically through Win32 calls.</a:t>
            </a:r>
          </a:p>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drive a live Unreal Engine 5 editor through the Unreal MCP plugin, from either Multi-Turn chat or the visual workflow canvas.</a:t>
            </a:r>
          </a:p>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3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V1.51.5 RELEASE 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V1.51.5 RELEASE 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V1.51.5 TAG, CONSOLE SHIELD, WELCOME KEYBOARD DEFAULT, AND CARRIED RUNTIME REPAIRS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reachable release tag v1.51.5 resolves to 4a7f1cb. Current source HEAD is 2ea219a, 2 commits beyond that tag. Fetched origin/main resolves to 2ea219a. Runtime version resolution remains Git/build-derived. A source revision beyond the tag is not a new tagged release.</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live surface is 88 workflow agents, 66 wrapped launchers, 108 built-in Multi-Turn tools, 29 skills, 38 JavaScript modules, and 199 migrations.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V1.51.5</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Published inventory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Since tag v1.51.5, the inspected checkout adds 68 files including 1 untracked working additions. The output directory contains 62 tracked deliverables (44,065,047 bytes including its manifest). All 61 manifest-listed payloads pass SHA-256 and size checks.</a:t>
            </a:r>
          </a:p>
          <a:p>
            <a:pPr>
              <a:spcAft>
                <a:spcPts val="400"/>
              </a:spcAft>
              <a:defRPr sz="1200">
                <a:solidFill>
                  <a:srgbClr val="B4BAAE"/>
                </a:solidFill>
                <a:latin typeface="Aptos"/>
              </a:defRPr>
            </a:pPr>
            <a:r>
              <a:t>Published assets include exact quadrant crops, aligned PNG frames, JPG conversions, a sprite sheet, HTML preview, ZIP packages, screenshots, code snapshots, test results, and a sanitized development database fixture. Binary files have no source-line count.</a:t>
            </a:r>
          </a:p>
          <a:p>
            <a:pPr>
              <a:spcAft>
                <a:spcPts val="400"/>
              </a:spcAft>
              <a:defRPr sz="1200">
                <a:solidFill>
                  <a:srgbClr val="B4BAAE"/>
                </a:solidFill>
                <a:latin typeface="Aptos"/>
              </a:defRPr>
            </a:pPr>
            <a:r>
              <a:t>Current inventory: 1,136 tracked files, 349,913 physical text lines, 246,877 effective lines, and 101 binary assets. Published backup/test text counts toward repository totals but does not add runtime agents or frontend modules.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Source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Commit 46a18c8 repairs avatar opacity flashing and publishes the runnable test suite. Commit 2ea219a changes the configured cloud baseline to glm-5.3:cloud and corrects the handbook's model pull list. These are source changes after v1.51.5.</a:t>
            </a:r>
          </a:p>
          <a:p>
            <a:pPr>
              <a:spcAft>
                <a:spcPts val="400"/>
              </a:spcAft>
              <a:defRPr sz="1200">
                <a:solidFill>
                  <a:srgbClr val="B4BAAE"/>
                </a:solidFill>
                <a:latin typeface="Aptos"/>
              </a:defRPr>
            </a:pPr>
            <a:r>
              <a:t>Recorded visible evidence: 313 transitions, 10,609 browser paints, 4 expression states, 3 viewports, minimum coverage 100%, zero reported layout/coverage failures and no JavaScript errors. This refresh checks the recorded evidence, not a new browser run.</a:t>
            </a:r>
          </a:p>
          <a:p>
            <a:pPr>
              <a:spcAft>
                <a:spcPts val="400"/>
              </a:spcAft>
              <a:defRPr sz="1200">
                <a:solidFill>
                  <a:srgbClr val="B4BAAE"/>
                </a:solidFill>
                <a:latin typeface="Aptos"/>
              </a:defRPr>
            </a:pPr>
            <a:r>
              <a:t>README and Book retain a pre-avatar 1,069-file inventory and an obsolete tag-equals-HEAD sentence. Their 311-transition repair-run description is historical. This dossier uses current Git counts and the later 313-transition JSON evidence instead.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Avatar Animation Repair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Four opaque 1024x1024 RGB JPGs combine open/closed eyes with neutral/smiling mouth. They share one square viewport. Existing non-rigid expression differences remain.</a:t>
            </a:r>
          </a:p>
          <a:p>
            <a:pPr>
              <a:spcAft>
                <a:spcPts val="400"/>
              </a:spcAft>
              <a:defRPr sz="1400">
                <a:solidFill>
                  <a:srgbClr val="B4BAAE"/>
                </a:solidFill>
                <a:latin typeface="Aptos"/>
              </a:defRPr>
            </a:pPr>
            <a:r>
              <a:t>The former 90 ms full-image opacity transition exposed the dark background. At two half-opaque frames, combined coverage is 75%. The recorded reproduction measured approximately 75.3%. Django collectstatic copied the JPG bytes correctly.</a:t>
            </a:r>
          </a:p>
          <a:p>
            <a:pPr>
              <a:spcAft>
                <a:spcPts val="400"/>
              </a:spcAft>
              <a:defRPr sz="1400">
                <a:solidFill>
                  <a:srgbClr val="B4BAAE"/>
                </a:solidFill>
                <a:latin typeface="Aptos"/>
              </a:defRPr>
            </a:pPr>
            <a:r>
              <a:t>The renderer now swaps visibility with opacity fixed at one, waits for image.decode(), and retains the neutral/last valid image when another frame is slow or unavailable. A shared cache-busting suffix serves the changed CSS and JavaScript.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Speech pause, hidden-page and reduced-motion behavior stop mouth animation. Click greeting/stop, Escape, double-click mute and Ctrl+Shift+M remain available. Disabling image selection removes the blue double-click highlight.</a:t>
            </a:r>
          </a:p>
          <a:p>
            <a:pPr>
              <a:spcAft>
                <a:spcPts val="400"/>
              </a:spcAft>
              <a:defRPr sz="1600">
                <a:solidFill>
                  <a:srgbClr val="B4BAAE"/>
                </a:solidFill>
                <a:latin typeface="Aptos"/>
              </a:defRPr>
            </a:pPr>
            <a:r>
              <a:t>This is expression switching driven by native speech, not streamed video or phoneme-level lip synthesis. Tests isolate the LLM WebSocket. Frozen rebuild/reinstall and end-to-end model answer generation remain separate validation work.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Visible Avatar Test Runner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From the repository root: .\python\python.exe Tests\run_avatar_tests.py</a:t>
            </a:r>
          </a:p>
          <a:p>
            <a:pPr>
              <a:spcAft>
                <a:spcPts val="400"/>
              </a:spcAft>
              <a:defRPr sz="1600">
                <a:solidFill>
                  <a:srgbClr val="B4BAAE"/>
                </a:solidFill>
                <a:latin typeface="Aptos"/>
              </a:defRPr>
            </a:pPr>
            <a:r>
              <a:t>Use --check for dependency validation, --prepare-only for database/static preparation, or --auto-close to close the visible browser and its server after passing.</a:t>
            </a:r>
          </a:p>
          <a:p>
            <a:pPr>
              <a:spcAft>
                <a:spcPts val="400"/>
              </a:spcAft>
              <a:defRPr sz="1600">
                <a:solidFill>
                  <a:srgbClr val="B4BAAE"/>
                </a:solidFill>
                <a:latin typeface="Aptos"/>
              </a:defRPr>
            </a:pPr>
            <a:r>
              <a:t>The launcher prepares the isolated Temp/avatar_flash_fix database, applies migrations, creates the ordinary user/changeme test account, runs collectstatic, and starts real Django on 127.0.0.1:8001. It leaves the frozen app and normal database untouched.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visible, non-headless browser checks at least 300 expression transitions with native Windows speech, three viewport sizes and playback/mute controls. Closing it stops the test server. Node.js, Playwright and Chromium are prerequisites.</a:t>
            </a:r>
          </a:p>
          <a:p>
            <a:pPr>
              <a:spcAft>
                <a:spcPts val="400"/>
              </a:spcAft>
              <a:defRPr sz="1600">
                <a:solidFill>
                  <a:srgbClr val="B4BAAE"/>
                </a:solidFill>
                <a:latin typeface="Aptos"/>
              </a:defRPr>
            </a:pPr>
            <a:r>
              <a:t>Screenshots and JSON proof land in output/avatar_flash_fix/visible-test. The committed SQLite fixture has no login sessions. Runtime sessions/logs stay in ignored Temp. The generic test credential must not become a production password.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Gitter Windows Paths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inspected working tree repairs Gitter custom_command tokenization on Windows. POSIX shlex treated backslashes as escapes and turned C:\Dev\msg.txt into C:Devmsg.txt.</a:t>
            </a:r>
          </a:p>
          <a:p>
            <a:pPr>
              <a:spcAft>
                <a:spcPts val="400"/>
              </a:spcAft>
              <a:defRPr sz="1300">
                <a:solidFill>
                  <a:srgbClr val="B4BAAE"/>
                </a:solidFill>
                <a:latin typeface="Aptos"/>
              </a:defRPr>
            </a:pPr>
            <a:r>
              <a:t>Windows now uses shlex.split(..., posix=False) plus one matching outer-quote removal. Backslashes survive and quoted multi-word arguments remain single tokens. POSIX hosts retain posix=True. Malformed quotes retain the existing split fallback.</a:t>
            </a:r>
          </a:p>
          <a:p>
            <a:pPr>
              <a:spcAft>
                <a:spcPts val="400"/>
              </a:spcAft>
              <a:defRPr sz="1300">
                <a:solidFill>
                  <a:srgbClr val="B4BAAE"/>
                </a:solidFill>
                <a:latin typeface="Aptos"/>
              </a:defRPr>
            </a:pPr>
            <a:r>
              <a:t>agent/test_gitter_custom_command.py adds 23 tests. The tests AST-load only the two helpers so they do not start a pool agent or write PID/log state. They cover Windows paths, quoted arguments, malformed input, POSIX behavior and source contracts.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Source: agent/agents/gitter/gitter.py. Maintainer record: docs/claude/recent-fixes.md, 2026-09-11 entry. The public handbooks describe Gitter generally but do not yet explain this tokenizer repair. This change is uncommitted at the audit snapshot.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reachable release tag v1.51.5 resolves to 4a7f1cb. Current source HEAD is 2ea219a, 2 commits beyond that tag. Fetched origin/main resolves to 2ea219a. Runtime version resolution remains Git/build-derived. A source revision beyond the tag is not a new tagged release.</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`v1.51.5`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reachable release tag v1.51.5 resolves to 4a7f1cb. Current source HEAD is 2ea219a, 2 commits beyond that tag. Fetched origin/main resolves to 2ea219a. Runtime version resolution remains Git/build-derived. A source revision beyond the tag is not a new tagged release.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`glm-5.3:cloud`,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`glm-5.3:cloud`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`glm-5.3:cloud`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`glm-5.3:cloud`;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`glm-5.3:cloud`,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`v1.51.5`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The reachable release tag v1.51.5 resolves to 4a7f1cb. Current source HEAD is 2ea219a, 2 commits beyond that tag. Fetched origin/main resolves to 2ea219a. Runtime version resolution remains Git/build-derived. A source revision beyond the tag is not a new tagged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1.51.5 | build: 1.51.5</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glm-5.3:cloud
ollama pull qwen3.5:cloud
ollama pull gemma4:cloud
ollama pull qwen3-vl:235b-cloud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glm-5.3:cloud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gemma4:cloud</a:t>
            </a:r>
          </a:p>
          <a:p>
            <a:pPr>
              <a:spcAft>
                <a:spcPts val="400"/>
              </a:spcAft>
              <a:defRPr sz="1500">
                <a:solidFill>
                  <a:srgbClr val="B4BAAE"/>
                </a:solidFill>
                <a:latin typeface="Aptos"/>
              </a:defRPr>
            </a:pPr>
            <a:r>
              <a:t>qwen3-vl:235b-cloud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1137</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199</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38</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2ea219a - Default cloud model: glm-5.2:cloud -&gt; glm-5.3:cloud, by Tlamatini's-AutoBot.</a:t>
            </a:r>
          </a:p>
          <a:p>
            <a:pPr>
              <a:spcAft>
                <a:spcPts val="400"/>
              </a:spcAft>
              <a:defRPr sz="1500">
                <a:solidFill>
                  <a:srgbClr val="B4BAAE"/>
                </a:solidFill>
                <a:latin typeface="Aptos"/>
              </a:defRPr>
            </a:pPr>
            <a:r>
              <a:t>Resolved version: 1.51.5 (git)</a:t>
            </a:r>
          </a:p>
          <a:p>
            <a:pPr>
              <a:spcAft>
                <a:spcPts val="400"/>
              </a:spcAft>
              <a:defRPr sz="1500">
                <a:solidFill>
                  <a:srgbClr val="B4BAAE"/>
                </a:solidFill>
                <a:latin typeface="Aptos"/>
              </a:defRPr>
            </a:pPr>
            <a:r>
              <a:t>Generated on September 11, 2026 07:53 AM UTC-0600</a:t>
            </a:r>
          </a:p>
          <a:p>
            <a:pPr>
              <a:spcAft>
                <a:spcPts val="400"/>
              </a:spcAft>
              <a:defRPr sz="1500">
                <a:solidFill>
                  <a:srgbClr val="B4BAAE"/>
                </a:solidFill>
                <a:latin typeface="Aptos"/>
              </a:defRPr>
            </a:pPr>
            <a:r>
              <a:t>Inventory scope: 1137 files = 1136 tracked + 1 git-unignored working-tree additions</a:t>
            </a:r>
          </a:p>
          <a:p>
            <a:pPr>
              <a:spcAft>
                <a:spcPts val="400"/>
              </a:spcAft>
              <a:defRPr sz="1500">
                <a:solidFill>
                  <a:srgbClr val="B4BAAE"/>
                </a:solidFill>
                <a:latin typeface="Aptos"/>
              </a:defRPr>
            </a:pPr>
            <a:r>
              <a:t>Multi-Turn tools: 108; wrapped chat-agent tools: 66; skills: 29</a:t>
            </a:r>
          </a:p>
          <a:p>
            <a:pPr>
              <a:spcAft>
                <a:spcPts val="400"/>
              </a:spcAft>
              <a:defRPr sz="1500">
                <a:solidFill>
                  <a:srgbClr val="B4BAAE"/>
                </a:solidFill>
                <a:latin typeface="Aptos"/>
              </a:defRPr>
            </a:pPr>
            <a:r>
              <a:t>Python requirements: 80; authoritative agent-description rows: 88</a:t>
            </a:r>
          </a:p>
          <a:p>
            <a:pPr>
              <a:spcAft>
                <a:spcPts val="400"/>
              </a:spcAft>
              <a:defRPr sz="1500">
                <a:solidFill>
                  <a:srgbClr val="B4BAAE"/>
                </a:solidFill>
                <a:latin typeface="Aptos"/>
              </a:defRPr>
            </a:pPr>
            <a:r>
              <a:t>Binary or asset inventory files skipped from line count: 101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46a18c8 on 2026-09-10</a:t>
            </a:r>
          </a:p>
          <a:p>
            <a:pPr>
              <a:spcAft>
                <a:spcPts val="400"/>
              </a:spcAft>
              <a:defRPr sz="1300">
                <a:solidFill>
                  <a:srgbClr val="B4BAAE"/>
                </a:solidFill>
                <a:latin typeface="Aptos"/>
              </a:defRPr>
            </a:pPr>
            <a:r>
              <a:t>Fix avatar flashing and publish complete assets, visible tests, and documentation</a:t>
            </a:r>
          </a:p>
          <a:p>
            <a:pPr>
              <a:spcAft>
                <a:spcPts val="400"/>
              </a:spcAft>
              <a:defRPr sz="1300">
                <a:solidFill>
                  <a:srgbClr val="B4BAAE"/>
                </a:solidFill>
                <a:latin typeface="Aptos"/>
              </a:defRPr>
            </a:pPr>
            <a:r>
              <a:t>Commits since then: 1</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same span also refined the shipped operating baseline: handbook simplification, a `glm-5.3:cloud` checked-in default, stronger execution logging, Pythonxer downstream fixes, Windows forked-process polish, and cleaner project-skill loading.</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TAGGED FOUNDATION AND SUBSEQUENT SOURCE CHANGES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reachable release tag v1.51.5 resolves to 4a7f1cb. Current source HEAD is 2ea219a, 2 commits beyond that tag. Fetched origin/main resolves to 2ea219a. Runtime version resolution remains Git/build-derived. A source revision beyond the tag is not a new tagged release.</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246,877</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349,913</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625     172,497    252,916  69.9%
Markdown                 182      26,707     35,331  10.8%
JavaScript                45      20,286     26,227   8.2%
CSS                       16       7,036      9,330   2.9%
JSON                      18       5,771      5,771   2.3%
Other text                21       4,764      5,582   1.9%
YAML                      93       2,159      5,723   0.9%
HTML                       6       1,980      2,053   0.8%
PowerShell                10       1,692      2,318   0.7%
Prompt template            2       1,265      1,396   0.5%
Text                       7       1,142      1,454   0.5%
Tlamatini Flow             4         837        837   0.3%
JavaScript module          2         457        562   0.2%
Batch                      4         264        380   0.1%
Protocol Buffers           1          20         33   0.0%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8,655  12,661
Tlamatini/agent/tests.py                                Python         5,700   7,452
Tlamatini/agent/doc_generation/complete_project_docs.py Python         4,221   4,684
Tlamatini/agent/tools.py                                Python         3,241   4,897
Tlamatini/agent/agents/latexer/latexer.py               Python         3,151   4,593
BookOfTlamatini.md                                      Markdown       2,777   3,969
Tlamatini/agent/agents/flowcreator/agentic_skill.md     Markdown       2,421   2,663
output/avatar_flash_fix/visible-test/results.json       JSON           2,266   2,266
output/avatar_flash_fix/visible-first-pass/results.json JSON           2,257   2,257
docs/claude/recent-fixes.md                             Markdown       2,095   2,810
...ini/agent/static/agent/css/agentic_control_panel.css CSS            2,084   2,905
Tlamatini/agent/external_mcp_manager.py                 Python         2,066   2,604
Tlamatini/agent/chat_agent_registry.py                  Python         1,995   2,059
Tlamatini/agent/agents/stm32er/stm32er.py               Python         1,983   2,694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reachable release tag v1.51.5 resolves to 4a7f1cb. Current source HEAD is 2ea219a, 2 commits beyond that tag. Fetched origin/main resolves to 2ea219a. Runtime version resolution remains Git/build-derived. A source revision beyond the tag is not a new tagged release.</a:t>
            </a:r>
          </a:p>
          <a:p>
            <a:pPr>
              <a:spcAft>
                <a:spcPts val="400"/>
              </a:spcAft>
              <a:defRPr sz="1300">
                <a:solidFill>
                  <a:srgbClr val="B4BAAE"/>
                </a:solidFill>
                <a:latin typeface="Aptos"/>
              </a:defRPr>
            </a:pPr>
            <a:r>
              <a:t>The current release window adds a non-blocking console sink with frozen-build QuickEdit policy, Enter-to-chat welcome navigation, and the Windows launcher shim, while carrying PDFer's measured layout system, stable program/snippet persistence, and ACPX live-readiness and delivery verdicts.</a:t>
            </a:r>
          </a:p>
          <a:p>
            <a:pPr>
              <a:spcAft>
                <a:spcPts val="400"/>
              </a:spcAft>
              <a:defRPr sz="13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300">
                <a:solidFill>
                  <a:srgbClr val="B4BAAE"/>
                </a:solidFill>
                <a:latin typeface="Aptos"/>
              </a:defRPr>
            </a:pPr>
            <a:r>
              <a:t>The reachable release tag v1.51.5 resolves to 4a7f1cb. Current source HEAD is 2ea219a, 2 commits beyond that tag. Fetched origin/main resolves to 2ea219a. Runtime version resolution remains Git/build-derived. A source revision beyond the tag is not a new tagged release.</a:t>
            </a:r>
          </a:p>
          <a:p>
            <a:pPr>
              <a:spcAft>
                <a:spcPts val="400"/>
              </a:spcAft>
              <a:defRPr sz="1300">
                <a:solidFill>
                  <a:srgbClr val="B4BAAE"/>
                </a:solidFill>
                <a:latin typeface="Aptos"/>
              </a:defRPr>
            </a:pPr>
            <a:r>
              <a:t>The checked-in runtime defaults also moved: the shared config now points at `glm-5.3:cloud`, so the handbook and dossier need to describe the shipped cloud-first baseline honestly instead of assuming only the older local model defaults.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Operator attention routing also changed: when Ask Execs or a Notifier event needs the user, Tlamatini can now flash her own Windows taskbar presence and write an uppercase attention banner into `tlamatini.log`.</a:t>
            </a:r>
          </a:p>
          <a:p>
            <a:pPr>
              <a:spcAft>
                <a:spcPts val="400"/>
              </a:spcAft>
              <a:defRPr sz="15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2026-09-11 | 2ea219a | Default cloud model: glm-5.2:cloud -&gt; glm-5.3:cloud, by Tlamatini's-AutoBot.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2026-09-11 | 2ea219a | Default cloud model: glm-5.2:cloud -&gt; glm-5.3:cloud, by Tlamatini's-AutoBot.</a:t>
            </a:r>
          </a:p>
          <a:p>
            <a:pPr>
              <a:spcAft>
                <a:spcPts val="400"/>
              </a:spcAft>
              <a:defRPr sz="1200">
                <a:solidFill>
                  <a:srgbClr val="B4BAAE"/>
                </a:solidFill>
                <a:latin typeface="Aptos"/>
              </a:defRPr>
            </a:pPr>
            <a:r>
              <a:t>2026-09-10 | 46a18c8 | Fix avatar flashing and publish complete assets, visible tests, and documentation</a:t>
            </a:r>
          </a:p>
          <a:p>
            <a:pPr>
              <a:spcAft>
                <a:spcPts val="400"/>
              </a:spcAft>
              <a:defRPr sz="1200">
                <a:solidFill>
                  <a:srgbClr val="B4BAAE"/>
                </a:solidFill>
                <a:latin typeface="Aptos"/>
              </a:defRPr>
            </a:pPr>
            <a:r>
              <a:t>2026-09-10 | 4a7f1cb | Updating visual documentation for imp. on welcome page and making the  shield in console window, by Tlamatini's-AutoBot.</a:t>
            </a:r>
          </a:p>
          <a:p>
            <a:pPr>
              <a:spcAft>
                <a:spcPts val="400"/>
              </a:spcAft>
              <a:defRPr sz="1200">
                <a:solidFill>
                  <a:srgbClr val="B4BAAE"/>
                </a:solidFill>
                <a:latin typeface="Aptos"/>
              </a:defRPr>
            </a:pPr>
            <a:r>
              <a:t>2026-09-10 | d8f21f3 | Updating 2, documentation for imp. on welcome page and making the  shield in console window, by Tlamatini's-AutoBot.</a:t>
            </a:r>
          </a:p>
          <a:p>
            <a:pPr>
              <a:spcAft>
                <a:spcPts val="400"/>
              </a:spcAft>
              <a:defRPr sz="1200">
                <a:solidFill>
                  <a:srgbClr val="B4BAAE"/>
                </a:solidFill>
                <a:latin typeface="Aptos"/>
              </a:defRPr>
            </a:pPr>
            <a:r>
              <a:t>2026-09-10 | 0d2c09c | Updating documentation for imp. on welcome page and making the  shield in console window, by Tlamatini's-AutoBot.</a:t>
            </a:r>
          </a:p>
          <a:p>
            <a:pPr>
              <a:spcAft>
                <a:spcPts val="400"/>
              </a:spcAft>
              <a:defRPr sz="1200">
                <a:solidFill>
                  <a:srgbClr val="B4BAAE"/>
                </a:solidFill>
                <a:latin typeface="Aptos"/>
              </a:defRPr>
            </a:pPr>
            <a:r>
              <a:t>2026-09-10 | c8cf369 | Improving default key for welcom page and making a shield into Tlamatini's console window in frozen mode, by Tlamatini's-AutoBot.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2026-09-08 | 5f96a2f | Updating visual and non-visual documentation, by Tlamatini's-AutoBot.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.gitattributes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git_deny_go.py
|-- install.py
|-- KIMI.md
|-- LICENSE
|-- MCPMemoriesFlowCreation.flw
|-- MessagingConnectorAssistant_Design.md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TLAMATINI_MCP.md
|-- tlamatini_mcp_server.py
|-- TlamatiniConsoleShieldByClaude.md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pdfer_nuance_visible.py
|       |       |-- playwrighter_run.py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agents.md
|       |-- architecture.md
|       |-- exec-report.md
|       |-- frontend.md
|       |-- gotchas.md
|       |-- INDEX.md
|       |-- mcp-tools.md
|       |-- multi-turn.md
|       `-- recent-fixes.md
|-- output/
|   |-- ASSET_MANIFEST.json
|   |-- Gemini_girl_animation.zip
|   |-- README.md
|   |-- avatar_flash_fix/
|   |   |-- collectstatic-results.json
|   |   |-- dev_settings.py
|   |   |-- development-test.sqlite3
|   |   |-- development_test.py
|   |   |-- README.md
|   |   |-- __pycache__/
|   |   |   `-- dev_settings.cpython-312.pyc
|   |   |-- after-test/
|   |   |   |-- ec-mc.png
|   |   |   |-- ec-mo.png
|   |   |   |-- eo-mc.png
|   |   |   |-- eo-mo.png
|   |   |   |-- idle.png
|   |   |   |-- narrow.png
|   |   |   |-- results.json
|   |   |   `-- speaking.png
|   |   |-- before/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agent_page.html
|   |   |   |-- avatar.css
|   |   |   `-- avatar.js
|   |   |-- before-test/
|   |   |   |-- idle.png
|   |   |   |-- observed-flash.png
|   |   |   `-- results.json
|   |   |-- deployment-backups/
|   |   |   |-- collected-source/
|   |   |   |   |-- avatar.css
|   |   |   |   `-- avatar.js
|   |   |   |-- installed-agent/
|   |   |   |   |-- avatar.css
|   |   |   |   `-- avatar.js
|   |   |   |-- installed-collected/
|   |   |   |   |-- avatar.css
|   |   |   |   `-- avatar.js
|   |   |   `-- installed-source/
|   |   |       |-- avatar.css
|   |   |       `-- avatar.js
|   |   |-- visible-first-pass/
|   |   |   |-- results.json
|   |   |   `-- selection-issue.png
|   |   `-- visible-test/
|   |       |-- 01-real-django-page.png
|   |       |-- checkpoint-100.png
|   |       |-- checkpoint-150.png
|   |       |-- checkpoint-200.png
|   |       |-- checkpoint-250.png
|   |       |-- checkpoint-300.png
|   |       |-- checkpoint-50.png</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final-passed.png
|   |       `-- results.json
|   `-- Gemini_girl_animation/
|       |-- 01_eyes_open_smiling.png
|       |-- 02_eyes_open_neutral.png
|       |-- 03_eyes_closed_smiling.png
|       |-- 04_eyes_closed_neutral.png
|       |-- alignment.json
|       |-- build_frames.py
|       |-- contact_sheet.jpg
|       |-- girl_frames_jpg.zip
|       |-- preview.html
|       |-- preview_screenshot.png
|       |-- README.md
|       |-- sprite_2x2.png
|       |-- exact_crops/
|       |   |-- 01_eyes_open_smiling.png
|       |   |-- 02_eyes_open_neutral.png
|       |   |-- 03_eyes_closed_smiling.png
|       |   `-- 04_eyes_closed_neutral.png
|       `-- jpg/
|           |-- 01_eyes_open_smiling.jpg
|           |-- 02_eyes_open_neutral.jpg
|           |-- 03_eyes_closed_smiling.jpg
|           `-- 04_eyes_closed_neutral.jpg
|-- pyinstaller_hooks/
|   |-- hook-numpy.py
|   `-- hook-torch.py
|-- scripts/
|   `-- check_js_parse.mjs
|-- security/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automated_tests_of_security_assets.py
|   |-- enable_tlamatini_v2.bat
|   |-- README.md
|   |-- run_defender.bat
|   |-- tlamatini_defender.ps1
|   `-- tlamatini_whitelist_v2.ps1
|-- Tests/
|   |-- run_avatar_tests.py
|   |-- test_about_window_name_visible.py
|   |-- test_avatar_animation.cjs
|   |-- test_avatar_collectstatic.py
|   |-- test_avatar_visible.cjs
|   `-- test_perf_3x_visual.py
`-- Tlamatini/
    |-- cat_art.py
    |-- hoy
    |-- manage.py
    |-- .agents/
    |   `-- workflows/
    |       `-- create_new_agent.md
    |-- .mcps/
    |   `-- create_new_mcp.md
    |-- .skills/
    |   `-- create_new_skill.md
    |-- agent/
    |   |-- __init__.py
    |   |-- access_key_wizard.py
    |   |-- admin.py
    |   |-- agent_manifest.py
    |   |-- agent_verdict.py
    |   |-- apps.py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
    |   |-- gpu_perf.py
    |   |-- inet_determiner.py
    |   |-- llm_timing.py
    |   |-- local_toolcall_parser.py
    |   |-- log_identity.py
    |   |-- mcp_agent.py
    |   |-- mcp_files_search_client.py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
    |   |-- test_binary_guard.py
    |   |-- test_blenderer_agent.py
    |   |-- test_build_pip_quiet.py
    |   |-- test_build_scripts.py
    |   |-- test_camcorder_agent.py
    |   |-- test_cancellation.py
    |   |-- test_chain_readiness.py
    |   |-- test_chat_bridge_bots.py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
    |   |-- test_file_extractor_reader.py
    |   |-- test_flow_contracts.py
    |   |-- test_frontend_mutable_state.py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test_gitter_custom_command.py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
    |   |-- test_password_quoting.py
    |   |-- test_pdfer_agent.py
    |   |-- test_pdfer_nuance_layout.py
    |   |-- test_playwrighter_agent.py
    |   |-- test_preserved_user_state.py
    |   |-- test_program_name_collisions.py
    |   |-- test_prompt_catalog_contiguous.py
    |   |-- test_public_release_targets.py
    |   |-- test_recorder_agent.py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test_watchdog_foreground_exemption.py
    |   |-- test_web_process_stays_lean.py
    |   |-- test_whatsapper_identity.py
    |   |-- test_whisperer_agent.py
    |   |-- test_win_shim.py
    |   |-- test_windower_agent.py
    |   |-- test_windows_app_registration.py
    |   |-- test_zavuerer_agent.py
    |   |-- tests.py
    |   |-- tests_perf_3x.py
    |   |-- Tlamatini.md
    |   |-- tools.py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urls.py
    |   |-- version.py
    |   |-- views.py
    |   |-- web_search_llm.py
    |   |-- win_shim.py
    |   |-- window_flash.py
    |   |-- windows_app_registration.py
    |   |-- acpx/
    |   |   |-- __init__.py
    |   |   |-- agent_registry.py
    |   |   |-- child_health.py
    |   |   |-- config.py
    |   |   |-- permissions.py
    |   |   |-- runtime.py
    |   |   |-- service.py
    |   |   |-- session_store.py
    |   |   |-- tests.py
    |   |   |-- tools.py
    |   |   `-- windows_spawn.py
    |   |-- agents/
    |   |   |-- acpxer/
    |   |   |   |-- acpxer.py
    |   |   |   `-- config.yaml
    |   |   |-- analyzer/
    |   |   |   |-- analyzer.py
    |   |   |   `-- config.yaml
    |   |   |-- and/
    |   |   |   |-- and.py
    |   |   |   `-- config.yaml
    |   |   |-- apirer/
    |   |   |   |-- apirer.py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latexer/
    |   |   |   |-- config.yaml
    |   |   |   `-- latexer.py
    |   |   |-- mcp_doctor/
    |   |   |   |-- config.yaml
    |   |   |   `-- mcp_doctor.py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mongoxer/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
    |   |   |   |-- config.yaml
    |   |   |   |-- node_manager.md
    |   |   |   |-- node_manager.py
    |   |   |   |-- nodes_example.json
    |   |   |   `-- nodes_example.yaml
    |   |   |-- notifier/
    |   |   |   |-- config.yaml
    |   |   |   `-- notifier.py
    |   |   |-- or/</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or.py
    |   |   |-- parametrizer/
    |   |   |   |-- config.yaml
    |   |   |   `-- parametrizer.py
    |   |   |-- pdfer/
    |   |   |   |-- config.yaml
    |   |   |   |-- pdfer.py
    |   |   |   |-- pdfer_atelier.py
    |   |   |   |-- pdfer_audit.py
    |   |   |   |-- pdfer_color.py
    |   |   |   |-- pdfer_consult.py
    |   |   |   |-- pdfer_docmodel.py
    |   |   |   |-- pdfer_nuance.py
    |   |   |   |-- pdfer_ornament.py
    |   |   |   |-- pdfer_tables.py
    |   |   |   |-- pdfer_theme.py
    |   |   |   |-- pdfer_typography.py
    |   |   |   `-- _art/
    |   |   |       `-- PDFer/
    |   |   |           |-- orn_circuit_trace_240x120_38BDF8_d953e4f7.png
    |   |   |           |-- orn_corner_wedge_240x120_38BDF8_d953e4f7.png
    |   |   |           |-- orn_diagonal_split_240x120_38BDF8_d953e4f7.png
    |   |   |           |-- orn_drop_cap_panel_240x120_38BDF8_d953e4f7.png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orn_particle_field_240x120_38BDF8_d953e4f7.png
    |   |   |           |-- orn_scanline_240x120_38BDF8_d953e4f7.png
    |   |   |           |-- orn_sine_field_240x120_38BDF8_d953e4f7.png
    |   |   |           `-- orn_spectrum_bar_240x120_38BDF8_d953e4f7.png
    |   |   |-- playwrighter/
    |   |   |   |-- config.yaml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|-- 0198_add_pdfer_nuance_demo_prompt.py
    |   |   |-- 0199_dedupe_llm_program_snippet_names.py
    |   |   `-- __init__.py
    |   |-- monitors/
    |   |   `-- monitor_sql.py
    |   |-- opus_client/
    |   |   |-- claude_opus_client.py
    |   |   |-- examples.py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flow_spec.py
    |   |   `-- response_parser.py
    |   |-- skills/
    |   |   |-- __init__.py
    |   |   |-- frontmatter.py
    |   |   |-- harness.py
    |   |   |-- io_contract.py</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
    |   |   |       |-- make_flow.py
    |   |   |       `-- result_to_flw.py
    |   |   |-- github/
    |   |   |   `-- SKILL.md
    |   |   |-- gmail/
    |   |   |   `-- SKILL.md</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- 41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skills_dialog.css
    |   |       |   |-- tools_dialog.css
    |   |       |   `-- welcome.css
    |   |       |-- img/
    |   |       |   |-- spinner.svg
    |   |       |   |-- Tlamatini.ico
    |   |       |   `-- avatar/</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- 42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canvas_item_dialog.js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- 43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chat_image_paste.js
    |   |       |   |-- chat_page_runtime_poller.js
    |   |       |   |-- checkbox_bulk_toggle.js
    |   |       |   |-- contacts_dialog.js
    |   |       |   |-- contextual_menus.js
    |   |       |   |-- dialog_policy.js
    |   |       |   |-- external_mcps_dialog.js
    |   |       |   |-- release_notes_renderer.js
    |   |       |   |-- shared-runtime-dialogs.js
    |   |       |   |-- skills_dialog.js
    |   |       |   |-- tools_dialog.js
    |   |       |   `-- welcome_enter_default.js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- 44 of 44</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README.md
    |-- jd-cli/
    |   |-- jd-cli.bat
    |   `-- jd-cli.jar
    |-- tests_e2e/
    |   |-- oob_child_helper.py
    |   |-- README.md
    |   |-- test_create_flow_visual.py
    |   |-- test_ctrl_c_quits_visible.py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SINCE RELEASE TAG,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New Asset Inventory - 1</a:t>
            </a:r>
          </a:p>
        </p:txBody>
      </p:sp>
      <p:sp>
        <p:nvSpPr>
          <p:cNvPr id="9" name="TextBox 8"/>
          <p:cNvSpPr txBox="1"/>
          <p:nvPr/>
        </p:nvSpPr>
        <p:spPr>
          <a:xfrm>
            <a:off x="731520" y="150876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.gitattributes</a:t>
            </a:r>
          </a:p>
        </p:txBody>
      </p:sp>
      <p:sp>
        <p:nvSpPr>
          <p:cNvPr id="10" name="TextBox 9"/>
          <p:cNvSpPr txBox="1"/>
          <p:nvPr/>
        </p:nvSpPr>
        <p:spPr>
          <a:xfrm>
            <a:off x="731520" y="170992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281 bytes; text; 11 physical / 11 effective lines</a:t>
            </a:r>
          </a:p>
        </p:txBody>
      </p:sp>
      <p:sp>
        <p:nvSpPr>
          <p:cNvPr id="11" name="TextBox 10"/>
          <p:cNvSpPr txBox="1"/>
          <p:nvPr/>
        </p:nvSpPr>
        <p:spPr>
          <a:xfrm>
            <a:off x="731520" y="198424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Tests/run_avatar_tests.py</a:t>
            </a:r>
          </a:p>
        </p:txBody>
      </p:sp>
      <p:sp>
        <p:nvSpPr>
          <p:cNvPr id="12" name="TextBox 11"/>
          <p:cNvSpPr txBox="1"/>
          <p:nvPr/>
        </p:nvSpPr>
        <p:spPr>
          <a:xfrm>
            <a:off x="731520" y="2185416"/>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5,322 bytes; text; 105 physical / 89 effective lines</a:t>
            </a:r>
          </a:p>
        </p:txBody>
      </p:sp>
      <p:sp>
        <p:nvSpPr>
          <p:cNvPr id="13" name="TextBox 12"/>
          <p:cNvSpPr txBox="1"/>
          <p:nvPr/>
        </p:nvSpPr>
        <p:spPr>
          <a:xfrm>
            <a:off x="731520" y="2459736"/>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Tests/test_avatar_animation.cjs</a:t>
            </a:r>
          </a:p>
        </p:txBody>
      </p:sp>
      <p:sp>
        <p:nvSpPr>
          <p:cNvPr id="14" name="TextBox 13"/>
          <p:cNvSpPr txBox="1"/>
          <p:nvPr/>
        </p:nvSpPr>
        <p:spPr>
          <a:xfrm>
            <a:off x="731520" y="2660904"/>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11,041 bytes; text; 195 physical / 180 effective lines</a:t>
            </a:r>
          </a:p>
        </p:txBody>
      </p:sp>
      <p:sp>
        <p:nvSpPr>
          <p:cNvPr id="15" name="TextBox 14"/>
          <p:cNvSpPr txBox="1"/>
          <p:nvPr/>
        </p:nvSpPr>
        <p:spPr>
          <a:xfrm>
            <a:off x="731520" y="2935224"/>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Tests/test_avatar_collectstatic.py</a:t>
            </a:r>
          </a:p>
        </p:txBody>
      </p:sp>
      <p:sp>
        <p:nvSpPr>
          <p:cNvPr id="16" name="TextBox 15"/>
          <p:cNvSpPr txBox="1"/>
          <p:nvPr/>
        </p:nvSpPr>
        <p:spPr>
          <a:xfrm>
            <a:off x="731520" y="3136392"/>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2,670 bytes; text; 65 physical / 47 effective lines</a:t>
            </a:r>
          </a:p>
        </p:txBody>
      </p:sp>
      <p:sp>
        <p:nvSpPr>
          <p:cNvPr id="17" name="TextBox 16"/>
          <p:cNvSpPr txBox="1"/>
          <p:nvPr/>
        </p:nvSpPr>
        <p:spPr>
          <a:xfrm>
            <a:off x="731520" y="3410712"/>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Tests/test_avatar_visible.cjs</a:t>
            </a:r>
          </a:p>
        </p:txBody>
      </p:sp>
      <p:sp>
        <p:nvSpPr>
          <p:cNvPr id="18" name="TextBox 17"/>
          <p:cNvSpPr txBox="1"/>
          <p:nvPr/>
        </p:nvSpPr>
        <p:spPr>
          <a:xfrm>
            <a:off x="731520" y="3611880"/>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11,644 bytes; text; 169 physical / 159 effective lines</a:t>
            </a:r>
          </a:p>
        </p:txBody>
      </p:sp>
      <p:sp>
        <p:nvSpPr>
          <p:cNvPr id="19" name="TextBox 18"/>
          <p:cNvSpPr txBox="1"/>
          <p:nvPr/>
        </p:nvSpPr>
        <p:spPr>
          <a:xfrm>
            <a:off x="731520" y="388620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Tlamatini/agent/test_gitter_custom_command.py</a:t>
            </a:r>
          </a:p>
        </p:txBody>
      </p:sp>
      <p:sp>
        <p:nvSpPr>
          <p:cNvPr id="20" name="TextBox 19"/>
          <p:cNvSpPr txBox="1"/>
          <p:nvPr/>
        </p:nvSpPr>
        <p:spPr>
          <a:xfrm>
            <a:off x="731520" y="408736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8,605 bytes; text; 227 physical / 125 effective lines</a:t>
            </a:r>
          </a:p>
        </p:txBody>
      </p:sp>
      <p:sp>
        <p:nvSpPr>
          <p:cNvPr id="21" name="TextBox 20"/>
          <p:cNvSpPr txBox="1"/>
          <p:nvPr/>
        </p:nvSpPr>
        <p:spPr>
          <a:xfrm>
            <a:off x="731520" y="436168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output/ASSET_MANIFEST.json</a:t>
            </a:r>
          </a:p>
        </p:txBody>
      </p:sp>
      <p:sp>
        <p:nvSpPr>
          <p:cNvPr id="22" name="TextBox 21"/>
          <p:cNvSpPr txBox="1"/>
          <p:nvPr/>
        </p:nvSpPr>
        <p:spPr>
          <a:xfrm>
            <a:off x="731520" y="4562855"/>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12,956 bytes; text; 337 physical / 337 effective lines</a:t>
            </a:r>
          </a:p>
        </p:txBody>
      </p:sp>
      <p:sp>
        <p:nvSpPr>
          <p:cNvPr id="23" name="TextBox 22"/>
          <p:cNvSpPr txBox="1"/>
          <p:nvPr/>
        </p:nvSpPr>
        <p:spPr>
          <a:xfrm>
            <a:off x="731520" y="4837175"/>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output/Gemini_girl_animation.zip</a:t>
            </a:r>
          </a:p>
        </p:txBody>
      </p:sp>
      <p:sp>
        <p:nvSpPr>
          <p:cNvPr id="24" name="TextBox 23"/>
          <p:cNvSpPr txBox="1"/>
          <p:nvPr/>
        </p:nvSpPr>
        <p:spPr>
          <a:xfrm>
            <a:off x="731520" y="5038343"/>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18,035,209 bytes; binary; binary: no lines</a:t>
            </a:r>
          </a:p>
        </p:txBody>
      </p:sp>
      <p:sp>
        <p:nvSpPr>
          <p:cNvPr id="25" name="TextBox 24"/>
          <p:cNvSpPr txBox="1"/>
          <p:nvPr/>
        </p:nvSpPr>
        <p:spPr>
          <a:xfrm>
            <a:off x="731520" y="5312663"/>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output/Gemini_girl_animation/01_eyes_open_smiling.png</a:t>
            </a:r>
          </a:p>
        </p:txBody>
      </p:sp>
      <p:sp>
        <p:nvSpPr>
          <p:cNvPr id="26" name="TextBox 25"/>
          <p:cNvSpPr txBox="1"/>
          <p:nvPr/>
        </p:nvSpPr>
        <p:spPr>
          <a:xfrm>
            <a:off x="731520" y="5513831"/>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1,497,467 bytes; 1024x1024 RGB; binary: no lines</a:t>
            </a:r>
          </a:p>
        </p:txBody>
      </p:sp>
      <p:sp>
        <p:nvSpPr>
          <p:cNvPr id="27" name="TextBox 26"/>
          <p:cNvSpPr txBox="1"/>
          <p:nvPr/>
        </p:nvSpPr>
        <p:spPr>
          <a:xfrm>
            <a:off x="731520" y="5788151"/>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output/Gemini_girl_animation/02_eyes_open_neutral.png</a:t>
            </a:r>
          </a:p>
        </p:txBody>
      </p:sp>
      <p:sp>
        <p:nvSpPr>
          <p:cNvPr id="28" name="TextBox 27"/>
          <p:cNvSpPr txBox="1"/>
          <p:nvPr/>
        </p:nvSpPr>
        <p:spPr>
          <a:xfrm>
            <a:off x="731520" y="5989319"/>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1,487,497 bytes; 1024x1024 RGB; binary: no lines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SINCE RELEASE TAG,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New Asset Inventory - 2</a:t>
            </a:r>
          </a:p>
        </p:txBody>
      </p:sp>
      <p:sp>
        <p:nvSpPr>
          <p:cNvPr id="9" name="TextBox 8"/>
          <p:cNvSpPr txBox="1"/>
          <p:nvPr/>
        </p:nvSpPr>
        <p:spPr>
          <a:xfrm>
            <a:off x="731520" y="150876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output/Gemini_girl_animation/03_eyes_closed_smiling.png</a:t>
            </a:r>
          </a:p>
        </p:txBody>
      </p:sp>
      <p:sp>
        <p:nvSpPr>
          <p:cNvPr id="10" name="TextBox 9"/>
          <p:cNvSpPr txBox="1"/>
          <p:nvPr/>
        </p:nvSpPr>
        <p:spPr>
          <a:xfrm>
            <a:off x="731520" y="170992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1,516,548 bytes; 1024x1024 RGB; binary: no lines</a:t>
            </a:r>
          </a:p>
        </p:txBody>
      </p:sp>
      <p:sp>
        <p:nvSpPr>
          <p:cNvPr id="11" name="TextBox 10"/>
          <p:cNvSpPr txBox="1"/>
          <p:nvPr/>
        </p:nvSpPr>
        <p:spPr>
          <a:xfrm>
            <a:off x="731520" y="198424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output/Gemini_girl_animation/04_eyes_closed_neutral.png</a:t>
            </a:r>
          </a:p>
        </p:txBody>
      </p:sp>
      <p:sp>
        <p:nvSpPr>
          <p:cNvPr id="12" name="TextBox 11"/>
          <p:cNvSpPr txBox="1"/>
          <p:nvPr/>
        </p:nvSpPr>
        <p:spPr>
          <a:xfrm>
            <a:off x="731520" y="2185416"/>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1,510,306 bytes; 1024x1024 RGB; binary: no lines</a:t>
            </a:r>
          </a:p>
        </p:txBody>
      </p:sp>
      <p:sp>
        <p:nvSpPr>
          <p:cNvPr id="13" name="TextBox 12"/>
          <p:cNvSpPr txBox="1"/>
          <p:nvPr/>
        </p:nvSpPr>
        <p:spPr>
          <a:xfrm>
            <a:off x="731520" y="2459736"/>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output/Gemini_girl_animation/README.md</a:t>
            </a:r>
          </a:p>
        </p:txBody>
      </p:sp>
      <p:sp>
        <p:nvSpPr>
          <p:cNvPr id="14" name="TextBox 13"/>
          <p:cNvSpPr txBox="1"/>
          <p:nvPr/>
        </p:nvSpPr>
        <p:spPr>
          <a:xfrm>
            <a:off x="731520" y="2660904"/>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2,547 bytes; text; 26 physical / 16 effective lines</a:t>
            </a:r>
          </a:p>
        </p:txBody>
      </p:sp>
      <p:sp>
        <p:nvSpPr>
          <p:cNvPr id="15" name="TextBox 14"/>
          <p:cNvSpPr txBox="1"/>
          <p:nvPr/>
        </p:nvSpPr>
        <p:spPr>
          <a:xfrm>
            <a:off x="731520" y="2935224"/>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output/Gemini_girl_animation/alignment.json</a:t>
            </a:r>
          </a:p>
        </p:txBody>
      </p:sp>
      <p:sp>
        <p:nvSpPr>
          <p:cNvPr id="16" name="TextBox 15"/>
          <p:cNvSpPr txBox="1"/>
          <p:nvPr/>
        </p:nvSpPr>
        <p:spPr>
          <a:xfrm>
            <a:off x="731520" y="3136392"/>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4,113 bytes; text; 153 physical / 153 effective lines</a:t>
            </a:r>
          </a:p>
        </p:txBody>
      </p:sp>
      <p:sp>
        <p:nvSpPr>
          <p:cNvPr id="17" name="TextBox 16"/>
          <p:cNvSpPr txBox="1"/>
          <p:nvPr/>
        </p:nvSpPr>
        <p:spPr>
          <a:xfrm>
            <a:off x="731520" y="3410712"/>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output/Gemini_girl_animation/build_frames.py</a:t>
            </a:r>
          </a:p>
        </p:txBody>
      </p:sp>
      <p:sp>
        <p:nvSpPr>
          <p:cNvPr id="18" name="TextBox 17"/>
          <p:cNvSpPr txBox="1"/>
          <p:nvPr/>
        </p:nvSpPr>
        <p:spPr>
          <a:xfrm>
            <a:off x="731520" y="3611880"/>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5,652 bytes; text; 124 physical / 109 effective lines</a:t>
            </a:r>
          </a:p>
        </p:txBody>
      </p:sp>
      <p:sp>
        <p:nvSpPr>
          <p:cNvPr id="19" name="TextBox 18"/>
          <p:cNvSpPr txBox="1"/>
          <p:nvPr/>
        </p:nvSpPr>
        <p:spPr>
          <a:xfrm>
            <a:off x="731520" y="388620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output/Gemini_girl_animation/contact_sheet.jpg</a:t>
            </a:r>
          </a:p>
        </p:txBody>
      </p:sp>
      <p:sp>
        <p:nvSpPr>
          <p:cNvPr id="20" name="TextBox 19"/>
          <p:cNvSpPr txBox="1"/>
          <p:nvPr/>
        </p:nvSpPr>
        <p:spPr>
          <a:xfrm>
            <a:off x="731520" y="408736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195,691 bytes; 832x896 RGB; binary: no lines</a:t>
            </a:r>
          </a:p>
        </p:txBody>
      </p:sp>
      <p:sp>
        <p:nvSpPr>
          <p:cNvPr id="21" name="TextBox 20"/>
          <p:cNvSpPr txBox="1"/>
          <p:nvPr/>
        </p:nvSpPr>
        <p:spPr>
          <a:xfrm>
            <a:off x="731520" y="436168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output/Gemini_girl_animation/exact_crops/01_eyes_open_smiling.png</a:t>
            </a:r>
          </a:p>
        </p:txBody>
      </p:sp>
      <p:sp>
        <p:nvSpPr>
          <p:cNvPr id="22" name="TextBox 21"/>
          <p:cNvSpPr txBox="1"/>
          <p:nvPr/>
        </p:nvSpPr>
        <p:spPr>
          <a:xfrm>
            <a:off x="731520" y="4562855"/>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1,452,110 bytes; 1024x1024 RGB; binary: no lines</a:t>
            </a:r>
          </a:p>
        </p:txBody>
      </p:sp>
      <p:sp>
        <p:nvSpPr>
          <p:cNvPr id="23" name="TextBox 22"/>
          <p:cNvSpPr txBox="1"/>
          <p:nvPr/>
        </p:nvSpPr>
        <p:spPr>
          <a:xfrm>
            <a:off x="731520" y="4837175"/>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output/Gemini_girl_animation/exact_crops/02_eyes_open_neutral.png</a:t>
            </a:r>
          </a:p>
        </p:txBody>
      </p:sp>
      <p:sp>
        <p:nvSpPr>
          <p:cNvPr id="24" name="TextBox 23"/>
          <p:cNvSpPr txBox="1"/>
          <p:nvPr/>
        </p:nvSpPr>
        <p:spPr>
          <a:xfrm>
            <a:off x="731520" y="5038343"/>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1,440,350 bytes; 1024x1024 RGB; binary: no lines</a:t>
            </a:r>
          </a:p>
        </p:txBody>
      </p:sp>
      <p:sp>
        <p:nvSpPr>
          <p:cNvPr id="25" name="TextBox 24"/>
          <p:cNvSpPr txBox="1"/>
          <p:nvPr/>
        </p:nvSpPr>
        <p:spPr>
          <a:xfrm>
            <a:off x="731520" y="5312663"/>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output/Gemini_girl_animation/exact_crops/03_eyes_closed_smiling.png</a:t>
            </a:r>
          </a:p>
        </p:txBody>
      </p:sp>
      <p:sp>
        <p:nvSpPr>
          <p:cNvPr id="26" name="TextBox 25"/>
          <p:cNvSpPr txBox="1"/>
          <p:nvPr/>
        </p:nvSpPr>
        <p:spPr>
          <a:xfrm>
            <a:off x="731520" y="5513831"/>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1,469,060 bytes; 1024x1024 RGB; binary: no lines</a:t>
            </a:r>
          </a:p>
        </p:txBody>
      </p:sp>
      <p:sp>
        <p:nvSpPr>
          <p:cNvPr id="27" name="TextBox 26"/>
          <p:cNvSpPr txBox="1"/>
          <p:nvPr/>
        </p:nvSpPr>
        <p:spPr>
          <a:xfrm>
            <a:off x="731520" y="5788151"/>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output/Gemini_girl_animation/exact_crops/04_eyes_closed_neutral.png</a:t>
            </a:r>
          </a:p>
        </p:txBody>
      </p:sp>
      <p:sp>
        <p:nvSpPr>
          <p:cNvPr id="28" name="TextBox 27"/>
          <p:cNvSpPr txBox="1"/>
          <p:nvPr/>
        </p:nvSpPr>
        <p:spPr>
          <a:xfrm>
            <a:off x="731520" y="5989319"/>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1,458,667 bytes; 1024x1024 RGB; binary: no lines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SINCE RELEASE TAG,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New Asset Inventory - 3</a:t>
            </a:r>
          </a:p>
        </p:txBody>
      </p:sp>
      <p:sp>
        <p:nvSpPr>
          <p:cNvPr id="9" name="TextBox 8"/>
          <p:cNvSpPr txBox="1"/>
          <p:nvPr/>
        </p:nvSpPr>
        <p:spPr>
          <a:xfrm>
            <a:off x="731520" y="150876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output/Gemini_girl_animation/girl_frames_jpg.zip</a:t>
            </a:r>
          </a:p>
        </p:txBody>
      </p:sp>
      <p:sp>
        <p:nvSpPr>
          <p:cNvPr id="10" name="TextBox 9"/>
          <p:cNvSpPr txBox="1"/>
          <p:nvPr/>
        </p:nvSpPr>
        <p:spPr>
          <a:xfrm>
            <a:off x="731520" y="170992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2,207,101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output/Gemini_girl_animation/jpg/01_eyes_open_smiling.jpg</a:t>
            </a:r>
          </a:p>
        </p:txBody>
      </p:sp>
      <p:sp>
        <p:nvSpPr>
          <p:cNvPr id="12" name="TextBox 11"/>
          <p:cNvSpPr txBox="1"/>
          <p:nvPr/>
        </p:nvSpPr>
        <p:spPr>
          <a:xfrm>
            <a:off x="731520" y="2185416"/>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550,040 bytes; 1024x1024 RGB; binary: no lines</a:t>
            </a:r>
          </a:p>
        </p:txBody>
      </p:sp>
      <p:sp>
        <p:nvSpPr>
          <p:cNvPr id="13" name="TextBox 12"/>
          <p:cNvSpPr txBox="1"/>
          <p:nvPr/>
        </p:nvSpPr>
        <p:spPr>
          <a:xfrm>
            <a:off x="731520" y="2459736"/>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output/Gemini_girl_animation/jpg/02_eyes_open_neutral.jpg</a:t>
            </a:r>
          </a:p>
        </p:txBody>
      </p:sp>
      <p:sp>
        <p:nvSpPr>
          <p:cNvPr id="14" name="TextBox 13"/>
          <p:cNvSpPr txBox="1"/>
          <p:nvPr/>
        </p:nvSpPr>
        <p:spPr>
          <a:xfrm>
            <a:off x="731520" y="2660904"/>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546,560 bytes; 1024x1024 RGB; binary: no lines</a:t>
            </a:r>
          </a:p>
        </p:txBody>
      </p:sp>
      <p:sp>
        <p:nvSpPr>
          <p:cNvPr id="15" name="TextBox 14"/>
          <p:cNvSpPr txBox="1"/>
          <p:nvPr/>
        </p:nvSpPr>
        <p:spPr>
          <a:xfrm>
            <a:off x="731520" y="2935224"/>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output/Gemini_girl_animation/jpg/03_eyes_closed_smiling.jpg</a:t>
            </a:r>
          </a:p>
        </p:txBody>
      </p:sp>
      <p:sp>
        <p:nvSpPr>
          <p:cNvPr id="16" name="TextBox 15"/>
          <p:cNvSpPr txBox="1"/>
          <p:nvPr/>
        </p:nvSpPr>
        <p:spPr>
          <a:xfrm>
            <a:off x="731520" y="3136392"/>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556,352 bytes; 1024x1024 RGB; binary: no lines</a:t>
            </a:r>
          </a:p>
        </p:txBody>
      </p:sp>
      <p:sp>
        <p:nvSpPr>
          <p:cNvPr id="17" name="TextBox 16"/>
          <p:cNvSpPr txBox="1"/>
          <p:nvPr/>
        </p:nvSpPr>
        <p:spPr>
          <a:xfrm>
            <a:off x="731520" y="3410712"/>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output/Gemini_girl_animation/jpg/04_eyes_closed_neutral.jpg</a:t>
            </a:r>
          </a:p>
        </p:txBody>
      </p:sp>
      <p:sp>
        <p:nvSpPr>
          <p:cNvPr id="18" name="TextBox 17"/>
          <p:cNvSpPr txBox="1"/>
          <p:nvPr/>
        </p:nvSpPr>
        <p:spPr>
          <a:xfrm>
            <a:off x="731520" y="3611880"/>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553,458 bytes; 1024x1024 RGB; binary: no lines</a:t>
            </a:r>
          </a:p>
        </p:txBody>
      </p:sp>
      <p:sp>
        <p:nvSpPr>
          <p:cNvPr id="19" name="TextBox 18"/>
          <p:cNvSpPr txBox="1"/>
          <p:nvPr/>
        </p:nvSpPr>
        <p:spPr>
          <a:xfrm>
            <a:off x="731520" y="388620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output/Gemini_girl_animation/preview.html</a:t>
            </a:r>
          </a:p>
        </p:txBody>
      </p:sp>
      <p:sp>
        <p:nvSpPr>
          <p:cNvPr id="20" name="TextBox 19"/>
          <p:cNvSpPr txBox="1"/>
          <p:nvPr/>
        </p:nvSpPr>
        <p:spPr>
          <a:xfrm>
            <a:off x="731520" y="408736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5,043 bytes; text; 103 physical / 103 effective lines</a:t>
            </a:r>
          </a:p>
        </p:txBody>
      </p:sp>
      <p:sp>
        <p:nvSpPr>
          <p:cNvPr id="21" name="TextBox 20"/>
          <p:cNvSpPr txBox="1"/>
          <p:nvPr/>
        </p:nvSpPr>
        <p:spPr>
          <a:xfrm>
            <a:off x="731520" y="436168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output/Gemini_girl_animation/preview_screenshot.png</a:t>
            </a:r>
          </a:p>
        </p:txBody>
      </p:sp>
      <p:sp>
        <p:nvSpPr>
          <p:cNvPr id="22" name="TextBox 21"/>
          <p:cNvSpPr txBox="1"/>
          <p:nvPr/>
        </p:nvSpPr>
        <p:spPr>
          <a:xfrm>
            <a:off x="731520" y="4562855"/>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745,569 bytes; 1100x1100 RGB; binary: no lines</a:t>
            </a:r>
          </a:p>
        </p:txBody>
      </p:sp>
      <p:sp>
        <p:nvSpPr>
          <p:cNvPr id="23" name="TextBox 22"/>
          <p:cNvSpPr txBox="1"/>
          <p:nvPr/>
        </p:nvSpPr>
        <p:spPr>
          <a:xfrm>
            <a:off x="731520" y="4837175"/>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output/Gemini_girl_animation/sprite_2x2.png</a:t>
            </a:r>
          </a:p>
        </p:txBody>
      </p:sp>
      <p:sp>
        <p:nvSpPr>
          <p:cNvPr id="24" name="TextBox 23"/>
          <p:cNvSpPr txBox="1"/>
          <p:nvPr/>
        </p:nvSpPr>
        <p:spPr>
          <a:xfrm>
            <a:off x="731520" y="5038343"/>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6,002,667 bytes; 2048x2048 RGB; binary: no lines</a:t>
            </a:r>
          </a:p>
        </p:txBody>
      </p:sp>
      <p:sp>
        <p:nvSpPr>
          <p:cNvPr id="25" name="TextBox 24"/>
          <p:cNvSpPr txBox="1"/>
          <p:nvPr/>
        </p:nvSpPr>
        <p:spPr>
          <a:xfrm>
            <a:off x="731520" y="5312663"/>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output/README.md</a:t>
            </a:r>
          </a:p>
        </p:txBody>
      </p:sp>
      <p:sp>
        <p:nvSpPr>
          <p:cNvPr id="26" name="TextBox 25"/>
          <p:cNvSpPr txBox="1"/>
          <p:nvPr/>
        </p:nvSpPr>
        <p:spPr>
          <a:xfrm>
            <a:off x="731520" y="5513831"/>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2,578 bytes; text; 26 physical / 16 effective lines</a:t>
            </a:r>
          </a:p>
        </p:txBody>
      </p:sp>
      <p:sp>
        <p:nvSpPr>
          <p:cNvPr id="27" name="TextBox 26"/>
          <p:cNvSpPr txBox="1"/>
          <p:nvPr/>
        </p:nvSpPr>
        <p:spPr>
          <a:xfrm>
            <a:off x="731520" y="5788151"/>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output/avatar_flash_fix/README.md</a:t>
            </a:r>
          </a:p>
        </p:txBody>
      </p:sp>
      <p:sp>
        <p:nvSpPr>
          <p:cNvPr id="28" name="TextBox 27"/>
          <p:cNvSpPr txBox="1"/>
          <p:nvPr/>
        </p:nvSpPr>
        <p:spPr>
          <a:xfrm>
            <a:off x="731520" y="5989319"/>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5,764 bytes; text; 61 physical / 40 effective lines</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SINCE RELEASE TAG,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New Asset Inventory - 4</a:t>
            </a:r>
          </a:p>
        </p:txBody>
      </p:sp>
      <p:sp>
        <p:nvSpPr>
          <p:cNvPr id="9" name="TextBox 8"/>
          <p:cNvSpPr txBox="1"/>
          <p:nvPr/>
        </p:nvSpPr>
        <p:spPr>
          <a:xfrm>
            <a:off x="731520" y="150876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output/avatar_flash_fix/__pycache__/dev_settings.cpython-312.pyc</a:t>
            </a:r>
          </a:p>
        </p:txBody>
      </p:sp>
      <p:sp>
        <p:nvSpPr>
          <p:cNvPr id="10" name="TextBox 9"/>
          <p:cNvSpPr txBox="1"/>
          <p:nvPr/>
        </p:nvSpPr>
        <p:spPr>
          <a:xfrm>
            <a:off x="731520" y="170992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1,041 bytes; binary; binary: no lines</a:t>
            </a:r>
          </a:p>
        </p:txBody>
      </p:sp>
      <p:sp>
        <p:nvSpPr>
          <p:cNvPr id="11" name="TextBox 10"/>
          <p:cNvSpPr txBox="1"/>
          <p:nvPr/>
        </p:nvSpPr>
        <p:spPr>
          <a:xfrm>
            <a:off x="731520" y="198424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output/avatar_flash_fix/after-test/ec-mc.png</a:t>
            </a:r>
          </a:p>
        </p:txBody>
      </p:sp>
      <p:sp>
        <p:nvSpPr>
          <p:cNvPr id="12" name="TextBox 11"/>
          <p:cNvSpPr txBox="1"/>
          <p:nvPr/>
        </p:nvSpPr>
        <p:spPr>
          <a:xfrm>
            <a:off x="731520" y="2185416"/>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112,997 bytes; 264x264 RGB; binary: no lines</a:t>
            </a:r>
          </a:p>
        </p:txBody>
      </p:sp>
      <p:sp>
        <p:nvSpPr>
          <p:cNvPr id="13" name="TextBox 12"/>
          <p:cNvSpPr txBox="1"/>
          <p:nvPr/>
        </p:nvSpPr>
        <p:spPr>
          <a:xfrm>
            <a:off x="731520" y="2459736"/>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output/avatar_flash_fix/after-test/ec-mo.png</a:t>
            </a:r>
          </a:p>
        </p:txBody>
      </p:sp>
      <p:sp>
        <p:nvSpPr>
          <p:cNvPr id="14" name="TextBox 13"/>
          <p:cNvSpPr txBox="1"/>
          <p:nvPr/>
        </p:nvSpPr>
        <p:spPr>
          <a:xfrm>
            <a:off x="731520" y="2660904"/>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113,803 bytes; 264x264 RGB; binary: no lines</a:t>
            </a:r>
          </a:p>
        </p:txBody>
      </p:sp>
      <p:sp>
        <p:nvSpPr>
          <p:cNvPr id="15" name="TextBox 14"/>
          <p:cNvSpPr txBox="1"/>
          <p:nvPr/>
        </p:nvSpPr>
        <p:spPr>
          <a:xfrm>
            <a:off x="731520" y="2935224"/>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output/avatar_flash_fix/after-test/eo-mc.png</a:t>
            </a:r>
          </a:p>
        </p:txBody>
      </p:sp>
      <p:sp>
        <p:nvSpPr>
          <p:cNvPr id="16" name="TextBox 15"/>
          <p:cNvSpPr txBox="1"/>
          <p:nvPr/>
        </p:nvSpPr>
        <p:spPr>
          <a:xfrm>
            <a:off x="731520" y="3136392"/>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114,271 bytes; 264x264 RGB; binary: no lines</a:t>
            </a:r>
          </a:p>
        </p:txBody>
      </p:sp>
      <p:sp>
        <p:nvSpPr>
          <p:cNvPr id="17" name="TextBox 16"/>
          <p:cNvSpPr txBox="1"/>
          <p:nvPr/>
        </p:nvSpPr>
        <p:spPr>
          <a:xfrm>
            <a:off x="731520" y="3410712"/>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output/avatar_flash_fix/after-test/eo-mo.png</a:t>
            </a:r>
          </a:p>
        </p:txBody>
      </p:sp>
      <p:sp>
        <p:nvSpPr>
          <p:cNvPr id="18" name="TextBox 17"/>
          <p:cNvSpPr txBox="1"/>
          <p:nvPr/>
        </p:nvSpPr>
        <p:spPr>
          <a:xfrm>
            <a:off x="731520" y="3611880"/>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114,471 bytes; 264x264 RGB; binary: no lines</a:t>
            </a:r>
          </a:p>
        </p:txBody>
      </p:sp>
      <p:sp>
        <p:nvSpPr>
          <p:cNvPr id="19" name="TextBox 18"/>
          <p:cNvSpPr txBox="1"/>
          <p:nvPr/>
        </p:nvSpPr>
        <p:spPr>
          <a:xfrm>
            <a:off x="731520" y="388620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output/avatar_flash_fix/after-test/idle.png</a:t>
            </a:r>
          </a:p>
        </p:txBody>
      </p:sp>
      <p:sp>
        <p:nvSpPr>
          <p:cNvPr id="20" name="TextBox 19"/>
          <p:cNvSpPr txBox="1"/>
          <p:nvPr/>
        </p:nvSpPr>
        <p:spPr>
          <a:xfrm>
            <a:off x="731520" y="408736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127,567 bytes; 740x380 RGB; binary: no lines</a:t>
            </a:r>
          </a:p>
        </p:txBody>
      </p:sp>
      <p:sp>
        <p:nvSpPr>
          <p:cNvPr id="21" name="TextBox 20"/>
          <p:cNvSpPr txBox="1"/>
          <p:nvPr/>
        </p:nvSpPr>
        <p:spPr>
          <a:xfrm>
            <a:off x="731520" y="436168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output/avatar_flash_fix/after-test/narrow.png</a:t>
            </a:r>
          </a:p>
        </p:txBody>
      </p:sp>
      <p:sp>
        <p:nvSpPr>
          <p:cNvPr id="22" name="TextBox 21"/>
          <p:cNvSpPr txBox="1"/>
          <p:nvPr/>
        </p:nvSpPr>
        <p:spPr>
          <a:xfrm>
            <a:off x="731520" y="4562855"/>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124,369 bytes; 390x620 RGB; binary: no lines</a:t>
            </a:r>
          </a:p>
        </p:txBody>
      </p:sp>
      <p:sp>
        <p:nvSpPr>
          <p:cNvPr id="23" name="TextBox 22"/>
          <p:cNvSpPr txBox="1"/>
          <p:nvPr/>
        </p:nvSpPr>
        <p:spPr>
          <a:xfrm>
            <a:off x="731520" y="4837175"/>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output/avatar_flash_fix/after-test/results.json</a:t>
            </a:r>
          </a:p>
        </p:txBody>
      </p:sp>
      <p:sp>
        <p:nvSpPr>
          <p:cNvPr id="24" name="TextBox 23"/>
          <p:cNvSpPr txBox="1"/>
          <p:nvPr/>
        </p:nvSpPr>
        <p:spPr>
          <a:xfrm>
            <a:off x="731520" y="5038343"/>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907 bytes; text; 51 physical / 51 effective lines</a:t>
            </a:r>
          </a:p>
        </p:txBody>
      </p:sp>
      <p:sp>
        <p:nvSpPr>
          <p:cNvPr id="25" name="TextBox 24"/>
          <p:cNvSpPr txBox="1"/>
          <p:nvPr/>
        </p:nvSpPr>
        <p:spPr>
          <a:xfrm>
            <a:off x="731520" y="5312663"/>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output/avatar_flash_fix/after-test/speaking.png</a:t>
            </a:r>
          </a:p>
        </p:txBody>
      </p:sp>
      <p:sp>
        <p:nvSpPr>
          <p:cNvPr id="26" name="TextBox 25"/>
          <p:cNvSpPr txBox="1"/>
          <p:nvPr/>
        </p:nvSpPr>
        <p:spPr>
          <a:xfrm>
            <a:off x="731520" y="5513831"/>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127,567 bytes; 740x380 RGB; binary: no lines</a:t>
            </a:r>
          </a:p>
        </p:txBody>
      </p:sp>
      <p:sp>
        <p:nvSpPr>
          <p:cNvPr id="27" name="TextBox 26"/>
          <p:cNvSpPr txBox="1"/>
          <p:nvPr/>
        </p:nvSpPr>
        <p:spPr>
          <a:xfrm>
            <a:off x="731520" y="5788151"/>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output/avatar_flash_fix/before-test/idle.png</a:t>
            </a:r>
          </a:p>
        </p:txBody>
      </p:sp>
      <p:sp>
        <p:nvSpPr>
          <p:cNvPr id="28" name="TextBox 27"/>
          <p:cNvSpPr txBox="1"/>
          <p:nvPr/>
        </p:nvSpPr>
        <p:spPr>
          <a:xfrm>
            <a:off x="731520" y="5989319"/>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127,646 bytes; 740x380 RGB; binary: no lines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SINCE RELEASE TAG,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New Asset Inventory - 5</a:t>
            </a:r>
          </a:p>
        </p:txBody>
      </p:sp>
      <p:sp>
        <p:nvSpPr>
          <p:cNvPr id="9" name="TextBox 8"/>
          <p:cNvSpPr txBox="1"/>
          <p:nvPr/>
        </p:nvSpPr>
        <p:spPr>
          <a:xfrm>
            <a:off x="731520" y="150876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output/avatar_flash_fix/before-test/observed-flash.png</a:t>
            </a:r>
          </a:p>
        </p:txBody>
      </p:sp>
      <p:sp>
        <p:nvSpPr>
          <p:cNvPr id="10" name="TextBox 9"/>
          <p:cNvSpPr txBox="1"/>
          <p:nvPr/>
        </p:nvSpPr>
        <p:spPr>
          <a:xfrm>
            <a:off x="731520" y="170992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118,636 bytes; 740x380 RGB; binary: no lines</a:t>
            </a:r>
          </a:p>
        </p:txBody>
      </p:sp>
      <p:sp>
        <p:nvSpPr>
          <p:cNvPr id="11" name="TextBox 10"/>
          <p:cNvSpPr txBox="1"/>
          <p:nvPr/>
        </p:nvSpPr>
        <p:spPr>
          <a:xfrm>
            <a:off x="731520" y="198424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output/avatar_flash_fix/before-test/results.json</a:t>
            </a:r>
          </a:p>
        </p:txBody>
      </p:sp>
      <p:sp>
        <p:nvSpPr>
          <p:cNvPr id="12" name="TextBox 11"/>
          <p:cNvSpPr txBox="1"/>
          <p:nvPr/>
        </p:nvSpPr>
        <p:spPr>
          <a:xfrm>
            <a:off x="731520" y="2185416"/>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207 bytes; text; 12 physical / 12 effective lines</a:t>
            </a:r>
          </a:p>
        </p:txBody>
      </p:sp>
      <p:sp>
        <p:nvSpPr>
          <p:cNvPr id="13" name="TextBox 12"/>
          <p:cNvSpPr txBox="1"/>
          <p:nvPr/>
        </p:nvSpPr>
        <p:spPr>
          <a:xfrm>
            <a:off x="731520" y="2459736"/>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output/avatar_flash_fix/before/agent_page.html</a:t>
            </a:r>
          </a:p>
        </p:txBody>
      </p:sp>
      <p:sp>
        <p:nvSpPr>
          <p:cNvPr id="14" name="TextBox 13"/>
          <p:cNvSpPr txBox="1"/>
          <p:nvPr/>
        </p:nvSpPr>
        <p:spPr>
          <a:xfrm>
            <a:off x="731520" y="2660904"/>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47,535 bytes; text; 780 physical / 753 effective lines</a:t>
            </a:r>
          </a:p>
        </p:txBody>
      </p:sp>
      <p:sp>
        <p:nvSpPr>
          <p:cNvPr id="15" name="TextBox 14"/>
          <p:cNvSpPr txBox="1"/>
          <p:nvPr/>
        </p:nvSpPr>
        <p:spPr>
          <a:xfrm>
            <a:off x="731520" y="2935224"/>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output/avatar_flash_fix/before/avatar.css</a:t>
            </a:r>
          </a:p>
        </p:txBody>
      </p:sp>
      <p:sp>
        <p:nvSpPr>
          <p:cNvPr id="16" name="TextBox 15"/>
          <p:cNvSpPr txBox="1"/>
          <p:nvPr/>
        </p:nvSpPr>
        <p:spPr>
          <a:xfrm>
            <a:off x="731520" y="3136392"/>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7,422 bytes; text; 125 physical / 93 effective lines</a:t>
            </a:r>
          </a:p>
        </p:txBody>
      </p:sp>
      <p:sp>
        <p:nvSpPr>
          <p:cNvPr id="17" name="TextBox 16"/>
          <p:cNvSpPr txBox="1"/>
          <p:nvPr/>
        </p:nvSpPr>
        <p:spPr>
          <a:xfrm>
            <a:off x="731520" y="3410712"/>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output/avatar_flash_fix/before/avatar.js</a:t>
            </a:r>
          </a:p>
        </p:txBody>
      </p:sp>
      <p:sp>
        <p:nvSpPr>
          <p:cNvPr id="18" name="TextBox 17"/>
          <p:cNvSpPr txBox="1"/>
          <p:nvPr/>
        </p:nvSpPr>
        <p:spPr>
          <a:xfrm>
            <a:off x="731520" y="3611880"/>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24,658 bytes; text; 414 physical / 354 effective lines</a:t>
            </a:r>
          </a:p>
        </p:txBody>
      </p:sp>
      <p:sp>
        <p:nvSpPr>
          <p:cNvPr id="19" name="TextBox 18"/>
          <p:cNvSpPr txBox="1"/>
          <p:nvPr/>
        </p:nvSpPr>
        <p:spPr>
          <a:xfrm>
            <a:off x="731520" y="388620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output/avatar_flash_fix/collectstatic-results.json</a:t>
            </a:r>
          </a:p>
        </p:txBody>
      </p:sp>
      <p:sp>
        <p:nvSpPr>
          <p:cNvPr id="20" name="TextBox 19"/>
          <p:cNvSpPr txBox="1"/>
          <p:nvPr/>
        </p:nvSpPr>
        <p:spPr>
          <a:xfrm>
            <a:off x="731520" y="408736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1,360 bytes; text; 42 physical / 42 effective lines</a:t>
            </a:r>
          </a:p>
        </p:txBody>
      </p:sp>
      <p:sp>
        <p:nvSpPr>
          <p:cNvPr id="21" name="TextBox 20"/>
          <p:cNvSpPr txBox="1"/>
          <p:nvPr/>
        </p:nvSpPr>
        <p:spPr>
          <a:xfrm>
            <a:off x="731520" y="436168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output/avatar_flash_fix/deployment-backups/collected-source/avatar.css</a:t>
            </a:r>
          </a:p>
        </p:txBody>
      </p:sp>
      <p:sp>
        <p:nvSpPr>
          <p:cNvPr id="22" name="TextBox 21"/>
          <p:cNvSpPr txBox="1"/>
          <p:nvPr/>
        </p:nvSpPr>
        <p:spPr>
          <a:xfrm>
            <a:off x="731520" y="4562855"/>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7,422 bytes; text; 125 physical / 93 effective lines</a:t>
            </a:r>
          </a:p>
        </p:txBody>
      </p:sp>
      <p:sp>
        <p:nvSpPr>
          <p:cNvPr id="23" name="TextBox 22"/>
          <p:cNvSpPr txBox="1"/>
          <p:nvPr/>
        </p:nvSpPr>
        <p:spPr>
          <a:xfrm>
            <a:off x="731520" y="4837175"/>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output/avatar_flash_fix/deployment-backups/collected-source/avatar.js</a:t>
            </a:r>
          </a:p>
        </p:txBody>
      </p:sp>
      <p:sp>
        <p:nvSpPr>
          <p:cNvPr id="24" name="TextBox 23"/>
          <p:cNvSpPr txBox="1"/>
          <p:nvPr/>
        </p:nvSpPr>
        <p:spPr>
          <a:xfrm>
            <a:off x="731520" y="5038343"/>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24,658 bytes; text; 414 physical / 354 effective lines</a:t>
            </a:r>
          </a:p>
        </p:txBody>
      </p:sp>
      <p:sp>
        <p:nvSpPr>
          <p:cNvPr id="25" name="TextBox 24"/>
          <p:cNvSpPr txBox="1"/>
          <p:nvPr/>
        </p:nvSpPr>
        <p:spPr>
          <a:xfrm>
            <a:off x="731520" y="5312663"/>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output/avatar_flash_fix/deployment-backups/installed-agent/avatar.css</a:t>
            </a:r>
          </a:p>
        </p:txBody>
      </p:sp>
      <p:sp>
        <p:nvSpPr>
          <p:cNvPr id="26" name="TextBox 25"/>
          <p:cNvSpPr txBox="1"/>
          <p:nvPr/>
        </p:nvSpPr>
        <p:spPr>
          <a:xfrm>
            <a:off x="731520" y="5513831"/>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7,422 bytes; text; 125 physical / 93 effective lines</a:t>
            </a:r>
          </a:p>
        </p:txBody>
      </p:sp>
      <p:sp>
        <p:nvSpPr>
          <p:cNvPr id="27" name="TextBox 26"/>
          <p:cNvSpPr txBox="1"/>
          <p:nvPr/>
        </p:nvSpPr>
        <p:spPr>
          <a:xfrm>
            <a:off x="731520" y="5788151"/>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output/avatar_flash_fix/deployment-backups/installed-agent/avatar.js</a:t>
            </a:r>
          </a:p>
        </p:txBody>
      </p:sp>
      <p:sp>
        <p:nvSpPr>
          <p:cNvPr id="28" name="TextBox 27"/>
          <p:cNvSpPr txBox="1"/>
          <p:nvPr/>
        </p:nvSpPr>
        <p:spPr>
          <a:xfrm>
            <a:off x="731520" y="5989319"/>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24,658 bytes; text; 414 physical / 354 effective lines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SINCE RELEASE TAG,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New Asset Inventory - 6</a:t>
            </a:r>
          </a:p>
        </p:txBody>
      </p:sp>
      <p:sp>
        <p:nvSpPr>
          <p:cNvPr id="9" name="TextBox 8"/>
          <p:cNvSpPr txBox="1"/>
          <p:nvPr/>
        </p:nvSpPr>
        <p:spPr>
          <a:xfrm>
            <a:off x="731520" y="150876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output/avatar_flash_fix/deployment-backups/installed-collected/avatar.css</a:t>
            </a:r>
          </a:p>
        </p:txBody>
      </p:sp>
      <p:sp>
        <p:nvSpPr>
          <p:cNvPr id="10" name="TextBox 9"/>
          <p:cNvSpPr txBox="1"/>
          <p:nvPr/>
        </p:nvSpPr>
        <p:spPr>
          <a:xfrm>
            <a:off x="731520" y="170992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7,422 bytes; text; 125 physical / 93 effective lines</a:t>
            </a:r>
          </a:p>
        </p:txBody>
      </p:sp>
      <p:sp>
        <p:nvSpPr>
          <p:cNvPr id="11" name="TextBox 10"/>
          <p:cNvSpPr txBox="1"/>
          <p:nvPr/>
        </p:nvSpPr>
        <p:spPr>
          <a:xfrm>
            <a:off x="731520" y="198424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output/avatar_flash_fix/deployment-backups/installed-collected/avatar.js</a:t>
            </a:r>
          </a:p>
        </p:txBody>
      </p:sp>
      <p:sp>
        <p:nvSpPr>
          <p:cNvPr id="12" name="TextBox 11"/>
          <p:cNvSpPr txBox="1"/>
          <p:nvPr/>
        </p:nvSpPr>
        <p:spPr>
          <a:xfrm>
            <a:off x="731520" y="2185416"/>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24,658 bytes; text; 414 physical / 354 effective lines</a:t>
            </a:r>
          </a:p>
        </p:txBody>
      </p:sp>
      <p:sp>
        <p:nvSpPr>
          <p:cNvPr id="13" name="TextBox 12"/>
          <p:cNvSpPr txBox="1"/>
          <p:nvPr/>
        </p:nvSpPr>
        <p:spPr>
          <a:xfrm>
            <a:off x="731520" y="2459736"/>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output/avatar_flash_fix/deployment-backups/installed-source/avatar.css</a:t>
            </a:r>
          </a:p>
        </p:txBody>
      </p:sp>
      <p:sp>
        <p:nvSpPr>
          <p:cNvPr id="14" name="TextBox 13"/>
          <p:cNvSpPr txBox="1"/>
          <p:nvPr/>
        </p:nvSpPr>
        <p:spPr>
          <a:xfrm>
            <a:off x="731520" y="2660904"/>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7,422 bytes; text; 125 physical / 93 effective lines</a:t>
            </a:r>
          </a:p>
        </p:txBody>
      </p:sp>
      <p:sp>
        <p:nvSpPr>
          <p:cNvPr id="15" name="TextBox 14"/>
          <p:cNvSpPr txBox="1"/>
          <p:nvPr/>
        </p:nvSpPr>
        <p:spPr>
          <a:xfrm>
            <a:off x="731520" y="2935224"/>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output/avatar_flash_fix/deployment-backups/installed-source/avatar.js</a:t>
            </a:r>
          </a:p>
        </p:txBody>
      </p:sp>
      <p:sp>
        <p:nvSpPr>
          <p:cNvPr id="16" name="TextBox 15"/>
          <p:cNvSpPr txBox="1"/>
          <p:nvPr/>
        </p:nvSpPr>
        <p:spPr>
          <a:xfrm>
            <a:off x="731520" y="3136392"/>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24,658 bytes; text; 414 physical / 354 effective lines</a:t>
            </a:r>
          </a:p>
        </p:txBody>
      </p:sp>
      <p:sp>
        <p:nvSpPr>
          <p:cNvPr id="17" name="TextBox 16"/>
          <p:cNvSpPr txBox="1"/>
          <p:nvPr/>
        </p:nvSpPr>
        <p:spPr>
          <a:xfrm>
            <a:off x="731520" y="3410712"/>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output/avatar_flash_fix/dev_settings.py</a:t>
            </a:r>
          </a:p>
        </p:txBody>
      </p:sp>
      <p:sp>
        <p:nvSpPr>
          <p:cNvPr id="18" name="TextBox 17"/>
          <p:cNvSpPr txBox="1"/>
          <p:nvPr/>
        </p:nvSpPr>
        <p:spPr>
          <a:xfrm>
            <a:off x="731520" y="3611880"/>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670 bytes; text; 18 physical / 16 effective lines</a:t>
            </a:r>
          </a:p>
        </p:txBody>
      </p:sp>
      <p:sp>
        <p:nvSpPr>
          <p:cNvPr id="19" name="TextBox 18"/>
          <p:cNvSpPr txBox="1"/>
          <p:nvPr/>
        </p:nvSpPr>
        <p:spPr>
          <a:xfrm>
            <a:off x="731520" y="388620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output/avatar_flash_fix/development-test.sqlite3</a:t>
            </a:r>
          </a:p>
        </p:txBody>
      </p:sp>
      <p:sp>
        <p:nvSpPr>
          <p:cNvPr id="20" name="TextBox 19"/>
          <p:cNvSpPr txBox="1"/>
          <p:nvPr/>
        </p:nvSpPr>
        <p:spPr>
          <a:xfrm>
            <a:off x="731520" y="408736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634,880 bytes; binary; binary: no lines</a:t>
            </a:r>
          </a:p>
        </p:txBody>
      </p:sp>
      <p:sp>
        <p:nvSpPr>
          <p:cNvPr id="21" name="TextBox 20"/>
          <p:cNvSpPr txBox="1"/>
          <p:nvPr/>
        </p:nvSpPr>
        <p:spPr>
          <a:xfrm>
            <a:off x="731520" y="436168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output/avatar_flash_fix/development_test.py</a:t>
            </a:r>
          </a:p>
        </p:txBody>
      </p:sp>
      <p:sp>
        <p:nvSpPr>
          <p:cNvPr id="22" name="TextBox 21"/>
          <p:cNvSpPr txBox="1"/>
          <p:nvPr/>
        </p:nvSpPr>
        <p:spPr>
          <a:xfrm>
            <a:off x="731520" y="4562855"/>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1,908 bytes; text; 44 physical / 35 effective lines</a:t>
            </a:r>
          </a:p>
        </p:txBody>
      </p:sp>
      <p:sp>
        <p:nvSpPr>
          <p:cNvPr id="23" name="TextBox 22"/>
          <p:cNvSpPr txBox="1"/>
          <p:nvPr/>
        </p:nvSpPr>
        <p:spPr>
          <a:xfrm>
            <a:off x="731520" y="4837175"/>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output/avatar_flash_fix/visible-first-pass/results.json</a:t>
            </a:r>
          </a:p>
        </p:txBody>
      </p:sp>
      <p:sp>
        <p:nvSpPr>
          <p:cNvPr id="24" name="TextBox 23"/>
          <p:cNvSpPr txBox="1"/>
          <p:nvPr/>
        </p:nvSpPr>
        <p:spPr>
          <a:xfrm>
            <a:off x="731520" y="5038343"/>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47,123 bytes; text; 2257 physical / 2257 effective lines</a:t>
            </a:r>
          </a:p>
        </p:txBody>
      </p:sp>
      <p:sp>
        <p:nvSpPr>
          <p:cNvPr id="25" name="TextBox 24"/>
          <p:cNvSpPr txBox="1"/>
          <p:nvPr/>
        </p:nvSpPr>
        <p:spPr>
          <a:xfrm>
            <a:off x="731520" y="5312663"/>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output/avatar_flash_fix/visible-first-pass/selection-issue.png</a:t>
            </a:r>
          </a:p>
        </p:txBody>
      </p:sp>
      <p:sp>
        <p:nvSpPr>
          <p:cNvPr id="26" name="TextBox 25"/>
          <p:cNvSpPr txBox="1"/>
          <p:nvPr/>
        </p:nvSpPr>
        <p:spPr>
          <a:xfrm>
            <a:off x="731520" y="5513831"/>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82,843 bytes; 1600x1000 RGB; binary: no lines</a:t>
            </a:r>
          </a:p>
        </p:txBody>
      </p:sp>
      <p:sp>
        <p:nvSpPr>
          <p:cNvPr id="27" name="TextBox 26"/>
          <p:cNvSpPr txBox="1"/>
          <p:nvPr/>
        </p:nvSpPr>
        <p:spPr>
          <a:xfrm>
            <a:off x="731520" y="5788151"/>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output/avatar_flash_fix/visible-test/01-real-django-page.png</a:t>
            </a:r>
          </a:p>
        </p:txBody>
      </p:sp>
      <p:sp>
        <p:nvSpPr>
          <p:cNvPr id="28" name="TextBox 27"/>
          <p:cNvSpPr txBox="1"/>
          <p:nvPr/>
        </p:nvSpPr>
        <p:spPr>
          <a:xfrm>
            <a:off x="731520" y="5989319"/>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84,344 bytes; 1440x900 RGB; binary: no lines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SINCE RELEASE TAG,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New Asset Inventory - 7</a:t>
            </a:r>
          </a:p>
        </p:txBody>
      </p:sp>
      <p:sp>
        <p:nvSpPr>
          <p:cNvPr id="9" name="TextBox 8"/>
          <p:cNvSpPr txBox="1"/>
          <p:nvPr/>
        </p:nvSpPr>
        <p:spPr>
          <a:xfrm>
            <a:off x="731520" y="150876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output/avatar_flash_fix/visible-test/checkpoint-100.png</a:t>
            </a:r>
          </a:p>
        </p:txBody>
      </p:sp>
      <p:sp>
        <p:nvSpPr>
          <p:cNvPr id="10" name="TextBox 9"/>
          <p:cNvSpPr txBox="1"/>
          <p:nvPr/>
        </p:nvSpPr>
        <p:spPr>
          <a:xfrm>
            <a:off x="731520" y="170992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84,599 bytes; 1440x900 RGB; binary: no lines</a:t>
            </a:r>
          </a:p>
        </p:txBody>
      </p:sp>
      <p:sp>
        <p:nvSpPr>
          <p:cNvPr id="11" name="TextBox 10"/>
          <p:cNvSpPr txBox="1"/>
          <p:nvPr/>
        </p:nvSpPr>
        <p:spPr>
          <a:xfrm>
            <a:off x="731520" y="198424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output/avatar_flash_fix/visible-test/checkpoint-150.png</a:t>
            </a:r>
          </a:p>
        </p:txBody>
      </p:sp>
      <p:sp>
        <p:nvSpPr>
          <p:cNvPr id="12" name="TextBox 11"/>
          <p:cNvSpPr txBox="1"/>
          <p:nvPr/>
        </p:nvSpPr>
        <p:spPr>
          <a:xfrm>
            <a:off x="731520" y="2185416"/>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63,683 bytes; 1100x780 RGB; binary: no lines</a:t>
            </a:r>
          </a:p>
        </p:txBody>
      </p:sp>
      <p:sp>
        <p:nvSpPr>
          <p:cNvPr id="13" name="TextBox 12"/>
          <p:cNvSpPr txBox="1"/>
          <p:nvPr/>
        </p:nvSpPr>
        <p:spPr>
          <a:xfrm>
            <a:off x="731520" y="2459736"/>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output/avatar_flash_fix/visible-test/checkpoint-200.png</a:t>
            </a:r>
          </a:p>
        </p:txBody>
      </p:sp>
      <p:sp>
        <p:nvSpPr>
          <p:cNvPr id="14" name="TextBox 13"/>
          <p:cNvSpPr txBox="1"/>
          <p:nvPr/>
        </p:nvSpPr>
        <p:spPr>
          <a:xfrm>
            <a:off x="731520" y="2660904"/>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63,613 bytes; 1100x780 RGB; binary: no lines</a:t>
            </a:r>
          </a:p>
        </p:txBody>
      </p:sp>
      <p:sp>
        <p:nvSpPr>
          <p:cNvPr id="15" name="TextBox 14"/>
          <p:cNvSpPr txBox="1"/>
          <p:nvPr/>
        </p:nvSpPr>
        <p:spPr>
          <a:xfrm>
            <a:off x="731520" y="2935224"/>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output/avatar_flash_fix/visible-test/checkpoint-250.png</a:t>
            </a:r>
          </a:p>
        </p:txBody>
      </p:sp>
      <p:sp>
        <p:nvSpPr>
          <p:cNvPr id="16" name="TextBox 15"/>
          <p:cNvSpPr txBox="1"/>
          <p:nvPr/>
        </p:nvSpPr>
        <p:spPr>
          <a:xfrm>
            <a:off x="731520" y="3136392"/>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103,071 bytes; 1600x1000 RGB; binary: no lines</a:t>
            </a:r>
          </a:p>
        </p:txBody>
      </p:sp>
      <p:sp>
        <p:nvSpPr>
          <p:cNvPr id="17" name="TextBox 16"/>
          <p:cNvSpPr txBox="1"/>
          <p:nvPr/>
        </p:nvSpPr>
        <p:spPr>
          <a:xfrm>
            <a:off x="731520" y="3410712"/>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output/avatar_flash_fix/visible-test/checkpoint-300.png</a:t>
            </a:r>
          </a:p>
        </p:txBody>
      </p:sp>
      <p:sp>
        <p:nvSpPr>
          <p:cNvPr id="18" name="TextBox 17"/>
          <p:cNvSpPr txBox="1"/>
          <p:nvPr/>
        </p:nvSpPr>
        <p:spPr>
          <a:xfrm>
            <a:off x="731520" y="3611880"/>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103,006 bytes; 1600x1000 RGB; binary: no lines</a:t>
            </a:r>
          </a:p>
        </p:txBody>
      </p:sp>
      <p:sp>
        <p:nvSpPr>
          <p:cNvPr id="19" name="TextBox 18"/>
          <p:cNvSpPr txBox="1"/>
          <p:nvPr/>
        </p:nvSpPr>
        <p:spPr>
          <a:xfrm>
            <a:off x="731520" y="3886200"/>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output/avatar_flash_fix/visible-test/checkpoint-50.png</a:t>
            </a:r>
          </a:p>
        </p:txBody>
      </p:sp>
      <p:sp>
        <p:nvSpPr>
          <p:cNvPr id="20" name="TextBox 19"/>
          <p:cNvSpPr txBox="1"/>
          <p:nvPr/>
        </p:nvSpPr>
        <p:spPr>
          <a:xfrm>
            <a:off x="731520" y="4087368"/>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84,497 bytes; 1440x900 RGB; binary: no lines</a:t>
            </a:r>
          </a:p>
        </p:txBody>
      </p:sp>
      <p:sp>
        <p:nvSpPr>
          <p:cNvPr id="21" name="TextBox 20"/>
          <p:cNvSpPr txBox="1"/>
          <p:nvPr/>
        </p:nvSpPr>
        <p:spPr>
          <a:xfrm>
            <a:off x="731520" y="4361688"/>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output/avatar_flash_fix/visible-test/final-passed.png</a:t>
            </a:r>
          </a:p>
        </p:txBody>
      </p:sp>
      <p:sp>
        <p:nvSpPr>
          <p:cNvPr id="22" name="TextBox 21"/>
          <p:cNvSpPr txBox="1"/>
          <p:nvPr/>
        </p:nvSpPr>
        <p:spPr>
          <a:xfrm>
            <a:off x="731520" y="4562855"/>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107,404 bytes; 1600x1000 RGB; binary: no lines</a:t>
            </a:r>
          </a:p>
        </p:txBody>
      </p:sp>
      <p:sp>
        <p:nvSpPr>
          <p:cNvPr id="23" name="TextBox 22"/>
          <p:cNvSpPr txBox="1"/>
          <p:nvPr/>
        </p:nvSpPr>
        <p:spPr>
          <a:xfrm>
            <a:off x="731520" y="4837175"/>
            <a:ext cx="10698480" cy="201168"/>
          </a:xfrm>
          <a:prstGeom prst="rect">
            <a:avLst/>
          </a:prstGeom>
          <a:noFill/>
        </p:spPr>
        <p:txBody>
          <a:bodyPr wrap="square" anchor="t" lIns="12700" rIns="12700" tIns="12700" bIns="12700">
            <a:normAutofit/>
          </a:bodyPr>
          <a:lstStyle/>
          <a:p>
            <a:pPr algn="l"/>
            <a:r>
              <a:rPr sz="900" b="0">
                <a:solidFill>
                  <a:srgbClr val="E8E8DE"/>
                </a:solidFill>
                <a:latin typeface="Cascadia Mono"/>
              </a:rPr>
              <a:t>output/avatar_flash_fix/visible-test/results.json</a:t>
            </a:r>
          </a:p>
        </p:txBody>
      </p:sp>
      <p:sp>
        <p:nvSpPr>
          <p:cNvPr id="24" name="TextBox 23"/>
          <p:cNvSpPr txBox="1"/>
          <p:nvPr/>
        </p:nvSpPr>
        <p:spPr>
          <a:xfrm>
            <a:off x="731520" y="5038343"/>
            <a:ext cx="10698480" cy="182880"/>
          </a:xfrm>
          <a:prstGeom prst="rect">
            <a:avLst/>
          </a:prstGeom>
          <a:noFill/>
        </p:spPr>
        <p:txBody>
          <a:bodyPr wrap="square" anchor="t" lIns="12700" rIns="12700" tIns="12700" bIns="12700">
            <a:normAutofit/>
          </a:bodyPr>
          <a:lstStyle/>
          <a:p>
            <a:pPr algn="l"/>
            <a:r>
              <a:rPr sz="900" b="0">
                <a:solidFill>
                  <a:srgbClr val="B4BAAE"/>
                </a:solidFill>
                <a:latin typeface="Aptos"/>
              </a:rPr>
              <a:t>47,324 bytes; text; 2266 physical / 2266 effective lines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